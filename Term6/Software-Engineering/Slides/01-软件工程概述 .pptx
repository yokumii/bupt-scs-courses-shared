
<file path=[Content_Types].xml><?xml version="1.0" encoding="utf-8"?>
<Types xmlns="http://schemas.openxmlformats.org/package/2006/content-types">
  <Default Extension="jpeg" ContentType="image/jpeg"/>
  <Default Extension="JPG" ContentType="image/.jp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5" r:id="rId3"/>
  </p:sldMasterIdLst>
  <p:notesMasterIdLst>
    <p:notesMasterId r:id="rId5"/>
  </p:notesMasterIdLst>
  <p:handoutMasterIdLst>
    <p:handoutMasterId r:id="rId28"/>
  </p:handoutMasterIdLst>
  <p:sldIdLst>
    <p:sldId id="302" r:id="rId4"/>
    <p:sldId id="260" r:id="rId6"/>
    <p:sldId id="261" r:id="rId7"/>
    <p:sldId id="299" r:id="rId8"/>
    <p:sldId id="266" r:id="rId9"/>
    <p:sldId id="267" r:id="rId10"/>
    <p:sldId id="268" r:id="rId11"/>
    <p:sldId id="262" r:id="rId12"/>
    <p:sldId id="289" r:id="rId13"/>
    <p:sldId id="270" r:id="rId14"/>
    <p:sldId id="290" r:id="rId15"/>
    <p:sldId id="271" r:id="rId16"/>
    <p:sldId id="263" r:id="rId17"/>
    <p:sldId id="272" r:id="rId18"/>
    <p:sldId id="273" r:id="rId19"/>
    <p:sldId id="274" r:id="rId20"/>
    <p:sldId id="292" r:id="rId21"/>
    <p:sldId id="303" r:id="rId22"/>
    <p:sldId id="304" r:id="rId23"/>
    <p:sldId id="265" r:id="rId24"/>
    <p:sldId id="279" r:id="rId25"/>
    <p:sldId id="280" r:id="rId26"/>
    <p:sldId id="294" r:id="rId27"/>
  </p:sldIdLst>
  <p:sldSz cx="12192000" cy="6858000"/>
  <p:notesSz cx="6858000" cy="9144000"/>
  <p:custDataLst>
    <p:tags r:id="rId32"/>
  </p:custDataLst>
  <p:defaultTextStyle>
    <a:defPPr>
      <a:defRPr lang="zh-CN"/>
    </a:defPPr>
    <a:lvl1pPr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837" autoAdjust="0"/>
  </p:normalViewPr>
  <p:slideViewPr>
    <p:cSldViewPr>
      <p:cViewPr varScale="1">
        <p:scale>
          <a:sx n="77" d="100"/>
          <a:sy n="77" d="100"/>
        </p:scale>
        <p:origin x="168" y="90"/>
      </p:cViewPr>
      <p:guideLst>
        <p:guide orient="horz" pos="2160"/>
        <p:guide pos="3840"/>
      </p:guideLst>
    </p:cSldViewPr>
  </p:slideViewPr>
  <p:notesTextViewPr>
    <p:cViewPr>
      <p:scale>
        <a:sx n="100" d="100"/>
        <a:sy n="100" d="100"/>
      </p:scale>
      <p:origin x="0" y="0"/>
    </p:cViewPr>
  </p:notesTextViewPr>
  <p:notesViewPr>
    <p:cSldViewPr>
      <p:cViewPr varScale="1">
        <p:scale>
          <a:sx n="84" d="100"/>
          <a:sy n="84" d="100"/>
        </p:scale>
        <p:origin x="341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2" Type="http://schemas.openxmlformats.org/officeDocument/2006/relationships/tags" Target="tags/tag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783E6CC5-D076-400A-9915-CF66CF482B3A}"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4198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lnSpc>
                <a:spcPct val="100000"/>
              </a:lnSpc>
              <a:defRPr sz="1200">
                <a:ea typeface="宋体" panose="02010600030101010101" pitchFamily="2" charset="-122"/>
              </a:defRPr>
            </a:lvl1pPr>
          </a:lstStyle>
          <a:p>
            <a:fld id="{C7A112DE-24ED-4CAC-A7F5-C03C9C4C8DFF}"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05C338C4-826F-4A65-B186-8BDDD8E4C259}"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5059" name="Rectangle 2"/>
          <p:cNvSpPr>
            <a:spLocks noGrp="1" noRot="1" noChangeAspect="1" noChangeArrowheads="1" noTextEdit="1"/>
          </p:cNvSpPr>
          <p:nvPr>
            <p:ph type="sldImg"/>
          </p:nvPr>
        </p:nvSpPr>
        <p:spPr>
          <a:xfrm>
            <a:off x="381000" y="685800"/>
            <a:ext cx="6096000" cy="3429000"/>
          </a:xfrm>
        </p:spPr>
      </p:sp>
      <p:sp>
        <p:nvSpPr>
          <p:cNvPr id="45060"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程序开发阶段：个人手工开发，讲究编程技巧；</a:t>
            </a:r>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2A9EBAC0-4234-4336-A694-87F26C54D235}"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6083" name="Rectangle 2"/>
          <p:cNvSpPr>
            <a:spLocks noGrp="1" noRot="1" noChangeAspect="1" noChangeArrowheads="1" noTextEdit="1"/>
          </p:cNvSpPr>
          <p:nvPr>
            <p:ph type="sldImg"/>
          </p:nvPr>
        </p:nvSpPr>
        <p:spPr>
          <a:xfrm>
            <a:off x="381000" y="685800"/>
            <a:ext cx="6096000" cy="3429000"/>
          </a:xfrm>
        </p:spPr>
      </p:sp>
      <p:sp>
        <p:nvSpPr>
          <p:cNvPr id="46084" name="Rectangle 3"/>
          <p:cNvSpPr>
            <a:spLocks noGrp="1" noChangeArrowheads="1"/>
          </p:cNvSpPr>
          <p:nvPr>
            <p:ph type="body" idx="1"/>
          </p:nvPr>
        </p:nvSpPr>
        <p:spPr>
          <a:noFill/>
        </p:spPr>
        <p:txBody>
          <a:bodyPr/>
          <a:lstStyle/>
          <a:p>
            <a:pPr eaLnBrk="1" hangingPunct="1"/>
            <a:r>
              <a:rPr lang="en-US" altLang="zh-CN" smtClean="0">
                <a:latin typeface="Arial" panose="020B0604020202020204" pitchFamily="34" charset="0"/>
              </a:rPr>
              <a:t>IBM</a:t>
            </a:r>
            <a:r>
              <a:rPr lang="zh-CN" altLang="en-US" smtClean="0">
                <a:latin typeface="Arial" panose="020B0604020202020204" pitchFamily="34" charset="0"/>
              </a:rPr>
              <a:t>公司开发的（</a:t>
            </a:r>
            <a:r>
              <a:rPr lang="en-US" altLang="zh-CN" smtClean="0">
                <a:latin typeface="Arial" panose="020B0604020202020204" pitchFamily="34" charset="0"/>
              </a:rPr>
              <a:t>OS/360</a:t>
            </a:r>
            <a:r>
              <a:rPr lang="zh-CN" altLang="en-US" smtClean="0">
                <a:latin typeface="Arial" panose="020B0604020202020204" pitchFamily="34" charset="0"/>
              </a:rPr>
              <a:t>）系统就是一个很好的例子。该系统由</a:t>
            </a:r>
            <a:r>
              <a:rPr lang="en-US" altLang="zh-CN" smtClean="0">
                <a:latin typeface="Arial" panose="020B0604020202020204" pitchFamily="34" charset="0"/>
              </a:rPr>
              <a:t>4000</a:t>
            </a:r>
            <a:r>
              <a:rPr lang="zh-CN" altLang="en-US" smtClean="0">
                <a:latin typeface="Arial" panose="020B0604020202020204" pitchFamily="34" charset="0"/>
              </a:rPr>
              <a:t>多个模块组成，约</a:t>
            </a:r>
            <a:r>
              <a:rPr lang="en-US" altLang="zh-CN" smtClean="0">
                <a:latin typeface="Arial" panose="020B0604020202020204" pitchFamily="34" charset="0"/>
              </a:rPr>
              <a:t>100</a:t>
            </a:r>
            <a:r>
              <a:rPr lang="zh-CN" altLang="en-US" smtClean="0">
                <a:latin typeface="Arial" panose="020B0604020202020204" pitchFamily="34" charset="0"/>
              </a:rPr>
              <a:t>万条指令，人工为</a:t>
            </a:r>
            <a:r>
              <a:rPr lang="en-US" altLang="zh-CN" smtClean="0">
                <a:latin typeface="Arial" panose="020B0604020202020204" pitchFamily="34" charset="0"/>
              </a:rPr>
              <a:t>5000</a:t>
            </a:r>
            <a:r>
              <a:rPr lang="zh-CN" altLang="en-US" smtClean="0">
                <a:latin typeface="Arial" panose="020B0604020202020204" pitchFamily="34" charset="0"/>
              </a:rPr>
              <a:t>人年（一个人年为一个人工作一年的工作量），耗费达数亿美元。该系统投入运行后发现了</a:t>
            </a:r>
            <a:r>
              <a:rPr lang="en-US" altLang="zh-CN" smtClean="0">
                <a:latin typeface="Arial" panose="020B0604020202020204" pitchFamily="34" charset="0"/>
              </a:rPr>
              <a:t>2000</a:t>
            </a:r>
            <a:r>
              <a:rPr lang="zh-CN" altLang="en-US" smtClean="0">
                <a:latin typeface="Arial" panose="020B0604020202020204" pitchFamily="34" charset="0"/>
              </a:rPr>
              <a:t>多个错误，而以后每个版本的更新均有</a:t>
            </a:r>
            <a:r>
              <a:rPr lang="en-US" altLang="zh-CN" smtClean="0">
                <a:latin typeface="Arial" panose="020B0604020202020204" pitchFamily="34" charset="0"/>
              </a:rPr>
              <a:t>1000</a:t>
            </a:r>
            <a:r>
              <a:rPr lang="zh-CN" altLang="en-US" smtClean="0">
                <a:latin typeface="Arial" panose="020B0604020202020204" pitchFamily="34" charset="0"/>
              </a:rPr>
              <a:t>多个大大小小的错误存在。系统开发陷入了僵局。</a:t>
            </a:r>
            <a:r>
              <a:rPr lang="en-US" altLang="zh-CN" smtClean="0">
                <a:latin typeface="Arial" panose="020B0604020202020204" pitchFamily="34" charset="0"/>
              </a:rPr>
              <a:t>OS/360</a:t>
            </a:r>
            <a:r>
              <a:rPr lang="zh-CN" altLang="en-US" smtClean="0">
                <a:latin typeface="Arial" panose="020B0604020202020204" pitchFamily="34" charset="0"/>
              </a:rPr>
              <a:t>系统的负责人</a:t>
            </a:r>
            <a:r>
              <a:rPr lang="en-US" altLang="zh-CN" smtClean="0">
                <a:latin typeface="Arial" panose="020B0604020202020204" pitchFamily="34" charset="0"/>
              </a:rPr>
              <a:t>F. D. Brooms</a:t>
            </a:r>
            <a:r>
              <a:rPr lang="zh-CN" altLang="en-US" smtClean="0">
                <a:latin typeface="Arial" panose="020B0604020202020204" pitchFamily="34" charset="0"/>
              </a:rPr>
              <a:t>曾这样形象地描述了开发过程中的困难和混乱：“</a:t>
            </a:r>
            <a:r>
              <a:rPr lang="en-US" altLang="zh-CN" smtClean="0">
                <a:latin typeface="Arial" panose="020B0604020202020204" pitchFamily="34" charset="0"/>
              </a:rPr>
              <a:t>……</a:t>
            </a:r>
            <a:r>
              <a:rPr lang="zh-CN" altLang="en-US" smtClean="0">
                <a:latin typeface="Arial" panose="020B0604020202020204" pitchFamily="34" charset="0"/>
              </a:rPr>
              <a:t>像一头巨兽在泥潭中作垂死挣扎，挣扎得越猛，泥浆就沾得越多，最后没有一个野兽能逃脱淹没在泥潭中的命运</a:t>
            </a:r>
            <a:r>
              <a:rPr lang="en-US" altLang="zh-CN" smtClean="0">
                <a:latin typeface="Arial" panose="020B0604020202020204" pitchFamily="34" charset="0"/>
              </a:rPr>
              <a:t>……</a:t>
            </a:r>
            <a:r>
              <a:rPr lang="zh-CN" altLang="en-US" smtClean="0">
                <a:latin typeface="Arial" panose="020B0604020202020204" pitchFamily="34" charset="0"/>
              </a:rPr>
              <a:t>程序设计就像是这样一个泥潭</a:t>
            </a:r>
            <a:r>
              <a:rPr lang="en-US" altLang="zh-CN" smtClean="0">
                <a:latin typeface="Arial" panose="020B0604020202020204" pitchFamily="34" charset="0"/>
              </a:rPr>
              <a:t>……</a:t>
            </a:r>
            <a:r>
              <a:rPr lang="zh-CN" altLang="en-US" smtClean="0">
                <a:latin typeface="Arial" panose="020B0604020202020204" pitchFamily="34" charset="0"/>
              </a:rPr>
              <a:t>一批批程序员在泥潭中挣扎</a:t>
            </a:r>
            <a:r>
              <a:rPr lang="en-US" altLang="zh-CN" smtClean="0">
                <a:latin typeface="Arial" panose="020B0604020202020204" pitchFamily="34" charset="0"/>
              </a:rPr>
              <a:t>……</a:t>
            </a:r>
            <a:r>
              <a:rPr lang="zh-CN" altLang="en-US" smtClean="0">
                <a:latin typeface="Arial" panose="020B0604020202020204" pitchFamily="34" charset="0"/>
              </a:rPr>
              <a:t>没人料到问题竟会这样棘手</a:t>
            </a:r>
            <a:r>
              <a:rPr lang="en-US" altLang="zh-CN" smtClean="0">
                <a:latin typeface="Arial" panose="020B0604020202020204" pitchFamily="34" charset="0"/>
              </a:rPr>
              <a:t>……”</a:t>
            </a:r>
            <a:r>
              <a:rPr lang="zh-CN" altLang="en-US" smtClean="0">
                <a:latin typeface="Arial" panose="020B0604020202020204" pitchFamily="34" charset="0"/>
              </a:rPr>
              <a:t>。</a:t>
            </a:r>
            <a:endParaRPr lang="zh-CN" altLang="en-US"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7024E0E4-9208-44A9-91A9-AA59DDDABFAE}"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7107" name="Rectangle 2"/>
          <p:cNvSpPr>
            <a:spLocks noGrp="1" noRot="1" noChangeAspect="1" noChangeArrowheads="1" noTextEdit="1"/>
          </p:cNvSpPr>
          <p:nvPr>
            <p:ph type="sldImg"/>
          </p:nvPr>
        </p:nvSpPr>
        <p:spPr>
          <a:xfrm>
            <a:off x="381000" y="685800"/>
            <a:ext cx="6096000" cy="3429000"/>
          </a:xfrm>
        </p:spPr>
      </p:sp>
      <p:sp>
        <p:nvSpPr>
          <p:cNvPr id="47108" name="Rectangle 3"/>
          <p:cNvSpPr>
            <a:spLocks noGrp="1" noChangeArrowheads="1"/>
          </p:cNvSpPr>
          <p:nvPr>
            <p:ph type="body" idx="1"/>
          </p:nvPr>
        </p:nvSpPr>
        <p:spPr>
          <a:noFill/>
        </p:spPr>
        <p:txBody>
          <a:bodyPr/>
          <a:lstStyle/>
          <a:p>
            <a:pPr lvl="1" eaLnBrk="1" hangingPunct="1"/>
            <a:r>
              <a:rPr lang="zh-CN" altLang="en-US" smtClean="0">
                <a:latin typeface="Arial" panose="020B0604020202020204" pitchFamily="34" charset="0"/>
              </a:rPr>
              <a:t>一是如何快速开发软件来满足人们对软件日益增长的需求；</a:t>
            </a:r>
            <a:endParaRPr lang="zh-CN" altLang="en-US" smtClean="0">
              <a:latin typeface="Arial" panose="020B0604020202020204" pitchFamily="34" charset="0"/>
            </a:endParaRPr>
          </a:p>
          <a:p>
            <a:pPr lvl="1" eaLnBrk="1" hangingPunct="1"/>
            <a:r>
              <a:rPr lang="zh-CN" altLang="en-US" smtClean="0">
                <a:latin typeface="Arial" panose="020B0604020202020204" pitchFamily="34" charset="0"/>
              </a:rPr>
              <a:t>二是如何维护数量不断膨胀的已有软件。</a:t>
            </a:r>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E2A02665-47F2-4E95-9AD5-9EE4E961678B}"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8131" name="Rectangle 2"/>
          <p:cNvSpPr>
            <a:spLocks noGrp="1" noRot="1" noChangeAspect="1" noChangeArrowheads="1" noTextEdit="1"/>
          </p:cNvSpPr>
          <p:nvPr>
            <p:ph type="sldImg"/>
          </p:nvPr>
        </p:nvSpPr>
        <p:spPr>
          <a:xfrm>
            <a:off x="381000" y="685800"/>
            <a:ext cx="6096000" cy="3429000"/>
          </a:xfrm>
        </p:spPr>
      </p:sp>
      <p:sp>
        <p:nvSpPr>
          <p:cNvPr id="4813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程序设计方法学是讨论程序的性质、程序设计的理论和方法的一门学科。它包含的内容比较丰富，例如：结构化程序设计、程序正确性证明、程序变换、程序的形式说明与推导、程序综合、自动程序设计等。在程序设计方法学中，结构化程序设计占有十分重要的地位，可以说，程序设计方法学是在结构化程序设计的基础上逐步发展和完善起来的。</a:t>
            </a:r>
            <a:endParaRPr lang="zh-CN" altLang="en-US"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C4214BAA-AC60-4334-8040-0BC25DDF5D3E}"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9155" name="Rectangle 2"/>
          <p:cNvSpPr>
            <a:spLocks noGrp="1" noRot="1" noChangeAspect="1" noChangeArrowheads="1" noTextEdit="1"/>
          </p:cNvSpPr>
          <p:nvPr>
            <p:ph type="sldImg"/>
          </p:nvPr>
        </p:nvSpPr>
        <p:spPr>
          <a:xfrm>
            <a:off x="381000" y="685800"/>
            <a:ext cx="6096000" cy="3429000"/>
          </a:xfrm>
        </p:spPr>
      </p:sp>
      <p:sp>
        <p:nvSpPr>
          <p:cNvPr id="4915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软件工程的最终目的是摆脱手工生产软件的状况，逐步实现软件研制和维护的自动化。 </a:t>
            </a:r>
            <a:endParaRPr lang="zh-CN" altLang="en-US"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9DD94E07-027B-4528-A89C-55355FDC93AF}"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50179" name="Rectangle 2"/>
          <p:cNvSpPr>
            <a:spLocks noGrp="1" noRot="1" noChangeAspect="1" noChangeArrowheads="1" noTextEdit="1"/>
          </p:cNvSpPr>
          <p:nvPr>
            <p:ph type="sldImg"/>
          </p:nvPr>
        </p:nvSpPr>
        <p:spPr>
          <a:xfrm>
            <a:off x="381000" y="685800"/>
            <a:ext cx="6096000" cy="3429000"/>
          </a:xfrm>
        </p:spPr>
      </p:sp>
      <p:sp>
        <p:nvSpPr>
          <p:cNvPr id="50180"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软件工程的最终目的是摆脱手工生产软件的状况，逐步实现软件研制和维护的自动化。 </a:t>
            </a:r>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640545" y="92869"/>
            <a:ext cx="1018390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76519" y="1103253"/>
            <a:ext cx="11447928" cy="4980840"/>
          </a:xfrm>
        </p:spPr>
        <p:txBody>
          <a:bodyPr/>
          <a:lstStyle>
            <a:lvl1pPr marL="230505" indent="-230505">
              <a:lnSpc>
                <a:spcPct val="100000"/>
              </a:lnSpc>
              <a:spcBef>
                <a:spcPts val="1000"/>
              </a:spcBef>
              <a:spcAft>
                <a:spcPts val="600"/>
              </a:spcAft>
              <a:defRPr lang="zh-CN" altLang="en-US" sz="2800" kern="1200" baseline="0" dirty="0" smtClean="0">
                <a:solidFill>
                  <a:schemeClr val="bg1"/>
                </a:solidFill>
                <a:latin typeface="微软雅黑" panose="020B0503020204020204" pitchFamily="34" charset="-122"/>
                <a:ea typeface="微软雅黑" panose="020B0503020204020204" pitchFamily="34" charset="-122"/>
                <a:cs typeface="+mn-cs"/>
              </a:defRPr>
            </a:lvl1pPr>
            <a:lvl2pPr marL="687705" indent="-230505">
              <a:lnSpc>
                <a:spcPct val="100000"/>
              </a:lnSpc>
              <a:spcBef>
                <a:spcPts val="500"/>
              </a:spcBef>
              <a:spcAft>
                <a:spcPts val="600"/>
              </a:spcAft>
              <a:defRPr lang="zh-CN" altLang="en-US" sz="2400" kern="1200" baseline="0" dirty="0" smtClean="0">
                <a:solidFill>
                  <a:schemeClr val="bg1"/>
                </a:solidFill>
                <a:latin typeface="微软雅黑" panose="020B0503020204020204" pitchFamily="34" charset="-122"/>
                <a:ea typeface="微软雅黑" panose="020B0503020204020204" pitchFamily="34" charset="-122"/>
                <a:cs typeface="+mn-cs"/>
              </a:defRPr>
            </a:lvl2pPr>
            <a:lvl3pPr marL="1144905" indent="-230505">
              <a:lnSpc>
                <a:spcPct val="100000"/>
              </a:lnSpc>
              <a:spcBef>
                <a:spcPts val="500"/>
              </a:spcBef>
              <a:spcAft>
                <a:spcPts val="600"/>
              </a:spcAft>
              <a:defRPr lang="zh-CN" altLang="en-US" sz="2000" kern="1200" baseline="0" dirty="0" smtClean="0">
                <a:solidFill>
                  <a:schemeClr val="bg1"/>
                </a:solidFill>
                <a:latin typeface="微软雅黑" panose="020B0503020204020204" pitchFamily="34" charset="-122"/>
                <a:ea typeface="微软雅黑" panose="020B0503020204020204" pitchFamily="34" charset="-122"/>
                <a:cs typeface="+mn-cs"/>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p:nvSpPr>
        <p:spPr>
          <a:xfrm>
            <a:off x="38085" y="152930"/>
            <a:ext cx="1210235" cy="507831"/>
          </a:xfrm>
          <a:prstGeom prst="rect">
            <a:avLst/>
          </a:prstGeom>
          <a:noFill/>
        </p:spPr>
        <p:txBody>
          <a:bodyPr wrap="square" rtlCol="0">
            <a:spAutoFit/>
          </a:bodyPr>
          <a:lstStyle/>
          <a:p>
            <a:pPr algn="l"/>
            <a:r>
              <a:rPr lang="en-US" altLang="zh-CN" sz="18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9"/>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3"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3"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426887" y="0"/>
            <a:ext cx="8697383" cy="909638"/>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63600" y="1409700"/>
            <a:ext cx="11125200" cy="4856163"/>
          </a:xfrm>
        </p:spPr>
        <p:txBody>
          <a:bodyPr/>
          <a:lstStyle/>
          <a:p>
            <a:pPr lvl="0"/>
            <a:endParaRPr lang="zh-CN" altLang="en-US" noProof="0" smtClean="0"/>
          </a:p>
        </p:txBody>
      </p:sp>
    </p:spTree>
  </p:cSld>
  <p:clrMapOvr>
    <a:masterClrMapping/>
  </p:clrMapOvr>
  <p:transition>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标题 4"/>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19176" y="365126"/>
            <a:ext cx="1033462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19173" y="1196123"/>
            <a:ext cx="10334627" cy="4980840"/>
          </a:xfrm>
        </p:spPr>
        <p:txBody>
          <a:bodyPr/>
          <a:lstStyle>
            <a:lvl1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1pPr>
            <a:lvl2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2pPr>
            <a:lvl3pPr>
              <a:lnSpc>
                <a:spcPct val="100000"/>
              </a:lnSpc>
              <a:spcAft>
                <a:spcPts val="600"/>
              </a:spcAft>
              <a:defRPr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userDrawn="1"/>
        </p:nvSpPr>
        <p:spPr>
          <a:xfrm>
            <a:off x="2" y="2"/>
            <a:ext cx="1810869"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2400" dirty="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2400" dirty="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24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24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5" Type="http://schemas.openxmlformats.org/officeDocument/2006/relationships/theme" Target="../theme/theme2.xml"/><Relationship Id="rId4" Type="http://schemas.openxmlformats.org/officeDocument/2006/relationships/slideLayout" Target="../slideLayouts/slideLayout10.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Lst>
  <p:transition>
    <p:push/>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5.xml"/><Relationship Id="rId3" Type="http://schemas.openxmlformats.org/officeDocument/2006/relationships/image" Target="../media/image1.png"/><Relationship Id="rId2" Type="http://schemas.microsoft.com/office/2007/relationships/media" Target="../media/media1.mp3"/><Relationship Id="rId1" Type="http://schemas.openxmlformats.org/officeDocument/2006/relationships/audio" Target="../media/media1.mp3"/></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png"/><Relationship Id="rId3" Type="http://schemas.microsoft.com/office/2007/relationships/media" Target="../media/media2.mp3"/><Relationship Id="rId2" Type="http://schemas.openxmlformats.org/officeDocument/2006/relationships/audio" Target="../media/media2.mp3"/><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16632"/>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2578119" y="1460145"/>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2578118" y="3375622"/>
            <a:ext cx="5151120" cy="523220"/>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2800" b="1" dirty="0">
                <a:solidFill>
                  <a:prstClr val="white"/>
                </a:solidFill>
                <a:latin typeface="微软雅黑" panose="020B0503020204020204" pitchFamily="34" charset="-122"/>
                <a:ea typeface="微软雅黑" panose="020B0503020204020204" pitchFamily="34" charset="-122"/>
              </a:rPr>
              <a:t>软件工程概述</a:t>
            </a:r>
            <a:endParaRPr lang="zh-CN" altLang="en-US" sz="2800"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normAutofit/>
          </a:bodyPr>
          <a:lstStyle/>
          <a:p>
            <a:r>
              <a:rPr lang="zh-CN" altLang="en-US" dirty="0"/>
              <a:t>本章内容</a:t>
            </a:r>
            <a:endParaRPr lang="zh-CN" altLang="en-US" dirty="0"/>
          </a:p>
        </p:txBody>
      </p:sp>
      <p:sp>
        <p:nvSpPr>
          <p:cNvPr id="4100" name="Rectangle 3"/>
          <p:cNvSpPr>
            <a:spLocks noGrp="1" noChangeArrowheads="1"/>
          </p:cNvSpPr>
          <p:nvPr>
            <p:ph idx="1"/>
          </p:nvPr>
        </p:nvSpPr>
        <p:spPr>
          <a:xfrm>
            <a:off x="1019175" y="1103253"/>
            <a:ext cx="10805272" cy="4980840"/>
          </a:xfrm>
        </p:spPr>
        <p:txBody>
          <a:bodyPr>
            <a:normAutofit/>
          </a:bodyPr>
          <a:lstStyle/>
          <a:p>
            <a:r>
              <a:rPr lang="zh-CN" altLang="en-US" dirty="0"/>
              <a:t>计算机软件</a:t>
            </a:r>
            <a:endParaRPr lang="zh-CN" altLang="en-US" dirty="0"/>
          </a:p>
          <a:p>
            <a:r>
              <a:rPr lang="zh-CN" altLang="en-US" dirty="0"/>
              <a:t>软件的发展和软件危机</a:t>
            </a:r>
            <a:endParaRPr lang="zh-CN" altLang="en-US" dirty="0"/>
          </a:p>
          <a:p>
            <a:r>
              <a:rPr lang="zh-CN" altLang="en-US" dirty="0"/>
              <a:t>软件工程</a:t>
            </a:r>
            <a:endParaRPr lang="zh-CN" altLang="en-US" dirty="0"/>
          </a:p>
          <a:p>
            <a:r>
              <a:rPr lang="zh-CN" altLang="en-US" dirty="0" smtClean="0"/>
              <a:t>软件工程</a:t>
            </a:r>
            <a:r>
              <a:rPr lang="zh-CN" altLang="en-US" dirty="0"/>
              <a:t>知识体系</a:t>
            </a:r>
            <a:endParaRPr lang="zh-CN" altLang="en-US" dirty="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zh-CN" altLang="en-US" dirty="0" smtClean="0"/>
              <a:t>计算机软件</a:t>
            </a:r>
            <a:endParaRPr lang="zh-CN" altLang="en-US" dirty="0" smtClean="0"/>
          </a:p>
        </p:txBody>
      </p:sp>
      <p:sp>
        <p:nvSpPr>
          <p:cNvPr id="5124" name="Rectangle 3"/>
          <p:cNvSpPr>
            <a:spLocks noGrp="1" noChangeArrowheads="1"/>
          </p:cNvSpPr>
          <p:nvPr>
            <p:ph idx="1"/>
          </p:nvPr>
        </p:nvSpPr>
        <p:spPr>
          <a:xfrm>
            <a:off x="1019175" y="1103253"/>
            <a:ext cx="10805272" cy="4980840"/>
          </a:xfrm>
        </p:spPr>
        <p:txBody>
          <a:bodyPr/>
          <a:lstStyle/>
          <a:p>
            <a:r>
              <a:rPr lang="zh-CN" altLang="en-US" dirty="0" smtClean="0"/>
              <a:t>本节内容</a:t>
            </a:r>
            <a:endParaRPr lang="zh-CN" altLang="en-US" dirty="0" smtClean="0"/>
          </a:p>
          <a:p>
            <a:r>
              <a:rPr lang="zh-CN" altLang="en-US" dirty="0" smtClean="0"/>
              <a:t>软件的定义</a:t>
            </a:r>
            <a:endParaRPr lang="zh-CN" altLang="en-US" dirty="0" smtClean="0"/>
          </a:p>
          <a:p>
            <a:r>
              <a:rPr lang="zh-CN" altLang="en-US" dirty="0" smtClean="0"/>
              <a:t>软件的特点</a:t>
            </a:r>
            <a:endParaRPr lang="zh-CN" altLang="en-US" dirty="0" smtClean="0"/>
          </a:p>
          <a:p>
            <a:r>
              <a:rPr lang="zh-CN" altLang="en-US" dirty="0" smtClean="0"/>
              <a:t>软件的分类</a:t>
            </a:r>
            <a:endParaRPr lang="zh-CN" altLang="en-US" dirty="0" smtClean="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smtClean="0"/>
              <a:t>引言</a:t>
            </a:r>
            <a:endParaRPr lang="zh-CN" altLang="en-US" dirty="0" smtClean="0"/>
          </a:p>
        </p:txBody>
      </p:sp>
      <p:sp>
        <p:nvSpPr>
          <p:cNvPr id="73731" name="Rectangle 3"/>
          <p:cNvSpPr>
            <a:spLocks noGrp="1" noChangeArrowheads="1"/>
          </p:cNvSpPr>
          <p:nvPr>
            <p:ph idx="1"/>
          </p:nvPr>
        </p:nvSpPr>
        <p:spPr>
          <a:xfrm>
            <a:off x="479376" y="889734"/>
            <a:ext cx="11233248" cy="5466620"/>
          </a:xfrm>
        </p:spPr>
        <p:txBody>
          <a:bodyPr>
            <a:normAutofit fontScale="92500" lnSpcReduction="10000"/>
          </a:bodyPr>
          <a:lstStyle/>
          <a:p>
            <a:pPr>
              <a:lnSpc>
                <a:spcPct val="70000"/>
              </a:lnSpc>
            </a:pPr>
            <a:r>
              <a:rPr lang="en-US" altLang="zh-CN" sz="2000" dirty="0"/>
              <a:t>Hello World </a:t>
            </a:r>
            <a:endParaRPr lang="en-US" altLang="zh-CN" sz="2000" dirty="0"/>
          </a:p>
          <a:p>
            <a:pPr>
              <a:lnSpc>
                <a:spcPct val="70000"/>
              </a:lnSpc>
            </a:pPr>
            <a:r>
              <a:rPr lang="zh-CN" altLang="en-US" sz="2000" dirty="0"/>
              <a:t>纸牌、挖地雷、</a:t>
            </a:r>
            <a:r>
              <a:rPr lang="en-US" altLang="zh-CN" sz="2000" dirty="0"/>
              <a:t>2048…</a:t>
            </a:r>
            <a:endParaRPr lang="zh-CN" altLang="en-US" sz="2000" dirty="0"/>
          </a:p>
          <a:p>
            <a:pPr>
              <a:lnSpc>
                <a:spcPct val="70000"/>
              </a:lnSpc>
            </a:pPr>
            <a:r>
              <a:rPr lang="zh-CN" altLang="en-US" sz="2000" dirty="0"/>
              <a:t>文本编辑器</a:t>
            </a:r>
            <a:endParaRPr lang="zh-CN" altLang="en-US" sz="2000" dirty="0"/>
          </a:p>
          <a:p>
            <a:pPr lvl="1">
              <a:lnSpc>
                <a:spcPct val="70000"/>
              </a:lnSpc>
            </a:pPr>
            <a:r>
              <a:rPr lang="en-US" altLang="zh-CN" sz="2200" dirty="0"/>
              <a:t>Notepad/vi…</a:t>
            </a:r>
            <a:endParaRPr lang="en-US" altLang="zh-CN" sz="2200" dirty="0"/>
          </a:p>
          <a:p>
            <a:pPr lvl="1">
              <a:lnSpc>
                <a:spcPct val="70000"/>
              </a:lnSpc>
            </a:pPr>
            <a:r>
              <a:rPr lang="en-US" altLang="zh-CN" sz="2200" dirty="0" err="1"/>
              <a:t>Winword</a:t>
            </a:r>
            <a:r>
              <a:rPr lang="en-US" altLang="zh-CN" sz="2200" dirty="0"/>
              <a:t>/WPS…</a:t>
            </a:r>
            <a:endParaRPr lang="en-US" altLang="zh-CN" sz="2200" dirty="0"/>
          </a:p>
          <a:p>
            <a:pPr>
              <a:lnSpc>
                <a:spcPct val="70000"/>
              </a:lnSpc>
            </a:pPr>
            <a:r>
              <a:rPr lang="zh-CN" altLang="en-US" sz="2000" dirty="0"/>
              <a:t>图书馆信息管理系统</a:t>
            </a:r>
            <a:r>
              <a:rPr lang="en-US" altLang="zh-CN" sz="2000" dirty="0"/>
              <a:t>/</a:t>
            </a:r>
            <a:r>
              <a:rPr lang="zh-CN" altLang="en-US" sz="2000" dirty="0"/>
              <a:t>办公自动化系统</a:t>
            </a:r>
            <a:r>
              <a:rPr lang="en-US" altLang="zh-CN" sz="2000" dirty="0"/>
              <a:t>…</a:t>
            </a:r>
            <a:endParaRPr lang="en-US" altLang="zh-CN" sz="2000" dirty="0"/>
          </a:p>
          <a:p>
            <a:pPr>
              <a:lnSpc>
                <a:spcPct val="70000"/>
              </a:lnSpc>
            </a:pPr>
            <a:r>
              <a:rPr lang="zh-CN" altLang="en-US" sz="2000" dirty="0"/>
              <a:t>财务软件</a:t>
            </a:r>
            <a:endParaRPr lang="zh-CN" altLang="en-US" sz="2000" dirty="0"/>
          </a:p>
          <a:p>
            <a:pPr lvl="1">
              <a:lnSpc>
                <a:spcPct val="70000"/>
              </a:lnSpc>
            </a:pPr>
            <a:r>
              <a:rPr lang="zh-CN" altLang="en-US" sz="2200" dirty="0"/>
              <a:t>金蝶</a:t>
            </a:r>
            <a:r>
              <a:rPr lang="en-US" altLang="zh-CN" sz="2200" dirty="0"/>
              <a:t>/</a:t>
            </a:r>
            <a:r>
              <a:rPr lang="zh-CN" altLang="en-US" sz="2200" dirty="0"/>
              <a:t>用友</a:t>
            </a:r>
            <a:r>
              <a:rPr lang="en-US" altLang="zh-CN" sz="2200" dirty="0"/>
              <a:t>…</a:t>
            </a:r>
            <a:endParaRPr lang="en-US" altLang="zh-CN" sz="2200" dirty="0"/>
          </a:p>
          <a:p>
            <a:pPr>
              <a:lnSpc>
                <a:spcPct val="70000"/>
              </a:lnSpc>
            </a:pPr>
            <a:r>
              <a:rPr lang="zh-CN" altLang="en-US" sz="2000" dirty="0"/>
              <a:t>电信运营支撑系统</a:t>
            </a:r>
            <a:endParaRPr lang="zh-CN" altLang="en-US" sz="2000" dirty="0"/>
          </a:p>
          <a:p>
            <a:pPr lvl="1">
              <a:lnSpc>
                <a:spcPct val="70000"/>
              </a:lnSpc>
            </a:pPr>
            <a:r>
              <a:rPr lang="zh-CN" altLang="en-US" sz="2200" dirty="0"/>
              <a:t>计费系统、帐务系统</a:t>
            </a:r>
            <a:r>
              <a:rPr lang="en-US" altLang="zh-CN" sz="2200" dirty="0"/>
              <a:t>…</a:t>
            </a:r>
            <a:endParaRPr lang="en-US" altLang="zh-CN" sz="2200" dirty="0"/>
          </a:p>
          <a:p>
            <a:pPr lvl="1">
              <a:lnSpc>
                <a:spcPct val="70000"/>
              </a:lnSpc>
            </a:pPr>
            <a:r>
              <a:rPr lang="zh-CN" altLang="en-US" sz="2200" dirty="0"/>
              <a:t>呼叫处理</a:t>
            </a:r>
            <a:r>
              <a:rPr lang="en-US" altLang="zh-CN" sz="2200" dirty="0"/>
              <a:t>/7</a:t>
            </a:r>
            <a:r>
              <a:rPr lang="zh-CN" altLang="en-US" sz="2200" dirty="0"/>
              <a:t>号信令</a:t>
            </a:r>
            <a:r>
              <a:rPr lang="en-US" altLang="zh-CN" sz="2200" dirty="0"/>
              <a:t>/</a:t>
            </a:r>
            <a:r>
              <a:rPr lang="zh-CN" altLang="en-US" sz="2200" dirty="0"/>
              <a:t>网络管理系统</a:t>
            </a:r>
            <a:r>
              <a:rPr lang="en-US" altLang="zh-CN" sz="2200" dirty="0"/>
              <a:t>…</a:t>
            </a:r>
            <a:endParaRPr lang="en-US" altLang="zh-CN" sz="2200" dirty="0"/>
          </a:p>
          <a:p>
            <a:pPr>
              <a:lnSpc>
                <a:spcPct val="70000"/>
              </a:lnSpc>
            </a:pPr>
            <a:r>
              <a:rPr lang="zh-CN" altLang="en-US" sz="2000" dirty="0"/>
              <a:t>操作系统</a:t>
            </a:r>
            <a:endParaRPr lang="zh-CN" altLang="en-US" sz="2000" dirty="0"/>
          </a:p>
          <a:p>
            <a:pPr lvl="1">
              <a:lnSpc>
                <a:spcPct val="70000"/>
              </a:lnSpc>
            </a:pPr>
            <a:r>
              <a:rPr lang="en-US" altLang="zh-CN" sz="2200" dirty="0"/>
              <a:t>Dos/Windows/Unix/Linux</a:t>
            </a:r>
            <a:r>
              <a:rPr lang="en-US" altLang="zh-CN" dirty="0"/>
              <a:t>…</a:t>
            </a:r>
            <a:endParaRPr lang="en-US" altLang="zh-CN" dirty="0"/>
          </a:p>
          <a:p>
            <a:pPr>
              <a:lnSpc>
                <a:spcPct val="70000"/>
              </a:lnSpc>
            </a:pPr>
            <a:r>
              <a:rPr lang="zh-CN" altLang="en-US" sz="2000" dirty="0"/>
              <a:t>数据库管理系统</a:t>
            </a:r>
            <a:endParaRPr lang="en-US" altLang="zh-CN" sz="2000" dirty="0"/>
          </a:p>
          <a:p>
            <a:pPr lvl="1">
              <a:lnSpc>
                <a:spcPct val="70000"/>
              </a:lnSpc>
            </a:pPr>
            <a:r>
              <a:rPr lang="en-US" altLang="zh-CN" sz="2100" dirty="0"/>
              <a:t>Oracle, DB2</a:t>
            </a:r>
            <a:r>
              <a:rPr lang="zh-CN" altLang="en-US" sz="2100" dirty="0"/>
              <a:t>，</a:t>
            </a:r>
            <a:r>
              <a:rPr lang="en-US" altLang="zh-CN" sz="2100" dirty="0"/>
              <a:t>MySQL…</a:t>
            </a:r>
            <a:endParaRPr lang="zh-CN" altLang="en-US" sz="21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 calcmode="lin" valueType="num">
                                      <p:cBhvr additive="base">
                                        <p:cTn id="7" dur="500" fill="hold"/>
                                        <p:tgtEl>
                                          <p:spTgt spid="737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373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3731">
                                            <p:txEl>
                                              <p:pRg st="1" end="1"/>
                                            </p:txEl>
                                          </p:spTgt>
                                        </p:tgtEl>
                                        <p:attrNameLst>
                                          <p:attrName>style.visibility</p:attrName>
                                        </p:attrNameLst>
                                      </p:cBhvr>
                                      <p:to>
                                        <p:strVal val="visible"/>
                                      </p:to>
                                    </p:set>
                                    <p:anim calcmode="lin" valueType="num">
                                      <p:cBhvr additive="base">
                                        <p:cTn id="13" dur="500" fill="hold"/>
                                        <p:tgtEl>
                                          <p:spTgt spid="73731">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373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3731">
                                            <p:txEl>
                                              <p:pRg st="2" end="2"/>
                                            </p:txEl>
                                          </p:spTgt>
                                        </p:tgtEl>
                                        <p:attrNameLst>
                                          <p:attrName>style.visibility</p:attrName>
                                        </p:attrNameLst>
                                      </p:cBhvr>
                                      <p:to>
                                        <p:strVal val="visible"/>
                                      </p:to>
                                    </p:set>
                                    <p:anim calcmode="lin" valueType="num">
                                      <p:cBhvr additive="base">
                                        <p:cTn id="19" dur="500" fill="hold"/>
                                        <p:tgtEl>
                                          <p:spTgt spid="73731">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373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3731">
                                            <p:txEl>
                                              <p:pRg st="3" end="3"/>
                                            </p:txEl>
                                          </p:spTgt>
                                        </p:tgtEl>
                                        <p:attrNameLst>
                                          <p:attrName>style.visibility</p:attrName>
                                        </p:attrNameLst>
                                      </p:cBhvr>
                                      <p:to>
                                        <p:strVal val="visible"/>
                                      </p:to>
                                    </p:set>
                                    <p:anim calcmode="lin" valueType="num">
                                      <p:cBhvr additive="base">
                                        <p:cTn id="25" dur="500" fill="hold"/>
                                        <p:tgtEl>
                                          <p:spTgt spid="73731">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37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3731">
                                            <p:txEl>
                                              <p:pRg st="4" end="4"/>
                                            </p:txEl>
                                          </p:spTgt>
                                        </p:tgtEl>
                                        <p:attrNameLst>
                                          <p:attrName>style.visibility</p:attrName>
                                        </p:attrNameLst>
                                      </p:cBhvr>
                                      <p:to>
                                        <p:strVal val="visible"/>
                                      </p:to>
                                    </p:set>
                                    <p:anim calcmode="lin" valueType="num">
                                      <p:cBhvr additive="base">
                                        <p:cTn id="31" dur="500" fill="hold"/>
                                        <p:tgtEl>
                                          <p:spTgt spid="73731">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373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3731">
                                            <p:txEl>
                                              <p:pRg st="5" end="5"/>
                                            </p:txEl>
                                          </p:spTgt>
                                        </p:tgtEl>
                                        <p:attrNameLst>
                                          <p:attrName>style.visibility</p:attrName>
                                        </p:attrNameLst>
                                      </p:cBhvr>
                                      <p:to>
                                        <p:strVal val="visible"/>
                                      </p:to>
                                    </p:set>
                                    <p:anim calcmode="lin" valueType="num">
                                      <p:cBhvr additive="base">
                                        <p:cTn id="37" dur="500" fill="hold"/>
                                        <p:tgtEl>
                                          <p:spTgt spid="73731">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373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73731">
                                            <p:txEl>
                                              <p:pRg st="6" end="6"/>
                                            </p:txEl>
                                          </p:spTgt>
                                        </p:tgtEl>
                                        <p:attrNameLst>
                                          <p:attrName>style.visibility</p:attrName>
                                        </p:attrNameLst>
                                      </p:cBhvr>
                                      <p:to>
                                        <p:strVal val="visible"/>
                                      </p:to>
                                    </p:set>
                                    <p:anim calcmode="lin" valueType="num">
                                      <p:cBhvr additive="base">
                                        <p:cTn id="43" dur="500" fill="hold"/>
                                        <p:tgtEl>
                                          <p:spTgt spid="73731">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73731">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73731">
                                            <p:txEl>
                                              <p:pRg st="7" end="7"/>
                                            </p:txEl>
                                          </p:spTgt>
                                        </p:tgtEl>
                                        <p:attrNameLst>
                                          <p:attrName>style.visibility</p:attrName>
                                        </p:attrNameLst>
                                      </p:cBhvr>
                                      <p:to>
                                        <p:strVal val="visible"/>
                                      </p:to>
                                    </p:set>
                                    <p:anim calcmode="lin" valueType="num">
                                      <p:cBhvr additive="base">
                                        <p:cTn id="49" dur="500" fill="hold"/>
                                        <p:tgtEl>
                                          <p:spTgt spid="73731">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73731">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73731">
                                            <p:txEl>
                                              <p:pRg st="8" end="8"/>
                                            </p:txEl>
                                          </p:spTgt>
                                        </p:tgtEl>
                                        <p:attrNameLst>
                                          <p:attrName>style.visibility</p:attrName>
                                        </p:attrNameLst>
                                      </p:cBhvr>
                                      <p:to>
                                        <p:strVal val="visible"/>
                                      </p:to>
                                    </p:set>
                                    <p:anim calcmode="lin" valueType="num">
                                      <p:cBhvr additive="base">
                                        <p:cTn id="55" dur="500" fill="hold"/>
                                        <p:tgtEl>
                                          <p:spTgt spid="73731">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73731">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p:cTn id="60" dur="1" fill="hold">
                                          <p:stCondLst>
                                            <p:cond delay="0"/>
                                          </p:stCondLst>
                                        </p:cTn>
                                        <p:tgtEl>
                                          <p:spTgt spid="73731">
                                            <p:txEl>
                                              <p:pRg st="9" end="9"/>
                                            </p:txEl>
                                          </p:spTgt>
                                        </p:tgtEl>
                                        <p:attrNameLst>
                                          <p:attrName>style.visibility</p:attrName>
                                        </p:attrNameLst>
                                      </p:cBhvr>
                                      <p:to>
                                        <p:strVal val="visible"/>
                                      </p:to>
                                    </p:set>
                                    <p:anim calcmode="lin" valueType="num">
                                      <p:cBhvr additive="base">
                                        <p:cTn id="61" dur="500" fill="hold"/>
                                        <p:tgtEl>
                                          <p:spTgt spid="73731">
                                            <p:txEl>
                                              <p:pRg st="9" end="9"/>
                                            </p:txEl>
                                          </p:spTgt>
                                        </p:tgtEl>
                                        <p:attrNameLst>
                                          <p:attrName>ppt_x</p:attrName>
                                        </p:attrNameLst>
                                      </p:cBhvr>
                                      <p:tavLst>
                                        <p:tav tm="0">
                                          <p:val>
                                            <p:strVal val="0-#ppt_w/2"/>
                                          </p:val>
                                        </p:tav>
                                        <p:tav tm="100000">
                                          <p:val>
                                            <p:strVal val="#ppt_x"/>
                                          </p:val>
                                        </p:tav>
                                      </p:tavLst>
                                    </p:anim>
                                    <p:anim calcmode="lin" valueType="num">
                                      <p:cBhvr additive="base">
                                        <p:cTn id="62" dur="500" fill="hold"/>
                                        <p:tgtEl>
                                          <p:spTgt spid="73731">
                                            <p:txEl>
                                              <p:pRg st="9" end="9"/>
                                            </p:txEl>
                                          </p:spTgt>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p:cTn id="66" dur="1" fill="hold">
                                          <p:stCondLst>
                                            <p:cond delay="0"/>
                                          </p:stCondLst>
                                        </p:cTn>
                                        <p:tgtEl>
                                          <p:spTgt spid="73731">
                                            <p:txEl>
                                              <p:pRg st="10" end="10"/>
                                            </p:txEl>
                                          </p:spTgt>
                                        </p:tgtEl>
                                        <p:attrNameLst>
                                          <p:attrName>style.visibility</p:attrName>
                                        </p:attrNameLst>
                                      </p:cBhvr>
                                      <p:to>
                                        <p:strVal val="visible"/>
                                      </p:to>
                                    </p:set>
                                    <p:anim calcmode="lin" valueType="num">
                                      <p:cBhvr additive="base">
                                        <p:cTn id="67" dur="500" fill="hold"/>
                                        <p:tgtEl>
                                          <p:spTgt spid="73731">
                                            <p:txEl>
                                              <p:pRg st="10" end="10"/>
                                            </p:txEl>
                                          </p:spTgt>
                                        </p:tgtEl>
                                        <p:attrNameLst>
                                          <p:attrName>ppt_x</p:attrName>
                                        </p:attrNameLst>
                                      </p:cBhvr>
                                      <p:tavLst>
                                        <p:tav tm="0">
                                          <p:val>
                                            <p:strVal val="0-#ppt_w/2"/>
                                          </p:val>
                                        </p:tav>
                                        <p:tav tm="100000">
                                          <p:val>
                                            <p:strVal val="#ppt_x"/>
                                          </p:val>
                                        </p:tav>
                                      </p:tavLst>
                                    </p:anim>
                                    <p:anim calcmode="lin" valueType="num">
                                      <p:cBhvr additive="base">
                                        <p:cTn id="68" dur="500" fill="hold"/>
                                        <p:tgtEl>
                                          <p:spTgt spid="73731">
                                            <p:txEl>
                                              <p:pRg st="10" end="10"/>
                                            </p:txEl>
                                          </p:spTgt>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p:cTn id="72" dur="1" fill="hold">
                                          <p:stCondLst>
                                            <p:cond delay="0"/>
                                          </p:stCondLst>
                                        </p:cTn>
                                        <p:tgtEl>
                                          <p:spTgt spid="73731">
                                            <p:txEl>
                                              <p:pRg st="11" end="11"/>
                                            </p:txEl>
                                          </p:spTgt>
                                        </p:tgtEl>
                                        <p:attrNameLst>
                                          <p:attrName>style.visibility</p:attrName>
                                        </p:attrNameLst>
                                      </p:cBhvr>
                                      <p:to>
                                        <p:strVal val="visible"/>
                                      </p:to>
                                    </p:set>
                                    <p:anim calcmode="lin" valueType="num">
                                      <p:cBhvr additive="base">
                                        <p:cTn id="73" dur="500" fill="hold"/>
                                        <p:tgtEl>
                                          <p:spTgt spid="73731">
                                            <p:txEl>
                                              <p:pRg st="11" end="11"/>
                                            </p:txEl>
                                          </p:spTgt>
                                        </p:tgtEl>
                                        <p:attrNameLst>
                                          <p:attrName>ppt_x</p:attrName>
                                        </p:attrNameLst>
                                      </p:cBhvr>
                                      <p:tavLst>
                                        <p:tav tm="0">
                                          <p:val>
                                            <p:strVal val="0-#ppt_w/2"/>
                                          </p:val>
                                        </p:tav>
                                        <p:tav tm="100000">
                                          <p:val>
                                            <p:strVal val="#ppt_x"/>
                                          </p:val>
                                        </p:tav>
                                      </p:tavLst>
                                    </p:anim>
                                    <p:anim calcmode="lin" valueType="num">
                                      <p:cBhvr additive="base">
                                        <p:cTn id="74" dur="500" fill="hold"/>
                                        <p:tgtEl>
                                          <p:spTgt spid="73731">
                                            <p:txEl>
                                              <p:pRg st="11" end="11"/>
                                            </p:txEl>
                                          </p:spTgt>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p:cTn id="78" dur="1" fill="hold">
                                          <p:stCondLst>
                                            <p:cond delay="0"/>
                                          </p:stCondLst>
                                        </p:cTn>
                                        <p:tgtEl>
                                          <p:spTgt spid="73731">
                                            <p:txEl>
                                              <p:pRg st="12" end="12"/>
                                            </p:txEl>
                                          </p:spTgt>
                                        </p:tgtEl>
                                        <p:attrNameLst>
                                          <p:attrName>style.visibility</p:attrName>
                                        </p:attrNameLst>
                                      </p:cBhvr>
                                      <p:to>
                                        <p:strVal val="visible"/>
                                      </p:to>
                                    </p:set>
                                    <p:anim calcmode="lin" valueType="num">
                                      <p:cBhvr additive="base">
                                        <p:cTn id="79" dur="500" fill="hold"/>
                                        <p:tgtEl>
                                          <p:spTgt spid="73731">
                                            <p:txEl>
                                              <p:pRg st="12" end="12"/>
                                            </p:txEl>
                                          </p:spTgt>
                                        </p:tgtEl>
                                        <p:attrNameLst>
                                          <p:attrName>ppt_x</p:attrName>
                                        </p:attrNameLst>
                                      </p:cBhvr>
                                      <p:tavLst>
                                        <p:tav tm="0">
                                          <p:val>
                                            <p:strVal val="0-#ppt_w/2"/>
                                          </p:val>
                                        </p:tav>
                                        <p:tav tm="100000">
                                          <p:val>
                                            <p:strVal val="#ppt_x"/>
                                          </p:val>
                                        </p:tav>
                                      </p:tavLst>
                                    </p:anim>
                                    <p:anim calcmode="lin" valueType="num">
                                      <p:cBhvr additive="base">
                                        <p:cTn id="80" dur="500" fill="hold"/>
                                        <p:tgtEl>
                                          <p:spTgt spid="73731">
                                            <p:txEl>
                                              <p:pRg st="12" end="12"/>
                                            </p:txEl>
                                          </p:spTgt>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p:cTn id="84" dur="1" fill="hold">
                                          <p:stCondLst>
                                            <p:cond delay="0"/>
                                          </p:stCondLst>
                                        </p:cTn>
                                        <p:tgtEl>
                                          <p:spTgt spid="73731">
                                            <p:txEl>
                                              <p:pRg st="13" end="13"/>
                                            </p:txEl>
                                          </p:spTgt>
                                        </p:tgtEl>
                                        <p:attrNameLst>
                                          <p:attrName>style.visibility</p:attrName>
                                        </p:attrNameLst>
                                      </p:cBhvr>
                                      <p:to>
                                        <p:strVal val="visible"/>
                                      </p:to>
                                    </p:set>
                                    <p:anim calcmode="lin" valueType="num">
                                      <p:cBhvr additive="base">
                                        <p:cTn id="85" dur="500" fill="hold"/>
                                        <p:tgtEl>
                                          <p:spTgt spid="73731">
                                            <p:txEl>
                                              <p:pRg st="13" end="13"/>
                                            </p:txEl>
                                          </p:spTgt>
                                        </p:tgtEl>
                                        <p:attrNameLst>
                                          <p:attrName>ppt_x</p:attrName>
                                        </p:attrNameLst>
                                      </p:cBhvr>
                                      <p:tavLst>
                                        <p:tav tm="0">
                                          <p:val>
                                            <p:strVal val="0-#ppt_w/2"/>
                                          </p:val>
                                        </p:tav>
                                        <p:tav tm="100000">
                                          <p:val>
                                            <p:strVal val="#ppt_x"/>
                                          </p:val>
                                        </p:tav>
                                      </p:tavLst>
                                    </p:anim>
                                    <p:anim calcmode="lin" valueType="num">
                                      <p:cBhvr additive="base">
                                        <p:cTn id="86" dur="500" fill="hold"/>
                                        <p:tgtEl>
                                          <p:spTgt spid="73731">
                                            <p:txEl>
                                              <p:pRg st="13" end="13"/>
                                            </p:txEl>
                                          </p:spTgt>
                                        </p:tgtEl>
                                        <p:attrNameLst>
                                          <p:attrName>ppt_y</p:attrName>
                                        </p:attrNameLst>
                                      </p:cBhvr>
                                      <p:tavLst>
                                        <p:tav tm="0">
                                          <p:val>
                                            <p:strVal val="#ppt_y"/>
                                          </p:val>
                                        </p:tav>
                                        <p:tav tm="100000">
                                          <p:val>
                                            <p:strVal val="#ppt_y"/>
                                          </p:val>
                                        </p:tav>
                                      </p:tavLst>
                                    </p:anim>
                                  </p:childTnLst>
                                </p:cTn>
                              </p:par>
                              <p:par>
                                <p:cTn id="87" presetID="2" presetClass="entr" presetSubtype="8" fill="hold" grpId="0" nodeType="withEffect">
                                  <p:stCondLst>
                                    <p:cond delay="0"/>
                                  </p:stCondLst>
                                  <p:childTnLst>
                                    <p:set>
                                      <p:cBhvr>
                                        <p:cTn id="88" dur="1" fill="hold">
                                          <p:stCondLst>
                                            <p:cond delay="0"/>
                                          </p:stCondLst>
                                        </p:cTn>
                                        <p:tgtEl>
                                          <p:spTgt spid="73731">
                                            <p:txEl>
                                              <p:pRg st="14" end="14"/>
                                            </p:txEl>
                                          </p:spTgt>
                                        </p:tgtEl>
                                        <p:attrNameLst>
                                          <p:attrName>style.visibility</p:attrName>
                                        </p:attrNameLst>
                                      </p:cBhvr>
                                      <p:to>
                                        <p:strVal val="visible"/>
                                      </p:to>
                                    </p:set>
                                    <p:anim calcmode="lin" valueType="num">
                                      <p:cBhvr additive="base">
                                        <p:cTn id="89" dur="500" fill="hold"/>
                                        <p:tgtEl>
                                          <p:spTgt spid="73731">
                                            <p:txEl>
                                              <p:pRg st="14" end="14"/>
                                            </p:txEl>
                                          </p:spTgt>
                                        </p:tgtEl>
                                        <p:attrNameLst>
                                          <p:attrName>ppt_x</p:attrName>
                                        </p:attrNameLst>
                                      </p:cBhvr>
                                      <p:tavLst>
                                        <p:tav tm="0">
                                          <p:val>
                                            <p:strVal val="0-#ppt_w/2"/>
                                          </p:val>
                                        </p:tav>
                                        <p:tav tm="100000">
                                          <p:val>
                                            <p:strVal val="#ppt_x"/>
                                          </p:val>
                                        </p:tav>
                                      </p:tavLst>
                                    </p:anim>
                                    <p:anim calcmode="lin" valueType="num">
                                      <p:cBhvr additive="base">
                                        <p:cTn id="90" dur="500" fill="hold"/>
                                        <p:tgtEl>
                                          <p:spTgt spid="73731">
                                            <p:txEl>
                                              <p:pRg st="14" end="1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dirty="0" smtClean="0"/>
              <a:t>软件的定义</a:t>
            </a:r>
            <a:endParaRPr lang="zh-CN" altLang="en-US" dirty="0" smtClean="0"/>
          </a:p>
        </p:txBody>
      </p:sp>
      <p:sp>
        <p:nvSpPr>
          <p:cNvPr id="18435" name="Rectangle 3"/>
          <p:cNvSpPr>
            <a:spLocks noGrp="1" noChangeArrowheads="1"/>
          </p:cNvSpPr>
          <p:nvPr>
            <p:ph idx="1"/>
          </p:nvPr>
        </p:nvSpPr>
        <p:spPr>
          <a:xfrm>
            <a:off x="407368" y="954854"/>
            <a:ext cx="11417082" cy="5184775"/>
          </a:xfrm>
        </p:spPr>
        <p:txBody>
          <a:bodyPr>
            <a:normAutofit lnSpcReduction="10000"/>
          </a:bodyPr>
          <a:lstStyle/>
          <a:p>
            <a:pPr>
              <a:lnSpc>
                <a:spcPct val="120000"/>
              </a:lnSpc>
              <a:spcBef>
                <a:spcPct val="30000"/>
              </a:spcBef>
            </a:pPr>
            <a:r>
              <a:rPr lang="en-US" altLang="zh-CN" dirty="0"/>
              <a:t>IEEE</a:t>
            </a:r>
            <a:r>
              <a:rPr lang="zh-CN" altLang="en-US" dirty="0"/>
              <a:t>定义：软件是计算机程序、规程以及运行计算机系统所需要的文档和数据。 </a:t>
            </a:r>
            <a:endParaRPr lang="zh-CN" altLang="en-US" dirty="0"/>
          </a:p>
          <a:p>
            <a:pPr>
              <a:lnSpc>
                <a:spcPct val="110000"/>
              </a:lnSpc>
              <a:spcBef>
                <a:spcPct val="30000"/>
              </a:spcBef>
            </a:pPr>
            <a:r>
              <a:rPr lang="en-US" altLang="zh-CN" dirty="0"/>
              <a:t>Wirth</a:t>
            </a:r>
            <a:r>
              <a:rPr lang="zh-CN" altLang="en-US" dirty="0"/>
              <a:t>中指出：</a:t>
            </a:r>
            <a:endParaRPr lang="zh-CN" altLang="en-US" dirty="0"/>
          </a:p>
          <a:p>
            <a:pPr lvl="1">
              <a:lnSpc>
                <a:spcPct val="110000"/>
              </a:lnSpc>
              <a:spcBef>
                <a:spcPct val="30000"/>
              </a:spcBef>
            </a:pPr>
            <a:r>
              <a:rPr lang="zh-CN" altLang="en-US" dirty="0"/>
              <a:t>在结构化程序设计：程序＝算法＋数据结构</a:t>
            </a:r>
            <a:endParaRPr lang="zh-CN" altLang="en-US" dirty="0"/>
          </a:p>
          <a:p>
            <a:pPr lvl="1">
              <a:lnSpc>
                <a:spcPct val="110000"/>
              </a:lnSpc>
              <a:spcBef>
                <a:spcPct val="30000"/>
              </a:spcBef>
            </a:pPr>
            <a:r>
              <a:rPr lang="zh-CN" altLang="en-US" dirty="0"/>
              <a:t>在软件工程中：软件＝程序＋文档。 </a:t>
            </a:r>
            <a:endParaRPr lang="zh-CN" altLang="en-US" dirty="0"/>
          </a:p>
          <a:p>
            <a:pPr>
              <a:lnSpc>
                <a:spcPct val="120000"/>
              </a:lnSpc>
              <a:spcBef>
                <a:spcPct val="30000"/>
              </a:spcBef>
            </a:pPr>
            <a:r>
              <a:rPr lang="zh-CN" altLang="en-US" dirty="0"/>
              <a:t>另一种对软件的公认解释是：</a:t>
            </a:r>
            <a:r>
              <a:rPr lang="zh-CN" altLang="en-US" dirty="0">
                <a:solidFill>
                  <a:srgbClr val="FFFF00"/>
                </a:solidFill>
              </a:rPr>
              <a:t>软件是包括程序、数据及其相关文档的完整集合。</a:t>
            </a:r>
            <a:endParaRPr lang="zh-CN" altLang="en-US" dirty="0">
              <a:solidFill>
                <a:srgbClr val="FFFF00"/>
              </a:solidFill>
            </a:endParaRPr>
          </a:p>
          <a:p>
            <a:pPr>
              <a:lnSpc>
                <a:spcPct val="120000"/>
              </a:lnSpc>
              <a:spcBef>
                <a:spcPct val="30000"/>
              </a:spcBef>
            </a:pPr>
            <a:r>
              <a:rPr lang="zh-CN" altLang="en-US" dirty="0"/>
              <a:t>程序和数据</a:t>
            </a:r>
            <a:r>
              <a:rPr lang="zh-CN" altLang="en-US" dirty="0" smtClean="0"/>
              <a:t>是</a:t>
            </a:r>
            <a:r>
              <a:rPr lang="zh-CN" altLang="en-US" dirty="0"/>
              <a:t>构造</a:t>
            </a:r>
            <a:r>
              <a:rPr lang="zh-CN" altLang="en-US" dirty="0" smtClean="0"/>
              <a:t>软件</a:t>
            </a:r>
            <a:r>
              <a:rPr lang="zh-CN" altLang="en-US" dirty="0"/>
              <a:t>的基础，文档是软件质量的保证</a:t>
            </a:r>
            <a:r>
              <a:rPr lang="zh-CN" altLang="en-US" dirty="0" smtClean="0"/>
              <a:t>，</a:t>
            </a:r>
            <a:r>
              <a:rPr lang="zh-CN" altLang="en-US" dirty="0"/>
              <a:t>也</a:t>
            </a:r>
            <a:r>
              <a:rPr lang="zh-CN" altLang="en-US" dirty="0" smtClean="0"/>
              <a:t>是</a:t>
            </a:r>
            <a:r>
              <a:rPr lang="zh-CN" altLang="en-US" dirty="0"/>
              <a:t>保证软件更新及生命周期长短</a:t>
            </a:r>
            <a:r>
              <a:rPr lang="zh-CN" altLang="en-US" dirty="0" smtClean="0"/>
              <a:t>的必需品。</a:t>
            </a:r>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smtClean="0"/>
              <a:t>软件的特点</a:t>
            </a:r>
            <a:endParaRPr lang="zh-CN" altLang="en-US" dirty="0" smtClean="0"/>
          </a:p>
        </p:txBody>
      </p:sp>
      <p:sp>
        <p:nvSpPr>
          <p:cNvPr id="19459" name="Rectangle 3"/>
          <p:cNvSpPr>
            <a:spLocks noGrp="1" noChangeArrowheads="1"/>
          </p:cNvSpPr>
          <p:nvPr>
            <p:ph idx="1"/>
          </p:nvPr>
        </p:nvSpPr>
        <p:spPr>
          <a:xfrm>
            <a:off x="479376" y="908721"/>
            <a:ext cx="11345074" cy="5357145"/>
          </a:xfrm>
        </p:spPr>
        <p:txBody>
          <a:bodyPr>
            <a:normAutofit/>
          </a:bodyPr>
          <a:lstStyle/>
          <a:p>
            <a:pPr>
              <a:lnSpc>
                <a:spcPct val="80000"/>
              </a:lnSpc>
              <a:spcBef>
                <a:spcPct val="30000"/>
              </a:spcBef>
            </a:pPr>
            <a:r>
              <a:rPr lang="zh-CN" altLang="en-US" sz="2400" dirty="0"/>
              <a:t>软件是一种逻辑实体，具有抽象性。</a:t>
            </a:r>
            <a:endParaRPr lang="zh-CN" altLang="en-US" sz="2400" dirty="0"/>
          </a:p>
          <a:p>
            <a:pPr>
              <a:lnSpc>
                <a:spcPct val="80000"/>
              </a:lnSpc>
              <a:spcBef>
                <a:spcPct val="30000"/>
              </a:spcBef>
            </a:pPr>
            <a:r>
              <a:rPr lang="zh-CN" altLang="en-US" sz="2400" dirty="0"/>
              <a:t>软件开发过程中没有明显的制造过程 </a:t>
            </a:r>
            <a:r>
              <a:rPr lang="zh-CN" altLang="en-US" sz="2400" dirty="0" smtClean="0"/>
              <a:t>，应理解为“创作”。</a:t>
            </a:r>
            <a:endParaRPr lang="zh-CN" altLang="en-US" sz="2400" dirty="0"/>
          </a:p>
          <a:p>
            <a:pPr>
              <a:lnSpc>
                <a:spcPct val="80000"/>
              </a:lnSpc>
              <a:spcBef>
                <a:spcPct val="30000"/>
              </a:spcBef>
            </a:pPr>
            <a:r>
              <a:rPr lang="zh-CN" altLang="en-US" sz="2400" dirty="0"/>
              <a:t>不存在机械磨损和老化问题，但存在软件退化问题 。</a:t>
            </a:r>
            <a:endParaRPr lang="zh-CN" altLang="en-US" sz="2400" dirty="0"/>
          </a:p>
          <a:p>
            <a:pPr>
              <a:lnSpc>
                <a:spcPct val="80000"/>
              </a:lnSpc>
              <a:spcBef>
                <a:spcPct val="30000"/>
              </a:spcBef>
            </a:pPr>
            <a:r>
              <a:rPr lang="zh-CN" altLang="en-US" sz="2400" dirty="0"/>
              <a:t>软件的开发和运行受到计算机系统的约束和限制。</a:t>
            </a:r>
            <a:endParaRPr lang="zh-CN" altLang="en-US" sz="2400" dirty="0"/>
          </a:p>
          <a:p>
            <a:pPr>
              <a:spcBef>
                <a:spcPct val="30000"/>
              </a:spcBef>
            </a:pPr>
            <a:r>
              <a:rPr lang="zh-CN" altLang="en-US" sz="2400" dirty="0" smtClean="0">
                <a:solidFill>
                  <a:srgbClr val="FFFF00"/>
                </a:solidFill>
              </a:rPr>
              <a:t>软件开发</a:t>
            </a:r>
            <a:r>
              <a:rPr lang="zh-CN" altLang="en-US" sz="2400" dirty="0">
                <a:solidFill>
                  <a:srgbClr val="FFFF00"/>
                </a:solidFill>
              </a:rPr>
              <a:t>至今未完全摆脱手工艺的</a:t>
            </a:r>
            <a:r>
              <a:rPr lang="zh-CN" altLang="en-US" sz="2400" dirty="0" smtClean="0">
                <a:solidFill>
                  <a:srgbClr val="FFFF00"/>
                </a:solidFill>
              </a:rPr>
              <a:t>开发方式；</a:t>
            </a:r>
            <a:endParaRPr lang="zh-CN" altLang="en-US" sz="2400" dirty="0">
              <a:solidFill>
                <a:srgbClr val="FFFF00"/>
              </a:solidFill>
            </a:endParaRPr>
          </a:p>
          <a:p>
            <a:pPr>
              <a:lnSpc>
                <a:spcPct val="80000"/>
              </a:lnSpc>
              <a:spcBef>
                <a:spcPct val="30000"/>
              </a:spcBef>
            </a:pPr>
            <a:r>
              <a:rPr lang="zh-CN" altLang="en-US" sz="2400" dirty="0"/>
              <a:t>软件是复杂的原因：</a:t>
            </a:r>
            <a:endParaRPr lang="zh-CN" altLang="en-US" sz="2400" dirty="0"/>
          </a:p>
          <a:p>
            <a:pPr lvl="1">
              <a:lnSpc>
                <a:spcPct val="80000"/>
              </a:lnSpc>
              <a:spcBef>
                <a:spcPct val="30000"/>
              </a:spcBef>
            </a:pPr>
            <a:r>
              <a:rPr lang="zh-CN" altLang="en-US" sz="2000" dirty="0"/>
              <a:t>实际需求（业务背景）的复杂性</a:t>
            </a:r>
            <a:endParaRPr lang="zh-CN" altLang="en-US" sz="2000" dirty="0"/>
          </a:p>
          <a:p>
            <a:pPr lvl="1">
              <a:lnSpc>
                <a:spcPct val="80000"/>
              </a:lnSpc>
              <a:spcBef>
                <a:spcPct val="30000"/>
              </a:spcBef>
            </a:pPr>
            <a:r>
              <a:rPr lang="zh-CN" altLang="en-US" sz="2000" dirty="0"/>
              <a:t>程序逻辑的复杂性</a:t>
            </a:r>
            <a:endParaRPr lang="zh-CN" altLang="en-US" sz="2000" dirty="0"/>
          </a:p>
          <a:p>
            <a:pPr>
              <a:lnSpc>
                <a:spcPct val="80000"/>
              </a:lnSpc>
              <a:spcBef>
                <a:spcPct val="30000"/>
              </a:spcBef>
            </a:pPr>
            <a:r>
              <a:rPr lang="zh-CN" altLang="en-US" sz="2400" dirty="0"/>
              <a:t>软件研制成本高，软件成本所占比例逐年增加。</a:t>
            </a:r>
            <a:endParaRPr lang="zh-CN" altLang="en-US" sz="2400" dirty="0"/>
          </a:p>
          <a:p>
            <a:pPr>
              <a:lnSpc>
                <a:spcPct val="80000"/>
              </a:lnSpc>
              <a:spcBef>
                <a:spcPct val="30000"/>
              </a:spcBef>
            </a:pPr>
            <a:r>
              <a:rPr lang="zh-CN" altLang="en-US" sz="2400" dirty="0"/>
              <a:t>软件投入运行时还涉及到许多社会因素。</a:t>
            </a:r>
            <a:endParaRPr lang="zh-CN" altLang="en-US" sz="24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5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45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45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459">
                                            <p:txEl>
                                              <p:pRg st="5" end="5"/>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459">
                                            <p:txEl>
                                              <p:pRg st="6" end="6"/>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459">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45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dirty="0" smtClean="0"/>
              <a:t>软件的分类</a:t>
            </a:r>
            <a:endParaRPr lang="zh-CN" altLang="en-US" dirty="0" smtClean="0"/>
          </a:p>
        </p:txBody>
      </p:sp>
      <p:sp>
        <p:nvSpPr>
          <p:cNvPr id="20483" name="Rectangle 3"/>
          <p:cNvSpPr>
            <a:spLocks noGrp="1" noChangeArrowheads="1"/>
          </p:cNvSpPr>
          <p:nvPr>
            <p:ph idx="1"/>
          </p:nvPr>
        </p:nvSpPr>
        <p:spPr>
          <a:xfrm>
            <a:off x="551384" y="908721"/>
            <a:ext cx="11273066" cy="5357145"/>
          </a:xfrm>
        </p:spPr>
        <p:txBody>
          <a:bodyPr>
            <a:normAutofit/>
          </a:bodyPr>
          <a:lstStyle/>
          <a:p>
            <a:r>
              <a:rPr lang="zh-CN" altLang="en-US" sz="2400" dirty="0"/>
              <a:t>根据软件服务对象的范围不同：</a:t>
            </a:r>
            <a:endParaRPr lang="zh-CN" altLang="en-US" sz="2400" dirty="0"/>
          </a:p>
          <a:p>
            <a:pPr lvl="1"/>
            <a:r>
              <a:rPr lang="zh-CN" altLang="en-US" sz="2000" dirty="0"/>
              <a:t>通用软件：操作系统、数据库等；</a:t>
            </a:r>
            <a:endParaRPr lang="zh-CN" altLang="en-US" sz="2000" dirty="0"/>
          </a:p>
          <a:p>
            <a:pPr lvl="1"/>
            <a:r>
              <a:rPr lang="zh-CN" altLang="en-US" sz="2000" dirty="0"/>
              <a:t>定制软件：企业</a:t>
            </a:r>
            <a:r>
              <a:rPr lang="en-US" altLang="zh-CN" sz="2000" dirty="0"/>
              <a:t>ERP</a:t>
            </a:r>
            <a:r>
              <a:rPr lang="zh-CN" altLang="en-US" sz="2000" dirty="0"/>
              <a:t>、办公自动化系统等；</a:t>
            </a:r>
            <a:endParaRPr lang="zh-CN" altLang="en-US" sz="2000" dirty="0"/>
          </a:p>
          <a:p>
            <a:r>
              <a:rPr lang="zh-CN" altLang="en-US" sz="2400" dirty="0"/>
              <a:t>根据软件完成功能所处的层次不同：</a:t>
            </a:r>
            <a:endParaRPr lang="zh-CN" altLang="en-US" sz="2400" dirty="0"/>
          </a:p>
          <a:p>
            <a:pPr lvl="1"/>
            <a:r>
              <a:rPr lang="zh-CN" altLang="en-US" sz="2000" dirty="0"/>
              <a:t>应用软件、中间件软件、系统软件</a:t>
            </a:r>
            <a:endParaRPr lang="en-US" altLang="zh-CN" sz="2000" dirty="0"/>
          </a:p>
          <a:p>
            <a:r>
              <a:rPr lang="zh-CN" altLang="en-US" sz="2400" dirty="0"/>
              <a:t>系统软件：指能与硬件紧密配合在一起，使计算机系统各个部件、相关的软件和数据协调、高效地工作</a:t>
            </a:r>
            <a:endParaRPr lang="zh-CN" altLang="en-US" sz="2400" dirty="0"/>
          </a:p>
          <a:p>
            <a:pPr lvl="1"/>
            <a:r>
              <a:rPr lang="zh-CN" altLang="en-US" sz="2000" dirty="0"/>
              <a:t>操作系统</a:t>
            </a:r>
            <a:endParaRPr lang="zh-CN" altLang="en-US" sz="2000" dirty="0"/>
          </a:p>
          <a:p>
            <a:pPr lvl="1"/>
            <a:r>
              <a:rPr lang="zh-CN" altLang="en-US" sz="2000" dirty="0"/>
              <a:t>设备驱动程序</a:t>
            </a:r>
            <a:endParaRPr lang="zh-CN" altLang="en-US" sz="2000" dirty="0"/>
          </a:p>
          <a:p>
            <a:pPr lvl="1"/>
            <a:r>
              <a:rPr lang="zh-CN" altLang="en-US" sz="2000" dirty="0"/>
              <a:t>数据库管理系统等</a:t>
            </a:r>
            <a:r>
              <a:rPr lang="zh-CN" altLang="en-US" dirty="0"/>
              <a:t> </a:t>
            </a:r>
            <a:endParaRPr lang="zh-CN" altLang="en-US" dirty="0"/>
          </a:p>
          <a:p>
            <a:endParaRPr lang="zh-CN" altLang="en-US" dirty="0" smtClean="0"/>
          </a:p>
          <a:p>
            <a:pPr lvl="1"/>
            <a:endParaRPr lang="zh-CN" altLang="en-US" dirty="0" smtClean="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anim calcmode="lin" valueType="num">
                                      <p:cBhvr additive="base">
                                        <p:cTn id="11"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 calcmode="lin" valueType="num">
                                      <p:cBhvr additive="base">
                                        <p:cTn id="15"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0483">
                                            <p:txEl>
                                              <p:pRg st="3" end="3"/>
                                            </p:txEl>
                                          </p:spTgt>
                                        </p:tgtEl>
                                        <p:attrNameLst>
                                          <p:attrName>style.visibility</p:attrName>
                                        </p:attrNameLst>
                                      </p:cBhvr>
                                      <p:to>
                                        <p:strVal val="visible"/>
                                      </p:to>
                                    </p:set>
                                    <p:anim calcmode="lin" valueType="num">
                                      <p:cBhvr additive="base">
                                        <p:cTn id="21"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0483">
                                            <p:txEl>
                                              <p:pRg st="4" end="4"/>
                                            </p:txEl>
                                          </p:spTgt>
                                        </p:tgtEl>
                                        <p:attrNameLst>
                                          <p:attrName>style.visibility</p:attrName>
                                        </p:attrNameLst>
                                      </p:cBhvr>
                                      <p:to>
                                        <p:strVal val="visible"/>
                                      </p:to>
                                    </p:set>
                                    <p:anim calcmode="lin" valueType="num">
                                      <p:cBhvr additive="base">
                                        <p:cTn id="25"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0483">
                                            <p:txEl>
                                              <p:pRg st="5" end="5"/>
                                            </p:txEl>
                                          </p:spTgt>
                                        </p:tgtEl>
                                        <p:attrNameLst>
                                          <p:attrName>style.visibility</p:attrName>
                                        </p:attrNameLst>
                                      </p:cBhvr>
                                      <p:to>
                                        <p:strVal val="visible"/>
                                      </p:to>
                                    </p:set>
                                    <p:anim calcmode="lin" valueType="num">
                                      <p:cBhvr additive="base">
                                        <p:cTn id="31"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3">
                                            <p:txEl>
                                              <p:pRg st="6" end="6"/>
                                            </p:txEl>
                                          </p:spTgt>
                                        </p:tgtEl>
                                        <p:attrNameLst>
                                          <p:attrName>style.visibility</p:attrName>
                                        </p:attrNameLst>
                                      </p:cBhvr>
                                      <p:to>
                                        <p:strVal val="visible"/>
                                      </p:to>
                                    </p:set>
                                    <p:anim calcmode="lin" valueType="num">
                                      <p:cBhvr additive="base">
                                        <p:cTn id="35"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20483">
                                            <p:txEl>
                                              <p:pRg st="7" end="7"/>
                                            </p:txEl>
                                          </p:spTgt>
                                        </p:tgtEl>
                                        <p:attrNameLst>
                                          <p:attrName>style.visibility</p:attrName>
                                        </p:attrNameLst>
                                      </p:cBhvr>
                                      <p:to>
                                        <p:strVal val="visible"/>
                                      </p:to>
                                    </p:set>
                                    <p:anim calcmode="lin" valueType="num">
                                      <p:cBhvr additive="base">
                                        <p:cTn id="39"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048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20483">
                                            <p:txEl>
                                              <p:pRg st="8" end="8"/>
                                            </p:txEl>
                                          </p:spTgt>
                                        </p:tgtEl>
                                        <p:attrNameLst>
                                          <p:attrName>style.visibility</p:attrName>
                                        </p:attrNameLst>
                                      </p:cBhvr>
                                      <p:to>
                                        <p:strVal val="visible"/>
                                      </p:to>
                                    </p:set>
                                    <p:anim calcmode="lin" valueType="num">
                                      <p:cBhvr additive="base">
                                        <p:cTn id="43"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smtClean="0"/>
              <a:t>软件的发展和软件危机</a:t>
            </a:r>
            <a:endParaRPr lang="zh-CN" altLang="en-US" dirty="0" smtClean="0"/>
          </a:p>
        </p:txBody>
      </p:sp>
      <p:sp>
        <p:nvSpPr>
          <p:cNvPr id="15364" name="Rectangle 3"/>
          <p:cNvSpPr>
            <a:spLocks noGrp="1" noChangeArrowheads="1"/>
          </p:cNvSpPr>
          <p:nvPr>
            <p:ph idx="1"/>
          </p:nvPr>
        </p:nvSpPr>
        <p:spPr/>
        <p:txBody>
          <a:bodyPr/>
          <a:lstStyle/>
          <a:p>
            <a:r>
              <a:rPr lang="zh-CN" altLang="en-US" dirty="0" smtClean="0"/>
              <a:t>软件发展阶段</a:t>
            </a:r>
            <a:endParaRPr lang="en-US" altLang="zh-CN" dirty="0" smtClean="0"/>
          </a:p>
          <a:p>
            <a:pPr lvl="1"/>
            <a:r>
              <a:rPr lang="zh-CN" altLang="en-US" dirty="0"/>
              <a:t>程序设计阶段：</a:t>
            </a:r>
            <a:r>
              <a:rPr lang="en-US" altLang="zh-CN" dirty="0"/>
              <a:t>20</a:t>
            </a:r>
            <a:r>
              <a:rPr lang="zh-CN" altLang="en-US" dirty="0"/>
              <a:t>世纪</a:t>
            </a:r>
            <a:r>
              <a:rPr lang="en-US" altLang="zh-CN" dirty="0"/>
              <a:t>50</a:t>
            </a:r>
            <a:r>
              <a:rPr lang="zh-CN" altLang="en-US" dirty="0"/>
              <a:t>至</a:t>
            </a:r>
            <a:r>
              <a:rPr lang="en-US" altLang="zh-CN" dirty="0"/>
              <a:t>60</a:t>
            </a:r>
            <a:r>
              <a:rPr lang="zh-CN" altLang="en-US" dirty="0"/>
              <a:t>年代</a:t>
            </a:r>
            <a:endParaRPr lang="zh-CN" altLang="en-US" dirty="0"/>
          </a:p>
          <a:p>
            <a:pPr lvl="1"/>
            <a:r>
              <a:rPr lang="zh-CN" altLang="en-US" dirty="0"/>
              <a:t>程序系统阶段：</a:t>
            </a:r>
            <a:r>
              <a:rPr lang="en-US" altLang="zh-CN" dirty="0"/>
              <a:t>20</a:t>
            </a:r>
            <a:r>
              <a:rPr lang="zh-CN" altLang="en-US" dirty="0"/>
              <a:t>世纪</a:t>
            </a:r>
            <a:r>
              <a:rPr lang="en-US" altLang="zh-CN" dirty="0"/>
              <a:t>60</a:t>
            </a:r>
            <a:r>
              <a:rPr lang="zh-CN" altLang="en-US" dirty="0"/>
              <a:t>至</a:t>
            </a:r>
            <a:r>
              <a:rPr lang="en-US" altLang="zh-CN" dirty="0"/>
              <a:t>70</a:t>
            </a:r>
            <a:r>
              <a:rPr lang="zh-CN" altLang="en-US" dirty="0"/>
              <a:t>年代	</a:t>
            </a:r>
            <a:endParaRPr lang="zh-CN" altLang="en-US" dirty="0"/>
          </a:p>
          <a:p>
            <a:pPr lvl="1"/>
            <a:r>
              <a:rPr lang="zh-CN" altLang="en-US" dirty="0"/>
              <a:t>软件工程阶段：</a:t>
            </a:r>
            <a:r>
              <a:rPr lang="en-US" altLang="zh-CN" dirty="0"/>
              <a:t>20</a:t>
            </a:r>
            <a:r>
              <a:rPr lang="zh-CN" altLang="en-US" dirty="0"/>
              <a:t>世纪</a:t>
            </a:r>
            <a:r>
              <a:rPr lang="en-US" altLang="zh-CN" dirty="0"/>
              <a:t>70</a:t>
            </a:r>
            <a:r>
              <a:rPr lang="zh-CN" altLang="en-US" dirty="0"/>
              <a:t>至</a:t>
            </a:r>
            <a:r>
              <a:rPr lang="en-US" altLang="zh-CN" dirty="0"/>
              <a:t>90</a:t>
            </a:r>
            <a:r>
              <a:rPr lang="zh-CN" altLang="en-US" dirty="0"/>
              <a:t>年代</a:t>
            </a:r>
            <a:endParaRPr lang="zh-CN" altLang="en-US" dirty="0"/>
          </a:p>
          <a:p>
            <a:pPr lvl="1"/>
            <a:r>
              <a:rPr lang="zh-CN" altLang="en-US" dirty="0"/>
              <a:t>现代软件工程阶段： </a:t>
            </a:r>
            <a:r>
              <a:rPr lang="en-US" altLang="zh-CN" dirty="0"/>
              <a:t>20</a:t>
            </a:r>
            <a:r>
              <a:rPr lang="zh-CN" altLang="en-US" dirty="0"/>
              <a:t>世纪</a:t>
            </a:r>
            <a:r>
              <a:rPr lang="en-US" altLang="zh-CN" dirty="0"/>
              <a:t>90</a:t>
            </a:r>
            <a:r>
              <a:rPr lang="zh-CN" altLang="en-US" dirty="0"/>
              <a:t>年代</a:t>
            </a:r>
            <a:r>
              <a:rPr lang="zh-CN" altLang="en-US" dirty="0" smtClean="0"/>
              <a:t>至今</a:t>
            </a:r>
            <a:endParaRPr lang="zh-CN" altLang="en-US" dirty="0" smtClean="0"/>
          </a:p>
          <a:p>
            <a:r>
              <a:rPr lang="zh-CN" altLang="en-US" dirty="0" smtClean="0"/>
              <a:t>软件危机</a:t>
            </a:r>
            <a:endParaRPr lang="en-US" altLang="zh-CN" dirty="0" smtClean="0"/>
          </a:p>
          <a:p>
            <a:pPr lvl="1"/>
            <a:r>
              <a:rPr lang="en-US" altLang="zh-CN" dirty="0" smtClean="0"/>
              <a:t>1960</a:t>
            </a:r>
            <a:r>
              <a:rPr lang="zh-CN" altLang="en-US" dirty="0" smtClean="0"/>
              <a:t>年后至</a:t>
            </a:r>
            <a:r>
              <a:rPr lang="en-US" altLang="zh-CN" dirty="0" smtClean="0"/>
              <a:t>1970</a:t>
            </a:r>
            <a:r>
              <a:rPr lang="zh-CN" altLang="en-US" dirty="0" smtClean="0"/>
              <a:t>之间的软件快速发展阶段</a:t>
            </a:r>
            <a:endParaRPr lang="zh-CN" altLang="en-US" dirty="0" smtClean="0"/>
          </a:p>
          <a:p>
            <a:r>
              <a:rPr lang="zh-CN" altLang="en-US" dirty="0" smtClean="0"/>
              <a:t>软件危机的解决途径</a:t>
            </a:r>
            <a:endParaRPr lang="en-US" altLang="zh-CN" dirty="0" smtClean="0"/>
          </a:p>
          <a:p>
            <a:pPr lvl="1"/>
            <a:r>
              <a:rPr lang="en-US" altLang="zh-CN" dirty="0" smtClean="0"/>
              <a:t>1968</a:t>
            </a:r>
            <a:r>
              <a:rPr lang="zh-CN" altLang="en-US" dirty="0" smtClean="0"/>
              <a:t>年 软件工程大会第一次召开</a:t>
            </a:r>
            <a:endParaRPr lang="zh-CN" altLang="en-US" dirty="0" smtClean="0"/>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80"/>
          <p:cNvSpPr>
            <a:spLocks noGrp="1" noChangeArrowheads="1"/>
          </p:cNvSpPr>
          <p:nvPr>
            <p:ph type="title"/>
          </p:nvPr>
        </p:nvSpPr>
        <p:spPr/>
        <p:txBody>
          <a:bodyPr>
            <a:normAutofit/>
          </a:bodyPr>
          <a:lstStyle/>
          <a:p>
            <a:pPr algn="r"/>
            <a:r>
              <a:rPr lang="zh-CN" altLang="en-US" sz="3200" b="1" dirty="0">
                <a:solidFill>
                  <a:schemeClr val="bg1"/>
                </a:solidFill>
                <a:latin typeface="微软雅黑" panose="020B0503020204020204" pitchFamily="34" charset="-122"/>
                <a:ea typeface="微软雅黑" panose="020B0503020204020204" pitchFamily="34" charset="-122"/>
              </a:rPr>
              <a:t>软件发展的三个主要阶段</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graphicFrame>
        <p:nvGraphicFramePr>
          <p:cNvPr id="52308" name="Group 84"/>
          <p:cNvGraphicFramePr>
            <a:graphicFrameLocks noGrp="1"/>
          </p:cNvGraphicFramePr>
          <p:nvPr>
            <p:ph type="tbl" idx="1"/>
          </p:nvPr>
        </p:nvGraphicFramePr>
        <p:xfrm>
          <a:off x="623392" y="924910"/>
          <a:ext cx="11017225" cy="5521897"/>
        </p:xfrm>
        <a:graphic>
          <a:graphicData uri="http://schemas.openxmlformats.org/drawingml/2006/table">
            <a:tbl>
              <a:tblPr/>
              <a:tblGrid>
                <a:gridCol w="984468"/>
                <a:gridCol w="1258598"/>
                <a:gridCol w="2551210"/>
                <a:gridCol w="2755307"/>
                <a:gridCol w="3467642"/>
              </a:tblGrid>
              <a:tr h="328613">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　</a:t>
                      </a:r>
                      <a:endParaRPr kumimoji="0" lang="zh-CN" altLang="en-US" sz="1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阶段</a:t>
                      </a:r>
                      <a:endPar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endParaRPr>
                    </a:p>
                  </a:txBody>
                  <a:tcPr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row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程序设计</a:t>
                      </a:r>
                      <a:endPar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程序系统</a:t>
                      </a:r>
                      <a:endPar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（现代）软件工程</a:t>
                      </a:r>
                      <a:endParaRPr kumimoji="0" lang="zh-CN" altLang="en-US" sz="24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69913">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特点</a:t>
                      </a:r>
                      <a:endParaRPr kumimoji="0" lang="zh-CN" altLang="en-US"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　</a:t>
                      </a:r>
                      <a:endPar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vMerge="1">
                  <a:tcPr/>
                </a:tc>
                <a:tc vMerge="1">
                  <a:tcPr/>
                </a:tc>
                <a:tc vMerge="1">
                  <a:tcPr/>
                </a:tc>
              </a:tr>
              <a:tr h="2714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软件所指</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程序及说明书</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程序、文档和数据</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程序设计语言</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汇编及机器语言</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高级语言</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软件语言</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软件工作范围</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程序编写</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包括设计和测试</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软件生存期</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需求者</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程序设计本人</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少数用户</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市场用户</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r>
              <a:tr h="446088">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开发软件的组织</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个人</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开发小组</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开发小组及大中型软件开发机构</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软件规模</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小型</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中小型</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大中小型</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69875">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决定质量的因素</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个人程序技术</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小组技术水平</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管理水平</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2"/>
                    </a:solidFill>
                  </a:tcPr>
                </a:tc>
              </a:tr>
              <a:tr h="806449">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开发技术和手段</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子程序</a:t>
                      </a:r>
                      <a:r>
                        <a:rPr kumimoji="0" lang="en-US" altLang="zh-CN"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程序库</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结构化程序设计</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数据库、开发工具、开发环境、工程化开发方法、标准和规范、网络及分布式开发、面向对象技术、软件复用</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维护责任者</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程序设计者</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开发小组</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专职维护人员</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479425">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硬件特征</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价格高</a:t>
                      </a:r>
                      <a:r>
                        <a:rPr kumimoji="0" lang="en-US" altLang="zh-CN"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a:t>
                      </a: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存储容量小</a:t>
                      </a:r>
                      <a:b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b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工作可靠性差</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降价、速度、容量及工作可靠性明显提高</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向超高速、大容量、微型化及网络化发展</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27063">
                <a:tc gridSpan="2">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软件特征</a:t>
                      </a:r>
                      <a:endParaRPr kumimoji="0" lang="zh-CN" altLang="en-US" sz="1600" b="0"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完全不受重视</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软件技术的发展不能满足需求，出现软件危机</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ctr" latinLnBrk="0" hangingPunct="0">
                        <a:lnSpc>
                          <a:spcPct val="90000"/>
                        </a:lnSpc>
                        <a:spcBef>
                          <a:spcPct val="0"/>
                        </a:spcBef>
                        <a:spcAft>
                          <a:spcPct val="0"/>
                        </a:spcAft>
                        <a:buClr>
                          <a:schemeClr val="bg2"/>
                        </a:buClr>
                        <a:buSzPct val="65000"/>
                        <a:buFont typeface="Wingdings" panose="05000000000000000000" pitchFamily="2" charset="2"/>
                        <a:buNone/>
                      </a:pPr>
                      <a:r>
                        <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rPr>
                        <a:t>开发技术有进步，但未获突破性进展，价高，未摆脱软件危机</a:t>
                      </a:r>
                      <a:endParaRPr kumimoji="0" lang="zh-CN" altLang="en-US" sz="16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Arial" panose="020B0604020202020204" pitchFamily="34"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pic>
        <p:nvPicPr>
          <p:cNvPr id="2" name="01-09软件发展的三个阶段">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7320136" y="4437112"/>
            <a:ext cx="609600" cy="609600"/>
          </a:xfrm>
          <a:prstGeom prst="rect">
            <a:avLst/>
          </a:prstGeom>
        </p:spPr>
      </p:pic>
    </p:spTree>
  </p:cSld>
  <p:clrMapOvr>
    <a:masterClrMapping/>
  </p:clrMapOvr>
  <p:transition>
    <p:push/>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38976"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dirty="0" smtClean="0"/>
              <a:t>软件危机</a:t>
            </a:r>
            <a:endParaRPr lang="zh-CN" altLang="en-US" dirty="0" smtClean="0"/>
          </a:p>
        </p:txBody>
      </p:sp>
      <p:sp>
        <p:nvSpPr>
          <p:cNvPr id="18436" name="Rectangle 3"/>
          <p:cNvSpPr>
            <a:spLocks noGrp="1" noChangeArrowheads="1"/>
          </p:cNvSpPr>
          <p:nvPr>
            <p:ph idx="1"/>
          </p:nvPr>
        </p:nvSpPr>
        <p:spPr/>
        <p:txBody>
          <a:bodyPr/>
          <a:lstStyle/>
          <a:p>
            <a:r>
              <a:rPr lang="en-US" altLang="zh-CN" dirty="0" smtClean="0"/>
              <a:t>20</a:t>
            </a:r>
            <a:r>
              <a:rPr lang="zh-CN" altLang="en-US" dirty="0" smtClean="0"/>
              <a:t>世纪</a:t>
            </a:r>
            <a:r>
              <a:rPr lang="en-US" altLang="zh-CN" dirty="0" smtClean="0"/>
              <a:t>60</a:t>
            </a:r>
            <a:r>
              <a:rPr lang="zh-CN" altLang="en-US" dirty="0" smtClean="0"/>
              <a:t>年代后，随着计算机软件应用领域增多，软件规模不断扩大，软件系统功能多，逻辑复杂，不断扩充，从而导致许多系统开发出现了不良的后果：</a:t>
            </a:r>
            <a:endParaRPr lang="zh-CN" altLang="en-US" dirty="0" smtClean="0"/>
          </a:p>
          <a:p>
            <a:pPr lvl="1"/>
            <a:r>
              <a:rPr lang="zh-CN" altLang="en-US" dirty="0" smtClean="0"/>
              <a:t>系统存在大量错误，可用性和可靠性差；</a:t>
            </a:r>
            <a:endParaRPr lang="zh-CN" altLang="en-US" dirty="0" smtClean="0"/>
          </a:p>
          <a:p>
            <a:pPr lvl="1"/>
            <a:r>
              <a:rPr lang="zh-CN" altLang="en-US" dirty="0" smtClean="0"/>
              <a:t>系统无法增加新功能，难于维护；</a:t>
            </a:r>
            <a:endParaRPr lang="zh-CN" altLang="en-US" dirty="0" smtClean="0"/>
          </a:p>
          <a:p>
            <a:pPr lvl="1"/>
            <a:r>
              <a:rPr lang="zh-CN" altLang="en-US" dirty="0" smtClean="0"/>
              <a:t>系统无法按照计划时间完成；</a:t>
            </a:r>
            <a:endParaRPr lang="zh-CN" altLang="en-US" dirty="0" smtClean="0"/>
          </a:p>
          <a:p>
            <a:pPr lvl="1"/>
            <a:r>
              <a:rPr lang="en-US" altLang="zh-CN" dirty="0" smtClean="0"/>
              <a:t>…</a:t>
            </a:r>
            <a:r>
              <a:rPr lang="zh-CN" altLang="en-US" dirty="0" smtClean="0"/>
              <a:t>等因素</a:t>
            </a:r>
            <a:endParaRPr lang="en-US" altLang="zh-CN" dirty="0" smtClean="0"/>
          </a:p>
          <a:p>
            <a:pPr lvl="1"/>
            <a:r>
              <a:rPr lang="zh-CN" altLang="en-US" dirty="0" smtClean="0"/>
              <a:t>导致很多软件系统 的彻底失败。</a:t>
            </a:r>
            <a:endParaRPr lang="zh-CN" altLang="en-US" dirty="0" smtClean="0"/>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zh-CN" altLang="en-US" dirty="0" smtClean="0"/>
              <a:t>软件危机 </a:t>
            </a:r>
            <a:r>
              <a:rPr lang="en-US" altLang="zh-CN" dirty="0"/>
              <a:t>Software Crisis</a:t>
            </a:r>
            <a:endParaRPr lang="zh-CN" altLang="en-US" dirty="0" smtClean="0"/>
          </a:p>
        </p:txBody>
      </p:sp>
      <p:sp>
        <p:nvSpPr>
          <p:cNvPr id="56323" name="Rectangle 3"/>
          <p:cNvSpPr>
            <a:spLocks noGrp="1" noChangeArrowheads="1"/>
          </p:cNvSpPr>
          <p:nvPr>
            <p:ph idx="1"/>
          </p:nvPr>
        </p:nvSpPr>
        <p:spPr/>
        <p:txBody>
          <a:bodyPr/>
          <a:lstStyle/>
          <a:p>
            <a:r>
              <a:rPr lang="zh-CN" altLang="en-US" dirty="0"/>
              <a:t>所谓软件危机就是计算机软件在开发和维护过程中所遇到的一系列严重问题，</a:t>
            </a:r>
            <a:r>
              <a:rPr lang="zh-CN" altLang="en-US" dirty="0" smtClean="0"/>
              <a:t>导致了软件</a:t>
            </a:r>
            <a:r>
              <a:rPr lang="zh-CN" altLang="en-US" dirty="0"/>
              <a:t>行业的信任危机，具体表现在：</a:t>
            </a:r>
            <a:endParaRPr lang="zh-CN" altLang="en-US" dirty="0"/>
          </a:p>
          <a:p>
            <a:pPr lvl="1"/>
            <a:r>
              <a:rPr lang="zh-CN" altLang="en-US" dirty="0"/>
              <a:t>软件开发成本难以估算，无法制定合理的开发计划；</a:t>
            </a:r>
            <a:endParaRPr lang="zh-CN" altLang="en-US" dirty="0"/>
          </a:p>
          <a:p>
            <a:pPr lvl="1"/>
            <a:r>
              <a:rPr lang="zh-CN" altLang="en-US" dirty="0"/>
              <a:t>用户的需求无法确切表达；</a:t>
            </a:r>
            <a:endParaRPr lang="zh-CN" altLang="en-US" dirty="0"/>
          </a:p>
          <a:p>
            <a:pPr lvl="1"/>
            <a:r>
              <a:rPr lang="zh-CN" altLang="en-US" dirty="0"/>
              <a:t>软件质量存在问题；</a:t>
            </a:r>
            <a:endParaRPr lang="zh-CN" altLang="en-US" dirty="0"/>
          </a:p>
          <a:p>
            <a:pPr lvl="1"/>
            <a:r>
              <a:rPr lang="zh-CN" altLang="en-US" dirty="0"/>
              <a:t>软件的可维护性差；</a:t>
            </a:r>
            <a:endParaRPr lang="zh-CN" altLang="en-US" dirty="0"/>
          </a:p>
          <a:p>
            <a:pPr lvl="1"/>
            <a:r>
              <a:rPr lang="zh-CN" altLang="en-US" dirty="0"/>
              <a:t>缺乏文档资料；</a:t>
            </a:r>
            <a:endParaRPr lang="zh-CN" altLang="en-US" dirty="0"/>
          </a:p>
        </p:txBody>
      </p:sp>
      <p:sp>
        <p:nvSpPr>
          <p:cNvPr id="5" name="文本框 4"/>
          <p:cNvSpPr txBox="1"/>
          <p:nvPr/>
        </p:nvSpPr>
        <p:spPr>
          <a:xfrm>
            <a:off x="4655840" y="3501008"/>
            <a:ext cx="6822619" cy="2308324"/>
          </a:xfrm>
          <a:prstGeom prst="rect">
            <a:avLst/>
          </a:prstGeom>
          <a:noFill/>
        </p:spPr>
        <p:txBody>
          <a:bodyPr wrap="square" rtlCol="0">
            <a:spAutoFit/>
          </a:bodyPr>
          <a:lstStyle/>
          <a:p>
            <a:pPr algn="l">
              <a:lnSpc>
                <a:spcPct val="100000"/>
              </a:lnSpc>
            </a:pPr>
            <a:r>
              <a:rPr lang="en-US" altLang="zh-CN" sz="2000" dirty="0">
                <a:solidFill>
                  <a:schemeClr val="bg1"/>
                </a:solidFill>
              </a:rPr>
              <a:t>Projects running over-budget</a:t>
            </a:r>
            <a:endParaRPr lang="en-US" altLang="zh-CN" sz="2000" dirty="0">
              <a:solidFill>
                <a:schemeClr val="bg1"/>
              </a:solidFill>
            </a:endParaRPr>
          </a:p>
          <a:p>
            <a:pPr algn="l">
              <a:lnSpc>
                <a:spcPct val="100000"/>
              </a:lnSpc>
            </a:pPr>
            <a:r>
              <a:rPr lang="en-US" altLang="zh-CN" sz="2000" dirty="0">
                <a:solidFill>
                  <a:schemeClr val="bg1"/>
                </a:solidFill>
              </a:rPr>
              <a:t>Projects running over-time</a:t>
            </a:r>
            <a:endParaRPr lang="en-US" altLang="zh-CN" sz="2000" dirty="0">
              <a:solidFill>
                <a:schemeClr val="bg1"/>
              </a:solidFill>
            </a:endParaRPr>
          </a:p>
          <a:p>
            <a:pPr algn="l">
              <a:lnSpc>
                <a:spcPct val="100000"/>
              </a:lnSpc>
            </a:pPr>
            <a:r>
              <a:rPr lang="en-US" altLang="zh-CN" sz="2000" dirty="0">
                <a:solidFill>
                  <a:schemeClr val="bg1"/>
                </a:solidFill>
              </a:rPr>
              <a:t>Software was very inefficient</a:t>
            </a:r>
            <a:endParaRPr lang="en-US" altLang="zh-CN" sz="2000" dirty="0">
              <a:solidFill>
                <a:schemeClr val="bg1"/>
              </a:solidFill>
            </a:endParaRPr>
          </a:p>
          <a:p>
            <a:pPr algn="l">
              <a:lnSpc>
                <a:spcPct val="100000"/>
              </a:lnSpc>
            </a:pPr>
            <a:r>
              <a:rPr lang="en-US" altLang="zh-CN" sz="2000" dirty="0">
                <a:solidFill>
                  <a:schemeClr val="bg1"/>
                </a:solidFill>
              </a:rPr>
              <a:t>Software was of low quality</a:t>
            </a:r>
            <a:endParaRPr lang="en-US" altLang="zh-CN" sz="2000" dirty="0">
              <a:solidFill>
                <a:schemeClr val="bg1"/>
              </a:solidFill>
            </a:endParaRPr>
          </a:p>
          <a:p>
            <a:pPr algn="l">
              <a:lnSpc>
                <a:spcPct val="100000"/>
              </a:lnSpc>
            </a:pPr>
            <a:r>
              <a:rPr lang="en-US" altLang="zh-CN" sz="2000" dirty="0">
                <a:solidFill>
                  <a:schemeClr val="bg1"/>
                </a:solidFill>
              </a:rPr>
              <a:t>Software often did not meet requirements</a:t>
            </a:r>
            <a:endParaRPr lang="en-US" altLang="zh-CN" sz="2000" dirty="0">
              <a:solidFill>
                <a:schemeClr val="bg1"/>
              </a:solidFill>
            </a:endParaRPr>
          </a:p>
          <a:p>
            <a:pPr algn="l">
              <a:lnSpc>
                <a:spcPct val="100000"/>
              </a:lnSpc>
            </a:pPr>
            <a:r>
              <a:rPr lang="en-US" altLang="zh-CN" sz="2000" dirty="0">
                <a:solidFill>
                  <a:schemeClr val="bg1"/>
                </a:solidFill>
              </a:rPr>
              <a:t>Projects were unmanageable and code difficult to maintain</a:t>
            </a:r>
            <a:endParaRPr lang="en-US" altLang="zh-CN" sz="2000" dirty="0">
              <a:solidFill>
                <a:schemeClr val="bg1"/>
              </a:solidFill>
            </a:endParaRPr>
          </a:p>
          <a:p>
            <a:pPr algn="l">
              <a:lnSpc>
                <a:spcPct val="100000"/>
              </a:lnSpc>
            </a:pPr>
            <a:r>
              <a:rPr lang="en-US" altLang="zh-CN" sz="2000" dirty="0">
                <a:solidFill>
                  <a:schemeClr val="bg1"/>
                </a:solidFill>
              </a:rPr>
              <a:t>Software was never delivered</a:t>
            </a:r>
            <a:endParaRPr lang="zh-CN" altLang="en-US" sz="2000" dirty="0">
              <a:solidFill>
                <a:schemeClr val="bg1"/>
              </a:solidFill>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323">
                                            <p:txEl>
                                              <p:pRg st="1" end="1"/>
                                            </p:txEl>
                                          </p:spTgt>
                                        </p:tgtEl>
                                        <p:attrNameLst>
                                          <p:attrName>style.visibility</p:attrName>
                                        </p:attrNameLst>
                                      </p:cBhvr>
                                      <p:to>
                                        <p:strVal val="visible"/>
                                      </p:to>
                                    </p:set>
                                    <p:anim calcmode="lin" valueType="num">
                                      <p:cBhvr additive="base">
                                        <p:cTn id="7" dur="500" fill="hold"/>
                                        <p:tgtEl>
                                          <p:spTgt spid="5632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6323">
                                            <p:txEl>
                                              <p:pRg st="2" end="2"/>
                                            </p:txEl>
                                          </p:spTgt>
                                        </p:tgtEl>
                                        <p:attrNameLst>
                                          <p:attrName>style.visibility</p:attrName>
                                        </p:attrNameLst>
                                      </p:cBhvr>
                                      <p:to>
                                        <p:strVal val="visible"/>
                                      </p:to>
                                    </p:set>
                                    <p:anim calcmode="lin" valueType="num">
                                      <p:cBhvr additive="base">
                                        <p:cTn id="11" dur="500" fill="hold"/>
                                        <p:tgtEl>
                                          <p:spTgt spid="5632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632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6323">
                                            <p:txEl>
                                              <p:pRg st="3" end="3"/>
                                            </p:txEl>
                                          </p:spTgt>
                                        </p:tgtEl>
                                        <p:attrNameLst>
                                          <p:attrName>style.visibility</p:attrName>
                                        </p:attrNameLst>
                                      </p:cBhvr>
                                      <p:to>
                                        <p:strVal val="visible"/>
                                      </p:to>
                                    </p:set>
                                    <p:anim calcmode="lin" valueType="num">
                                      <p:cBhvr additive="base">
                                        <p:cTn id="15" dur="500" fill="hold"/>
                                        <p:tgtEl>
                                          <p:spTgt spid="5632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632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6323">
                                            <p:txEl>
                                              <p:pRg st="4" end="4"/>
                                            </p:txEl>
                                          </p:spTgt>
                                        </p:tgtEl>
                                        <p:attrNameLst>
                                          <p:attrName>style.visibility</p:attrName>
                                        </p:attrNameLst>
                                      </p:cBhvr>
                                      <p:to>
                                        <p:strVal val="visible"/>
                                      </p:to>
                                    </p:set>
                                    <p:anim calcmode="lin" valueType="num">
                                      <p:cBhvr additive="base">
                                        <p:cTn id="19" dur="500" fill="hold"/>
                                        <p:tgtEl>
                                          <p:spTgt spid="5632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323">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6323">
                                            <p:txEl>
                                              <p:pRg st="5" end="5"/>
                                            </p:txEl>
                                          </p:spTgt>
                                        </p:tgtEl>
                                        <p:attrNameLst>
                                          <p:attrName>style.visibility</p:attrName>
                                        </p:attrNameLst>
                                      </p:cBhvr>
                                      <p:to>
                                        <p:strVal val="visible"/>
                                      </p:to>
                                    </p:set>
                                    <p:anim calcmode="lin" valueType="num">
                                      <p:cBhvr additive="base">
                                        <p:cTn id="23" dur="500" fill="hold"/>
                                        <p:tgtEl>
                                          <p:spTgt spid="5632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63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dirty="0" smtClean="0"/>
              <a:t>软件危机的解决途径</a:t>
            </a:r>
            <a:endParaRPr lang="zh-CN" altLang="en-US" dirty="0" smtClean="0"/>
          </a:p>
        </p:txBody>
      </p:sp>
      <p:sp>
        <p:nvSpPr>
          <p:cNvPr id="23555" name="Rectangle 3"/>
          <p:cNvSpPr>
            <a:spLocks noGrp="1" noChangeArrowheads="1"/>
          </p:cNvSpPr>
          <p:nvPr>
            <p:ph idx="1"/>
          </p:nvPr>
        </p:nvSpPr>
        <p:spPr/>
        <p:txBody>
          <a:bodyPr/>
          <a:lstStyle/>
          <a:p>
            <a:r>
              <a:rPr lang="zh-CN" altLang="en-US" dirty="0" smtClean="0"/>
              <a:t>产生软件危机的原因：</a:t>
            </a:r>
            <a:endParaRPr lang="zh-CN" altLang="en-US" dirty="0" smtClean="0"/>
          </a:p>
          <a:p>
            <a:pPr lvl="1"/>
            <a:r>
              <a:rPr lang="zh-CN" altLang="en-US" dirty="0" smtClean="0"/>
              <a:t>软件系统本身的复杂性；</a:t>
            </a:r>
            <a:endParaRPr lang="zh-CN" altLang="en-US" dirty="0" smtClean="0"/>
          </a:p>
          <a:p>
            <a:pPr lvl="1"/>
            <a:r>
              <a:rPr lang="zh-CN" altLang="en-US" dirty="0" smtClean="0"/>
              <a:t>软件开发的方法和技术不合理及不成熟；</a:t>
            </a:r>
            <a:endParaRPr lang="zh-CN" altLang="en-US" dirty="0" smtClean="0"/>
          </a:p>
          <a:p>
            <a:r>
              <a:rPr lang="zh-CN" altLang="en-US" dirty="0" smtClean="0"/>
              <a:t>软件工程方法</a:t>
            </a:r>
            <a:endParaRPr lang="zh-CN" altLang="en-US" dirty="0" smtClean="0"/>
          </a:p>
          <a:p>
            <a:pPr lvl="1"/>
            <a:r>
              <a:rPr lang="en-US" altLang="zh-CN" dirty="0" smtClean="0"/>
              <a:t>1968</a:t>
            </a:r>
            <a:r>
              <a:rPr lang="zh-CN" altLang="en-US" dirty="0" smtClean="0"/>
              <a:t>年 </a:t>
            </a:r>
            <a:r>
              <a:rPr lang="en-US" altLang="zh-CN" dirty="0" smtClean="0"/>
              <a:t>Friedrich Ludwig</a:t>
            </a:r>
            <a:r>
              <a:rPr lang="zh-CN" altLang="en-US" dirty="0" smtClean="0"/>
              <a:t>（</a:t>
            </a:r>
            <a:r>
              <a:rPr lang="en-US" altLang="zh-CN" dirty="0" smtClean="0"/>
              <a:t>Fritz</a:t>
            </a:r>
            <a:r>
              <a:rPr lang="zh-CN" altLang="en-US" dirty="0" smtClean="0"/>
              <a:t>）</a:t>
            </a:r>
            <a:r>
              <a:rPr lang="en-US" altLang="zh-CN" dirty="0" smtClean="0"/>
              <a:t>Bauer </a:t>
            </a:r>
            <a:r>
              <a:rPr lang="zh-CN" altLang="en-US" dirty="0" smtClean="0"/>
              <a:t>提出运用工程化原则和方法</a:t>
            </a:r>
            <a:r>
              <a:rPr lang="zh-CN" altLang="en-US" dirty="0"/>
              <a:t>，</a:t>
            </a:r>
            <a:r>
              <a:rPr lang="zh-CN" altLang="en-US" dirty="0" smtClean="0"/>
              <a:t>组织软件开发解决软件危机，并提出“软件工程 </a:t>
            </a:r>
            <a:r>
              <a:rPr lang="en-US" altLang="zh-CN" dirty="0" smtClean="0"/>
              <a:t>Software Engineering</a:t>
            </a:r>
            <a:r>
              <a:rPr lang="zh-CN" altLang="en-US" dirty="0" smtClean="0"/>
              <a:t>”的概念。</a:t>
            </a:r>
            <a:endParaRPr lang="zh-CN" altLang="en-US" dirty="0" smtClean="0"/>
          </a:p>
        </p:txBody>
      </p:sp>
      <p:pic>
        <p:nvPicPr>
          <p:cNvPr id="5" name="图片 4"/>
          <p:cNvPicPr>
            <a:picLocks noChangeAspect="1"/>
          </p:cNvPicPr>
          <p:nvPr/>
        </p:nvPicPr>
        <p:blipFill>
          <a:blip r:embed="rId1"/>
          <a:stretch>
            <a:fillRect/>
          </a:stretch>
        </p:blipFill>
        <p:spPr>
          <a:xfrm>
            <a:off x="9859186" y="1010390"/>
            <a:ext cx="1513384" cy="2219630"/>
          </a:xfrm>
          <a:prstGeom prst="rect">
            <a:avLst/>
          </a:prstGeom>
        </p:spPr>
      </p:pic>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0" dur="500"/>
                                        <p:tgtEl>
                                          <p:spTgt spid="2355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3" dur="500"/>
                                        <p:tgtEl>
                                          <p:spTgt spid="2355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8" dur="500"/>
                                        <p:tgtEl>
                                          <p:spTgt spid="23555">
                                            <p:txEl>
                                              <p:pRg st="3" end="3"/>
                                            </p:txEl>
                                          </p:spTgt>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23555">
                                            <p:txEl>
                                              <p:pRg st="4" end="4"/>
                                            </p:txEl>
                                          </p:spTgt>
                                        </p:tgtEl>
                                        <p:attrNameLst>
                                          <p:attrName>style.visibility</p:attrName>
                                        </p:attrNameLst>
                                      </p:cBhvr>
                                      <p:to>
                                        <p:strVal val="visible"/>
                                      </p:to>
                                    </p:set>
                                    <p:animEffect transition="in" filter="blinds(horizontal)">
                                      <p:cBhvr>
                                        <p:cTn id="21" dur="500"/>
                                        <p:tgtEl>
                                          <p:spTgt spid="2355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zh-CN" altLang="en-US" dirty="0" smtClean="0"/>
              <a:t>软件工程</a:t>
            </a:r>
            <a:endParaRPr lang="zh-CN" altLang="en-US" dirty="0" smtClean="0"/>
          </a:p>
        </p:txBody>
      </p:sp>
      <p:sp>
        <p:nvSpPr>
          <p:cNvPr id="21508" name="Rectangle 3"/>
          <p:cNvSpPr>
            <a:spLocks noGrp="1" noChangeArrowheads="1"/>
          </p:cNvSpPr>
          <p:nvPr>
            <p:ph idx="1"/>
          </p:nvPr>
        </p:nvSpPr>
        <p:spPr/>
        <p:txBody>
          <a:bodyPr/>
          <a:lstStyle/>
          <a:p>
            <a:r>
              <a:rPr lang="zh-CN" altLang="en-US" dirty="0" smtClean="0"/>
              <a:t>软件工程定义</a:t>
            </a:r>
            <a:endParaRPr lang="zh-CN" altLang="en-US" dirty="0" smtClean="0"/>
          </a:p>
          <a:p>
            <a:r>
              <a:rPr lang="zh-CN" altLang="en-US" dirty="0" smtClean="0"/>
              <a:t>软件工程要素</a:t>
            </a:r>
            <a:endParaRPr lang="zh-CN" altLang="en-US" dirty="0" smtClean="0"/>
          </a:p>
          <a:p>
            <a:r>
              <a:rPr lang="zh-CN" altLang="en-US" dirty="0" smtClean="0"/>
              <a:t>软件工程的目标和原则</a:t>
            </a:r>
            <a:endParaRPr lang="zh-CN" altLang="en-US" dirty="0" smtClean="0"/>
          </a:p>
          <a:p>
            <a:r>
              <a:rPr lang="zh-CN" altLang="en-US" dirty="0" smtClean="0"/>
              <a:t>软件工程基本原理</a:t>
            </a:r>
            <a:endParaRPr lang="zh-CN" altLang="en-US" dirty="0" smtClean="0"/>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dirty="0" smtClean="0"/>
              <a:t>软件工程定义</a:t>
            </a:r>
            <a:endParaRPr lang="zh-CN" altLang="en-US" dirty="0" smtClean="0"/>
          </a:p>
        </p:txBody>
      </p:sp>
      <p:sp>
        <p:nvSpPr>
          <p:cNvPr id="24579" name="Rectangle 3"/>
          <p:cNvSpPr>
            <a:spLocks noGrp="1" noChangeArrowheads="1"/>
          </p:cNvSpPr>
          <p:nvPr>
            <p:ph idx="1"/>
          </p:nvPr>
        </p:nvSpPr>
        <p:spPr>
          <a:xfrm>
            <a:off x="1775520" y="1409703"/>
            <a:ext cx="9865096" cy="4856163"/>
          </a:xfrm>
        </p:spPr>
        <p:txBody>
          <a:bodyPr/>
          <a:lstStyle/>
          <a:p>
            <a:r>
              <a:rPr lang="en-US" altLang="zh-CN" dirty="0" smtClean="0"/>
              <a:t>1968</a:t>
            </a:r>
            <a:r>
              <a:rPr lang="zh-CN" altLang="en-US" dirty="0" smtClean="0"/>
              <a:t>年</a:t>
            </a:r>
            <a:r>
              <a:rPr lang="en-US" altLang="zh-CN" dirty="0" smtClean="0"/>
              <a:t>10</a:t>
            </a:r>
            <a:r>
              <a:rPr lang="zh-CN" altLang="en-US" dirty="0" smtClean="0"/>
              <a:t>月，</a:t>
            </a:r>
            <a:r>
              <a:rPr lang="en-US" altLang="zh-CN" dirty="0" smtClean="0"/>
              <a:t>Fritz Bauer</a:t>
            </a:r>
            <a:r>
              <a:rPr lang="zh-CN" altLang="en-US" dirty="0" smtClean="0"/>
              <a:t>首次提出了“软件工程”的概念：软件工程是为了</a:t>
            </a:r>
            <a:r>
              <a:rPr lang="zh-CN" altLang="en-US" dirty="0" smtClean="0">
                <a:solidFill>
                  <a:srgbClr val="FFFF00"/>
                </a:solidFill>
              </a:rPr>
              <a:t>经济地</a:t>
            </a:r>
            <a:r>
              <a:rPr lang="zh-CN" altLang="en-US" dirty="0" smtClean="0"/>
              <a:t>获得能够在实际机器上高效运行的</a:t>
            </a:r>
            <a:r>
              <a:rPr lang="zh-CN" altLang="en-US" dirty="0" smtClean="0">
                <a:solidFill>
                  <a:srgbClr val="FFFF00"/>
                </a:solidFill>
              </a:rPr>
              <a:t>可靠软件</a:t>
            </a:r>
            <a:r>
              <a:rPr lang="zh-CN" altLang="en-US" dirty="0" smtClean="0"/>
              <a:t>而建立和使用的一系列好的</a:t>
            </a:r>
            <a:r>
              <a:rPr lang="zh-CN" altLang="en-US" dirty="0" smtClean="0">
                <a:solidFill>
                  <a:srgbClr val="FFFF00"/>
                </a:solidFill>
              </a:rPr>
              <a:t>工程化原则</a:t>
            </a:r>
            <a:r>
              <a:rPr lang="zh-CN" altLang="en-US" dirty="0" smtClean="0"/>
              <a:t>。</a:t>
            </a:r>
            <a:endParaRPr lang="zh-CN" altLang="en-US" dirty="0" smtClean="0"/>
          </a:p>
          <a:p>
            <a:endParaRPr lang="en-US" altLang="zh-CN" dirty="0" smtClean="0"/>
          </a:p>
          <a:p>
            <a:r>
              <a:rPr lang="en-US" altLang="zh-CN">
                <a:sym typeface="+mn-ea"/>
              </a:rPr>
              <a:t>IEEE</a:t>
            </a:r>
            <a:r>
              <a:rPr>
                <a:sym typeface="+mn-ea"/>
              </a:rPr>
              <a:t>计算机学会将“软件工程”定义为：⑴应用系统化的、</a:t>
            </a:r>
            <a:r>
              <a:rPr>
                <a:solidFill>
                  <a:srgbClr val="FFFF00"/>
                </a:solidFill>
                <a:sym typeface="+mn-ea"/>
              </a:rPr>
              <a:t>规范化</a:t>
            </a:r>
            <a:r>
              <a:rPr>
                <a:sym typeface="+mn-ea"/>
              </a:rPr>
              <a:t>的、</a:t>
            </a:r>
            <a:r>
              <a:rPr>
                <a:solidFill>
                  <a:srgbClr val="FFFF00"/>
                </a:solidFill>
                <a:sym typeface="+mn-ea"/>
              </a:rPr>
              <a:t>定量的方法</a:t>
            </a:r>
            <a:r>
              <a:rPr>
                <a:sym typeface="+mn-ea"/>
              </a:rPr>
              <a:t>来开发、运行和维护软件，即：</a:t>
            </a:r>
            <a:r>
              <a:rPr>
                <a:solidFill>
                  <a:srgbClr val="FFFF00"/>
                </a:solidFill>
                <a:sym typeface="+mn-ea"/>
              </a:rPr>
              <a:t>将工程应用到软件</a:t>
            </a:r>
            <a:r>
              <a:rPr>
                <a:sym typeface="+mn-ea"/>
              </a:rPr>
              <a:t>；⑵对⑴中各种方法的研究。</a:t>
            </a:r>
            <a:endParaRPr lang="zh-CN" altLang="en-US" dirty="0" smtClean="0"/>
          </a:p>
          <a:p>
            <a:r>
              <a:rPr lang="zh-CN" altLang="en-US" dirty="0" smtClean="0"/>
              <a:t>  </a:t>
            </a:r>
            <a:endParaRPr lang="zh-CN" altLang="en-US" dirty="0" smtClean="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2" dur="500"/>
                                        <p:tgtEl>
                                          <p:spTgt spid="2457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7" dur="500"/>
                                        <p:tgtEl>
                                          <p:spTgt spid="245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p:txBody>
          <a:bodyPr/>
          <a:lstStyle/>
          <a:p>
            <a:r>
              <a:rPr lang="zh-CN" altLang="en-US" dirty="0" smtClean="0"/>
              <a:t>软件工程要素</a:t>
            </a:r>
            <a:endParaRPr lang="zh-CN" altLang="en-US" dirty="0" smtClean="0"/>
          </a:p>
        </p:txBody>
      </p:sp>
      <p:sp>
        <p:nvSpPr>
          <p:cNvPr id="24580" name="Rectangle 3"/>
          <p:cNvSpPr>
            <a:spLocks noGrp="1" noChangeArrowheads="1"/>
          </p:cNvSpPr>
          <p:nvPr>
            <p:ph idx="1"/>
          </p:nvPr>
        </p:nvSpPr>
        <p:spPr/>
        <p:txBody>
          <a:bodyPr/>
          <a:lstStyle/>
          <a:p>
            <a:r>
              <a:rPr lang="zh-CN" altLang="en-US" smtClean="0"/>
              <a:t>软件工程三要素：方法、工具和过程。</a:t>
            </a:r>
            <a:endParaRPr lang="zh-CN" altLang="en-US" smtClean="0"/>
          </a:p>
          <a:p>
            <a:pPr lvl="1"/>
            <a:r>
              <a:rPr lang="zh-CN" altLang="en-US" smtClean="0"/>
              <a:t>方法：提供了“如何做”的技术</a:t>
            </a:r>
            <a:endParaRPr lang="zh-CN" altLang="en-US" smtClean="0"/>
          </a:p>
          <a:p>
            <a:pPr lvl="1"/>
            <a:r>
              <a:rPr lang="zh-CN" altLang="en-US" smtClean="0"/>
              <a:t>工具：提供了自动或半自动的软件支撑环境 </a:t>
            </a:r>
            <a:endParaRPr lang="zh-CN" altLang="en-US" smtClean="0"/>
          </a:p>
          <a:p>
            <a:pPr lvl="1"/>
            <a:r>
              <a:rPr lang="zh-CN" altLang="en-US" smtClean="0"/>
              <a:t>过程：将软件工程的方法和工具综合起来以达到合理、及时地进行计算机软件开发的目的 </a:t>
            </a:r>
            <a:endParaRPr lang="zh-CN" altLang="en-US" smtClean="0"/>
          </a:p>
        </p:txBody>
      </p:sp>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p:txBody>
          <a:bodyPr/>
          <a:lstStyle/>
          <a:p>
            <a:r>
              <a:rPr lang="zh-CN" altLang="en-US" dirty="0" smtClean="0"/>
              <a:t>软件工程的目标和原则</a:t>
            </a:r>
            <a:endParaRPr lang="zh-CN" altLang="en-US" dirty="0" smtClean="0"/>
          </a:p>
        </p:txBody>
      </p:sp>
      <p:sp>
        <p:nvSpPr>
          <p:cNvPr id="26627" name="Rectangle 3"/>
          <p:cNvSpPr>
            <a:spLocks noGrp="1" noChangeArrowheads="1"/>
          </p:cNvSpPr>
          <p:nvPr>
            <p:ph idx="1"/>
          </p:nvPr>
        </p:nvSpPr>
        <p:spPr/>
        <p:txBody>
          <a:bodyPr/>
          <a:lstStyle/>
          <a:p>
            <a:r>
              <a:rPr lang="zh-CN" altLang="en-US" smtClean="0"/>
              <a:t>软件工程的目标可概括为：生产具有正确性、可用性以及开销适宜的软件产品</a:t>
            </a:r>
            <a:r>
              <a:rPr lang="zh-CN" altLang="en-US" smtClean="0"/>
              <a:t>。软件应该具有以下性质</a:t>
            </a:r>
            <a:r>
              <a:rPr lang="en-US" altLang="zh-CN" smtClean="0"/>
              <a:t>:</a:t>
            </a:r>
            <a:endParaRPr lang="en-US" altLang="zh-CN" smtClean="0"/>
          </a:p>
          <a:p>
            <a:pPr marL="0" indent="0">
              <a:buNone/>
            </a:pPr>
            <a:r>
              <a:rPr lang="en-US" altLang="zh-CN"/>
              <a:t> </a:t>
            </a:r>
            <a:r>
              <a:rPr lang="en-US" altLang="zh-CN" smtClean="0"/>
              <a:t> </a:t>
            </a:r>
            <a:r>
              <a:rPr lang="en-US" altLang="zh-CN" smtClean="0"/>
              <a:t>1) </a:t>
            </a:r>
            <a:r>
              <a:rPr lang="zh-CN" altLang="en-US" smtClean="0"/>
              <a:t>可修改性</a:t>
            </a:r>
            <a:r>
              <a:rPr lang="en-US" altLang="zh-CN"/>
              <a:t> </a:t>
            </a:r>
            <a:r>
              <a:rPr lang="en-US" altLang="zh-CN" smtClean="0"/>
              <a:t>2) </a:t>
            </a:r>
            <a:r>
              <a:rPr lang="zh-CN" altLang="en-US" smtClean="0"/>
              <a:t>有效性</a:t>
            </a:r>
            <a:r>
              <a:rPr lang="en-US" altLang="zh-CN" smtClean="0"/>
              <a:t> 3) </a:t>
            </a:r>
            <a:r>
              <a:rPr lang="zh-CN" altLang="en-US" smtClean="0"/>
              <a:t>可靠性</a:t>
            </a:r>
            <a:r>
              <a:rPr lang="en-US" altLang="zh-CN"/>
              <a:t> </a:t>
            </a:r>
            <a:r>
              <a:rPr lang="en-US" altLang="zh-CN" smtClean="0"/>
              <a:t>4) </a:t>
            </a:r>
            <a:r>
              <a:rPr lang="zh-CN" altLang="en-US" smtClean="0"/>
              <a:t>可理解性</a:t>
            </a:r>
            <a:r>
              <a:rPr lang="en-US" altLang="zh-CN"/>
              <a:t> </a:t>
            </a:r>
            <a:r>
              <a:rPr lang="en-US" altLang="zh-CN" smtClean="0"/>
              <a:t>5) </a:t>
            </a:r>
            <a:r>
              <a:rPr lang="zh-CN" altLang="en-US" smtClean="0"/>
              <a:t>可维护性</a:t>
            </a:r>
            <a:endParaRPr lang="en-US" altLang="zh-CN" smtClean="0"/>
          </a:p>
          <a:p>
            <a:pPr marL="0" indent="0">
              <a:buNone/>
            </a:pPr>
            <a:r>
              <a:rPr lang="en-US" altLang="zh-CN"/>
              <a:t> </a:t>
            </a:r>
            <a:r>
              <a:rPr lang="en-US" altLang="zh-CN" smtClean="0"/>
              <a:t> 6) </a:t>
            </a:r>
            <a:r>
              <a:rPr lang="zh-CN" altLang="en-US" smtClean="0"/>
              <a:t>可重用性 </a:t>
            </a:r>
            <a:r>
              <a:rPr lang="en-US" altLang="zh-CN" smtClean="0"/>
              <a:t>7) </a:t>
            </a:r>
            <a:r>
              <a:rPr lang="zh-CN" altLang="en-US" smtClean="0"/>
              <a:t>可适应性 </a:t>
            </a:r>
            <a:r>
              <a:rPr lang="en-US" altLang="zh-CN" smtClean="0"/>
              <a:t>8) </a:t>
            </a:r>
            <a:r>
              <a:rPr lang="zh-CN" altLang="en-US" smtClean="0"/>
              <a:t>可移植性 </a:t>
            </a:r>
            <a:r>
              <a:rPr lang="en-US" altLang="zh-CN" smtClean="0"/>
              <a:t>9) </a:t>
            </a:r>
            <a:r>
              <a:rPr lang="zh-CN" altLang="en-US" smtClean="0"/>
              <a:t>可追踪性 </a:t>
            </a:r>
            <a:r>
              <a:rPr lang="en-US" altLang="zh-CN" smtClean="0"/>
              <a:t>10) </a:t>
            </a:r>
            <a:r>
              <a:rPr lang="zh-CN" altLang="en-US" smtClean="0"/>
              <a:t>可互操作性</a:t>
            </a:r>
            <a:endParaRPr lang="zh-CN" altLang="en-US" smtClean="0"/>
          </a:p>
          <a:p>
            <a:endParaRPr lang="en-US" altLang="zh-CN" smtClean="0"/>
          </a:p>
          <a:p>
            <a:r>
              <a:rPr lang="zh-CN" altLang="en-US" smtClean="0"/>
              <a:t>软件工程</a:t>
            </a:r>
            <a:r>
              <a:rPr lang="zh-CN" altLang="en-US" smtClean="0"/>
              <a:t>的最终目的是摆脱手工生产软件的状况，逐步实现软件研制和维护的自动化。 </a:t>
            </a:r>
            <a:endParaRPr lang="zh-CN" altLang="en-US" smtClean="0"/>
          </a:p>
          <a:p>
            <a:endParaRPr lang="en-US" altLang="zh-CN" smtClean="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2" dur="500"/>
                                        <p:tgtEl>
                                          <p:spTgt spid="2662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17" dur="500"/>
                                        <p:tgtEl>
                                          <p:spTgt spid="2662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22" dur="5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smtClean="0"/>
              <a:t>软件工程研究内容</a:t>
            </a:r>
            <a:endParaRPr lang="zh-CN" altLang="en-US" dirty="0" smtClean="0"/>
          </a:p>
        </p:txBody>
      </p:sp>
      <p:sp>
        <p:nvSpPr>
          <p:cNvPr id="26628" name="Rectangle 3"/>
          <p:cNvSpPr>
            <a:spLocks noGrp="1" noChangeArrowheads="1"/>
          </p:cNvSpPr>
          <p:nvPr>
            <p:ph idx="1"/>
          </p:nvPr>
        </p:nvSpPr>
        <p:spPr>
          <a:xfrm>
            <a:off x="479376" y="1052736"/>
            <a:ext cx="11345074" cy="5213127"/>
          </a:xfrm>
        </p:spPr>
        <p:txBody>
          <a:bodyPr/>
          <a:lstStyle/>
          <a:p>
            <a:pPr>
              <a:lnSpc>
                <a:spcPct val="80000"/>
              </a:lnSpc>
            </a:pPr>
            <a:r>
              <a:rPr lang="zh-CN" altLang="en-US" dirty="0" smtClean="0"/>
              <a:t>软件工程研究的内容：</a:t>
            </a:r>
            <a:endParaRPr lang="zh-CN" altLang="en-US" dirty="0" smtClean="0"/>
          </a:p>
          <a:p>
            <a:pPr lvl="1">
              <a:lnSpc>
                <a:spcPct val="80000"/>
              </a:lnSpc>
            </a:pPr>
            <a:r>
              <a:rPr lang="zh-CN" altLang="en-US" dirty="0" smtClean="0"/>
              <a:t>软件开发技术</a:t>
            </a:r>
            <a:endParaRPr lang="zh-CN" altLang="en-US" dirty="0" smtClean="0"/>
          </a:p>
          <a:p>
            <a:pPr lvl="2">
              <a:lnSpc>
                <a:spcPct val="80000"/>
              </a:lnSpc>
            </a:pPr>
            <a:r>
              <a:rPr lang="zh-CN" altLang="en-US" dirty="0" smtClean="0"/>
              <a:t>软件开发方法学</a:t>
            </a:r>
            <a:endParaRPr lang="zh-CN" altLang="en-US" dirty="0" smtClean="0"/>
          </a:p>
          <a:p>
            <a:pPr lvl="2">
              <a:lnSpc>
                <a:spcPct val="80000"/>
              </a:lnSpc>
            </a:pPr>
            <a:r>
              <a:rPr lang="zh-CN" altLang="en-US" dirty="0" smtClean="0"/>
              <a:t>开发过程模型</a:t>
            </a:r>
            <a:endParaRPr lang="zh-CN" altLang="en-US" dirty="0" smtClean="0"/>
          </a:p>
          <a:p>
            <a:pPr lvl="2">
              <a:lnSpc>
                <a:spcPct val="80000"/>
              </a:lnSpc>
            </a:pPr>
            <a:r>
              <a:rPr lang="zh-CN" altLang="en-US" dirty="0" smtClean="0"/>
              <a:t>开发工具</a:t>
            </a:r>
            <a:endParaRPr lang="zh-CN" altLang="en-US" dirty="0" smtClean="0"/>
          </a:p>
          <a:p>
            <a:pPr lvl="2">
              <a:lnSpc>
                <a:spcPct val="80000"/>
              </a:lnSpc>
            </a:pPr>
            <a:r>
              <a:rPr lang="zh-CN" altLang="en-US" dirty="0" smtClean="0"/>
              <a:t>软件工程环境 </a:t>
            </a:r>
            <a:endParaRPr lang="zh-CN" altLang="en-US" dirty="0" smtClean="0"/>
          </a:p>
          <a:p>
            <a:pPr lvl="1">
              <a:lnSpc>
                <a:spcPct val="80000"/>
              </a:lnSpc>
            </a:pPr>
            <a:r>
              <a:rPr lang="zh-CN" altLang="en-US" dirty="0" smtClean="0"/>
              <a:t>软件工程管理</a:t>
            </a:r>
            <a:endParaRPr lang="zh-CN" altLang="en-US" dirty="0" smtClean="0"/>
          </a:p>
          <a:p>
            <a:pPr lvl="2">
              <a:lnSpc>
                <a:spcPct val="80000"/>
              </a:lnSpc>
            </a:pPr>
            <a:r>
              <a:rPr lang="zh-CN" altLang="en-US" dirty="0" smtClean="0"/>
              <a:t>软件管理学</a:t>
            </a:r>
            <a:endParaRPr lang="zh-CN" altLang="en-US" dirty="0" smtClean="0"/>
          </a:p>
          <a:p>
            <a:pPr lvl="2">
              <a:lnSpc>
                <a:spcPct val="80000"/>
              </a:lnSpc>
            </a:pPr>
            <a:r>
              <a:rPr lang="zh-CN" altLang="en-US" dirty="0" smtClean="0"/>
              <a:t>软件工程经济学</a:t>
            </a:r>
            <a:endParaRPr lang="zh-CN" altLang="en-US" dirty="0" smtClean="0"/>
          </a:p>
          <a:p>
            <a:pPr lvl="2">
              <a:lnSpc>
                <a:spcPct val="80000"/>
              </a:lnSpc>
            </a:pPr>
            <a:r>
              <a:rPr lang="zh-CN" altLang="en-US" dirty="0" smtClean="0"/>
              <a:t>软件心理学等内容 </a:t>
            </a:r>
            <a:endParaRPr lang="zh-CN" altLang="en-US" dirty="0" smtClean="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软件工程的原则</a:t>
            </a:r>
            <a:endParaRPr lang="zh-CN" altLang="en-US"/>
          </a:p>
        </p:txBody>
      </p:sp>
      <p:sp>
        <p:nvSpPr>
          <p:cNvPr id="3" name="内容占位符 2"/>
          <p:cNvSpPr>
            <a:spLocks noGrp="1"/>
          </p:cNvSpPr>
          <p:nvPr>
            <p:ph idx="1"/>
          </p:nvPr>
        </p:nvSpPr>
        <p:spPr>
          <a:xfrm>
            <a:off x="376519" y="1103253"/>
            <a:ext cx="10976065" cy="4980840"/>
          </a:xfrm>
          <a:ln>
            <a:solidFill>
              <a:schemeClr val="bg1"/>
            </a:solidFill>
          </a:ln>
        </p:spPr>
        <p:txBody>
          <a:bodyPr>
            <a:normAutofit/>
          </a:bodyPr>
          <a:lstStyle/>
          <a:p>
            <a:pPr marL="457200" indent="-457200">
              <a:buFont typeface="+mj-lt"/>
              <a:buAutoNum type="arabicPeriod"/>
            </a:pPr>
            <a:r>
              <a:rPr lang="zh-CN" altLang="en-US" smtClean="0"/>
              <a:t>选取适宜的开发模型</a:t>
            </a:r>
            <a:endParaRPr lang="en-US" altLang="zh-CN" smtClean="0"/>
          </a:p>
          <a:p>
            <a:pPr marL="457200" indent="-457200">
              <a:buFont typeface="+mj-lt"/>
              <a:buAutoNum type="arabicPeriod"/>
            </a:pPr>
            <a:r>
              <a:rPr lang="zh-CN" altLang="en-US" smtClean="0"/>
              <a:t>采用合适的设计方法</a:t>
            </a:r>
            <a:endParaRPr lang="en-US" altLang="zh-CN" smtClean="0"/>
          </a:p>
          <a:p>
            <a:pPr marL="457200" indent="-457200">
              <a:buFont typeface="+mj-lt"/>
              <a:buAutoNum type="arabicPeriod"/>
            </a:pPr>
            <a:r>
              <a:rPr lang="zh-CN" altLang="en-US" smtClean="0"/>
              <a:t>提供高质量的工程支持力度</a:t>
            </a:r>
            <a:endParaRPr lang="en-US" altLang="zh-CN" smtClean="0"/>
          </a:p>
          <a:p>
            <a:pPr marL="457200" indent="-457200">
              <a:buFont typeface="+mj-lt"/>
              <a:buAutoNum type="arabicPeriod"/>
            </a:pPr>
            <a:r>
              <a:rPr lang="zh-CN" altLang="en-US" smtClean="0"/>
              <a:t>重视开发过程的管理</a:t>
            </a:r>
            <a:endParaRPr lang="en-US" altLang="zh-CN" smtClean="0"/>
          </a:p>
        </p:txBody>
      </p:sp>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软件工程原理</a:t>
            </a:r>
            <a:endParaRPr lang="zh-CN" altLang="en-US"/>
          </a:p>
        </p:txBody>
      </p:sp>
      <p:sp>
        <p:nvSpPr>
          <p:cNvPr id="3" name="内容占位符 2"/>
          <p:cNvSpPr>
            <a:spLocks noGrp="1"/>
          </p:cNvSpPr>
          <p:nvPr>
            <p:ph idx="1"/>
          </p:nvPr>
        </p:nvSpPr>
        <p:spPr>
          <a:xfrm>
            <a:off x="376519" y="1103253"/>
            <a:ext cx="5071409" cy="4980840"/>
          </a:xfrm>
          <a:ln>
            <a:solidFill>
              <a:schemeClr val="bg1"/>
            </a:solidFill>
          </a:ln>
        </p:spPr>
        <p:txBody>
          <a:bodyPr/>
          <a:lstStyle/>
          <a:p>
            <a:r>
              <a:rPr lang="zh-CN" altLang="en-US" smtClean="0"/>
              <a:t>软件工程的一般原理</a:t>
            </a:r>
            <a:r>
              <a:rPr lang="en-US" altLang="zh-CN" smtClean="0"/>
              <a:t>(8</a:t>
            </a:r>
            <a:r>
              <a:rPr lang="zh-CN" altLang="en-US" smtClean="0"/>
              <a:t>方面</a:t>
            </a:r>
            <a:r>
              <a:rPr lang="en-US" altLang="zh-CN" smtClean="0"/>
              <a:t>)</a:t>
            </a:r>
            <a:endParaRPr lang="en-US" altLang="zh-CN" smtClean="0"/>
          </a:p>
          <a:p>
            <a:pPr marL="914400" lvl="1" indent="-457200">
              <a:buFont typeface="+mj-lt"/>
              <a:buAutoNum type="arabicPeriod"/>
            </a:pPr>
            <a:r>
              <a:rPr lang="zh-CN" altLang="en-US" smtClean="0"/>
              <a:t>抽象</a:t>
            </a:r>
            <a:endParaRPr lang="en-US" altLang="zh-CN" smtClean="0"/>
          </a:p>
          <a:p>
            <a:pPr marL="914400" lvl="1" indent="-457200">
              <a:buFont typeface="+mj-lt"/>
              <a:buAutoNum type="arabicPeriod"/>
            </a:pPr>
            <a:r>
              <a:rPr lang="zh-CN" altLang="en-US" smtClean="0"/>
              <a:t>信息隐藏</a:t>
            </a:r>
            <a:endParaRPr lang="en-US" altLang="zh-CN" smtClean="0"/>
          </a:p>
          <a:p>
            <a:pPr marL="914400" lvl="1" indent="-457200">
              <a:buFont typeface="+mj-lt"/>
              <a:buAutoNum type="arabicPeriod"/>
            </a:pPr>
            <a:r>
              <a:rPr lang="zh-CN" altLang="en-US" smtClean="0"/>
              <a:t>模块化</a:t>
            </a:r>
            <a:endParaRPr lang="en-US" altLang="zh-CN" smtClean="0"/>
          </a:p>
          <a:p>
            <a:pPr marL="914400" lvl="1" indent="-457200">
              <a:buFont typeface="+mj-lt"/>
              <a:buAutoNum type="arabicPeriod"/>
            </a:pPr>
            <a:r>
              <a:rPr lang="zh-CN" altLang="en-US" smtClean="0"/>
              <a:t>局部化</a:t>
            </a:r>
            <a:endParaRPr lang="en-US" altLang="zh-CN" smtClean="0"/>
          </a:p>
          <a:p>
            <a:pPr marL="914400" lvl="1" indent="-457200">
              <a:buFont typeface="+mj-lt"/>
              <a:buAutoNum type="arabicPeriod"/>
            </a:pPr>
            <a:r>
              <a:rPr lang="zh-CN" altLang="en-US" smtClean="0"/>
              <a:t>确定性</a:t>
            </a:r>
            <a:endParaRPr lang="en-US" altLang="zh-CN" smtClean="0"/>
          </a:p>
          <a:p>
            <a:pPr marL="914400" lvl="1" indent="-457200">
              <a:buFont typeface="+mj-lt"/>
              <a:buAutoNum type="arabicPeriod"/>
            </a:pPr>
            <a:r>
              <a:rPr lang="zh-CN" altLang="en-US" smtClean="0"/>
              <a:t>一致性</a:t>
            </a:r>
            <a:endParaRPr lang="en-US" altLang="zh-CN" smtClean="0"/>
          </a:p>
          <a:p>
            <a:pPr marL="914400" lvl="1" indent="-457200">
              <a:buFont typeface="+mj-lt"/>
              <a:buAutoNum type="arabicPeriod"/>
            </a:pPr>
            <a:r>
              <a:rPr lang="zh-CN" altLang="en-US" smtClean="0"/>
              <a:t>完备性</a:t>
            </a:r>
            <a:endParaRPr lang="en-US" altLang="zh-CN" smtClean="0"/>
          </a:p>
          <a:p>
            <a:pPr marL="914400" lvl="1" indent="-457200">
              <a:buFont typeface="+mj-lt"/>
              <a:buAutoNum type="arabicPeriod"/>
            </a:pPr>
            <a:r>
              <a:rPr lang="zh-CN" altLang="en-US" smtClean="0"/>
              <a:t>可验证性</a:t>
            </a:r>
            <a:endParaRPr lang="en-US" altLang="zh-CN" smtClean="0"/>
          </a:p>
        </p:txBody>
      </p:sp>
      <p:sp>
        <p:nvSpPr>
          <p:cNvPr id="5" name="内容占位符 2"/>
          <p:cNvSpPr txBox="1"/>
          <p:nvPr/>
        </p:nvSpPr>
        <p:spPr>
          <a:xfrm>
            <a:off x="6240016" y="1103253"/>
            <a:ext cx="4567353" cy="4980840"/>
          </a:xfrm>
          <a:prstGeom prst="rect">
            <a:avLst/>
          </a:prstGeom>
          <a:ln>
            <a:solidFill>
              <a:schemeClr val="bg1"/>
            </a:solidFill>
          </a:ln>
        </p:spPr>
        <p:txBody>
          <a:bodyPr vert="horz" lIns="91440" tIns="45720" rIns="91440" bIns="45720" rtlCol="0">
            <a:normAutofit/>
          </a:bodyPr>
          <a:lstStyle>
            <a:lvl1pPr marL="230505" indent="-230505" algn="l" defTabSz="685800" rtl="0" eaLnBrk="1" latinLnBrk="0" hangingPunct="1">
              <a:lnSpc>
                <a:spcPct val="100000"/>
              </a:lnSpc>
              <a:spcBef>
                <a:spcPts val="1000"/>
              </a:spcBef>
              <a:spcAft>
                <a:spcPts val="600"/>
              </a:spcAft>
              <a:buFont typeface="Arial" panose="020B0604020202020204" pitchFamily="34" charset="0"/>
              <a:buChar char="•"/>
              <a:defRPr lang="zh-CN" altLang="en-US" sz="2800" kern="1200" baseline="0" dirty="0" smtClean="0">
                <a:solidFill>
                  <a:schemeClr val="bg1"/>
                </a:solidFill>
                <a:latin typeface="微软雅黑" panose="020B0503020204020204" pitchFamily="34" charset="-122"/>
                <a:ea typeface="微软雅黑" panose="020B0503020204020204" pitchFamily="34" charset="-122"/>
                <a:cs typeface="+mn-cs"/>
              </a:defRPr>
            </a:lvl1pPr>
            <a:lvl2pPr marL="687705" indent="-230505" algn="l" defTabSz="685800" rtl="0" eaLnBrk="1" latinLnBrk="0" hangingPunct="1">
              <a:lnSpc>
                <a:spcPct val="100000"/>
              </a:lnSpc>
              <a:spcBef>
                <a:spcPts val="500"/>
              </a:spcBef>
              <a:spcAft>
                <a:spcPts val="600"/>
              </a:spcAft>
              <a:buFont typeface="Arial" panose="020B0604020202020204" pitchFamily="34" charset="0"/>
              <a:buChar char="•"/>
              <a:defRPr lang="zh-CN" altLang="en-US" sz="2400" kern="1200" baseline="0" dirty="0" smtClean="0">
                <a:solidFill>
                  <a:schemeClr val="bg1"/>
                </a:solidFill>
                <a:latin typeface="微软雅黑" panose="020B0503020204020204" pitchFamily="34" charset="-122"/>
                <a:ea typeface="微软雅黑" panose="020B0503020204020204" pitchFamily="34" charset="-122"/>
                <a:cs typeface="+mn-cs"/>
              </a:defRPr>
            </a:lvl2pPr>
            <a:lvl3pPr marL="1144905" indent="-230505" algn="l" defTabSz="685800" rtl="0" eaLnBrk="1" latinLnBrk="0" hangingPunct="1">
              <a:lnSpc>
                <a:spcPct val="100000"/>
              </a:lnSpc>
              <a:spcBef>
                <a:spcPts val="500"/>
              </a:spcBef>
              <a:spcAft>
                <a:spcPts val="600"/>
              </a:spcAft>
              <a:buFont typeface="Arial" panose="020B0604020202020204" pitchFamily="34" charset="0"/>
              <a:buChar char="•"/>
              <a:defRPr lang="zh-CN" altLang="en-US" sz="2000" kern="1200" baseline="0" dirty="0" smtClean="0">
                <a:solidFill>
                  <a:schemeClr val="bg1"/>
                </a:solidFill>
                <a:latin typeface="微软雅黑" panose="020B0503020204020204" pitchFamily="34" charset="-122"/>
                <a:ea typeface="微软雅黑" panose="020B0503020204020204" pitchFamily="34" charset="-122"/>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r>
              <a:rPr lang="zh-CN" altLang="en-US" smtClean="0"/>
              <a:t>软件工程的</a:t>
            </a:r>
            <a:r>
              <a:rPr lang="en-US" altLang="zh-CN" smtClean="0"/>
              <a:t>7</a:t>
            </a:r>
            <a:r>
              <a:rPr lang="zh-CN" altLang="en-US" smtClean="0"/>
              <a:t>条基本原理</a:t>
            </a:r>
            <a:endParaRPr lang="zh-CN" altLang="en-US" smtClean="0"/>
          </a:p>
          <a:p>
            <a:pPr marL="914400" lvl="1" indent="-457200" fontAlgn="auto">
              <a:buFont typeface="+mj-lt"/>
              <a:buAutoNum type="arabicPeriod"/>
            </a:pPr>
            <a:r>
              <a:rPr lang="zh-CN" altLang="en-US" smtClean="0"/>
              <a:t>用分阶段的生命周期计划严格管理</a:t>
            </a:r>
            <a:endParaRPr lang="zh-CN" altLang="en-US" smtClean="0"/>
          </a:p>
          <a:p>
            <a:pPr marL="914400" lvl="1" indent="-457200" fontAlgn="auto">
              <a:buFont typeface="+mj-lt"/>
              <a:buAutoNum type="arabicPeriod"/>
            </a:pPr>
            <a:r>
              <a:rPr lang="zh-CN" altLang="en-US" smtClean="0"/>
              <a:t>坚持进行阶段评审</a:t>
            </a:r>
            <a:endParaRPr lang="zh-CN" altLang="en-US" smtClean="0"/>
          </a:p>
          <a:p>
            <a:pPr marL="914400" lvl="1" indent="-457200" fontAlgn="auto">
              <a:buFont typeface="+mj-lt"/>
              <a:buAutoNum type="arabicPeriod"/>
            </a:pPr>
            <a:r>
              <a:rPr lang="zh-CN" altLang="en-US" smtClean="0"/>
              <a:t>实行严格的产品控制</a:t>
            </a:r>
            <a:endParaRPr lang="zh-CN" altLang="en-US" smtClean="0"/>
          </a:p>
          <a:p>
            <a:pPr marL="914400" lvl="1" indent="-457200" fontAlgn="auto">
              <a:buFont typeface="+mj-lt"/>
              <a:buAutoNum type="arabicPeriod"/>
            </a:pPr>
            <a:r>
              <a:rPr lang="zh-CN" altLang="en-US" smtClean="0"/>
              <a:t>采用现代程序设计技术</a:t>
            </a:r>
            <a:endParaRPr lang="zh-CN" altLang="en-US" smtClean="0"/>
          </a:p>
          <a:p>
            <a:pPr marL="914400" lvl="1" indent="-457200" fontAlgn="auto">
              <a:buFont typeface="+mj-lt"/>
              <a:buAutoNum type="arabicPeriod"/>
            </a:pPr>
            <a:r>
              <a:rPr lang="zh-CN" altLang="en-US" smtClean="0"/>
              <a:t>结果应能清楚地审查</a:t>
            </a:r>
            <a:endParaRPr lang="zh-CN" altLang="en-US" smtClean="0"/>
          </a:p>
          <a:p>
            <a:pPr marL="914400" lvl="1" indent="-457200" fontAlgn="auto">
              <a:buFont typeface="+mj-lt"/>
              <a:buAutoNum type="arabicPeriod"/>
            </a:pPr>
            <a:r>
              <a:rPr lang="zh-CN" altLang="en-US" smtClean="0"/>
              <a:t>开发小组的人员应少而精</a:t>
            </a:r>
            <a:endParaRPr lang="zh-CN" altLang="en-US" smtClean="0"/>
          </a:p>
          <a:p>
            <a:pPr marL="914400" lvl="1" indent="-457200" fontAlgn="auto">
              <a:buFont typeface="+mj-lt"/>
              <a:buAutoNum type="arabicPeriod"/>
            </a:pPr>
            <a:r>
              <a:rPr lang="zh-CN" altLang="en-US" smtClean="0"/>
              <a:t>承认不断改进软件工程实践的意义</a:t>
            </a:r>
            <a:endParaRPr lang="zh-CN" altLang="en-US"/>
          </a:p>
        </p:txBody>
      </p:sp>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zh-CN" altLang="en-US" dirty="0" smtClean="0"/>
              <a:t>软件工程知识体系</a:t>
            </a:r>
            <a:endParaRPr lang="zh-CN" altLang="en-US" dirty="0" smtClean="0"/>
          </a:p>
        </p:txBody>
      </p:sp>
      <p:sp>
        <p:nvSpPr>
          <p:cNvPr id="37892" name="Rectangle 3"/>
          <p:cNvSpPr>
            <a:spLocks noGrp="1" noChangeArrowheads="1"/>
          </p:cNvSpPr>
          <p:nvPr>
            <p:ph idx="1"/>
          </p:nvPr>
        </p:nvSpPr>
        <p:spPr/>
        <p:txBody>
          <a:bodyPr/>
          <a:lstStyle/>
          <a:p>
            <a:r>
              <a:rPr lang="zh-CN" altLang="en-US" dirty="0" smtClean="0"/>
              <a:t>软件工程知识体系指南简介</a:t>
            </a:r>
            <a:endParaRPr lang="zh-CN" altLang="en-US" dirty="0" smtClean="0"/>
          </a:p>
          <a:p>
            <a:r>
              <a:rPr lang="zh-CN" altLang="en-US" dirty="0" smtClean="0"/>
              <a:t>软件工程知识体系知识域</a:t>
            </a:r>
            <a:endParaRPr lang="zh-CN" altLang="en-US" dirty="0" smtClean="0"/>
          </a:p>
          <a:p>
            <a:endParaRPr lang="zh-CN" altLang="en-US" dirty="0" smtClean="0"/>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dirty="0" smtClean="0"/>
              <a:t>软件工程知识体系</a:t>
            </a:r>
            <a:endParaRPr lang="zh-CN" altLang="en-US" dirty="0" smtClean="0"/>
          </a:p>
        </p:txBody>
      </p:sp>
      <p:sp>
        <p:nvSpPr>
          <p:cNvPr id="38916" name="Rectangle 3"/>
          <p:cNvSpPr>
            <a:spLocks noGrp="1" noChangeArrowheads="1"/>
          </p:cNvSpPr>
          <p:nvPr>
            <p:ph idx="1"/>
          </p:nvPr>
        </p:nvSpPr>
        <p:spPr/>
        <p:txBody>
          <a:bodyPr/>
          <a:lstStyle/>
          <a:p>
            <a:r>
              <a:rPr lang="en-US" altLang="zh-CN"/>
              <a:t>SWEBOK</a:t>
            </a:r>
            <a:r>
              <a:rPr lang="zh-CN" altLang="en-US"/>
              <a:t>是</a:t>
            </a:r>
            <a:r>
              <a:rPr lang="en-US" altLang="zh-CN"/>
              <a:t>IEEE</a:t>
            </a:r>
            <a:r>
              <a:rPr lang="zh-CN" altLang="en-US"/>
              <a:t>计算机学会</a:t>
            </a:r>
            <a:r>
              <a:rPr lang="zh-CN" altLang="en-US" smtClean="0"/>
              <a:t>的专业实践</a:t>
            </a:r>
            <a:r>
              <a:rPr lang="zh-CN" altLang="en-US"/>
              <a:t>委员会</a:t>
            </a:r>
            <a:r>
              <a:rPr lang="zh-CN" altLang="en-US" sz="2000"/>
              <a:t>（</a:t>
            </a:r>
            <a:r>
              <a:rPr lang="en-US" altLang="zh-CN" sz="2000"/>
              <a:t>Professional Practices Committee</a:t>
            </a:r>
            <a:r>
              <a:rPr lang="zh-CN" altLang="en-US" sz="2000"/>
              <a:t>）</a:t>
            </a:r>
            <a:r>
              <a:rPr lang="zh-CN" altLang="en-US"/>
              <a:t>主持的一个项目，目的：</a:t>
            </a:r>
            <a:endParaRPr lang="zh-CN" altLang="en-US"/>
          </a:p>
          <a:p>
            <a:pPr lvl="1"/>
            <a:r>
              <a:rPr lang="zh-CN" altLang="en-US"/>
              <a:t>促进世界范围内对软件工程的一致观点 ；</a:t>
            </a:r>
            <a:endParaRPr lang="zh-CN" altLang="en-US"/>
          </a:p>
          <a:p>
            <a:pPr lvl="1"/>
            <a:r>
              <a:rPr lang="zh-CN" altLang="en-US"/>
              <a:t>阐明软件工程相对其它学科（如计算机科学、项目管理、计算机工程和数学等）的位置，并确立它们的分界； </a:t>
            </a:r>
            <a:endParaRPr lang="zh-CN" altLang="en-US"/>
          </a:p>
          <a:p>
            <a:pPr lvl="1"/>
            <a:r>
              <a:rPr lang="zh-CN" altLang="en-US"/>
              <a:t>刻画软件工程学科的内容； </a:t>
            </a:r>
            <a:endParaRPr lang="zh-CN" altLang="en-US"/>
          </a:p>
          <a:p>
            <a:pPr lvl="1"/>
            <a:r>
              <a:rPr lang="zh-CN" altLang="en-US"/>
              <a:t>提供使用知识体系的主题；</a:t>
            </a:r>
            <a:endParaRPr lang="zh-CN" altLang="en-US"/>
          </a:p>
          <a:p>
            <a:pPr lvl="1"/>
            <a:r>
              <a:rPr lang="zh-CN" altLang="en-US"/>
              <a:t>为开发课程表和个人认证与许可材料提供一个基础 ； </a:t>
            </a:r>
            <a:endParaRPr lang="zh-CN" altLang="en-US"/>
          </a:p>
        </p:txBody>
      </p:sp>
    </p:spTree>
  </p:cSld>
  <p:clrMapOvr>
    <a:masterClrMapping/>
  </p:clrMapOvr>
  <p:transition>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zh-CN" altLang="en-US" dirty="0" smtClean="0"/>
              <a:t>软件工程知识体系知识域</a:t>
            </a:r>
            <a:endParaRPr lang="zh-CN" altLang="en-US" dirty="0" smtClean="0"/>
          </a:p>
        </p:txBody>
      </p:sp>
      <p:pic>
        <p:nvPicPr>
          <p:cNvPr id="5" name="图片 4"/>
          <p:cNvPicPr>
            <a:picLocks noChangeAspect="1"/>
          </p:cNvPicPr>
          <p:nvPr/>
        </p:nvPicPr>
        <p:blipFill>
          <a:blip r:embed="rId1"/>
          <a:stretch>
            <a:fillRect/>
          </a:stretch>
        </p:blipFill>
        <p:spPr>
          <a:xfrm>
            <a:off x="2281238" y="885825"/>
            <a:ext cx="7629525" cy="5086350"/>
          </a:xfrm>
          <a:prstGeom prst="rect">
            <a:avLst/>
          </a:prstGeom>
        </p:spPr>
      </p:pic>
      <p:pic>
        <p:nvPicPr>
          <p:cNvPr id="2" name="01-21软件工程知识体系知识域">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2624753" y="6770053"/>
            <a:ext cx="609600" cy="609600"/>
          </a:xfrm>
          <a:prstGeom prst="rect">
            <a:avLst/>
          </a:prstGeom>
        </p:spPr>
      </p:pic>
    </p:spTree>
  </p:cSld>
  <p:clrMapOvr>
    <a:masterClrMapping/>
  </p:clrMapOvr>
  <p:transition>
    <p:push/>
  </p:transition>
  <p:timing>
    <p:tnLst>
      <p:par>
        <p:cTn id="1" dur="indefinite" restart="never" nodeType="tmRoot">
          <p:childTnLst>
            <p:seq concurrent="1" nextAc="seek">
              <p:cTn id="2" restart="whenNotActive" fill="hold" evtFilter="cancelBubble" nodeType="interactiveSeq">
                <p:stCondLst>
                  <p:cond evt="onClick" delay="0">
                    <p:tgtEl>
                      <p:spTgt spid="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54684" fill="hold"/>
                                        <p:tgtEl>
                                          <p:spTgt spid="2"/>
                                        </p:tgtEl>
                                      </p:cBhvr>
                                    </p:cmd>
                                  </p:childTnLst>
                                </p:cTn>
                              </p:par>
                            </p:childTnLst>
                          </p:cTn>
                        </p:par>
                      </p:childTnLst>
                    </p:cTn>
                  </p:par>
                </p:childTnLst>
              </p:cTn>
              <p:nextCondLst>
                <p:cond evt="onClick" delay="0">
                  <p:tgtEl>
                    <p:spTgt spid="2"/>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zh-CN" altLang="en-US" dirty="0" smtClean="0"/>
              <a:t>软件工程知识体系知识域</a:t>
            </a:r>
            <a:endParaRPr lang="zh-CN" altLang="en-US" dirty="0" smtClean="0"/>
          </a:p>
        </p:txBody>
      </p:sp>
      <p:pic>
        <p:nvPicPr>
          <p:cNvPr id="40964"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4660" y="92710"/>
            <a:ext cx="6629400" cy="605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push/>
  </p:transition>
  <p:timing>
    <p:tnLst>
      <p:par>
        <p:cTn id="1" dur="indefinite" restart="never" nodeType="tmRoot"/>
      </p:par>
    </p:tnLst>
  </p:timing>
</p:sld>
</file>

<file path=ppt/tags/tag1.xml><?xml version="1.0" encoding="utf-8"?>
<p:tagLst xmlns:p="http://schemas.openxmlformats.org/presentationml/2006/main">
  <p:tag name="commondata" val="eyJoZGlkIjoiMjQ0ZTU5YmU0ZDZiN2JiMDdkNjJjNzRjNjQ5OGFmM2EifQ=="/>
</p:tagLst>
</file>

<file path=ppt/theme/theme1.xml><?xml version="1.0" encoding="utf-8"?>
<a:theme xmlns:a="http://schemas.openxmlformats.org/drawingml/2006/main" name="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Template>
  <TotalTime>0</TotalTime>
  <Words>2995</Words>
  <Application>WPS 演示</Application>
  <PresentationFormat>宽屏</PresentationFormat>
  <Paragraphs>346</Paragraphs>
  <Slides>23</Slides>
  <Notes>7</Notes>
  <HiddenSlides>0</HiddenSlides>
  <MMClips>22</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23</vt:i4>
      </vt:variant>
    </vt:vector>
  </HeadingPairs>
  <TitlesOfParts>
    <vt:vector size="36" baseType="lpstr">
      <vt:lpstr>Arial</vt:lpstr>
      <vt:lpstr>宋体</vt:lpstr>
      <vt:lpstr>Wingdings</vt:lpstr>
      <vt:lpstr>华文细黑</vt:lpstr>
      <vt:lpstr>微软雅黑</vt:lpstr>
      <vt:lpstr>MV Boli</vt:lpstr>
      <vt:lpstr>Segoe UI</vt:lpstr>
      <vt:lpstr>Impact</vt:lpstr>
      <vt:lpstr>Arial Unicode MS</vt:lpstr>
      <vt:lpstr>Calibri Light</vt:lpstr>
      <vt:lpstr>Calibri</vt:lpstr>
      <vt:lpstr>2015</vt:lpstr>
      <vt:lpstr>1_Office 主题</vt:lpstr>
      <vt:lpstr>PowerPoint 演示文稿</vt:lpstr>
      <vt:lpstr>本章内容</vt:lpstr>
      <vt:lpstr>计算机软件</vt:lpstr>
      <vt:lpstr>引言</vt:lpstr>
      <vt:lpstr>软件的定义</vt:lpstr>
      <vt:lpstr>软件的特点</vt:lpstr>
      <vt:lpstr>软件的分类</vt:lpstr>
      <vt:lpstr>软件的发展和软件危机</vt:lpstr>
      <vt:lpstr>软件发展的三个主要阶段</vt:lpstr>
      <vt:lpstr>软件危机</vt:lpstr>
      <vt:lpstr>软件危机 Software Crisis</vt:lpstr>
      <vt:lpstr>软件危机的解决途径</vt:lpstr>
      <vt:lpstr>软件工程</vt:lpstr>
      <vt:lpstr>软件工程定义 1-2</vt:lpstr>
      <vt:lpstr>软件工程要素</vt:lpstr>
      <vt:lpstr>软件工程的目标和原则</vt:lpstr>
      <vt:lpstr>软件工程研究内容</vt:lpstr>
      <vt:lpstr>软件工程的原则</vt:lpstr>
      <vt:lpstr>软件工程原理</vt:lpstr>
      <vt:lpstr>软件工程知识体系</vt:lpstr>
      <vt:lpstr>软件工程知识体系</vt:lpstr>
      <vt:lpstr>软件工程知识体系知识域</vt:lpstr>
      <vt:lpstr>软件工程知识体系知识域</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api</cp:lastModifiedBy>
  <cp:revision>162</cp:revision>
  <dcterms:created xsi:type="dcterms:W3CDTF">2008-02-20T09:21:00Z</dcterms:created>
  <dcterms:modified xsi:type="dcterms:W3CDTF">2024-02-26T00:46:57Z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2052-12.1.0.16250</vt:lpwstr>
  </property>
  <property fmtid="{D5CDD505-2E9C-101B-9397-08002B2CF9AE}" pid="3" name="ICV">
    <vt:lpwstr>57FA18E5659B4097B221F0696102CD86_12</vt:lpwstr>
  </property>
</Properties>
</file>