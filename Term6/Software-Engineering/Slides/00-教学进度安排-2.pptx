
<file path=[Content_Types].xml><?xml version="1.0" encoding="utf-8"?>
<Types xmlns="http://schemas.openxmlformats.org/package/2006/content-types"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07" r:id="rId5"/>
    <p:sldId id="304" r:id="rId6"/>
    <p:sldId id="308" r:id="rId7"/>
    <p:sldId id="309" r:id="rId8"/>
    <p:sldId id="305" r:id="rId9"/>
    <p:sldId id="306" r:id="rId10"/>
    <p:sldId id="310" r:id="rId11"/>
    <p:sldId id="299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5D56CF2-52B6-4BEA-84E6-00C7ED258DA0}">
          <p14:sldIdLst>
            <p14:sldId id="256"/>
            <p14:sldId id="307"/>
            <p14:sldId id="304"/>
            <p14:sldId id="308"/>
            <p14:sldId id="309"/>
            <p14:sldId id="305"/>
            <p14:sldId id="306"/>
            <p14:sldId id="310"/>
            <p14:sldId id="29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266A5"/>
    <a:srgbClr val="FFB700"/>
    <a:srgbClr val="F7F7F7"/>
    <a:srgbClr val="FFBB00"/>
    <a:srgbClr val="996600"/>
    <a:srgbClr val="CC6600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86667" autoAdjust="0"/>
  </p:normalViewPr>
  <p:slideViewPr>
    <p:cSldViewPr snapToGrid="0">
      <p:cViewPr varScale="1">
        <p:scale>
          <a:sx n="100" d="100"/>
          <a:sy n="100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F954B-397E-47C8-A8E5-617B02AFCC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F5C26-33B9-4C93-BD21-A507E0647A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F5C26-33B9-4C93-BD21-A507E0647A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F5C26-33B9-4C93-BD21-A507E0647A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A2E47A4-0222-4181-9FAC-9A223D3051F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push/>
  </p:transition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9174" y="365126"/>
            <a:ext cx="10334625" cy="645258"/>
          </a:xfrm>
        </p:spPr>
        <p:txBody>
          <a:bodyPr>
            <a:normAutofit/>
          </a:bodyPr>
          <a:lstStyle>
            <a:lvl1pPr algn="r">
              <a:defRPr sz="32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9174" y="1196123"/>
            <a:ext cx="10334626" cy="4980840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0" y="0"/>
            <a:ext cx="1019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MV Boli" panose="02000500030200090000" pitchFamily="2" charset="0"/>
                <a:ea typeface="Segoe UI" panose="020B0502040204020203" pitchFamily="34" charset="0"/>
                <a:cs typeface="MV Boli" panose="02000500030200090000" pitchFamily="2" charset="0"/>
              </a:rPr>
              <a:t>BUPT</a:t>
            </a:r>
            <a:r>
              <a:rPr lang="en-US" altLang="zh-CN" sz="2400" dirty="0" smtClean="0">
                <a:solidFill>
                  <a:schemeClr val="bg1"/>
                </a:solidFill>
                <a:latin typeface="Impact" panose="020B0806030902050204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MV Boli" panose="02000500030200090000" pitchFamily="2" charset="0"/>
                <a:ea typeface="Segoe UI" panose="020B0502040204020203" pitchFamily="34" charset="0"/>
                <a:cs typeface="MV Boli" panose="02000500030200090000" pitchFamily="2" charset="0"/>
              </a:rPr>
              <a:t>TSEG</a:t>
            </a:r>
            <a:endParaRPr lang="zh-CN" altLang="en-US" sz="2400" dirty="0">
              <a:solidFill>
                <a:schemeClr val="bg1"/>
              </a:solidFill>
              <a:latin typeface="MV Boli" panose="02000500030200090000" pitchFamily="2" charset="0"/>
              <a:ea typeface="Segoe UI" panose="020B0502040204020203" pitchFamily="34" charset="0"/>
              <a:cs typeface="MV Boli" panose="02000500030200090000" pitchFamily="2" charset="0"/>
            </a:endParaRPr>
          </a:p>
        </p:txBody>
      </p:sp>
    </p:spTree>
  </p:cSld>
  <p:clrMapOvr>
    <a:masterClrMapping/>
  </p:clrMapOvr>
  <p:transition>
    <p:push/>
  </p:transition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03CDFEF-B8D5-478F-8117-6E44B680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03CDFEF-B8D5-478F-8117-6E44B680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61107-C9B8-45B5-BD23-C8A00455B7E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69615" y="6063615"/>
            <a:ext cx="4883785" cy="657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 smtClean="0"/>
              <a:t>TSEG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61107-C9B8-45B5-BD23-C8A00455B7E2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 userDrawn="1"/>
        </p:nvSpPr>
        <p:spPr>
          <a:xfrm>
            <a:off x="1400810" y="5615940"/>
            <a:ext cx="9308465" cy="12255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/>
            <a:r>
              <a:rPr lang="en-US" altLang="zh-CN" sz="6000" b="1">
                <a:solidFill>
                  <a:srgbClr val="FFC000"/>
                </a:solidFill>
              </a:rPr>
              <a:t> </a:t>
            </a:r>
            <a:r>
              <a:rPr lang="zh-CN" altLang="en-US" sz="6000" b="1">
                <a:solidFill>
                  <a:srgbClr val="FFC000"/>
                </a:solidFill>
                <a:sym typeface="+mn-ea"/>
              </a:rPr>
              <a:t>课程</a:t>
            </a:r>
            <a:r>
              <a:rPr lang="en-US" altLang="zh-CN" sz="6000" b="1">
                <a:solidFill>
                  <a:srgbClr val="FFC000"/>
                </a:solidFill>
              </a:rPr>
              <a:t>QQ</a:t>
            </a:r>
            <a:r>
              <a:rPr lang="zh-CN" altLang="en-US" sz="6000" b="1">
                <a:solidFill>
                  <a:srgbClr val="FFC000"/>
                </a:solidFill>
              </a:rPr>
              <a:t>群：</a:t>
            </a:r>
            <a:r>
              <a:rPr lang="en-US" altLang="zh-CN" sz="6000" b="1">
                <a:solidFill>
                  <a:srgbClr val="FFC000"/>
                </a:solidFill>
              </a:rPr>
              <a:t>829209700</a:t>
            </a:r>
            <a:endParaRPr lang="en-US" altLang="zh-CN" sz="6000" b="1">
              <a:solidFill>
                <a:srgbClr val="FFC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3706" y="130496"/>
            <a:ext cx="140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  <a:latin typeface="MV Boli" panose="02000500030200090000" pitchFamily="2" charset="0"/>
                <a:ea typeface="Segoe UI" panose="020B0502040204020203" pitchFamily="34" charset="0"/>
                <a:cs typeface="MV Boli" panose="02000500030200090000" pitchFamily="2" charset="0"/>
              </a:rPr>
              <a:t>BUPT</a:t>
            </a:r>
            <a:r>
              <a:rPr lang="en-US" altLang="zh-CN" sz="3200" dirty="0" smtClean="0">
                <a:solidFill>
                  <a:schemeClr val="bg1"/>
                </a:solidFill>
                <a:latin typeface="Impact" panose="020B0806030902050204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zh-CN" sz="3200" dirty="0">
                <a:solidFill>
                  <a:schemeClr val="bg1"/>
                </a:solidFill>
                <a:latin typeface="MV Boli" panose="02000500030200090000" pitchFamily="2" charset="0"/>
                <a:ea typeface="Segoe UI" panose="020B0502040204020203" pitchFamily="34" charset="0"/>
                <a:cs typeface="MV Boli" panose="02000500030200090000" pitchFamily="2" charset="0"/>
              </a:rPr>
              <a:t>TSEG</a:t>
            </a:r>
            <a:endParaRPr lang="zh-CN" altLang="en-US" sz="3200" dirty="0">
              <a:solidFill>
                <a:schemeClr val="bg1"/>
              </a:solidFill>
              <a:latin typeface="MV Boli" panose="02000500030200090000" pitchFamily="2" charset="0"/>
              <a:ea typeface="Segoe UI" panose="020B0502040204020203" pitchFamily="34" charset="0"/>
              <a:cs typeface="MV Boli" panose="02000500030200090000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37361" y="684910"/>
            <a:ext cx="6340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 模型与方法</a:t>
            </a:r>
            <a:endParaRPr lang="en-US" altLang="zh-CN" sz="4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Models &amp; Methods of SE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37360" y="2103120"/>
            <a:ext cx="5151120" cy="3465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2023211305</a:t>
            </a:r>
            <a:r>
              <a:rPr lang="zh-CN" altLang="en-US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</a:t>
            </a:r>
            <a:endParaRPr lang="en-US" altLang="zh-CN" sz="4000" b="1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2023211306</a:t>
            </a:r>
            <a:r>
              <a:rPr lang="zh-CN" altLang="en-US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</a:t>
            </a:r>
            <a:endParaRPr lang="en-US" altLang="zh-CN" sz="4000" b="1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2023211</a:t>
            </a:r>
            <a:r>
              <a:rPr lang="en-US" altLang="zh-CN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307</a:t>
            </a:r>
            <a:r>
              <a:rPr lang="zh-CN" altLang="en-US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</a:t>
            </a:r>
            <a:endParaRPr lang="en-US" altLang="zh-CN" sz="4000" b="1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2023211</a:t>
            </a:r>
            <a:r>
              <a:rPr lang="en-US" altLang="zh-CN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308</a:t>
            </a:r>
            <a:r>
              <a:rPr lang="zh-CN" altLang="en-US" sz="4000" b="1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</a:t>
            </a:r>
            <a:endParaRPr lang="en-US" altLang="zh-CN" sz="4000" b="1" smtClean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000" b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进度安排</a:t>
            </a:r>
            <a:endParaRPr lang="zh-CN" altLang="en-US" sz="4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本课程以全面培养学生成为未来软件工程师所需要的能力为目标，要求学生掌握软件工程的基本概念、基本原理和建模方法，从实际应用的角度理解大型软件系统的开发过程</a:t>
            </a:r>
            <a:r>
              <a:rPr lang="zh-CN" altLang="zh-CN" dirty="0" smtClean="0"/>
              <a:t>，</a:t>
            </a:r>
            <a:r>
              <a:rPr lang="zh-CN" altLang="en-US" dirty="0" smtClean="0"/>
              <a:t>使</a:t>
            </a:r>
            <a:r>
              <a:rPr lang="zh-CN" altLang="zh-CN" dirty="0" smtClean="0"/>
              <a:t>学生</a:t>
            </a:r>
            <a:r>
              <a:rPr lang="zh-CN" altLang="zh-CN" dirty="0"/>
              <a:t>建立扎实的软件工程实践能力</a:t>
            </a:r>
            <a:r>
              <a:rPr lang="zh-CN" altLang="zh-CN" dirty="0" smtClean="0"/>
              <a:t>。要求学生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深刻</a:t>
            </a:r>
            <a:r>
              <a:rPr lang="zh-CN" altLang="zh-CN" dirty="0"/>
              <a:t>理解软件工程对于软件开发过程中的</a:t>
            </a:r>
            <a:r>
              <a:rPr lang="zh-CN" altLang="zh-CN" dirty="0" smtClean="0"/>
              <a:t>重要性</a:t>
            </a:r>
            <a:r>
              <a:rPr lang="zh-CN" altLang="en-US" dirty="0"/>
              <a:t>；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掌握</a:t>
            </a:r>
            <a:r>
              <a:rPr lang="zh-CN" altLang="zh-CN" dirty="0"/>
              <a:t>各种软件生命周期</a:t>
            </a:r>
            <a:r>
              <a:rPr lang="zh-CN" altLang="zh-CN" dirty="0" smtClean="0"/>
              <a:t>模型</a:t>
            </a:r>
            <a:r>
              <a:rPr lang="zh-CN" altLang="en-US" dirty="0"/>
              <a:t>；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熟练</a:t>
            </a:r>
            <a:r>
              <a:rPr lang="zh-CN" altLang="zh-CN" dirty="0"/>
              <a:t>运用结构化和面向对象的建模方法，</a:t>
            </a:r>
            <a:r>
              <a:rPr lang="zh-CN" altLang="zh-CN" dirty="0" smtClean="0"/>
              <a:t>建立软件</a:t>
            </a:r>
            <a:r>
              <a:rPr lang="zh-CN" altLang="zh-CN" dirty="0"/>
              <a:t>需求分析、软件设计、软件测试、软件维护等环节</a:t>
            </a:r>
            <a:r>
              <a:rPr lang="zh-CN" altLang="zh-CN" dirty="0" smtClean="0"/>
              <a:t>与编码</a:t>
            </a:r>
            <a:r>
              <a:rPr lang="zh-CN" altLang="zh-CN" dirty="0"/>
              <a:t>之间的必然</a:t>
            </a:r>
            <a:r>
              <a:rPr lang="zh-CN" altLang="zh-CN" dirty="0" smtClean="0"/>
              <a:t>联系</a:t>
            </a:r>
            <a:r>
              <a:rPr lang="zh-CN" altLang="en-US" dirty="0"/>
              <a:t>；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理解</a:t>
            </a:r>
            <a:r>
              <a:rPr lang="zh-CN" altLang="zh-CN" dirty="0"/>
              <a:t>软件工程过程中的各种文档对于软件编码的必要性和重要性。</a:t>
            </a:r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034415" y="1010285"/>
          <a:ext cx="10319385" cy="45662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4840"/>
                <a:gridCol w="2667000"/>
                <a:gridCol w="1039495"/>
                <a:gridCol w="5988050"/>
              </a:tblGrid>
              <a:tr h="4502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教学内容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学时分配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具体内容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6762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软件工程基础</a:t>
                      </a:r>
                      <a:endParaRPr lang="zh-CN" sz="18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危机与软件工程的诞生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、传统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的软件生命周期模型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、现代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的软件生命周期模型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736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软件需求获取及需求分析</a:t>
                      </a:r>
                      <a:endParaRPr lang="zh-CN" sz="18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的需求工程基础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400" kern="1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、以</a:t>
                      </a:r>
                      <a:r>
                        <a:rPr lang="zh-CN" sz="14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数据流图为核心的结构化需求分析方法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、以</a:t>
                      </a: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UML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为基础的面向对象需求分析方法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6762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软件设计</a:t>
                      </a:r>
                      <a:endParaRPr lang="zh-CN" sz="18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设计基础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400" kern="100" dirty="0" smtClean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、以</a:t>
                      </a:r>
                      <a:r>
                        <a:rPr lang="zh-CN" sz="1400" kern="100" dirty="0">
                          <a:solidFill>
                            <a:srgbClr val="FF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数据流图为核心的结构化设计方法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、以</a:t>
                      </a: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UML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为基础的面向对象设计方法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6756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软件实现及测试</a:t>
                      </a:r>
                      <a:endParaRPr lang="zh-CN" sz="18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编码规范及要求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、软件测试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基础：白盒及黑盒测试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、软件测试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策略及应用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6756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软件维护及软件项目管理</a:t>
                      </a:r>
                      <a:endParaRPr lang="zh-CN" sz="18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、软件维护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基础及应用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项目管理基础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400" kern="100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、软件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配置管理基础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6756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课程大作业</a:t>
                      </a:r>
                      <a:endParaRPr lang="zh-CN" sz="18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lang="zh-CN" sz="14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 介绍大作业的要求及分组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 结合课程进度布置作业并检查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 系统原型的测试及最终系统的验收</a:t>
                      </a:r>
                      <a:endParaRPr 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教学内容及学时安排</a:t>
            </a:r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教学方法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9174" y="1196123"/>
            <a:ext cx="10334626" cy="4980840"/>
          </a:xfrm>
        </p:spPr>
        <p:txBody>
          <a:bodyPr/>
          <a:lstStyle/>
          <a:p>
            <a:r>
              <a:rPr lang="zh-CN" altLang="zh-CN" dirty="0" smtClean="0"/>
              <a:t>课堂教学重点</a:t>
            </a:r>
            <a:r>
              <a:rPr lang="zh-CN" altLang="zh-CN" dirty="0"/>
              <a:t>讲解软件工程的原理及各种建模方法</a:t>
            </a:r>
            <a:r>
              <a:rPr lang="zh-CN" altLang="zh-CN" dirty="0" smtClean="0"/>
              <a:t>；</a:t>
            </a:r>
            <a:endParaRPr lang="en-US" altLang="zh-CN" dirty="0" smtClean="0"/>
          </a:p>
          <a:p>
            <a:r>
              <a:rPr lang="zh-CN" altLang="zh-CN" dirty="0" smtClean="0"/>
              <a:t>伴随</a:t>
            </a:r>
            <a:r>
              <a:rPr lang="zh-CN" altLang="zh-CN" dirty="0"/>
              <a:t>着教学进度</a:t>
            </a:r>
            <a:r>
              <a:rPr lang="zh-CN" altLang="zh-CN" dirty="0" smtClean="0"/>
              <a:t>安排课程</a:t>
            </a:r>
            <a:r>
              <a:rPr lang="zh-CN" altLang="zh-CN" dirty="0"/>
              <a:t>作业</a:t>
            </a:r>
            <a:r>
              <a:rPr lang="zh-CN" altLang="zh-CN" dirty="0" smtClean="0"/>
              <a:t>，</a:t>
            </a:r>
            <a:r>
              <a:rPr lang="zh-CN" altLang="en-US" dirty="0" smtClean="0"/>
              <a:t>以实际</a:t>
            </a:r>
            <a:r>
              <a:rPr lang="zh-CN" altLang="zh-CN" dirty="0" smtClean="0"/>
              <a:t>的</a:t>
            </a:r>
            <a:r>
              <a:rPr lang="zh-CN" altLang="zh-CN" dirty="0"/>
              <a:t>软件开发</a:t>
            </a:r>
            <a:r>
              <a:rPr lang="zh-CN" altLang="zh-CN" dirty="0" smtClean="0"/>
              <a:t>过程</a:t>
            </a:r>
            <a:r>
              <a:rPr lang="zh-CN" altLang="en-US" dirty="0" smtClean="0"/>
              <a:t>为指导</a:t>
            </a:r>
            <a:r>
              <a:rPr lang="zh-CN" altLang="zh-CN" dirty="0" smtClean="0"/>
              <a:t>，</a:t>
            </a:r>
            <a:r>
              <a:rPr lang="zh-CN" altLang="en-US" dirty="0" smtClean="0"/>
              <a:t>通过个人及小组的方式完成；</a:t>
            </a:r>
            <a:endParaRPr lang="en-US" altLang="zh-CN" dirty="0" smtClean="0"/>
          </a:p>
          <a:p>
            <a:r>
              <a:rPr lang="zh-CN" altLang="en-US" dirty="0" smtClean="0"/>
              <a:t>以往有两种作业方式：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一个作业题目，每个小组独立完成从需求分析到编码</a:t>
            </a:r>
            <a:r>
              <a:rPr lang="zh-CN" altLang="en-US" smtClean="0"/>
              <a:t>的过程；</a:t>
            </a:r>
            <a:endParaRPr lang="en-US" altLang="zh-CN" smtClean="0"/>
          </a:p>
          <a:p>
            <a:pPr lvl="1"/>
            <a:r>
              <a:rPr lang="zh-CN" altLang="en-US" smtClean="0"/>
              <a:t>然后</a:t>
            </a:r>
            <a:r>
              <a:rPr lang="zh-CN" altLang="en-US" dirty="0" smtClean="0"/>
              <a:t>小组</a:t>
            </a:r>
            <a:r>
              <a:rPr lang="zh-CN" altLang="en-US" smtClean="0"/>
              <a:t>之间（</a:t>
            </a:r>
            <a:r>
              <a:rPr lang="zh-CN" altLang="en-US"/>
              <a:t>多个</a:t>
            </a:r>
            <a:r>
              <a:rPr lang="zh-CN" altLang="en-US" smtClean="0"/>
              <a:t>小组）需要</a:t>
            </a:r>
            <a:r>
              <a:rPr lang="zh-CN" altLang="en-US" dirty="0" smtClean="0"/>
              <a:t>集成测试通过（或失败）系统验收；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教学重点及难点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9175" y="1196340"/>
            <a:ext cx="10334625" cy="3996055"/>
          </a:xfrm>
        </p:spPr>
        <p:txBody>
          <a:bodyPr>
            <a:normAutofit fontScale="90000" lnSpcReduction="20000"/>
          </a:bodyPr>
          <a:lstStyle/>
          <a:p>
            <a:r>
              <a:rPr lang="zh-CN" altLang="en-US" dirty="0" smtClean="0"/>
              <a:t>重点：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软件生命周期模型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软件需求分析方法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软件设计方法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软件测试</a:t>
            </a:r>
            <a:endParaRPr lang="en-US" altLang="zh-CN" dirty="0" smtClean="0"/>
          </a:p>
          <a:p>
            <a:r>
              <a:rPr lang="zh-CN" altLang="en-US" dirty="0" smtClean="0"/>
              <a:t>难点：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为基础的面向对象建模方法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数据流图方法（</a:t>
            </a:r>
            <a:r>
              <a:rPr lang="en-US" altLang="zh-CN" dirty="0" smtClean="0"/>
              <a:t>Data Flow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/>
              <a:t>黑</a:t>
            </a:r>
            <a:r>
              <a:rPr lang="zh-CN" altLang="en-US" dirty="0" smtClean="0"/>
              <a:t>盒及白盒测试方法</a:t>
            </a:r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教材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665" y="1196340"/>
            <a:ext cx="11286490" cy="4980940"/>
          </a:xfrm>
        </p:spPr>
        <p:txBody>
          <a:bodyPr/>
          <a:lstStyle/>
          <a:p>
            <a:pPr marL="609600" indent="-609600"/>
            <a:r>
              <a:rPr lang="zh-CN" altLang="en-US" dirty="0">
                <a:solidFill>
                  <a:srgbClr val="FFFF00"/>
                </a:solidFill>
              </a:rPr>
              <a:t>软件工程模型与</a:t>
            </a:r>
            <a:r>
              <a:rPr lang="zh-CN" altLang="en-US" dirty="0" smtClean="0">
                <a:solidFill>
                  <a:srgbClr val="FFFF00"/>
                </a:solidFill>
              </a:rPr>
              <a:t>方法 （第二版）</a:t>
            </a:r>
            <a:endParaRPr lang="zh-CN" altLang="en-US" dirty="0">
              <a:solidFill>
                <a:srgbClr val="FFFF00"/>
              </a:solidFill>
            </a:endParaRPr>
          </a:p>
          <a:p>
            <a:pPr marL="1163955" lvl="1" indent="-533400"/>
            <a:r>
              <a:rPr lang="zh-CN" altLang="en-US" dirty="0"/>
              <a:t>肖丁、</a:t>
            </a:r>
            <a:r>
              <a:rPr lang="zh-CN" altLang="en-US" dirty="0" smtClean="0"/>
              <a:t>修佳鹏</a:t>
            </a:r>
            <a:r>
              <a:rPr lang="zh-CN" altLang="en-US" dirty="0"/>
              <a:t> </a:t>
            </a:r>
            <a:r>
              <a:rPr lang="zh-CN" altLang="en-US" dirty="0" smtClean="0"/>
              <a:t>编著 </a:t>
            </a:r>
            <a:r>
              <a:rPr lang="zh-CN" altLang="en-US" dirty="0"/>
              <a:t>北京邮电大学出版社 </a:t>
            </a:r>
            <a:r>
              <a:rPr lang="en-US" altLang="zh-CN" dirty="0" smtClean="0"/>
              <a:t>2014</a:t>
            </a:r>
            <a:endParaRPr lang="en-US" altLang="zh-CN" dirty="0"/>
          </a:p>
          <a:p>
            <a:pPr marL="609600" indent="-609600"/>
            <a:r>
              <a:rPr lang="zh-CN" altLang="en-US" dirty="0"/>
              <a:t>参考教材：</a:t>
            </a:r>
            <a:endParaRPr lang="zh-CN" altLang="en-US" dirty="0"/>
          </a:p>
          <a:p>
            <a:pPr marL="1163955" lvl="1" indent="-533400"/>
            <a:r>
              <a:rPr lang="zh-CN" altLang="en-US" dirty="0"/>
              <a:t>软件工程导论（第</a:t>
            </a:r>
            <a:r>
              <a:rPr lang="en-US" altLang="zh-CN" dirty="0"/>
              <a:t>6</a:t>
            </a:r>
            <a:r>
              <a:rPr lang="zh-CN" altLang="en-US" dirty="0"/>
              <a:t>版），张海藩等，清华大学出版社，</a:t>
            </a:r>
            <a:r>
              <a:rPr lang="en-US" altLang="zh-CN" dirty="0"/>
              <a:t>2013</a:t>
            </a:r>
            <a:endParaRPr lang="en-US" altLang="zh-CN" dirty="0"/>
          </a:p>
          <a:p>
            <a:pPr marL="1163955" lvl="1" indent="-533400"/>
            <a:r>
              <a:rPr lang="zh-CN" altLang="en-US" dirty="0"/>
              <a:t>软件工程（第</a:t>
            </a:r>
            <a:r>
              <a:rPr lang="en-US" altLang="zh-CN" dirty="0"/>
              <a:t>3</a:t>
            </a:r>
            <a:r>
              <a:rPr lang="zh-CN" altLang="en-US" dirty="0"/>
              <a:t>版）钱乐秋等，清华大学出版社，</a:t>
            </a:r>
            <a:r>
              <a:rPr lang="en-US" altLang="zh-CN" dirty="0"/>
              <a:t>2016</a:t>
            </a:r>
            <a:endParaRPr lang="en-US" altLang="zh-CN" dirty="0"/>
          </a:p>
          <a:p>
            <a:pPr marL="1163955" lvl="1" indent="-533400"/>
            <a:r>
              <a:rPr lang="zh-CN" altLang="en-US" dirty="0" smtClean="0"/>
              <a:t>软件工程：实践者的研究方法（第</a:t>
            </a:r>
            <a:r>
              <a:rPr lang="en-US" altLang="zh-CN" dirty="0" smtClean="0"/>
              <a:t>8</a:t>
            </a:r>
            <a:r>
              <a:rPr lang="zh-CN" altLang="en-US" dirty="0" smtClean="0"/>
              <a:t>版），</a:t>
            </a:r>
            <a:r>
              <a:rPr lang="en-US" altLang="zh-CN" dirty="0" smtClean="0"/>
              <a:t>Roger S. Pressman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2016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课程考核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9174" y="1010384"/>
            <a:ext cx="10334626" cy="5166579"/>
          </a:xfrm>
        </p:spPr>
        <p:txBody>
          <a:bodyPr>
            <a:normAutofit/>
          </a:bodyPr>
          <a:lstStyle/>
          <a:p>
            <a:r>
              <a:rPr lang="zh-CN" altLang="zh-CN" smtClean="0"/>
              <a:t>期中考试：占总成绩</a:t>
            </a:r>
            <a:r>
              <a:rPr lang="en-US" altLang="zh-CN" smtClean="0"/>
              <a:t>10</a:t>
            </a:r>
            <a:r>
              <a:rPr lang="en-US" altLang="zh-CN" dirty="0"/>
              <a:t>%</a:t>
            </a:r>
            <a:endParaRPr lang="zh-CN" altLang="zh-CN" dirty="0"/>
          </a:p>
          <a:p>
            <a:r>
              <a:rPr lang="zh-CN" altLang="en-US">
                <a:solidFill>
                  <a:srgbClr val="FFFF00"/>
                </a:solidFill>
              </a:rPr>
              <a:t>平时</a:t>
            </a:r>
            <a:r>
              <a:rPr lang="zh-CN" altLang="zh-CN" smtClean="0">
                <a:solidFill>
                  <a:srgbClr val="FFFF00"/>
                </a:solidFill>
              </a:rPr>
              <a:t>成绩</a:t>
            </a:r>
            <a:r>
              <a:rPr lang="zh-CN" altLang="zh-CN" dirty="0" smtClean="0">
                <a:solidFill>
                  <a:srgbClr val="FFFF00"/>
                </a:solidFill>
              </a:rPr>
              <a:t>：</a:t>
            </a:r>
            <a:r>
              <a:rPr lang="zh-CN" altLang="zh-CN" smtClean="0">
                <a:solidFill>
                  <a:srgbClr val="FFFF00"/>
                </a:solidFill>
              </a:rPr>
              <a:t>占总成绩</a:t>
            </a:r>
            <a:r>
              <a:rPr lang="en-US" altLang="zh-CN" smtClean="0">
                <a:solidFill>
                  <a:srgbClr val="FFFF00"/>
                </a:solidFill>
              </a:rPr>
              <a:t>40%</a:t>
            </a:r>
            <a:r>
              <a:rPr lang="zh-CN" altLang="en-US" smtClean="0">
                <a:solidFill>
                  <a:srgbClr val="FFFF00"/>
                </a:solidFill>
              </a:rPr>
              <a:t>（</a:t>
            </a:r>
            <a:r>
              <a:rPr lang="en-US" altLang="zh-CN" smtClean="0">
                <a:solidFill>
                  <a:srgbClr val="FFFF00"/>
                </a:solidFill>
              </a:rPr>
              <a:t>3</a:t>
            </a:r>
            <a:r>
              <a:rPr lang="zh-CN" altLang="en-US" smtClean="0">
                <a:solidFill>
                  <a:srgbClr val="FFFF00"/>
                </a:solidFill>
              </a:rPr>
              <a:t>次作业）</a:t>
            </a:r>
            <a:endParaRPr lang="zh-CN" altLang="en-US" smtClean="0">
              <a:solidFill>
                <a:srgbClr val="FFFF00"/>
              </a:solidFill>
            </a:endParaRPr>
          </a:p>
          <a:p>
            <a:pPr lvl="1"/>
            <a:r>
              <a:rPr lang="zh-CN" altLang="en-US" smtClean="0">
                <a:sym typeface="+mn-ea"/>
              </a:rPr>
              <a:t>作业</a:t>
            </a:r>
            <a:r>
              <a:rPr lang="en-US" altLang="zh-CN" smtClean="0">
                <a:sym typeface="+mn-ea"/>
              </a:rPr>
              <a:t>1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35%</a:t>
            </a:r>
            <a:r>
              <a:rPr lang="zh-CN" altLang="en-US" smtClean="0">
                <a:sym typeface="+mn-ea"/>
              </a:rPr>
              <a:t>，需求用例模型：用例图、</a:t>
            </a:r>
            <a:r>
              <a:rPr lang="en-US" altLang="zh-CN" smtClean="0">
                <a:sym typeface="+mn-ea"/>
              </a:rPr>
              <a:t>SSD</a:t>
            </a:r>
            <a:r>
              <a:rPr lang="zh-CN" altLang="en-US" smtClean="0">
                <a:sym typeface="+mn-ea"/>
              </a:rPr>
              <a:t>、操作契约</a:t>
            </a:r>
            <a:endParaRPr lang="en-US" altLang="zh-CN" smtClean="0"/>
          </a:p>
          <a:p>
            <a:pPr lvl="1"/>
            <a:r>
              <a:rPr lang="zh-CN" altLang="en-US" smtClean="0">
                <a:sym typeface="+mn-ea"/>
              </a:rPr>
              <a:t>作业</a:t>
            </a:r>
            <a:r>
              <a:rPr lang="en-US" altLang="zh-CN" smtClean="0">
                <a:sym typeface="+mn-ea"/>
              </a:rPr>
              <a:t>2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35%</a:t>
            </a:r>
            <a:r>
              <a:rPr lang="zh-CN" altLang="en-US" smtClean="0">
                <a:sym typeface="+mn-ea"/>
              </a:rPr>
              <a:t>，概要设计建模：动态结构、静态结构</a:t>
            </a:r>
            <a:endParaRPr lang="en-US" altLang="zh-CN" smtClean="0"/>
          </a:p>
          <a:p>
            <a:pPr lvl="1"/>
            <a:r>
              <a:rPr lang="zh-CN" altLang="en-US" smtClean="0">
                <a:sym typeface="+mn-ea"/>
              </a:rPr>
              <a:t>作业</a:t>
            </a:r>
            <a:r>
              <a:rPr lang="en-US" altLang="zh-CN" smtClean="0">
                <a:sym typeface="+mn-ea"/>
              </a:rPr>
              <a:t>3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30%</a:t>
            </a:r>
            <a:r>
              <a:rPr lang="zh-CN" altLang="en-US" smtClean="0">
                <a:sym typeface="+mn-ea"/>
              </a:rPr>
              <a:t>，原型系统验收</a:t>
            </a:r>
            <a:endParaRPr lang="en-US" altLang="zh-CN" dirty="0" smtClean="0">
              <a:solidFill>
                <a:srgbClr val="FFFF00"/>
              </a:solidFill>
            </a:endParaRPr>
          </a:p>
          <a:p>
            <a:r>
              <a:rPr lang="zh-CN" altLang="zh-CN" smtClean="0"/>
              <a:t>期末</a:t>
            </a:r>
            <a:r>
              <a:rPr lang="zh-CN" altLang="zh-CN" dirty="0"/>
              <a:t>成绩：</a:t>
            </a:r>
            <a:r>
              <a:rPr lang="zh-CN" altLang="zh-CN"/>
              <a:t>占</a:t>
            </a:r>
            <a:r>
              <a:rPr lang="zh-CN" altLang="zh-CN" smtClean="0"/>
              <a:t>总成绩</a:t>
            </a:r>
            <a:r>
              <a:rPr lang="en-US" altLang="zh-CN" dirty="0"/>
              <a:t>5</a:t>
            </a:r>
            <a:r>
              <a:rPr lang="en-US" altLang="zh-CN" smtClean="0"/>
              <a:t>0</a:t>
            </a:r>
            <a:r>
              <a:rPr lang="en-US" altLang="zh-CN" dirty="0"/>
              <a:t>%</a:t>
            </a:r>
            <a:endParaRPr lang="zh-CN" altLang="zh-CN" dirty="0"/>
          </a:p>
          <a:p>
            <a:pPr lvl="2"/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作业分组规则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9174" y="1196123"/>
            <a:ext cx="10334626" cy="4980840"/>
          </a:xfrm>
        </p:spPr>
        <p:txBody>
          <a:bodyPr/>
          <a:lstStyle/>
          <a:p>
            <a:r>
              <a:rPr lang="zh-CN" altLang="en-US" smtClean="0"/>
              <a:t>每个小组由</a:t>
            </a:r>
            <a:r>
              <a:rPr lang="en-US" altLang="zh-CN" smtClean="0"/>
              <a:t>5~6</a:t>
            </a:r>
            <a:r>
              <a:rPr lang="zh-CN" altLang="en-US" smtClean="0"/>
              <a:t>人组成</a:t>
            </a:r>
            <a:endParaRPr lang="en-US" altLang="zh-CN" dirty="0" smtClean="0"/>
          </a:p>
          <a:p>
            <a:r>
              <a:rPr lang="zh-CN" altLang="en-US" smtClean="0"/>
              <a:t>每个小组自己选出</a:t>
            </a:r>
            <a:r>
              <a:rPr lang="zh-CN" altLang="en-US" dirty="0" smtClean="0"/>
              <a:t>一位组长，负责提交作业</a:t>
            </a:r>
            <a:endParaRPr lang="en-US" altLang="zh-CN" dirty="0" smtClean="0"/>
          </a:p>
          <a:p>
            <a:r>
              <a:rPr lang="zh-CN" altLang="en-US" dirty="0" smtClean="0"/>
              <a:t>作业</a:t>
            </a:r>
            <a:r>
              <a:rPr lang="en-US" altLang="zh-CN" dirty="0" smtClean="0"/>
              <a:t>1</a:t>
            </a:r>
            <a:r>
              <a:rPr lang="zh-CN" altLang="en-US" dirty="0" smtClean="0"/>
              <a:t>和作业</a:t>
            </a:r>
            <a:r>
              <a:rPr lang="en-US" altLang="zh-CN" dirty="0" smtClean="0"/>
              <a:t>2</a:t>
            </a:r>
            <a:r>
              <a:rPr lang="zh-CN" altLang="en-US" dirty="0" smtClean="0"/>
              <a:t>按小组独立完成</a:t>
            </a:r>
            <a:endParaRPr lang="zh-CN" altLang="en-US" dirty="0" smtClean="0"/>
          </a:p>
          <a:p>
            <a:r>
              <a:rPr lang="zh-CN" altLang="en-US" dirty="0"/>
              <a:t>作业</a:t>
            </a:r>
            <a:r>
              <a:rPr lang="en-US" altLang="zh-CN" dirty="0"/>
              <a:t>3</a:t>
            </a:r>
            <a:r>
              <a:rPr lang="zh-CN" altLang="en-US" dirty="0"/>
              <a:t>（系统验收）可</a:t>
            </a:r>
            <a:r>
              <a:rPr lang="en-US" altLang="zh-CN" dirty="0"/>
              <a:t>3~5</a:t>
            </a:r>
            <a:r>
              <a:rPr lang="zh-CN" altLang="en-US" dirty="0"/>
              <a:t>个小组联合验收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 bwMode="auto">
          <a:xfrm>
            <a:off x="-1" y="2278665"/>
            <a:ext cx="12192001" cy="2110455"/>
          </a:xfrm>
          <a:prstGeom prst="rect">
            <a:avLst/>
          </a:prstGeom>
          <a:solidFill>
            <a:schemeClr val="bg1">
              <a:alpha val="84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prstClr val="black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95992" y="2779894"/>
            <a:ext cx="690463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smtClean="0">
                <a:solidFill>
                  <a:srgbClr val="4266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 &amp; A</a:t>
            </a:r>
            <a:endParaRPr lang="en-US" altLang="zh-CN" sz="6600" b="1" smtClean="0">
              <a:solidFill>
                <a:srgbClr val="4266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00-09同学提问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468099" y="6089014"/>
            <a:ext cx="609600" cy="6096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3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 mute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812*359"/>
  <p:tag name="TABLE_ENDDRAG_RECT" val="81*79*812*359"/>
</p:tagLst>
</file>

<file path=ppt/tags/tag2.xml><?xml version="1.0" encoding="utf-8"?>
<p:tagLst xmlns:p="http://schemas.openxmlformats.org/presentationml/2006/main">
  <p:tag name="commondata" val="eyJoZGlkIjoiMjQ0ZTU5YmU0ZDZiN2JiMDdkNjJjNzRjNjQ5OGFmM2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2015 PPT 模板</Template>
  <TotalTime>0</TotalTime>
  <Words>1189</Words>
  <Application>WPS 演示</Application>
  <PresentationFormat>宽屏</PresentationFormat>
  <Paragraphs>141</Paragraphs>
  <Slides>9</Slides>
  <Notes>2</Notes>
  <HiddenSlides>0</HiddenSlides>
  <MMClips>9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MV Boli</vt:lpstr>
      <vt:lpstr>Segoe UI</vt:lpstr>
      <vt:lpstr>Impact</vt:lpstr>
      <vt:lpstr>Calibri</vt:lpstr>
      <vt:lpstr>Arial Unicode MS</vt:lpstr>
      <vt:lpstr>Calibri Light</vt:lpstr>
      <vt:lpstr>Office 主题</vt:lpstr>
      <vt:lpstr>PowerPoint 演示文稿</vt:lpstr>
      <vt:lpstr>教学目标</vt:lpstr>
      <vt:lpstr>教学内容及学时安排</vt:lpstr>
      <vt:lpstr>教学方法</vt:lpstr>
      <vt:lpstr>教学重点及难点</vt:lpstr>
      <vt:lpstr>教材</vt:lpstr>
      <vt:lpstr>课程考核</vt:lpstr>
      <vt:lpstr>作业分组规则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</dc:creator>
  <cp:lastModifiedBy>api</cp:lastModifiedBy>
  <cp:revision>127</cp:revision>
  <dcterms:created xsi:type="dcterms:W3CDTF">2015-02-11T08:09:00Z</dcterms:created>
  <dcterms:modified xsi:type="dcterms:W3CDTF">2026-03-02T01:08:12Z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DD7B15D397D0465CAD5AE205259B8C51_12</vt:lpwstr>
  </property>
</Properties>
</file>