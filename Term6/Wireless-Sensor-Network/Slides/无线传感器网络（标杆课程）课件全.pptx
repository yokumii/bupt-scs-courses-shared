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3"/>
  </p:notesMasterIdLst>
  <p:sldIdLst>
    <p:sldId id="258" r:id="rId2"/>
    <p:sldId id="278" r:id="rId3"/>
    <p:sldId id="279" r:id="rId4"/>
    <p:sldId id="280" r:id="rId5"/>
    <p:sldId id="281" r:id="rId6"/>
    <p:sldId id="282" r:id="rId7"/>
    <p:sldId id="283" r:id="rId8"/>
    <p:sldId id="284" r:id="rId9"/>
    <p:sldId id="285" r:id="rId10"/>
    <p:sldId id="800" r:id="rId11"/>
    <p:sldId id="286" r:id="rId12"/>
    <p:sldId id="801" r:id="rId13"/>
    <p:sldId id="288" r:id="rId14"/>
    <p:sldId id="289" r:id="rId15"/>
    <p:sldId id="802" r:id="rId16"/>
    <p:sldId id="291" r:id="rId17"/>
    <p:sldId id="803" r:id="rId18"/>
    <p:sldId id="292" r:id="rId19"/>
    <p:sldId id="293" r:id="rId20"/>
    <p:sldId id="294" r:id="rId21"/>
    <p:sldId id="295" r:id="rId22"/>
    <p:sldId id="804" r:id="rId23"/>
    <p:sldId id="297" r:id="rId24"/>
    <p:sldId id="298" r:id="rId25"/>
    <p:sldId id="299" r:id="rId26"/>
    <p:sldId id="805" r:id="rId27"/>
    <p:sldId id="301" r:id="rId28"/>
    <p:sldId id="302" r:id="rId29"/>
    <p:sldId id="387" r:id="rId30"/>
    <p:sldId id="388" r:id="rId31"/>
    <p:sldId id="389" r:id="rId32"/>
    <p:sldId id="390" r:id="rId33"/>
    <p:sldId id="391" r:id="rId34"/>
    <p:sldId id="392" r:id="rId35"/>
    <p:sldId id="393" r:id="rId36"/>
    <p:sldId id="394" r:id="rId37"/>
    <p:sldId id="807" r:id="rId38"/>
    <p:sldId id="396" r:id="rId39"/>
    <p:sldId id="397" r:id="rId40"/>
    <p:sldId id="398" r:id="rId41"/>
    <p:sldId id="399" r:id="rId42"/>
    <p:sldId id="400" r:id="rId43"/>
    <p:sldId id="401" r:id="rId44"/>
    <p:sldId id="402" r:id="rId45"/>
    <p:sldId id="403" r:id="rId46"/>
    <p:sldId id="404" r:id="rId47"/>
    <p:sldId id="405" r:id="rId48"/>
    <p:sldId id="808" r:id="rId49"/>
    <p:sldId id="435" r:id="rId50"/>
    <p:sldId id="436" r:id="rId51"/>
    <p:sldId id="437" r:id="rId52"/>
    <p:sldId id="438" r:id="rId53"/>
    <p:sldId id="439" r:id="rId54"/>
    <p:sldId id="440" r:id="rId55"/>
    <p:sldId id="441" r:id="rId56"/>
    <p:sldId id="442" r:id="rId57"/>
    <p:sldId id="809" r:id="rId58"/>
    <p:sldId id="445" r:id="rId59"/>
    <p:sldId id="446" r:id="rId60"/>
    <p:sldId id="447" r:id="rId61"/>
    <p:sldId id="448" r:id="rId62"/>
    <p:sldId id="449" r:id="rId63"/>
    <p:sldId id="463" r:id="rId64"/>
    <p:sldId id="810" r:id="rId65"/>
    <p:sldId id="811" r:id="rId66"/>
    <p:sldId id="812" r:id="rId67"/>
    <p:sldId id="813" r:id="rId68"/>
    <p:sldId id="814" r:id="rId69"/>
    <p:sldId id="395" r:id="rId70"/>
    <p:sldId id="815" r:id="rId71"/>
    <p:sldId id="816" r:id="rId72"/>
    <p:sldId id="817" r:id="rId73"/>
    <p:sldId id="818" r:id="rId74"/>
    <p:sldId id="820" r:id="rId75"/>
    <p:sldId id="821" r:id="rId76"/>
    <p:sldId id="822" r:id="rId77"/>
    <p:sldId id="823" r:id="rId78"/>
    <p:sldId id="406" r:id="rId79"/>
    <p:sldId id="408" r:id="rId80"/>
    <p:sldId id="411" r:id="rId81"/>
    <p:sldId id="412" r:id="rId82"/>
    <p:sldId id="413" r:id="rId83"/>
    <p:sldId id="415" r:id="rId84"/>
    <p:sldId id="416" r:id="rId85"/>
    <p:sldId id="418" r:id="rId86"/>
    <p:sldId id="420" r:id="rId87"/>
    <p:sldId id="421" r:id="rId88"/>
    <p:sldId id="423" r:id="rId89"/>
    <p:sldId id="424" r:id="rId90"/>
    <p:sldId id="825" r:id="rId91"/>
    <p:sldId id="426" r:id="rId92"/>
    <p:sldId id="427" r:id="rId93"/>
    <p:sldId id="429" r:id="rId94"/>
    <p:sldId id="430" r:id="rId95"/>
    <p:sldId id="431" r:id="rId96"/>
    <p:sldId id="434" r:id="rId97"/>
    <p:sldId id="826" r:id="rId98"/>
    <p:sldId id="827" r:id="rId99"/>
    <p:sldId id="828" r:id="rId100"/>
    <p:sldId id="829" r:id="rId101"/>
    <p:sldId id="830" r:id="rId102"/>
    <p:sldId id="831" r:id="rId103"/>
    <p:sldId id="832" r:id="rId104"/>
    <p:sldId id="833" r:id="rId105"/>
    <p:sldId id="834" r:id="rId106"/>
    <p:sldId id="835" r:id="rId107"/>
    <p:sldId id="836" r:id="rId108"/>
    <p:sldId id="451" r:id="rId109"/>
    <p:sldId id="452" r:id="rId110"/>
    <p:sldId id="453" r:id="rId111"/>
    <p:sldId id="455" r:id="rId112"/>
    <p:sldId id="456" r:id="rId113"/>
    <p:sldId id="837" r:id="rId114"/>
    <p:sldId id="840" r:id="rId115"/>
    <p:sldId id="841" r:id="rId116"/>
    <p:sldId id="839" r:id="rId117"/>
    <p:sldId id="842" r:id="rId118"/>
    <p:sldId id="843" r:id="rId119"/>
    <p:sldId id="844" r:id="rId120"/>
    <p:sldId id="846" r:id="rId121"/>
    <p:sldId id="847" r:id="rId122"/>
    <p:sldId id="848" r:id="rId123"/>
    <p:sldId id="850" r:id="rId124"/>
    <p:sldId id="852" r:id="rId125"/>
    <p:sldId id="853" r:id="rId126"/>
    <p:sldId id="855" r:id="rId127"/>
    <p:sldId id="856" r:id="rId128"/>
    <p:sldId id="407" r:id="rId129"/>
    <p:sldId id="857" r:id="rId130"/>
    <p:sldId id="410" r:id="rId131"/>
    <p:sldId id="858" r:id="rId132"/>
    <p:sldId id="859" r:id="rId133"/>
    <p:sldId id="414" r:id="rId134"/>
    <p:sldId id="883" r:id="rId135"/>
    <p:sldId id="860" r:id="rId136"/>
    <p:sldId id="861" r:id="rId137"/>
    <p:sldId id="417" r:id="rId138"/>
    <p:sldId id="863" r:id="rId139"/>
    <p:sldId id="419" r:id="rId140"/>
    <p:sldId id="864" r:id="rId141"/>
    <p:sldId id="865" r:id="rId142"/>
    <p:sldId id="866" r:id="rId143"/>
    <p:sldId id="867" r:id="rId144"/>
    <p:sldId id="425" r:id="rId145"/>
    <p:sldId id="868" r:id="rId146"/>
    <p:sldId id="869" r:id="rId147"/>
    <p:sldId id="428" r:id="rId148"/>
    <p:sldId id="872" r:id="rId149"/>
    <p:sldId id="873" r:id="rId150"/>
    <p:sldId id="875" r:id="rId151"/>
    <p:sldId id="876" r:id="rId152"/>
    <p:sldId id="877" r:id="rId153"/>
    <p:sldId id="878" r:id="rId154"/>
    <p:sldId id="879" r:id="rId155"/>
    <p:sldId id="880" r:id="rId156"/>
    <p:sldId id="443" r:id="rId157"/>
    <p:sldId id="881" r:id="rId158"/>
    <p:sldId id="884" r:id="rId159"/>
    <p:sldId id="885" r:id="rId160"/>
    <p:sldId id="886" r:id="rId161"/>
    <p:sldId id="887" r:id="rId162"/>
    <p:sldId id="888" r:id="rId163"/>
    <p:sldId id="889" r:id="rId164"/>
    <p:sldId id="819" r:id="rId165"/>
    <p:sldId id="890" r:id="rId166"/>
    <p:sldId id="891" r:id="rId167"/>
    <p:sldId id="450" r:id="rId168"/>
    <p:sldId id="892" r:id="rId169"/>
    <p:sldId id="454" r:id="rId170"/>
    <p:sldId id="893" r:id="rId171"/>
    <p:sldId id="824" r:id="rId172"/>
    <p:sldId id="459" r:id="rId173"/>
    <p:sldId id="457" r:id="rId174"/>
    <p:sldId id="460" r:id="rId175"/>
    <p:sldId id="458" r:id="rId176"/>
    <p:sldId id="462" r:id="rId177"/>
    <p:sldId id="461" r:id="rId178"/>
    <p:sldId id="894" r:id="rId179"/>
    <p:sldId id="464" r:id="rId180"/>
    <p:sldId id="467" r:id="rId181"/>
    <p:sldId id="466" r:id="rId182"/>
    <p:sldId id="465" r:id="rId183"/>
    <p:sldId id="471" r:id="rId184"/>
    <p:sldId id="470" r:id="rId185"/>
    <p:sldId id="469" r:id="rId186"/>
    <p:sldId id="468" r:id="rId187"/>
    <p:sldId id="895" r:id="rId188"/>
    <p:sldId id="472" r:id="rId189"/>
    <p:sldId id="473" r:id="rId190"/>
    <p:sldId id="477" r:id="rId191"/>
    <p:sldId id="476" r:id="rId192"/>
    <p:sldId id="475" r:id="rId193"/>
    <p:sldId id="896" r:id="rId194"/>
    <p:sldId id="474" r:id="rId195"/>
    <p:sldId id="478" r:id="rId196"/>
    <p:sldId id="479" r:id="rId197"/>
    <p:sldId id="901" r:id="rId198"/>
    <p:sldId id="480" r:id="rId199"/>
    <p:sldId id="484" r:id="rId200"/>
    <p:sldId id="483" r:id="rId201"/>
    <p:sldId id="482" r:id="rId202"/>
    <p:sldId id="481" r:id="rId203"/>
    <p:sldId id="898" r:id="rId204"/>
    <p:sldId id="485" r:id="rId205"/>
    <p:sldId id="499" r:id="rId206"/>
    <p:sldId id="500" r:id="rId207"/>
    <p:sldId id="501" r:id="rId208"/>
    <p:sldId id="502" r:id="rId209"/>
    <p:sldId id="503" r:id="rId210"/>
    <p:sldId id="504" r:id="rId211"/>
    <p:sldId id="505" r:id="rId212"/>
    <p:sldId id="506" r:id="rId213"/>
    <p:sldId id="507" r:id="rId214"/>
    <p:sldId id="486" r:id="rId215"/>
    <p:sldId id="899" r:id="rId216"/>
    <p:sldId id="487" r:id="rId217"/>
    <p:sldId id="488" r:id="rId218"/>
    <p:sldId id="489" r:id="rId219"/>
    <p:sldId id="490" r:id="rId220"/>
    <p:sldId id="491" r:id="rId221"/>
    <p:sldId id="508" r:id="rId222"/>
    <p:sldId id="509" r:id="rId223"/>
    <p:sldId id="900" r:id="rId224"/>
    <p:sldId id="510" r:id="rId225"/>
    <p:sldId id="511" r:id="rId226"/>
    <p:sldId id="512" r:id="rId227"/>
    <p:sldId id="1026" r:id="rId228"/>
    <p:sldId id="1027" r:id="rId229"/>
    <p:sldId id="1028" r:id="rId230"/>
    <p:sldId id="1029" r:id="rId231"/>
    <p:sldId id="1030" r:id="rId232"/>
    <p:sldId id="1031" r:id="rId233"/>
    <p:sldId id="1032" r:id="rId234"/>
    <p:sldId id="1033" r:id="rId235"/>
    <p:sldId id="1034" r:id="rId236"/>
    <p:sldId id="1035" r:id="rId237"/>
    <p:sldId id="1036" r:id="rId238"/>
    <p:sldId id="1037" r:id="rId239"/>
    <p:sldId id="1038" r:id="rId240"/>
    <p:sldId id="1039" r:id="rId241"/>
    <p:sldId id="1040" r:id="rId242"/>
    <p:sldId id="1041" r:id="rId243"/>
    <p:sldId id="1042" r:id="rId244"/>
    <p:sldId id="1043" r:id="rId245"/>
    <p:sldId id="1044" r:id="rId246"/>
    <p:sldId id="1045" r:id="rId247"/>
    <p:sldId id="1046" r:id="rId248"/>
    <p:sldId id="1047" r:id="rId249"/>
    <p:sldId id="1048" r:id="rId250"/>
    <p:sldId id="1049" r:id="rId251"/>
    <p:sldId id="1050" r:id="rId252"/>
    <p:sldId id="1051" r:id="rId253"/>
    <p:sldId id="1052" r:id="rId254"/>
    <p:sldId id="1053" r:id="rId255"/>
    <p:sldId id="1054" r:id="rId256"/>
    <p:sldId id="1055" r:id="rId257"/>
    <p:sldId id="1056" r:id="rId258"/>
    <p:sldId id="1057" r:id="rId259"/>
    <p:sldId id="1058" r:id="rId260"/>
    <p:sldId id="1059" r:id="rId261"/>
    <p:sldId id="1060" r:id="rId262"/>
    <p:sldId id="1061" r:id="rId263"/>
    <p:sldId id="1062" r:id="rId264"/>
    <p:sldId id="1063" r:id="rId265"/>
    <p:sldId id="971" r:id="rId266"/>
    <p:sldId id="904" r:id="rId267"/>
    <p:sldId id="905" r:id="rId268"/>
    <p:sldId id="906" r:id="rId269"/>
    <p:sldId id="907" r:id="rId270"/>
    <p:sldId id="908" r:id="rId271"/>
    <p:sldId id="909" r:id="rId272"/>
    <p:sldId id="910" r:id="rId273"/>
    <p:sldId id="911" r:id="rId274"/>
    <p:sldId id="912" r:id="rId275"/>
    <p:sldId id="913" r:id="rId276"/>
    <p:sldId id="974" r:id="rId277"/>
    <p:sldId id="914" r:id="rId278"/>
    <p:sldId id="915" r:id="rId279"/>
    <p:sldId id="916" r:id="rId280"/>
    <p:sldId id="917" r:id="rId281"/>
    <p:sldId id="918" r:id="rId282"/>
    <p:sldId id="919" r:id="rId283"/>
    <p:sldId id="920" r:id="rId284"/>
    <p:sldId id="921" r:id="rId285"/>
    <p:sldId id="922" r:id="rId286"/>
    <p:sldId id="923" r:id="rId287"/>
    <p:sldId id="924" r:id="rId288"/>
    <p:sldId id="925" r:id="rId289"/>
    <p:sldId id="972" r:id="rId290"/>
    <p:sldId id="926" r:id="rId291"/>
    <p:sldId id="973" r:id="rId292"/>
    <p:sldId id="976" r:id="rId293"/>
    <p:sldId id="927" r:id="rId294"/>
    <p:sldId id="928" r:id="rId295"/>
    <p:sldId id="929" r:id="rId296"/>
    <p:sldId id="930" r:id="rId297"/>
    <p:sldId id="931" r:id="rId298"/>
    <p:sldId id="977" r:id="rId299"/>
    <p:sldId id="932" r:id="rId300"/>
    <p:sldId id="933" r:id="rId301"/>
    <p:sldId id="934" r:id="rId302"/>
    <p:sldId id="935" r:id="rId303"/>
    <p:sldId id="936" r:id="rId304"/>
    <p:sldId id="937" r:id="rId305"/>
    <p:sldId id="978" r:id="rId306"/>
    <p:sldId id="940" r:id="rId307"/>
    <p:sldId id="941" r:id="rId308"/>
    <p:sldId id="942" r:id="rId309"/>
    <p:sldId id="943" r:id="rId310"/>
    <p:sldId id="945" r:id="rId311"/>
    <p:sldId id="979" r:id="rId312"/>
    <p:sldId id="948" r:id="rId313"/>
    <p:sldId id="949" r:id="rId314"/>
    <p:sldId id="950" r:id="rId315"/>
    <p:sldId id="951" r:id="rId316"/>
    <p:sldId id="952" r:id="rId317"/>
    <p:sldId id="492" r:id="rId318"/>
    <p:sldId id="493" r:id="rId319"/>
    <p:sldId id="494" r:id="rId320"/>
    <p:sldId id="953" r:id="rId321"/>
    <p:sldId id="980" r:id="rId322"/>
    <p:sldId id="960" r:id="rId323"/>
    <p:sldId id="962" r:id="rId324"/>
    <p:sldId id="963" r:id="rId325"/>
    <p:sldId id="964" r:id="rId326"/>
    <p:sldId id="965" r:id="rId327"/>
    <p:sldId id="970" r:id="rId328"/>
    <p:sldId id="981" r:id="rId329"/>
    <p:sldId id="982" r:id="rId330"/>
    <p:sldId id="983" r:id="rId331"/>
    <p:sldId id="984" r:id="rId332"/>
    <p:sldId id="985" r:id="rId333"/>
    <p:sldId id="986" r:id="rId334"/>
    <p:sldId id="987" r:id="rId335"/>
    <p:sldId id="988" r:id="rId336"/>
    <p:sldId id="989" r:id="rId337"/>
    <p:sldId id="990" r:id="rId338"/>
    <p:sldId id="991" r:id="rId339"/>
    <p:sldId id="838" r:id="rId340"/>
    <p:sldId id="992" r:id="rId341"/>
    <p:sldId id="993" r:id="rId342"/>
    <p:sldId id="994" r:id="rId343"/>
    <p:sldId id="995" r:id="rId344"/>
    <p:sldId id="996" r:id="rId345"/>
    <p:sldId id="997" r:id="rId346"/>
    <p:sldId id="845" r:id="rId347"/>
    <p:sldId id="998" r:id="rId348"/>
    <p:sldId id="999" r:id="rId349"/>
    <p:sldId id="1000" r:id="rId350"/>
    <p:sldId id="849" r:id="rId351"/>
    <p:sldId id="1001" r:id="rId352"/>
    <p:sldId id="851" r:id="rId353"/>
    <p:sldId id="1002" r:id="rId354"/>
    <p:sldId id="1003" r:id="rId355"/>
    <p:sldId id="854" r:id="rId356"/>
    <p:sldId id="1004" r:id="rId357"/>
    <p:sldId id="1005" r:id="rId358"/>
    <p:sldId id="1006" r:id="rId359"/>
    <p:sldId id="1007" r:id="rId360"/>
    <p:sldId id="1008" r:id="rId361"/>
    <p:sldId id="1009" r:id="rId362"/>
    <p:sldId id="870" r:id="rId363"/>
    <p:sldId id="871" r:id="rId364"/>
    <p:sldId id="1010" r:id="rId365"/>
    <p:sldId id="1011" r:id="rId366"/>
    <p:sldId id="874" r:id="rId367"/>
    <p:sldId id="1012" r:id="rId368"/>
    <p:sldId id="1013" r:id="rId369"/>
    <p:sldId id="1014" r:id="rId370"/>
    <p:sldId id="1015" r:id="rId371"/>
    <p:sldId id="1016" r:id="rId372"/>
    <p:sldId id="1017" r:id="rId373"/>
    <p:sldId id="882" r:id="rId374"/>
    <p:sldId id="1018" r:id="rId375"/>
    <p:sldId id="1019" r:id="rId376"/>
    <p:sldId id="1020" r:id="rId377"/>
    <p:sldId id="1021" r:id="rId378"/>
    <p:sldId id="1022" r:id="rId379"/>
    <p:sldId id="1023" r:id="rId380"/>
    <p:sldId id="1024" r:id="rId381"/>
    <p:sldId id="1025" r:id="rId38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7" autoAdjust="0"/>
    <p:restoredTop sz="94660"/>
  </p:normalViewPr>
  <p:slideViewPr>
    <p:cSldViewPr snapToGrid="0">
      <p:cViewPr varScale="1">
        <p:scale>
          <a:sx n="114" d="100"/>
          <a:sy n="114" d="100"/>
        </p:scale>
        <p:origin x="18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324" Type="http://schemas.openxmlformats.org/officeDocument/2006/relationships/slide" Target="slides/slide323.xml"/><Relationship Id="rId345" Type="http://schemas.openxmlformats.org/officeDocument/2006/relationships/slide" Target="slides/slide344.xml"/><Relationship Id="rId366" Type="http://schemas.openxmlformats.org/officeDocument/2006/relationships/slide" Target="slides/slide365.xml"/><Relationship Id="rId387" Type="http://schemas.openxmlformats.org/officeDocument/2006/relationships/tableStyles" Target="tableStyles.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289" Type="http://schemas.openxmlformats.org/officeDocument/2006/relationships/slide" Target="slides/slide288.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314" Type="http://schemas.openxmlformats.org/officeDocument/2006/relationships/slide" Target="slides/slide313.xml"/><Relationship Id="rId335" Type="http://schemas.openxmlformats.org/officeDocument/2006/relationships/slide" Target="slides/slide334.xml"/><Relationship Id="rId356" Type="http://schemas.openxmlformats.org/officeDocument/2006/relationships/slide" Target="slides/slide355.xml"/><Relationship Id="rId377" Type="http://schemas.openxmlformats.org/officeDocument/2006/relationships/slide" Target="slides/slide376.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slide" Target="slides/slide278.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25" Type="http://schemas.openxmlformats.org/officeDocument/2006/relationships/slide" Target="slides/slide324.xml"/><Relationship Id="rId346" Type="http://schemas.openxmlformats.org/officeDocument/2006/relationships/slide" Target="slides/slide345.xml"/><Relationship Id="rId367" Type="http://schemas.openxmlformats.org/officeDocument/2006/relationships/slide" Target="slides/slide366.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315" Type="http://schemas.openxmlformats.org/officeDocument/2006/relationships/slide" Target="slides/slide314.xml"/><Relationship Id="rId336" Type="http://schemas.openxmlformats.org/officeDocument/2006/relationships/slide" Target="slides/slide335.xml"/><Relationship Id="rId357" Type="http://schemas.openxmlformats.org/officeDocument/2006/relationships/slide" Target="slides/slide356.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378" Type="http://schemas.openxmlformats.org/officeDocument/2006/relationships/slide" Target="slides/slide377.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305" Type="http://schemas.openxmlformats.org/officeDocument/2006/relationships/slide" Target="slides/slide304.xml"/><Relationship Id="rId326" Type="http://schemas.openxmlformats.org/officeDocument/2006/relationships/slide" Target="slides/slide325.xml"/><Relationship Id="rId347" Type="http://schemas.openxmlformats.org/officeDocument/2006/relationships/slide" Target="slides/slide346.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368" Type="http://schemas.openxmlformats.org/officeDocument/2006/relationships/slide" Target="slides/slide367.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16" Type="http://schemas.openxmlformats.org/officeDocument/2006/relationships/slide" Target="slides/slide315.xml"/><Relationship Id="rId337" Type="http://schemas.openxmlformats.org/officeDocument/2006/relationships/slide" Target="slides/slide336.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358" Type="http://schemas.openxmlformats.org/officeDocument/2006/relationships/slide" Target="slides/slide357.xml"/><Relationship Id="rId379" Type="http://schemas.openxmlformats.org/officeDocument/2006/relationships/slide" Target="slides/slide378.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327" Type="http://schemas.openxmlformats.org/officeDocument/2006/relationships/slide" Target="slides/slide326.xml"/><Relationship Id="rId348" Type="http://schemas.openxmlformats.org/officeDocument/2006/relationships/slide" Target="slides/slide347.xml"/><Relationship Id="rId369" Type="http://schemas.openxmlformats.org/officeDocument/2006/relationships/slide" Target="slides/slide368.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380" Type="http://schemas.openxmlformats.org/officeDocument/2006/relationships/slide" Target="slides/slide379.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338" Type="http://schemas.openxmlformats.org/officeDocument/2006/relationships/slide" Target="slides/slide337.xml"/><Relationship Id="rId359" Type="http://schemas.openxmlformats.org/officeDocument/2006/relationships/slide" Target="slides/slide358.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70" Type="http://schemas.openxmlformats.org/officeDocument/2006/relationships/slide" Target="slides/slide369.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381" Type="http://schemas.openxmlformats.org/officeDocument/2006/relationships/slide" Target="slides/slide380.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350" Type="http://schemas.openxmlformats.org/officeDocument/2006/relationships/slide" Target="slides/slide349.xml"/><Relationship Id="rId371" Type="http://schemas.openxmlformats.org/officeDocument/2006/relationships/slide" Target="slides/slide370.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361" Type="http://schemas.openxmlformats.org/officeDocument/2006/relationships/slide" Target="slides/slide360.xml"/><Relationship Id="rId196" Type="http://schemas.openxmlformats.org/officeDocument/2006/relationships/slide" Target="slides/slide195.xml"/><Relationship Id="rId200" Type="http://schemas.openxmlformats.org/officeDocument/2006/relationships/slide" Target="slides/slide199.xml"/><Relationship Id="rId382" Type="http://schemas.openxmlformats.org/officeDocument/2006/relationships/slide" Target="slides/slide381.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openxmlformats.org/officeDocument/2006/relationships/slide" Target="slides/slide371.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383" Type="http://schemas.openxmlformats.org/officeDocument/2006/relationships/notesMaster" Target="notesMasters/notesMaster1.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slide" Target="slides/slide372.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384" Type="http://schemas.openxmlformats.org/officeDocument/2006/relationships/presProps" Target="presProps.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385" Type="http://schemas.openxmlformats.org/officeDocument/2006/relationships/viewProps" Target="viewProps.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386" Type="http://schemas.openxmlformats.org/officeDocument/2006/relationships/theme" Target="theme/theme1.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6B2353-C514-4DD3-813C-16552C4A5C41}" type="datetimeFigureOut">
              <a:rPr lang="zh-CN" altLang="en-US" smtClean="0"/>
              <a:t>2019/12/26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2EEB43-2C74-4712-A087-1797A97B310C}" type="slidenum">
              <a:rPr lang="zh-CN" altLang="en-US" smtClean="0"/>
              <a:t>‹#›</a:t>
            </a:fld>
            <a:endParaRPr lang="zh-CN" altLang="en-US"/>
          </a:p>
        </p:txBody>
      </p:sp>
    </p:spTree>
    <p:extLst>
      <p:ext uri="{BB962C8B-B14F-4D97-AF65-F5344CB8AC3E}">
        <p14:creationId xmlns:p14="http://schemas.microsoft.com/office/powerpoint/2010/main" val="1212154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幻灯片图像占位符 1"/>
          <p:cNvSpPr>
            <a:spLocks noGrp="1" noRot="1" noChangeAspect="1" noTextEdit="1"/>
          </p:cNvSpPr>
          <p:nvPr>
            <p:ph type="sldImg"/>
          </p:nvPr>
        </p:nvSpPr>
        <p:spPr>
          <a:xfrm>
            <a:off x="109538" y="741363"/>
            <a:ext cx="6578600" cy="3702050"/>
          </a:xfrm>
          <a:ln/>
        </p:spPr>
      </p:sp>
      <p:sp>
        <p:nvSpPr>
          <p:cNvPr id="1822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宋体" charset="-122"/>
              <a:ea typeface="宋体" charset="-122"/>
            </a:endParaRPr>
          </a:p>
        </p:txBody>
      </p:sp>
      <p:sp>
        <p:nvSpPr>
          <p:cNvPr id="1822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黑体" pitchFamily="49" charset="-122"/>
              </a:defRPr>
            </a:lvl1pPr>
            <a:lvl2pPr marL="742950" indent="-285750">
              <a:defRPr>
                <a:solidFill>
                  <a:schemeClr val="tx1"/>
                </a:solidFill>
                <a:latin typeface="Arial" charset="0"/>
                <a:ea typeface="黑体" pitchFamily="49" charset="-122"/>
              </a:defRPr>
            </a:lvl2pPr>
            <a:lvl3pPr marL="1143000" indent="-228600">
              <a:defRPr>
                <a:solidFill>
                  <a:schemeClr val="tx1"/>
                </a:solidFill>
                <a:latin typeface="Arial" charset="0"/>
                <a:ea typeface="黑体" pitchFamily="49" charset="-122"/>
              </a:defRPr>
            </a:lvl3pPr>
            <a:lvl4pPr marL="1600200" indent="-228600">
              <a:defRPr>
                <a:solidFill>
                  <a:schemeClr val="tx1"/>
                </a:solidFill>
                <a:latin typeface="Arial" charset="0"/>
                <a:ea typeface="黑体" pitchFamily="49" charset="-122"/>
              </a:defRPr>
            </a:lvl4pPr>
            <a:lvl5pPr marL="2057400" indent="-228600">
              <a:defRPr>
                <a:solidFill>
                  <a:schemeClr val="tx1"/>
                </a:solidFill>
                <a:latin typeface="Arial" charset="0"/>
                <a:ea typeface="黑体" pitchFamily="49" charset="-122"/>
              </a:defRPr>
            </a:lvl5pPr>
            <a:lvl6pPr marL="2514600" indent="-228600" algn="ctr" eaLnBrk="0" fontAlgn="base" hangingPunct="0">
              <a:spcBef>
                <a:spcPct val="0"/>
              </a:spcBef>
              <a:spcAft>
                <a:spcPct val="0"/>
              </a:spcAft>
              <a:defRPr>
                <a:solidFill>
                  <a:schemeClr val="tx1"/>
                </a:solidFill>
                <a:latin typeface="Arial" charset="0"/>
                <a:ea typeface="黑体" pitchFamily="49" charset="-122"/>
              </a:defRPr>
            </a:lvl6pPr>
            <a:lvl7pPr marL="2971800" indent="-228600" algn="ctr" eaLnBrk="0" fontAlgn="base" hangingPunct="0">
              <a:spcBef>
                <a:spcPct val="0"/>
              </a:spcBef>
              <a:spcAft>
                <a:spcPct val="0"/>
              </a:spcAft>
              <a:defRPr>
                <a:solidFill>
                  <a:schemeClr val="tx1"/>
                </a:solidFill>
                <a:latin typeface="Arial" charset="0"/>
                <a:ea typeface="黑体" pitchFamily="49" charset="-122"/>
              </a:defRPr>
            </a:lvl7pPr>
            <a:lvl8pPr marL="3429000" indent="-228600" algn="ctr" eaLnBrk="0" fontAlgn="base" hangingPunct="0">
              <a:spcBef>
                <a:spcPct val="0"/>
              </a:spcBef>
              <a:spcAft>
                <a:spcPct val="0"/>
              </a:spcAft>
              <a:defRPr>
                <a:solidFill>
                  <a:schemeClr val="tx1"/>
                </a:solidFill>
                <a:latin typeface="Arial" charset="0"/>
                <a:ea typeface="黑体" pitchFamily="49" charset="-122"/>
              </a:defRPr>
            </a:lvl8pPr>
            <a:lvl9pPr marL="3886200" indent="-228600" algn="ctr" eaLnBrk="0" fontAlgn="base" hangingPunct="0">
              <a:spcBef>
                <a:spcPct val="0"/>
              </a:spcBef>
              <a:spcAft>
                <a:spcPct val="0"/>
              </a:spcAft>
              <a:defRPr>
                <a:solidFill>
                  <a:schemeClr val="tx1"/>
                </a:solidFill>
                <a:latin typeface="Arial" charset="0"/>
                <a:ea typeface="黑体" pitchFamily="49" charset="-122"/>
              </a:defRPr>
            </a:lvl9pPr>
          </a:lstStyle>
          <a:p>
            <a:fld id="{CE83363D-E40F-49CB-9B14-8763B84BEC4D}" type="slidenum">
              <a:rPr lang="zh-CN" altLang="en-US" smtClean="0">
                <a:latin typeface="宋体" charset="-122"/>
                <a:ea typeface="宋体" charset="-122"/>
              </a:rPr>
              <a:pPr/>
              <a:t>63</a:t>
            </a:fld>
            <a:endParaRPr lang="en-US" altLang="zh-CN">
              <a:latin typeface="宋体" charset="-122"/>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44FBD8C5-5C16-4A69-9CF0-84DC3F40DBEF}" type="datetimeFigureOut">
              <a:rPr lang="zh-CN" altLang="en-US" smtClean="0"/>
              <a:t>2019/12/26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ED3C93-E26C-48D4-B42B-D9353482D3CC}" type="slidenum">
              <a:rPr lang="zh-CN" altLang="en-US" smtClean="0"/>
              <a:t>‹#›</a:t>
            </a:fld>
            <a:endParaRPr lang="zh-CN" altLang="en-US"/>
          </a:p>
        </p:txBody>
      </p:sp>
    </p:spTree>
    <p:extLst>
      <p:ext uri="{BB962C8B-B14F-4D97-AF65-F5344CB8AC3E}">
        <p14:creationId xmlns:p14="http://schemas.microsoft.com/office/powerpoint/2010/main" val="4215865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4FBD8C5-5C16-4A69-9CF0-84DC3F40DBEF}" type="datetimeFigureOut">
              <a:rPr lang="zh-CN" altLang="en-US" smtClean="0"/>
              <a:t>2019/12/26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ED3C93-E26C-48D4-B42B-D9353482D3CC}" type="slidenum">
              <a:rPr lang="zh-CN" altLang="en-US" smtClean="0"/>
              <a:t>‹#›</a:t>
            </a:fld>
            <a:endParaRPr lang="zh-CN" altLang="en-US"/>
          </a:p>
        </p:txBody>
      </p:sp>
    </p:spTree>
    <p:extLst>
      <p:ext uri="{BB962C8B-B14F-4D97-AF65-F5344CB8AC3E}">
        <p14:creationId xmlns:p14="http://schemas.microsoft.com/office/powerpoint/2010/main" val="3958130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44FBD8C5-5C16-4A69-9CF0-84DC3F40DBEF}" type="datetimeFigureOut">
              <a:rPr lang="zh-CN" altLang="en-US" smtClean="0"/>
              <a:t>2019/12/26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ED3C93-E26C-48D4-B42B-D9353482D3CC}" type="slidenum">
              <a:rPr lang="zh-CN" altLang="en-US" smtClean="0"/>
              <a:t>‹#›</a:t>
            </a:fld>
            <a:endParaRPr lang="zh-CN" altLang="en-US"/>
          </a:p>
        </p:txBody>
      </p:sp>
    </p:spTree>
    <p:extLst>
      <p:ext uri="{BB962C8B-B14F-4D97-AF65-F5344CB8AC3E}">
        <p14:creationId xmlns:p14="http://schemas.microsoft.com/office/powerpoint/2010/main" val="353525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4FBD8C5-5C16-4A69-9CF0-84DC3F40DBEF}" type="datetimeFigureOut">
              <a:rPr lang="zh-CN" altLang="en-US" smtClean="0"/>
              <a:t>2019/12/26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ED3C93-E26C-48D4-B42B-D9353482D3CC}" type="slidenum">
              <a:rPr lang="zh-CN" altLang="en-US" smtClean="0"/>
              <a:t>‹#›</a:t>
            </a:fld>
            <a:endParaRPr lang="zh-CN" altLang="en-US"/>
          </a:p>
        </p:txBody>
      </p:sp>
    </p:spTree>
    <p:extLst>
      <p:ext uri="{BB962C8B-B14F-4D97-AF65-F5344CB8AC3E}">
        <p14:creationId xmlns:p14="http://schemas.microsoft.com/office/powerpoint/2010/main" val="1243655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4FBD8C5-5C16-4A69-9CF0-84DC3F40DBEF}" type="datetimeFigureOut">
              <a:rPr lang="zh-CN" altLang="en-US" smtClean="0"/>
              <a:t>2019/12/26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ED3C93-E26C-48D4-B42B-D9353482D3CC}" type="slidenum">
              <a:rPr lang="zh-CN" altLang="en-US" smtClean="0"/>
              <a:t>‹#›</a:t>
            </a:fld>
            <a:endParaRPr lang="zh-CN" altLang="en-US"/>
          </a:p>
        </p:txBody>
      </p:sp>
    </p:spTree>
    <p:extLst>
      <p:ext uri="{BB962C8B-B14F-4D97-AF65-F5344CB8AC3E}">
        <p14:creationId xmlns:p14="http://schemas.microsoft.com/office/powerpoint/2010/main" val="132744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4FBD8C5-5C16-4A69-9CF0-84DC3F40DBEF}" type="datetimeFigureOut">
              <a:rPr lang="zh-CN" altLang="en-US" smtClean="0"/>
              <a:t>2019/12/26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ED3C93-E26C-48D4-B42B-D9353482D3CC}" type="slidenum">
              <a:rPr lang="zh-CN" altLang="en-US" smtClean="0"/>
              <a:t>‹#›</a:t>
            </a:fld>
            <a:endParaRPr lang="zh-CN" altLang="en-US"/>
          </a:p>
        </p:txBody>
      </p:sp>
    </p:spTree>
    <p:extLst>
      <p:ext uri="{BB962C8B-B14F-4D97-AF65-F5344CB8AC3E}">
        <p14:creationId xmlns:p14="http://schemas.microsoft.com/office/powerpoint/2010/main" val="2256158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4FBD8C5-5C16-4A69-9CF0-84DC3F40DBEF}" type="datetimeFigureOut">
              <a:rPr lang="zh-CN" altLang="en-US" smtClean="0"/>
              <a:t>2019/12/26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ED3C93-E26C-48D4-B42B-D9353482D3CC}" type="slidenum">
              <a:rPr lang="zh-CN" altLang="en-US" smtClean="0"/>
              <a:t>‹#›</a:t>
            </a:fld>
            <a:endParaRPr lang="zh-CN" altLang="en-US"/>
          </a:p>
        </p:txBody>
      </p:sp>
    </p:spTree>
    <p:extLst>
      <p:ext uri="{BB962C8B-B14F-4D97-AF65-F5344CB8AC3E}">
        <p14:creationId xmlns:p14="http://schemas.microsoft.com/office/powerpoint/2010/main" val="45093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4FBD8C5-5C16-4A69-9CF0-84DC3F40DBEF}" type="datetimeFigureOut">
              <a:rPr lang="zh-CN" altLang="en-US" smtClean="0"/>
              <a:t>2019/12/26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ED3C93-E26C-48D4-B42B-D9353482D3CC}" type="slidenum">
              <a:rPr lang="zh-CN" altLang="en-US" smtClean="0"/>
              <a:t>‹#›</a:t>
            </a:fld>
            <a:endParaRPr lang="zh-CN" altLang="en-US"/>
          </a:p>
        </p:txBody>
      </p:sp>
    </p:spTree>
    <p:extLst>
      <p:ext uri="{BB962C8B-B14F-4D97-AF65-F5344CB8AC3E}">
        <p14:creationId xmlns:p14="http://schemas.microsoft.com/office/powerpoint/2010/main" val="3881063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4FBD8C5-5C16-4A69-9CF0-84DC3F40DBEF}" type="datetimeFigureOut">
              <a:rPr lang="zh-CN" altLang="en-US" smtClean="0"/>
              <a:t>2019/12/26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ED3C93-E26C-48D4-B42B-D9353482D3CC}" type="slidenum">
              <a:rPr lang="zh-CN" altLang="en-US" smtClean="0"/>
              <a:t>‹#›</a:t>
            </a:fld>
            <a:endParaRPr lang="zh-CN" altLang="en-US"/>
          </a:p>
        </p:txBody>
      </p:sp>
    </p:spTree>
    <p:extLst>
      <p:ext uri="{BB962C8B-B14F-4D97-AF65-F5344CB8AC3E}">
        <p14:creationId xmlns:p14="http://schemas.microsoft.com/office/powerpoint/2010/main" val="307677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4FBD8C5-5C16-4A69-9CF0-84DC3F40DBEF}" type="datetimeFigureOut">
              <a:rPr lang="zh-CN" altLang="en-US" smtClean="0"/>
              <a:t>2019/12/26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ED3C93-E26C-48D4-B42B-D9353482D3CC}" type="slidenum">
              <a:rPr lang="zh-CN" altLang="en-US" smtClean="0"/>
              <a:t>‹#›</a:t>
            </a:fld>
            <a:endParaRPr lang="zh-CN" altLang="en-US"/>
          </a:p>
        </p:txBody>
      </p:sp>
    </p:spTree>
    <p:extLst>
      <p:ext uri="{BB962C8B-B14F-4D97-AF65-F5344CB8AC3E}">
        <p14:creationId xmlns:p14="http://schemas.microsoft.com/office/powerpoint/2010/main" val="3374453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4FBD8C5-5C16-4A69-9CF0-84DC3F40DBEF}" type="datetimeFigureOut">
              <a:rPr lang="zh-CN" altLang="en-US" smtClean="0"/>
              <a:t>2019/12/26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ED3C93-E26C-48D4-B42B-D9353482D3CC}" type="slidenum">
              <a:rPr lang="zh-CN" altLang="en-US" smtClean="0"/>
              <a:t>‹#›</a:t>
            </a:fld>
            <a:endParaRPr lang="zh-CN" altLang="en-US"/>
          </a:p>
        </p:txBody>
      </p:sp>
    </p:spTree>
    <p:extLst>
      <p:ext uri="{BB962C8B-B14F-4D97-AF65-F5344CB8AC3E}">
        <p14:creationId xmlns:p14="http://schemas.microsoft.com/office/powerpoint/2010/main" val="57396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FBD8C5-5C16-4A69-9CF0-84DC3F40DBEF}" type="datetimeFigureOut">
              <a:rPr lang="zh-CN" altLang="en-US" smtClean="0"/>
              <a:t>2019/12/26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ED3C93-E26C-48D4-B42B-D9353482D3CC}" type="slidenum">
              <a:rPr lang="zh-CN" altLang="en-US" smtClean="0"/>
              <a:t>‹#›</a:t>
            </a:fld>
            <a:endParaRPr lang="zh-CN" altLang="en-US"/>
          </a:p>
        </p:txBody>
      </p:sp>
    </p:spTree>
    <p:extLst>
      <p:ext uri="{BB962C8B-B14F-4D97-AF65-F5344CB8AC3E}">
        <p14:creationId xmlns:p14="http://schemas.microsoft.com/office/powerpoint/2010/main" val="21775885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sensoria.com/" TargetMode="External"/><Relationship Id="rId2" Type="http://schemas.openxmlformats.org/officeDocument/2006/relationships/hyperlink" Target="http://www.xbow.com/" TargetMode="External"/><Relationship Id="rId1" Type="http://schemas.openxmlformats.org/officeDocument/2006/relationships/slideLayout" Target="../slideLayouts/slideLayout2.xml"/><Relationship Id="rId6" Type="http://schemas.openxmlformats.org/officeDocument/2006/relationships/hyperlink" Target="http://www.ember.com/" TargetMode="External"/><Relationship Id="rId5" Type="http://schemas.openxmlformats.org/officeDocument/2006/relationships/hyperlink" Target="http://www.dustnetworks.com/" TargetMode="External"/><Relationship Id="rId4" Type="http://schemas.openxmlformats.org/officeDocument/2006/relationships/hyperlink" Target="worldsens.citi.insa-lyon.f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27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3" Type="http://schemas.openxmlformats.org/officeDocument/2006/relationships/image" Target="../media/image181.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338.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183.png"/><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image" Target="../media/image188.png"/><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192.png"/><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2" Type="http://schemas.openxmlformats.org/officeDocument/2006/relationships/image" Target="../media/image840.png"/><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850.png"/><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2" Type="http://schemas.openxmlformats.org/officeDocument/2006/relationships/image" Target="../media/image860.png"/><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870.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368.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880.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37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890.png"/><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2" Type="http://schemas.openxmlformats.org/officeDocument/2006/relationships/image" Target="../media/image900.png"/><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910.png"/><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920.png"/><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440884" y="1767451"/>
            <a:ext cx="5310231" cy="2387600"/>
          </a:xfrm>
        </p:spPr>
        <p:txBody>
          <a:bodyPr>
            <a:normAutofit/>
          </a:bodyPr>
          <a:lstStyle/>
          <a:p>
            <a:pPr algn="just">
              <a:lnSpc>
                <a:spcPct val="150000"/>
              </a:lnSpc>
            </a:pPr>
            <a:r>
              <a:rPr lang="zh-CN" altLang="en-US" sz="5400" b="1" dirty="0">
                <a:solidFill>
                  <a:schemeClr val="accent1">
                    <a:lumMod val="75000"/>
                  </a:schemeClr>
                </a:solidFill>
                <a:latin typeface="微软雅黑" panose="020B0503020204020204" pitchFamily="34" charset="-122"/>
                <a:ea typeface="微软雅黑" panose="020B0503020204020204" pitchFamily="34" charset="-122"/>
                <a:cs typeface="Arial" panose="020B0604020202020204" pitchFamily="34" charset="0"/>
              </a:rPr>
              <a:t>无线传感器网络</a:t>
            </a:r>
            <a:br>
              <a:rPr lang="en-US" altLang="zh-CN" b="1" dirty="0">
                <a:solidFill>
                  <a:srgbClr val="FF0000"/>
                </a:solidFill>
                <a:latin typeface="Arial" panose="020B0604020202020204" pitchFamily="34" charset="0"/>
                <a:cs typeface="Arial" panose="020B0604020202020204" pitchFamily="34" charset="0"/>
              </a:rPr>
            </a:br>
            <a:r>
              <a:rPr lang="en-US" altLang="zh-CN" sz="3200" b="1" dirty="0">
                <a:solidFill>
                  <a:schemeClr val="accent1">
                    <a:lumMod val="75000"/>
                  </a:schemeClr>
                </a:solidFill>
                <a:latin typeface="Arial" panose="020B0604020202020204" pitchFamily="34" charset="0"/>
                <a:cs typeface="Arial" panose="020B0604020202020204" pitchFamily="34" charset="0"/>
              </a:rPr>
              <a:t>W</a:t>
            </a:r>
            <a:r>
              <a:rPr lang="en-US" altLang="zh-CN" sz="3200" b="1" dirty="0">
                <a:solidFill>
                  <a:schemeClr val="tx1">
                    <a:lumMod val="65000"/>
                    <a:lumOff val="35000"/>
                  </a:schemeClr>
                </a:solidFill>
                <a:latin typeface="Arial" panose="020B0604020202020204" pitchFamily="34" charset="0"/>
                <a:cs typeface="Arial" panose="020B0604020202020204" pitchFamily="34" charset="0"/>
              </a:rPr>
              <a:t>ireless </a:t>
            </a:r>
            <a:r>
              <a:rPr lang="en-US" altLang="zh-CN" sz="3200" b="1" dirty="0">
                <a:solidFill>
                  <a:schemeClr val="accent1">
                    <a:lumMod val="75000"/>
                  </a:schemeClr>
                </a:solidFill>
                <a:latin typeface="Arial" panose="020B0604020202020204" pitchFamily="34" charset="0"/>
                <a:cs typeface="Arial" panose="020B0604020202020204" pitchFamily="34" charset="0"/>
              </a:rPr>
              <a:t>S</a:t>
            </a:r>
            <a:r>
              <a:rPr lang="en-US" altLang="zh-CN" sz="3200" b="1" dirty="0">
                <a:solidFill>
                  <a:schemeClr val="tx1">
                    <a:lumMod val="65000"/>
                    <a:lumOff val="35000"/>
                  </a:schemeClr>
                </a:solidFill>
                <a:latin typeface="Arial" panose="020B0604020202020204" pitchFamily="34" charset="0"/>
                <a:cs typeface="Arial" panose="020B0604020202020204" pitchFamily="34" charset="0"/>
              </a:rPr>
              <a:t>ensor </a:t>
            </a:r>
            <a:r>
              <a:rPr lang="en-US" altLang="zh-CN" sz="3200" b="1" dirty="0">
                <a:solidFill>
                  <a:schemeClr val="accent1">
                    <a:lumMod val="75000"/>
                  </a:schemeClr>
                </a:solidFill>
                <a:latin typeface="Arial" panose="020B0604020202020204" pitchFamily="34" charset="0"/>
                <a:cs typeface="Arial" panose="020B0604020202020204" pitchFamily="34" charset="0"/>
              </a:rPr>
              <a:t>N</a:t>
            </a:r>
            <a:r>
              <a:rPr lang="en-US" altLang="zh-CN" sz="3200" b="1" dirty="0">
                <a:solidFill>
                  <a:schemeClr val="tx1">
                    <a:lumMod val="65000"/>
                    <a:lumOff val="35000"/>
                  </a:schemeClr>
                </a:solidFill>
                <a:latin typeface="Arial" panose="020B0604020202020204" pitchFamily="34" charset="0"/>
                <a:cs typeface="Arial" panose="020B0604020202020204" pitchFamily="34" charset="0"/>
              </a:rPr>
              <a:t>etworks</a:t>
            </a:r>
            <a:endParaRPr lang="zh-CN" altLang="en-US" sz="3200" dirty="0">
              <a:solidFill>
                <a:schemeClr val="tx1">
                  <a:lumMod val="65000"/>
                  <a:lumOff val="35000"/>
                </a:schemeClr>
              </a:solidFill>
              <a:latin typeface="Arial" panose="020B0604020202020204" pitchFamily="34" charset="0"/>
              <a:cs typeface="Arial" panose="020B0604020202020204" pitchFamily="34" charset="0"/>
            </a:endParaRPr>
          </a:p>
        </p:txBody>
      </p:sp>
      <p:pic>
        <p:nvPicPr>
          <p:cNvPr id="3" name="Picture 3">
            <a:extLst>
              <a:ext uri="{FF2B5EF4-FFF2-40B4-BE49-F238E27FC236}">
                <a16:creationId xmlns:a16="http://schemas.microsoft.com/office/drawing/2014/main" id="{552DE630-B3F7-4D28-B479-D78C980F0C29}"/>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42029" y="336681"/>
            <a:ext cx="2857248" cy="587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EEEAE578-8DBE-47A6-8A42-3EC237C13196}"/>
              </a:ext>
            </a:extLst>
          </p:cNvPr>
          <p:cNvSpPr/>
          <p:nvPr/>
        </p:nvSpPr>
        <p:spPr>
          <a:xfrm>
            <a:off x="292723" y="399675"/>
            <a:ext cx="7387904" cy="461665"/>
          </a:xfrm>
          <a:prstGeom prst="rect">
            <a:avLst/>
          </a:prstGeom>
        </p:spPr>
        <p:txBody>
          <a:bodyPr wrap="square">
            <a:spAutoFit/>
          </a:bodyPr>
          <a:lstStyle/>
          <a:p>
            <a:pPr>
              <a:spcAft>
                <a:spcPts val="0"/>
              </a:spcAft>
            </a:pPr>
            <a:r>
              <a:rPr lang="en-US" altLang="zh-CN" sz="2400" b="1" kern="1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2019</a:t>
            </a:r>
            <a:r>
              <a:rPr lang="zh-CN" altLang="zh-CN" sz="2400" b="1" kern="1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年高新“标杆课程”</a:t>
            </a:r>
            <a:r>
              <a:rPr lang="zh-CN" altLang="en-US" sz="2400" b="1" kern="1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项目</a:t>
            </a:r>
            <a:endParaRPr lang="zh-CN" altLang="en-US" sz="2400"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 name="副标题 2">
            <a:extLst>
              <a:ext uri="{FF2B5EF4-FFF2-40B4-BE49-F238E27FC236}">
                <a16:creationId xmlns:a16="http://schemas.microsoft.com/office/drawing/2014/main" id="{5CBBDBC0-A8D1-4E89-A9F4-857FB0566E93}"/>
              </a:ext>
            </a:extLst>
          </p:cNvPr>
          <p:cNvSpPr txBox="1">
            <a:spLocks/>
          </p:cNvSpPr>
          <p:nvPr/>
        </p:nvSpPr>
        <p:spPr>
          <a:xfrm>
            <a:off x="0" y="4605111"/>
            <a:ext cx="12192000" cy="124735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altLang="zh-CN" dirty="0">
              <a:latin typeface="微软雅黑" panose="020B0503020204020204" pitchFamily="34" charset="-122"/>
              <a:ea typeface="微软雅黑" panose="020B0503020204020204" pitchFamily="34" charset="-122"/>
            </a:endParaRPr>
          </a:p>
          <a:p>
            <a:r>
              <a:rPr lang="zh-CN" altLang="en-US" sz="3000" b="1" dirty="0">
                <a:latin typeface="微软雅黑" panose="020B0503020204020204" pitchFamily="34" charset="-122"/>
                <a:ea typeface="微软雅黑" panose="020B0503020204020204" pitchFamily="34" charset="-122"/>
              </a:rPr>
              <a:t>计算机学院</a:t>
            </a:r>
            <a:r>
              <a:rPr lang="en-US" altLang="zh-CN" sz="3000" b="1" dirty="0">
                <a:latin typeface="微软雅黑" panose="020B0503020204020204" pitchFamily="34" charset="-122"/>
                <a:ea typeface="微软雅黑" panose="020B0503020204020204" pitchFamily="34" charset="-122"/>
              </a:rPr>
              <a:t>       </a:t>
            </a:r>
            <a:r>
              <a:rPr lang="zh-CN" altLang="en-US" sz="3000" b="1" dirty="0">
                <a:latin typeface="微软雅黑" panose="020B0503020204020204" pitchFamily="34" charset="-122"/>
                <a:ea typeface="微软雅黑" panose="020B0503020204020204" pitchFamily="34" charset="-122"/>
              </a:rPr>
              <a:t>刘   亮</a:t>
            </a: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8510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80541" y="1958537"/>
            <a:ext cx="10030918" cy="2387600"/>
          </a:xfrm>
        </p:spPr>
        <p:txBody>
          <a:bodyPr>
            <a:noAutofit/>
          </a:bodyPr>
          <a:lstStyle/>
          <a:p>
            <a:pPr>
              <a:lnSpc>
                <a:spcPct val="120000"/>
              </a:lnSpc>
            </a:pPr>
            <a:r>
              <a:rPr lang="en-US" altLang="zh-CN" sz="4400" b="1" dirty="0">
                <a:solidFill>
                  <a:schemeClr val="accent1">
                    <a:lumMod val="75000"/>
                  </a:schemeClr>
                </a:solidFill>
                <a:latin typeface="微软雅黑" panose="020B0503020204020204" pitchFamily="34" charset="-122"/>
                <a:ea typeface="微软雅黑" panose="020B0503020204020204" pitchFamily="34" charset="-122"/>
              </a:rPr>
              <a:t>Chapter I</a:t>
            </a:r>
            <a:br>
              <a:rPr lang="en-US" altLang="zh-CN" sz="4400" b="1" dirty="0">
                <a:latin typeface="微软雅黑" panose="020B0503020204020204" pitchFamily="34" charset="-122"/>
                <a:ea typeface="微软雅黑" panose="020B0503020204020204" pitchFamily="34" charset="-122"/>
              </a:rPr>
            </a:br>
            <a:r>
              <a:rPr lang="en-US" altLang="zh-CN" sz="4400" b="1" dirty="0">
                <a:latin typeface="微软雅黑" panose="020B0503020204020204" pitchFamily="34" charset="-122"/>
                <a:ea typeface="微软雅黑" panose="020B0503020204020204" pitchFamily="34" charset="-122"/>
              </a:rPr>
              <a:t>Motivation for a Network of Wireless Sensor Nodes</a:t>
            </a:r>
            <a:endParaRPr lang="zh-CN" altLang="en-US" sz="4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53539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r>
              <a:rPr lang="en-US" altLang="zh-CN" b="1" dirty="0">
                <a:latin typeface="Arial" panose="020B0604020202020204" pitchFamily="34" charset="0"/>
                <a:cs typeface="Arial" panose="020B0604020202020204" pitchFamily="34" charset="0"/>
              </a:rPr>
              <a:t>Definitions and background</a:t>
            </a:r>
          </a:p>
          <a:p>
            <a:r>
              <a:rPr lang="en-US" altLang="zh-CN" dirty="0">
                <a:latin typeface="Arial" panose="020B0604020202020204" pitchFamily="34" charset="0"/>
                <a:cs typeface="Arial" panose="020B0604020202020204" pitchFamily="34" charset="0"/>
              </a:rPr>
              <a:t>Challenges and constraints</a:t>
            </a:r>
          </a:p>
          <a:p>
            <a:r>
              <a:rPr lang="en-US" altLang="zh-CN" dirty="0">
                <a:latin typeface="Arial" panose="020B0604020202020204" pitchFamily="34" charset="0"/>
                <a:cs typeface="Arial" panose="020B0604020202020204" pitchFamily="34" charset="0"/>
              </a:rPr>
              <a:t>Overview of topics covered</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6715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Sensing and Sensors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771682" cy="4351338"/>
          </a:xfrm>
        </p:spPr>
        <p:txBody>
          <a:bodyPr>
            <a:normAutofit/>
          </a:bodyPr>
          <a:lstStyle/>
          <a:p>
            <a:r>
              <a:rPr lang="en-US" altLang="zh-CN" dirty="0">
                <a:solidFill>
                  <a:srgbClr val="FF0000"/>
                </a:solidFill>
                <a:latin typeface="Arial" panose="020B0604020202020204" pitchFamily="34" charset="0"/>
                <a:cs typeface="Arial" panose="020B0604020202020204" pitchFamily="34" charset="0"/>
              </a:rPr>
              <a:t>Sensing:</a:t>
            </a:r>
            <a:r>
              <a:rPr lang="en-US" altLang="zh-CN" dirty="0">
                <a:latin typeface="Arial" panose="020B0604020202020204" pitchFamily="34" charset="0"/>
                <a:cs typeface="Arial" panose="020B0604020202020204" pitchFamily="34" charset="0"/>
              </a:rPr>
              <a:t> technique to gather information about physical objects or areas</a:t>
            </a:r>
          </a:p>
          <a:p>
            <a:r>
              <a:rPr lang="en-US" altLang="zh-CN" dirty="0">
                <a:solidFill>
                  <a:srgbClr val="FF0000"/>
                </a:solidFill>
                <a:latin typeface="Arial" panose="020B0604020202020204" pitchFamily="34" charset="0"/>
                <a:cs typeface="Arial" panose="020B0604020202020204" pitchFamily="34" charset="0"/>
              </a:rPr>
              <a:t>Sensor (transducer): </a:t>
            </a:r>
            <a:r>
              <a:rPr lang="en-US" altLang="zh-CN" dirty="0">
                <a:latin typeface="Arial" panose="020B0604020202020204" pitchFamily="34" charset="0"/>
                <a:cs typeface="Arial" panose="020B0604020202020204" pitchFamily="34" charset="0"/>
              </a:rPr>
              <a:t>object performing a sensing task; converting one form of energy in the physical world into electrical energy</a:t>
            </a:r>
          </a:p>
          <a:p>
            <a:r>
              <a:rPr lang="en-US" altLang="zh-CN" dirty="0">
                <a:latin typeface="Arial" panose="020B0604020202020204" pitchFamily="34" charset="0"/>
                <a:cs typeface="Arial" panose="020B0604020202020204" pitchFamily="34" charset="0"/>
              </a:rPr>
              <a:t>Examples of sensors from biology: the human body</a:t>
            </a:r>
          </a:p>
          <a:p>
            <a:pPr lvl="1"/>
            <a:r>
              <a:rPr lang="en-US" altLang="zh-CN" dirty="0">
                <a:latin typeface="Arial" panose="020B0604020202020204" pitchFamily="34" charset="0"/>
                <a:cs typeface="Arial" panose="020B0604020202020204" pitchFamily="34" charset="0"/>
              </a:rPr>
              <a:t>eyes: capture optical information (</a:t>
            </a:r>
            <a:r>
              <a:rPr lang="en-US" altLang="zh-CN" dirty="0">
                <a:solidFill>
                  <a:srgbClr val="FF0000"/>
                </a:solidFill>
                <a:latin typeface="Arial" panose="020B0604020202020204" pitchFamily="34" charset="0"/>
                <a:cs typeface="Arial" panose="020B0604020202020204" pitchFamily="34" charset="0"/>
              </a:rPr>
              <a:t>light</a:t>
            </a:r>
            <a:r>
              <a:rPr lang="en-US" altLang="zh-CN" dirty="0">
                <a:latin typeface="Arial" panose="020B0604020202020204" pitchFamily="34" charset="0"/>
                <a:cs typeface="Arial" panose="020B0604020202020204" pitchFamily="34" charset="0"/>
              </a:rPr>
              <a:t>)</a:t>
            </a:r>
          </a:p>
          <a:p>
            <a:pPr lvl="1"/>
            <a:r>
              <a:rPr lang="en-US" altLang="zh-CN" dirty="0">
                <a:latin typeface="Arial" panose="020B0604020202020204" pitchFamily="34" charset="0"/>
                <a:cs typeface="Arial" panose="020B0604020202020204" pitchFamily="34" charset="0"/>
              </a:rPr>
              <a:t>ears: capture acoustic information (</a:t>
            </a:r>
            <a:r>
              <a:rPr lang="en-US" altLang="zh-CN" dirty="0">
                <a:solidFill>
                  <a:srgbClr val="FF0000"/>
                </a:solidFill>
                <a:latin typeface="Arial" panose="020B0604020202020204" pitchFamily="34" charset="0"/>
                <a:cs typeface="Arial" panose="020B0604020202020204" pitchFamily="34" charset="0"/>
              </a:rPr>
              <a:t>sound</a:t>
            </a:r>
            <a:r>
              <a:rPr lang="en-US" altLang="zh-CN" dirty="0">
                <a:latin typeface="Arial" panose="020B0604020202020204" pitchFamily="34" charset="0"/>
                <a:cs typeface="Arial" panose="020B0604020202020204" pitchFamily="34" charset="0"/>
              </a:rPr>
              <a:t>)</a:t>
            </a:r>
          </a:p>
          <a:p>
            <a:pPr lvl="1"/>
            <a:r>
              <a:rPr lang="en-US" altLang="zh-CN" dirty="0">
                <a:latin typeface="Arial" panose="020B0604020202020204" pitchFamily="34" charset="0"/>
                <a:cs typeface="Arial" panose="020B0604020202020204" pitchFamily="34" charset="0"/>
              </a:rPr>
              <a:t>nose: captures olfactory information (</a:t>
            </a:r>
            <a:r>
              <a:rPr lang="en-US" altLang="zh-CN" dirty="0">
                <a:solidFill>
                  <a:srgbClr val="FF0000"/>
                </a:solidFill>
                <a:latin typeface="Arial" panose="020B0604020202020204" pitchFamily="34" charset="0"/>
                <a:cs typeface="Arial" panose="020B0604020202020204" pitchFamily="34" charset="0"/>
              </a:rPr>
              <a:t>smell</a:t>
            </a:r>
            <a:r>
              <a:rPr lang="en-US" altLang="zh-CN" dirty="0">
                <a:latin typeface="Arial" panose="020B0604020202020204" pitchFamily="34" charset="0"/>
                <a:cs typeface="Arial" panose="020B0604020202020204" pitchFamily="34" charset="0"/>
              </a:rPr>
              <a:t>)</a:t>
            </a:r>
          </a:p>
          <a:p>
            <a:pPr lvl="1"/>
            <a:r>
              <a:rPr lang="en-US" altLang="zh-CN" dirty="0">
                <a:latin typeface="Arial" panose="020B0604020202020204" pitchFamily="34" charset="0"/>
                <a:cs typeface="Arial" panose="020B0604020202020204" pitchFamily="34" charset="0"/>
              </a:rPr>
              <a:t>skin: captures tactile information (</a:t>
            </a:r>
            <a:r>
              <a:rPr lang="en-US" altLang="zh-CN" dirty="0">
                <a:solidFill>
                  <a:srgbClr val="FF0000"/>
                </a:solidFill>
                <a:latin typeface="Arial" panose="020B0604020202020204" pitchFamily="34" charset="0"/>
                <a:cs typeface="Arial" panose="020B0604020202020204" pitchFamily="34" charset="0"/>
              </a:rPr>
              <a:t>shape</a:t>
            </a:r>
            <a:r>
              <a:rPr lang="en-US" altLang="zh-CN" dirty="0">
                <a:latin typeface="Arial" panose="020B0604020202020204" pitchFamily="34" charset="0"/>
                <a:cs typeface="Arial" panose="020B0604020202020204" pitchFamily="34" charset="0"/>
              </a:rPr>
              <a:t>, </a:t>
            </a:r>
            <a:r>
              <a:rPr lang="en-US" altLang="zh-CN" dirty="0">
                <a:solidFill>
                  <a:srgbClr val="FF0000"/>
                </a:solidFill>
                <a:latin typeface="Arial" panose="020B0604020202020204" pitchFamily="34" charset="0"/>
                <a:cs typeface="Arial" panose="020B0604020202020204" pitchFamily="34" charset="0"/>
              </a:rPr>
              <a:t>texture</a:t>
            </a: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2077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Sensing (Data Acquisition)</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912495"/>
            <a:ext cx="10921584" cy="6327098"/>
          </a:xfrm>
        </p:spPr>
        <p:txBody>
          <a:bodyPr>
            <a:normAutofit fontScale="25000" lnSpcReduction="20000"/>
          </a:bodyPr>
          <a:lstStyle/>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marL="0" indent="0">
              <a:buNone/>
            </a:pPr>
            <a:endParaRPr lang="en-US" altLang="zh-CN" sz="6500" dirty="0">
              <a:latin typeface="Arial" panose="020B0604020202020204" pitchFamily="34" charset="0"/>
              <a:cs typeface="Arial" panose="020B0604020202020204" pitchFamily="34" charset="0"/>
            </a:endParaRPr>
          </a:p>
          <a:p>
            <a:pPr marL="0" indent="0">
              <a:buNone/>
            </a:pPr>
            <a:endParaRPr lang="en-US" altLang="zh-CN" sz="6500" dirty="0">
              <a:latin typeface="Arial" panose="020B0604020202020204" pitchFamily="34" charset="0"/>
              <a:cs typeface="Arial" panose="020B0604020202020204" pitchFamily="34" charset="0"/>
            </a:endParaRPr>
          </a:p>
          <a:p>
            <a:endParaRPr lang="en-US" altLang="zh-CN" sz="6500" dirty="0">
              <a:latin typeface="Arial" panose="020B0604020202020204" pitchFamily="34" charset="0"/>
              <a:cs typeface="Arial" panose="020B0604020202020204" pitchFamily="34" charset="0"/>
            </a:endParaRPr>
          </a:p>
          <a:p>
            <a:pPr>
              <a:lnSpc>
                <a:spcPct val="140000"/>
              </a:lnSpc>
              <a:spcBef>
                <a:spcPts val="0"/>
              </a:spcBef>
            </a:pPr>
            <a:r>
              <a:rPr lang="en-US" altLang="zh-CN" sz="9600" dirty="0">
                <a:solidFill>
                  <a:srgbClr val="FF0000"/>
                </a:solidFill>
                <a:latin typeface="Arial" panose="020B0604020202020204" pitchFamily="34" charset="0"/>
                <a:cs typeface="Arial" panose="020B0604020202020204" pitchFamily="34" charset="0"/>
              </a:rPr>
              <a:t>Sensors</a:t>
            </a:r>
            <a:r>
              <a:rPr lang="en-US" altLang="zh-CN" sz="9600" dirty="0">
                <a:latin typeface="Arial" panose="020B0604020202020204" pitchFamily="34" charset="0"/>
                <a:cs typeface="Arial" panose="020B0604020202020204" pitchFamily="34" charset="0"/>
              </a:rPr>
              <a:t> capture phenomena in the physical world (process, system, plant)</a:t>
            </a:r>
          </a:p>
          <a:p>
            <a:pPr>
              <a:lnSpc>
                <a:spcPct val="140000"/>
              </a:lnSpc>
              <a:spcBef>
                <a:spcPts val="0"/>
              </a:spcBef>
            </a:pPr>
            <a:r>
              <a:rPr lang="en-US" altLang="zh-CN" sz="9600" dirty="0">
                <a:solidFill>
                  <a:srgbClr val="FF0000"/>
                </a:solidFill>
                <a:latin typeface="Arial" panose="020B0604020202020204" pitchFamily="34" charset="0"/>
                <a:cs typeface="Arial" panose="020B0604020202020204" pitchFamily="34" charset="0"/>
              </a:rPr>
              <a:t>Signal conditioning </a:t>
            </a:r>
            <a:r>
              <a:rPr lang="en-US" altLang="zh-CN" sz="9600" dirty="0">
                <a:latin typeface="Arial" panose="020B0604020202020204" pitchFamily="34" charset="0"/>
                <a:cs typeface="Arial" panose="020B0604020202020204" pitchFamily="34" charset="0"/>
              </a:rPr>
              <a:t>prepare captured signals for further use (amplification (</a:t>
            </a:r>
            <a:r>
              <a:rPr lang="zh-CN" altLang="en-US" sz="9600" dirty="0">
                <a:latin typeface="Arial" panose="020B0604020202020204" pitchFamily="34" charset="0"/>
                <a:cs typeface="Arial" panose="020B0604020202020204" pitchFamily="34" charset="0"/>
              </a:rPr>
              <a:t>放大</a:t>
            </a:r>
            <a:r>
              <a:rPr lang="en-US" altLang="zh-CN" sz="9600" dirty="0">
                <a:latin typeface="Arial" panose="020B0604020202020204" pitchFamily="34" charset="0"/>
                <a:cs typeface="Arial" panose="020B0604020202020204" pitchFamily="34" charset="0"/>
              </a:rPr>
              <a:t>), attenuation</a:t>
            </a:r>
            <a:r>
              <a:rPr lang="zh-CN" altLang="en-US" sz="9600" dirty="0">
                <a:latin typeface="Arial" panose="020B0604020202020204" pitchFamily="34" charset="0"/>
                <a:cs typeface="Arial" panose="020B0604020202020204" pitchFamily="34" charset="0"/>
              </a:rPr>
              <a:t> </a:t>
            </a:r>
            <a:r>
              <a:rPr lang="en-US" altLang="zh-CN" sz="9600" dirty="0">
                <a:latin typeface="Arial" panose="020B0604020202020204" pitchFamily="34" charset="0"/>
                <a:cs typeface="Arial" panose="020B0604020202020204" pitchFamily="34" charset="0"/>
              </a:rPr>
              <a:t>(</a:t>
            </a:r>
            <a:r>
              <a:rPr lang="zh-CN" altLang="en-US" sz="9600" dirty="0">
                <a:latin typeface="Arial" panose="020B0604020202020204" pitchFamily="34" charset="0"/>
                <a:cs typeface="Arial" panose="020B0604020202020204" pitchFamily="34" charset="0"/>
              </a:rPr>
              <a:t>衰减</a:t>
            </a:r>
            <a:r>
              <a:rPr lang="en-US" altLang="zh-CN" sz="9600" dirty="0">
                <a:latin typeface="Arial" panose="020B0604020202020204" pitchFamily="34" charset="0"/>
                <a:cs typeface="Arial" panose="020B0604020202020204" pitchFamily="34" charset="0"/>
              </a:rPr>
              <a:t>), filtering of unwanted frequencies...)</a:t>
            </a:r>
          </a:p>
          <a:p>
            <a:pPr>
              <a:lnSpc>
                <a:spcPct val="140000"/>
              </a:lnSpc>
              <a:spcBef>
                <a:spcPts val="0"/>
              </a:spcBef>
            </a:pPr>
            <a:r>
              <a:rPr lang="en-US" altLang="zh-CN" sz="9600" dirty="0">
                <a:solidFill>
                  <a:srgbClr val="FF0000"/>
                </a:solidFill>
                <a:latin typeface="Arial" panose="020B0604020202020204" pitchFamily="34" charset="0"/>
                <a:cs typeface="Arial" panose="020B0604020202020204" pitchFamily="34" charset="0"/>
              </a:rPr>
              <a:t>Analog-to-digital conversion (ADC) </a:t>
            </a:r>
            <a:r>
              <a:rPr lang="en-US" altLang="zh-CN" sz="9600" dirty="0">
                <a:latin typeface="Arial" panose="020B0604020202020204" pitchFamily="34" charset="0"/>
                <a:cs typeface="Arial" panose="020B0604020202020204" pitchFamily="34" charset="0"/>
              </a:rPr>
              <a:t>translates analog signal into digital signal</a:t>
            </a:r>
          </a:p>
          <a:p>
            <a:pPr>
              <a:lnSpc>
                <a:spcPct val="140000"/>
              </a:lnSpc>
              <a:spcBef>
                <a:spcPts val="0"/>
              </a:spcBef>
            </a:pPr>
            <a:r>
              <a:rPr lang="en-US" altLang="zh-CN" sz="9600" dirty="0">
                <a:latin typeface="Arial" panose="020B0604020202020204" pitchFamily="34" charset="0"/>
                <a:cs typeface="Arial" panose="020B0604020202020204" pitchFamily="34" charset="0"/>
              </a:rPr>
              <a:t>Digital signal is processed and output is often given (via digital-analog converter and signal conditioner) to an actuator (device able to </a:t>
            </a:r>
            <a:r>
              <a:rPr lang="en-US" altLang="zh-CN" sz="9600" dirty="0">
                <a:solidFill>
                  <a:srgbClr val="FF0000"/>
                </a:solidFill>
                <a:latin typeface="Arial" panose="020B0604020202020204" pitchFamily="34" charset="0"/>
                <a:cs typeface="Arial" panose="020B0604020202020204" pitchFamily="34" charset="0"/>
              </a:rPr>
              <a:t>control</a:t>
            </a:r>
            <a:r>
              <a:rPr lang="en-US" altLang="zh-CN" sz="9600" dirty="0">
                <a:latin typeface="Arial" panose="020B0604020202020204" pitchFamily="34" charset="0"/>
                <a:cs typeface="Arial" panose="020B0604020202020204" pitchFamily="34" charset="0"/>
              </a:rPr>
              <a:t> the physical world)</a:t>
            </a:r>
          </a:p>
          <a:p>
            <a:pPr lvl="1">
              <a:lnSpc>
                <a:spcPct val="140000"/>
              </a:lnSpc>
            </a:pPr>
            <a:endParaRPr lang="zh-CN" altLang="en-US" dirty="0">
              <a:latin typeface="Arial" panose="020B0604020202020204" pitchFamily="34" charset="0"/>
              <a:cs typeface="Arial" panose="020B0604020202020204" pitchFamily="34" charset="0"/>
            </a:endParaRPr>
          </a:p>
        </p:txBody>
      </p:sp>
      <p:pic>
        <p:nvPicPr>
          <p:cNvPr id="1029" name="Picture 5"/>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val="0"/>
              </a:ext>
            </a:extLst>
          </a:blip>
          <a:srcRect/>
          <a:stretch>
            <a:fillRect/>
          </a:stretch>
        </p:blipFill>
        <p:spPr bwMode="auto">
          <a:xfrm>
            <a:off x="3317824" y="4354643"/>
            <a:ext cx="6374413" cy="2384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4303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微软雅黑" panose="020B0503020204020204" pitchFamily="34" charset="-122"/>
                <a:ea typeface="微软雅黑" panose="020B0503020204020204" pitchFamily="34" charset="-122"/>
              </a:rPr>
              <a:t>Sensor Classifications</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838200" y="1863073"/>
            <a:ext cx="2766934" cy="4351338"/>
          </a:xfrm>
        </p:spPr>
        <p:txBody>
          <a:bodyPr>
            <a:normAutofit/>
          </a:bodyPr>
          <a:lstStyle/>
          <a:p>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Physical property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to be monitored determines type of required sensor</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7627" y="1811311"/>
            <a:ext cx="8275138"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4600733" y="5907799"/>
            <a:ext cx="646331" cy="369332"/>
          </a:xfrm>
          <a:prstGeom prst="rect">
            <a:avLst/>
          </a:prstGeom>
        </p:spPr>
        <p:txBody>
          <a:bodyPr wrap="none">
            <a:spAutoFit/>
          </a:bodyPr>
          <a:lstStyle/>
          <a:p>
            <a:r>
              <a:rPr lang="zh-CN" altLang="en-US" dirty="0"/>
              <a:t>辐射</a:t>
            </a:r>
          </a:p>
        </p:txBody>
      </p:sp>
      <p:sp>
        <p:nvSpPr>
          <p:cNvPr id="5" name="矩形 4"/>
          <p:cNvSpPr/>
          <p:nvPr/>
        </p:nvSpPr>
        <p:spPr>
          <a:xfrm>
            <a:off x="4753133" y="4753131"/>
            <a:ext cx="877163" cy="369332"/>
          </a:xfrm>
          <a:prstGeom prst="rect">
            <a:avLst/>
          </a:prstGeom>
        </p:spPr>
        <p:txBody>
          <a:bodyPr wrap="none">
            <a:spAutoFit/>
          </a:bodyPr>
          <a:lstStyle/>
          <a:p>
            <a:r>
              <a:rPr lang="zh-CN" altLang="en-US" dirty="0"/>
              <a:t>电磁的</a:t>
            </a:r>
          </a:p>
        </p:txBody>
      </p:sp>
      <p:sp>
        <p:nvSpPr>
          <p:cNvPr id="6" name="矩形 5"/>
          <p:cNvSpPr/>
          <p:nvPr/>
        </p:nvSpPr>
        <p:spPr>
          <a:xfrm>
            <a:off x="4600733" y="3697999"/>
            <a:ext cx="877163" cy="369332"/>
          </a:xfrm>
          <a:prstGeom prst="rect">
            <a:avLst/>
          </a:prstGeom>
        </p:spPr>
        <p:txBody>
          <a:bodyPr wrap="none">
            <a:spAutoFit/>
          </a:bodyPr>
          <a:lstStyle/>
          <a:p>
            <a:r>
              <a:rPr lang="zh-CN" altLang="en-US" dirty="0"/>
              <a:t>机械的</a:t>
            </a:r>
          </a:p>
        </p:txBody>
      </p:sp>
    </p:spTree>
    <p:extLst>
      <p:ext uri="{BB962C8B-B14F-4D97-AF65-F5344CB8AC3E}">
        <p14:creationId xmlns:p14="http://schemas.microsoft.com/office/powerpoint/2010/main" val="2749849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Other Classifications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50000"/>
              </a:lnSpc>
            </a:pPr>
            <a:r>
              <a:rPr lang="en-US" altLang="zh-CN" sz="2400" dirty="0">
                <a:latin typeface="Arial" panose="020B0604020202020204" pitchFamily="34" charset="0"/>
                <a:cs typeface="Arial" panose="020B0604020202020204" pitchFamily="34" charset="0"/>
              </a:rPr>
              <a:t>Power supply:</a:t>
            </a:r>
          </a:p>
          <a:p>
            <a:pPr lvl="1">
              <a:lnSpc>
                <a:spcPct val="150000"/>
              </a:lnSpc>
            </a:pPr>
            <a:r>
              <a:rPr lang="en-US" altLang="zh-CN" dirty="0">
                <a:solidFill>
                  <a:srgbClr val="FF0000"/>
                </a:solidFill>
                <a:latin typeface="Arial" panose="020B0604020202020204" pitchFamily="34" charset="0"/>
                <a:cs typeface="Arial" panose="020B0604020202020204" pitchFamily="34" charset="0"/>
              </a:rPr>
              <a:t>active</a:t>
            </a:r>
            <a:r>
              <a:rPr lang="en-US" altLang="zh-CN" dirty="0">
                <a:latin typeface="Arial" panose="020B0604020202020204" pitchFamily="34" charset="0"/>
                <a:cs typeface="Arial" panose="020B0604020202020204" pitchFamily="34" charset="0"/>
              </a:rPr>
              <a:t> sensors require external power, i.e., they emit energy (microwaves, light, sound) to trigger response or detect change in energy of transmitted signal (e.g., electromagnetic proximity sensor)</a:t>
            </a:r>
          </a:p>
          <a:p>
            <a:pPr lvl="1">
              <a:lnSpc>
                <a:spcPct val="150000"/>
              </a:lnSpc>
            </a:pPr>
            <a:r>
              <a:rPr lang="en-US" altLang="zh-CN" dirty="0">
                <a:solidFill>
                  <a:srgbClr val="FF0000"/>
                </a:solidFill>
                <a:latin typeface="Arial" panose="020B0604020202020204" pitchFamily="34" charset="0"/>
                <a:cs typeface="Arial" panose="020B0604020202020204" pitchFamily="34" charset="0"/>
              </a:rPr>
              <a:t>passive</a:t>
            </a:r>
            <a:r>
              <a:rPr lang="en-US" altLang="zh-CN" dirty="0">
                <a:latin typeface="Arial" panose="020B0604020202020204" pitchFamily="34" charset="0"/>
                <a:cs typeface="Arial" panose="020B0604020202020204" pitchFamily="34" charset="0"/>
              </a:rPr>
              <a:t> sensors detect energy in the environment and derive their power from this energy input (e.g., passive infrared</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红外</a:t>
            </a:r>
            <a:r>
              <a:rPr lang="en-US" altLang="zh-CN" dirty="0">
                <a:latin typeface="Arial" panose="020B0604020202020204" pitchFamily="34" charset="0"/>
                <a:cs typeface="Arial" panose="020B0604020202020204" pitchFamily="34" charset="0"/>
              </a:rPr>
              <a:t>) sensor)</a:t>
            </a:r>
          </a:p>
        </p:txBody>
      </p:sp>
    </p:spTree>
    <p:extLst>
      <p:ext uri="{BB962C8B-B14F-4D97-AF65-F5344CB8AC3E}">
        <p14:creationId xmlns:p14="http://schemas.microsoft.com/office/powerpoint/2010/main" val="3310690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Other Classifications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45706"/>
            <a:ext cx="10787743" cy="4351338"/>
          </a:xfrm>
        </p:spPr>
        <p:txBody>
          <a:bodyPr>
            <a:noAutofit/>
          </a:bodyPr>
          <a:lstStyle/>
          <a:p>
            <a:pPr marL="0" lvl="1" indent="0">
              <a:lnSpc>
                <a:spcPct val="120000"/>
              </a:lnSpc>
              <a:buClr>
                <a:schemeClr val="accent1"/>
              </a:buClr>
              <a:buNone/>
            </a:pPr>
            <a:r>
              <a:rPr lang="en-US" altLang="zh-CN" sz="2800" dirty="0">
                <a:latin typeface="Arial" panose="020B0604020202020204" pitchFamily="34" charset="0"/>
                <a:cs typeface="Arial" panose="020B0604020202020204" pitchFamily="34" charset="0"/>
              </a:rPr>
              <a:t>Electrical phenomenon:</a:t>
            </a:r>
          </a:p>
          <a:p>
            <a:pPr>
              <a:lnSpc>
                <a:spcPct val="120000"/>
              </a:lnSpc>
            </a:pPr>
            <a:r>
              <a:rPr lang="en-US" altLang="zh-CN" sz="2400" dirty="0">
                <a:solidFill>
                  <a:srgbClr val="FF0000"/>
                </a:solidFill>
                <a:latin typeface="Arial" panose="020B0604020202020204" pitchFamily="34" charset="0"/>
                <a:cs typeface="Arial" panose="020B0604020202020204" pitchFamily="34" charset="0"/>
              </a:rPr>
              <a:t>resistive</a:t>
            </a:r>
            <a:r>
              <a:rPr lang="en-US" altLang="zh-CN" sz="2400" dirty="0">
                <a:latin typeface="Arial" panose="020B0604020202020204" pitchFamily="34" charset="0"/>
                <a:cs typeface="Arial" panose="020B0604020202020204" pitchFamily="34" charset="0"/>
              </a:rPr>
              <a:t> sensors (</a:t>
            </a:r>
            <a:r>
              <a:rPr lang="zh-CN" altLang="en-US" sz="2400" dirty="0">
                <a:latin typeface="Arial" panose="020B0604020202020204" pitchFamily="34" charset="0"/>
                <a:cs typeface="Arial" panose="020B0604020202020204" pitchFamily="34" charset="0"/>
              </a:rPr>
              <a:t>电阻式传感器</a:t>
            </a:r>
            <a:r>
              <a:rPr lang="en-US" altLang="zh-CN" sz="2400" dirty="0">
                <a:latin typeface="Arial" panose="020B0604020202020204" pitchFamily="34" charset="0"/>
                <a:cs typeface="Arial" panose="020B0604020202020204" pitchFamily="34" charset="0"/>
              </a:rPr>
              <a:t>)</a:t>
            </a:r>
            <a:r>
              <a:rPr lang="zh-CN" altLang="en-US" sz="2400"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use changes in electrical resistivity (ρ) based on physical properties such as temperature (resistance R = ρ*l/A)</a:t>
            </a:r>
          </a:p>
          <a:p>
            <a:pPr>
              <a:lnSpc>
                <a:spcPct val="120000"/>
              </a:lnSpc>
            </a:pPr>
            <a:r>
              <a:rPr lang="en-US" altLang="zh-CN" sz="2400" dirty="0">
                <a:solidFill>
                  <a:srgbClr val="FF0000"/>
                </a:solidFill>
                <a:latin typeface="Arial" panose="020B0604020202020204" pitchFamily="34" charset="0"/>
                <a:cs typeface="Arial" panose="020B0604020202020204" pitchFamily="34" charset="0"/>
              </a:rPr>
              <a:t>capacitive</a:t>
            </a:r>
            <a:r>
              <a:rPr lang="en-US" altLang="zh-CN" sz="2400" dirty="0">
                <a:latin typeface="Arial" panose="020B0604020202020204" pitchFamily="34" charset="0"/>
                <a:cs typeface="Arial" panose="020B0604020202020204" pitchFamily="34" charset="0"/>
              </a:rPr>
              <a:t> sensors (</a:t>
            </a:r>
            <a:r>
              <a:rPr lang="zh-CN" altLang="en-US" sz="2400" dirty="0">
                <a:latin typeface="Arial" panose="020B0604020202020204" pitchFamily="34" charset="0"/>
                <a:cs typeface="Arial" panose="020B0604020202020204" pitchFamily="34" charset="0"/>
              </a:rPr>
              <a:t>电容式传感器</a:t>
            </a:r>
            <a:r>
              <a:rPr lang="en-US" altLang="zh-CN" sz="2400" dirty="0">
                <a:latin typeface="Arial" panose="020B0604020202020204" pitchFamily="34" charset="0"/>
                <a:cs typeface="Arial" panose="020B0604020202020204" pitchFamily="34" charset="0"/>
              </a:rPr>
              <a:t>)</a:t>
            </a:r>
            <a:r>
              <a:rPr lang="zh-CN" altLang="en-US" sz="2400"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use changes in capacitor dimensions or permittivity (</a:t>
            </a:r>
            <a:r>
              <a:rPr lang="zh-CN" altLang="en-US" sz="2400" dirty="0">
                <a:latin typeface="Arial" panose="020B0604020202020204" pitchFamily="34" charset="0"/>
                <a:cs typeface="Arial" panose="020B0604020202020204" pitchFamily="34" charset="0"/>
              </a:rPr>
              <a:t>电容率</a:t>
            </a:r>
            <a:r>
              <a:rPr lang="en-US" altLang="zh-CN" sz="2400" dirty="0">
                <a:latin typeface="Arial" panose="020B0604020202020204" pitchFamily="34" charset="0"/>
                <a:cs typeface="Arial" panose="020B0604020202020204" pitchFamily="34" charset="0"/>
              </a:rPr>
              <a:t>) (ε) based on physical properties (capacitance C = ε*A/d)</a:t>
            </a:r>
          </a:p>
          <a:p>
            <a:pPr>
              <a:lnSpc>
                <a:spcPct val="120000"/>
              </a:lnSpc>
            </a:pPr>
            <a:r>
              <a:rPr lang="en-US" altLang="zh-CN" sz="2400" dirty="0">
                <a:solidFill>
                  <a:srgbClr val="FF0000"/>
                </a:solidFill>
                <a:latin typeface="Arial" panose="020B0604020202020204" pitchFamily="34" charset="0"/>
                <a:cs typeface="Arial" panose="020B0604020202020204" pitchFamily="34" charset="0"/>
              </a:rPr>
              <a:t>inductive</a:t>
            </a:r>
            <a:r>
              <a:rPr lang="en-US" altLang="zh-CN" sz="2400" dirty="0">
                <a:latin typeface="Arial" panose="020B0604020202020204" pitchFamily="34" charset="0"/>
                <a:cs typeface="Arial" panose="020B0604020202020204" pitchFamily="34" charset="0"/>
              </a:rPr>
              <a:t> sensors (</a:t>
            </a:r>
            <a:r>
              <a:rPr lang="zh-CN" altLang="en-US" sz="2400" dirty="0">
                <a:latin typeface="Arial" panose="020B0604020202020204" pitchFamily="34" charset="0"/>
                <a:cs typeface="Arial" panose="020B0604020202020204" pitchFamily="34" charset="0"/>
              </a:rPr>
              <a:t>电感式传感器</a:t>
            </a:r>
            <a:r>
              <a:rPr lang="en-US" altLang="zh-CN" sz="2400" dirty="0">
                <a:latin typeface="Arial" panose="020B0604020202020204" pitchFamily="34" charset="0"/>
                <a:cs typeface="Arial" panose="020B0604020202020204" pitchFamily="34" charset="0"/>
              </a:rPr>
              <a:t>)</a:t>
            </a:r>
            <a:r>
              <a:rPr lang="zh-CN" altLang="en-US" sz="2400"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rely on the principle of inductance</a:t>
            </a:r>
            <a:r>
              <a:rPr lang="zh-CN" altLang="en-US" sz="2400" dirty="0">
                <a:latin typeface="Arial" panose="020B0604020202020204" pitchFamily="34" charset="0"/>
                <a:cs typeface="Arial" panose="020B0604020202020204" pitchFamily="34" charset="0"/>
              </a:rPr>
              <a:t>（感应系数）</a:t>
            </a:r>
            <a:r>
              <a:rPr lang="en-US" altLang="zh-CN" sz="2400" dirty="0">
                <a:latin typeface="Arial" panose="020B0604020202020204" pitchFamily="34" charset="0"/>
                <a:cs typeface="Arial" panose="020B0604020202020204" pitchFamily="34" charset="0"/>
              </a:rPr>
              <a:t>(electromagnetic force is induced by fluctuating current)</a:t>
            </a:r>
          </a:p>
          <a:p>
            <a:pPr>
              <a:lnSpc>
                <a:spcPct val="120000"/>
              </a:lnSpc>
            </a:pPr>
            <a:r>
              <a:rPr lang="en-US" altLang="zh-CN" sz="2400" dirty="0">
                <a:solidFill>
                  <a:srgbClr val="FF0000"/>
                </a:solidFill>
                <a:latin typeface="Arial" panose="020B0604020202020204" pitchFamily="34" charset="0"/>
                <a:cs typeface="Arial" panose="020B0604020202020204" pitchFamily="34" charset="0"/>
              </a:rPr>
              <a:t>piezoelectric</a:t>
            </a:r>
            <a:r>
              <a:rPr lang="en-US" altLang="zh-CN" sz="2400" dirty="0">
                <a:latin typeface="Arial" panose="020B0604020202020204" pitchFamily="34" charset="0"/>
                <a:cs typeface="Arial" panose="020B0604020202020204" pitchFamily="34" charset="0"/>
              </a:rPr>
              <a:t> sensors</a:t>
            </a:r>
            <a:r>
              <a:rPr lang="zh-CN" altLang="en-US" sz="2400" dirty="0">
                <a:latin typeface="Arial" panose="020B0604020202020204" pitchFamily="34" charset="0"/>
                <a:cs typeface="Arial" panose="020B0604020202020204" pitchFamily="34" charset="0"/>
              </a:rPr>
              <a:t>（压电传感器）</a:t>
            </a:r>
            <a:r>
              <a:rPr lang="en-US" altLang="zh-CN" sz="2400" dirty="0">
                <a:latin typeface="Arial" panose="020B0604020202020204" pitchFamily="34" charset="0"/>
                <a:cs typeface="Arial" panose="020B0604020202020204" pitchFamily="34" charset="0"/>
              </a:rPr>
              <a:t>rely on materials (crystals, ceramics) that generate a displacement of charges in response to mechanical deformation</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6051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Wireless Sensor Network (WSN)</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4032412"/>
            <a:ext cx="4638869" cy="8064824"/>
          </a:xfrm>
        </p:spPr>
        <p:txBody>
          <a:bodyPr>
            <a:noAutofit/>
          </a:bodyPr>
          <a:lstStyle/>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r>
              <a:rPr lang="en-US" altLang="zh-CN" sz="2400" dirty="0">
                <a:latin typeface="Arial" panose="020B0604020202020204" pitchFamily="34" charset="0"/>
                <a:cs typeface="Arial" panose="020B0604020202020204" pitchFamily="34" charset="0"/>
              </a:rPr>
              <a:t>Multiple sensors form a network to cooperatively monitor large or complex physical environments</a:t>
            </a:r>
          </a:p>
          <a:p>
            <a:pPr>
              <a:lnSpc>
                <a:spcPct val="120000"/>
              </a:lnSpc>
            </a:pPr>
            <a:r>
              <a:rPr lang="en-US" altLang="zh-CN" sz="2400" dirty="0">
                <a:latin typeface="Arial" panose="020B0604020202020204" pitchFamily="34" charset="0"/>
                <a:cs typeface="Arial" panose="020B0604020202020204" pitchFamily="34" charset="0"/>
              </a:rPr>
              <a:t>Acquired information is wirelessly communicated to a base station (BS), which propagates the information to remote devices for storage, analysis, and processing</a:t>
            </a:r>
            <a:endParaRPr lang="zh-CN" altLang="en-US" sz="2400" dirty="0">
              <a:latin typeface="Arial" panose="020B0604020202020204" pitchFamily="34" charset="0"/>
              <a:cs typeface="Arial" panose="020B0604020202020204" pitchFamily="34"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3917" y="2096482"/>
            <a:ext cx="5461519" cy="3644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0033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History of Wireless Sensor Networks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11021"/>
            <a:ext cx="10515600" cy="4351338"/>
          </a:xfrm>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DARPA: </a:t>
            </a:r>
          </a:p>
          <a:p>
            <a:pPr lvl="1">
              <a:lnSpc>
                <a:spcPct val="120000"/>
              </a:lnSpc>
            </a:pPr>
            <a:r>
              <a:rPr lang="en-US" altLang="zh-CN" sz="2200" dirty="0">
                <a:latin typeface="Arial" panose="020B0604020202020204" pitchFamily="34" charset="0"/>
                <a:cs typeface="Arial" panose="020B0604020202020204" pitchFamily="34" charset="0"/>
              </a:rPr>
              <a:t>Distributed Sensor Nets Workshop (1978)</a:t>
            </a:r>
          </a:p>
          <a:p>
            <a:pPr lvl="1">
              <a:lnSpc>
                <a:spcPct val="120000"/>
              </a:lnSpc>
            </a:pPr>
            <a:r>
              <a:rPr lang="en-US" altLang="zh-CN" sz="2200" dirty="0">
                <a:latin typeface="Arial" panose="020B0604020202020204" pitchFamily="34" charset="0"/>
                <a:cs typeface="Arial" panose="020B0604020202020204" pitchFamily="34" charset="0"/>
              </a:rPr>
              <a:t>Distributed Sensor Networks (DSN) program (early 1980s)</a:t>
            </a:r>
          </a:p>
          <a:p>
            <a:pPr lvl="1">
              <a:lnSpc>
                <a:spcPct val="120000"/>
              </a:lnSpc>
            </a:pPr>
            <a:r>
              <a:rPr lang="en-US" altLang="zh-CN" sz="2200" dirty="0">
                <a:latin typeface="Arial" panose="020B0604020202020204" pitchFamily="34" charset="0"/>
                <a:cs typeface="Arial" panose="020B0604020202020204" pitchFamily="34" charset="0"/>
              </a:rPr>
              <a:t>Sensor Information Technology (</a:t>
            </a:r>
            <a:r>
              <a:rPr lang="en-US" altLang="zh-CN" sz="2200" dirty="0" err="1">
                <a:latin typeface="Arial" panose="020B0604020202020204" pitchFamily="34" charset="0"/>
                <a:cs typeface="Arial" panose="020B0604020202020204" pitchFamily="34" charset="0"/>
              </a:rPr>
              <a:t>SensIT</a:t>
            </a:r>
            <a:r>
              <a:rPr lang="en-US" altLang="zh-CN" sz="2200" dirty="0">
                <a:latin typeface="Arial" panose="020B0604020202020204" pitchFamily="34" charset="0"/>
                <a:cs typeface="Arial" panose="020B0604020202020204" pitchFamily="34" charset="0"/>
              </a:rPr>
              <a:t>) program</a:t>
            </a:r>
          </a:p>
        </p:txBody>
      </p:sp>
      <p:pic>
        <p:nvPicPr>
          <p:cNvPr id="4" name="Picture 5">
            <a:extLst>
              <a:ext uri="{FF2B5EF4-FFF2-40B4-BE49-F238E27FC236}">
                <a16:creationId xmlns:a16="http://schemas.microsoft.com/office/drawing/2014/main" id="{25B7A634-22F7-466A-9A9F-0CFCF88F8C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6992" y="3957054"/>
            <a:ext cx="4164552" cy="233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8EBF2049-571B-4452-BD68-3B9881449E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4824" y="4328439"/>
            <a:ext cx="3582955" cy="1837079"/>
          </a:xfrm>
          <a:prstGeom prst="rect">
            <a:avLst/>
          </a:prstGeom>
        </p:spPr>
      </p:pic>
    </p:spTree>
    <p:extLst>
      <p:ext uri="{BB962C8B-B14F-4D97-AF65-F5344CB8AC3E}">
        <p14:creationId xmlns:p14="http://schemas.microsoft.com/office/powerpoint/2010/main" val="3506633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History of Wireless Sensor Networks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11021"/>
            <a:ext cx="10515600" cy="4881854"/>
          </a:xfrm>
        </p:spPr>
        <p:txBody>
          <a:bodyPr>
            <a:noAutofit/>
          </a:bodyPr>
          <a:lstStyle/>
          <a:p>
            <a:pPr marL="228600" lvl="1">
              <a:lnSpc>
                <a:spcPct val="120000"/>
              </a:lnSpc>
              <a:spcBef>
                <a:spcPts val="1000"/>
              </a:spcBef>
              <a:buClr>
                <a:schemeClr val="accent1"/>
              </a:buClr>
            </a:pPr>
            <a:r>
              <a:rPr lang="en-US" altLang="zh-CN" dirty="0">
                <a:latin typeface="Arial" panose="020B0604020202020204" pitchFamily="34" charset="0"/>
                <a:cs typeface="Arial" panose="020B0604020202020204" pitchFamily="34" charset="0"/>
              </a:rPr>
              <a:t>UCLA and Rockwell Science Center</a:t>
            </a:r>
          </a:p>
          <a:p>
            <a:pPr lvl="1">
              <a:lnSpc>
                <a:spcPct val="120000"/>
              </a:lnSpc>
            </a:pPr>
            <a:r>
              <a:rPr lang="en-US" altLang="zh-CN" sz="2200" dirty="0">
                <a:latin typeface="Arial" panose="020B0604020202020204" pitchFamily="34" charset="0"/>
                <a:cs typeface="Arial" panose="020B0604020202020204" pitchFamily="34" charset="0"/>
              </a:rPr>
              <a:t>Wireless Integrated Network Sensors (WINS)</a:t>
            </a:r>
          </a:p>
          <a:p>
            <a:pPr lvl="1">
              <a:lnSpc>
                <a:spcPct val="120000"/>
              </a:lnSpc>
            </a:pPr>
            <a:r>
              <a:rPr lang="en-US" altLang="zh-CN" sz="2200" dirty="0">
                <a:latin typeface="Arial" panose="020B0604020202020204" pitchFamily="34" charset="0"/>
                <a:cs typeface="Arial" panose="020B0604020202020204" pitchFamily="34" charset="0"/>
              </a:rPr>
              <a:t>Low Power Wireless Integrated </a:t>
            </a:r>
            <a:r>
              <a:rPr lang="en-US" altLang="zh-CN" sz="2200" dirty="0" err="1">
                <a:latin typeface="Arial" panose="020B0604020202020204" pitchFamily="34" charset="0"/>
                <a:cs typeface="Arial" panose="020B0604020202020204" pitchFamily="34" charset="0"/>
              </a:rPr>
              <a:t>Microsensor</a:t>
            </a:r>
            <a:r>
              <a:rPr lang="en-US" altLang="zh-CN" sz="2200" dirty="0">
                <a:latin typeface="Arial" panose="020B0604020202020204" pitchFamily="34" charset="0"/>
                <a:cs typeface="Arial" panose="020B0604020202020204" pitchFamily="34" charset="0"/>
              </a:rPr>
              <a:t> (LWIM) (1996)</a:t>
            </a:r>
          </a:p>
          <a:p>
            <a:pPr marL="228600" lvl="1">
              <a:lnSpc>
                <a:spcPct val="120000"/>
              </a:lnSpc>
              <a:spcBef>
                <a:spcPts val="1000"/>
              </a:spcBef>
              <a:buClr>
                <a:schemeClr val="accent1"/>
              </a:buClr>
            </a:pPr>
            <a:r>
              <a:rPr lang="en-US" altLang="zh-CN" dirty="0">
                <a:latin typeface="Arial" panose="020B0604020202020204" pitchFamily="34" charset="0"/>
                <a:cs typeface="Arial" panose="020B0604020202020204" pitchFamily="34" charset="0"/>
              </a:rPr>
              <a:t>UC-Berkeley</a:t>
            </a:r>
          </a:p>
          <a:p>
            <a:pPr lvl="1">
              <a:lnSpc>
                <a:spcPct val="120000"/>
              </a:lnSpc>
            </a:pPr>
            <a:r>
              <a:rPr lang="en-US" altLang="zh-CN" sz="2200" dirty="0">
                <a:latin typeface="Arial" panose="020B0604020202020204" pitchFamily="34" charset="0"/>
                <a:cs typeface="Arial" panose="020B0604020202020204" pitchFamily="34" charset="0"/>
              </a:rPr>
              <a:t>Smart Dust project (1999)</a:t>
            </a:r>
          </a:p>
          <a:p>
            <a:pPr lvl="1">
              <a:lnSpc>
                <a:spcPct val="120000"/>
              </a:lnSpc>
            </a:pPr>
            <a:r>
              <a:rPr lang="en-US" altLang="zh-CN" sz="2200" dirty="0">
                <a:latin typeface="Arial" panose="020B0604020202020204" pitchFamily="34" charset="0"/>
                <a:cs typeface="Arial" panose="020B0604020202020204" pitchFamily="34" charset="0"/>
              </a:rPr>
              <a:t>concept of “</a:t>
            </a:r>
            <a:r>
              <a:rPr lang="en-US" altLang="zh-CN" sz="2200" dirty="0">
                <a:solidFill>
                  <a:srgbClr val="FF0000"/>
                </a:solidFill>
                <a:latin typeface="Arial" panose="020B0604020202020204" pitchFamily="34" charset="0"/>
                <a:cs typeface="Arial" panose="020B0604020202020204" pitchFamily="34" charset="0"/>
              </a:rPr>
              <a:t>motes</a:t>
            </a:r>
            <a:r>
              <a:rPr lang="en-US" altLang="zh-CN" sz="2200" dirty="0">
                <a:latin typeface="Arial" panose="020B0604020202020204" pitchFamily="34" charset="0"/>
                <a:cs typeface="Arial" panose="020B0604020202020204" pitchFamily="34" charset="0"/>
              </a:rPr>
              <a:t>”: extremely small sensor nodes</a:t>
            </a:r>
          </a:p>
          <a:p>
            <a:pPr marL="228600" lvl="1">
              <a:lnSpc>
                <a:spcPct val="120000"/>
              </a:lnSpc>
              <a:spcBef>
                <a:spcPts val="1000"/>
              </a:spcBef>
              <a:buClr>
                <a:schemeClr val="accent1"/>
              </a:buClr>
            </a:pPr>
            <a:r>
              <a:rPr lang="en-US" altLang="zh-CN" dirty="0">
                <a:latin typeface="Arial" panose="020B0604020202020204" pitchFamily="34" charset="0"/>
                <a:cs typeface="Arial" panose="020B0604020202020204" pitchFamily="34" charset="0"/>
              </a:rPr>
              <a:t>Berkeley Wireless Research Center (BWRC)</a:t>
            </a:r>
          </a:p>
          <a:p>
            <a:pPr lvl="1">
              <a:lnSpc>
                <a:spcPct val="120000"/>
              </a:lnSpc>
            </a:pPr>
            <a:r>
              <a:rPr lang="en-US" altLang="zh-CN" sz="2200" dirty="0" err="1">
                <a:latin typeface="Arial" panose="020B0604020202020204" pitchFamily="34" charset="0"/>
                <a:cs typeface="Arial" panose="020B0604020202020204" pitchFamily="34" charset="0"/>
              </a:rPr>
              <a:t>PicoRadio</a:t>
            </a:r>
            <a:r>
              <a:rPr lang="en-US" altLang="zh-CN" sz="2200" dirty="0">
                <a:latin typeface="Arial" panose="020B0604020202020204" pitchFamily="34" charset="0"/>
                <a:cs typeface="Arial" panose="020B0604020202020204" pitchFamily="34" charset="0"/>
              </a:rPr>
              <a:t> project (2000)</a:t>
            </a:r>
          </a:p>
          <a:p>
            <a:pPr marL="228600" lvl="1">
              <a:lnSpc>
                <a:spcPct val="120000"/>
              </a:lnSpc>
              <a:spcBef>
                <a:spcPts val="1000"/>
              </a:spcBef>
              <a:buClr>
                <a:schemeClr val="accent1"/>
              </a:buClr>
            </a:pPr>
            <a:r>
              <a:rPr lang="en-US" altLang="zh-CN" dirty="0">
                <a:latin typeface="Arial" panose="020B0604020202020204" pitchFamily="34" charset="0"/>
                <a:cs typeface="Arial" panose="020B0604020202020204" pitchFamily="34" charset="0"/>
              </a:rPr>
              <a:t>MIT</a:t>
            </a:r>
          </a:p>
          <a:p>
            <a:pPr lvl="1">
              <a:lnSpc>
                <a:spcPct val="120000"/>
              </a:lnSpc>
            </a:pPr>
            <a:r>
              <a:rPr lang="el-GR" altLang="zh-CN" sz="2200" dirty="0">
                <a:latin typeface="Arial" panose="020B0604020202020204" pitchFamily="34" charset="0"/>
                <a:cs typeface="Arial" panose="020B0604020202020204" pitchFamily="34" charset="0"/>
              </a:rPr>
              <a:t>μ</a:t>
            </a:r>
            <a:r>
              <a:rPr lang="en-US" altLang="zh-CN" sz="2200" dirty="0">
                <a:latin typeface="Arial" panose="020B0604020202020204" pitchFamily="34" charset="0"/>
                <a:cs typeface="Arial" panose="020B0604020202020204" pitchFamily="34" charset="0"/>
              </a:rPr>
              <a:t>AMPS (micro-Adaptive Multidomain Power-aware Sensors) (2005)</a:t>
            </a:r>
            <a:endParaRPr lang="zh-CN" alt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7441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History of Wireless Sensor Networks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11021"/>
            <a:ext cx="10515600" cy="4881854"/>
          </a:xfrm>
        </p:spPr>
        <p:txBody>
          <a:bodyPr>
            <a:noAutofit/>
          </a:bodyPr>
          <a:lstStyle/>
          <a:p>
            <a:pPr marL="0" indent="0">
              <a:lnSpc>
                <a:spcPct val="120000"/>
              </a:lnSpc>
              <a:buNone/>
            </a:pPr>
            <a:r>
              <a:rPr lang="en-US" altLang="zh-CN" b="1" dirty="0">
                <a:latin typeface="Arial" panose="020B0604020202020204" pitchFamily="34" charset="0"/>
                <a:cs typeface="Arial" panose="020B0604020202020204" pitchFamily="34" charset="0"/>
              </a:rPr>
              <a:t>Commercial efforts</a:t>
            </a:r>
          </a:p>
          <a:p>
            <a:pPr marL="0" lvl="1">
              <a:lnSpc>
                <a:spcPct val="120000"/>
              </a:lnSpc>
            </a:pPr>
            <a:r>
              <a:rPr lang="en-US" altLang="zh-CN" dirty="0">
                <a:latin typeface="Arial" panose="020B0604020202020204" pitchFamily="34" charset="0"/>
                <a:cs typeface="Arial" panose="020B0604020202020204" pitchFamily="34" charset="0"/>
              </a:rPr>
              <a:t>Crossbow (</a:t>
            </a:r>
            <a:r>
              <a:rPr lang="en-US" altLang="zh-CN" dirty="0">
                <a:latin typeface="Arial" panose="020B0604020202020204" pitchFamily="34" charset="0"/>
                <a:cs typeface="Arial" panose="020B0604020202020204" pitchFamily="34" charset="0"/>
                <a:hlinkClick r:id="rId2"/>
              </a:rPr>
              <a:t>www.xbow.com</a:t>
            </a:r>
            <a:r>
              <a:rPr lang="en-US" altLang="zh-CN" dirty="0">
                <a:latin typeface="Arial" panose="020B0604020202020204" pitchFamily="34" charset="0"/>
                <a:cs typeface="Arial" panose="020B0604020202020204" pitchFamily="34" charset="0"/>
              </a:rPr>
              <a:t>)</a:t>
            </a:r>
          </a:p>
          <a:p>
            <a:pPr marL="0" lvl="1">
              <a:lnSpc>
                <a:spcPct val="120000"/>
              </a:lnSpc>
            </a:pPr>
            <a:r>
              <a:rPr lang="en-US" altLang="zh-CN" dirty="0">
                <a:latin typeface="Arial" panose="020B0604020202020204" pitchFamily="34" charset="0"/>
                <a:cs typeface="Arial" panose="020B0604020202020204" pitchFamily="34" charset="0"/>
              </a:rPr>
              <a:t>Sensoria (</a:t>
            </a:r>
            <a:r>
              <a:rPr lang="en-US" altLang="zh-CN" dirty="0">
                <a:latin typeface="Arial" panose="020B0604020202020204" pitchFamily="34" charset="0"/>
                <a:cs typeface="Arial" panose="020B0604020202020204" pitchFamily="34" charset="0"/>
                <a:hlinkClick r:id="rId3"/>
              </a:rPr>
              <a:t>www.sensoria.com</a:t>
            </a:r>
            <a:r>
              <a:rPr lang="en-US" altLang="zh-CN" dirty="0">
                <a:latin typeface="Arial" panose="020B0604020202020204" pitchFamily="34" charset="0"/>
                <a:cs typeface="Arial" panose="020B0604020202020204" pitchFamily="34" charset="0"/>
              </a:rPr>
              <a:t>)</a:t>
            </a:r>
          </a:p>
          <a:p>
            <a:pPr marL="0" lvl="1">
              <a:lnSpc>
                <a:spcPct val="120000"/>
              </a:lnSpc>
            </a:pPr>
            <a:r>
              <a:rPr lang="en-US" altLang="zh-CN" dirty="0" err="1">
                <a:latin typeface="Arial" panose="020B0604020202020204" pitchFamily="34" charset="0"/>
                <a:cs typeface="Arial" panose="020B0604020202020204" pitchFamily="34" charset="0"/>
              </a:rPr>
              <a:t>Worldsens</a:t>
            </a:r>
            <a:r>
              <a:rPr lang="en-US" altLang="zh-CN"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hlinkClick r:id="rId4" action="ppaction://hlinkfile"/>
              </a:rPr>
              <a:t>worldsens.citi.insa-lyon.fr</a:t>
            </a:r>
            <a:r>
              <a:rPr lang="en-US" altLang="zh-CN" dirty="0">
                <a:latin typeface="Arial" panose="020B0604020202020204" pitchFamily="34" charset="0"/>
                <a:cs typeface="Arial" panose="020B0604020202020204" pitchFamily="34" charset="0"/>
              </a:rPr>
              <a:t>)</a:t>
            </a:r>
          </a:p>
          <a:p>
            <a:pPr marL="0" lvl="1">
              <a:lnSpc>
                <a:spcPct val="120000"/>
              </a:lnSpc>
            </a:pPr>
            <a:r>
              <a:rPr lang="en-US" altLang="zh-CN" dirty="0">
                <a:latin typeface="Arial" panose="020B0604020202020204" pitchFamily="34" charset="0"/>
                <a:cs typeface="Arial" panose="020B0604020202020204" pitchFamily="34" charset="0"/>
              </a:rPr>
              <a:t>Dust Networks (</a:t>
            </a:r>
            <a:r>
              <a:rPr lang="en-US" altLang="zh-CN" dirty="0">
                <a:latin typeface="Arial" panose="020B0604020202020204" pitchFamily="34" charset="0"/>
                <a:cs typeface="Arial" panose="020B0604020202020204" pitchFamily="34" charset="0"/>
                <a:hlinkClick r:id="rId5"/>
              </a:rPr>
              <a:t>www.dustnetworks.com</a:t>
            </a:r>
            <a:r>
              <a:rPr lang="en-US" altLang="zh-CN" dirty="0">
                <a:latin typeface="Arial" panose="020B0604020202020204" pitchFamily="34" charset="0"/>
                <a:cs typeface="Arial" panose="020B0604020202020204" pitchFamily="34" charset="0"/>
              </a:rPr>
              <a:t>)</a:t>
            </a:r>
          </a:p>
          <a:p>
            <a:pPr marL="0" lvl="1">
              <a:lnSpc>
                <a:spcPct val="120000"/>
              </a:lnSpc>
            </a:pPr>
            <a:r>
              <a:rPr lang="en-US" altLang="zh-CN" dirty="0">
                <a:latin typeface="Arial" panose="020B0604020202020204" pitchFamily="34" charset="0"/>
                <a:cs typeface="Arial" panose="020B0604020202020204" pitchFamily="34" charset="0"/>
              </a:rPr>
              <a:t>Ember Corporation (</a:t>
            </a:r>
            <a:r>
              <a:rPr lang="en-US" altLang="zh-CN" dirty="0">
                <a:latin typeface="Arial" panose="020B0604020202020204" pitchFamily="34" charset="0"/>
                <a:cs typeface="Arial" panose="020B0604020202020204" pitchFamily="34" charset="0"/>
                <a:hlinkClick r:id="rId6"/>
              </a:rPr>
              <a:t>www.ember.com</a:t>
            </a:r>
            <a:r>
              <a:rPr lang="en-US" altLang="zh-CN" dirty="0">
                <a:latin typeface="Arial" panose="020B0604020202020204" pitchFamily="34" charset="0"/>
                <a:cs typeface="Arial" panose="020B0604020202020204" pitchFamily="34" charset="0"/>
              </a:rPr>
              <a:t>)</a:t>
            </a:r>
            <a:endParaRPr lang="zh-CN" alt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1408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WSN Communication</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16044"/>
            <a:ext cx="10881049" cy="5167312"/>
          </a:xfrm>
        </p:spPr>
        <p:txBody>
          <a:bodyPr>
            <a:normAutofit fontScale="92500" lnSpcReduction="20000"/>
          </a:bodyPr>
          <a:lstStyle/>
          <a:p>
            <a:pPr>
              <a:lnSpc>
                <a:spcPct val="120000"/>
              </a:lnSpc>
            </a:pPr>
            <a:r>
              <a:rPr lang="en-US" altLang="zh-CN" sz="2600" dirty="0">
                <a:latin typeface="Arial" panose="020B0604020202020204" pitchFamily="34" charset="0"/>
                <a:cs typeface="Arial" panose="020B0604020202020204" pitchFamily="34" charset="0"/>
              </a:rPr>
              <a:t>Characteristics of typical WSN:</a:t>
            </a:r>
          </a:p>
          <a:p>
            <a:pPr lvl="1">
              <a:lnSpc>
                <a:spcPct val="120000"/>
              </a:lnSpc>
            </a:pPr>
            <a:r>
              <a:rPr lang="en-US" altLang="zh-CN" dirty="0">
                <a:latin typeface="Arial" panose="020B0604020202020204" pitchFamily="34" charset="0"/>
                <a:cs typeface="Arial" panose="020B0604020202020204" pitchFamily="34" charset="0"/>
              </a:rPr>
              <a:t>low data rates</a:t>
            </a:r>
          </a:p>
          <a:p>
            <a:pPr lvl="1">
              <a:lnSpc>
                <a:spcPct val="120000"/>
              </a:lnSpc>
            </a:pPr>
            <a:r>
              <a:rPr lang="en-US" altLang="zh-CN" dirty="0">
                <a:latin typeface="Arial" panose="020B0604020202020204" pitchFamily="34" charset="0"/>
                <a:cs typeface="Arial" panose="020B0604020202020204" pitchFamily="34" charset="0"/>
              </a:rPr>
              <a:t>energy-constrained sensors</a:t>
            </a:r>
          </a:p>
          <a:p>
            <a:pPr marL="228600" lvl="1">
              <a:lnSpc>
                <a:spcPct val="120000"/>
              </a:lnSpc>
              <a:spcBef>
                <a:spcPts val="1000"/>
              </a:spcBef>
              <a:buClr>
                <a:schemeClr val="accent1"/>
              </a:buClr>
            </a:pPr>
            <a:r>
              <a:rPr lang="en-US" altLang="zh-CN" sz="2600" b="1" dirty="0">
                <a:solidFill>
                  <a:schemeClr val="accent1">
                    <a:lumMod val="75000"/>
                  </a:schemeClr>
                </a:solidFill>
                <a:latin typeface="Arial" panose="020B0604020202020204" pitchFamily="34" charset="0"/>
                <a:cs typeface="Arial" panose="020B0604020202020204" pitchFamily="34" charset="0"/>
              </a:rPr>
              <a:t>IEEE 802.11 </a:t>
            </a:r>
            <a:r>
              <a:rPr lang="en-US" altLang="zh-CN" sz="2600" dirty="0">
                <a:latin typeface="Arial" panose="020B0604020202020204" pitchFamily="34" charset="0"/>
                <a:cs typeface="Arial" panose="020B0604020202020204" pitchFamily="34" charset="0"/>
              </a:rPr>
              <a:t>family of standards</a:t>
            </a:r>
          </a:p>
          <a:p>
            <a:pPr lvl="1">
              <a:lnSpc>
                <a:spcPct val="120000"/>
              </a:lnSpc>
            </a:pPr>
            <a:r>
              <a:rPr lang="en-US" altLang="zh-CN" dirty="0">
                <a:latin typeface="Arial" panose="020B0604020202020204" pitchFamily="34" charset="0"/>
                <a:cs typeface="Arial" panose="020B0604020202020204" pitchFamily="34" charset="0"/>
              </a:rPr>
              <a:t>most widely used WLAN protocols for wireless communications in general</a:t>
            </a:r>
          </a:p>
          <a:p>
            <a:pPr lvl="1">
              <a:lnSpc>
                <a:spcPct val="120000"/>
              </a:lnSpc>
            </a:pPr>
            <a:r>
              <a:rPr lang="en-US" altLang="zh-CN" dirty="0">
                <a:latin typeface="Arial" panose="020B0604020202020204" pitchFamily="34" charset="0"/>
                <a:cs typeface="Arial" panose="020B0604020202020204" pitchFamily="34" charset="0"/>
              </a:rPr>
              <a:t>can be found in early sensor networks or sensors networks without stringent energy constraints</a:t>
            </a:r>
          </a:p>
          <a:p>
            <a:pPr marL="228600" lvl="1">
              <a:lnSpc>
                <a:spcPct val="120000"/>
              </a:lnSpc>
              <a:spcBef>
                <a:spcPts val="1000"/>
              </a:spcBef>
              <a:buClr>
                <a:schemeClr val="accent1"/>
              </a:buClr>
            </a:pPr>
            <a:r>
              <a:rPr lang="en-US" altLang="zh-CN" sz="2600" b="1" dirty="0">
                <a:solidFill>
                  <a:schemeClr val="accent1">
                    <a:lumMod val="75000"/>
                  </a:schemeClr>
                </a:solidFill>
                <a:latin typeface="Arial" panose="020B0604020202020204" pitchFamily="34" charset="0"/>
                <a:cs typeface="Arial" panose="020B0604020202020204" pitchFamily="34" charset="0"/>
              </a:rPr>
              <a:t>IEEE 802.15.4 </a:t>
            </a:r>
            <a:r>
              <a:rPr lang="en-US" altLang="zh-CN" sz="2600" dirty="0">
                <a:latin typeface="Arial" panose="020B0604020202020204" pitchFamily="34" charset="0"/>
                <a:cs typeface="Arial" panose="020B0604020202020204" pitchFamily="34" charset="0"/>
              </a:rPr>
              <a:t>is an example for a protocol that has been designed specifically for short-range communications in WSNs</a:t>
            </a:r>
          </a:p>
          <a:p>
            <a:pPr lvl="1">
              <a:lnSpc>
                <a:spcPct val="120000"/>
              </a:lnSpc>
            </a:pPr>
            <a:r>
              <a:rPr lang="en-US" altLang="zh-CN" dirty="0">
                <a:latin typeface="Arial" panose="020B0604020202020204" pitchFamily="34" charset="0"/>
                <a:cs typeface="Arial" panose="020B0604020202020204" pitchFamily="34" charset="0"/>
              </a:rPr>
              <a:t>low data rates</a:t>
            </a:r>
          </a:p>
          <a:p>
            <a:pPr lvl="1">
              <a:lnSpc>
                <a:spcPct val="120000"/>
              </a:lnSpc>
            </a:pPr>
            <a:r>
              <a:rPr lang="en-US" altLang="zh-CN" dirty="0">
                <a:latin typeface="Arial" panose="020B0604020202020204" pitchFamily="34" charset="0"/>
                <a:cs typeface="Arial" panose="020B0604020202020204" pitchFamily="34" charset="0"/>
              </a:rPr>
              <a:t>low power consumption</a:t>
            </a:r>
          </a:p>
          <a:p>
            <a:pPr lvl="1">
              <a:lnSpc>
                <a:spcPct val="120000"/>
              </a:lnSpc>
            </a:pPr>
            <a:r>
              <a:rPr lang="en-US" altLang="zh-CN" dirty="0">
                <a:latin typeface="Arial" panose="020B0604020202020204" pitchFamily="34" charset="0"/>
                <a:cs typeface="Arial" panose="020B0604020202020204" pitchFamily="34" charset="0"/>
              </a:rPr>
              <a:t>widely used in academic and commercial WSN solutions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3964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7A77900B-3D6A-415C-9802-D87CB2FB0A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2963"/>
          <a:stretch/>
        </p:blipFill>
        <p:spPr bwMode="auto">
          <a:xfrm>
            <a:off x="8780106" y="4319806"/>
            <a:ext cx="3311317" cy="2196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Single-Hop versus Multi-Hop</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8464420" cy="5074006"/>
          </a:xfrm>
        </p:spPr>
        <p:txBody>
          <a:bodyPr>
            <a:normAutofit lnSpcReduction="10000"/>
          </a:bodyPr>
          <a:lstStyle/>
          <a:p>
            <a:pPr>
              <a:lnSpc>
                <a:spcPct val="120000"/>
              </a:lnSpc>
            </a:pPr>
            <a:r>
              <a:rPr lang="en-US" altLang="zh-CN" sz="2400" dirty="0">
                <a:latin typeface="Arial" panose="020B0604020202020204" pitchFamily="34" charset="0"/>
                <a:cs typeface="Arial" panose="020B0604020202020204" pitchFamily="34" charset="0"/>
              </a:rPr>
              <a:t>Star topology</a:t>
            </a:r>
          </a:p>
          <a:p>
            <a:pPr lvl="1">
              <a:lnSpc>
                <a:spcPct val="120000"/>
              </a:lnSpc>
            </a:pPr>
            <a:r>
              <a:rPr lang="en-US" altLang="zh-CN" dirty="0">
                <a:latin typeface="Arial" panose="020B0604020202020204" pitchFamily="34" charset="0"/>
                <a:cs typeface="Arial" panose="020B0604020202020204" pitchFamily="34" charset="0"/>
              </a:rPr>
              <a:t>every sensor communicates directly (single-hop) with the base station</a:t>
            </a:r>
          </a:p>
          <a:p>
            <a:pPr lvl="1">
              <a:lnSpc>
                <a:spcPct val="120000"/>
              </a:lnSpc>
            </a:pPr>
            <a:r>
              <a:rPr lang="en-US" altLang="zh-CN" dirty="0">
                <a:latin typeface="Arial" panose="020B0604020202020204" pitchFamily="34" charset="0"/>
                <a:cs typeface="Arial" panose="020B0604020202020204" pitchFamily="34" charset="0"/>
              </a:rPr>
              <a:t>may require large transmit powers and may be infeasible in large geographic areas</a:t>
            </a:r>
          </a:p>
          <a:p>
            <a:pPr marL="228600" lvl="1">
              <a:lnSpc>
                <a:spcPct val="120000"/>
              </a:lnSpc>
              <a:spcBef>
                <a:spcPts val="1000"/>
              </a:spcBef>
              <a:buClr>
                <a:schemeClr val="accent1"/>
              </a:buClr>
            </a:pPr>
            <a:r>
              <a:rPr lang="en-US" altLang="zh-CN" dirty="0">
                <a:latin typeface="Arial" panose="020B0604020202020204" pitchFamily="34" charset="0"/>
                <a:cs typeface="Arial" panose="020B0604020202020204" pitchFamily="34" charset="0"/>
              </a:rPr>
              <a:t>Mesh topology</a:t>
            </a:r>
          </a:p>
          <a:p>
            <a:pPr lvl="1">
              <a:lnSpc>
                <a:spcPct val="120000"/>
              </a:lnSpc>
            </a:pPr>
            <a:r>
              <a:rPr lang="en-US" altLang="zh-CN" dirty="0">
                <a:latin typeface="Arial" panose="020B0604020202020204" pitchFamily="34" charset="0"/>
                <a:cs typeface="Arial" panose="020B0604020202020204" pitchFamily="34" charset="0"/>
              </a:rPr>
              <a:t>sensors serve as relays (forwarders) for other sensor nodes (multi-hop)</a:t>
            </a:r>
          </a:p>
          <a:p>
            <a:pPr lvl="1">
              <a:lnSpc>
                <a:spcPct val="120000"/>
              </a:lnSpc>
            </a:pPr>
            <a:r>
              <a:rPr lang="en-US" altLang="zh-CN" dirty="0">
                <a:latin typeface="Arial" panose="020B0604020202020204" pitchFamily="34" charset="0"/>
                <a:cs typeface="Arial" panose="020B0604020202020204" pitchFamily="34" charset="0"/>
              </a:rPr>
              <a:t>may reduce power consumption and allows for larger coverage</a:t>
            </a:r>
          </a:p>
          <a:p>
            <a:pPr lvl="1">
              <a:lnSpc>
                <a:spcPct val="120000"/>
              </a:lnSpc>
            </a:pPr>
            <a:r>
              <a:rPr lang="en-US" altLang="zh-CN" dirty="0">
                <a:latin typeface="Arial" panose="020B0604020202020204" pitchFamily="34" charset="0"/>
                <a:cs typeface="Arial" panose="020B0604020202020204" pitchFamily="34" charset="0"/>
              </a:rPr>
              <a:t>introduces the problem of routing</a:t>
            </a:r>
            <a:endParaRPr lang="zh-CN" altLang="en-US" dirty="0">
              <a:latin typeface="Arial" panose="020B0604020202020204" pitchFamily="34" charset="0"/>
              <a:cs typeface="Arial" panose="020B0604020202020204" pitchFamily="34" charset="0"/>
            </a:endParaRPr>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58179"/>
          <a:stretch/>
        </p:blipFill>
        <p:spPr bwMode="auto">
          <a:xfrm>
            <a:off x="9060023" y="2042066"/>
            <a:ext cx="2379307" cy="2152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9365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r>
              <a:rPr lang="en-US" altLang="zh-CN" dirty="0">
                <a:latin typeface="Arial" panose="020B0604020202020204" pitchFamily="34" charset="0"/>
                <a:cs typeface="Arial" panose="020B0604020202020204" pitchFamily="34" charset="0"/>
              </a:rPr>
              <a:t>Definitions and background</a:t>
            </a:r>
          </a:p>
          <a:p>
            <a:r>
              <a:rPr lang="en-US" altLang="zh-CN" b="1" dirty="0">
                <a:latin typeface="Arial" panose="020B0604020202020204" pitchFamily="34" charset="0"/>
                <a:cs typeface="Arial" panose="020B0604020202020204" pitchFamily="34" charset="0"/>
              </a:rPr>
              <a:t>Challenges and constraints</a:t>
            </a:r>
          </a:p>
          <a:p>
            <a:r>
              <a:rPr lang="en-US" altLang="zh-CN" dirty="0">
                <a:latin typeface="Arial" panose="020B0604020202020204" pitchFamily="34" charset="0"/>
                <a:cs typeface="Arial" panose="020B0604020202020204" pitchFamily="34" charset="0"/>
              </a:rPr>
              <a:t>Overview of topics covered</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5400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Challenges in WSNs: Energy</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414518" cy="4667250"/>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Sensors typically powered through batteries</a:t>
            </a:r>
          </a:p>
          <a:p>
            <a:pPr lvl="1">
              <a:lnSpc>
                <a:spcPct val="120000"/>
              </a:lnSpc>
            </a:pPr>
            <a:r>
              <a:rPr lang="en-US" altLang="zh-CN" dirty="0">
                <a:latin typeface="Arial" panose="020B0604020202020204" pitchFamily="34" charset="0"/>
                <a:cs typeface="Arial" panose="020B0604020202020204" pitchFamily="34" charset="0"/>
              </a:rPr>
              <a:t>replace battery when depleted</a:t>
            </a:r>
          </a:p>
          <a:p>
            <a:pPr lvl="1">
              <a:lnSpc>
                <a:spcPct val="120000"/>
              </a:lnSpc>
            </a:pPr>
            <a:r>
              <a:rPr lang="en-US" altLang="zh-CN" dirty="0">
                <a:latin typeface="Arial" panose="020B0604020202020204" pitchFamily="34" charset="0"/>
                <a:cs typeface="Arial" panose="020B0604020202020204" pitchFamily="34" charset="0"/>
              </a:rPr>
              <a:t>recharge battery, e.g., using solar power</a:t>
            </a:r>
          </a:p>
          <a:p>
            <a:pPr lvl="1">
              <a:lnSpc>
                <a:spcPct val="120000"/>
              </a:lnSpc>
            </a:pPr>
            <a:r>
              <a:rPr lang="en-US" altLang="zh-CN" dirty="0">
                <a:latin typeface="Arial" panose="020B0604020202020204" pitchFamily="34" charset="0"/>
                <a:cs typeface="Arial" panose="020B0604020202020204" pitchFamily="34" charset="0"/>
              </a:rPr>
              <a:t>discard sensor node when battery depleted</a:t>
            </a:r>
          </a:p>
          <a:p>
            <a:pPr>
              <a:lnSpc>
                <a:spcPct val="120000"/>
              </a:lnSpc>
            </a:pPr>
            <a:r>
              <a:rPr lang="en-US" altLang="zh-CN" sz="2400" dirty="0">
                <a:latin typeface="Arial" panose="020B0604020202020204" pitchFamily="34" charset="0"/>
                <a:cs typeface="Arial" panose="020B0604020202020204" pitchFamily="34" charset="0"/>
              </a:rPr>
              <a:t>For batteries that cannot be recharged, sensor node should be able to operate during its entire </a:t>
            </a:r>
            <a:r>
              <a:rPr lang="en-US" altLang="zh-CN" sz="2400" dirty="0">
                <a:solidFill>
                  <a:srgbClr val="FF0000"/>
                </a:solidFill>
                <a:latin typeface="Arial" panose="020B0604020202020204" pitchFamily="34" charset="0"/>
                <a:cs typeface="Arial" panose="020B0604020202020204" pitchFamily="34" charset="0"/>
              </a:rPr>
              <a:t>mission time </a:t>
            </a:r>
            <a:r>
              <a:rPr lang="en-US" altLang="zh-CN" sz="2400" dirty="0">
                <a:latin typeface="Arial" panose="020B0604020202020204" pitchFamily="34" charset="0"/>
                <a:cs typeface="Arial" panose="020B0604020202020204" pitchFamily="34" charset="0"/>
              </a:rPr>
              <a:t>or until battery can be replaced</a:t>
            </a:r>
          </a:p>
          <a:p>
            <a:pPr>
              <a:lnSpc>
                <a:spcPct val="120000"/>
              </a:lnSpc>
            </a:pPr>
            <a:r>
              <a:rPr lang="en-US" altLang="zh-CN" sz="2400" dirty="0">
                <a:latin typeface="Arial" panose="020B0604020202020204" pitchFamily="34" charset="0"/>
                <a:cs typeface="Arial" panose="020B0604020202020204" pitchFamily="34" charset="0"/>
              </a:rPr>
              <a:t>Energy efficiency is affected by various aspects of sensor node/network design</a:t>
            </a:r>
          </a:p>
        </p:txBody>
      </p:sp>
    </p:spTree>
    <p:extLst>
      <p:ext uri="{BB962C8B-B14F-4D97-AF65-F5344CB8AC3E}">
        <p14:creationId xmlns:p14="http://schemas.microsoft.com/office/powerpoint/2010/main" val="3167242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Challenges in WSNs: Energy</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4817771"/>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Physical layer:</a:t>
            </a:r>
          </a:p>
          <a:p>
            <a:pPr lvl="1">
              <a:lnSpc>
                <a:spcPct val="120000"/>
              </a:lnSpc>
            </a:pPr>
            <a:r>
              <a:rPr lang="en-US" altLang="zh-CN" dirty="0">
                <a:latin typeface="Arial" panose="020B0604020202020204" pitchFamily="34" charset="0"/>
                <a:cs typeface="Arial" panose="020B0604020202020204" pitchFamily="34" charset="0"/>
              </a:rPr>
              <a:t>switching and leakage energy of CMOS-based processors</a:t>
            </a:r>
          </a:p>
          <a:p>
            <a:pPr marL="0" indent="0">
              <a:lnSpc>
                <a:spcPct val="120000"/>
              </a:lnSpc>
              <a:buNone/>
            </a:pPr>
            <a:endParaRPr lang="en-US" altLang="zh-CN" sz="2400" dirty="0">
              <a:latin typeface="Arial" panose="020B0604020202020204" pitchFamily="34" charset="0"/>
              <a:cs typeface="Arial" panose="020B0604020202020204" pitchFamily="34" charset="0"/>
            </a:endParaRPr>
          </a:p>
          <a:p>
            <a:pPr>
              <a:lnSpc>
                <a:spcPct val="120000"/>
              </a:lnSpc>
            </a:pPr>
            <a:r>
              <a:rPr lang="en-US" altLang="zh-CN" sz="2400" dirty="0">
                <a:latin typeface="Arial" panose="020B0604020202020204" pitchFamily="34" charset="0"/>
                <a:cs typeface="Arial" panose="020B0604020202020204" pitchFamily="34" charset="0"/>
              </a:rPr>
              <a:t>Medium access control layer:</a:t>
            </a:r>
          </a:p>
          <a:p>
            <a:pPr lvl="1">
              <a:lnSpc>
                <a:spcPct val="120000"/>
              </a:lnSpc>
            </a:pPr>
            <a:r>
              <a:rPr lang="en-US" altLang="zh-CN" dirty="0">
                <a:latin typeface="Arial" panose="020B0604020202020204" pitchFamily="34" charset="0"/>
                <a:cs typeface="Arial" panose="020B0604020202020204" pitchFamily="34" charset="0"/>
              </a:rPr>
              <a:t>contention-based strategies lead to energy-costly collisions</a:t>
            </a:r>
          </a:p>
          <a:p>
            <a:pPr lvl="1">
              <a:lnSpc>
                <a:spcPct val="120000"/>
              </a:lnSpc>
            </a:pPr>
            <a:r>
              <a:rPr lang="en-US" altLang="zh-CN" dirty="0">
                <a:latin typeface="Arial" panose="020B0604020202020204" pitchFamily="34" charset="0"/>
                <a:cs typeface="Arial" panose="020B0604020202020204" pitchFamily="34" charset="0"/>
              </a:rPr>
              <a:t>problem of idle listening</a:t>
            </a:r>
          </a:p>
          <a:p>
            <a:pPr>
              <a:lnSpc>
                <a:spcPct val="120000"/>
              </a:lnSpc>
            </a:pPr>
            <a:r>
              <a:rPr lang="en-US" altLang="zh-CN" sz="2400" dirty="0">
                <a:latin typeface="Arial" panose="020B0604020202020204" pitchFamily="34" charset="0"/>
                <a:cs typeface="Arial" panose="020B0604020202020204" pitchFamily="34" charset="0"/>
              </a:rPr>
              <a:t>Network layer:</a:t>
            </a:r>
          </a:p>
          <a:p>
            <a:pPr lvl="1">
              <a:lnSpc>
                <a:spcPct val="120000"/>
              </a:lnSpc>
            </a:pPr>
            <a:r>
              <a:rPr lang="en-US" altLang="zh-CN" dirty="0">
                <a:latin typeface="Arial" panose="020B0604020202020204" pitchFamily="34" charset="0"/>
                <a:cs typeface="Arial" panose="020B0604020202020204" pitchFamily="34" charset="0"/>
              </a:rPr>
              <a:t>responsible for finding energy-efficient routes</a:t>
            </a:r>
          </a:p>
        </p:txBody>
      </p:sp>
      <p:pic>
        <p:nvPicPr>
          <p:cNvPr id="4" name="Picture 2">
            <a:extLst>
              <a:ext uri="{FF2B5EF4-FFF2-40B4-BE49-F238E27FC236}">
                <a16:creationId xmlns:a16="http://schemas.microsoft.com/office/drawing/2014/main" id="{0C89CD45-0996-4642-8999-13D1893B19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5187" y="2961411"/>
            <a:ext cx="6125548" cy="40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7688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Challenges in WSNs: Energy</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Operating system:</a:t>
            </a:r>
          </a:p>
          <a:p>
            <a:pPr lvl="1">
              <a:lnSpc>
                <a:spcPct val="120000"/>
              </a:lnSpc>
            </a:pPr>
            <a:r>
              <a:rPr lang="en-US" altLang="zh-CN" dirty="0">
                <a:latin typeface="Arial" panose="020B0604020202020204" pitchFamily="34" charset="0"/>
                <a:cs typeface="Arial" panose="020B0604020202020204" pitchFamily="34" charset="0"/>
              </a:rPr>
              <a:t>small memory footprint and efficient task switching</a:t>
            </a:r>
          </a:p>
          <a:p>
            <a:pPr>
              <a:lnSpc>
                <a:spcPct val="120000"/>
              </a:lnSpc>
            </a:pPr>
            <a:r>
              <a:rPr lang="en-US" altLang="zh-CN" sz="2400" dirty="0">
                <a:latin typeface="Arial" panose="020B0604020202020204" pitchFamily="34" charset="0"/>
                <a:cs typeface="Arial" panose="020B0604020202020204" pitchFamily="34" charset="0"/>
              </a:rPr>
              <a:t>Security:</a:t>
            </a:r>
          </a:p>
          <a:p>
            <a:pPr lvl="1">
              <a:lnSpc>
                <a:spcPct val="120000"/>
              </a:lnSpc>
            </a:pPr>
            <a:r>
              <a:rPr lang="en-US" altLang="zh-CN" dirty="0">
                <a:latin typeface="Arial" panose="020B0604020202020204" pitchFamily="34" charset="0"/>
                <a:cs typeface="Arial" panose="020B0604020202020204" pitchFamily="34" charset="0"/>
              </a:rPr>
              <a:t>fast and simple algorithms for encryption (</a:t>
            </a:r>
            <a:r>
              <a:rPr lang="zh-CN" altLang="en-US" dirty="0">
                <a:latin typeface="Arial" panose="020B0604020202020204" pitchFamily="34" charset="0"/>
                <a:cs typeface="Arial" panose="020B0604020202020204" pitchFamily="34" charset="0"/>
              </a:rPr>
              <a:t>加密</a:t>
            </a:r>
            <a:r>
              <a:rPr lang="en-US" altLang="zh-CN" dirty="0">
                <a:latin typeface="Arial" panose="020B0604020202020204" pitchFamily="34" charset="0"/>
                <a:cs typeface="Arial" panose="020B0604020202020204" pitchFamily="34" charset="0"/>
              </a:rPr>
              <a:t>), authentication</a:t>
            </a:r>
            <a:r>
              <a:rPr lang="zh-CN" altLang="en-US" dirty="0">
                <a:latin typeface="Arial" panose="020B0604020202020204" pitchFamily="34" charset="0"/>
                <a:cs typeface="Arial" panose="020B0604020202020204" pitchFamily="34" charset="0"/>
              </a:rPr>
              <a:t>（鉴定）</a:t>
            </a:r>
            <a:r>
              <a:rPr lang="en-US" altLang="zh-CN" dirty="0">
                <a:latin typeface="Arial" panose="020B0604020202020204" pitchFamily="34" charset="0"/>
                <a:cs typeface="Arial" panose="020B0604020202020204" pitchFamily="34" charset="0"/>
              </a:rPr>
              <a:t>, etc.</a:t>
            </a:r>
          </a:p>
          <a:p>
            <a:pPr>
              <a:lnSpc>
                <a:spcPct val="120000"/>
              </a:lnSpc>
            </a:pPr>
            <a:r>
              <a:rPr lang="en-US" altLang="zh-CN" sz="2400" dirty="0">
                <a:latin typeface="Arial" panose="020B0604020202020204" pitchFamily="34" charset="0"/>
                <a:cs typeface="Arial" panose="020B0604020202020204" pitchFamily="34" charset="0"/>
              </a:rPr>
              <a:t>Middleware:</a:t>
            </a:r>
          </a:p>
          <a:p>
            <a:pPr lvl="1">
              <a:lnSpc>
                <a:spcPct val="120000"/>
              </a:lnSpc>
            </a:pPr>
            <a:r>
              <a:rPr lang="en-US" altLang="zh-CN" dirty="0">
                <a:latin typeface="Arial" panose="020B0604020202020204" pitchFamily="34" charset="0"/>
                <a:cs typeface="Arial" panose="020B0604020202020204" pitchFamily="34" charset="0"/>
              </a:rPr>
              <a:t>in-network processing of sensor data can eliminate redundant data or aggregate sensor readings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4717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965024" cy="1325563"/>
          </a:xfrm>
        </p:spPr>
        <p:txBody>
          <a:bodyPr>
            <a:normAutofit/>
          </a:bodyPr>
          <a:lstStyle/>
          <a:p>
            <a:r>
              <a:rPr lang="en-US" altLang="zh-CN" b="1" dirty="0">
                <a:latin typeface="Arial" panose="020B0604020202020204" pitchFamily="34" charset="0"/>
                <a:cs typeface="Arial" panose="020B0604020202020204" pitchFamily="34" charset="0"/>
              </a:rPr>
              <a:t>Challenges in WSNs: Self-Management</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515600" cy="5032376"/>
          </a:xfrm>
        </p:spPr>
        <p:txBody>
          <a:bodyPr>
            <a:normAutofit fontScale="92500" lnSpcReduction="20000"/>
          </a:bodyPr>
          <a:lstStyle/>
          <a:p>
            <a:pPr marL="0" indent="0">
              <a:lnSpc>
                <a:spcPct val="110000"/>
              </a:lnSpc>
              <a:buNone/>
            </a:pPr>
            <a:r>
              <a:rPr lang="en-US" altLang="zh-CN" sz="3000" b="1" dirty="0">
                <a:solidFill>
                  <a:schemeClr val="accent1">
                    <a:lumMod val="75000"/>
                  </a:schemeClr>
                </a:solidFill>
                <a:latin typeface="Arial" panose="020B0604020202020204" pitchFamily="34" charset="0"/>
                <a:cs typeface="Arial" panose="020B0604020202020204" pitchFamily="34" charset="0"/>
              </a:rPr>
              <a:t>Ad-hoc deployment</a:t>
            </a:r>
          </a:p>
          <a:p>
            <a:pPr>
              <a:lnSpc>
                <a:spcPct val="110000"/>
              </a:lnSpc>
            </a:pPr>
            <a:r>
              <a:rPr lang="en-US" altLang="zh-CN" sz="2600" dirty="0">
                <a:latin typeface="Arial" panose="020B0604020202020204" pitchFamily="34" charset="0"/>
                <a:cs typeface="Arial" panose="020B0604020202020204" pitchFamily="34" charset="0"/>
              </a:rPr>
              <a:t>many sensor networks are deployed “without design”</a:t>
            </a:r>
          </a:p>
          <a:p>
            <a:pPr lvl="1">
              <a:lnSpc>
                <a:spcPct val="110000"/>
              </a:lnSpc>
            </a:pPr>
            <a:r>
              <a:rPr lang="en-US" altLang="zh-CN" sz="2600" dirty="0">
                <a:latin typeface="Arial" panose="020B0604020202020204" pitchFamily="34" charset="0"/>
                <a:cs typeface="Arial" panose="020B0604020202020204" pitchFamily="34" charset="0"/>
              </a:rPr>
              <a:t>sensors dropped from airplanes (battlefield assessment)</a:t>
            </a:r>
          </a:p>
          <a:p>
            <a:pPr lvl="1">
              <a:lnSpc>
                <a:spcPct val="110000"/>
              </a:lnSpc>
            </a:pPr>
            <a:r>
              <a:rPr lang="en-US" altLang="zh-CN" sz="2600" dirty="0">
                <a:latin typeface="Arial" panose="020B0604020202020204" pitchFamily="34" charset="0"/>
                <a:cs typeface="Arial" panose="020B0604020202020204" pitchFamily="34" charset="0"/>
              </a:rPr>
              <a:t>sensors placed wherever currently needed (tracking patients in disaster zone)</a:t>
            </a:r>
          </a:p>
          <a:p>
            <a:pPr lvl="1">
              <a:lnSpc>
                <a:spcPct val="110000"/>
              </a:lnSpc>
            </a:pPr>
            <a:r>
              <a:rPr lang="en-US" altLang="zh-CN" sz="2600" dirty="0">
                <a:latin typeface="Arial" panose="020B0604020202020204" pitchFamily="34" charset="0"/>
                <a:cs typeface="Arial" panose="020B0604020202020204" pitchFamily="34" charset="0"/>
              </a:rPr>
              <a:t>moving sensors (robot teams exploring unknown terrain)</a:t>
            </a:r>
          </a:p>
          <a:p>
            <a:pPr>
              <a:lnSpc>
                <a:spcPct val="110000"/>
              </a:lnSpc>
            </a:pPr>
            <a:r>
              <a:rPr lang="en-US" altLang="zh-CN" dirty="0">
                <a:latin typeface="Arial" panose="020B0604020202020204" pitchFamily="34" charset="0"/>
                <a:cs typeface="Arial" panose="020B0604020202020204" pitchFamily="34" charset="0"/>
              </a:rPr>
              <a:t>sensor node must have some or all of the following abilities</a:t>
            </a:r>
          </a:p>
          <a:p>
            <a:pPr lvl="1">
              <a:lnSpc>
                <a:spcPct val="110000"/>
              </a:lnSpc>
            </a:pPr>
            <a:r>
              <a:rPr lang="en-US" altLang="zh-CN" sz="2800" dirty="0">
                <a:latin typeface="Arial" panose="020B0604020202020204" pitchFamily="34" charset="0"/>
                <a:cs typeface="Arial" panose="020B0604020202020204" pitchFamily="34" charset="0"/>
              </a:rPr>
              <a:t>determine its location</a:t>
            </a:r>
          </a:p>
          <a:p>
            <a:pPr lvl="1">
              <a:lnSpc>
                <a:spcPct val="110000"/>
              </a:lnSpc>
            </a:pPr>
            <a:r>
              <a:rPr lang="en-US" altLang="zh-CN" sz="2800" dirty="0">
                <a:latin typeface="Arial" panose="020B0604020202020204" pitchFamily="34" charset="0"/>
                <a:cs typeface="Arial" panose="020B0604020202020204" pitchFamily="34" charset="0"/>
              </a:rPr>
              <a:t>determine identity of neighboring nodes</a:t>
            </a:r>
          </a:p>
          <a:p>
            <a:pPr lvl="1">
              <a:lnSpc>
                <a:spcPct val="110000"/>
              </a:lnSpc>
            </a:pPr>
            <a:r>
              <a:rPr lang="en-US" altLang="zh-CN" sz="2800" dirty="0">
                <a:latin typeface="Arial" panose="020B0604020202020204" pitchFamily="34" charset="0"/>
                <a:cs typeface="Arial" panose="020B0604020202020204" pitchFamily="34" charset="0"/>
              </a:rPr>
              <a:t>configure node parameters</a:t>
            </a:r>
          </a:p>
          <a:p>
            <a:pPr lvl="1">
              <a:lnSpc>
                <a:spcPct val="110000"/>
              </a:lnSpc>
            </a:pPr>
            <a:r>
              <a:rPr lang="en-US" altLang="zh-CN" sz="2800" dirty="0">
                <a:latin typeface="Arial" panose="020B0604020202020204" pitchFamily="34" charset="0"/>
                <a:cs typeface="Arial" panose="020B0604020202020204" pitchFamily="34" charset="0"/>
              </a:rPr>
              <a:t>discover route(s) to base station</a:t>
            </a:r>
          </a:p>
          <a:p>
            <a:pPr lvl="1">
              <a:lnSpc>
                <a:spcPct val="110000"/>
              </a:lnSpc>
            </a:pPr>
            <a:r>
              <a:rPr lang="en-US" altLang="zh-CN" sz="2800" dirty="0">
                <a:latin typeface="Arial" panose="020B0604020202020204" pitchFamily="34" charset="0"/>
                <a:cs typeface="Arial" panose="020B0604020202020204" pitchFamily="34" charset="0"/>
              </a:rPr>
              <a:t>initiate sensing responsibility</a:t>
            </a:r>
            <a:endParaRPr lang="zh-CN"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2617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199" y="1690687"/>
            <a:ext cx="10825065" cy="5167313"/>
          </a:xfrm>
        </p:spPr>
        <p:txBody>
          <a:bodyPr>
            <a:normAutofit fontScale="92500" lnSpcReduction="10000"/>
          </a:bodyPr>
          <a:lstStyle/>
          <a:p>
            <a:pPr marL="0" indent="0">
              <a:lnSpc>
                <a:spcPct val="100000"/>
              </a:lnSpc>
              <a:buNone/>
            </a:pPr>
            <a:r>
              <a:rPr lang="en-US" altLang="zh-CN" sz="3000" b="1" dirty="0">
                <a:solidFill>
                  <a:schemeClr val="accent1">
                    <a:lumMod val="75000"/>
                  </a:schemeClr>
                </a:solidFill>
                <a:latin typeface="Arial" panose="020B0604020202020204" pitchFamily="34" charset="0"/>
                <a:cs typeface="Arial" panose="020B0604020202020204" pitchFamily="34" charset="0"/>
              </a:rPr>
              <a:t>Unattended operation</a:t>
            </a:r>
          </a:p>
          <a:p>
            <a:pPr>
              <a:lnSpc>
                <a:spcPct val="100000"/>
              </a:lnSpc>
            </a:pPr>
            <a:r>
              <a:rPr lang="en-US" altLang="zh-CN" sz="2600" dirty="0">
                <a:latin typeface="Arial" panose="020B0604020202020204" pitchFamily="34" charset="0"/>
                <a:cs typeface="Arial" panose="020B0604020202020204" pitchFamily="34" charset="0"/>
              </a:rPr>
              <a:t>once deployed, WSN must operate without human intervention</a:t>
            </a:r>
          </a:p>
          <a:p>
            <a:pPr>
              <a:lnSpc>
                <a:spcPct val="100000"/>
              </a:lnSpc>
            </a:pPr>
            <a:r>
              <a:rPr lang="en-US" altLang="zh-CN" sz="2600" dirty="0">
                <a:latin typeface="Arial" panose="020B0604020202020204" pitchFamily="34" charset="0"/>
                <a:cs typeface="Arial" panose="020B0604020202020204" pitchFamily="34" charset="0"/>
              </a:rPr>
              <a:t>device adapts to changes in topology, density, and traffic load</a:t>
            </a:r>
          </a:p>
          <a:p>
            <a:pPr>
              <a:lnSpc>
                <a:spcPct val="100000"/>
              </a:lnSpc>
            </a:pPr>
            <a:r>
              <a:rPr lang="en-US" altLang="zh-CN" sz="2600" dirty="0">
                <a:latin typeface="Arial" panose="020B0604020202020204" pitchFamily="34" charset="0"/>
                <a:cs typeface="Arial" panose="020B0604020202020204" pitchFamily="34" charset="0"/>
              </a:rPr>
              <a:t>device adapts in response to failures</a:t>
            </a:r>
          </a:p>
          <a:p>
            <a:pPr marL="0" lvl="1" indent="0">
              <a:lnSpc>
                <a:spcPct val="100000"/>
              </a:lnSpc>
              <a:spcBef>
                <a:spcPts val="1000"/>
              </a:spcBef>
              <a:buClr>
                <a:schemeClr val="accent1"/>
              </a:buClr>
              <a:buNone/>
            </a:pPr>
            <a:r>
              <a:rPr lang="en-US" altLang="zh-CN" sz="3000" b="1" dirty="0">
                <a:solidFill>
                  <a:schemeClr val="accent1">
                    <a:lumMod val="75000"/>
                  </a:schemeClr>
                </a:solidFill>
                <a:latin typeface="Arial" panose="020B0604020202020204" pitchFamily="34" charset="0"/>
                <a:cs typeface="Arial" panose="020B0604020202020204" pitchFamily="34" charset="0"/>
              </a:rPr>
              <a:t>Other terminology</a:t>
            </a:r>
          </a:p>
          <a:p>
            <a:pPr>
              <a:lnSpc>
                <a:spcPct val="100000"/>
              </a:lnSpc>
            </a:pPr>
            <a:r>
              <a:rPr lang="en-US" altLang="zh-CN" sz="2600" dirty="0">
                <a:solidFill>
                  <a:srgbClr val="FF0000"/>
                </a:solidFill>
                <a:latin typeface="Arial" panose="020B0604020202020204" pitchFamily="34" charset="0"/>
                <a:cs typeface="Arial" panose="020B0604020202020204" pitchFamily="34" charset="0"/>
              </a:rPr>
              <a:t>self-organization</a:t>
            </a:r>
            <a:r>
              <a:rPr lang="en-US" altLang="zh-CN" sz="2600" dirty="0">
                <a:latin typeface="Arial" panose="020B0604020202020204" pitchFamily="34" charset="0"/>
                <a:cs typeface="Arial" panose="020B0604020202020204" pitchFamily="34" charset="0"/>
              </a:rPr>
              <a:t> is the ability to adapt configuration parameters based on system and environmental state</a:t>
            </a:r>
          </a:p>
          <a:p>
            <a:pPr>
              <a:lnSpc>
                <a:spcPct val="100000"/>
              </a:lnSpc>
            </a:pPr>
            <a:r>
              <a:rPr lang="en-US" altLang="zh-CN" sz="2600" dirty="0">
                <a:solidFill>
                  <a:srgbClr val="FF0000"/>
                </a:solidFill>
                <a:latin typeface="Arial" panose="020B0604020202020204" pitchFamily="34" charset="0"/>
                <a:cs typeface="Arial" panose="020B0604020202020204" pitchFamily="34" charset="0"/>
              </a:rPr>
              <a:t>self-optimization</a:t>
            </a:r>
            <a:r>
              <a:rPr lang="en-US" altLang="zh-CN" sz="2600" dirty="0">
                <a:latin typeface="Arial" panose="020B0604020202020204" pitchFamily="34" charset="0"/>
                <a:cs typeface="Arial" panose="020B0604020202020204" pitchFamily="34" charset="0"/>
              </a:rPr>
              <a:t> is the ability to monitor and optimize the use of the limited system resources</a:t>
            </a:r>
          </a:p>
          <a:p>
            <a:pPr>
              <a:lnSpc>
                <a:spcPct val="100000"/>
              </a:lnSpc>
            </a:pPr>
            <a:r>
              <a:rPr lang="en-US" altLang="zh-CN" sz="2600" dirty="0">
                <a:solidFill>
                  <a:srgbClr val="FF0000"/>
                </a:solidFill>
                <a:latin typeface="Arial" panose="020B0604020202020204" pitchFamily="34" charset="0"/>
                <a:cs typeface="Arial" panose="020B0604020202020204" pitchFamily="34" charset="0"/>
              </a:rPr>
              <a:t>self-protection</a:t>
            </a:r>
            <a:r>
              <a:rPr lang="en-US" altLang="zh-CN" sz="2600" dirty="0">
                <a:latin typeface="Arial" panose="020B0604020202020204" pitchFamily="34" charset="0"/>
                <a:cs typeface="Arial" panose="020B0604020202020204" pitchFamily="34" charset="0"/>
              </a:rPr>
              <a:t> is the ability recognize and protect from intrusions and attacks</a:t>
            </a:r>
          </a:p>
          <a:p>
            <a:pPr>
              <a:lnSpc>
                <a:spcPct val="100000"/>
              </a:lnSpc>
            </a:pPr>
            <a:r>
              <a:rPr lang="en-US" altLang="zh-CN" sz="2600" dirty="0">
                <a:solidFill>
                  <a:srgbClr val="FF0000"/>
                </a:solidFill>
                <a:latin typeface="Arial" panose="020B0604020202020204" pitchFamily="34" charset="0"/>
                <a:cs typeface="Arial" panose="020B0604020202020204" pitchFamily="34" charset="0"/>
              </a:rPr>
              <a:t>self-healing</a:t>
            </a:r>
            <a:r>
              <a:rPr lang="en-US" altLang="zh-CN" sz="2600" dirty="0">
                <a:latin typeface="Arial" panose="020B0604020202020204" pitchFamily="34" charset="0"/>
                <a:cs typeface="Arial" panose="020B0604020202020204" pitchFamily="34" charset="0"/>
              </a:rPr>
              <a:t> is the ability to discover, identify, and react to network disruptions</a:t>
            </a:r>
            <a:endParaRPr lang="zh-CN" altLang="en-US" sz="2600" dirty="0">
              <a:latin typeface="Arial" panose="020B0604020202020204" pitchFamily="34" charset="0"/>
              <a:cs typeface="Arial" panose="020B0604020202020204" pitchFamily="34" charset="0"/>
            </a:endParaRPr>
          </a:p>
        </p:txBody>
      </p:sp>
      <p:sp>
        <p:nvSpPr>
          <p:cNvPr id="6" name="标题 1">
            <a:extLst>
              <a:ext uri="{FF2B5EF4-FFF2-40B4-BE49-F238E27FC236}">
                <a16:creationId xmlns:a16="http://schemas.microsoft.com/office/drawing/2014/main" id="{48AF107B-4046-433D-AFE3-FB7186CC2AF2}"/>
              </a:ext>
            </a:extLst>
          </p:cNvPr>
          <p:cNvSpPr>
            <a:spLocks noGrp="1"/>
          </p:cNvSpPr>
          <p:nvPr>
            <p:ph type="title"/>
          </p:nvPr>
        </p:nvSpPr>
        <p:spPr>
          <a:xfrm>
            <a:off x="838200" y="365125"/>
            <a:ext cx="10965024" cy="1325563"/>
          </a:xfrm>
        </p:spPr>
        <p:txBody>
          <a:bodyPr>
            <a:normAutofit/>
          </a:bodyPr>
          <a:lstStyle/>
          <a:p>
            <a:r>
              <a:rPr lang="en-US" altLang="zh-CN" b="1" dirty="0">
                <a:latin typeface="Arial" panose="020B0604020202020204" pitchFamily="34" charset="0"/>
                <a:cs typeface="Arial" panose="020B0604020202020204" pitchFamily="34" charset="0"/>
              </a:rPr>
              <a:t>Challenges in WSNs: Self-Management</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0353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1104984" cy="1325563"/>
          </a:xfrm>
        </p:spPr>
        <p:txBody>
          <a:bodyPr>
            <a:normAutofit/>
          </a:bodyPr>
          <a:lstStyle/>
          <a:p>
            <a:r>
              <a:rPr lang="en-US" altLang="zh-CN" b="1" dirty="0">
                <a:latin typeface="Arial" panose="020B0604020202020204" pitchFamily="34" charset="0"/>
                <a:cs typeface="Arial" panose="020B0604020202020204" pitchFamily="34" charset="0"/>
              </a:rPr>
              <a:t>Challenges in WSNs:  Wireless Networks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dirty="0">
                <a:latin typeface="Arial" panose="020B0604020202020204" pitchFamily="34" charset="0"/>
                <a:cs typeface="Arial" panose="020B0604020202020204" pitchFamily="34" charset="0"/>
              </a:rPr>
              <a:t>Attenuation</a:t>
            </a:r>
            <a:r>
              <a:rPr lang="zh-CN" altLang="en-US" dirty="0">
                <a:latin typeface="Arial" panose="020B0604020202020204" pitchFamily="34" charset="0"/>
                <a:cs typeface="Arial" panose="020B0604020202020204" pitchFamily="34" charset="0"/>
              </a:rPr>
              <a:t>（衰减）</a:t>
            </a:r>
            <a:endParaRPr lang="en-US" altLang="zh-CN" dirty="0">
              <a:latin typeface="Arial" panose="020B0604020202020204" pitchFamily="34" charset="0"/>
              <a:cs typeface="Arial" panose="020B0604020202020204" pitchFamily="34" charset="0"/>
            </a:endParaRPr>
          </a:p>
          <a:p>
            <a:pPr lvl="1">
              <a:lnSpc>
                <a:spcPct val="120000"/>
              </a:lnSpc>
            </a:pPr>
            <a:r>
              <a:rPr lang="en-US" altLang="zh-CN" sz="2800" dirty="0">
                <a:latin typeface="Arial" panose="020B0604020202020204" pitchFamily="34" charset="0"/>
                <a:cs typeface="Arial" panose="020B0604020202020204" pitchFamily="34" charset="0"/>
              </a:rPr>
              <a:t>limits radio range</a:t>
            </a:r>
          </a:p>
          <a:p>
            <a:pPr marL="914400" lvl="2" indent="0">
              <a:lnSpc>
                <a:spcPct val="120000"/>
              </a:lnSpc>
              <a:buNone/>
            </a:pPr>
            <a:endParaRPr lang="en-US" altLang="zh-CN" sz="2400" dirty="0">
              <a:latin typeface="Arial" panose="020B0604020202020204" pitchFamily="34" charset="0"/>
              <a:cs typeface="Arial" panose="020B0604020202020204" pitchFamily="34" charset="0"/>
            </a:endParaRPr>
          </a:p>
          <a:p>
            <a:pPr marL="228600" lvl="2">
              <a:lnSpc>
                <a:spcPct val="120000"/>
              </a:lnSpc>
              <a:spcBef>
                <a:spcPts val="1000"/>
              </a:spcBef>
              <a:buClr>
                <a:schemeClr val="accent1"/>
              </a:buClr>
              <a:buSzPct val="50000"/>
            </a:pPr>
            <a:r>
              <a:rPr lang="en-US" altLang="zh-CN" sz="2800" dirty="0">
                <a:latin typeface="Arial" panose="020B0604020202020204" pitchFamily="34" charset="0"/>
                <a:cs typeface="Arial" panose="020B0604020202020204" pitchFamily="34" charset="0"/>
              </a:rPr>
              <a:t>Multi-hop communication</a:t>
            </a:r>
          </a:p>
          <a:p>
            <a:pPr lvl="1">
              <a:lnSpc>
                <a:spcPct val="120000"/>
              </a:lnSpc>
            </a:pPr>
            <a:r>
              <a:rPr lang="en-US" altLang="zh-CN" dirty="0">
                <a:latin typeface="Arial" panose="020B0604020202020204" pitchFamily="34" charset="0"/>
                <a:cs typeface="Arial" panose="020B0604020202020204" pitchFamily="34" charset="0"/>
              </a:rPr>
              <a:t>increased latency</a:t>
            </a:r>
          </a:p>
          <a:p>
            <a:pPr lvl="1">
              <a:lnSpc>
                <a:spcPct val="120000"/>
              </a:lnSpc>
            </a:pPr>
            <a:r>
              <a:rPr lang="en-US" altLang="zh-CN" dirty="0">
                <a:latin typeface="Arial" panose="020B0604020202020204" pitchFamily="34" charset="0"/>
                <a:cs typeface="Arial" panose="020B0604020202020204" pitchFamily="34" charset="0"/>
              </a:rPr>
              <a:t>increased failure/error probability</a:t>
            </a:r>
          </a:p>
          <a:p>
            <a:pPr lvl="1">
              <a:lnSpc>
                <a:spcPct val="120000"/>
              </a:lnSpc>
            </a:pPr>
            <a:r>
              <a:rPr lang="en-US" altLang="zh-CN" dirty="0">
                <a:latin typeface="Arial" panose="020B0604020202020204" pitchFamily="34" charset="0"/>
                <a:cs typeface="Arial" panose="020B0604020202020204" pitchFamily="34" charset="0"/>
              </a:rPr>
              <a:t>complicated by use of </a:t>
            </a:r>
            <a:r>
              <a:rPr lang="en-US" altLang="zh-CN" dirty="0">
                <a:solidFill>
                  <a:srgbClr val="FF0000"/>
                </a:solidFill>
                <a:latin typeface="Arial" panose="020B0604020202020204" pitchFamily="34" charset="0"/>
                <a:cs typeface="Arial" panose="020B0604020202020204" pitchFamily="34" charset="0"/>
              </a:rPr>
              <a:t>duty cycles</a:t>
            </a:r>
            <a:endParaRPr lang="zh-CN" altLang="en-US" dirty="0">
              <a:solidFill>
                <a:srgbClr val="FF0000"/>
              </a:solidFill>
              <a:latin typeface="Arial" panose="020B0604020202020204" pitchFamily="34" charset="0"/>
              <a:cs typeface="Arial" panose="020B0604020202020204" pitchFamily="34"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9409" y="2360971"/>
            <a:ext cx="990600" cy="75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1249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Challenges in WSNs: Decentralization</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60060"/>
            <a:ext cx="10812624" cy="977867"/>
          </a:xfrm>
        </p:spPr>
        <p:txBody>
          <a:bodyPr>
            <a:normAutofit/>
          </a:bodyPr>
          <a:lstStyle/>
          <a:p>
            <a:pPr marL="0" lvl="2" indent="0">
              <a:lnSpc>
                <a:spcPct val="120000"/>
              </a:lnSpc>
              <a:spcBef>
                <a:spcPts val="1000"/>
              </a:spcBef>
              <a:buClr>
                <a:schemeClr val="accent1"/>
              </a:buClr>
              <a:buSzPct val="50000"/>
              <a:buNone/>
            </a:pPr>
            <a:r>
              <a:rPr lang="en-US" altLang="zh-CN" sz="2400" dirty="0">
                <a:latin typeface="Arial" panose="020B0604020202020204" pitchFamily="34" charset="0"/>
                <a:cs typeface="Arial" panose="020B0604020202020204" pitchFamily="34" charset="0"/>
              </a:rPr>
              <a:t>Centralized management (e.g., at the base station) of the network often not feasible due to large scale of network and energy constraints</a:t>
            </a:r>
          </a:p>
        </p:txBody>
      </p:sp>
      <p:sp>
        <p:nvSpPr>
          <p:cNvPr id="4" name="矩形 3">
            <a:extLst>
              <a:ext uri="{FF2B5EF4-FFF2-40B4-BE49-F238E27FC236}">
                <a16:creationId xmlns:a16="http://schemas.microsoft.com/office/drawing/2014/main" id="{7EBD2DF9-79F1-4C0F-9EE2-17D4BFFEDF54}"/>
              </a:ext>
            </a:extLst>
          </p:cNvPr>
          <p:cNvSpPr/>
          <p:nvPr/>
        </p:nvSpPr>
        <p:spPr>
          <a:xfrm>
            <a:off x="838199" y="2537927"/>
            <a:ext cx="11067661" cy="3604000"/>
          </a:xfrm>
          <a:prstGeom prst="rect">
            <a:avLst/>
          </a:prstGeom>
        </p:spPr>
        <p:txBody>
          <a:bodyPr wrap="square">
            <a:spAutoFit/>
          </a:bodyPr>
          <a:lstStyle/>
          <a:p>
            <a:pPr marL="0" lvl="2">
              <a:lnSpc>
                <a:spcPct val="120000"/>
              </a:lnSpc>
              <a:buClr>
                <a:schemeClr val="accent1"/>
              </a:buClr>
              <a:buSzPct val="50000"/>
            </a:pPr>
            <a:r>
              <a:rPr lang="en-US" altLang="zh-CN" sz="2400" b="1" dirty="0">
                <a:solidFill>
                  <a:schemeClr val="accent1">
                    <a:lumMod val="75000"/>
                  </a:schemeClr>
                </a:solidFill>
                <a:latin typeface="Arial" panose="020B0604020202020204" pitchFamily="34" charset="0"/>
                <a:cs typeface="Arial" panose="020B0604020202020204" pitchFamily="34" charset="0"/>
              </a:rPr>
              <a:t>Example: routing</a:t>
            </a:r>
          </a:p>
          <a:p>
            <a:pPr marL="457200" lvl="2" indent="-457200">
              <a:lnSpc>
                <a:spcPct val="120000"/>
              </a:lnSpc>
              <a:buClr>
                <a:schemeClr val="accent1"/>
              </a:buClr>
              <a:buSzPct val="50000"/>
              <a:buFont typeface="Wingdings" panose="05000000000000000000" pitchFamily="2" charset="2"/>
              <a:buChar char="l"/>
            </a:pPr>
            <a:r>
              <a:rPr lang="en-US" altLang="zh-CN" sz="2400" dirty="0">
                <a:latin typeface="Arial" panose="020B0604020202020204" pitchFamily="34" charset="0"/>
                <a:cs typeface="Arial" panose="020B0604020202020204" pitchFamily="34" charset="0"/>
              </a:rPr>
              <a:t>Centralized:</a:t>
            </a:r>
          </a:p>
          <a:p>
            <a:pPr marL="914400" lvl="3" indent="-457200">
              <a:lnSpc>
                <a:spcPct val="120000"/>
              </a:lnSpc>
              <a:buClr>
                <a:schemeClr val="accent1"/>
              </a:buClr>
              <a:buSzPct val="50000"/>
              <a:buFont typeface="Wingdings" panose="05000000000000000000" pitchFamily="2" charset="2"/>
              <a:buChar char="l"/>
            </a:pPr>
            <a:r>
              <a:rPr lang="en-US" altLang="zh-CN" sz="2000" dirty="0">
                <a:latin typeface="Arial" panose="020B0604020202020204" pitchFamily="34" charset="0"/>
                <a:cs typeface="Arial" panose="020B0604020202020204" pitchFamily="34" charset="0"/>
              </a:rPr>
              <a:t>BS collects information from all sensor nodes</a:t>
            </a:r>
          </a:p>
          <a:p>
            <a:pPr marL="914400" lvl="3" indent="-457200">
              <a:lnSpc>
                <a:spcPct val="120000"/>
              </a:lnSpc>
              <a:buClr>
                <a:schemeClr val="accent1"/>
              </a:buClr>
              <a:buSzPct val="50000"/>
              <a:buFont typeface="Wingdings" panose="05000000000000000000" pitchFamily="2" charset="2"/>
              <a:buChar char="l"/>
            </a:pPr>
            <a:r>
              <a:rPr lang="en-US" altLang="zh-CN" sz="2000" dirty="0">
                <a:latin typeface="Arial" panose="020B0604020202020204" pitchFamily="34" charset="0"/>
                <a:cs typeface="Arial" panose="020B0604020202020204" pitchFamily="34" charset="0"/>
              </a:rPr>
              <a:t>BS establishes “optimal” routes (e.g., in terms of energy)</a:t>
            </a:r>
          </a:p>
          <a:p>
            <a:pPr marL="914400" lvl="3" indent="-457200">
              <a:lnSpc>
                <a:spcPct val="120000"/>
              </a:lnSpc>
              <a:buClr>
                <a:schemeClr val="accent1"/>
              </a:buClr>
              <a:buSzPct val="50000"/>
              <a:buFont typeface="Wingdings" panose="05000000000000000000" pitchFamily="2" charset="2"/>
              <a:buChar char="l"/>
            </a:pPr>
            <a:r>
              <a:rPr lang="en-US" altLang="zh-CN" sz="2000" dirty="0">
                <a:latin typeface="Arial" panose="020B0604020202020204" pitchFamily="34" charset="0"/>
                <a:cs typeface="Arial" panose="020B0604020202020204" pitchFamily="34" charset="0"/>
              </a:rPr>
              <a:t>BS informs all sensor nodes of routes</a:t>
            </a:r>
          </a:p>
          <a:p>
            <a:pPr marL="914400" lvl="3" indent="-457200">
              <a:lnSpc>
                <a:spcPct val="120000"/>
              </a:lnSpc>
              <a:buClr>
                <a:schemeClr val="accent1"/>
              </a:buClr>
              <a:buSzPct val="50000"/>
              <a:buFont typeface="Wingdings" panose="05000000000000000000" pitchFamily="2" charset="2"/>
              <a:buChar char="l"/>
            </a:pPr>
            <a:r>
              <a:rPr lang="en-US" altLang="zh-CN" sz="2000" dirty="0">
                <a:latin typeface="Arial" panose="020B0604020202020204" pitchFamily="34" charset="0"/>
                <a:cs typeface="Arial" panose="020B0604020202020204" pitchFamily="34" charset="0"/>
              </a:rPr>
              <a:t>can be expensive, especially when the topology changes frequently</a:t>
            </a:r>
          </a:p>
          <a:p>
            <a:pPr marL="457200" lvl="2" indent="-457200">
              <a:lnSpc>
                <a:spcPct val="120000"/>
              </a:lnSpc>
              <a:buClr>
                <a:schemeClr val="accent1"/>
              </a:buClr>
              <a:buSzPct val="50000"/>
              <a:buFont typeface="Wingdings" panose="05000000000000000000" pitchFamily="2" charset="2"/>
              <a:buChar char="l"/>
            </a:pPr>
            <a:r>
              <a:rPr lang="en-US" altLang="zh-CN" sz="2400" dirty="0">
                <a:latin typeface="Arial" panose="020B0604020202020204" pitchFamily="34" charset="0"/>
                <a:cs typeface="Arial" panose="020B0604020202020204" pitchFamily="34" charset="0"/>
              </a:rPr>
              <a:t>Decentralized:</a:t>
            </a:r>
          </a:p>
          <a:p>
            <a:pPr marL="914400" lvl="3" indent="-457200">
              <a:lnSpc>
                <a:spcPct val="120000"/>
              </a:lnSpc>
              <a:buClr>
                <a:schemeClr val="accent1"/>
              </a:buClr>
              <a:buSzPct val="50000"/>
              <a:buFont typeface="Wingdings" panose="05000000000000000000" pitchFamily="2" charset="2"/>
              <a:buChar char="l"/>
            </a:pPr>
            <a:r>
              <a:rPr lang="en-US" altLang="zh-CN" sz="2000" dirty="0">
                <a:latin typeface="Arial" panose="020B0604020202020204" pitchFamily="34" charset="0"/>
                <a:cs typeface="Arial" panose="020B0604020202020204" pitchFamily="34" charset="0"/>
              </a:rPr>
              <a:t>each sensor makes routing decisions based on limited local information</a:t>
            </a:r>
          </a:p>
          <a:p>
            <a:pPr marL="914400" lvl="3" indent="-457200">
              <a:lnSpc>
                <a:spcPct val="120000"/>
              </a:lnSpc>
              <a:buClr>
                <a:schemeClr val="accent1"/>
              </a:buClr>
              <a:buSzPct val="50000"/>
              <a:buFont typeface="Wingdings" panose="05000000000000000000" pitchFamily="2" charset="2"/>
              <a:buChar char="l"/>
            </a:pPr>
            <a:r>
              <a:rPr lang="en-US" altLang="zh-CN" sz="2000" dirty="0">
                <a:latin typeface="Arial" panose="020B0604020202020204" pitchFamily="34" charset="0"/>
                <a:cs typeface="Arial" panose="020B0604020202020204" pitchFamily="34" charset="0"/>
              </a:rPr>
              <a:t>routes may be non-optimal, but route establishment/management can be much cheaper</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9759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199" y="365125"/>
            <a:ext cx="12252649" cy="1325563"/>
          </a:xfrm>
        </p:spPr>
        <p:txBody>
          <a:bodyPr>
            <a:normAutofit/>
          </a:bodyPr>
          <a:lstStyle/>
          <a:p>
            <a:r>
              <a:rPr lang="en-US" altLang="zh-CN" b="1" dirty="0">
                <a:latin typeface="Arial" panose="020B0604020202020204" pitchFamily="34" charset="0"/>
                <a:cs typeface="Arial" panose="020B0604020202020204" pitchFamily="34" charset="0"/>
              </a:rPr>
              <a:t>Challenges in WSNs: Design Constraints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5"/>
            <a:ext cx="10918371" cy="4351338"/>
          </a:xfrm>
        </p:spPr>
        <p:txBody>
          <a:bodyPr>
            <a:normAutofit/>
          </a:bodyPr>
          <a:lstStyle/>
          <a:p>
            <a:pPr marL="342900" lvl="2" indent="-342900">
              <a:lnSpc>
                <a:spcPct val="120000"/>
              </a:lnSpc>
              <a:buClr>
                <a:schemeClr val="accent1"/>
              </a:buClr>
              <a:buSzPct val="50000"/>
              <a:buFont typeface="Wingdings" panose="05000000000000000000" pitchFamily="2" charset="2"/>
              <a:buChar char="l"/>
            </a:pPr>
            <a:r>
              <a:rPr lang="en-US" altLang="zh-CN" sz="2400" dirty="0">
                <a:latin typeface="Arial" panose="020B0604020202020204" pitchFamily="34" charset="0"/>
                <a:cs typeface="Arial" panose="020B0604020202020204" pitchFamily="34" charset="0"/>
              </a:rPr>
              <a:t>Many hardware and software limitations affect the overall system design</a:t>
            </a:r>
          </a:p>
          <a:p>
            <a:pPr marL="342900" lvl="2" indent="-342900">
              <a:lnSpc>
                <a:spcPct val="120000"/>
              </a:lnSpc>
              <a:buClr>
                <a:schemeClr val="accent1"/>
              </a:buClr>
              <a:buSzPct val="50000"/>
              <a:buFont typeface="Wingdings" panose="05000000000000000000" pitchFamily="2" charset="2"/>
              <a:buChar char="l"/>
            </a:pPr>
            <a:r>
              <a:rPr lang="en-US" altLang="zh-CN" sz="2400" dirty="0">
                <a:latin typeface="Arial" panose="020B0604020202020204" pitchFamily="34" charset="0"/>
                <a:cs typeface="Arial" panose="020B0604020202020204" pitchFamily="34" charset="0"/>
              </a:rPr>
              <a:t>Examples include:</a:t>
            </a:r>
          </a:p>
          <a:p>
            <a:pPr lvl="1">
              <a:lnSpc>
                <a:spcPct val="120000"/>
              </a:lnSpc>
            </a:pPr>
            <a:r>
              <a:rPr lang="en-US" altLang="zh-CN" dirty="0">
                <a:latin typeface="Arial" panose="020B0604020202020204" pitchFamily="34" charset="0"/>
                <a:cs typeface="Arial" panose="020B0604020202020204" pitchFamily="34" charset="0"/>
              </a:rPr>
              <a:t>Low processing speeds (to save energy)</a:t>
            </a:r>
          </a:p>
          <a:p>
            <a:pPr lvl="1">
              <a:lnSpc>
                <a:spcPct val="120000"/>
              </a:lnSpc>
            </a:pPr>
            <a:r>
              <a:rPr lang="en-US" altLang="zh-CN" dirty="0">
                <a:latin typeface="Arial" panose="020B0604020202020204" pitchFamily="34" charset="0"/>
                <a:cs typeface="Arial" panose="020B0604020202020204" pitchFamily="34" charset="0"/>
              </a:rPr>
              <a:t>Low storage capacities (to allow for small form factor and to save energy)</a:t>
            </a:r>
          </a:p>
          <a:p>
            <a:pPr lvl="1">
              <a:lnSpc>
                <a:spcPct val="120000"/>
              </a:lnSpc>
            </a:pPr>
            <a:r>
              <a:rPr lang="en-US" altLang="zh-CN" dirty="0">
                <a:latin typeface="Arial" panose="020B0604020202020204" pitchFamily="34" charset="0"/>
                <a:cs typeface="Arial" panose="020B0604020202020204" pitchFamily="34" charset="0"/>
              </a:rPr>
              <a:t>Lack of I/O components such as GPS receivers (reduce cost, size, energy)</a:t>
            </a:r>
          </a:p>
          <a:p>
            <a:pPr lvl="1">
              <a:lnSpc>
                <a:spcPct val="120000"/>
              </a:lnSpc>
            </a:pPr>
            <a:r>
              <a:rPr lang="en-US" altLang="zh-CN" dirty="0">
                <a:latin typeface="Arial" panose="020B0604020202020204" pitchFamily="34" charset="0"/>
                <a:cs typeface="Arial" panose="020B0604020202020204" pitchFamily="34" charset="0"/>
              </a:rPr>
              <a:t>Lack of software features such as multi-threading (reduce software complexity)</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2204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Challenges in WSNs: Security</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7"/>
            <a:ext cx="10515600" cy="5027353"/>
          </a:xfrm>
        </p:spPr>
        <p:txBody>
          <a:bodyPr>
            <a:normAutofit lnSpcReduction="10000"/>
          </a:bodyPr>
          <a:lstStyle/>
          <a:p>
            <a:pPr marL="342900" lvl="2" indent="-342900">
              <a:lnSpc>
                <a:spcPct val="120000"/>
              </a:lnSpc>
              <a:buClr>
                <a:schemeClr val="accent1"/>
              </a:buClr>
              <a:buSzPct val="50000"/>
              <a:buFont typeface="Wingdings" panose="05000000000000000000" pitchFamily="2" charset="2"/>
              <a:buChar char="l"/>
            </a:pPr>
            <a:r>
              <a:rPr lang="en-US" altLang="zh-CN" sz="2400" dirty="0">
                <a:latin typeface="Arial" panose="020B0604020202020204" pitchFamily="34" charset="0"/>
                <a:cs typeface="Arial" panose="020B0604020202020204" pitchFamily="34" charset="0"/>
              </a:rPr>
              <a:t>Sensor networks often monitor critical infrastructure or carry sensitive information, making them desirable targets for attacks</a:t>
            </a:r>
          </a:p>
          <a:p>
            <a:pPr marL="342900" lvl="2" indent="-342900">
              <a:lnSpc>
                <a:spcPct val="120000"/>
              </a:lnSpc>
              <a:buClr>
                <a:schemeClr val="accent1"/>
              </a:buClr>
              <a:buSzPct val="50000"/>
              <a:buFont typeface="Wingdings" panose="05000000000000000000" pitchFamily="2" charset="2"/>
              <a:buChar char="l"/>
            </a:pPr>
            <a:r>
              <a:rPr lang="en-US" altLang="zh-CN" sz="2400" dirty="0">
                <a:latin typeface="Arial" panose="020B0604020202020204" pitchFamily="34" charset="0"/>
                <a:cs typeface="Arial" panose="020B0604020202020204" pitchFamily="34" charset="0"/>
              </a:rPr>
              <a:t>Attacks may be facilitated by:</a:t>
            </a:r>
          </a:p>
          <a:p>
            <a:pPr lvl="1">
              <a:lnSpc>
                <a:spcPct val="120000"/>
              </a:lnSpc>
            </a:pPr>
            <a:r>
              <a:rPr lang="en-US" altLang="zh-CN" dirty="0">
                <a:latin typeface="Arial" panose="020B0604020202020204" pitchFamily="34" charset="0"/>
                <a:cs typeface="Arial" panose="020B0604020202020204" pitchFamily="34" charset="0"/>
              </a:rPr>
              <a:t>remote and unattended operation</a:t>
            </a:r>
          </a:p>
          <a:p>
            <a:pPr lvl="1">
              <a:lnSpc>
                <a:spcPct val="120000"/>
              </a:lnSpc>
            </a:pPr>
            <a:r>
              <a:rPr lang="en-US" altLang="zh-CN" dirty="0">
                <a:latin typeface="Arial" panose="020B0604020202020204" pitchFamily="34" charset="0"/>
                <a:cs typeface="Arial" panose="020B0604020202020204" pitchFamily="34" charset="0"/>
              </a:rPr>
              <a:t>wireless communication</a:t>
            </a:r>
          </a:p>
          <a:p>
            <a:pPr lvl="1">
              <a:lnSpc>
                <a:spcPct val="120000"/>
              </a:lnSpc>
            </a:pPr>
            <a:r>
              <a:rPr lang="en-US" altLang="zh-CN" dirty="0">
                <a:latin typeface="Arial" panose="020B0604020202020204" pitchFamily="34" charset="0"/>
                <a:cs typeface="Arial" panose="020B0604020202020204" pitchFamily="34" charset="0"/>
              </a:rPr>
              <a:t>lack of advanced security features due to cost, form factor, or energy</a:t>
            </a:r>
          </a:p>
          <a:p>
            <a:pPr marL="342900" lvl="2" indent="-342900">
              <a:lnSpc>
                <a:spcPct val="120000"/>
              </a:lnSpc>
              <a:buClr>
                <a:schemeClr val="accent1"/>
              </a:buClr>
              <a:buSzPct val="50000"/>
              <a:buFont typeface="Wingdings" panose="05000000000000000000" pitchFamily="2" charset="2"/>
              <a:buChar char="l"/>
            </a:pPr>
            <a:r>
              <a:rPr lang="en-US" altLang="zh-CN" sz="2400" dirty="0">
                <a:latin typeface="Arial" panose="020B0604020202020204" pitchFamily="34" charset="0"/>
                <a:cs typeface="Arial" panose="020B0604020202020204" pitchFamily="34" charset="0"/>
              </a:rPr>
              <a:t>Conventional security techniques often not feasible due to their computational, communication, and storage requirements</a:t>
            </a:r>
          </a:p>
          <a:p>
            <a:pPr marL="342900" lvl="2" indent="-342900">
              <a:lnSpc>
                <a:spcPct val="120000"/>
              </a:lnSpc>
              <a:buClr>
                <a:schemeClr val="accent1"/>
              </a:buClr>
              <a:buSzPct val="50000"/>
              <a:buFont typeface="Wingdings" panose="05000000000000000000" pitchFamily="2" charset="2"/>
              <a:buChar char="l"/>
            </a:pPr>
            <a:r>
              <a:rPr lang="en-US" altLang="zh-CN" sz="2400" dirty="0">
                <a:latin typeface="Arial" panose="020B0604020202020204" pitchFamily="34" charset="0"/>
                <a:cs typeface="Arial" panose="020B0604020202020204" pitchFamily="34" charset="0"/>
              </a:rPr>
              <a:t>As a consequence, sensor networks require new solutions for intrusion detection, encryption, key establishment and distribution, node authentication, and secrecy</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6750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Comparison</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endParaRPr lang="zh-CN" alt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3935" y="1372394"/>
            <a:ext cx="768619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9195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r>
              <a:rPr lang="en-US" altLang="zh-CN" dirty="0">
                <a:latin typeface="Arial" panose="020B0604020202020204" pitchFamily="34" charset="0"/>
                <a:cs typeface="Arial" panose="020B0604020202020204" pitchFamily="34" charset="0"/>
              </a:rPr>
              <a:t>Definitions and background</a:t>
            </a:r>
          </a:p>
          <a:p>
            <a:r>
              <a:rPr lang="en-US" altLang="zh-CN" dirty="0">
                <a:latin typeface="Arial" panose="020B0604020202020204" pitchFamily="34" charset="0"/>
                <a:cs typeface="Arial" panose="020B0604020202020204" pitchFamily="34" charset="0"/>
              </a:rPr>
              <a:t>Challenges and constraints</a:t>
            </a:r>
          </a:p>
          <a:p>
            <a:r>
              <a:rPr lang="en-US" altLang="zh-CN" b="1" dirty="0">
                <a:latin typeface="Arial" panose="020B0604020202020204" pitchFamily="34" charset="0"/>
                <a:cs typeface="Arial" panose="020B0604020202020204" pitchFamily="34" charset="0"/>
              </a:rPr>
              <a:t>Overview of topics covered</a:t>
            </a:r>
            <a:endParaRPr lang="zh-CN"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0051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Overview of topics covered</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515600" cy="4855093"/>
          </a:xfrm>
        </p:spPr>
        <p:txBody>
          <a:bodyPr>
            <a:noAutofit/>
          </a:bodyPr>
          <a:lstStyle/>
          <a:p>
            <a:pPr marL="0" lvl="1" indent="0">
              <a:lnSpc>
                <a:spcPct val="120000"/>
              </a:lnSpc>
              <a:buClr>
                <a:schemeClr val="accent1"/>
              </a:buClr>
              <a:buNone/>
            </a:pPr>
            <a:r>
              <a:rPr lang="en-US" altLang="zh-CN" sz="2800" b="1" dirty="0">
                <a:solidFill>
                  <a:schemeClr val="accent1">
                    <a:lumMod val="75000"/>
                  </a:schemeClr>
                </a:solidFill>
                <a:latin typeface="Arial" panose="020B0604020202020204" pitchFamily="34" charset="0"/>
                <a:cs typeface="Arial" panose="020B0604020202020204" pitchFamily="34" charset="0"/>
              </a:rPr>
              <a:t>Part One: Introduction</a:t>
            </a:r>
          </a:p>
          <a:p>
            <a:pPr lvl="1">
              <a:lnSpc>
                <a:spcPct val="120000"/>
              </a:lnSpc>
            </a:pPr>
            <a:r>
              <a:rPr lang="en-US" altLang="zh-CN" dirty="0">
                <a:latin typeface="Arial" panose="020B0604020202020204" pitchFamily="34" charset="0"/>
                <a:cs typeface="Arial" panose="020B0604020202020204" pitchFamily="34" charset="0"/>
              </a:rPr>
              <a:t>1 Motivation for a Network of Wireless Sensor Nodes</a:t>
            </a:r>
          </a:p>
          <a:p>
            <a:pPr lvl="1">
              <a:lnSpc>
                <a:spcPct val="120000"/>
              </a:lnSpc>
            </a:pPr>
            <a:r>
              <a:rPr lang="en-US" altLang="zh-CN" dirty="0">
                <a:latin typeface="Arial" panose="020B0604020202020204" pitchFamily="34" charset="0"/>
                <a:cs typeface="Arial" panose="020B0604020202020204" pitchFamily="34" charset="0"/>
              </a:rPr>
              <a:t>2 Applications</a:t>
            </a:r>
          </a:p>
          <a:p>
            <a:pPr lvl="1">
              <a:lnSpc>
                <a:spcPct val="120000"/>
              </a:lnSpc>
            </a:pPr>
            <a:r>
              <a:rPr lang="en-US" altLang="zh-CN" dirty="0">
                <a:latin typeface="Arial" panose="020B0604020202020204" pitchFamily="34" charset="0"/>
                <a:cs typeface="Arial" panose="020B0604020202020204" pitchFamily="34" charset="0"/>
              </a:rPr>
              <a:t>3 Node Architecture</a:t>
            </a:r>
          </a:p>
          <a:p>
            <a:pPr lvl="1">
              <a:lnSpc>
                <a:spcPct val="120000"/>
              </a:lnSpc>
            </a:pPr>
            <a:r>
              <a:rPr lang="en-US" altLang="zh-CN" dirty="0">
                <a:latin typeface="Arial" panose="020B0604020202020204" pitchFamily="34" charset="0"/>
                <a:cs typeface="Arial" panose="020B0604020202020204" pitchFamily="34" charset="0"/>
              </a:rPr>
              <a:t>4 Operating Systems</a:t>
            </a:r>
          </a:p>
          <a:p>
            <a:pPr marL="0" lvl="2" indent="0">
              <a:lnSpc>
                <a:spcPct val="120000"/>
              </a:lnSpc>
              <a:buClr>
                <a:schemeClr val="accent1"/>
              </a:buClr>
              <a:buSzPct val="50000"/>
              <a:buNone/>
            </a:pPr>
            <a:r>
              <a:rPr lang="en-US" altLang="zh-CN" sz="2400" b="1" dirty="0">
                <a:solidFill>
                  <a:schemeClr val="accent1">
                    <a:lumMod val="75000"/>
                  </a:schemeClr>
                </a:solidFill>
                <a:latin typeface="Arial" panose="020B0604020202020204" pitchFamily="34" charset="0"/>
                <a:cs typeface="Arial" panose="020B0604020202020204" pitchFamily="34" charset="0"/>
              </a:rPr>
              <a:t>Part Two: Basic Architecture Framework</a:t>
            </a:r>
          </a:p>
          <a:p>
            <a:pPr lvl="1">
              <a:lnSpc>
                <a:spcPct val="120000"/>
              </a:lnSpc>
            </a:pPr>
            <a:r>
              <a:rPr lang="en-US" altLang="zh-CN" dirty="0">
                <a:latin typeface="Arial" panose="020B0604020202020204" pitchFamily="34" charset="0"/>
                <a:cs typeface="Arial" panose="020B0604020202020204" pitchFamily="34" charset="0"/>
              </a:rPr>
              <a:t>5 Physical Layer</a:t>
            </a:r>
          </a:p>
          <a:p>
            <a:pPr lvl="1">
              <a:lnSpc>
                <a:spcPct val="120000"/>
              </a:lnSpc>
            </a:pPr>
            <a:r>
              <a:rPr lang="en-US" altLang="zh-CN" dirty="0">
                <a:latin typeface="Arial" panose="020B0604020202020204" pitchFamily="34" charset="0"/>
                <a:cs typeface="Arial" panose="020B0604020202020204" pitchFamily="34" charset="0"/>
              </a:rPr>
              <a:t>6 Medium Access Control</a:t>
            </a:r>
          </a:p>
          <a:p>
            <a:pPr lvl="1">
              <a:lnSpc>
                <a:spcPct val="120000"/>
              </a:lnSpc>
            </a:pPr>
            <a:r>
              <a:rPr lang="en-US" altLang="zh-CN" dirty="0">
                <a:latin typeface="Arial" panose="020B0604020202020204" pitchFamily="34" charset="0"/>
                <a:cs typeface="Arial" panose="020B0604020202020204" pitchFamily="34" charset="0"/>
              </a:rPr>
              <a:t>7 Network Layer</a:t>
            </a:r>
          </a:p>
        </p:txBody>
      </p:sp>
    </p:spTree>
    <p:extLst>
      <p:ext uri="{BB962C8B-B14F-4D97-AF65-F5344CB8AC3E}">
        <p14:creationId xmlns:p14="http://schemas.microsoft.com/office/powerpoint/2010/main" val="39768418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Overview of topics covered</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4761787"/>
          </a:xfrm>
        </p:spPr>
        <p:txBody>
          <a:bodyPr>
            <a:noAutofit/>
          </a:bodyPr>
          <a:lstStyle/>
          <a:p>
            <a:pPr marL="0" lvl="1" indent="0">
              <a:lnSpc>
                <a:spcPct val="120000"/>
              </a:lnSpc>
              <a:buClr>
                <a:schemeClr val="accent1"/>
              </a:buClr>
              <a:buSzPct val="50000"/>
              <a:buNone/>
            </a:pPr>
            <a:r>
              <a:rPr lang="en-US" altLang="zh-CN" sz="2800" b="1" dirty="0">
                <a:solidFill>
                  <a:schemeClr val="accent1">
                    <a:lumMod val="75000"/>
                  </a:schemeClr>
                </a:solidFill>
                <a:latin typeface="Arial" panose="020B0604020202020204" pitchFamily="34" charset="0"/>
                <a:cs typeface="Arial" panose="020B0604020202020204" pitchFamily="34" charset="0"/>
              </a:rPr>
              <a:t>Part Three: Node and Network Management</a:t>
            </a:r>
          </a:p>
          <a:p>
            <a:pPr lvl="1">
              <a:lnSpc>
                <a:spcPct val="120000"/>
              </a:lnSpc>
            </a:pPr>
            <a:r>
              <a:rPr lang="en-US" altLang="zh-CN" dirty="0">
                <a:latin typeface="Arial" panose="020B0604020202020204" pitchFamily="34" charset="0"/>
                <a:cs typeface="Arial" panose="020B0604020202020204" pitchFamily="34" charset="0"/>
              </a:rPr>
              <a:t>8 Power Management</a:t>
            </a:r>
          </a:p>
          <a:p>
            <a:pPr lvl="1">
              <a:lnSpc>
                <a:spcPct val="120000"/>
              </a:lnSpc>
            </a:pPr>
            <a:r>
              <a:rPr lang="en-US" altLang="zh-CN" dirty="0">
                <a:latin typeface="Arial" panose="020B0604020202020204" pitchFamily="34" charset="0"/>
                <a:cs typeface="Arial" panose="020B0604020202020204" pitchFamily="34" charset="0"/>
              </a:rPr>
              <a:t>9 Time Synchronization</a:t>
            </a:r>
          </a:p>
          <a:p>
            <a:pPr lvl="1">
              <a:lnSpc>
                <a:spcPct val="120000"/>
              </a:lnSpc>
            </a:pPr>
            <a:r>
              <a:rPr lang="en-US" altLang="zh-CN" dirty="0">
                <a:latin typeface="Arial" panose="020B0604020202020204" pitchFamily="34" charset="0"/>
                <a:cs typeface="Arial" panose="020B0604020202020204" pitchFamily="34" charset="0"/>
              </a:rPr>
              <a:t>10 Localization</a:t>
            </a:r>
          </a:p>
          <a:p>
            <a:pPr lvl="1">
              <a:lnSpc>
                <a:spcPct val="120000"/>
              </a:lnSpc>
            </a:pPr>
            <a:r>
              <a:rPr lang="en-US" altLang="zh-CN" dirty="0">
                <a:latin typeface="Arial" panose="020B0604020202020204" pitchFamily="34" charset="0"/>
                <a:cs typeface="Arial" panose="020B0604020202020204" pitchFamily="34" charset="0"/>
              </a:rPr>
              <a:t>11 Coverage</a:t>
            </a:r>
          </a:p>
          <a:p>
            <a:pPr marL="0" lvl="1" indent="0">
              <a:lnSpc>
                <a:spcPct val="120000"/>
              </a:lnSpc>
              <a:buClr>
                <a:schemeClr val="accent1"/>
              </a:buClr>
              <a:buSzPct val="50000"/>
              <a:buNone/>
            </a:pPr>
            <a:r>
              <a:rPr lang="en-US" altLang="zh-CN" sz="2800" b="1" dirty="0">
                <a:solidFill>
                  <a:schemeClr val="accent1">
                    <a:lumMod val="75000"/>
                  </a:schemeClr>
                </a:solidFill>
                <a:latin typeface="Arial" panose="020B0604020202020204" pitchFamily="34" charset="0"/>
                <a:cs typeface="Arial" panose="020B0604020202020204" pitchFamily="34" charset="0"/>
              </a:rPr>
              <a:t>Part Four: Other Specific Types of WSN</a:t>
            </a:r>
          </a:p>
          <a:p>
            <a:pPr lvl="1">
              <a:lnSpc>
                <a:spcPct val="120000"/>
              </a:lnSpc>
            </a:pPr>
            <a:r>
              <a:rPr lang="en-US" altLang="zh-CN" dirty="0">
                <a:latin typeface="Arial" panose="020B0604020202020204" pitchFamily="34" charset="0"/>
                <a:cs typeface="Arial" panose="020B0604020202020204" pitchFamily="34" charset="0"/>
              </a:rPr>
              <a:t>12 Multimedia Sensor Networks</a:t>
            </a:r>
          </a:p>
          <a:p>
            <a:pPr lvl="1">
              <a:lnSpc>
                <a:spcPct val="120000"/>
              </a:lnSpc>
            </a:pPr>
            <a:r>
              <a:rPr lang="en-US" altLang="zh-CN" dirty="0">
                <a:latin typeface="Arial" panose="020B0604020202020204" pitchFamily="34" charset="0"/>
                <a:cs typeface="Arial" panose="020B0604020202020204" pitchFamily="34" charset="0"/>
              </a:rPr>
              <a:t>13 Mobile Crowd-Sensing Networks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31068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674624"/>
            <a:ext cx="9144000" cy="2387600"/>
          </a:xfrm>
        </p:spPr>
        <p:txBody>
          <a:bodyPr>
            <a:normAutofit/>
          </a:bodyPr>
          <a:lstStyle/>
          <a:p>
            <a:pPr>
              <a:lnSpc>
                <a:spcPct val="120000"/>
              </a:lnSpc>
            </a:pPr>
            <a:r>
              <a:rPr lang="en-US" altLang="zh-CN" sz="4400" b="1" dirty="0">
                <a:solidFill>
                  <a:schemeClr val="accent1">
                    <a:lumMod val="75000"/>
                  </a:schemeClr>
                </a:solidFill>
                <a:latin typeface="微软雅黑" panose="020B0503020204020204" pitchFamily="34" charset="-122"/>
                <a:ea typeface="微软雅黑" panose="020B0503020204020204" pitchFamily="34" charset="-122"/>
              </a:rPr>
              <a:t>Chapter 2</a:t>
            </a:r>
            <a:br>
              <a:rPr lang="en-US" altLang="zh-CN" sz="4400" b="1" dirty="0">
                <a:solidFill>
                  <a:schemeClr val="accent1">
                    <a:lumMod val="75000"/>
                  </a:schemeClr>
                </a:solidFill>
                <a:latin typeface="微软雅黑" panose="020B0503020204020204" pitchFamily="34" charset="-122"/>
                <a:ea typeface="微软雅黑" panose="020B0503020204020204" pitchFamily="34" charset="-122"/>
              </a:rPr>
            </a:br>
            <a:r>
              <a:rPr lang="en-US" altLang="zh-CN" sz="4400" b="1" dirty="0">
                <a:latin typeface="微软雅黑" panose="020B0503020204020204" pitchFamily="34" charset="-122"/>
                <a:ea typeface="微软雅黑" panose="020B0503020204020204" pitchFamily="34" charset="-122"/>
              </a:rPr>
              <a:t>Applications</a:t>
            </a:r>
            <a:endParaRPr lang="zh-CN" altLang="en-US" sz="4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468898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5032375"/>
          </a:xfrm>
        </p:spPr>
        <p:txBody>
          <a:bodyPr>
            <a:normAutofit fontScale="25000" lnSpcReduction="20000"/>
          </a:bodyPr>
          <a:lstStyle/>
          <a:p>
            <a:pPr>
              <a:lnSpc>
                <a:spcPct val="140000"/>
              </a:lnSpc>
              <a:spcBef>
                <a:spcPts val="0"/>
              </a:spcBef>
            </a:pPr>
            <a:r>
              <a:rPr lang="en-US" sz="9600" b="1" dirty="0">
                <a:latin typeface="Arial" panose="020B0604020202020204" pitchFamily="34" charset="0"/>
                <a:cs typeface="Arial" panose="020B0604020202020204" pitchFamily="34" charset="0"/>
              </a:rPr>
              <a:t>Structural Health Monitoring </a:t>
            </a:r>
          </a:p>
          <a:p>
            <a:pPr lvl="1">
              <a:lnSpc>
                <a:spcPct val="140000"/>
              </a:lnSpc>
              <a:spcBef>
                <a:spcPts val="0"/>
              </a:spcBef>
            </a:pPr>
            <a:r>
              <a:rPr lang="en-US" sz="8000" b="1" dirty="0" err="1">
                <a:latin typeface="Arial" panose="020B0604020202020204" pitchFamily="34" charset="0"/>
                <a:cs typeface="Arial" panose="020B0604020202020204" pitchFamily="34" charset="0"/>
              </a:rPr>
              <a:t>Wisden</a:t>
            </a:r>
            <a:r>
              <a:rPr lang="en-US" sz="8000" b="1" dirty="0">
                <a:latin typeface="Arial" panose="020B0604020202020204" pitchFamily="34" charset="0"/>
                <a:cs typeface="Arial" panose="020B0604020202020204" pitchFamily="34" charset="0"/>
              </a:rPr>
              <a:t> </a:t>
            </a:r>
          </a:p>
          <a:p>
            <a:pPr lvl="1">
              <a:lnSpc>
                <a:spcPct val="140000"/>
              </a:lnSpc>
              <a:spcBef>
                <a:spcPts val="0"/>
              </a:spcBef>
            </a:pPr>
            <a:r>
              <a:rPr lang="en-US" sz="8000" b="1" dirty="0">
                <a:latin typeface="Arial" panose="020B0604020202020204" pitchFamily="34" charset="0"/>
                <a:cs typeface="Arial" panose="020B0604020202020204" pitchFamily="34" charset="0"/>
              </a:rPr>
              <a:t>Golden Gate Bridge </a:t>
            </a:r>
          </a:p>
          <a:p>
            <a:pPr>
              <a:lnSpc>
                <a:spcPct val="140000"/>
              </a:lnSpc>
              <a:spcBef>
                <a:spcPts val="0"/>
              </a:spcBef>
            </a:pPr>
            <a:r>
              <a:rPr lang="en-US" sz="9600" dirty="0">
                <a:latin typeface="Arial" panose="020B0604020202020204" pitchFamily="34" charset="0"/>
                <a:cs typeface="Arial" panose="020B0604020202020204" pitchFamily="34" charset="0"/>
              </a:rPr>
              <a:t>Traffic Control</a:t>
            </a:r>
          </a:p>
          <a:p>
            <a:pPr lvl="1">
              <a:lnSpc>
                <a:spcPct val="140000"/>
              </a:lnSpc>
              <a:spcBef>
                <a:spcPts val="0"/>
              </a:spcBef>
            </a:pPr>
            <a:r>
              <a:rPr lang="en-US" sz="8000" dirty="0" err="1">
                <a:latin typeface="Arial" panose="020B0604020202020204" pitchFamily="34" charset="0"/>
                <a:cs typeface="Arial" panose="020B0604020202020204" pitchFamily="34" charset="0"/>
              </a:rPr>
              <a:t>Knaian</a:t>
            </a:r>
            <a:r>
              <a:rPr lang="en-US" sz="8000" dirty="0">
                <a:latin typeface="Arial" panose="020B0604020202020204" pitchFamily="34" charset="0"/>
                <a:cs typeface="Arial" panose="020B0604020202020204" pitchFamily="34" charset="0"/>
              </a:rPr>
              <a:t> (2000) </a:t>
            </a:r>
          </a:p>
          <a:p>
            <a:pPr lvl="1">
              <a:lnSpc>
                <a:spcPct val="140000"/>
              </a:lnSpc>
              <a:spcBef>
                <a:spcPts val="0"/>
              </a:spcBef>
            </a:pPr>
            <a:r>
              <a:rPr lang="en-US" sz="8000" dirty="0" err="1">
                <a:latin typeface="Arial" panose="020B0604020202020204" pitchFamily="34" charset="0"/>
                <a:cs typeface="Arial" panose="020B0604020202020204" pitchFamily="34" charset="0"/>
              </a:rPr>
              <a:t>Arora</a:t>
            </a:r>
            <a:r>
              <a:rPr lang="en-US" sz="8000" dirty="0">
                <a:latin typeface="Arial" panose="020B0604020202020204" pitchFamily="34" charset="0"/>
                <a:cs typeface="Arial" panose="020B0604020202020204" pitchFamily="34" charset="0"/>
              </a:rPr>
              <a:t> (2004) </a:t>
            </a:r>
          </a:p>
          <a:p>
            <a:pPr>
              <a:lnSpc>
                <a:spcPct val="140000"/>
              </a:lnSpc>
              <a:spcBef>
                <a:spcPts val="0"/>
              </a:spcBef>
            </a:pPr>
            <a:r>
              <a:rPr lang="en-US" sz="9600" dirty="0">
                <a:latin typeface="Arial" panose="020B0604020202020204" pitchFamily="34" charset="0"/>
                <a:cs typeface="Arial" panose="020B0604020202020204" pitchFamily="34" charset="0"/>
              </a:rPr>
              <a:t>Precision Agriculture</a:t>
            </a:r>
          </a:p>
          <a:p>
            <a:pPr lvl="1">
              <a:lnSpc>
                <a:spcPct val="140000"/>
              </a:lnSpc>
              <a:spcBef>
                <a:spcPts val="0"/>
              </a:spcBef>
            </a:pPr>
            <a:r>
              <a:rPr lang="en-US" sz="8000" dirty="0">
                <a:latin typeface="Arial" panose="020B0604020202020204" pitchFamily="34" charset="0"/>
                <a:cs typeface="Arial" panose="020B0604020202020204" pitchFamily="34" charset="0"/>
              </a:rPr>
              <a:t>Wine </a:t>
            </a:r>
            <a:r>
              <a:rPr lang="en-US" sz="8000" dirty="0" err="1">
                <a:latin typeface="Arial" panose="020B0604020202020204" pitchFamily="34" charset="0"/>
                <a:cs typeface="Arial" panose="020B0604020202020204" pitchFamily="34" charset="0"/>
              </a:rPr>
              <a:t>Vinyard</a:t>
            </a:r>
            <a:r>
              <a:rPr lang="en-US" sz="8000" dirty="0">
                <a:latin typeface="Arial" panose="020B0604020202020204" pitchFamily="34" charset="0"/>
                <a:cs typeface="Arial" panose="020B0604020202020204" pitchFamily="34" charset="0"/>
              </a:rPr>
              <a:t> (2004) </a:t>
            </a:r>
          </a:p>
          <a:p>
            <a:pPr lvl="1">
              <a:lnSpc>
                <a:spcPct val="140000"/>
              </a:lnSpc>
              <a:spcBef>
                <a:spcPts val="0"/>
              </a:spcBef>
            </a:pPr>
            <a:r>
              <a:rPr lang="en-US" sz="8000" dirty="0" err="1">
                <a:latin typeface="Arial" panose="020B0604020202020204" pitchFamily="34" charset="0"/>
                <a:cs typeface="Arial" panose="020B0604020202020204" pitchFamily="34" charset="0"/>
              </a:rPr>
              <a:t>Lofar</a:t>
            </a:r>
            <a:r>
              <a:rPr lang="en-US" sz="8000" dirty="0">
                <a:latin typeface="Arial" panose="020B0604020202020204" pitchFamily="34" charset="0"/>
                <a:cs typeface="Arial" panose="020B0604020202020204" pitchFamily="34" charset="0"/>
              </a:rPr>
              <a:t> Agro (2005) </a:t>
            </a:r>
          </a:p>
          <a:p>
            <a:pPr marL="228600" lvl="1">
              <a:lnSpc>
                <a:spcPct val="140000"/>
              </a:lnSpc>
              <a:spcBef>
                <a:spcPts val="0"/>
              </a:spcBef>
              <a:buClr>
                <a:schemeClr val="accent1"/>
              </a:buClr>
            </a:pPr>
            <a:r>
              <a:rPr lang="en-US" sz="9600" dirty="0">
                <a:latin typeface="Arial" panose="020B0604020202020204" pitchFamily="34" charset="0"/>
                <a:cs typeface="Arial" panose="020B0604020202020204" pitchFamily="34" charset="0"/>
              </a:rPr>
              <a:t>Active Volcano</a:t>
            </a:r>
          </a:p>
          <a:p>
            <a:pPr lvl="1">
              <a:lnSpc>
                <a:spcPct val="140000"/>
              </a:lnSpc>
              <a:spcBef>
                <a:spcPts val="0"/>
              </a:spcBef>
            </a:pPr>
            <a:r>
              <a:rPr lang="en-US" sz="8000" dirty="0" err="1">
                <a:latin typeface="Arial" panose="020B0604020202020204" pitchFamily="34" charset="0"/>
                <a:cs typeface="Arial" panose="020B0604020202020204" pitchFamily="34" charset="0"/>
              </a:rPr>
              <a:t>Volcán</a:t>
            </a:r>
            <a:r>
              <a:rPr lang="en-US" sz="8000" dirty="0">
                <a:latin typeface="Arial" panose="020B0604020202020204" pitchFamily="34" charset="0"/>
                <a:cs typeface="Arial" panose="020B0604020202020204" pitchFamily="34" charset="0"/>
              </a:rPr>
              <a:t> Tungurahua </a:t>
            </a:r>
          </a:p>
        </p:txBody>
      </p:sp>
    </p:spTree>
    <p:extLst>
      <p:ext uri="{BB962C8B-B14F-4D97-AF65-F5344CB8AC3E}">
        <p14:creationId xmlns:p14="http://schemas.microsoft.com/office/powerpoint/2010/main" val="18800971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Structural Health Monitoring </a:t>
            </a:r>
          </a:p>
        </p:txBody>
      </p:sp>
      <p:sp>
        <p:nvSpPr>
          <p:cNvPr id="3" name="Content Placeholder 2"/>
          <p:cNvSpPr>
            <a:spLocks noGrp="1"/>
          </p:cNvSpPr>
          <p:nvPr>
            <p:ph idx="1"/>
          </p:nvPr>
        </p:nvSpPr>
        <p:spPr>
          <a:xfrm>
            <a:off x="838200" y="1825625"/>
            <a:ext cx="10515600" cy="4563452"/>
          </a:xfrm>
        </p:spPr>
        <p:txBody>
          <a:bodyPr>
            <a:normAutofit fontScale="85000" lnSpcReduction="10000"/>
          </a:bodyPr>
          <a:lstStyle/>
          <a:p>
            <a:pPr>
              <a:lnSpc>
                <a:spcPct val="130000"/>
              </a:lnSpc>
            </a:pPr>
            <a:r>
              <a:rPr lang="en-US" dirty="0">
                <a:latin typeface="Arial" panose="020B0604020202020204" pitchFamily="34" charset="0"/>
                <a:cs typeface="Arial" panose="020B0604020202020204" pitchFamily="34" charset="0"/>
              </a:rPr>
              <a:t>Motivation: </a:t>
            </a:r>
          </a:p>
          <a:p>
            <a:pPr lvl="1">
              <a:lnSpc>
                <a:spcPct val="130000"/>
              </a:lnSpc>
            </a:pPr>
            <a:r>
              <a:rPr lang="en-US" sz="2600" dirty="0">
                <a:latin typeface="Arial" panose="020B0604020202020204" pitchFamily="34" charset="0"/>
                <a:cs typeface="Arial" panose="020B0604020202020204" pitchFamily="34" charset="0"/>
              </a:rPr>
              <a:t>Events: </a:t>
            </a:r>
          </a:p>
          <a:p>
            <a:pPr lvl="2">
              <a:lnSpc>
                <a:spcPct val="130000"/>
              </a:lnSpc>
            </a:pPr>
            <a:r>
              <a:rPr lang="en-US" sz="2400" dirty="0">
                <a:latin typeface="Arial" panose="020B0604020202020204" pitchFamily="34" charset="0"/>
                <a:cs typeface="Arial" panose="020B0604020202020204" pitchFamily="34" charset="0"/>
              </a:rPr>
              <a:t>On August 2, 2007, a highway bridge unexpectedly collapsed in Minnesota </a:t>
            </a:r>
          </a:p>
          <a:p>
            <a:pPr lvl="2">
              <a:lnSpc>
                <a:spcPct val="130000"/>
              </a:lnSpc>
            </a:pPr>
            <a:r>
              <a:rPr lang="en-US" sz="2400" dirty="0">
                <a:latin typeface="Arial" panose="020B0604020202020204" pitchFamily="34" charset="0"/>
                <a:cs typeface="Arial" panose="020B0604020202020204" pitchFamily="34" charset="0"/>
              </a:rPr>
              <a:t>Nine people were killed in the event </a:t>
            </a:r>
          </a:p>
          <a:p>
            <a:pPr lvl="2">
              <a:lnSpc>
                <a:spcPct val="130000"/>
              </a:lnSpc>
            </a:pPr>
            <a:r>
              <a:rPr lang="en-US" sz="2400" dirty="0">
                <a:latin typeface="Arial" panose="020B0604020202020204" pitchFamily="34" charset="0"/>
                <a:cs typeface="Arial" panose="020B0604020202020204" pitchFamily="34" charset="0"/>
              </a:rPr>
              <a:t>Potential causes: wear and tear, weather and the weight of a nearby construction project </a:t>
            </a:r>
          </a:p>
          <a:p>
            <a:pPr lvl="2">
              <a:lnSpc>
                <a:spcPct val="130000"/>
              </a:lnSpc>
            </a:pPr>
            <a:r>
              <a:rPr lang="en-US" sz="2400" dirty="0">
                <a:latin typeface="Arial" panose="020B0604020202020204" pitchFamily="34" charset="0"/>
                <a:cs typeface="Arial" panose="020B0604020202020204" pitchFamily="34" charset="0"/>
              </a:rPr>
              <a:t>In fact, the BBC reported (August 14, 2007) that China had identified more than 6,000 bridges that were damaged or considered to be dangerous</a:t>
            </a:r>
          </a:p>
          <a:p>
            <a:pPr lvl="1">
              <a:lnSpc>
                <a:spcPct val="130000"/>
              </a:lnSpc>
            </a:pPr>
            <a:r>
              <a:rPr lang="en-US" sz="2600" dirty="0">
                <a:latin typeface="Arial" panose="020B0604020202020204" pitchFamily="34" charset="0"/>
                <a:cs typeface="Arial" panose="020B0604020202020204" pitchFamily="34" charset="0"/>
              </a:rPr>
              <a:t>These accidents motivate wireless sensor networks for monitoring bridges and similar structures </a:t>
            </a:r>
          </a:p>
          <a:p>
            <a:pPr lvl="3">
              <a:lnSpc>
                <a:spcPct val="130000"/>
              </a:lnSpc>
            </a:pPr>
            <a:endParaRPr lang="en-US" dirty="0">
              <a:latin typeface="Arial" panose="020B0604020202020204" pitchFamily="34" charset="0"/>
              <a:cs typeface="Arial" panose="020B0604020202020204" pitchFamily="34" charset="0"/>
            </a:endParaRPr>
          </a:p>
          <a:p>
            <a:pPr>
              <a:lnSpc>
                <a:spcPct val="13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26358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Structural Health Monitoring</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lnSpc>
                <a:spcPct val="120000"/>
              </a:lnSpc>
            </a:pPr>
            <a:r>
              <a:rPr lang="en-US" sz="2400" dirty="0">
                <a:latin typeface="Arial" panose="020B0604020202020204" pitchFamily="34" charset="0"/>
                <a:cs typeface="Arial" panose="020B0604020202020204" pitchFamily="34" charset="0"/>
              </a:rPr>
              <a:t>Traditionally Inspections: </a:t>
            </a:r>
          </a:p>
          <a:p>
            <a:pPr lvl="1">
              <a:lnSpc>
                <a:spcPct val="120000"/>
              </a:lnSpc>
            </a:pPr>
            <a:r>
              <a:rPr lang="en-US" sz="2000" i="1" dirty="0">
                <a:solidFill>
                  <a:srgbClr val="FF0000"/>
                </a:solidFill>
                <a:latin typeface="Arial" panose="020B0604020202020204" pitchFamily="34" charset="0"/>
                <a:cs typeface="Arial" panose="020B0604020202020204" pitchFamily="34" charset="0"/>
              </a:rPr>
              <a:t>Visual Inspection </a:t>
            </a:r>
            <a:r>
              <a:rPr lang="en-US" sz="2000" dirty="0">
                <a:latin typeface="Arial" panose="020B0604020202020204" pitchFamily="34" charset="0"/>
                <a:cs typeface="Arial" panose="020B0604020202020204" pitchFamily="34" charset="0"/>
              </a:rPr>
              <a:t>: everyday</a:t>
            </a:r>
          </a:p>
          <a:p>
            <a:pPr marL="457200" lvl="1" indent="0">
              <a:lnSpc>
                <a:spcPct val="120000"/>
              </a:lnSpc>
              <a:buNone/>
            </a:pPr>
            <a:r>
              <a:rPr lang="en-US" sz="2000" i="1" dirty="0">
                <a:latin typeface="Arial" panose="020B0604020202020204" pitchFamily="34" charset="0"/>
                <a:cs typeface="Arial" panose="020B0604020202020204" pitchFamily="34" charset="0"/>
              </a:rPr>
              <a:t>    Labor-intensive</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tedious, inconsistent </a:t>
            </a:r>
            <a:r>
              <a:rPr lang="en-US" sz="2000" dirty="0">
                <a:latin typeface="Arial" panose="020B0604020202020204" pitchFamily="34" charset="0"/>
                <a:cs typeface="Arial" panose="020B0604020202020204" pitchFamily="34" charset="0"/>
              </a:rPr>
              <a:t>and </a:t>
            </a:r>
            <a:r>
              <a:rPr lang="en-US" sz="2000" i="1" dirty="0">
                <a:latin typeface="Arial" panose="020B0604020202020204" pitchFamily="34" charset="0"/>
                <a:cs typeface="Arial" panose="020B0604020202020204" pitchFamily="34" charset="0"/>
              </a:rPr>
              <a:t>subjective </a:t>
            </a:r>
            <a:endParaRPr lang="en-US" sz="2000" dirty="0">
              <a:latin typeface="Arial" panose="020B0604020202020204" pitchFamily="34" charset="0"/>
              <a:cs typeface="Arial" panose="020B0604020202020204" pitchFamily="34" charset="0"/>
            </a:endParaRPr>
          </a:p>
          <a:p>
            <a:pPr lvl="1">
              <a:lnSpc>
                <a:spcPct val="120000"/>
              </a:lnSpc>
            </a:pPr>
            <a:r>
              <a:rPr lang="en-US" sz="2000" i="1" dirty="0">
                <a:solidFill>
                  <a:srgbClr val="FF0000"/>
                </a:solidFill>
                <a:latin typeface="Arial" panose="020B0604020202020204" pitchFamily="34" charset="0"/>
                <a:cs typeface="Arial" panose="020B0604020202020204" pitchFamily="34" charset="0"/>
              </a:rPr>
              <a:t>Basic Inspections :</a:t>
            </a:r>
            <a:r>
              <a:rPr lang="en-US" sz="2000" dirty="0">
                <a:latin typeface="Arial" panose="020B0604020202020204" pitchFamily="34" charset="0"/>
                <a:cs typeface="Arial" panose="020B0604020202020204" pitchFamily="34" charset="0"/>
              </a:rPr>
              <a:t> at least once a year </a:t>
            </a:r>
          </a:p>
          <a:p>
            <a:pPr lvl="1">
              <a:lnSpc>
                <a:spcPct val="120000"/>
              </a:lnSpc>
            </a:pPr>
            <a:r>
              <a:rPr lang="en-US" sz="2000" i="1" dirty="0">
                <a:solidFill>
                  <a:srgbClr val="FF0000"/>
                </a:solidFill>
                <a:latin typeface="Arial" panose="020B0604020202020204" pitchFamily="34" charset="0"/>
                <a:cs typeface="Arial" panose="020B0604020202020204" pitchFamily="34" charset="0"/>
              </a:rPr>
              <a:t>Detailed Inspection :</a:t>
            </a:r>
            <a:r>
              <a:rPr lang="en-US" sz="2000" dirty="0">
                <a:latin typeface="Arial" panose="020B0604020202020204" pitchFamily="34" charset="0"/>
                <a:cs typeface="Arial" panose="020B0604020202020204" pitchFamily="34" charset="0"/>
              </a:rPr>
              <a:t> at least every five years on selected bridges </a:t>
            </a:r>
          </a:p>
          <a:p>
            <a:pPr lvl="1">
              <a:lnSpc>
                <a:spcPct val="120000"/>
              </a:lnSpc>
            </a:pPr>
            <a:r>
              <a:rPr lang="en-US" sz="2000" i="1" dirty="0">
                <a:solidFill>
                  <a:srgbClr val="FF0000"/>
                </a:solidFill>
                <a:latin typeface="Arial" panose="020B0604020202020204" pitchFamily="34" charset="0"/>
                <a:cs typeface="Arial" panose="020B0604020202020204" pitchFamily="34" charset="0"/>
              </a:rPr>
              <a:t>Special Inspections :</a:t>
            </a:r>
            <a:r>
              <a:rPr lang="en-US" sz="2000" dirty="0">
                <a:latin typeface="Arial" panose="020B0604020202020204" pitchFamily="34" charset="0"/>
                <a:cs typeface="Arial" panose="020B0604020202020204" pitchFamily="34" charset="0"/>
              </a:rPr>
              <a:t> according to technical needs</a:t>
            </a:r>
          </a:p>
          <a:p>
            <a:pPr marL="457200" lvl="1" indent="0">
              <a:lnSpc>
                <a:spcPct val="120000"/>
              </a:lnSpc>
              <a:buNone/>
            </a:pPr>
            <a:r>
              <a:rPr lang="en-US" sz="2000" dirty="0">
                <a:latin typeface="Arial" panose="020B0604020202020204" pitchFamily="34" charset="0"/>
                <a:cs typeface="Arial" panose="020B0604020202020204" pitchFamily="34" charset="0"/>
              </a:rPr>
              <a:t>   The rest require sophisticated tools: expensive, bulky and power consuming </a:t>
            </a:r>
          </a:p>
        </p:txBody>
      </p:sp>
    </p:spTree>
    <p:extLst>
      <p:ext uri="{BB962C8B-B14F-4D97-AF65-F5344CB8AC3E}">
        <p14:creationId xmlns:p14="http://schemas.microsoft.com/office/powerpoint/2010/main" val="10311608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Local and Global Inspections</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lnSpc>
                <a:spcPct val="120000"/>
              </a:lnSpc>
            </a:pPr>
            <a:r>
              <a:rPr lang="en-US" sz="2400" b="1" i="1" dirty="0">
                <a:solidFill>
                  <a:srgbClr val="FF0000"/>
                </a:solidFill>
                <a:latin typeface="Arial" panose="020B0604020202020204" pitchFamily="34" charset="0"/>
                <a:cs typeface="Arial" panose="020B0604020202020204" pitchFamily="34" charset="0"/>
              </a:rPr>
              <a:t>Local inspection techniques </a:t>
            </a:r>
            <a:r>
              <a:rPr lang="en-US" sz="2400" dirty="0">
                <a:latin typeface="Arial" panose="020B0604020202020204" pitchFamily="34" charset="0"/>
                <a:cs typeface="Arial" panose="020B0604020202020204" pitchFamily="34" charset="0"/>
              </a:rPr>
              <a:t>focus on detecting highly localized, imperceptible fractures in a structure </a:t>
            </a:r>
          </a:p>
          <a:p>
            <a:pPr lvl="1">
              <a:lnSpc>
                <a:spcPct val="120000"/>
              </a:lnSpc>
            </a:pPr>
            <a:r>
              <a:rPr lang="en-US" dirty="0">
                <a:latin typeface="Arial" panose="020B0604020202020204" pitchFamily="34" charset="0"/>
                <a:cs typeface="Arial" panose="020B0604020202020204" pitchFamily="34" charset="0"/>
              </a:rPr>
              <a:t>Requires:</a:t>
            </a:r>
          </a:p>
          <a:p>
            <a:pPr lvl="2">
              <a:lnSpc>
                <a:spcPct val="120000"/>
              </a:lnSpc>
            </a:pPr>
            <a:r>
              <a:rPr lang="en-US" dirty="0">
                <a:latin typeface="Arial" panose="020B0604020202020204" pitchFamily="34" charset="0"/>
                <a:cs typeface="Arial" panose="020B0604020202020204" pitchFamily="34" charset="0"/>
              </a:rPr>
              <a:t>A significant amount of time</a:t>
            </a:r>
          </a:p>
          <a:p>
            <a:pPr lvl="2">
              <a:lnSpc>
                <a:spcPct val="120000"/>
              </a:lnSpc>
            </a:pPr>
            <a:r>
              <a:rPr lang="en-US" dirty="0">
                <a:latin typeface="Arial" panose="020B0604020202020204" pitchFamily="34" charset="0"/>
                <a:cs typeface="Arial" panose="020B0604020202020204" pitchFamily="34" charset="0"/>
              </a:rPr>
              <a:t>The disruption of the normal operation of the structure </a:t>
            </a:r>
          </a:p>
          <a:p>
            <a:pPr>
              <a:lnSpc>
                <a:spcPct val="120000"/>
              </a:lnSpc>
            </a:pPr>
            <a:r>
              <a:rPr lang="en-US" sz="2400" b="1" i="1" dirty="0">
                <a:solidFill>
                  <a:srgbClr val="FF0000"/>
                </a:solidFill>
                <a:latin typeface="Arial" panose="020B0604020202020204" pitchFamily="34" charset="0"/>
                <a:cs typeface="Arial" panose="020B0604020202020204" pitchFamily="34" charset="0"/>
              </a:rPr>
              <a:t>Global inspection techniques </a:t>
            </a:r>
            <a:r>
              <a:rPr lang="en-US" sz="2400" dirty="0">
                <a:latin typeface="Arial" panose="020B0604020202020204" pitchFamily="34" charset="0"/>
                <a:cs typeface="Arial" panose="020B0604020202020204" pitchFamily="34" charset="0"/>
              </a:rPr>
              <a:t>aim to detect a damage or defect that is large enough to affect the entire structure </a:t>
            </a:r>
          </a:p>
          <a:p>
            <a:pPr lvl="1">
              <a:lnSpc>
                <a:spcPct val="120000"/>
              </a:lnSpc>
            </a:pPr>
            <a:r>
              <a:rPr lang="en-US" dirty="0">
                <a:latin typeface="Arial" panose="020B0604020202020204" pitchFamily="34" charset="0"/>
                <a:cs typeface="Arial" panose="020B0604020202020204" pitchFamily="34" charset="0"/>
              </a:rPr>
              <a:t>Researcher have been developing and testing </a:t>
            </a:r>
            <a:r>
              <a:rPr lang="en-US" i="1" dirty="0">
                <a:solidFill>
                  <a:srgbClr val="FF0000"/>
                </a:solidFill>
                <a:latin typeface="Arial" panose="020B0604020202020204" pitchFamily="34" charset="0"/>
                <a:cs typeface="Arial" panose="020B0604020202020204" pitchFamily="34" charset="0"/>
              </a:rPr>
              <a:t>wireless sensor networks as global inspection techniques </a:t>
            </a:r>
            <a:endParaRPr lang="en-US" dirty="0">
              <a:latin typeface="Arial" panose="020B0604020202020204" pitchFamily="34" charset="0"/>
              <a:cs typeface="Arial" panose="020B0604020202020204" pitchFamily="34" charset="0"/>
            </a:endParaRPr>
          </a:p>
          <a:p>
            <a:pPr lvl="1">
              <a:lnSpc>
                <a:spcPct val="120000"/>
              </a:lnSpc>
            </a:pPr>
            <a:endParaRPr lang="en-US" dirty="0">
              <a:latin typeface="Arial" panose="020B0604020202020204" pitchFamily="34" charset="0"/>
              <a:cs typeface="Arial" panose="020B0604020202020204" pitchFamily="34" charset="0"/>
            </a:endParaRPr>
          </a:p>
          <a:p>
            <a:pPr>
              <a:lnSpc>
                <a:spcPct val="120000"/>
              </a:lnSpc>
            </a:pPr>
            <a:endParaRPr lang="en-US" dirty="0">
              <a:latin typeface="Arial" panose="020B0604020202020204" pitchFamily="34" charset="0"/>
              <a:cs typeface="Arial" panose="020B0604020202020204" pitchFamily="34" charset="0"/>
            </a:endParaRPr>
          </a:p>
          <a:p>
            <a:pPr>
              <a:lnSpc>
                <a:spcPct val="120000"/>
              </a:lnSpc>
            </a:pPr>
            <a:endParaRPr lang="en-US" dirty="0">
              <a:latin typeface="Arial" panose="020B0604020202020204" pitchFamily="34" charset="0"/>
              <a:cs typeface="Arial" panose="020B0604020202020204" pitchFamily="34" charset="0"/>
            </a:endParaRPr>
          </a:p>
          <a:p>
            <a:pPr>
              <a:lnSpc>
                <a:spcPct val="12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39557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latin typeface="Arial" panose="020B0604020202020204" pitchFamily="34" charset="0"/>
                <a:cs typeface="Arial" panose="020B0604020202020204" pitchFamily="34" charset="0"/>
              </a:rPr>
              <a:t>Wisden</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825624"/>
            <a:ext cx="10761785" cy="4850667"/>
          </a:xfrm>
        </p:spPr>
        <p:txBody>
          <a:bodyPr>
            <a:normAutofit fontScale="47500" lnSpcReduction="20000"/>
          </a:bodyPr>
          <a:lstStyle/>
          <a:p>
            <a:pPr>
              <a:lnSpc>
                <a:spcPct val="140000"/>
              </a:lnSpc>
            </a:pPr>
            <a:r>
              <a:rPr lang="en-US" sz="5100" dirty="0">
                <a:latin typeface="Arial" panose="020B0604020202020204" pitchFamily="34" charset="0"/>
                <a:cs typeface="Arial" panose="020B0604020202020204" pitchFamily="34" charset="0"/>
              </a:rPr>
              <a:t>The first prototype to employ WSN for monitoring structural health </a:t>
            </a:r>
          </a:p>
          <a:p>
            <a:pPr lvl="1">
              <a:lnSpc>
                <a:spcPct val="140000"/>
              </a:lnSpc>
            </a:pPr>
            <a:r>
              <a:rPr lang="en-US" sz="5100" b="1" i="1" dirty="0">
                <a:latin typeface="Arial" panose="020B0604020202020204" pitchFamily="34" charset="0"/>
                <a:cs typeface="Arial" panose="020B0604020202020204" pitchFamily="34" charset="0"/>
              </a:rPr>
              <a:t>First deployment ---- </a:t>
            </a:r>
            <a:r>
              <a:rPr lang="en-US" sz="5100" i="1" dirty="0">
                <a:solidFill>
                  <a:srgbClr val="FF0000"/>
                </a:solidFill>
                <a:latin typeface="Arial" panose="020B0604020202020204" pitchFamily="34" charset="0"/>
                <a:cs typeface="Arial" panose="020B0604020202020204" pitchFamily="34" charset="0"/>
              </a:rPr>
              <a:t>for conducting seismic experiments </a:t>
            </a:r>
            <a:endParaRPr lang="en-US" sz="5100" dirty="0">
              <a:solidFill>
                <a:srgbClr val="FF0000"/>
              </a:solidFill>
              <a:latin typeface="Arial" panose="020B0604020202020204" pitchFamily="34" charset="0"/>
              <a:cs typeface="Arial" panose="020B0604020202020204" pitchFamily="34" charset="0"/>
            </a:endParaRPr>
          </a:p>
          <a:p>
            <a:pPr lvl="2">
              <a:lnSpc>
                <a:spcPct val="140000"/>
              </a:lnSpc>
            </a:pPr>
            <a:r>
              <a:rPr lang="en-US" sz="4200" dirty="0">
                <a:latin typeface="Arial" panose="020B0604020202020204" pitchFamily="34" charset="0"/>
                <a:cs typeface="Arial" panose="020B0604020202020204" pitchFamily="34" charset="0"/>
              </a:rPr>
              <a:t>On an imitation of a full-scale 28×28 square foot hospital ceiling </a:t>
            </a:r>
          </a:p>
          <a:p>
            <a:pPr lvl="2">
              <a:lnSpc>
                <a:spcPct val="140000"/>
              </a:lnSpc>
            </a:pPr>
            <a:r>
              <a:rPr lang="en-US" sz="4200" dirty="0">
                <a:latin typeface="Arial" panose="020B0604020202020204" pitchFamily="34" charset="0"/>
                <a:cs typeface="Arial" panose="020B0604020202020204" pitchFamily="34" charset="0"/>
              </a:rPr>
              <a:t>The overall weight which the ceiling supports is approximately 12,000 pounds </a:t>
            </a:r>
          </a:p>
          <a:p>
            <a:pPr lvl="1">
              <a:lnSpc>
                <a:spcPct val="140000"/>
              </a:lnSpc>
            </a:pPr>
            <a:r>
              <a:rPr lang="en-US" sz="5100" b="1" i="1" dirty="0">
                <a:latin typeface="Arial" panose="020B0604020202020204" pitchFamily="34" charset="0"/>
                <a:cs typeface="Arial" panose="020B0604020202020204" pitchFamily="34" charset="0"/>
              </a:rPr>
              <a:t>Second deployment </a:t>
            </a:r>
            <a:endParaRPr lang="en-US" sz="5100" dirty="0">
              <a:latin typeface="Arial" panose="020B0604020202020204" pitchFamily="34" charset="0"/>
              <a:cs typeface="Arial" panose="020B0604020202020204" pitchFamily="34" charset="0"/>
            </a:endParaRPr>
          </a:p>
          <a:p>
            <a:pPr lvl="2">
              <a:lnSpc>
                <a:spcPct val="140000"/>
              </a:lnSpc>
            </a:pPr>
            <a:r>
              <a:rPr lang="en-US" sz="4200" dirty="0">
                <a:latin typeface="Arial" panose="020B0604020202020204" pitchFamily="34" charset="0"/>
                <a:cs typeface="Arial" panose="020B0604020202020204" pitchFamily="34" charset="0"/>
              </a:rPr>
              <a:t>25 nodes (a tree topology) and a 16 bit vibration card </a:t>
            </a:r>
          </a:p>
          <a:p>
            <a:pPr lvl="2">
              <a:lnSpc>
                <a:spcPct val="140000"/>
              </a:lnSpc>
            </a:pPr>
            <a:r>
              <a:rPr lang="en-US" sz="4200" dirty="0">
                <a:latin typeface="Arial" panose="020B0604020202020204" pitchFamily="34" charset="0"/>
                <a:cs typeface="Arial" panose="020B0604020202020204" pitchFamily="34" charset="0"/>
              </a:rPr>
              <a:t>A high-sensitive </a:t>
            </a:r>
            <a:r>
              <a:rPr lang="en-US" sz="4200" dirty="0" err="1">
                <a:latin typeface="Arial" panose="020B0604020202020204" pitchFamily="34" charset="0"/>
                <a:cs typeface="Arial" panose="020B0604020202020204" pitchFamily="34" charset="0"/>
              </a:rPr>
              <a:t>triaxial</a:t>
            </a:r>
            <a:r>
              <a:rPr lang="en-US" sz="4200" dirty="0">
                <a:latin typeface="Arial" panose="020B0604020202020204" pitchFamily="34" charset="0"/>
                <a:cs typeface="Arial" panose="020B0604020202020204" pitchFamily="34" charset="0"/>
              </a:rPr>
              <a:t> accelerometer (</a:t>
            </a:r>
            <a:r>
              <a:rPr lang="zh-CN" altLang="en-US" sz="4200" dirty="0">
                <a:latin typeface="Arial" panose="020B0604020202020204" pitchFamily="34" charset="0"/>
                <a:cs typeface="Arial" panose="020B0604020202020204" pitchFamily="34" charset="0"/>
              </a:rPr>
              <a:t>三轴加速器</a:t>
            </a:r>
            <a:r>
              <a:rPr lang="en-US" sz="4200" dirty="0">
                <a:latin typeface="Arial" panose="020B0604020202020204" pitchFamily="34" charset="0"/>
                <a:cs typeface="Arial" panose="020B0604020202020204" pitchFamily="34" charset="0"/>
              </a:rPr>
              <a:t>) is attached to the vibration card </a:t>
            </a:r>
          </a:p>
          <a:p>
            <a:pPr lvl="2">
              <a:lnSpc>
                <a:spcPct val="140000"/>
              </a:lnSpc>
            </a:pPr>
            <a:r>
              <a:rPr lang="en-US" sz="4200" dirty="0">
                <a:latin typeface="Arial" panose="020B0604020202020204" pitchFamily="34" charset="0"/>
                <a:cs typeface="Arial" panose="020B0604020202020204" pitchFamily="34" charset="0"/>
              </a:rPr>
              <a:t>Designed for high-quality, low-power vibration sensing </a:t>
            </a:r>
          </a:p>
          <a:p>
            <a:pPr lvl="2">
              <a:lnSpc>
                <a:spcPct val="140000"/>
              </a:lnSpc>
            </a:pPr>
            <a:r>
              <a:rPr lang="en-US" sz="4200" dirty="0">
                <a:latin typeface="Arial" panose="020B0604020202020204" pitchFamily="34" charset="0"/>
                <a:cs typeface="Arial" panose="020B0604020202020204" pitchFamily="34" charset="0"/>
              </a:rPr>
              <a:t>The task of the network was to reliably </a:t>
            </a:r>
            <a:r>
              <a:rPr lang="en-US" sz="4200" i="1" dirty="0">
                <a:solidFill>
                  <a:srgbClr val="FF0000"/>
                </a:solidFill>
                <a:latin typeface="Arial" panose="020B0604020202020204" pitchFamily="34" charset="0"/>
                <a:cs typeface="Arial" panose="020B0604020202020204" pitchFamily="34" charset="0"/>
              </a:rPr>
              <a:t>send time-synchronized vibration data </a:t>
            </a:r>
            <a:r>
              <a:rPr lang="en-US" sz="4200" dirty="0">
                <a:latin typeface="Arial" panose="020B0604020202020204" pitchFamily="34" charset="0"/>
                <a:cs typeface="Arial" panose="020B0604020202020204" pitchFamily="34" charset="0"/>
              </a:rPr>
              <a:t>to a </a:t>
            </a:r>
            <a:r>
              <a:rPr lang="en-US" sz="4200" i="1" dirty="0">
                <a:solidFill>
                  <a:srgbClr val="FF0000"/>
                </a:solidFill>
                <a:latin typeface="Arial" panose="020B0604020202020204" pitchFamily="34" charset="0"/>
                <a:cs typeface="Arial" panose="020B0604020202020204" pitchFamily="34" charset="0"/>
              </a:rPr>
              <a:t>remote</a:t>
            </a:r>
            <a:r>
              <a:rPr lang="en-US" sz="4200" i="1" dirty="0">
                <a:latin typeface="Arial" panose="020B0604020202020204" pitchFamily="34" charset="0"/>
                <a:cs typeface="Arial" panose="020B0604020202020204" pitchFamily="34" charset="0"/>
              </a:rPr>
              <a:t> </a:t>
            </a:r>
            <a:r>
              <a:rPr lang="en-US" sz="4200" dirty="0">
                <a:latin typeface="Arial" panose="020B0604020202020204" pitchFamily="34" charset="0"/>
                <a:cs typeface="Arial" panose="020B0604020202020204" pitchFamily="34" charset="0"/>
              </a:rPr>
              <a:t>sink over a </a:t>
            </a:r>
            <a:r>
              <a:rPr lang="en-US" sz="4200" i="1" dirty="0">
                <a:solidFill>
                  <a:srgbClr val="FF0000"/>
                </a:solidFill>
                <a:latin typeface="Arial" panose="020B0604020202020204" pitchFamily="34" charset="0"/>
                <a:cs typeface="Arial" panose="020B0604020202020204" pitchFamily="34" charset="0"/>
              </a:rPr>
              <a:t>multi-hop route </a:t>
            </a:r>
          </a:p>
          <a:p>
            <a:pPr lvl="5">
              <a:lnSpc>
                <a:spcPct val="140000"/>
              </a:lnSpc>
            </a:pPr>
            <a:endParaRPr lang="en-US" dirty="0">
              <a:latin typeface="Arial" panose="020B0604020202020204" pitchFamily="34" charset="0"/>
              <a:cs typeface="Arial" panose="020B0604020202020204" pitchFamily="34" charset="0"/>
            </a:endParaRPr>
          </a:p>
          <a:p>
            <a:pPr lvl="5">
              <a:lnSpc>
                <a:spcPct val="140000"/>
              </a:lnSpc>
            </a:pPr>
            <a:endParaRPr lang="en-US" dirty="0">
              <a:latin typeface="Arial" panose="020B0604020202020204" pitchFamily="34" charset="0"/>
              <a:cs typeface="Arial" panose="020B0604020202020204" pitchFamily="34" charset="0"/>
            </a:endParaRPr>
          </a:p>
          <a:p>
            <a:pPr>
              <a:lnSpc>
                <a:spcPct val="14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51415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090031" cy="1325563"/>
          </a:xfrm>
        </p:spPr>
        <p:txBody>
          <a:bodyPr>
            <a:normAutofit/>
          </a:bodyPr>
          <a:lstStyle/>
          <a:p>
            <a:r>
              <a:rPr lang="en-US" b="1" dirty="0">
                <a:latin typeface="Arial" panose="020B0604020202020204" pitchFamily="34" charset="0"/>
                <a:cs typeface="Arial" panose="020B0604020202020204" pitchFamily="34" charset="0"/>
              </a:rPr>
              <a:t>Golden Gate Bridge (Univ. of California) </a:t>
            </a:r>
            <a:endParaRPr lang="en-US" dirty="0">
              <a:latin typeface="Arial" panose="020B0604020202020204" pitchFamily="34" charset="0"/>
              <a:cs typeface="Arial" panose="020B0604020202020204" pitchFamily="34" charset="0"/>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2174" y="1844675"/>
            <a:ext cx="7207652"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28980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Golden Gate Bridge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32195"/>
            <a:ext cx="10515600" cy="4809636"/>
          </a:xfrm>
        </p:spPr>
        <p:txBody>
          <a:bodyPr>
            <a:normAutofit fontScale="62500" lnSpcReduction="20000"/>
          </a:bodyPr>
          <a:lstStyle/>
          <a:p>
            <a:pPr>
              <a:lnSpc>
                <a:spcPct val="130000"/>
              </a:lnSpc>
            </a:pPr>
            <a:r>
              <a:rPr lang="en-US" sz="3800" dirty="0">
                <a:latin typeface="Arial" panose="020B0604020202020204" pitchFamily="34" charset="0"/>
                <a:cs typeface="Arial" panose="020B0604020202020204" pitchFamily="34" charset="0"/>
              </a:rPr>
              <a:t>64 wireless sensor nodes deployed on this bridge</a:t>
            </a:r>
          </a:p>
          <a:p>
            <a:pPr>
              <a:lnSpc>
                <a:spcPct val="130000"/>
              </a:lnSpc>
            </a:pPr>
            <a:r>
              <a:rPr lang="en-US" sz="3800" dirty="0">
                <a:latin typeface="Arial" panose="020B0604020202020204" pitchFamily="34" charset="0"/>
                <a:cs typeface="Arial" panose="020B0604020202020204" pitchFamily="34" charset="0"/>
              </a:rPr>
              <a:t>The network monitors ambient vibrations synchronously </a:t>
            </a:r>
          </a:p>
          <a:p>
            <a:pPr lvl="1">
              <a:lnSpc>
                <a:spcPct val="130000"/>
              </a:lnSpc>
            </a:pPr>
            <a:r>
              <a:rPr lang="en-US" sz="3200" dirty="0">
                <a:latin typeface="Arial" panose="020B0604020202020204" pitchFamily="34" charset="0"/>
                <a:cs typeface="Arial" panose="020B0604020202020204" pitchFamily="34" charset="0"/>
              </a:rPr>
              <a:t>1 KHz rate, ≤10μs jitter, accuracy=30μG, over a 46 hop network </a:t>
            </a:r>
          </a:p>
          <a:p>
            <a:pPr>
              <a:lnSpc>
                <a:spcPct val="130000"/>
              </a:lnSpc>
            </a:pPr>
            <a:r>
              <a:rPr lang="en-US" sz="3800" dirty="0">
                <a:latin typeface="Arial" panose="020B0604020202020204" pitchFamily="34" charset="0"/>
                <a:cs typeface="Arial" panose="020B0604020202020204" pitchFamily="34" charset="0"/>
              </a:rPr>
              <a:t>The </a:t>
            </a:r>
            <a:r>
              <a:rPr lang="en-US" sz="3800" i="1" dirty="0">
                <a:solidFill>
                  <a:srgbClr val="FF0000"/>
                </a:solidFill>
                <a:latin typeface="Arial" panose="020B0604020202020204" pitchFamily="34" charset="0"/>
                <a:cs typeface="Arial" panose="020B0604020202020204" pitchFamily="34" charset="0"/>
              </a:rPr>
              <a:t>goal</a:t>
            </a:r>
            <a:r>
              <a:rPr lang="en-US" sz="3800" i="1" dirty="0">
                <a:latin typeface="Arial" panose="020B0604020202020204" pitchFamily="34" charset="0"/>
                <a:cs typeface="Arial" panose="020B0604020202020204" pitchFamily="34" charset="0"/>
              </a:rPr>
              <a:t> </a:t>
            </a:r>
            <a:r>
              <a:rPr lang="en-US" sz="3800" dirty="0">
                <a:latin typeface="Arial" panose="020B0604020202020204" pitchFamily="34" charset="0"/>
                <a:cs typeface="Arial" panose="020B0604020202020204" pitchFamily="34" charset="0"/>
              </a:rPr>
              <a:t>of the deployment: </a:t>
            </a:r>
          </a:p>
          <a:p>
            <a:pPr lvl="1">
              <a:lnSpc>
                <a:spcPct val="130000"/>
              </a:lnSpc>
            </a:pPr>
            <a:r>
              <a:rPr lang="en-US" sz="3200" dirty="0">
                <a:latin typeface="Arial" panose="020B0604020202020204" pitchFamily="34" charset="0"/>
                <a:cs typeface="Arial" panose="020B0604020202020204" pitchFamily="34" charset="0"/>
              </a:rPr>
              <a:t>Determine the response of the structure to both ambient and extreme conditions </a:t>
            </a:r>
          </a:p>
          <a:p>
            <a:pPr lvl="1">
              <a:lnSpc>
                <a:spcPct val="130000"/>
              </a:lnSpc>
            </a:pPr>
            <a:r>
              <a:rPr lang="en-US" sz="3200" dirty="0">
                <a:latin typeface="Arial" panose="020B0604020202020204" pitchFamily="34" charset="0"/>
                <a:cs typeface="Arial" panose="020B0604020202020204" pitchFamily="34" charset="0"/>
              </a:rPr>
              <a:t>Compare actual performance to design predictions </a:t>
            </a:r>
          </a:p>
          <a:p>
            <a:pPr lvl="1">
              <a:lnSpc>
                <a:spcPct val="130000"/>
              </a:lnSpc>
            </a:pPr>
            <a:r>
              <a:rPr lang="en-US" sz="3200" dirty="0">
                <a:latin typeface="Arial" panose="020B0604020202020204" pitchFamily="34" charset="0"/>
                <a:cs typeface="Arial" panose="020B0604020202020204" pitchFamily="34" charset="0"/>
              </a:rPr>
              <a:t>Measure ambient structural accelerations from wind load </a:t>
            </a:r>
          </a:p>
          <a:p>
            <a:pPr lvl="1">
              <a:lnSpc>
                <a:spcPct val="130000"/>
              </a:lnSpc>
            </a:pPr>
            <a:r>
              <a:rPr lang="en-US" sz="3200" dirty="0">
                <a:latin typeface="Arial" panose="020B0604020202020204" pitchFamily="34" charset="0"/>
                <a:cs typeface="Arial" panose="020B0604020202020204" pitchFamily="34" charset="0"/>
              </a:rPr>
              <a:t>Measure strong shaking from a potential earthquake </a:t>
            </a:r>
          </a:p>
          <a:p>
            <a:pPr lvl="1">
              <a:lnSpc>
                <a:spcPct val="130000"/>
              </a:lnSpc>
            </a:pPr>
            <a:r>
              <a:rPr lang="en-US" sz="3200" dirty="0">
                <a:latin typeface="Arial" panose="020B0604020202020204" pitchFamily="34" charset="0"/>
                <a:cs typeface="Arial" panose="020B0604020202020204" pitchFamily="34" charset="0"/>
              </a:rPr>
              <a:t>The installation and the monitoring was conducted without the disruption of the bridge’s operation </a:t>
            </a:r>
          </a:p>
          <a:p>
            <a:pPr lvl="2">
              <a:lnSpc>
                <a:spcPct val="130000"/>
              </a:lnSpc>
            </a:pPr>
            <a:endParaRPr lang="en-US" dirty="0">
              <a:latin typeface="Arial" panose="020B0604020202020204" pitchFamily="34" charset="0"/>
              <a:cs typeface="Arial" panose="020B0604020202020204" pitchFamily="34" charset="0"/>
            </a:endParaRPr>
          </a:p>
          <a:p>
            <a:pPr>
              <a:lnSpc>
                <a:spcPct val="130000"/>
              </a:lnSpc>
            </a:pPr>
            <a:endParaRPr lang="en-US" dirty="0">
              <a:latin typeface="Arial" panose="020B0604020202020204" pitchFamily="34" charset="0"/>
              <a:cs typeface="Arial" panose="020B0604020202020204" pitchFamily="34" charset="0"/>
            </a:endParaRPr>
          </a:p>
          <a:p>
            <a:pPr>
              <a:lnSpc>
                <a:spcPct val="13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72914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5032375"/>
          </a:xfrm>
        </p:spPr>
        <p:txBody>
          <a:bodyPr>
            <a:normAutofit fontScale="25000" lnSpcReduction="20000"/>
          </a:bodyPr>
          <a:lstStyle/>
          <a:p>
            <a:pPr>
              <a:lnSpc>
                <a:spcPct val="140000"/>
              </a:lnSpc>
              <a:spcBef>
                <a:spcPts val="0"/>
              </a:spcBef>
            </a:pPr>
            <a:r>
              <a:rPr lang="en-US" sz="9600" dirty="0">
                <a:latin typeface="Arial" panose="020B0604020202020204" pitchFamily="34" charset="0"/>
                <a:cs typeface="Arial" panose="020B0604020202020204" pitchFamily="34" charset="0"/>
              </a:rPr>
              <a:t>Structural Health Monitoring </a:t>
            </a:r>
          </a:p>
          <a:p>
            <a:pPr lvl="1">
              <a:lnSpc>
                <a:spcPct val="140000"/>
              </a:lnSpc>
              <a:spcBef>
                <a:spcPts val="0"/>
              </a:spcBef>
            </a:pPr>
            <a:r>
              <a:rPr lang="en-US" sz="8000" dirty="0" err="1">
                <a:latin typeface="Arial" panose="020B0604020202020204" pitchFamily="34" charset="0"/>
                <a:cs typeface="Arial" panose="020B0604020202020204" pitchFamily="34" charset="0"/>
              </a:rPr>
              <a:t>Wisden</a:t>
            </a:r>
            <a:r>
              <a:rPr lang="en-US" sz="8000" dirty="0">
                <a:latin typeface="Arial" panose="020B0604020202020204" pitchFamily="34" charset="0"/>
                <a:cs typeface="Arial" panose="020B0604020202020204" pitchFamily="34" charset="0"/>
              </a:rPr>
              <a:t> </a:t>
            </a:r>
          </a:p>
          <a:p>
            <a:pPr lvl="1">
              <a:lnSpc>
                <a:spcPct val="140000"/>
              </a:lnSpc>
              <a:spcBef>
                <a:spcPts val="0"/>
              </a:spcBef>
            </a:pPr>
            <a:r>
              <a:rPr lang="en-US" sz="8000" dirty="0">
                <a:latin typeface="Arial" panose="020B0604020202020204" pitchFamily="34" charset="0"/>
                <a:cs typeface="Arial" panose="020B0604020202020204" pitchFamily="34" charset="0"/>
              </a:rPr>
              <a:t>Golden Gate Bridge </a:t>
            </a:r>
          </a:p>
          <a:p>
            <a:pPr>
              <a:lnSpc>
                <a:spcPct val="140000"/>
              </a:lnSpc>
              <a:spcBef>
                <a:spcPts val="0"/>
              </a:spcBef>
            </a:pPr>
            <a:r>
              <a:rPr lang="en-US" sz="9600" b="1" dirty="0">
                <a:latin typeface="Arial" panose="020B0604020202020204" pitchFamily="34" charset="0"/>
                <a:cs typeface="Arial" panose="020B0604020202020204" pitchFamily="34" charset="0"/>
              </a:rPr>
              <a:t>Traffic Control</a:t>
            </a:r>
          </a:p>
          <a:p>
            <a:pPr lvl="1">
              <a:lnSpc>
                <a:spcPct val="140000"/>
              </a:lnSpc>
              <a:spcBef>
                <a:spcPts val="0"/>
              </a:spcBef>
            </a:pPr>
            <a:r>
              <a:rPr lang="en-US" sz="8000" b="1" dirty="0" err="1">
                <a:latin typeface="Arial" panose="020B0604020202020204" pitchFamily="34" charset="0"/>
                <a:cs typeface="Arial" panose="020B0604020202020204" pitchFamily="34" charset="0"/>
              </a:rPr>
              <a:t>Knaian</a:t>
            </a:r>
            <a:r>
              <a:rPr lang="en-US" sz="8000" b="1" dirty="0">
                <a:latin typeface="Arial" panose="020B0604020202020204" pitchFamily="34" charset="0"/>
                <a:cs typeface="Arial" panose="020B0604020202020204" pitchFamily="34" charset="0"/>
              </a:rPr>
              <a:t> (2000) </a:t>
            </a:r>
          </a:p>
          <a:p>
            <a:pPr lvl="1">
              <a:lnSpc>
                <a:spcPct val="140000"/>
              </a:lnSpc>
              <a:spcBef>
                <a:spcPts val="0"/>
              </a:spcBef>
            </a:pPr>
            <a:r>
              <a:rPr lang="en-US" sz="8000" b="1" dirty="0" err="1">
                <a:latin typeface="Arial" panose="020B0604020202020204" pitchFamily="34" charset="0"/>
                <a:cs typeface="Arial" panose="020B0604020202020204" pitchFamily="34" charset="0"/>
              </a:rPr>
              <a:t>Arora</a:t>
            </a:r>
            <a:r>
              <a:rPr lang="en-US" sz="8000" b="1" dirty="0">
                <a:latin typeface="Arial" panose="020B0604020202020204" pitchFamily="34" charset="0"/>
                <a:cs typeface="Arial" panose="020B0604020202020204" pitchFamily="34" charset="0"/>
              </a:rPr>
              <a:t> (2004) </a:t>
            </a:r>
          </a:p>
          <a:p>
            <a:pPr>
              <a:lnSpc>
                <a:spcPct val="140000"/>
              </a:lnSpc>
              <a:spcBef>
                <a:spcPts val="0"/>
              </a:spcBef>
            </a:pPr>
            <a:r>
              <a:rPr lang="en-US" sz="9600" dirty="0">
                <a:latin typeface="Arial" panose="020B0604020202020204" pitchFamily="34" charset="0"/>
                <a:cs typeface="Arial" panose="020B0604020202020204" pitchFamily="34" charset="0"/>
              </a:rPr>
              <a:t>Precision Agriculture</a:t>
            </a:r>
          </a:p>
          <a:p>
            <a:pPr lvl="1">
              <a:lnSpc>
                <a:spcPct val="140000"/>
              </a:lnSpc>
              <a:spcBef>
                <a:spcPts val="0"/>
              </a:spcBef>
            </a:pPr>
            <a:r>
              <a:rPr lang="en-US" sz="8000" dirty="0">
                <a:latin typeface="Arial" panose="020B0604020202020204" pitchFamily="34" charset="0"/>
                <a:cs typeface="Arial" panose="020B0604020202020204" pitchFamily="34" charset="0"/>
              </a:rPr>
              <a:t>Wine </a:t>
            </a:r>
            <a:r>
              <a:rPr lang="en-US" sz="8000" dirty="0" err="1">
                <a:latin typeface="Arial" panose="020B0604020202020204" pitchFamily="34" charset="0"/>
                <a:cs typeface="Arial" panose="020B0604020202020204" pitchFamily="34" charset="0"/>
              </a:rPr>
              <a:t>Vinyard</a:t>
            </a:r>
            <a:r>
              <a:rPr lang="en-US" sz="8000" dirty="0">
                <a:latin typeface="Arial" panose="020B0604020202020204" pitchFamily="34" charset="0"/>
                <a:cs typeface="Arial" panose="020B0604020202020204" pitchFamily="34" charset="0"/>
              </a:rPr>
              <a:t> (2004) </a:t>
            </a:r>
          </a:p>
          <a:p>
            <a:pPr lvl="1">
              <a:lnSpc>
                <a:spcPct val="140000"/>
              </a:lnSpc>
              <a:spcBef>
                <a:spcPts val="0"/>
              </a:spcBef>
            </a:pPr>
            <a:r>
              <a:rPr lang="en-US" sz="8000" dirty="0" err="1">
                <a:latin typeface="Arial" panose="020B0604020202020204" pitchFamily="34" charset="0"/>
                <a:cs typeface="Arial" panose="020B0604020202020204" pitchFamily="34" charset="0"/>
              </a:rPr>
              <a:t>Lofar</a:t>
            </a:r>
            <a:r>
              <a:rPr lang="en-US" sz="8000" dirty="0">
                <a:latin typeface="Arial" panose="020B0604020202020204" pitchFamily="34" charset="0"/>
                <a:cs typeface="Arial" panose="020B0604020202020204" pitchFamily="34" charset="0"/>
              </a:rPr>
              <a:t> Agro (2005) </a:t>
            </a:r>
          </a:p>
          <a:p>
            <a:pPr marL="228600" lvl="1">
              <a:lnSpc>
                <a:spcPct val="140000"/>
              </a:lnSpc>
              <a:spcBef>
                <a:spcPts val="0"/>
              </a:spcBef>
              <a:buClr>
                <a:schemeClr val="accent1"/>
              </a:buClr>
            </a:pPr>
            <a:r>
              <a:rPr lang="en-US" sz="9600" dirty="0">
                <a:latin typeface="Arial" panose="020B0604020202020204" pitchFamily="34" charset="0"/>
                <a:cs typeface="Arial" panose="020B0604020202020204" pitchFamily="34" charset="0"/>
              </a:rPr>
              <a:t>Active Volcano</a:t>
            </a:r>
          </a:p>
          <a:p>
            <a:pPr lvl="1">
              <a:lnSpc>
                <a:spcPct val="140000"/>
              </a:lnSpc>
              <a:spcBef>
                <a:spcPts val="0"/>
              </a:spcBef>
            </a:pPr>
            <a:r>
              <a:rPr lang="en-US" sz="8000" dirty="0" err="1">
                <a:latin typeface="Arial" panose="020B0604020202020204" pitchFamily="34" charset="0"/>
                <a:cs typeface="Arial" panose="020B0604020202020204" pitchFamily="34" charset="0"/>
              </a:rPr>
              <a:t>Volcán</a:t>
            </a:r>
            <a:r>
              <a:rPr lang="en-US" sz="8000" dirty="0">
                <a:latin typeface="Arial" panose="020B0604020202020204" pitchFamily="34" charset="0"/>
                <a:cs typeface="Arial" panose="020B0604020202020204" pitchFamily="34" charset="0"/>
              </a:rPr>
              <a:t> Tungurahua </a:t>
            </a:r>
          </a:p>
        </p:txBody>
      </p:sp>
    </p:spTree>
    <p:extLst>
      <p:ext uri="{BB962C8B-B14F-4D97-AF65-F5344CB8AC3E}">
        <p14:creationId xmlns:p14="http://schemas.microsoft.com/office/powerpoint/2010/main" val="38934616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Traffic Control</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5"/>
            <a:ext cx="10515600" cy="4792052"/>
          </a:xfrm>
        </p:spPr>
        <p:txBody>
          <a:bodyPr>
            <a:normAutofit/>
          </a:bodyPr>
          <a:lstStyle/>
          <a:p>
            <a:pPr>
              <a:lnSpc>
                <a:spcPct val="120000"/>
              </a:lnSpc>
            </a:pPr>
            <a:r>
              <a:rPr lang="en-US" sz="2400" dirty="0">
                <a:latin typeface="Arial" panose="020B0604020202020204" pitchFamily="34" charset="0"/>
                <a:cs typeface="Arial" panose="020B0604020202020204" pitchFamily="34" charset="0"/>
              </a:rPr>
              <a:t>Motivation:</a:t>
            </a:r>
          </a:p>
          <a:p>
            <a:pPr lvl="1">
              <a:lnSpc>
                <a:spcPct val="120000"/>
              </a:lnSpc>
            </a:pPr>
            <a:r>
              <a:rPr lang="en-US" dirty="0">
                <a:latin typeface="Arial" panose="020B0604020202020204" pitchFamily="34" charset="0"/>
                <a:cs typeface="Arial" panose="020B0604020202020204" pitchFamily="34" charset="0"/>
              </a:rPr>
              <a:t>Ground transportation is a vital and a </a:t>
            </a:r>
            <a:r>
              <a:rPr lang="en-US" i="1" dirty="0">
                <a:solidFill>
                  <a:srgbClr val="FF0000"/>
                </a:solidFill>
                <a:latin typeface="Arial" panose="020B0604020202020204" pitchFamily="34" charset="0"/>
                <a:cs typeface="Arial" panose="020B0604020202020204" pitchFamily="34" charset="0"/>
              </a:rPr>
              <a:t>complex</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socio-economic infrastructure </a:t>
            </a:r>
          </a:p>
          <a:p>
            <a:pPr lvl="2">
              <a:lnSpc>
                <a:spcPct val="120000"/>
              </a:lnSpc>
            </a:pPr>
            <a:r>
              <a:rPr lang="en-US" dirty="0">
                <a:latin typeface="Arial" panose="020B0604020202020204" pitchFamily="34" charset="0"/>
                <a:cs typeface="Arial" panose="020B0604020202020204" pitchFamily="34" charset="0"/>
              </a:rPr>
              <a:t> it is </a:t>
            </a:r>
            <a:r>
              <a:rPr lang="en-US" i="1" dirty="0">
                <a:solidFill>
                  <a:srgbClr val="FF0000"/>
                </a:solidFill>
                <a:latin typeface="Arial" panose="020B0604020202020204" pitchFamily="34" charset="0"/>
                <a:cs typeface="Arial" panose="020B0604020202020204" pitchFamily="34" charset="0"/>
              </a:rPr>
              <a:t>linked</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with and provide </a:t>
            </a:r>
            <a:r>
              <a:rPr lang="en-US" i="1" dirty="0">
                <a:solidFill>
                  <a:srgbClr val="FF0000"/>
                </a:solidFill>
                <a:latin typeface="Arial" panose="020B0604020202020204" pitchFamily="34" charset="0"/>
                <a:cs typeface="Arial" panose="020B0604020202020204" pitchFamily="34" charset="0"/>
              </a:rPr>
              <a:t>support</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for </a:t>
            </a:r>
            <a:r>
              <a:rPr lang="en-US" i="1" dirty="0">
                <a:solidFill>
                  <a:srgbClr val="FF0000"/>
                </a:solidFill>
                <a:latin typeface="Arial" panose="020B0604020202020204" pitchFamily="34" charset="0"/>
                <a:cs typeface="Arial" panose="020B0604020202020204" pitchFamily="34" charset="0"/>
              </a:rPr>
              <a:t>a variety of systems</a:t>
            </a:r>
            <a:r>
              <a:rPr lang="en-US" dirty="0">
                <a:latin typeface="Arial" panose="020B0604020202020204" pitchFamily="34" charset="0"/>
                <a:cs typeface="Arial" panose="020B0604020202020204" pitchFamily="34" charset="0"/>
              </a:rPr>
              <a:t>, such as supply-chain, emergency response and public health </a:t>
            </a:r>
          </a:p>
          <a:p>
            <a:pPr lvl="2">
              <a:lnSpc>
                <a:spcPct val="120000"/>
              </a:lnSpc>
            </a:pPr>
            <a:r>
              <a:rPr lang="en-US" dirty="0">
                <a:latin typeface="Arial" panose="020B0604020202020204" pitchFamily="34" charset="0"/>
                <a:cs typeface="Arial" panose="020B0604020202020204" pitchFamily="34" charset="0"/>
              </a:rPr>
              <a:t>The 2009 Urban Mobility Report, reveals that in 2007, congestion caused urban Americans to</a:t>
            </a:r>
          </a:p>
          <a:p>
            <a:pPr lvl="3">
              <a:lnSpc>
                <a:spcPct val="120000"/>
              </a:lnSpc>
            </a:pPr>
            <a:r>
              <a:rPr lang="en-US" dirty="0">
                <a:latin typeface="Arial" panose="020B0604020202020204" pitchFamily="34" charset="0"/>
                <a:cs typeface="Arial" panose="020B0604020202020204" pitchFamily="34" charset="0"/>
              </a:rPr>
              <a:t>Travel </a:t>
            </a:r>
            <a:r>
              <a:rPr lang="en-US" i="1" dirty="0">
                <a:solidFill>
                  <a:srgbClr val="FF0000"/>
                </a:solidFill>
                <a:latin typeface="Arial" panose="020B0604020202020204" pitchFamily="34" charset="0"/>
                <a:cs typeface="Arial" panose="020B0604020202020204" pitchFamily="34" charset="0"/>
              </a:rPr>
              <a:t>4.2 billion hours more</a:t>
            </a:r>
          </a:p>
          <a:p>
            <a:pPr lvl="3">
              <a:lnSpc>
                <a:spcPct val="120000"/>
              </a:lnSpc>
            </a:pPr>
            <a:r>
              <a:rPr lang="en-US" dirty="0">
                <a:latin typeface="Arial" panose="020B0604020202020204" pitchFamily="34" charset="0"/>
                <a:cs typeface="Arial" panose="020B0604020202020204" pitchFamily="34" charset="0"/>
              </a:rPr>
              <a:t>Purchase </a:t>
            </a:r>
            <a:r>
              <a:rPr lang="en-US" i="1" dirty="0">
                <a:solidFill>
                  <a:srgbClr val="FF0000"/>
                </a:solidFill>
                <a:latin typeface="Arial" panose="020B0604020202020204" pitchFamily="34" charset="0"/>
                <a:cs typeface="Arial" panose="020B0604020202020204" pitchFamily="34" charset="0"/>
              </a:rPr>
              <a:t>an extra 2.8 billion gallons of fuel </a:t>
            </a:r>
          </a:p>
          <a:p>
            <a:pPr lvl="2">
              <a:lnSpc>
                <a:spcPct val="120000"/>
              </a:lnSpc>
            </a:pPr>
            <a:r>
              <a:rPr lang="en-US" dirty="0">
                <a:latin typeface="Arial" panose="020B0604020202020204" pitchFamily="34" charset="0"/>
                <a:cs typeface="Arial" panose="020B0604020202020204" pitchFamily="34" charset="0"/>
              </a:rPr>
              <a:t>Congestion </a:t>
            </a:r>
            <a:r>
              <a:rPr lang="en-US" i="1" dirty="0">
                <a:solidFill>
                  <a:srgbClr val="FF0000"/>
                </a:solidFill>
                <a:latin typeface="Arial" panose="020B0604020202020204" pitchFamily="34" charset="0"/>
                <a:cs typeface="Arial" panose="020B0604020202020204" pitchFamily="34" charset="0"/>
              </a:rPr>
              <a:t>cost is very high </a:t>
            </a:r>
            <a:r>
              <a:rPr lang="en-US" dirty="0">
                <a:latin typeface="Arial" panose="020B0604020202020204" pitchFamily="34" charset="0"/>
                <a:cs typeface="Arial" panose="020B0604020202020204" pitchFamily="34" charset="0"/>
              </a:rPr>
              <a:t>---- $87.2 billion an increase of more than 50% over the previous decade </a:t>
            </a:r>
          </a:p>
          <a:p>
            <a:pPr>
              <a:lnSpc>
                <a:spcPct val="120000"/>
              </a:lnSpc>
            </a:pPr>
            <a:endParaRPr lang="en-US" dirty="0">
              <a:latin typeface="Arial" panose="020B0604020202020204" pitchFamily="34" charset="0"/>
              <a:cs typeface="Arial" panose="020B0604020202020204" pitchFamily="34" charset="0"/>
            </a:endParaRPr>
          </a:p>
          <a:p>
            <a:pPr>
              <a:lnSpc>
                <a:spcPct val="120000"/>
              </a:lnSpc>
            </a:pPr>
            <a:endParaRPr lang="en-US" dirty="0">
              <a:latin typeface="Arial" panose="020B0604020202020204" pitchFamily="34" charset="0"/>
              <a:cs typeface="Arial" panose="020B0604020202020204" pitchFamily="34" charset="0"/>
            </a:endParaRPr>
          </a:p>
          <a:p>
            <a:pPr>
              <a:lnSpc>
                <a:spcPct val="12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6681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Traffic Control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lnSpc>
                <a:spcPct val="120000"/>
              </a:lnSpc>
            </a:pPr>
            <a:r>
              <a:rPr lang="en-US" sz="2400" dirty="0">
                <a:latin typeface="Arial" panose="020B0604020202020204" pitchFamily="34" charset="0"/>
                <a:cs typeface="Arial" panose="020B0604020202020204" pitchFamily="34" charset="0"/>
              </a:rPr>
              <a:t>Motivation: </a:t>
            </a:r>
          </a:p>
          <a:p>
            <a:pPr lvl="1">
              <a:lnSpc>
                <a:spcPct val="120000"/>
              </a:lnSpc>
            </a:pPr>
            <a:r>
              <a:rPr lang="en-US" dirty="0">
                <a:latin typeface="Arial" panose="020B0604020202020204" pitchFamily="34" charset="0"/>
                <a:cs typeface="Arial" panose="020B0604020202020204" pitchFamily="34" charset="0"/>
              </a:rPr>
              <a:t>Building new roads is </a:t>
            </a:r>
            <a:r>
              <a:rPr lang="en-US" i="1" dirty="0">
                <a:solidFill>
                  <a:srgbClr val="FF0000"/>
                </a:solidFill>
                <a:latin typeface="Arial" panose="020B0604020202020204" pitchFamily="34" charset="0"/>
                <a:cs typeface="Arial" panose="020B0604020202020204" pitchFamily="34" charset="0"/>
              </a:rPr>
              <a:t>not</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 feasible solution for many cities </a:t>
            </a:r>
          </a:p>
          <a:p>
            <a:pPr lvl="2">
              <a:lnSpc>
                <a:spcPct val="120000"/>
              </a:lnSpc>
            </a:pPr>
            <a:r>
              <a:rPr lang="en-US" dirty="0">
                <a:latin typeface="Arial" panose="020B0604020202020204" pitchFamily="34" charset="0"/>
                <a:cs typeface="Arial" panose="020B0604020202020204" pitchFamily="34" charset="0"/>
              </a:rPr>
              <a:t>the lack of free space</a:t>
            </a:r>
          </a:p>
          <a:p>
            <a:pPr lvl="2">
              <a:lnSpc>
                <a:spcPct val="120000"/>
              </a:lnSpc>
            </a:pPr>
            <a:r>
              <a:rPr lang="en-US" dirty="0">
                <a:latin typeface="Arial" panose="020B0604020202020204" pitchFamily="34" charset="0"/>
                <a:cs typeface="Arial" panose="020B0604020202020204" pitchFamily="34" charset="0"/>
              </a:rPr>
              <a:t>the high cost of demolition of old roads </a:t>
            </a:r>
          </a:p>
          <a:p>
            <a:pPr lvl="1">
              <a:lnSpc>
                <a:spcPct val="120000"/>
              </a:lnSpc>
            </a:pPr>
            <a:r>
              <a:rPr lang="en-US" i="1" dirty="0">
                <a:solidFill>
                  <a:srgbClr val="FF0000"/>
                </a:solidFill>
                <a:latin typeface="Arial" panose="020B0604020202020204" pitchFamily="34" charset="0"/>
                <a:cs typeface="Arial" panose="020B0604020202020204" pitchFamily="34" charset="0"/>
              </a:rPr>
              <a:t>One approach</a:t>
            </a:r>
            <a:r>
              <a:rPr lang="en-US" dirty="0">
                <a:latin typeface="Arial" panose="020B0604020202020204" pitchFamily="34" charset="0"/>
                <a:cs typeface="Arial" panose="020B0604020202020204" pitchFamily="34" charset="0"/>
              </a:rPr>
              <a:t>: put in place distributed systems that reduce congestions </a:t>
            </a:r>
          </a:p>
          <a:p>
            <a:pPr lvl="2">
              <a:lnSpc>
                <a:spcPct val="120000"/>
              </a:lnSpc>
            </a:pPr>
            <a:r>
              <a:rPr lang="en-US" i="1" dirty="0">
                <a:solidFill>
                  <a:srgbClr val="FF0000"/>
                </a:solidFill>
                <a:latin typeface="Arial" panose="020B0604020202020204" pitchFamily="34" charset="0"/>
                <a:cs typeface="Arial" panose="020B0604020202020204" pitchFamily="34" charset="0"/>
              </a:rPr>
              <a:t>Gather information </a:t>
            </a:r>
            <a:r>
              <a:rPr lang="en-US" dirty="0">
                <a:latin typeface="Arial" panose="020B0604020202020204" pitchFamily="34" charset="0"/>
                <a:cs typeface="Arial" panose="020B0604020202020204" pitchFamily="34" charset="0"/>
              </a:rPr>
              <a:t>about the density, sizes and speed of vehicles on roads </a:t>
            </a:r>
          </a:p>
          <a:p>
            <a:pPr lvl="2">
              <a:lnSpc>
                <a:spcPct val="120000"/>
              </a:lnSpc>
            </a:pPr>
            <a:r>
              <a:rPr lang="en-US" i="1" dirty="0">
                <a:solidFill>
                  <a:srgbClr val="FF0000"/>
                </a:solidFill>
                <a:latin typeface="Arial" panose="020B0604020202020204" pitchFamily="34" charset="0"/>
                <a:cs typeface="Arial" panose="020B0604020202020204" pitchFamily="34" charset="0"/>
              </a:rPr>
              <a:t>Infer congestions </a:t>
            </a:r>
            <a:endParaRPr lang="en-US" dirty="0">
              <a:solidFill>
                <a:srgbClr val="FF0000"/>
              </a:solidFill>
              <a:latin typeface="Arial" panose="020B0604020202020204" pitchFamily="34" charset="0"/>
              <a:cs typeface="Arial" panose="020B0604020202020204" pitchFamily="34" charset="0"/>
            </a:endParaRPr>
          </a:p>
          <a:p>
            <a:pPr lvl="2">
              <a:lnSpc>
                <a:spcPct val="120000"/>
              </a:lnSpc>
            </a:pPr>
            <a:r>
              <a:rPr lang="en-US" i="1" dirty="0">
                <a:solidFill>
                  <a:srgbClr val="FF0000"/>
                </a:solidFill>
                <a:latin typeface="Arial" panose="020B0604020202020204" pitchFamily="34" charset="0"/>
                <a:cs typeface="Arial" panose="020B0604020202020204" pitchFamily="34" charset="0"/>
              </a:rPr>
              <a:t>Suggest to drivers </a:t>
            </a:r>
            <a:r>
              <a:rPr lang="en-US" dirty="0">
                <a:latin typeface="Arial" panose="020B0604020202020204" pitchFamily="34" charset="0"/>
                <a:cs typeface="Arial" panose="020B0604020202020204" pitchFamily="34" charset="0"/>
              </a:rPr>
              <a:t>alternative routes and emergency exits </a:t>
            </a:r>
          </a:p>
          <a:p>
            <a:pPr>
              <a:lnSpc>
                <a:spcPct val="12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6073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The Sensing Task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825625"/>
            <a:ext cx="10879015" cy="4774468"/>
          </a:xfrm>
        </p:spPr>
        <p:txBody>
          <a:bodyPr>
            <a:normAutofit fontScale="70000" lnSpcReduction="20000"/>
          </a:bodyPr>
          <a:lstStyle/>
          <a:p>
            <a:pPr>
              <a:lnSpc>
                <a:spcPct val="140000"/>
              </a:lnSpc>
            </a:pPr>
            <a:r>
              <a:rPr lang="en-US" sz="3400" dirty="0">
                <a:latin typeface="Arial" panose="020B0604020202020204" pitchFamily="34" charset="0"/>
                <a:cs typeface="Arial" panose="020B0604020202020204" pitchFamily="34" charset="0"/>
              </a:rPr>
              <a:t>Inductive Loops (in-road sensing devices) </a:t>
            </a:r>
          </a:p>
          <a:p>
            <a:pPr lvl="1">
              <a:lnSpc>
                <a:spcPct val="140000"/>
              </a:lnSpc>
            </a:pPr>
            <a:r>
              <a:rPr lang="en-US" sz="2900" i="1" dirty="0">
                <a:solidFill>
                  <a:srgbClr val="FF0000"/>
                </a:solidFill>
                <a:latin typeface="Arial" panose="020B0604020202020204" pitchFamily="34" charset="0"/>
                <a:cs typeface="Arial" panose="020B0604020202020204" pitchFamily="34" charset="0"/>
              </a:rPr>
              <a:t>Advantages</a:t>
            </a:r>
            <a:r>
              <a:rPr lang="en-US" sz="2900" i="1" dirty="0">
                <a:latin typeface="Arial" panose="020B0604020202020204" pitchFamily="34" charset="0"/>
                <a:cs typeface="Arial" panose="020B0604020202020204" pitchFamily="34" charset="0"/>
              </a:rPr>
              <a:t>:</a:t>
            </a:r>
          </a:p>
          <a:p>
            <a:pPr lvl="2">
              <a:lnSpc>
                <a:spcPct val="140000"/>
              </a:lnSpc>
            </a:pPr>
            <a:r>
              <a:rPr lang="en-US" sz="2900" dirty="0">
                <a:latin typeface="Arial" panose="020B0604020202020204" pitchFamily="34" charset="0"/>
                <a:cs typeface="Arial" panose="020B0604020202020204" pitchFamily="34" charset="0"/>
              </a:rPr>
              <a:t>Unaffected by weather</a:t>
            </a:r>
          </a:p>
          <a:p>
            <a:pPr lvl="2">
              <a:lnSpc>
                <a:spcPct val="140000"/>
              </a:lnSpc>
            </a:pPr>
            <a:r>
              <a:rPr lang="en-US" sz="2900" dirty="0">
                <a:latin typeface="Arial" panose="020B0604020202020204" pitchFamily="34" charset="0"/>
                <a:cs typeface="Arial" panose="020B0604020202020204" pitchFamily="34" charset="0"/>
              </a:rPr>
              <a:t>Provide direct information (few ambiguity) </a:t>
            </a:r>
          </a:p>
          <a:p>
            <a:pPr lvl="1">
              <a:lnSpc>
                <a:spcPct val="140000"/>
              </a:lnSpc>
            </a:pPr>
            <a:r>
              <a:rPr lang="en-US" sz="2900" dirty="0">
                <a:latin typeface="Arial" panose="020B0604020202020204" pitchFamily="34" charset="0"/>
                <a:cs typeface="Arial" panose="020B0604020202020204" pitchFamily="34" charset="0"/>
              </a:rPr>
              <a:t>How does it work: using </a:t>
            </a:r>
            <a:r>
              <a:rPr lang="en-US" sz="2900" i="1" dirty="0">
                <a:solidFill>
                  <a:srgbClr val="FF0000"/>
                </a:solidFill>
                <a:latin typeface="Arial" panose="020B0604020202020204" pitchFamily="34" charset="0"/>
                <a:cs typeface="Arial" panose="020B0604020202020204" pitchFamily="34" charset="0"/>
              </a:rPr>
              <a:t>Faraday’s induction law</a:t>
            </a:r>
          </a:p>
          <a:p>
            <a:pPr lvl="2">
              <a:lnSpc>
                <a:spcPct val="140000"/>
              </a:lnSpc>
            </a:pPr>
            <a:r>
              <a:rPr lang="en-US" sz="2900" dirty="0">
                <a:latin typeface="Arial" panose="020B0604020202020204" pitchFamily="34" charset="0"/>
                <a:cs typeface="Arial" panose="020B0604020202020204" pitchFamily="34" charset="0"/>
              </a:rPr>
              <a:t>A coil of wire (several meters in diameter, passes an electric current through the coil) </a:t>
            </a:r>
          </a:p>
          <a:p>
            <a:pPr lvl="2">
              <a:lnSpc>
                <a:spcPct val="140000"/>
              </a:lnSpc>
            </a:pPr>
            <a:r>
              <a:rPr lang="en-US" sz="2900" dirty="0">
                <a:latin typeface="Arial" panose="020B0604020202020204" pitchFamily="34" charset="0"/>
                <a:cs typeface="Arial" panose="020B0604020202020204" pitchFamily="34" charset="0"/>
              </a:rPr>
              <a:t>It can be buried under the road and connected to a roadside control box </a:t>
            </a:r>
          </a:p>
          <a:p>
            <a:pPr lvl="2">
              <a:lnSpc>
                <a:spcPct val="140000"/>
              </a:lnSpc>
            </a:pPr>
            <a:r>
              <a:rPr lang="en-US" sz="2900" dirty="0">
                <a:latin typeface="Arial" panose="020B0604020202020204" pitchFamily="34" charset="0"/>
                <a:cs typeface="Arial" panose="020B0604020202020204" pitchFamily="34" charset="0"/>
              </a:rPr>
              <a:t>A magnetic field strength can be induced as a result of a current and the speed and the size of passing vehicles </a:t>
            </a:r>
            <a:br>
              <a:rPr lang="en-US" i="1"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pPr lvl="4">
              <a:lnSpc>
                <a:spcPct val="140000"/>
              </a:lnSpc>
            </a:pPr>
            <a:endParaRPr lang="en-US" dirty="0">
              <a:latin typeface="Arial" panose="020B0604020202020204" pitchFamily="34" charset="0"/>
              <a:cs typeface="Arial" panose="020B0604020202020204" pitchFamily="34" charset="0"/>
            </a:endParaRPr>
          </a:p>
          <a:p>
            <a:pPr>
              <a:lnSpc>
                <a:spcPct val="14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78879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Magnetic Sensors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5"/>
            <a:ext cx="10515600" cy="4598622"/>
          </a:xfrm>
        </p:spPr>
        <p:txBody>
          <a:bodyPr>
            <a:normAutofit fontScale="70000" lnSpcReduction="20000"/>
          </a:bodyPr>
          <a:lstStyle/>
          <a:p>
            <a:pPr>
              <a:lnSpc>
                <a:spcPct val="130000"/>
              </a:lnSpc>
            </a:pPr>
            <a:r>
              <a:rPr lang="en-US" sz="3400" dirty="0">
                <a:latin typeface="Arial" panose="020B0604020202020204" pitchFamily="34" charset="0"/>
                <a:cs typeface="Arial" panose="020B0604020202020204" pitchFamily="34" charset="0"/>
              </a:rPr>
              <a:t>Magnetic sensors can </a:t>
            </a:r>
            <a:r>
              <a:rPr lang="en-US" sz="3400" i="1" dirty="0">
                <a:solidFill>
                  <a:srgbClr val="FF0000"/>
                </a:solidFill>
                <a:latin typeface="Arial" panose="020B0604020202020204" pitchFamily="34" charset="0"/>
                <a:cs typeface="Arial" panose="020B0604020202020204" pitchFamily="34" charset="0"/>
              </a:rPr>
              <a:t>determine</a:t>
            </a:r>
            <a:r>
              <a:rPr lang="en-US" sz="3400" i="1" dirty="0">
                <a:latin typeface="Arial" panose="020B0604020202020204" pitchFamily="34" charset="0"/>
                <a:cs typeface="Arial" panose="020B0604020202020204" pitchFamily="34" charset="0"/>
              </a:rPr>
              <a:t> </a:t>
            </a:r>
            <a:r>
              <a:rPr lang="en-US" sz="3400" dirty="0">
                <a:latin typeface="Arial" panose="020B0604020202020204" pitchFamily="34" charset="0"/>
                <a:cs typeface="Arial" panose="020B0604020202020204" pitchFamily="34" charset="0"/>
              </a:rPr>
              <a:t>the </a:t>
            </a:r>
            <a:r>
              <a:rPr lang="en-US" sz="3400" i="1" dirty="0">
                <a:solidFill>
                  <a:srgbClr val="FF0000"/>
                </a:solidFill>
                <a:latin typeface="Arial" panose="020B0604020202020204" pitchFamily="34" charset="0"/>
                <a:cs typeface="Arial" panose="020B0604020202020204" pitchFamily="34" charset="0"/>
              </a:rPr>
              <a:t>direction</a:t>
            </a:r>
            <a:r>
              <a:rPr lang="en-US" sz="3400" i="1" dirty="0">
                <a:latin typeface="Arial" panose="020B0604020202020204" pitchFamily="34" charset="0"/>
                <a:cs typeface="Arial" panose="020B0604020202020204" pitchFamily="34" charset="0"/>
              </a:rPr>
              <a:t> </a:t>
            </a:r>
            <a:r>
              <a:rPr lang="en-US" sz="3400" dirty="0">
                <a:latin typeface="Arial" panose="020B0604020202020204" pitchFamily="34" charset="0"/>
                <a:cs typeface="Arial" panose="020B0604020202020204" pitchFamily="34" charset="0"/>
              </a:rPr>
              <a:t>and </a:t>
            </a:r>
            <a:r>
              <a:rPr lang="en-US" sz="3400" i="1" dirty="0">
                <a:solidFill>
                  <a:srgbClr val="FF0000"/>
                </a:solidFill>
                <a:latin typeface="Arial" panose="020B0604020202020204" pitchFamily="34" charset="0"/>
                <a:cs typeface="Arial" panose="020B0604020202020204" pitchFamily="34" charset="0"/>
              </a:rPr>
              <a:t>speed</a:t>
            </a:r>
            <a:r>
              <a:rPr lang="en-US" sz="3400" i="1" dirty="0">
                <a:latin typeface="Arial" panose="020B0604020202020204" pitchFamily="34" charset="0"/>
                <a:cs typeface="Arial" panose="020B0604020202020204" pitchFamily="34" charset="0"/>
              </a:rPr>
              <a:t> </a:t>
            </a:r>
            <a:r>
              <a:rPr lang="en-US" sz="3400" dirty="0">
                <a:latin typeface="Arial" panose="020B0604020202020204" pitchFamily="34" charset="0"/>
                <a:cs typeface="Arial" panose="020B0604020202020204" pitchFamily="34" charset="0"/>
              </a:rPr>
              <a:t>of a vehicle </a:t>
            </a:r>
          </a:p>
          <a:p>
            <a:pPr lvl="1">
              <a:lnSpc>
                <a:spcPct val="130000"/>
              </a:lnSpc>
            </a:pPr>
            <a:r>
              <a:rPr lang="en-US" sz="2900" dirty="0">
                <a:latin typeface="Arial" panose="020B0604020202020204" pitchFamily="34" charset="0"/>
                <a:cs typeface="Arial" panose="020B0604020202020204" pitchFamily="34" charset="0"/>
              </a:rPr>
              <a:t>A moving vehicle can disturb the distribution of the magnetic field</a:t>
            </a:r>
          </a:p>
          <a:p>
            <a:pPr lvl="2">
              <a:lnSpc>
                <a:spcPct val="130000"/>
              </a:lnSpc>
            </a:pPr>
            <a:r>
              <a:rPr lang="en-US" sz="2900" dirty="0">
                <a:latin typeface="Arial" panose="020B0604020202020204" pitchFamily="34" charset="0"/>
                <a:cs typeface="Arial" panose="020B0604020202020204" pitchFamily="34" charset="0"/>
              </a:rPr>
              <a:t>By producing its own magnetic field</a:t>
            </a:r>
          </a:p>
          <a:p>
            <a:pPr lvl="2">
              <a:lnSpc>
                <a:spcPct val="130000"/>
              </a:lnSpc>
            </a:pPr>
            <a:r>
              <a:rPr lang="en-US" sz="2900" dirty="0">
                <a:latin typeface="Arial" panose="020B0604020202020204" pitchFamily="34" charset="0"/>
                <a:cs typeface="Arial" panose="020B0604020202020204" pitchFamily="34" charset="0"/>
              </a:rPr>
              <a:t>By cutting across it </a:t>
            </a:r>
          </a:p>
          <a:p>
            <a:pPr>
              <a:lnSpc>
                <a:spcPct val="130000"/>
              </a:lnSpc>
            </a:pPr>
            <a:r>
              <a:rPr lang="en-US" sz="3400" dirty="0">
                <a:latin typeface="Arial" panose="020B0604020202020204" pitchFamily="34" charset="0"/>
                <a:cs typeface="Arial" panose="020B0604020202020204" pitchFamily="34" charset="0"/>
              </a:rPr>
              <a:t>The magnitude and direction of the disturbance depends on </a:t>
            </a:r>
          </a:p>
          <a:p>
            <a:pPr lvl="1">
              <a:lnSpc>
                <a:spcPct val="130000"/>
              </a:lnSpc>
            </a:pPr>
            <a:r>
              <a:rPr lang="en-US" sz="2900" dirty="0">
                <a:latin typeface="Arial" panose="020B0604020202020204" pitchFamily="34" charset="0"/>
                <a:cs typeface="Arial" panose="020B0604020202020204" pitchFamily="34" charset="0"/>
              </a:rPr>
              <a:t>The </a:t>
            </a:r>
            <a:r>
              <a:rPr lang="en-US" sz="2900" i="1" dirty="0">
                <a:solidFill>
                  <a:srgbClr val="FF0000"/>
                </a:solidFill>
                <a:latin typeface="Arial" panose="020B0604020202020204" pitchFamily="34" charset="0"/>
                <a:cs typeface="Arial" panose="020B0604020202020204" pitchFamily="34" charset="0"/>
              </a:rPr>
              <a:t>speed</a:t>
            </a:r>
            <a:r>
              <a:rPr lang="en-US" sz="2900" dirty="0">
                <a:latin typeface="Arial" panose="020B0604020202020204" pitchFamily="34" charset="0"/>
                <a:cs typeface="Arial" panose="020B0604020202020204" pitchFamily="34" charset="0"/>
              </a:rPr>
              <a:t>, </a:t>
            </a:r>
            <a:r>
              <a:rPr lang="en-US" sz="2900" i="1" dirty="0">
                <a:solidFill>
                  <a:srgbClr val="FF0000"/>
                </a:solidFill>
                <a:latin typeface="Arial" panose="020B0604020202020204" pitchFamily="34" charset="0"/>
                <a:cs typeface="Arial" panose="020B0604020202020204" pitchFamily="34" charset="0"/>
              </a:rPr>
              <a:t>size</a:t>
            </a:r>
            <a:r>
              <a:rPr lang="en-US" sz="2900" dirty="0">
                <a:latin typeface="Arial" panose="020B0604020202020204" pitchFamily="34" charset="0"/>
                <a:cs typeface="Arial" panose="020B0604020202020204" pitchFamily="34" charset="0"/>
              </a:rPr>
              <a:t>, </a:t>
            </a:r>
            <a:r>
              <a:rPr lang="en-US" sz="2900" i="1" dirty="0">
                <a:solidFill>
                  <a:srgbClr val="FF0000"/>
                </a:solidFill>
                <a:latin typeface="Arial" panose="020B0604020202020204" pitchFamily="34" charset="0"/>
                <a:cs typeface="Arial" panose="020B0604020202020204" pitchFamily="34" charset="0"/>
              </a:rPr>
              <a:t>density</a:t>
            </a:r>
            <a:r>
              <a:rPr lang="en-US" sz="2900" i="1" dirty="0">
                <a:latin typeface="Arial" panose="020B0604020202020204" pitchFamily="34" charset="0"/>
                <a:cs typeface="Arial" panose="020B0604020202020204" pitchFamily="34" charset="0"/>
              </a:rPr>
              <a:t> </a:t>
            </a:r>
            <a:r>
              <a:rPr lang="en-US" sz="2900" dirty="0">
                <a:latin typeface="Arial" panose="020B0604020202020204" pitchFamily="34" charset="0"/>
                <a:cs typeface="Arial" panose="020B0604020202020204" pitchFamily="34" charset="0"/>
              </a:rPr>
              <a:t>and </a:t>
            </a:r>
            <a:r>
              <a:rPr lang="en-US" sz="2900" i="1" dirty="0">
                <a:solidFill>
                  <a:srgbClr val="FF0000"/>
                </a:solidFill>
                <a:latin typeface="Arial" panose="020B0604020202020204" pitchFamily="34" charset="0"/>
                <a:cs typeface="Arial" panose="020B0604020202020204" pitchFamily="34" charset="0"/>
              </a:rPr>
              <a:t>permeability</a:t>
            </a:r>
            <a:r>
              <a:rPr lang="zh-CN" altLang="en-US" sz="2900" i="1" dirty="0">
                <a:solidFill>
                  <a:srgbClr val="FF0000"/>
                </a:solidFill>
                <a:latin typeface="Arial" panose="020B0604020202020204" pitchFamily="34" charset="0"/>
                <a:cs typeface="Arial" panose="020B0604020202020204" pitchFamily="34" charset="0"/>
              </a:rPr>
              <a:t>（导磁系数）</a:t>
            </a:r>
            <a:r>
              <a:rPr lang="en-US" sz="2900" dirty="0">
                <a:latin typeface="Arial" panose="020B0604020202020204" pitchFamily="34" charset="0"/>
                <a:cs typeface="Arial" panose="020B0604020202020204" pitchFamily="34" charset="0"/>
              </a:rPr>
              <a:t>of the vehicle </a:t>
            </a:r>
          </a:p>
          <a:p>
            <a:pPr>
              <a:lnSpc>
                <a:spcPct val="130000"/>
              </a:lnSpc>
            </a:pPr>
            <a:r>
              <a:rPr lang="en-US" sz="3100" dirty="0">
                <a:latin typeface="Arial" panose="020B0604020202020204" pitchFamily="34" charset="0"/>
                <a:cs typeface="Arial" panose="020B0604020202020204" pitchFamily="34" charset="0"/>
              </a:rPr>
              <a:t>Classification of Magnetic sensors:</a:t>
            </a:r>
          </a:p>
          <a:p>
            <a:pPr lvl="1">
              <a:lnSpc>
                <a:spcPct val="130000"/>
              </a:lnSpc>
            </a:pPr>
            <a:r>
              <a:rPr lang="en-US" sz="2900" i="1" dirty="0">
                <a:solidFill>
                  <a:srgbClr val="FF0000"/>
                </a:solidFill>
                <a:latin typeface="Arial" panose="020B0604020202020204" pitchFamily="34" charset="0"/>
                <a:cs typeface="Arial" panose="020B0604020202020204" pitchFamily="34" charset="0"/>
              </a:rPr>
              <a:t>Low field </a:t>
            </a:r>
            <a:r>
              <a:rPr lang="en-US" sz="2900" dirty="0">
                <a:latin typeface="Arial" panose="020B0604020202020204" pitchFamily="34" charset="0"/>
                <a:cs typeface="Arial" panose="020B0604020202020204" pitchFamily="34" charset="0"/>
              </a:rPr>
              <a:t>( below 1μGauss)</a:t>
            </a:r>
          </a:p>
          <a:p>
            <a:pPr lvl="1">
              <a:lnSpc>
                <a:spcPct val="130000"/>
              </a:lnSpc>
            </a:pPr>
            <a:r>
              <a:rPr lang="en-US" sz="2900" i="1" dirty="0">
                <a:solidFill>
                  <a:srgbClr val="FF0000"/>
                </a:solidFill>
                <a:latin typeface="Arial" panose="020B0604020202020204" pitchFamily="34" charset="0"/>
                <a:cs typeface="Arial" panose="020B0604020202020204" pitchFamily="34" charset="0"/>
              </a:rPr>
              <a:t>Medium field </a:t>
            </a:r>
            <a:r>
              <a:rPr lang="en-US" sz="2900" dirty="0">
                <a:latin typeface="Arial" panose="020B0604020202020204" pitchFamily="34" charset="0"/>
                <a:cs typeface="Arial" panose="020B0604020202020204" pitchFamily="34" charset="0"/>
              </a:rPr>
              <a:t>( between 1μGauss and 10μGauss) </a:t>
            </a:r>
          </a:p>
          <a:p>
            <a:pPr lvl="1">
              <a:lnSpc>
                <a:spcPct val="130000"/>
              </a:lnSpc>
            </a:pPr>
            <a:r>
              <a:rPr lang="en-US" sz="2900" i="1" dirty="0">
                <a:solidFill>
                  <a:srgbClr val="FF0000"/>
                </a:solidFill>
                <a:latin typeface="Arial" panose="020B0604020202020204" pitchFamily="34" charset="0"/>
                <a:cs typeface="Arial" panose="020B0604020202020204" pitchFamily="34" charset="0"/>
              </a:rPr>
              <a:t>High field </a:t>
            </a:r>
            <a:r>
              <a:rPr lang="en-US" sz="2900" dirty="0">
                <a:latin typeface="Arial" panose="020B0604020202020204" pitchFamily="34" charset="0"/>
                <a:cs typeface="Arial" panose="020B0604020202020204" pitchFamily="34" charset="0"/>
              </a:rPr>
              <a:t>( above 10μGauss) </a:t>
            </a:r>
          </a:p>
          <a:p>
            <a:pPr lvl="2">
              <a:lnSpc>
                <a:spcPct val="130000"/>
              </a:lnSpc>
            </a:pPr>
            <a:endParaRPr lang="en-US" dirty="0">
              <a:latin typeface="Arial" panose="020B0604020202020204" pitchFamily="34" charset="0"/>
              <a:cs typeface="Arial" panose="020B0604020202020204" pitchFamily="34" charset="0"/>
            </a:endParaRPr>
          </a:p>
          <a:p>
            <a:pPr lvl="1">
              <a:lnSpc>
                <a:spcPct val="130000"/>
              </a:lnSpc>
            </a:pPr>
            <a:endParaRPr lang="en-US" dirty="0">
              <a:latin typeface="Arial" panose="020B0604020202020204" pitchFamily="34" charset="0"/>
              <a:cs typeface="Arial" panose="020B0604020202020204" pitchFamily="34" charset="0"/>
            </a:endParaRPr>
          </a:p>
          <a:p>
            <a:pPr lvl="2">
              <a:lnSpc>
                <a:spcPct val="130000"/>
              </a:lnSpc>
            </a:pPr>
            <a:endParaRPr lang="en-US" dirty="0">
              <a:latin typeface="Arial" panose="020B0604020202020204" pitchFamily="34" charset="0"/>
              <a:cs typeface="Arial" panose="020B0604020202020204" pitchFamily="34" charset="0"/>
            </a:endParaRPr>
          </a:p>
          <a:p>
            <a:pPr>
              <a:lnSpc>
                <a:spcPct val="13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7546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Magnetic Sensors </a:t>
            </a:r>
            <a:endParaRPr lang="en-US" dirty="0">
              <a:latin typeface="Arial" panose="020B0604020202020204" pitchFamily="34" charset="0"/>
              <a:cs typeface="Arial" panose="020B0604020202020204" pitchFamily="34" charset="0"/>
            </a:endParaRPr>
          </a:p>
        </p:txBody>
      </p:sp>
      <p:sp>
        <p:nvSpPr>
          <p:cNvPr id="4" name="内容占位符 3"/>
          <p:cNvSpPr>
            <a:spLocks noGrp="1"/>
          </p:cNvSpPr>
          <p:nvPr>
            <p:ph idx="1"/>
          </p:nvPr>
        </p:nvSpPr>
        <p:spPr>
          <a:xfrm>
            <a:off x="1981200" y="1447800"/>
            <a:ext cx="8229600" cy="5257800"/>
          </a:xfrm>
        </p:spPr>
        <p:txBody>
          <a:bodyPr>
            <a:normAutofit/>
          </a:bodyPr>
          <a:lstStyle/>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marL="0" indent="0" algn="ctr">
              <a:buNone/>
            </a:pPr>
            <a:endParaRPr lang="en-US" altLang="zh-CN" sz="2200" b="1" dirty="0">
              <a:latin typeface="Arial" panose="020B0604020202020204" pitchFamily="34" charset="0"/>
              <a:cs typeface="Arial" panose="020B0604020202020204" pitchFamily="34" charset="0"/>
            </a:endParaRPr>
          </a:p>
          <a:p>
            <a:pPr marL="0" indent="0" algn="ctr">
              <a:buNone/>
            </a:pPr>
            <a:endParaRPr lang="en-US" altLang="zh-CN" sz="2400" b="1" dirty="0">
              <a:latin typeface="Arial" panose="020B0604020202020204" pitchFamily="34" charset="0"/>
              <a:cs typeface="Arial" panose="020B0604020202020204" pitchFamily="34" charset="0"/>
            </a:endParaRPr>
          </a:p>
          <a:p>
            <a:pPr marL="0" indent="0" algn="ctr">
              <a:lnSpc>
                <a:spcPct val="120000"/>
              </a:lnSpc>
              <a:buNone/>
            </a:pPr>
            <a:r>
              <a:rPr lang="en-US" altLang="zh-CN" sz="2400" dirty="0">
                <a:latin typeface="Arial" panose="020B0604020202020204" pitchFamily="34" charset="0"/>
                <a:cs typeface="Arial" panose="020B0604020202020204" pitchFamily="34" charset="0"/>
              </a:rPr>
              <a:t>Detection of a moving vehicle with an ARM magnetic sensor (Caruso and </a:t>
            </a:r>
            <a:r>
              <a:rPr lang="en-US" altLang="zh-CN" sz="2400" dirty="0" err="1">
                <a:latin typeface="Arial" panose="020B0604020202020204" pitchFamily="34" charset="0"/>
                <a:cs typeface="Arial" panose="020B0604020202020204" pitchFamily="34" charset="0"/>
              </a:rPr>
              <a:t>Withanawasam</a:t>
            </a:r>
            <a:r>
              <a:rPr lang="en-US" altLang="zh-CN" sz="2400" dirty="0">
                <a:latin typeface="Arial" panose="020B0604020202020204" pitchFamily="34" charset="0"/>
                <a:cs typeface="Arial" panose="020B0604020202020204" pitchFamily="34" charset="0"/>
              </a:rPr>
              <a:t> 1999)</a:t>
            </a:r>
            <a:endParaRPr lang="zh-CN" altLang="en-US" sz="2400" dirty="0">
              <a:latin typeface="Arial" panose="020B0604020202020204" pitchFamily="34" charset="0"/>
              <a:cs typeface="Arial" panose="020B0604020202020204" pitchFamily="34" charset="0"/>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7631" y="1858108"/>
            <a:ext cx="5556738" cy="3258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98064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Magnetic Sensors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825625"/>
            <a:ext cx="11113477" cy="4351338"/>
          </a:xfrm>
        </p:spPr>
        <p:txBody>
          <a:bodyPr>
            <a:normAutofit fontScale="92500"/>
          </a:bodyPr>
          <a:lstStyle/>
          <a:p>
            <a:pPr>
              <a:lnSpc>
                <a:spcPct val="120000"/>
              </a:lnSpc>
            </a:pPr>
            <a:r>
              <a:rPr lang="en-US" sz="2600" dirty="0">
                <a:latin typeface="Arial" panose="020B0604020202020204" pitchFamily="34" charset="0"/>
                <a:cs typeface="Arial" panose="020B0604020202020204" pitchFamily="34" charset="0"/>
              </a:rPr>
              <a:t>Almost all road vehicles </a:t>
            </a:r>
            <a:r>
              <a:rPr lang="en-US" sz="2600" i="1" dirty="0">
                <a:solidFill>
                  <a:srgbClr val="FF0000"/>
                </a:solidFill>
                <a:latin typeface="Arial" panose="020B0604020202020204" pitchFamily="34" charset="0"/>
                <a:cs typeface="Arial" panose="020B0604020202020204" pitchFamily="34" charset="0"/>
              </a:rPr>
              <a:t>contain</a:t>
            </a:r>
            <a:r>
              <a:rPr lang="en-US" sz="2600" i="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a large mass of </a:t>
            </a:r>
            <a:r>
              <a:rPr lang="en-US" sz="2600" i="1" dirty="0">
                <a:solidFill>
                  <a:srgbClr val="FF0000"/>
                </a:solidFill>
                <a:latin typeface="Arial" panose="020B0604020202020204" pitchFamily="34" charset="0"/>
                <a:cs typeface="Arial" panose="020B0604020202020204" pitchFamily="34" charset="0"/>
              </a:rPr>
              <a:t>steel </a:t>
            </a:r>
            <a:endParaRPr lang="en-US" sz="2600" dirty="0">
              <a:solidFill>
                <a:srgbClr val="FF0000"/>
              </a:solidFill>
              <a:latin typeface="Arial" panose="020B0604020202020204" pitchFamily="34" charset="0"/>
              <a:cs typeface="Arial" panose="020B0604020202020204" pitchFamily="34" charset="0"/>
            </a:endParaRPr>
          </a:p>
          <a:p>
            <a:pPr>
              <a:lnSpc>
                <a:spcPct val="120000"/>
              </a:lnSpc>
            </a:pPr>
            <a:r>
              <a:rPr lang="en-US" sz="2600" dirty="0">
                <a:latin typeface="Arial" panose="020B0604020202020204" pitchFamily="34" charset="0"/>
                <a:cs typeface="Arial" panose="020B0604020202020204" pitchFamily="34" charset="0"/>
              </a:rPr>
              <a:t>The magnetic </a:t>
            </a:r>
            <a:r>
              <a:rPr lang="en-US" sz="2600" i="1" dirty="0">
                <a:solidFill>
                  <a:srgbClr val="FF0000"/>
                </a:solidFill>
                <a:latin typeface="Arial" panose="020B0604020202020204" pitchFamily="34" charset="0"/>
                <a:cs typeface="Arial" panose="020B0604020202020204" pitchFamily="34" charset="0"/>
              </a:rPr>
              <a:t>permeability </a:t>
            </a:r>
            <a:r>
              <a:rPr lang="en-US" altLang="zh-CN" sz="2600" i="1" dirty="0">
                <a:solidFill>
                  <a:srgbClr val="FF0000"/>
                </a:solidFill>
                <a:latin typeface="Arial" panose="020B0604020202020204" pitchFamily="34" charset="0"/>
                <a:cs typeface="Arial" panose="020B0604020202020204" pitchFamily="34" charset="0"/>
              </a:rPr>
              <a:t>(</a:t>
            </a:r>
            <a:r>
              <a:rPr lang="zh-CN" altLang="en-US" sz="2600" i="1" dirty="0">
                <a:solidFill>
                  <a:srgbClr val="FF0000"/>
                </a:solidFill>
                <a:latin typeface="Arial" panose="020B0604020202020204" pitchFamily="34" charset="0"/>
                <a:cs typeface="Arial" panose="020B0604020202020204" pitchFamily="34" charset="0"/>
              </a:rPr>
              <a:t>磁导系数</a:t>
            </a:r>
            <a:r>
              <a:rPr lang="en-US" altLang="zh-CN" sz="2600" i="1" dirty="0">
                <a:solidFill>
                  <a:srgbClr val="FF0000"/>
                </a:solidFill>
                <a:latin typeface="Arial" panose="020B0604020202020204" pitchFamily="34" charset="0"/>
                <a:cs typeface="Arial" panose="020B0604020202020204" pitchFamily="34" charset="0"/>
              </a:rPr>
              <a:t>)</a:t>
            </a:r>
            <a:r>
              <a:rPr lang="zh-CN" altLang="en-US" sz="2600" i="1" dirty="0">
                <a:solidFill>
                  <a:srgbClr val="FF0000"/>
                </a:solidFill>
                <a:latin typeface="Arial" panose="020B0604020202020204" pitchFamily="34" charset="0"/>
                <a:cs typeface="Arial" panose="020B0604020202020204" pitchFamily="34" charset="0"/>
              </a:rPr>
              <a:t> </a:t>
            </a:r>
            <a:r>
              <a:rPr lang="en-US" sz="2600" i="1" dirty="0">
                <a:solidFill>
                  <a:srgbClr val="FF0000"/>
                </a:solidFill>
                <a:latin typeface="Arial" panose="020B0604020202020204" pitchFamily="34" charset="0"/>
                <a:cs typeface="Arial" panose="020B0604020202020204" pitchFamily="34" charset="0"/>
              </a:rPr>
              <a:t>of steel </a:t>
            </a:r>
            <a:r>
              <a:rPr lang="en-US" sz="2600" dirty="0">
                <a:latin typeface="Arial" panose="020B0604020202020204" pitchFamily="34" charset="0"/>
                <a:cs typeface="Arial" panose="020B0604020202020204" pitchFamily="34" charset="0"/>
              </a:rPr>
              <a:t>is</a:t>
            </a:r>
            <a:r>
              <a:rPr lang="en-US" sz="2600" i="1" dirty="0">
                <a:solidFill>
                  <a:srgbClr val="FF0000"/>
                </a:solidFill>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much </a:t>
            </a:r>
            <a:r>
              <a:rPr lang="en-US" sz="2600" i="1" dirty="0">
                <a:solidFill>
                  <a:srgbClr val="FF0000"/>
                </a:solidFill>
                <a:latin typeface="Arial" panose="020B0604020202020204" pitchFamily="34" charset="0"/>
                <a:cs typeface="Arial" panose="020B0604020202020204" pitchFamily="34" charset="0"/>
              </a:rPr>
              <a:t>higher</a:t>
            </a:r>
            <a:r>
              <a:rPr lang="en-US" sz="2600" i="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than the surrounding air </a:t>
            </a:r>
          </a:p>
          <a:p>
            <a:pPr>
              <a:lnSpc>
                <a:spcPct val="120000"/>
              </a:lnSpc>
            </a:pPr>
            <a:r>
              <a:rPr lang="en-US" sz="2600" i="1" dirty="0">
                <a:solidFill>
                  <a:srgbClr val="FF0000"/>
                </a:solidFill>
                <a:latin typeface="Arial" panose="020B0604020202020204" pitchFamily="34" charset="0"/>
                <a:cs typeface="Arial" panose="020B0604020202020204" pitchFamily="34" charset="0"/>
              </a:rPr>
              <a:t>Steel</a:t>
            </a:r>
            <a:r>
              <a:rPr lang="en-US" sz="2600" i="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has the capacity to </a:t>
            </a:r>
            <a:r>
              <a:rPr lang="en-US" sz="2600" i="1" dirty="0">
                <a:solidFill>
                  <a:srgbClr val="FF0000"/>
                </a:solidFill>
                <a:latin typeface="Arial" panose="020B0604020202020204" pitchFamily="34" charset="0"/>
                <a:cs typeface="Arial" panose="020B0604020202020204" pitchFamily="34" charset="0"/>
              </a:rPr>
              <a:t>concentrate</a:t>
            </a:r>
            <a:r>
              <a:rPr lang="en-US" sz="2600" i="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the </a:t>
            </a:r>
            <a:r>
              <a:rPr lang="en-US" sz="2600" i="1" dirty="0">
                <a:solidFill>
                  <a:srgbClr val="FF0000"/>
                </a:solidFill>
                <a:latin typeface="Arial" panose="020B0604020202020204" pitchFamily="34" charset="0"/>
                <a:cs typeface="Arial" panose="020B0604020202020204" pitchFamily="34" charset="0"/>
              </a:rPr>
              <a:t>flux lines </a:t>
            </a:r>
            <a:r>
              <a:rPr lang="en-US" sz="2600" dirty="0">
                <a:latin typeface="Arial" panose="020B0604020202020204" pitchFamily="34" charset="0"/>
                <a:cs typeface="Arial" panose="020B0604020202020204" pitchFamily="34" charset="0"/>
              </a:rPr>
              <a:t>of the Earth’s magnetic field </a:t>
            </a:r>
          </a:p>
          <a:p>
            <a:pPr>
              <a:lnSpc>
                <a:spcPct val="120000"/>
              </a:lnSpc>
            </a:pPr>
            <a:r>
              <a:rPr lang="en-US" sz="2600" dirty="0">
                <a:latin typeface="Arial" panose="020B0604020202020204" pitchFamily="34" charset="0"/>
                <a:cs typeface="Arial" panose="020B0604020202020204" pitchFamily="34" charset="0"/>
              </a:rPr>
              <a:t>The </a:t>
            </a:r>
            <a:r>
              <a:rPr lang="en-US" sz="2600" i="1" dirty="0">
                <a:solidFill>
                  <a:srgbClr val="FF0000"/>
                </a:solidFill>
                <a:latin typeface="Arial" panose="020B0604020202020204" pitchFamily="34" charset="0"/>
                <a:cs typeface="Arial" panose="020B0604020202020204" pitchFamily="34" charset="0"/>
              </a:rPr>
              <a:t>concentration</a:t>
            </a:r>
            <a:r>
              <a:rPr lang="en-US" sz="2600" i="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of magnetic flux </a:t>
            </a:r>
            <a:r>
              <a:rPr lang="en-US" sz="2600" i="1" dirty="0">
                <a:solidFill>
                  <a:srgbClr val="FF0000"/>
                </a:solidFill>
                <a:latin typeface="Arial" panose="020B0604020202020204" pitchFamily="34" charset="0"/>
                <a:cs typeface="Arial" panose="020B0604020202020204" pitchFamily="34" charset="0"/>
              </a:rPr>
              <a:t>varies as </a:t>
            </a:r>
            <a:r>
              <a:rPr lang="en-US" sz="2600" dirty="0">
                <a:latin typeface="Arial" panose="020B0604020202020204" pitchFamily="34" charset="0"/>
                <a:cs typeface="Arial" panose="020B0604020202020204" pitchFamily="34" charset="0"/>
              </a:rPr>
              <a:t>the </a:t>
            </a:r>
            <a:r>
              <a:rPr lang="en-US" sz="2600" i="1" dirty="0">
                <a:solidFill>
                  <a:srgbClr val="FF0000"/>
                </a:solidFill>
                <a:latin typeface="Arial" panose="020B0604020202020204" pitchFamily="34" charset="0"/>
                <a:cs typeface="Arial" panose="020B0604020202020204" pitchFamily="34" charset="0"/>
              </a:rPr>
              <a:t>vehicle moves</a:t>
            </a:r>
            <a:r>
              <a:rPr lang="en-US" sz="2600" dirty="0">
                <a:latin typeface="Arial" panose="020B0604020202020204" pitchFamily="34" charset="0"/>
                <a:cs typeface="Arial" panose="020B0604020202020204" pitchFamily="34" charset="0"/>
              </a:rPr>
              <a:t>; it can be </a:t>
            </a:r>
            <a:r>
              <a:rPr lang="en-US" sz="2600" i="1" dirty="0">
                <a:solidFill>
                  <a:srgbClr val="FF0000"/>
                </a:solidFill>
                <a:latin typeface="Arial" panose="020B0604020202020204" pitchFamily="34" charset="0"/>
                <a:cs typeface="Arial" panose="020B0604020202020204" pitchFamily="34" charset="0"/>
              </a:rPr>
              <a:t>detected </a:t>
            </a:r>
            <a:r>
              <a:rPr lang="en-US" sz="2600" dirty="0">
                <a:latin typeface="Arial" panose="020B0604020202020204" pitchFamily="34" charset="0"/>
                <a:cs typeface="Arial" panose="020B0604020202020204" pitchFamily="34" charset="0"/>
              </a:rPr>
              <a:t>from a distance of up to </a:t>
            </a:r>
            <a:r>
              <a:rPr lang="en-US" sz="2600" i="1" dirty="0">
                <a:solidFill>
                  <a:srgbClr val="FF0000"/>
                </a:solidFill>
                <a:latin typeface="Arial" panose="020B0604020202020204" pitchFamily="34" charset="0"/>
                <a:cs typeface="Arial" panose="020B0604020202020204" pitchFamily="34" charset="0"/>
              </a:rPr>
              <a:t>15m</a:t>
            </a:r>
            <a:r>
              <a:rPr lang="en-US" sz="2600" i="1" dirty="0">
                <a:latin typeface="Arial" panose="020B0604020202020204" pitchFamily="34" charset="0"/>
                <a:cs typeface="Arial" panose="020B0604020202020204" pitchFamily="34" charset="0"/>
              </a:rPr>
              <a:t> </a:t>
            </a:r>
            <a:endParaRPr lang="en-US" sz="2600" dirty="0">
              <a:latin typeface="Arial" panose="020B0604020202020204" pitchFamily="34" charset="0"/>
              <a:cs typeface="Arial" panose="020B0604020202020204" pitchFamily="34" charset="0"/>
            </a:endParaRPr>
          </a:p>
          <a:p>
            <a:pPr>
              <a:lnSpc>
                <a:spcPct val="120000"/>
              </a:lnSpc>
            </a:pPr>
            <a:r>
              <a:rPr lang="en-US" sz="2600" dirty="0">
                <a:latin typeface="Arial" panose="020B0604020202020204" pitchFamily="34" charset="0"/>
                <a:cs typeface="Arial" panose="020B0604020202020204" pitchFamily="34" charset="0"/>
              </a:rPr>
              <a:t>The field variation reveals a </a:t>
            </a:r>
            <a:r>
              <a:rPr lang="en-US" sz="2600" i="1" dirty="0">
                <a:solidFill>
                  <a:srgbClr val="FF0000"/>
                </a:solidFill>
                <a:latin typeface="Arial" panose="020B0604020202020204" pitchFamily="34" charset="0"/>
                <a:cs typeface="Arial" panose="020B0604020202020204" pitchFamily="34" charset="0"/>
              </a:rPr>
              <a:t>detailed</a:t>
            </a:r>
            <a:r>
              <a:rPr lang="en-US" sz="2600" i="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magnetic signature </a:t>
            </a:r>
          </a:p>
          <a:p>
            <a:pPr>
              <a:lnSpc>
                <a:spcPct val="120000"/>
              </a:lnSpc>
            </a:pPr>
            <a:r>
              <a:rPr lang="en-US" sz="2600" dirty="0">
                <a:latin typeface="Arial" panose="020B0604020202020204" pitchFamily="34" charset="0"/>
                <a:cs typeface="Arial" panose="020B0604020202020204" pitchFamily="34" charset="0"/>
              </a:rPr>
              <a:t>It is possible to distinguish between different types of vehicles </a:t>
            </a:r>
          </a:p>
        </p:txBody>
      </p:sp>
    </p:spTree>
    <p:extLst>
      <p:ext uri="{BB962C8B-B14F-4D97-AF65-F5344CB8AC3E}">
        <p14:creationId xmlns:p14="http://schemas.microsoft.com/office/powerpoint/2010/main" val="39955582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latin typeface="Arial" panose="020B0604020202020204" pitchFamily="34" charset="0"/>
                <a:cs typeface="Arial" panose="020B0604020202020204" pitchFamily="34" charset="0"/>
              </a:rPr>
              <a:t>Knaian</a:t>
            </a:r>
            <a:r>
              <a:rPr lang="en-US" b="1" dirty="0">
                <a:latin typeface="Arial" panose="020B0604020202020204" pitchFamily="34" charset="0"/>
                <a:cs typeface="Arial" panose="020B0604020202020204" pitchFamily="34" charset="0"/>
              </a:rPr>
              <a:t> (2000)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3177751"/>
            <a:ext cx="3835153" cy="1828060"/>
          </a:xfrm>
        </p:spPr>
        <p:txBody>
          <a:bodyPr>
            <a:normAutofit/>
          </a:bodyPr>
          <a:lstStyle/>
          <a:p>
            <a:pPr marL="0" indent="0" algn="ctr">
              <a:lnSpc>
                <a:spcPct val="120000"/>
              </a:lnSpc>
              <a:buNone/>
            </a:pPr>
            <a:r>
              <a:rPr lang="en-US" altLang="zh-CN" sz="2400" dirty="0">
                <a:latin typeface="Arial" panose="020B0604020202020204" pitchFamily="34" charset="0"/>
                <a:cs typeface="Arial" panose="020B0604020202020204" pitchFamily="34" charset="0"/>
              </a:rPr>
              <a:t>Block diagram of the MIT node for traffic monitoring </a:t>
            </a:r>
          </a:p>
          <a:p>
            <a:pPr marL="0" indent="0" algn="ctr">
              <a:lnSpc>
                <a:spcPct val="120000"/>
              </a:lnSpc>
              <a:buNone/>
            </a:pPr>
            <a:r>
              <a:rPr lang="en-US" altLang="zh-CN" sz="2400" dirty="0">
                <a:latin typeface="Arial" panose="020B0604020202020204" pitchFamily="34" charset="0"/>
                <a:cs typeface="Arial" panose="020B0604020202020204" pitchFamily="34" charset="0"/>
              </a:rPr>
              <a:t>(</a:t>
            </a:r>
            <a:r>
              <a:rPr lang="en-US" altLang="zh-CN" sz="2400" dirty="0" err="1">
                <a:latin typeface="Arial" panose="020B0604020202020204" pitchFamily="34" charset="0"/>
                <a:cs typeface="Arial" panose="020B0604020202020204" pitchFamily="34" charset="0"/>
              </a:rPr>
              <a:t>Knaian</a:t>
            </a:r>
            <a:r>
              <a:rPr lang="en-US" altLang="zh-CN" sz="2400" dirty="0">
                <a:latin typeface="Arial" panose="020B0604020202020204" pitchFamily="34" charset="0"/>
                <a:cs typeface="Arial" panose="020B0604020202020204" pitchFamily="34" charset="0"/>
              </a:rPr>
              <a:t> 2000)</a:t>
            </a:r>
            <a:endParaRPr lang="en-US" sz="2400" dirty="0">
              <a:latin typeface="Arial" panose="020B0604020202020204" pitchFamily="34" charset="0"/>
              <a:cs typeface="Arial" panose="020B0604020202020204" pitchFamily="34"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1962" y="1463674"/>
            <a:ext cx="4575369" cy="5029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98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latin typeface="Arial" panose="020B0604020202020204" pitchFamily="34" charset="0"/>
                <a:cs typeface="Arial" panose="020B0604020202020204" pitchFamily="34" charset="0"/>
              </a:rPr>
              <a:t>Knaian</a:t>
            </a:r>
            <a:r>
              <a:rPr lang="en-US" b="1" dirty="0">
                <a:latin typeface="Arial" panose="020B0604020202020204" pitchFamily="34" charset="0"/>
                <a:cs typeface="Arial" panose="020B0604020202020204" pitchFamily="34" charset="0"/>
              </a:rPr>
              <a:t> (2000)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lnSpc>
                <a:spcPct val="120000"/>
              </a:lnSpc>
            </a:pPr>
            <a:r>
              <a:rPr lang="en-US" sz="2400" dirty="0">
                <a:latin typeface="Arial" panose="020B0604020202020204" pitchFamily="34" charset="0"/>
                <a:cs typeface="Arial" panose="020B0604020202020204" pitchFamily="34" charset="0"/>
              </a:rPr>
              <a:t>The node consists of</a:t>
            </a:r>
          </a:p>
          <a:p>
            <a:pPr lvl="1">
              <a:lnSpc>
                <a:spcPct val="120000"/>
              </a:lnSpc>
            </a:pPr>
            <a:r>
              <a:rPr lang="en-US" i="1" dirty="0">
                <a:solidFill>
                  <a:srgbClr val="FF0000"/>
                </a:solidFill>
                <a:latin typeface="Arial" panose="020B0604020202020204" pitchFamily="34" charset="0"/>
                <a:cs typeface="Arial" panose="020B0604020202020204" pitchFamily="34" charset="0"/>
              </a:rPr>
              <a:t>Two AMR magnetic sensors </a:t>
            </a:r>
            <a:r>
              <a:rPr lang="en-US" dirty="0">
                <a:latin typeface="Arial" panose="020B0604020202020204" pitchFamily="34" charset="0"/>
                <a:cs typeface="Arial" panose="020B0604020202020204" pitchFamily="34" charset="0"/>
              </a:rPr>
              <a:t>to detect vehicular activities </a:t>
            </a:r>
          </a:p>
          <a:p>
            <a:pPr lvl="2">
              <a:lnSpc>
                <a:spcPct val="120000"/>
              </a:lnSpc>
            </a:pPr>
            <a:r>
              <a:rPr lang="en-US" dirty="0">
                <a:latin typeface="Arial" panose="020B0604020202020204" pitchFamily="34" charset="0"/>
                <a:cs typeface="Arial" panose="020B0604020202020204" pitchFamily="34" charset="0"/>
              </a:rPr>
              <a:t>By observing the disturbance in the Earth’s magnetic field the vehicular creates </a:t>
            </a:r>
          </a:p>
          <a:p>
            <a:pPr lvl="2">
              <a:lnSpc>
                <a:spcPct val="120000"/>
              </a:lnSpc>
            </a:pPr>
            <a:r>
              <a:rPr lang="en-US" dirty="0">
                <a:latin typeface="Arial" panose="020B0604020202020204" pitchFamily="34" charset="0"/>
                <a:cs typeface="Arial" panose="020B0604020202020204" pitchFamily="34" charset="0"/>
              </a:rPr>
              <a:t>The vehicle pulls field lines away from the sensor when it approaches it </a:t>
            </a:r>
          </a:p>
          <a:p>
            <a:pPr lvl="2">
              <a:lnSpc>
                <a:spcPct val="120000"/>
              </a:lnSpc>
            </a:pPr>
            <a:r>
              <a:rPr lang="en-US" dirty="0">
                <a:latin typeface="Arial" panose="020B0604020202020204" pitchFamily="34" charset="0"/>
                <a:cs typeface="Arial" panose="020B0604020202020204" pitchFamily="34" charset="0"/>
              </a:rPr>
              <a:t>Then towards the sensor when it drives away from it</a:t>
            </a:r>
          </a:p>
          <a:p>
            <a:pPr lvl="1">
              <a:lnSpc>
                <a:spcPct val="120000"/>
              </a:lnSpc>
            </a:pPr>
            <a:r>
              <a:rPr lang="en-US" i="1" dirty="0">
                <a:latin typeface="Arial" panose="020B0604020202020204" pitchFamily="34" charset="0"/>
                <a:cs typeface="Arial" panose="020B0604020202020204" pitchFamily="34" charset="0"/>
              </a:rPr>
              <a:t>A </a:t>
            </a:r>
            <a:r>
              <a:rPr lang="en-US" i="1" dirty="0">
                <a:solidFill>
                  <a:srgbClr val="FF0000"/>
                </a:solidFill>
                <a:latin typeface="Arial" panose="020B0604020202020204" pitchFamily="34" charset="0"/>
                <a:cs typeface="Arial" panose="020B0604020202020204" pitchFamily="34" charset="0"/>
              </a:rPr>
              <a:t>temperature sensor </a:t>
            </a:r>
            <a:r>
              <a:rPr lang="en-US" dirty="0">
                <a:latin typeface="Arial" panose="020B0604020202020204" pitchFamily="34" charset="0"/>
                <a:cs typeface="Arial" panose="020B0604020202020204" pitchFamily="34" charset="0"/>
              </a:rPr>
              <a:t>to monitor road condition (snow, ice, or water) </a:t>
            </a:r>
          </a:p>
          <a:p>
            <a:pPr>
              <a:lnSpc>
                <a:spcPct val="12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40524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latin typeface="Arial" panose="020B0604020202020204" pitchFamily="34" charset="0"/>
                <a:cs typeface="Arial" panose="020B0604020202020204" pitchFamily="34" charset="0"/>
              </a:rPr>
              <a:t>Knaian</a:t>
            </a:r>
            <a:r>
              <a:rPr lang="en-US" b="1" dirty="0">
                <a:latin typeface="Arial" panose="020B0604020202020204" pitchFamily="34" charset="0"/>
                <a:cs typeface="Arial" panose="020B0604020202020204" pitchFamily="34" charset="0"/>
              </a:rPr>
              <a:t> (2000)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5"/>
            <a:ext cx="10515600" cy="4592760"/>
          </a:xfrm>
        </p:spPr>
        <p:txBody>
          <a:bodyPr>
            <a:normAutofit/>
          </a:bodyPr>
          <a:lstStyle/>
          <a:p>
            <a:pPr>
              <a:lnSpc>
                <a:spcPct val="120000"/>
              </a:lnSpc>
            </a:pPr>
            <a:r>
              <a:rPr lang="en-US" sz="2400" dirty="0">
                <a:latin typeface="Arial" panose="020B0604020202020204" pitchFamily="34" charset="0"/>
                <a:cs typeface="Arial" panose="020B0604020202020204" pitchFamily="34" charset="0"/>
              </a:rPr>
              <a:t>To measure the speed of a vehicle, the node waits until it detects an excursion from the predefined baseline and then starts sampling at a frequency of 2KHz </a:t>
            </a:r>
          </a:p>
          <a:p>
            <a:pPr lvl="1">
              <a:lnSpc>
                <a:spcPct val="120000"/>
              </a:lnSpc>
            </a:pPr>
            <a:r>
              <a:rPr lang="en-US" sz="2000" dirty="0">
                <a:latin typeface="Arial" panose="020B0604020202020204" pitchFamily="34" charset="0"/>
                <a:cs typeface="Arial" panose="020B0604020202020204" pitchFamily="34" charset="0"/>
              </a:rPr>
              <a:t>Two AMR magnetic sensors are placed </a:t>
            </a:r>
            <a:r>
              <a:rPr lang="en-US" sz="2000" i="1" dirty="0">
                <a:solidFill>
                  <a:srgbClr val="FF0000"/>
                </a:solidFill>
                <a:latin typeface="Arial" panose="020B0604020202020204" pitchFamily="34" charset="0"/>
                <a:cs typeface="Arial" panose="020B0604020202020204" pitchFamily="34" charset="0"/>
              </a:rPr>
              <a:t>one at the front </a:t>
            </a:r>
            <a:r>
              <a:rPr lang="en-US" sz="2000" dirty="0">
                <a:latin typeface="Arial" panose="020B0604020202020204" pitchFamily="34" charset="0"/>
                <a:cs typeface="Arial" panose="020B0604020202020204" pitchFamily="34" charset="0"/>
              </a:rPr>
              <a:t>of the node and </a:t>
            </a:r>
            <a:r>
              <a:rPr lang="en-US" sz="2000" i="1" dirty="0">
                <a:solidFill>
                  <a:srgbClr val="FF0000"/>
                </a:solidFill>
                <a:latin typeface="Arial" panose="020B0604020202020204" pitchFamily="34" charset="0"/>
                <a:cs typeface="Arial" panose="020B0604020202020204" pitchFamily="34" charset="0"/>
              </a:rPr>
              <a:t>the other at the back </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they are shifted in time </a:t>
            </a:r>
          </a:p>
          <a:p>
            <a:pPr lvl="1">
              <a:lnSpc>
                <a:spcPct val="120000"/>
              </a:lnSpc>
            </a:pPr>
            <a:r>
              <a:rPr lang="en-US" sz="2000" dirty="0">
                <a:latin typeface="Arial" panose="020B0604020202020204" pitchFamily="34" charset="0"/>
                <a:cs typeface="Arial" panose="020B0604020202020204" pitchFamily="34" charset="0"/>
              </a:rPr>
              <a:t>The node </a:t>
            </a:r>
            <a:r>
              <a:rPr lang="en-US" sz="2000" i="1" dirty="0">
                <a:solidFill>
                  <a:srgbClr val="FF0000"/>
                </a:solidFill>
                <a:latin typeface="Arial" panose="020B0604020202020204" pitchFamily="34" charset="0"/>
                <a:cs typeface="Arial" panose="020B0604020202020204" pitchFamily="34" charset="0"/>
              </a:rPr>
              <a:t>waits</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for the signal from the rear sensor to cross the baseline </a:t>
            </a:r>
          </a:p>
          <a:p>
            <a:pPr lvl="1">
              <a:lnSpc>
                <a:spcPct val="120000"/>
              </a:lnSpc>
            </a:pPr>
            <a:r>
              <a:rPr lang="en-US" sz="2000" dirty="0">
                <a:latin typeface="Arial" panose="020B0604020202020204" pitchFamily="34" charset="0"/>
                <a:cs typeface="Arial" panose="020B0604020202020204" pitchFamily="34" charset="0"/>
              </a:rPr>
              <a:t>Then it begins to </a:t>
            </a:r>
            <a:r>
              <a:rPr lang="en-US" sz="2000" i="1" dirty="0">
                <a:solidFill>
                  <a:srgbClr val="FF0000"/>
                </a:solidFill>
                <a:latin typeface="Arial" panose="020B0604020202020204" pitchFamily="34" charset="0"/>
                <a:cs typeface="Arial" panose="020B0604020202020204" pitchFamily="34" charset="0"/>
              </a:rPr>
              <a:t>count</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 number of </a:t>
            </a:r>
            <a:r>
              <a:rPr lang="en-US" sz="2000" i="1" dirty="0">
                <a:solidFill>
                  <a:srgbClr val="FF0000"/>
                </a:solidFill>
                <a:latin typeface="Arial" panose="020B0604020202020204" pitchFamily="34" charset="0"/>
                <a:cs typeface="Arial" panose="020B0604020202020204" pitchFamily="34" charset="0"/>
              </a:rPr>
              <a:t>samples</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until the signal from the forward sensor crosses the baseline </a:t>
            </a:r>
          </a:p>
          <a:p>
            <a:pPr lvl="1">
              <a:lnSpc>
                <a:spcPct val="120000"/>
              </a:lnSpc>
            </a:pPr>
            <a:r>
              <a:rPr lang="en-US" sz="2000" dirty="0">
                <a:latin typeface="Arial" panose="020B0604020202020204" pitchFamily="34" charset="0"/>
                <a:cs typeface="Arial" panose="020B0604020202020204" pitchFamily="34" charset="0"/>
              </a:rPr>
              <a:t>From this count, it </a:t>
            </a:r>
            <a:r>
              <a:rPr lang="en-US" sz="2000" i="1" dirty="0">
                <a:solidFill>
                  <a:srgbClr val="FF0000"/>
                </a:solidFill>
                <a:latin typeface="Arial" panose="020B0604020202020204" pitchFamily="34" charset="0"/>
                <a:cs typeface="Arial" panose="020B0604020202020204" pitchFamily="34" charset="0"/>
              </a:rPr>
              <a:t>computes</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 </a:t>
            </a:r>
            <a:r>
              <a:rPr lang="en-US" sz="2000" i="1" dirty="0">
                <a:solidFill>
                  <a:srgbClr val="FF0000"/>
                </a:solidFill>
                <a:latin typeface="Arial" panose="020B0604020202020204" pitchFamily="34" charset="0"/>
                <a:cs typeface="Arial" panose="020B0604020202020204" pitchFamily="34" charset="0"/>
              </a:rPr>
              <a:t>speed</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of the passing vehicle </a:t>
            </a:r>
          </a:p>
          <a:p>
            <a:pPr>
              <a:lnSpc>
                <a:spcPct val="12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6997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b="1" dirty="0" err="1">
                <a:latin typeface="Arial" panose="020B0604020202020204" pitchFamily="34" charset="0"/>
                <a:cs typeface="Arial" panose="020B0604020202020204" pitchFamily="34" charset="0"/>
              </a:rPr>
              <a:t>Arora</a:t>
            </a:r>
            <a:r>
              <a:rPr lang="fr-FR" b="1" dirty="0">
                <a:latin typeface="Arial" panose="020B0604020202020204" pitchFamily="34" charset="0"/>
                <a:cs typeface="Arial" panose="020B0604020202020204" pitchFamily="34" charset="0"/>
              </a:rPr>
              <a:t> et al.(2004) </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lnSpc>
                <a:spcPct val="120000"/>
              </a:lnSpc>
            </a:pPr>
            <a:r>
              <a:rPr lang="en-US" sz="2400" dirty="0">
                <a:latin typeface="Arial" panose="020B0604020202020204" pitchFamily="34" charset="0"/>
                <a:cs typeface="Arial" panose="020B0604020202020204" pitchFamily="34" charset="0"/>
              </a:rPr>
              <a:t>It deploy </a:t>
            </a:r>
            <a:r>
              <a:rPr lang="en-US" sz="2400" i="1" dirty="0">
                <a:solidFill>
                  <a:srgbClr val="FF0000"/>
                </a:solidFill>
                <a:latin typeface="Arial" panose="020B0604020202020204" pitchFamily="34" charset="0"/>
                <a:cs typeface="Arial" panose="020B0604020202020204" pitchFamily="34" charset="0"/>
              </a:rPr>
              <a:t>90 sensor nodes </a:t>
            </a:r>
            <a:r>
              <a:rPr lang="en-US" sz="2400" dirty="0">
                <a:latin typeface="Arial" panose="020B0604020202020204" pitchFamily="34" charset="0"/>
                <a:cs typeface="Arial" panose="020B0604020202020204" pitchFamily="34" charset="0"/>
              </a:rPr>
              <a:t>to detect the movement of vehicles, soldiers and people </a:t>
            </a:r>
          </a:p>
          <a:p>
            <a:pPr lvl="1">
              <a:lnSpc>
                <a:spcPct val="120000"/>
              </a:lnSpc>
            </a:pPr>
            <a:r>
              <a:rPr lang="en-US" i="1" dirty="0">
                <a:solidFill>
                  <a:srgbClr val="FF0000"/>
                </a:solidFill>
                <a:latin typeface="Arial" panose="020B0604020202020204" pitchFamily="34" charset="0"/>
                <a:cs typeface="Arial" panose="020B0604020202020204" pitchFamily="34" charset="0"/>
              </a:rPr>
              <a:t>78</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of the nodes were </a:t>
            </a:r>
            <a:r>
              <a:rPr lang="en-US" i="1" dirty="0">
                <a:solidFill>
                  <a:srgbClr val="FF0000"/>
                </a:solidFill>
                <a:latin typeface="Arial" panose="020B0604020202020204" pitchFamily="34" charset="0"/>
                <a:cs typeface="Arial" panose="020B0604020202020204" pitchFamily="34" charset="0"/>
              </a:rPr>
              <a:t>magnetic sensor nodes </a:t>
            </a:r>
            <a:r>
              <a:rPr lang="en-US" dirty="0">
                <a:latin typeface="Arial" panose="020B0604020202020204" pitchFamily="34" charset="0"/>
                <a:cs typeface="Arial" panose="020B0604020202020204" pitchFamily="34" charset="0"/>
              </a:rPr>
              <a:t>that were deployed in a 60×25 square foot area </a:t>
            </a:r>
          </a:p>
          <a:p>
            <a:pPr lvl="1">
              <a:lnSpc>
                <a:spcPct val="120000"/>
              </a:lnSpc>
            </a:pPr>
            <a:r>
              <a:rPr lang="en-US" i="1" dirty="0">
                <a:solidFill>
                  <a:srgbClr val="FF0000"/>
                </a:solidFill>
                <a:latin typeface="Arial" panose="020B0604020202020204" pitchFamily="34" charset="0"/>
                <a:cs typeface="Arial" panose="020B0604020202020204" pitchFamily="34" charset="0"/>
              </a:rPr>
              <a:t>12 radar sensor nodes </a:t>
            </a:r>
            <a:r>
              <a:rPr lang="en-US" dirty="0">
                <a:latin typeface="Arial" panose="020B0604020202020204" pitchFamily="34" charset="0"/>
                <a:cs typeface="Arial" panose="020B0604020202020204" pitchFamily="34" charset="0"/>
              </a:rPr>
              <a:t>were overlaid on the network </a:t>
            </a:r>
          </a:p>
          <a:p>
            <a:pPr>
              <a:lnSpc>
                <a:spcPct val="120000"/>
              </a:lnSpc>
            </a:pPr>
            <a:r>
              <a:rPr lang="en-US" sz="2400" dirty="0">
                <a:latin typeface="Arial" panose="020B0604020202020204" pitchFamily="34" charset="0"/>
                <a:cs typeface="Arial" panose="020B0604020202020204" pitchFamily="34" charset="0"/>
              </a:rPr>
              <a:t>These nodes form a </a:t>
            </a:r>
            <a:r>
              <a:rPr lang="en-US" sz="2400" i="1" dirty="0">
                <a:solidFill>
                  <a:srgbClr val="FF0000"/>
                </a:solidFill>
                <a:latin typeface="Arial" panose="020B0604020202020204" pitchFamily="34" charset="0"/>
                <a:cs typeface="Arial" panose="020B0604020202020204" pitchFamily="34" charset="0"/>
              </a:rPr>
              <a:t>self-organizing</a:t>
            </a:r>
            <a:r>
              <a:rPr lang="en-US" sz="2400" i="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network which connects itself to a remote computer via a base station and a long haul radio repeater </a:t>
            </a:r>
          </a:p>
          <a:p>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59173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5032375"/>
          </a:xfrm>
        </p:spPr>
        <p:txBody>
          <a:bodyPr>
            <a:normAutofit fontScale="25000" lnSpcReduction="20000"/>
          </a:bodyPr>
          <a:lstStyle/>
          <a:p>
            <a:pPr>
              <a:lnSpc>
                <a:spcPct val="140000"/>
              </a:lnSpc>
              <a:spcBef>
                <a:spcPts val="0"/>
              </a:spcBef>
            </a:pPr>
            <a:r>
              <a:rPr lang="en-US" sz="9600" dirty="0">
                <a:latin typeface="Arial" panose="020B0604020202020204" pitchFamily="34" charset="0"/>
                <a:cs typeface="Arial" panose="020B0604020202020204" pitchFamily="34" charset="0"/>
              </a:rPr>
              <a:t>Structural Health Monitoring </a:t>
            </a:r>
          </a:p>
          <a:p>
            <a:pPr lvl="1">
              <a:lnSpc>
                <a:spcPct val="140000"/>
              </a:lnSpc>
              <a:spcBef>
                <a:spcPts val="0"/>
              </a:spcBef>
            </a:pPr>
            <a:r>
              <a:rPr lang="en-US" sz="8000" dirty="0" err="1">
                <a:latin typeface="Arial" panose="020B0604020202020204" pitchFamily="34" charset="0"/>
                <a:cs typeface="Arial" panose="020B0604020202020204" pitchFamily="34" charset="0"/>
              </a:rPr>
              <a:t>Wisden</a:t>
            </a:r>
            <a:r>
              <a:rPr lang="en-US" sz="8000" dirty="0">
                <a:latin typeface="Arial" panose="020B0604020202020204" pitchFamily="34" charset="0"/>
                <a:cs typeface="Arial" panose="020B0604020202020204" pitchFamily="34" charset="0"/>
              </a:rPr>
              <a:t> </a:t>
            </a:r>
          </a:p>
          <a:p>
            <a:pPr lvl="1">
              <a:lnSpc>
                <a:spcPct val="140000"/>
              </a:lnSpc>
              <a:spcBef>
                <a:spcPts val="0"/>
              </a:spcBef>
            </a:pPr>
            <a:r>
              <a:rPr lang="en-US" sz="8000" dirty="0">
                <a:latin typeface="Arial" panose="020B0604020202020204" pitchFamily="34" charset="0"/>
                <a:cs typeface="Arial" panose="020B0604020202020204" pitchFamily="34" charset="0"/>
              </a:rPr>
              <a:t>Golden Gate Bridge </a:t>
            </a:r>
          </a:p>
          <a:p>
            <a:pPr>
              <a:lnSpc>
                <a:spcPct val="140000"/>
              </a:lnSpc>
              <a:spcBef>
                <a:spcPts val="0"/>
              </a:spcBef>
            </a:pPr>
            <a:r>
              <a:rPr lang="en-US" sz="9600" dirty="0">
                <a:latin typeface="Arial" panose="020B0604020202020204" pitchFamily="34" charset="0"/>
                <a:cs typeface="Arial" panose="020B0604020202020204" pitchFamily="34" charset="0"/>
              </a:rPr>
              <a:t>Traffic Control</a:t>
            </a:r>
          </a:p>
          <a:p>
            <a:pPr lvl="1">
              <a:lnSpc>
                <a:spcPct val="140000"/>
              </a:lnSpc>
              <a:spcBef>
                <a:spcPts val="0"/>
              </a:spcBef>
            </a:pPr>
            <a:r>
              <a:rPr lang="en-US" sz="8000" dirty="0" err="1">
                <a:latin typeface="Arial" panose="020B0604020202020204" pitchFamily="34" charset="0"/>
                <a:cs typeface="Arial" panose="020B0604020202020204" pitchFamily="34" charset="0"/>
              </a:rPr>
              <a:t>Knaian</a:t>
            </a:r>
            <a:r>
              <a:rPr lang="en-US" sz="8000" dirty="0">
                <a:latin typeface="Arial" panose="020B0604020202020204" pitchFamily="34" charset="0"/>
                <a:cs typeface="Arial" panose="020B0604020202020204" pitchFamily="34" charset="0"/>
              </a:rPr>
              <a:t> (2000) </a:t>
            </a:r>
          </a:p>
          <a:p>
            <a:pPr lvl="1">
              <a:lnSpc>
                <a:spcPct val="140000"/>
              </a:lnSpc>
              <a:spcBef>
                <a:spcPts val="0"/>
              </a:spcBef>
            </a:pPr>
            <a:r>
              <a:rPr lang="en-US" sz="8000" dirty="0" err="1">
                <a:latin typeface="Arial" panose="020B0604020202020204" pitchFamily="34" charset="0"/>
                <a:cs typeface="Arial" panose="020B0604020202020204" pitchFamily="34" charset="0"/>
              </a:rPr>
              <a:t>Arora</a:t>
            </a:r>
            <a:r>
              <a:rPr lang="en-US" sz="8000" dirty="0">
                <a:latin typeface="Arial" panose="020B0604020202020204" pitchFamily="34" charset="0"/>
                <a:cs typeface="Arial" panose="020B0604020202020204" pitchFamily="34" charset="0"/>
              </a:rPr>
              <a:t> (2004) </a:t>
            </a:r>
          </a:p>
          <a:p>
            <a:pPr>
              <a:lnSpc>
                <a:spcPct val="140000"/>
              </a:lnSpc>
              <a:spcBef>
                <a:spcPts val="0"/>
              </a:spcBef>
            </a:pPr>
            <a:r>
              <a:rPr lang="en-US" sz="9600" b="1" dirty="0">
                <a:latin typeface="Arial" panose="020B0604020202020204" pitchFamily="34" charset="0"/>
                <a:cs typeface="Arial" panose="020B0604020202020204" pitchFamily="34" charset="0"/>
              </a:rPr>
              <a:t>Precision Agriculture</a:t>
            </a:r>
          </a:p>
          <a:p>
            <a:pPr lvl="1">
              <a:lnSpc>
                <a:spcPct val="140000"/>
              </a:lnSpc>
              <a:spcBef>
                <a:spcPts val="0"/>
              </a:spcBef>
            </a:pPr>
            <a:r>
              <a:rPr lang="en-US" sz="8000" b="1" dirty="0">
                <a:latin typeface="Arial" panose="020B0604020202020204" pitchFamily="34" charset="0"/>
                <a:cs typeface="Arial" panose="020B0604020202020204" pitchFamily="34" charset="0"/>
              </a:rPr>
              <a:t>Wine </a:t>
            </a:r>
            <a:r>
              <a:rPr lang="en-US" sz="8000" b="1" dirty="0" err="1">
                <a:latin typeface="Arial" panose="020B0604020202020204" pitchFamily="34" charset="0"/>
                <a:cs typeface="Arial" panose="020B0604020202020204" pitchFamily="34" charset="0"/>
              </a:rPr>
              <a:t>Vinyard</a:t>
            </a:r>
            <a:r>
              <a:rPr lang="en-US" sz="8000" b="1" dirty="0">
                <a:latin typeface="Arial" panose="020B0604020202020204" pitchFamily="34" charset="0"/>
                <a:cs typeface="Arial" panose="020B0604020202020204" pitchFamily="34" charset="0"/>
              </a:rPr>
              <a:t> (2004) </a:t>
            </a:r>
          </a:p>
          <a:p>
            <a:pPr lvl="1">
              <a:lnSpc>
                <a:spcPct val="140000"/>
              </a:lnSpc>
              <a:spcBef>
                <a:spcPts val="0"/>
              </a:spcBef>
            </a:pPr>
            <a:r>
              <a:rPr lang="en-US" sz="8000" b="1" dirty="0" err="1">
                <a:latin typeface="Arial" panose="020B0604020202020204" pitchFamily="34" charset="0"/>
                <a:cs typeface="Arial" panose="020B0604020202020204" pitchFamily="34" charset="0"/>
              </a:rPr>
              <a:t>Lofar</a:t>
            </a:r>
            <a:r>
              <a:rPr lang="en-US" sz="8000" b="1" dirty="0">
                <a:latin typeface="Arial" panose="020B0604020202020204" pitchFamily="34" charset="0"/>
                <a:cs typeface="Arial" panose="020B0604020202020204" pitchFamily="34" charset="0"/>
              </a:rPr>
              <a:t> Agro (2005) </a:t>
            </a:r>
          </a:p>
          <a:p>
            <a:pPr marL="228600" lvl="1">
              <a:lnSpc>
                <a:spcPct val="140000"/>
              </a:lnSpc>
              <a:spcBef>
                <a:spcPts val="0"/>
              </a:spcBef>
              <a:buClr>
                <a:schemeClr val="accent1"/>
              </a:buClr>
            </a:pPr>
            <a:r>
              <a:rPr lang="en-US" sz="9600" dirty="0">
                <a:latin typeface="Arial" panose="020B0604020202020204" pitchFamily="34" charset="0"/>
                <a:cs typeface="Arial" panose="020B0604020202020204" pitchFamily="34" charset="0"/>
              </a:rPr>
              <a:t>Active Volcano</a:t>
            </a:r>
          </a:p>
          <a:p>
            <a:pPr lvl="1">
              <a:lnSpc>
                <a:spcPct val="140000"/>
              </a:lnSpc>
              <a:spcBef>
                <a:spcPts val="0"/>
              </a:spcBef>
            </a:pPr>
            <a:r>
              <a:rPr lang="en-US" sz="8000" dirty="0" err="1">
                <a:latin typeface="Arial" panose="020B0604020202020204" pitchFamily="34" charset="0"/>
                <a:cs typeface="Arial" panose="020B0604020202020204" pitchFamily="34" charset="0"/>
              </a:rPr>
              <a:t>Volcán</a:t>
            </a:r>
            <a:r>
              <a:rPr lang="en-US" sz="8000" dirty="0">
                <a:latin typeface="Arial" panose="020B0604020202020204" pitchFamily="34" charset="0"/>
                <a:cs typeface="Arial" panose="020B0604020202020204" pitchFamily="34" charset="0"/>
              </a:rPr>
              <a:t> Tungurahua </a:t>
            </a:r>
          </a:p>
        </p:txBody>
      </p:sp>
    </p:spTree>
    <p:extLst>
      <p:ext uri="{BB962C8B-B14F-4D97-AF65-F5344CB8AC3E}">
        <p14:creationId xmlns:p14="http://schemas.microsoft.com/office/powerpoint/2010/main" val="27105914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Precision Agriculture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4"/>
            <a:ext cx="10691446" cy="4803775"/>
          </a:xfrm>
        </p:spPr>
        <p:txBody>
          <a:bodyPr>
            <a:normAutofit fontScale="85000" lnSpcReduction="10000"/>
          </a:bodyPr>
          <a:lstStyle/>
          <a:p>
            <a:pPr>
              <a:lnSpc>
                <a:spcPct val="130000"/>
              </a:lnSpc>
            </a:pPr>
            <a:r>
              <a:rPr lang="en-US" dirty="0">
                <a:latin typeface="Arial" panose="020B0604020202020204" pitchFamily="34" charset="0"/>
                <a:cs typeface="Arial" panose="020B0604020202020204" pitchFamily="34" charset="0"/>
              </a:rPr>
              <a:t>Motivation:</a:t>
            </a:r>
          </a:p>
          <a:p>
            <a:pPr lvl="1">
              <a:lnSpc>
                <a:spcPct val="130000"/>
              </a:lnSpc>
            </a:pPr>
            <a:r>
              <a:rPr lang="en-US" dirty="0">
                <a:latin typeface="Arial" panose="020B0604020202020204" pitchFamily="34" charset="0"/>
                <a:cs typeface="Arial" panose="020B0604020202020204" pitchFamily="34" charset="0"/>
              </a:rPr>
              <a:t>A large farm is taken </a:t>
            </a:r>
            <a:r>
              <a:rPr lang="en-US" i="1" dirty="0">
                <a:solidFill>
                  <a:srgbClr val="FF0000"/>
                </a:solidFill>
                <a:latin typeface="Arial" panose="020B0604020202020204" pitchFamily="34" charset="0"/>
                <a:cs typeface="Arial" panose="020B0604020202020204" pitchFamily="34" charset="0"/>
              </a:rPr>
              <a:t>resource distribution </a:t>
            </a:r>
            <a:r>
              <a:rPr lang="en-US" dirty="0">
                <a:latin typeface="Arial" panose="020B0604020202020204" pitchFamily="34" charset="0"/>
                <a:cs typeface="Arial" panose="020B0604020202020204" pitchFamily="34" charset="0"/>
              </a:rPr>
              <a:t>and its response to </a:t>
            </a:r>
            <a:r>
              <a:rPr lang="en-US" i="1" dirty="0">
                <a:solidFill>
                  <a:srgbClr val="FF0000"/>
                </a:solidFill>
                <a:latin typeface="Arial" panose="020B0604020202020204" pitchFamily="34" charset="0"/>
                <a:cs typeface="Arial" panose="020B0604020202020204" pitchFamily="34" charset="0"/>
              </a:rPr>
              <a:t>climate change</a:t>
            </a:r>
            <a:r>
              <a:rPr lang="en-US" dirty="0">
                <a:latin typeface="Arial" panose="020B0604020202020204" pitchFamily="34" charset="0"/>
                <a:cs typeface="Arial" panose="020B0604020202020204" pitchFamily="34" charset="0"/>
              </a:rPr>
              <a:t>, </a:t>
            </a:r>
            <a:r>
              <a:rPr lang="en-US" i="1" dirty="0">
                <a:solidFill>
                  <a:srgbClr val="FF0000"/>
                </a:solidFill>
                <a:latin typeface="Arial" panose="020B0604020202020204" pitchFamily="34" charset="0"/>
                <a:cs typeface="Arial" panose="020B0604020202020204" pitchFamily="34" charset="0"/>
              </a:rPr>
              <a:t>weeds</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and </a:t>
            </a:r>
            <a:r>
              <a:rPr lang="en-US" i="1" dirty="0">
                <a:solidFill>
                  <a:srgbClr val="FF0000"/>
                </a:solidFill>
                <a:latin typeface="Arial" panose="020B0604020202020204" pitchFamily="34" charset="0"/>
                <a:cs typeface="Arial" panose="020B0604020202020204" pitchFamily="34" charset="0"/>
              </a:rPr>
              <a:t>pests</a:t>
            </a:r>
          </a:p>
          <a:p>
            <a:pPr lvl="1">
              <a:lnSpc>
                <a:spcPct val="130000"/>
              </a:lnSpc>
            </a:pPr>
            <a:r>
              <a:rPr lang="en-US" dirty="0">
                <a:latin typeface="Arial" panose="020B0604020202020204" pitchFamily="34" charset="0"/>
                <a:cs typeface="Arial" panose="020B0604020202020204" pitchFamily="34" charset="0"/>
              </a:rPr>
              <a:t>Accordingly, farmers administer </a:t>
            </a:r>
          </a:p>
          <a:p>
            <a:pPr lvl="2">
              <a:lnSpc>
                <a:spcPct val="130000"/>
              </a:lnSpc>
            </a:pPr>
            <a:r>
              <a:rPr lang="en-US" sz="2100" i="1" dirty="0">
                <a:solidFill>
                  <a:srgbClr val="FF0000"/>
                </a:solidFill>
                <a:latin typeface="Arial" panose="020B0604020202020204" pitchFamily="34" charset="0"/>
                <a:cs typeface="Arial" panose="020B0604020202020204" pitchFamily="34" charset="0"/>
              </a:rPr>
              <a:t>Fertilizers (</a:t>
            </a:r>
            <a:r>
              <a:rPr lang="zh-CN" altLang="en-US" sz="2100" i="1" dirty="0">
                <a:solidFill>
                  <a:srgbClr val="FF0000"/>
                </a:solidFill>
                <a:latin typeface="Arial" panose="020B0604020202020204" pitchFamily="34" charset="0"/>
                <a:cs typeface="Arial" panose="020B0604020202020204" pitchFamily="34" charset="0"/>
              </a:rPr>
              <a:t>肥料</a:t>
            </a:r>
            <a:r>
              <a:rPr lang="en-US" sz="2100" i="1" dirty="0">
                <a:solidFill>
                  <a:srgbClr val="FF0000"/>
                </a:solidFill>
                <a:latin typeface="Arial" panose="020B0604020202020204" pitchFamily="34" charset="0"/>
                <a:cs typeface="Arial" panose="020B0604020202020204" pitchFamily="34" charset="0"/>
              </a:rPr>
              <a:t>)</a:t>
            </a:r>
            <a:r>
              <a:rPr lang="en-US" sz="2100" dirty="0">
                <a:latin typeface="Arial" panose="020B0604020202020204" pitchFamily="34" charset="0"/>
                <a:cs typeface="Arial" panose="020B0604020202020204" pitchFamily="34" charset="0"/>
              </a:rPr>
              <a:t>, </a:t>
            </a:r>
            <a:r>
              <a:rPr lang="en-US" sz="2100" i="1" dirty="0">
                <a:solidFill>
                  <a:srgbClr val="FF0000"/>
                </a:solidFill>
                <a:latin typeface="Arial" panose="020B0604020202020204" pitchFamily="34" charset="0"/>
                <a:cs typeface="Arial" panose="020B0604020202020204" pitchFamily="34" charset="0"/>
              </a:rPr>
              <a:t>pesticides (</a:t>
            </a:r>
            <a:r>
              <a:rPr lang="zh-CN" altLang="en-US" sz="2100" i="1" dirty="0">
                <a:solidFill>
                  <a:srgbClr val="FF0000"/>
                </a:solidFill>
                <a:latin typeface="Arial" panose="020B0604020202020204" pitchFamily="34" charset="0"/>
                <a:cs typeface="Arial" panose="020B0604020202020204" pitchFamily="34" charset="0"/>
              </a:rPr>
              <a:t>农药</a:t>
            </a:r>
            <a:r>
              <a:rPr lang="en-US" sz="2100" i="1" dirty="0">
                <a:solidFill>
                  <a:srgbClr val="FF0000"/>
                </a:solidFill>
                <a:latin typeface="Arial" panose="020B0604020202020204" pitchFamily="34" charset="0"/>
                <a:cs typeface="Arial" panose="020B0604020202020204" pitchFamily="34" charset="0"/>
              </a:rPr>
              <a:t>)</a:t>
            </a:r>
            <a:r>
              <a:rPr lang="en-US" sz="2100" dirty="0">
                <a:latin typeface="Arial" panose="020B0604020202020204" pitchFamily="34" charset="0"/>
                <a:cs typeface="Arial" panose="020B0604020202020204" pitchFamily="34" charset="0"/>
              </a:rPr>
              <a:t>, and </a:t>
            </a:r>
            <a:r>
              <a:rPr lang="en-US" sz="2100" i="1" dirty="0">
                <a:solidFill>
                  <a:srgbClr val="FF0000"/>
                </a:solidFill>
                <a:latin typeface="Arial" panose="020B0604020202020204" pitchFamily="34" charset="0"/>
                <a:cs typeface="Arial" panose="020B0604020202020204" pitchFamily="34" charset="0"/>
              </a:rPr>
              <a:t>water resources</a:t>
            </a:r>
          </a:p>
          <a:p>
            <a:pPr lvl="1">
              <a:lnSpc>
                <a:spcPct val="130000"/>
              </a:lnSpc>
            </a:pPr>
            <a:r>
              <a:rPr lang="en-US" dirty="0">
                <a:latin typeface="Arial" panose="020B0604020202020204" pitchFamily="34" charset="0"/>
                <a:cs typeface="Arial" panose="020B0604020202020204" pitchFamily="34" charset="0"/>
              </a:rPr>
              <a:t>In reality, wide spatial diversity in </a:t>
            </a:r>
            <a:r>
              <a:rPr lang="en-US" i="1" dirty="0">
                <a:solidFill>
                  <a:srgbClr val="FF0000"/>
                </a:solidFill>
                <a:latin typeface="Arial" panose="020B0604020202020204" pitchFamily="34" charset="0"/>
                <a:cs typeface="Arial" panose="020B0604020202020204" pitchFamily="34" charset="0"/>
              </a:rPr>
              <a:t>soil types</a:t>
            </a:r>
            <a:r>
              <a:rPr lang="en-US" dirty="0">
                <a:latin typeface="Arial" panose="020B0604020202020204" pitchFamily="34" charset="0"/>
                <a:cs typeface="Arial" panose="020B0604020202020204" pitchFamily="34" charset="0"/>
              </a:rPr>
              <a:t>, </a:t>
            </a:r>
            <a:r>
              <a:rPr lang="en-US" i="1" dirty="0">
                <a:solidFill>
                  <a:srgbClr val="FF0000"/>
                </a:solidFill>
                <a:latin typeface="Arial" panose="020B0604020202020204" pitchFamily="34" charset="0"/>
                <a:cs typeface="Arial" panose="020B0604020202020204" pitchFamily="34" charset="0"/>
              </a:rPr>
              <a:t>nutrient content</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and other important factors </a:t>
            </a:r>
          </a:p>
          <a:p>
            <a:pPr lvl="1">
              <a:lnSpc>
                <a:spcPct val="130000"/>
              </a:lnSpc>
            </a:pPr>
            <a:r>
              <a:rPr lang="en-US" dirty="0">
                <a:latin typeface="Arial" panose="020B0604020202020204" pitchFamily="34" charset="0"/>
                <a:cs typeface="Arial" panose="020B0604020202020204" pitchFamily="34" charset="0"/>
              </a:rPr>
              <a:t>Therefore, treating it as a uniform field can cause </a:t>
            </a:r>
          </a:p>
          <a:p>
            <a:pPr lvl="2">
              <a:lnSpc>
                <a:spcPct val="130000"/>
              </a:lnSpc>
            </a:pPr>
            <a:r>
              <a:rPr lang="en-US" sz="2100" i="1" dirty="0">
                <a:solidFill>
                  <a:srgbClr val="FF0000"/>
                </a:solidFill>
                <a:latin typeface="Arial" panose="020B0604020202020204" pitchFamily="34" charset="0"/>
                <a:cs typeface="Arial" panose="020B0604020202020204" pitchFamily="34" charset="0"/>
              </a:rPr>
              <a:t>Inefficient use of resources</a:t>
            </a:r>
          </a:p>
          <a:p>
            <a:pPr lvl="2">
              <a:lnSpc>
                <a:spcPct val="130000"/>
              </a:lnSpc>
            </a:pPr>
            <a:r>
              <a:rPr lang="en-US" sz="2100" i="1" dirty="0">
                <a:solidFill>
                  <a:srgbClr val="FF0000"/>
                </a:solidFill>
                <a:latin typeface="Arial" panose="020B0604020202020204" pitchFamily="34" charset="0"/>
                <a:cs typeface="Arial" panose="020B0604020202020204" pitchFamily="34" charset="0"/>
              </a:rPr>
              <a:t>Loss of productivity </a:t>
            </a:r>
          </a:p>
          <a:p>
            <a:pPr>
              <a:lnSpc>
                <a:spcPct val="130000"/>
              </a:lnSpc>
            </a:pPr>
            <a:r>
              <a:rPr lang="en-US" dirty="0">
                <a:latin typeface="Arial" panose="020B0604020202020204" pitchFamily="34" charset="0"/>
                <a:cs typeface="Arial" panose="020B0604020202020204" pitchFamily="34" charset="0"/>
              </a:rPr>
              <a:t>Precision agriculture is a method of farm management that enables farmers to produce </a:t>
            </a:r>
            <a:r>
              <a:rPr lang="en-US" i="1" dirty="0">
                <a:solidFill>
                  <a:srgbClr val="FF0000"/>
                </a:solidFill>
                <a:latin typeface="Arial" panose="020B0604020202020204" pitchFamily="34" charset="0"/>
                <a:cs typeface="Arial" panose="020B0604020202020204" pitchFamily="34" charset="0"/>
              </a:rPr>
              <a:t>more efficiently </a:t>
            </a:r>
            <a:r>
              <a:rPr lang="en-US" dirty="0">
                <a:latin typeface="Arial" panose="020B0604020202020204" pitchFamily="34" charset="0"/>
                <a:cs typeface="Arial" panose="020B0604020202020204" pitchFamily="34" charset="0"/>
              </a:rPr>
              <a:t>through </a:t>
            </a:r>
            <a:r>
              <a:rPr lang="en-US" i="1" dirty="0">
                <a:latin typeface="Arial" panose="020B0604020202020204" pitchFamily="34" charset="0"/>
                <a:cs typeface="Arial" panose="020B0604020202020204" pitchFamily="34" charset="0"/>
              </a:rPr>
              <a:t>a frugal use of resources </a:t>
            </a:r>
            <a:endParaRPr lang="en-US" dirty="0">
              <a:latin typeface="Arial" panose="020B0604020202020204" pitchFamily="34" charset="0"/>
              <a:cs typeface="Arial" panose="020B0604020202020204" pitchFamily="34" charset="0"/>
            </a:endParaRPr>
          </a:p>
          <a:p>
            <a:pPr lvl="1">
              <a:lnSpc>
                <a:spcPct val="130000"/>
              </a:lnSpc>
            </a:pPr>
            <a:endParaRPr lang="en-US" dirty="0">
              <a:latin typeface="Arial" panose="020B0604020202020204" pitchFamily="34" charset="0"/>
              <a:cs typeface="Arial" panose="020B0604020202020204" pitchFamily="34" charset="0"/>
            </a:endParaRPr>
          </a:p>
          <a:p>
            <a:pPr lvl="3">
              <a:lnSpc>
                <a:spcPct val="130000"/>
              </a:lnSpc>
            </a:pPr>
            <a:endParaRPr lang="en-US" dirty="0">
              <a:latin typeface="Arial" panose="020B0604020202020204" pitchFamily="34" charset="0"/>
              <a:cs typeface="Arial" panose="020B0604020202020204" pitchFamily="34" charset="0"/>
            </a:endParaRPr>
          </a:p>
          <a:p>
            <a:pPr lvl="2">
              <a:lnSpc>
                <a:spcPct val="130000"/>
              </a:lnSpc>
            </a:pPr>
            <a:endParaRPr lang="en-US" dirty="0">
              <a:latin typeface="Arial" panose="020B0604020202020204" pitchFamily="34" charset="0"/>
              <a:cs typeface="Arial" panose="020B0604020202020204" pitchFamily="34" charset="0"/>
            </a:endParaRPr>
          </a:p>
          <a:p>
            <a:pPr>
              <a:lnSpc>
                <a:spcPct val="130000"/>
              </a:lnSpc>
            </a:pPr>
            <a:endParaRPr lang="en-US" dirty="0">
              <a:latin typeface="Arial" panose="020B0604020202020204" pitchFamily="34" charset="0"/>
              <a:cs typeface="Arial" panose="020B0604020202020204" pitchFamily="34" charset="0"/>
            </a:endParaRPr>
          </a:p>
          <a:p>
            <a:pPr>
              <a:lnSpc>
                <a:spcPct val="130000"/>
              </a:lnSpc>
            </a:pPr>
            <a:endParaRPr lang="en-US" dirty="0">
              <a:latin typeface="Arial" panose="020B0604020202020204" pitchFamily="34" charset="0"/>
              <a:cs typeface="Arial" panose="020B0604020202020204" pitchFamily="34" charset="0"/>
            </a:endParaRPr>
          </a:p>
          <a:p>
            <a:pPr>
              <a:lnSpc>
                <a:spcPct val="13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26550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Precision Agriculture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779464"/>
            <a:ext cx="10515600" cy="5161101"/>
          </a:xfrm>
        </p:spPr>
        <p:txBody>
          <a:bodyPr>
            <a:normAutofit/>
          </a:bodyPr>
          <a:lstStyle/>
          <a:p>
            <a:pPr>
              <a:lnSpc>
                <a:spcPct val="130000"/>
              </a:lnSpc>
            </a:pPr>
            <a:r>
              <a:rPr lang="en-US" sz="2400" dirty="0">
                <a:latin typeface="Arial" panose="020B0604020202020204" pitchFamily="34" charset="0"/>
                <a:cs typeface="Arial" panose="020B0604020202020204" pitchFamily="34" charset="0"/>
              </a:rPr>
              <a:t>Precision agriculture </a:t>
            </a:r>
            <a:r>
              <a:rPr lang="en-US" sz="2400" i="1" dirty="0">
                <a:solidFill>
                  <a:srgbClr val="FF0000"/>
                </a:solidFill>
                <a:latin typeface="Arial" panose="020B0604020202020204" pitchFamily="34" charset="0"/>
                <a:cs typeface="Arial" panose="020B0604020202020204" pitchFamily="34" charset="0"/>
              </a:rPr>
              <a:t>technologies</a:t>
            </a:r>
            <a:r>
              <a:rPr lang="en-US" sz="2400" dirty="0">
                <a:latin typeface="Arial" panose="020B0604020202020204" pitchFamily="34" charset="0"/>
                <a:cs typeface="Arial" panose="020B0604020202020204" pitchFamily="34" charset="0"/>
              </a:rPr>
              <a:t>: </a:t>
            </a:r>
          </a:p>
          <a:p>
            <a:pPr lvl="1">
              <a:lnSpc>
                <a:spcPct val="120000"/>
              </a:lnSpc>
            </a:pPr>
            <a:r>
              <a:rPr lang="en-US" sz="2000" dirty="0">
                <a:latin typeface="Arial" panose="020B0604020202020204" pitchFamily="34" charset="0"/>
                <a:cs typeface="Arial" panose="020B0604020202020204" pitchFamily="34" charset="0"/>
              </a:rPr>
              <a:t>Yield monitors</a:t>
            </a:r>
          </a:p>
          <a:p>
            <a:pPr lvl="1">
              <a:lnSpc>
                <a:spcPct val="120000"/>
              </a:lnSpc>
            </a:pPr>
            <a:r>
              <a:rPr lang="en-US" sz="2000" dirty="0">
                <a:latin typeface="Arial" panose="020B0604020202020204" pitchFamily="34" charset="0"/>
                <a:cs typeface="Arial" panose="020B0604020202020204" pitchFamily="34" charset="0"/>
              </a:rPr>
              <a:t>Yield mapping</a:t>
            </a:r>
          </a:p>
          <a:p>
            <a:pPr lvl="1">
              <a:lnSpc>
                <a:spcPct val="120000"/>
              </a:lnSpc>
            </a:pPr>
            <a:r>
              <a:rPr lang="en-US" sz="2000" dirty="0">
                <a:latin typeface="Arial" panose="020B0604020202020204" pitchFamily="34" charset="0"/>
                <a:cs typeface="Arial" panose="020B0604020202020204" pitchFamily="34" charset="0"/>
              </a:rPr>
              <a:t>Variable rate fertilizer </a:t>
            </a:r>
          </a:p>
          <a:p>
            <a:pPr lvl="1">
              <a:lnSpc>
                <a:spcPct val="120000"/>
              </a:lnSpc>
            </a:pPr>
            <a:r>
              <a:rPr lang="en-US" sz="2000" dirty="0">
                <a:latin typeface="Arial" panose="020B0604020202020204" pitchFamily="34" charset="0"/>
                <a:cs typeface="Arial" panose="020B0604020202020204" pitchFamily="34" charset="0"/>
              </a:rPr>
              <a:t>Weed mapping</a:t>
            </a:r>
          </a:p>
          <a:p>
            <a:pPr>
              <a:lnSpc>
                <a:spcPct val="130000"/>
              </a:lnSpc>
            </a:pPr>
            <a:r>
              <a:rPr lang="en-US" sz="2400" i="1" dirty="0">
                <a:solidFill>
                  <a:srgbClr val="FF0000"/>
                </a:solidFill>
                <a:latin typeface="Arial" panose="020B0604020202020204" pitchFamily="34" charset="0"/>
                <a:cs typeface="Arial" panose="020B0604020202020204" pitchFamily="34" charset="0"/>
              </a:rPr>
              <a:t>Requirements</a:t>
            </a:r>
            <a:r>
              <a:rPr lang="en-US" sz="2400" i="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of precision agriculture technologies:</a:t>
            </a:r>
          </a:p>
          <a:p>
            <a:pPr lvl="1">
              <a:lnSpc>
                <a:spcPct val="130000"/>
              </a:lnSpc>
            </a:pPr>
            <a:r>
              <a:rPr lang="en-US" sz="2000" dirty="0">
                <a:latin typeface="Arial" panose="020B0604020202020204" pitchFamily="34" charset="0"/>
                <a:cs typeface="Arial" panose="020B0604020202020204" pitchFamily="34" charset="0"/>
              </a:rPr>
              <a:t>Collect a large amount of data</a:t>
            </a:r>
          </a:p>
          <a:p>
            <a:pPr lvl="1">
              <a:lnSpc>
                <a:spcPct val="130000"/>
              </a:lnSpc>
            </a:pPr>
            <a:r>
              <a:rPr lang="en-US" sz="2000" dirty="0">
                <a:latin typeface="Arial" panose="020B0604020202020204" pitchFamily="34" charset="0"/>
                <a:cs typeface="Arial" panose="020B0604020202020204" pitchFamily="34" charset="0"/>
              </a:rPr>
              <a:t>Over several days </a:t>
            </a:r>
          </a:p>
          <a:p>
            <a:pPr lvl="1">
              <a:lnSpc>
                <a:spcPct val="130000"/>
              </a:lnSpc>
            </a:pPr>
            <a:endParaRPr lang="en-US" dirty="0">
              <a:latin typeface="Arial" panose="020B0604020202020204" pitchFamily="34" charset="0"/>
              <a:cs typeface="Arial" panose="020B0604020202020204" pitchFamily="34" charset="0"/>
            </a:endParaRPr>
          </a:p>
          <a:p>
            <a:pPr>
              <a:lnSpc>
                <a:spcPct val="130000"/>
              </a:lnSpc>
            </a:pPr>
            <a:endParaRPr lang="en-US" dirty="0">
              <a:latin typeface="Arial" panose="020B0604020202020204" pitchFamily="34" charset="0"/>
              <a:cs typeface="Arial" panose="020B0604020202020204" pitchFamily="34" charset="0"/>
            </a:endParaRPr>
          </a:p>
        </p:txBody>
      </p:sp>
      <p:sp>
        <p:nvSpPr>
          <p:cNvPr id="4" name="矩形 3">
            <a:extLst>
              <a:ext uri="{FF2B5EF4-FFF2-40B4-BE49-F238E27FC236}">
                <a16:creationId xmlns:a16="http://schemas.microsoft.com/office/drawing/2014/main" id="{99A69D6A-BC9A-432B-9517-69F137C3EC1D}"/>
              </a:ext>
            </a:extLst>
          </p:cNvPr>
          <p:cNvSpPr/>
          <p:nvPr/>
        </p:nvSpPr>
        <p:spPr>
          <a:xfrm>
            <a:off x="4645240" y="2329291"/>
            <a:ext cx="6096000" cy="1728102"/>
          </a:xfrm>
          <a:prstGeom prst="rect">
            <a:avLst/>
          </a:prstGeom>
        </p:spPr>
        <p:txBody>
          <a:bodyPr>
            <a:spAutoFit/>
          </a:bodyPr>
          <a:lstStyle/>
          <a:p>
            <a:pPr marL="685800" lvl="1" indent="-228600">
              <a:lnSpc>
                <a:spcPct val="120000"/>
              </a:lnSpc>
              <a:spcBef>
                <a:spcPts val="500"/>
              </a:spcBef>
              <a:buFont typeface="Arial" panose="020B0604020202020204" pitchFamily="34" charset="0"/>
              <a:buChar char="•"/>
            </a:pPr>
            <a:r>
              <a:rPr lang="en-US" altLang="zh-CN" sz="2000" dirty="0">
                <a:latin typeface="Arial" panose="020B0604020202020204" pitchFamily="34" charset="0"/>
                <a:cs typeface="Arial" panose="020B0604020202020204" pitchFamily="34" charset="0"/>
              </a:rPr>
              <a:t>Variable spraying</a:t>
            </a:r>
          </a:p>
          <a:p>
            <a:pPr marL="685800" lvl="1" indent="-228600">
              <a:lnSpc>
                <a:spcPct val="120000"/>
              </a:lnSpc>
              <a:spcBef>
                <a:spcPts val="500"/>
              </a:spcBef>
              <a:buFont typeface="Arial" panose="020B0604020202020204" pitchFamily="34" charset="0"/>
              <a:buChar char="•"/>
            </a:pPr>
            <a:r>
              <a:rPr lang="en-US" altLang="zh-CN" sz="2000" dirty="0">
                <a:latin typeface="Arial" panose="020B0604020202020204" pitchFamily="34" charset="0"/>
                <a:cs typeface="Arial" panose="020B0604020202020204" pitchFamily="34" charset="0"/>
              </a:rPr>
              <a:t>Topography and boundaries</a:t>
            </a:r>
          </a:p>
          <a:p>
            <a:pPr marL="685800" lvl="1" indent="-228600">
              <a:lnSpc>
                <a:spcPct val="120000"/>
              </a:lnSpc>
              <a:spcBef>
                <a:spcPts val="500"/>
              </a:spcBef>
              <a:buFont typeface="Arial" panose="020B0604020202020204" pitchFamily="34" charset="0"/>
              <a:buChar char="•"/>
            </a:pPr>
            <a:r>
              <a:rPr lang="en-US" altLang="zh-CN" sz="2000" dirty="0">
                <a:latin typeface="Arial" panose="020B0604020202020204" pitchFamily="34" charset="0"/>
                <a:cs typeface="Arial" panose="020B0604020202020204" pitchFamily="34" charset="0"/>
              </a:rPr>
              <a:t>Salinity mapping</a:t>
            </a:r>
          </a:p>
          <a:p>
            <a:pPr marL="685800" lvl="1" indent="-228600">
              <a:lnSpc>
                <a:spcPct val="120000"/>
              </a:lnSpc>
              <a:spcBef>
                <a:spcPts val="500"/>
              </a:spcBef>
              <a:buFont typeface="Arial" panose="020B0604020202020204" pitchFamily="34" charset="0"/>
              <a:buChar char="•"/>
            </a:pPr>
            <a:r>
              <a:rPr lang="en-US" altLang="zh-CN" sz="2000" dirty="0">
                <a:latin typeface="Arial" panose="020B0604020202020204" pitchFamily="34" charset="0"/>
                <a:cs typeface="Arial" panose="020B0604020202020204" pitchFamily="34" charset="0"/>
              </a:rPr>
              <a:t>Guidance systems </a:t>
            </a:r>
          </a:p>
        </p:txBody>
      </p:sp>
    </p:spTree>
    <p:extLst>
      <p:ext uri="{BB962C8B-B14F-4D97-AF65-F5344CB8AC3E}">
        <p14:creationId xmlns:p14="http://schemas.microsoft.com/office/powerpoint/2010/main" val="42577715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Wine </a:t>
            </a:r>
            <a:r>
              <a:rPr lang="en-US" b="1" dirty="0" err="1">
                <a:latin typeface="Arial" panose="020B0604020202020204" pitchFamily="34" charset="0"/>
                <a:cs typeface="Arial" panose="020B0604020202020204" pitchFamily="34" charset="0"/>
              </a:rPr>
              <a:t>Vinyard</a:t>
            </a:r>
            <a:r>
              <a:rPr lang="en-US" b="1" dirty="0">
                <a:latin typeface="Arial" panose="020B0604020202020204" pitchFamily="34" charset="0"/>
                <a:cs typeface="Arial" panose="020B0604020202020204" pitchFamily="34" charset="0"/>
              </a:rPr>
              <a:t> (2004)</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lnSpc>
                <a:spcPct val="120000"/>
              </a:lnSpc>
            </a:pPr>
            <a:r>
              <a:rPr lang="en-US" sz="2400" dirty="0">
                <a:latin typeface="Arial" panose="020B0604020202020204" pitchFamily="34" charset="0"/>
                <a:cs typeface="Arial" panose="020B0604020202020204" pitchFamily="34" charset="0"/>
              </a:rPr>
              <a:t>Motivation:</a:t>
            </a:r>
          </a:p>
          <a:p>
            <a:pPr lvl="1">
              <a:lnSpc>
                <a:spcPct val="120000"/>
              </a:lnSpc>
            </a:pPr>
            <a:r>
              <a:rPr lang="en-US" dirty="0">
                <a:latin typeface="Arial" panose="020B0604020202020204" pitchFamily="34" charset="0"/>
                <a:cs typeface="Arial" panose="020B0604020202020204" pitchFamily="34" charset="0"/>
              </a:rPr>
              <a:t>In a vineyard, </a:t>
            </a:r>
            <a:r>
              <a:rPr lang="en-US" i="1" dirty="0">
                <a:solidFill>
                  <a:srgbClr val="FF0000"/>
                </a:solidFill>
                <a:latin typeface="Arial" panose="020B0604020202020204" pitchFamily="34" charset="0"/>
                <a:cs typeface="Arial" panose="020B0604020202020204" pitchFamily="34" charset="0"/>
              </a:rPr>
              <a:t>temperature</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is the predominant climate that </a:t>
            </a:r>
            <a:r>
              <a:rPr lang="en-US" i="1" dirty="0">
                <a:solidFill>
                  <a:srgbClr val="FF0000"/>
                </a:solidFill>
                <a:latin typeface="Arial" panose="020B0604020202020204" pitchFamily="34" charset="0"/>
                <a:cs typeface="Arial" panose="020B0604020202020204" pitchFamily="34" charset="0"/>
              </a:rPr>
              <a:t>affects </a:t>
            </a:r>
            <a:r>
              <a:rPr lang="en-US" dirty="0">
                <a:latin typeface="Arial" panose="020B0604020202020204" pitchFamily="34" charset="0"/>
                <a:cs typeface="Arial" panose="020B0604020202020204" pitchFamily="34" charset="0"/>
              </a:rPr>
              <a:t>the quality as well as the quantity of </a:t>
            </a:r>
            <a:r>
              <a:rPr lang="en-US" i="1" dirty="0">
                <a:solidFill>
                  <a:srgbClr val="FF0000"/>
                </a:solidFill>
                <a:latin typeface="Arial" panose="020B0604020202020204" pitchFamily="34" charset="0"/>
                <a:cs typeface="Arial" panose="020B0604020202020204" pitchFamily="34" charset="0"/>
              </a:rPr>
              <a:t>harvest</a:t>
            </a:r>
          </a:p>
          <a:p>
            <a:pPr lvl="1">
              <a:lnSpc>
                <a:spcPct val="120000"/>
              </a:lnSpc>
            </a:pPr>
            <a:r>
              <a:rPr lang="en-US" dirty="0">
                <a:latin typeface="Arial" panose="020B0604020202020204" pitchFamily="34" charset="0"/>
                <a:cs typeface="Arial" panose="020B0604020202020204" pitchFamily="34" charset="0"/>
              </a:rPr>
              <a:t>Wine grapes see no real growth until the temperature goes above 10°C </a:t>
            </a:r>
          </a:p>
          <a:p>
            <a:pPr lvl="1">
              <a:lnSpc>
                <a:spcPct val="120000"/>
              </a:lnSpc>
            </a:pPr>
            <a:r>
              <a:rPr lang="en-US" dirty="0">
                <a:latin typeface="Arial" panose="020B0604020202020204" pitchFamily="34" charset="0"/>
                <a:cs typeface="Arial" panose="020B0604020202020204" pitchFamily="34" charset="0"/>
              </a:rPr>
              <a:t>Different wine grapes have </a:t>
            </a:r>
            <a:r>
              <a:rPr lang="en-US" i="1" dirty="0">
                <a:solidFill>
                  <a:srgbClr val="FF0000"/>
                </a:solidFill>
                <a:latin typeface="Arial" panose="020B0604020202020204" pitchFamily="34" charset="0"/>
                <a:cs typeface="Arial" panose="020B0604020202020204" pitchFamily="34" charset="0"/>
              </a:rPr>
              <a:t>different requirements </a:t>
            </a:r>
            <a:r>
              <a:rPr lang="en-US" dirty="0">
                <a:latin typeface="Arial" panose="020B0604020202020204" pitchFamily="34" charset="0"/>
                <a:cs typeface="Arial" panose="020B0604020202020204" pitchFamily="34" charset="0"/>
              </a:rPr>
              <a:t>for heat units </a:t>
            </a:r>
          </a:p>
          <a:p>
            <a:pPr lvl="1">
              <a:lnSpc>
                <a:spcPct val="120000"/>
              </a:lnSpc>
            </a:pPr>
            <a:r>
              <a:rPr lang="en-US" dirty="0">
                <a:latin typeface="Arial" panose="020B0604020202020204" pitchFamily="34" charset="0"/>
                <a:cs typeface="Arial" panose="020B0604020202020204" pitchFamily="34" charset="0"/>
              </a:rPr>
              <a:t>Subsequently, the deployment aims to</a:t>
            </a:r>
          </a:p>
          <a:p>
            <a:pPr lvl="2">
              <a:lnSpc>
                <a:spcPct val="120000"/>
              </a:lnSpc>
            </a:pPr>
            <a:r>
              <a:rPr lang="en-US" dirty="0">
                <a:latin typeface="Arial" panose="020B0604020202020204" pitchFamily="34" charset="0"/>
                <a:cs typeface="Arial" panose="020B0604020202020204" pitchFamily="34" charset="0"/>
              </a:rPr>
              <a:t>Measure the temperature over a 10°C baseline that a site accumulates over the growing season </a:t>
            </a:r>
          </a:p>
          <a:p>
            <a:pPr>
              <a:lnSpc>
                <a:spcPct val="120000"/>
              </a:lnSpc>
            </a:pPr>
            <a:endParaRPr lang="en-US" dirty="0">
              <a:latin typeface="Arial" panose="020B0604020202020204" pitchFamily="34" charset="0"/>
              <a:cs typeface="Arial" panose="020B0604020202020204" pitchFamily="34" charset="0"/>
            </a:endParaRPr>
          </a:p>
          <a:p>
            <a:pPr>
              <a:lnSpc>
                <a:spcPct val="12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58115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Wine </a:t>
            </a:r>
            <a:r>
              <a:rPr lang="en-US" b="1" dirty="0" err="1">
                <a:latin typeface="Arial" panose="020B0604020202020204" pitchFamily="34" charset="0"/>
                <a:cs typeface="Arial" panose="020B0604020202020204" pitchFamily="34" charset="0"/>
              </a:rPr>
              <a:t>Vinyard</a:t>
            </a:r>
            <a:r>
              <a:rPr lang="en-US" b="1" dirty="0">
                <a:latin typeface="Arial" panose="020B0604020202020204" pitchFamily="34" charset="0"/>
                <a:cs typeface="Arial" panose="020B0604020202020204" pitchFamily="34" charset="0"/>
              </a:rPr>
              <a:t> (2004)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825625"/>
            <a:ext cx="11244309" cy="4912526"/>
          </a:xfrm>
        </p:spPr>
        <p:txBody>
          <a:bodyPr>
            <a:normAutofit fontScale="92500" lnSpcReduction="10000"/>
          </a:bodyPr>
          <a:lstStyle/>
          <a:p>
            <a:pPr>
              <a:lnSpc>
                <a:spcPct val="130000"/>
              </a:lnSpc>
            </a:pPr>
            <a:r>
              <a:rPr lang="en-US" sz="2600" dirty="0">
                <a:latin typeface="Arial" panose="020B0604020202020204" pitchFamily="34" charset="0"/>
                <a:cs typeface="Arial" panose="020B0604020202020204" pitchFamily="34" charset="0"/>
              </a:rPr>
              <a:t>Beckwith et al. deploy a WSN to </a:t>
            </a:r>
            <a:r>
              <a:rPr lang="en-US" sz="2600" i="1" dirty="0">
                <a:solidFill>
                  <a:srgbClr val="FF0000"/>
                </a:solidFill>
                <a:latin typeface="Arial" panose="020B0604020202020204" pitchFamily="34" charset="0"/>
                <a:cs typeface="Arial" panose="020B0604020202020204" pitchFamily="34" charset="0"/>
              </a:rPr>
              <a:t>monitor</a:t>
            </a:r>
            <a:r>
              <a:rPr lang="en-US" sz="2600" i="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and characterize variation in </a:t>
            </a:r>
            <a:r>
              <a:rPr lang="en-US" sz="2600" i="1" dirty="0">
                <a:solidFill>
                  <a:srgbClr val="FF0000"/>
                </a:solidFill>
                <a:latin typeface="Arial" panose="020B0604020202020204" pitchFamily="34" charset="0"/>
                <a:cs typeface="Arial" panose="020B0604020202020204" pitchFamily="34" charset="0"/>
              </a:rPr>
              <a:t>temperature</a:t>
            </a:r>
            <a:r>
              <a:rPr lang="en-US" sz="2600" i="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of a wine vineyard </a:t>
            </a:r>
          </a:p>
          <a:p>
            <a:pPr lvl="1">
              <a:lnSpc>
                <a:spcPct val="130000"/>
              </a:lnSpc>
            </a:pPr>
            <a:r>
              <a:rPr lang="en-US" sz="2200" dirty="0">
                <a:latin typeface="Arial" panose="020B0604020202020204" pitchFamily="34" charset="0"/>
                <a:cs typeface="Arial" panose="020B0604020202020204" pitchFamily="34" charset="0"/>
              </a:rPr>
              <a:t>Heat summation and periods of freezing temperatures</a:t>
            </a:r>
          </a:p>
          <a:p>
            <a:pPr>
              <a:lnSpc>
                <a:spcPct val="130000"/>
              </a:lnSpc>
            </a:pPr>
            <a:r>
              <a:rPr lang="en-US" sz="2600" i="1" dirty="0">
                <a:solidFill>
                  <a:srgbClr val="FF0000"/>
                </a:solidFill>
                <a:latin typeface="Arial" panose="020B0604020202020204" pitchFamily="34" charset="0"/>
                <a:cs typeface="Arial" panose="020B0604020202020204" pitchFamily="34" charset="0"/>
              </a:rPr>
              <a:t>65 nodes </a:t>
            </a:r>
            <a:r>
              <a:rPr lang="en-US" sz="2600" dirty="0">
                <a:latin typeface="Arial" panose="020B0604020202020204" pitchFamily="34" charset="0"/>
                <a:cs typeface="Arial" panose="020B0604020202020204" pitchFamily="34" charset="0"/>
              </a:rPr>
              <a:t>in a grid like pattern 10 to 20 meters apart, covering about two acres</a:t>
            </a:r>
          </a:p>
          <a:p>
            <a:pPr>
              <a:lnSpc>
                <a:spcPct val="130000"/>
              </a:lnSpc>
            </a:pPr>
            <a:r>
              <a:rPr lang="en-US" sz="2600" i="1" dirty="0">
                <a:solidFill>
                  <a:srgbClr val="FF0000"/>
                </a:solidFill>
                <a:latin typeface="Arial" panose="020B0604020202020204" pitchFamily="34" charset="0"/>
                <a:cs typeface="Arial" panose="020B0604020202020204" pitchFamily="34" charset="0"/>
              </a:rPr>
              <a:t>Easy to develop </a:t>
            </a:r>
            <a:r>
              <a:rPr lang="en-US" sz="2600" dirty="0">
                <a:latin typeface="Arial" panose="020B0604020202020204" pitchFamily="34" charset="0"/>
                <a:cs typeface="Arial" panose="020B0604020202020204" pitchFamily="34" charset="0"/>
              </a:rPr>
              <a:t>the network(1 person day) </a:t>
            </a:r>
          </a:p>
          <a:p>
            <a:pPr lvl="1">
              <a:lnSpc>
                <a:spcPct val="130000"/>
              </a:lnSpc>
            </a:pPr>
            <a:r>
              <a:rPr lang="en-US" sz="2100" dirty="0">
                <a:latin typeface="Arial" panose="020B0604020202020204" pitchFamily="34" charset="0"/>
                <a:cs typeface="Arial" panose="020B0604020202020204" pitchFamily="34" charset="0"/>
              </a:rPr>
              <a:t>Due to self-configuration nature of the network</a:t>
            </a:r>
          </a:p>
          <a:p>
            <a:pPr lvl="1">
              <a:lnSpc>
                <a:spcPct val="130000"/>
              </a:lnSpc>
            </a:pPr>
            <a:r>
              <a:rPr lang="en-US" sz="2100" dirty="0">
                <a:latin typeface="Arial" panose="020B0604020202020204" pitchFamily="34" charset="0"/>
                <a:cs typeface="Arial" panose="020B0604020202020204" pitchFamily="34" charset="0"/>
              </a:rPr>
              <a:t>Inherent structured layout of vineyard fields </a:t>
            </a:r>
          </a:p>
          <a:p>
            <a:pPr>
              <a:lnSpc>
                <a:spcPct val="130000"/>
              </a:lnSpc>
            </a:pPr>
            <a:r>
              <a:rPr lang="en-US" sz="2600" dirty="0">
                <a:latin typeface="Arial" panose="020B0604020202020204" pitchFamily="34" charset="0"/>
                <a:cs typeface="Arial" panose="020B0604020202020204" pitchFamily="34" charset="0"/>
              </a:rPr>
              <a:t>Two essential constraints of the network topology </a:t>
            </a:r>
          </a:p>
          <a:p>
            <a:pPr lvl="1">
              <a:lnSpc>
                <a:spcPct val="130000"/>
              </a:lnSpc>
            </a:pPr>
            <a:r>
              <a:rPr lang="en-US" sz="2200" dirty="0">
                <a:latin typeface="Arial" panose="020B0604020202020204" pitchFamily="34" charset="0"/>
                <a:cs typeface="Arial" panose="020B0604020202020204" pitchFamily="34" charset="0"/>
              </a:rPr>
              <a:t>Placement of nodes in an area of viticulture interest</a:t>
            </a:r>
          </a:p>
          <a:p>
            <a:pPr lvl="1">
              <a:lnSpc>
                <a:spcPct val="130000"/>
              </a:lnSpc>
            </a:pPr>
            <a:r>
              <a:rPr lang="en-US" sz="2200" dirty="0">
                <a:latin typeface="Arial" panose="020B0604020202020204" pitchFamily="34" charset="0"/>
                <a:cs typeface="Arial" panose="020B0604020202020204" pitchFamily="34" charset="0"/>
              </a:rPr>
              <a:t>The support for multi-hop communication </a:t>
            </a:r>
          </a:p>
          <a:p>
            <a:pPr lvl="1">
              <a:lnSpc>
                <a:spcPct val="130000"/>
              </a:lnSpc>
            </a:pPr>
            <a:endParaRPr lang="en-US" dirty="0">
              <a:latin typeface="Arial" panose="020B0604020202020204" pitchFamily="34" charset="0"/>
              <a:cs typeface="Arial" panose="020B0604020202020204" pitchFamily="34" charset="0"/>
            </a:endParaRPr>
          </a:p>
          <a:p>
            <a:pPr lvl="1">
              <a:lnSpc>
                <a:spcPct val="130000"/>
              </a:lnSpc>
            </a:pPr>
            <a:endParaRPr lang="en-US" dirty="0">
              <a:latin typeface="Arial" panose="020B0604020202020204" pitchFamily="34" charset="0"/>
              <a:cs typeface="Arial" panose="020B0604020202020204" pitchFamily="34" charset="0"/>
            </a:endParaRPr>
          </a:p>
          <a:p>
            <a:pPr lvl="1">
              <a:lnSpc>
                <a:spcPct val="130000"/>
              </a:lnSpc>
            </a:pPr>
            <a:endParaRPr lang="en-US" dirty="0">
              <a:latin typeface="Arial" panose="020B0604020202020204" pitchFamily="34" charset="0"/>
              <a:cs typeface="Arial" panose="020B0604020202020204" pitchFamily="34" charset="0"/>
            </a:endParaRPr>
          </a:p>
          <a:p>
            <a:pPr lvl="1">
              <a:lnSpc>
                <a:spcPct val="130000"/>
              </a:lnSpc>
            </a:pPr>
            <a:endParaRPr lang="en-US" dirty="0">
              <a:latin typeface="Arial" panose="020B0604020202020204" pitchFamily="34" charset="0"/>
              <a:cs typeface="Arial" panose="020B0604020202020204" pitchFamily="34" charset="0"/>
            </a:endParaRPr>
          </a:p>
          <a:p>
            <a:pPr lvl="1">
              <a:lnSpc>
                <a:spcPct val="130000"/>
              </a:lnSpc>
            </a:pPr>
            <a:endParaRPr lang="en-US" dirty="0">
              <a:latin typeface="Arial" panose="020B0604020202020204" pitchFamily="34" charset="0"/>
              <a:cs typeface="Arial" panose="020B0604020202020204" pitchFamily="34" charset="0"/>
            </a:endParaRPr>
          </a:p>
          <a:p>
            <a:pPr>
              <a:lnSpc>
                <a:spcPct val="130000"/>
              </a:lnSpc>
            </a:pPr>
            <a:endParaRPr lang="en-US" dirty="0">
              <a:latin typeface="Arial" panose="020B0604020202020204" pitchFamily="34" charset="0"/>
              <a:cs typeface="Arial" panose="020B0604020202020204" pitchFamily="34" charset="0"/>
            </a:endParaRPr>
          </a:p>
          <a:p>
            <a:pPr>
              <a:lnSpc>
                <a:spcPct val="13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49006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Wine </a:t>
            </a:r>
            <a:r>
              <a:rPr lang="en-US" b="1" dirty="0" err="1">
                <a:latin typeface="Arial" panose="020B0604020202020204" pitchFamily="34" charset="0"/>
                <a:cs typeface="Arial" panose="020B0604020202020204" pitchFamily="34" charset="0"/>
              </a:rPr>
              <a:t>Vinyard</a:t>
            </a:r>
            <a:r>
              <a:rPr lang="en-US" b="1" dirty="0">
                <a:latin typeface="Arial" panose="020B0604020202020204" pitchFamily="34" charset="0"/>
                <a:cs typeface="Arial" panose="020B0604020202020204" pitchFamily="34" charset="0"/>
              </a:rPr>
              <a:t> (2004)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4"/>
            <a:ext cx="10515600" cy="4948037"/>
          </a:xfrm>
        </p:spPr>
        <p:txBody>
          <a:bodyPr>
            <a:normAutofit/>
          </a:bodyPr>
          <a:lstStyle/>
          <a:p>
            <a:pPr>
              <a:lnSpc>
                <a:spcPct val="120000"/>
              </a:lnSpc>
            </a:pPr>
            <a:r>
              <a:rPr lang="en-US" sz="2400" dirty="0">
                <a:latin typeface="Arial" panose="020B0604020202020204" pitchFamily="34" charset="0"/>
                <a:cs typeface="Arial" panose="020B0604020202020204" pitchFamily="34" charset="0"/>
              </a:rPr>
              <a:t>The data were used to investigate several aspects:</a:t>
            </a:r>
          </a:p>
          <a:p>
            <a:pPr lvl="1">
              <a:lnSpc>
                <a:spcPct val="120000"/>
              </a:lnSpc>
            </a:pPr>
            <a:r>
              <a:rPr lang="en-US" dirty="0">
                <a:latin typeface="Arial" panose="020B0604020202020204" pitchFamily="34" charset="0"/>
                <a:cs typeface="Arial" panose="020B0604020202020204" pitchFamily="34" charset="0"/>
              </a:rPr>
              <a:t>The existence of </a:t>
            </a:r>
            <a:r>
              <a:rPr lang="en-US" i="1" dirty="0">
                <a:solidFill>
                  <a:srgbClr val="FF0000"/>
                </a:solidFill>
                <a:latin typeface="Arial" panose="020B0604020202020204" pitchFamily="34" charset="0"/>
                <a:cs typeface="Arial" panose="020B0604020202020204" pitchFamily="34" charset="0"/>
              </a:rPr>
              <a:t>co-variance between the temperature </a:t>
            </a:r>
            <a:r>
              <a:rPr lang="en-US" dirty="0">
                <a:latin typeface="Arial" panose="020B0604020202020204" pitchFamily="34" charset="0"/>
                <a:cs typeface="Arial" panose="020B0604020202020204" pitchFamily="34" charset="0"/>
              </a:rPr>
              <a:t>data collected by the network</a:t>
            </a:r>
          </a:p>
          <a:p>
            <a:pPr lvl="1">
              <a:lnSpc>
                <a:spcPct val="120000"/>
              </a:lnSpc>
            </a:pPr>
            <a:r>
              <a:rPr lang="en-US" i="1" dirty="0">
                <a:solidFill>
                  <a:srgbClr val="FF0000"/>
                </a:solidFill>
                <a:latin typeface="Arial" panose="020B0604020202020204" pitchFamily="34" charset="0"/>
                <a:cs typeface="Arial" panose="020B0604020202020204" pitchFamily="34" charset="0"/>
              </a:rPr>
              <a:t>Growing degree day differences</a:t>
            </a:r>
          </a:p>
          <a:p>
            <a:pPr lvl="1">
              <a:lnSpc>
                <a:spcPct val="120000"/>
              </a:lnSpc>
            </a:pPr>
            <a:r>
              <a:rPr lang="en-US" i="1" dirty="0">
                <a:solidFill>
                  <a:srgbClr val="FF0000"/>
                </a:solidFill>
                <a:latin typeface="Arial" panose="020B0604020202020204" pitchFamily="34" charset="0"/>
                <a:cs typeface="Arial" panose="020B0604020202020204" pitchFamily="34" charset="0"/>
              </a:rPr>
              <a:t>Potential frost damage </a:t>
            </a:r>
          </a:p>
          <a:p>
            <a:pPr>
              <a:lnSpc>
                <a:spcPct val="120000"/>
              </a:lnSpc>
            </a:pPr>
            <a:r>
              <a:rPr lang="en-US" sz="2400" dirty="0">
                <a:latin typeface="Arial" panose="020B0604020202020204" pitchFamily="34" charset="0"/>
                <a:cs typeface="Arial" panose="020B0604020202020204" pitchFamily="34" charset="0"/>
              </a:rPr>
              <a:t>The </a:t>
            </a:r>
            <a:r>
              <a:rPr lang="en-US" sz="2400" i="1" dirty="0">
                <a:solidFill>
                  <a:srgbClr val="FF0000"/>
                </a:solidFill>
                <a:latin typeface="Arial" panose="020B0604020202020204" pitchFamily="34" charset="0"/>
                <a:cs typeface="Arial" panose="020B0604020202020204" pitchFamily="34" charset="0"/>
              </a:rPr>
              <a:t>mean data </a:t>
            </a:r>
            <a:r>
              <a:rPr lang="en-US" sz="2400" dirty="0">
                <a:latin typeface="Arial" panose="020B0604020202020204" pitchFamily="34" charset="0"/>
                <a:cs typeface="Arial" panose="020B0604020202020204" pitchFamily="34" charset="0"/>
              </a:rPr>
              <a:t>enabled to observe the relative differences between heat units accumulation during that period</a:t>
            </a:r>
          </a:p>
          <a:p>
            <a:pPr lvl="1">
              <a:lnSpc>
                <a:spcPct val="120000"/>
              </a:lnSpc>
            </a:pPr>
            <a:r>
              <a:rPr lang="en-US" dirty="0">
                <a:latin typeface="Arial" panose="020B0604020202020204" pitchFamily="34" charset="0"/>
                <a:cs typeface="Arial" panose="020B0604020202020204" pitchFamily="34" charset="0"/>
              </a:rPr>
              <a:t>According to the authors’ report, the extent of variation in this vineyard – there was a measured difference of over 35% of heat summation units (HSUs) in as little as 100 meters </a:t>
            </a:r>
          </a:p>
          <a:p>
            <a:pPr>
              <a:lnSpc>
                <a:spcPct val="120000"/>
              </a:lnSpc>
            </a:pPr>
            <a:endParaRPr lang="en-US" i="1" dirty="0">
              <a:latin typeface="Arial" panose="020B0604020202020204" pitchFamily="34" charset="0"/>
              <a:cs typeface="Arial" panose="020B0604020202020204" pitchFamily="34" charset="0"/>
            </a:endParaRPr>
          </a:p>
          <a:p>
            <a:pPr>
              <a:lnSpc>
                <a:spcPct val="120000"/>
              </a:lnSpc>
            </a:pPr>
            <a:endParaRPr lang="en-US" dirty="0">
              <a:latin typeface="Arial" panose="020B0604020202020204" pitchFamily="34" charset="0"/>
              <a:cs typeface="Arial" panose="020B0604020202020204" pitchFamily="34" charset="0"/>
            </a:endParaRPr>
          </a:p>
          <a:p>
            <a:pPr>
              <a:lnSpc>
                <a:spcPct val="12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2907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latin typeface="Arial" panose="020B0604020202020204" pitchFamily="34" charset="0"/>
                <a:cs typeface="Arial" panose="020B0604020202020204" pitchFamily="34" charset="0"/>
              </a:rPr>
              <a:t>Lofar</a:t>
            </a:r>
            <a:r>
              <a:rPr lang="en-US" b="1" dirty="0">
                <a:latin typeface="Arial" panose="020B0604020202020204" pitchFamily="34" charset="0"/>
                <a:cs typeface="Arial" panose="020B0604020202020204" pitchFamily="34" charset="0"/>
              </a:rPr>
              <a:t> Agro (2005)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lnSpc>
                <a:spcPct val="120000"/>
              </a:lnSpc>
            </a:pPr>
            <a:r>
              <a:rPr lang="en-US" sz="2400" dirty="0" err="1">
                <a:latin typeface="Arial" panose="020B0604020202020204" pitchFamily="34" charset="0"/>
                <a:cs typeface="Arial" panose="020B0604020202020204" pitchFamily="34" charset="0"/>
              </a:rPr>
              <a:t>Baggio</a:t>
            </a:r>
            <a:r>
              <a:rPr lang="en-US" sz="2400" dirty="0">
                <a:latin typeface="Arial" panose="020B0604020202020204" pitchFamily="34" charset="0"/>
                <a:cs typeface="Arial" panose="020B0604020202020204" pitchFamily="34" charset="0"/>
              </a:rPr>
              <a:t> deploy a WSN at </a:t>
            </a:r>
            <a:r>
              <a:rPr lang="en-US" sz="2400" dirty="0" err="1">
                <a:latin typeface="Arial" panose="020B0604020202020204" pitchFamily="34" charset="0"/>
                <a:cs typeface="Arial" panose="020B0604020202020204" pitchFamily="34" charset="0"/>
              </a:rPr>
              <a:t>Lofar</a:t>
            </a:r>
            <a:r>
              <a:rPr lang="en-US" sz="2400" dirty="0">
                <a:latin typeface="Arial" panose="020B0604020202020204" pitchFamily="34" charset="0"/>
                <a:cs typeface="Arial" panose="020B0604020202020204" pitchFamily="34" charset="0"/>
              </a:rPr>
              <a:t> Agro, the Netherlands.</a:t>
            </a:r>
          </a:p>
          <a:p>
            <a:pPr>
              <a:lnSpc>
                <a:spcPct val="120000"/>
              </a:lnSpc>
            </a:pPr>
            <a:r>
              <a:rPr lang="en-US" sz="2400" dirty="0">
                <a:latin typeface="Arial" panose="020B0604020202020204" pitchFamily="34" charset="0"/>
                <a:cs typeface="Arial" panose="020B0604020202020204" pitchFamily="34" charset="0"/>
              </a:rPr>
              <a:t>The network was tasked to </a:t>
            </a:r>
            <a:r>
              <a:rPr lang="en-US" sz="2400" i="1" dirty="0">
                <a:solidFill>
                  <a:srgbClr val="FF0000"/>
                </a:solidFill>
                <a:latin typeface="Arial" panose="020B0604020202020204" pitchFamily="34" charset="0"/>
                <a:cs typeface="Arial" panose="020B0604020202020204" pitchFamily="34" charset="0"/>
              </a:rPr>
              <a:t>monitor phytophthora </a:t>
            </a:r>
            <a:endParaRPr lang="en-US" sz="2400" dirty="0">
              <a:solidFill>
                <a:srgbClr val="FF0000"/>
              </a:solidFill>
              <a:latin typeface="Arial" panose="020B0604020202020204" pitchFamily="34" charset="0"/>
              <a:cs typeface="Arial" panose="020B0604020202020204" pitchFamily="34" charset="0"/>
            </a:endParaRPr>
          </a:p>
          <a:p>
            <a:pPr lvl="1">
              <a:lnSpc>
                <a:spcPct val="120000"/>
              </a:lnSpc>
            </a:pPr>
            <a:r>
              <a:rPr lang="en-US" dirty="0">
                <a:latin typeface="Arial" panose="020B0604020202020204" pitchFamily="34" charset="0"/>
                <a:cs typeface="Arial" panose="020B0604020202020204" pitchFamily="34" charset="0"/>
              </a:rPr>
              <a:t>Phytophthora is </a:t>
            </a:r>
            <a:r>
              <a:rPr lang="en-US" i="1" dirty="0">
                <a:solidFill>
                  <a:srgbClr val="FF0000"/>
                </a:solidFill>
                <a:latin typeface="Arial" panose="020B0604020202020204" pitchFamily="34" charset="0"/>
                <a:cs typeface="Arial" panose="020B0604020202020204" pitchFamily="34" charset="0"/>
              </a:rPr>
              <a:t>a fungal disease </a:t>
            </a:r>
            <a:r>
              <a:rPr lang="en-US" dirty="0">
                <a:latin typeface="Arial" panose="020B0604020202020204" pitchFamily="34" charset="0"/>
                <a:cs typeface="Arial" panose="020B0604020202020204" pitchFamily="34" charset="0"/>
              </a:rPr>
              <a:t>in </a:t>
            </a:r>
            <a:r>
              <a:rPr lang="en-US" i="1" dirty="0">
                <a:solidFill>
                  <a:srgbClr val="FF0000"/>
                </a:solidFill>
                <a:latin typeface="Arial" panose="020B0604020202020204" pitchFamily="34" charset="0"/>
                <a:cs typeface="Arial" panose="020B0604020202020204" pitchFamily="34" charset="0"/>
              </a:rPr>
              <a:t>a potato field</a:t>
            </a:r>
          </a:p>
          <a:p>
            <a:pPr>
              <a:lnSpc>
                <a:spcPct val="120000"/>
              </a:lnSpc>
            </a:pPr>
            <a:r>
              <a:rPr lang="en-US" sz="2400" i="1" dirty="0">
                <a:solidFill>
                  <a:srgbClr val="FF0000"/>
                </a:solidFill>
                <a:latin typeface="Arial" panose="020B0604020202020204" pitchFamily="34" charset="0"/>
                <a:cs typeface="Arial" panose="020B0604020202020204" pitchFamily="34" charset="0"/>
              </a:rPr>
              <a:t>Climatologically conditions </a:t>
            </a:r>
            <a:r>
              <a:rPr lang="en-US" sz="2400" dirty="0">
                <a:latin typeface="Arial" panose="020B0604020202020204" pitchFamily="34" charset="0"/>
                <a:cs typeface="Arial" panose="020B0604020202020204" pitchFamily="34" charset="0"/>
              </a:rPr>
              <a:t>are the main cause to phytophthora </a:t>
            </a:r>
          </a:p>
          <a:p>
            <a:pPr lvl="1">
              <a:lnSpc>
                <a:spcPct val="120000"/>
              </a:lnSpc>
            </a:pPr>
            <a:r>
              <a:rPr lang="en-US" dirty="0">
                <a:latin typeface="Arial" panose="020B0604020202020204" pitchFamily="34" charset="0"/>
                <a:cs typeface="Arial" panose="020B0604020202020204" pitchFamily="34" charset="0"/>
              </a:rPr>
              <a:t>Thus, observing </a:t>
            </a:r>
            <a:r>
              <a:rPr lang="en-US" i="1" dirty="0">
                <a:solidFill>
                  <a:srgbClr val="FF0000"/>
                </a:solidFill>
                <a:latin typeface="Arial" panose="020B0604020202020204" pitchFamily="34" charset="0"/>
                <a:cs typeface="Arial" panose="020B0604020202020204" pitchFamily="34" charset="0"/>
              </a:rPr>
              <a:t>the humidity </a:t>
            </a:r>
            <a:r>
              <a:rPr lang="en-US" dirty="0">
                <a:latin typeface="Arial" panose="020B0604020202020204" pitchFamily="34" charset="0"/>
                <a:cs typeface="Arial" panose="020B0604020202020204" pitchFamily="34" charset="0"/>
              </a:rPr>
              <a:t>and </a:t>
            </a:r>
            <a:r>
              <a:rPr lang="en-US" i="1" dirty="0">
                <a:solidFill>
                  <a:srgbClr val="FF0000"/>
                </a:solidFill>
                <a:latin typeface="Arial" panose="020B0604020202020204" pitchFamily="34" charset="0"/>
                <a:cs typeface="Arial" panose="020B0604020202020204" pitchFamily="34" charset="0"/>
              </a:rPr>
              <a:t>temperature</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conditions in the field </a:t>
            </a:r>
          </a:p>
          <a:p>
            <a:pPr lvl="1">
              <a:lnSpc>
                <a:spcPct val="120000"/>
              </a:lnSpc>
            </a:pPr>
            <a:r>
              <a:rPr lang="en-US" dirty="0">
                <a:latin typeface="Arial" panose="020B0604020202020204" pitchFamily="34" charset="0"/>
                <a:cs typeface="Arial" panose="020B0604020202020204" pitchFamily="34" charset="0"/>
              </a:rPr>
              <a:t>Observing the </a:t>
            </a:r>
            <a:r>
              <a:rPr lang="en-US" i="1" dirty="0">
                <a:solidFill>
                  <a:srgbClr val="FF0000"/>
                </a:solidFill>
                <a:latin typeface="Arial" panose="020B0604020202020204" pitchFamily="34" charset="0"/>
                <a:cs typeface="Arial" panose="020B0604020202020204" pitchFamily="34" charset="0"/>
              </a:rPr>
              <a:t>wetness</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of the potato leaves </a:t>
            </a:r>
          </a:p>
          <a:p>
            <a:pPr lvl="1">
              <a:lnSpc>
                <a:spcPct val="120000"/>
              </a:lnSpc>
            </a:pPr>
            <a:r>
              <a:rPr lang="en-US" dirty="0">
                <a:latin typeface="Arial" panose="020B0604020202020204" pitchFamily="34" charset="0"/>
                <a:cs typeface="Arial" panose="020B0604020202020204" pitchFamily="34" charset="0"/>
              </a:rPr>
              <a:t>To determine the potential risk of the disease and the requirements for fungicide </a:t>
            </a:r>
          </a:p>
          <a:p>
            <a:pPr>
              <a:lnSpc>
                <a:spcPct val="12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93263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latin typeface="Arial" panose="020B0604020202020204" pitchFamily="34" charset="0"/>
                <a:cs typeface="Arial" panose="020B0604020202020204" pitchFamily="34" charset="0"/>
              </a:rPr>
              <a:t>Lofar</a:t>
            </a:r>
            <a:r>
              <a:rPr lang="en-US" b="1" dirty="0">
                <a:latin typeface="Arial" panose="020B0604020202020204" pitchFamily="34" charset="0"/>
                <a:cs typeface="Arial" panose="020B0604020202020204" pitchFamily="34" charset="0"/>
              </a:rPr>
              <a:t> Agro (2005)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5"/>
            <a:ext cx="10515600" cy="4667250"/>
          </a:xfrm>
        </p:spPr>
        <p:txBody>
          <a:bodyPr>
            <a:normAutofit fontScale="92500" lnSpcReduction="10000"/>
          </a:bodyPr>
          <a:lstStyle/>
          <a:p>
            <a:pPr>
              <a:lnSpc>
                <a:spcPct val="120000"/>
              </a:lnSpc>
            </a:pPr>
            <a:r>
              <a:rPr lang="en-US" sz="2600" dirty="0">
                <a:latin typeface="Arial" panose="020B0604020202020204" pitchFamily="34" charset="0"/>
                <a:cs typeface="Arial" panose="020B0604020202020204" pitchFamily="34" charset="0"/>
              </a:rPr>
              <a:t>Implementation:</a:t>
            </a:r>
          </a:p>
          <a:p>
            <a:pPr lvl="1">
              <a:lnSpc>
                <a:spcPct val="120000"/>
              </a:lnSpc>
            </a:pPr>
            <a:r>
              <a:rPr lang="en-US" sz="2600" dirty="0">
                <a:latin typeface="Arial" panose="020B0604020202020204" pitchFamily="34" charset="0"/>
                <a:cs typeface="Arial" panose="020B0604020202020204" pitchFamily="34" charset="0"/>
              </a:rPr>
              <a:t>150 wireless sensor nodes (20, 40 and 60 cm) </a:t>
            </a:r>
          </a:p>
          <a:p>
            <a:pPr lvl="2">
              <a:lnSpc>
                <a:spcPct val="120000"/>
              </a:lnSpc>
            </a:pPr>
            <a:r>
              <a:rPr lang="en-US" sz="2600" dirty="0">
                <a:latin typeface="Arial" panose="020B0604020202020204" pitchFamily="34" charset="0"/>
                <a:cs typeface="Arial" panose="020B0604020202020204" pitchFamily="34" charset="0"/>
              </a:rPr>
              <a:t>Temperature and humidity sensors</a:t>
            </a:r>
          </a:p>
          <a:p>
            <a:pPr lvl="1">
              <a:lnSpc>
                <a:spcPct val="120000"/>
              </a:lnSpc>
            </a:pPr>
            <a:r>
              <a:rPr lang="en-US" sz="2600" dirty="0">
                <a:latin typeface="Arial" panose="020B0604020202020204" pitchFamily="34" charset="0"/>
                <a:cs typeface="Arial" panose="020B0604020202020204" pitchFamily="34" charset="0"/>
              </a:rPr>
              <a:t>Additional 30 nodes (75 cm) to ensure the network’s connectivity </a:t>
            </a:r>
          </a:p>
          <a:p>
            <a:pPr lvl="2">
              <a:lnSpc>
                <a:spcPct val="120000"/>
              </a:lnSpc>
            </a:pPr>
            <a:r>
              <a:rPr lang="en-US" sz="2600" dirty="0">
                <a:latin typeface="Arial" panose="020B0604020202020204" pitchFamily="34" charset="0"/>
                <a:cs typeface="Arial" panose="020B0604020202020204" pitchFamily="34" charset="0"/>
              </a:rPr>
              <a:t>The radio range of the nodes reduced when the potato crop was flowering </a:t>
            </a:r>
          </a:p>
          <a:p>
            <a:pPr lvl="1">
              <a:lnSpc>
                <a:spcPct val="120000"/>
              </a:lnSpc>
            </a:pPr>
            <a:r>
              <a:rPr lang="en-US" sz="2600" dirty="0">
                <a:latin typeface="Arial" panose="020B0604020202020204" pitchFamily="34" charset="0"/>
                <a:cs typeface="Arial" panose="020B0604020202020204" pitchFamily="34" charset="0"/>
              </a:rPr>
              <a:t>The nodes sampled temperature and humidity at a rate of 1 sample per minute and stored the result temporarily</a:t>
            </a:r>
          </a:p>
          <a:p>
            <a:pPr lvl="1">
              <a:lnSpc>
                <a:spcPct val="120000"/>
              </a:lnSpc>
            </a:pPr>
            <a:r>
              <a:rPr lang="en-US" sz="2600" dirty="0">
                <a:latin typeface="Arial" panose="020B0604020202020204" pitchFamily="34" charset="0"/>
                <a:cs typeface="Arial" panose="020B0604020202020204" pitchFamily="34" charset="0"/>
              </a:rPr>
              <a:t>The data were communicated to a remote base station every 10 minutes </a:t>
            </a:r>
          </a:p>
          <a:p>
            <a:pPr>
              <a:lnSpc>
                <a:spcPct val="120000"/>
              </a:lnSpc>
            </a:pPr>
            <a:endParaRPr lang="en-US" dirty="0">
              <a:latin typeface="Arial" panose="020B0604020202020204" pitchFamily="34" charset="0"/>
              <a:cs typeface="Arial" panose="020B0604020202020204" pitchFamily="34" charset="0"/>
            </a:endParaRPr>
          </a:p>
          <a:p>
            <a:pPr>
              <a:lnSpc>
                <a:spcPct val="12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940738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latin typeface="Arial" panose="020B0604020202020204" pitchFamily="34" charset="0"/>
                <a:cs typeface="Arial" panose="020B0604020202020204" pitchFamily="34" charset="0"/>
              </a:rPr>
              <a:t>Lofar</a:t>
            </a:r>
            <a:r>
              <a:rPr lang="en-US" b="1" dirty="0">
                <a:latin typeface="Arial" panose="020B0604020202020204" pitchFamily="34" charset="0"/>
                <a:cs typeface="Arial" panose="020B0604020202020204" pitchFamily="34" charset="0"/>
              </a:rPr>
              <a:t> Agro (2005)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4"/>
            <a:ext cx="10515600" cy="4734973"/>
          </a:xfrm>
        </p:spPr>
        <p:txBody>
          <a:bodyPr>
            <a:normAutofit/>
          </a:bodyPr>
          <a:lstStyle/>
          <a:p>
            <a:pPr>
              <a:lnSpc>
                <a:spcPct val="120000"/>
              </a:lnSpc>
            </a:pPr>
            <a:r>
              <a:rPr lang="en-US" sz="2600" dirty="0">
                <a:latin typeface="Arial" panose="020B0604020202020204" pitchFamily="34" charset="0"/>
                <a:cs typeface="Arial" panose="020B0604020202020204" pitchFamily="34" charset="0"/>
              </a:rPr>
              <a:t>Implementation:</a:t>
            </a:r>
          </a:p>
          <a:p>
            <a:pPr lvl="1">
              <a:lnSpc>
                <a:spcPct val="120000"/>
              </a:lnSpc>
            </a:pPr>
            <a:r>
              <a:rPr lang="en-US" sz="2600" dirty="0">
                <a:latin typeface="Arial" panose="020B0604020202020204" pitchFamily="34" charset="0"/>
                <a:cs typeface="Arial" panose="020B0604020202020204" pitchFamily="34" charset="0"/>
              </a:rPr>
              <a:t>Delta encoding and periodic sleeping to efficiently utilize energy </a:t>
            </a:r>
          </a:p>
          <a:p>
            <a:pPr lvl="2">
              <a:lnSpc>
                <a:spcPct val="120000"/>
              </a:lnSpc>
            </a:pPr>
            <a:r>
              <a:rPr lang="en-US" sz="2600" dirty="0">
                <a:latin typeface="Arial" panose="020B0604020202020204" pitchFamily="34" charset="0"/>
                <a:cs typeface="Arial" panose="020B0604020202020204" pitchFamily="34" charset="0"/>
              </a:rPr>
              <a:t>Delta encoding: ten samples were encoded in a single packet </a:t>
            </a:r>
          </a:p>
          <a:p>
            <a:pPr lvl="1">
              <a:lnSpc>
                <a:spcPct val="120000"/>
              </a:lnSpc>
            </a:pPr>
            <a:r>
              <a:rPr lang="en-US" sz="2600" dirty="0">
                <a:latin typeface="Arial" panose="020B0604020202020204" pitchFamily="34" charset="0"/>
                <a:cs typeface="Arial" panose="020B0604020202020204" pitchFamily="34" charset="0"/>
              </a:rPr>
              <a:t>The sampled data were logged to a server </a:t>
            </a:r>
          </a:p>
          <a:p>
            <a:pPr lvl="1">
              <a:lnSpc>
                <a:spcPct val="120000"/>
              </a:lnSpc>
            </a:pPr>
            <a:r>
              <a:rPr lang="en-US" sz="2600" dirty="0">
                <a:latin typeface="Arial" panose="020B0604020202020204" pitchFamily="34" charset="0"/>
                <a:cs typeface="Arial" panose="020B0604020202020204" pitchFamily="34" charset="0"/>
              </a:rPr>
              <a:t>The server filtered out erroneous readings and handed the accumulated data to the Phytophthora decision support system (DSS) server </a:t>
            </a:r>
          </a:p>
          <a:p>
            <a:pPr lvl="1">
              <a:lnSpc>
                <a:spcPct val="120000"/>
              </a:lnSpc>
            </a:pPr>
            <a:r>
              <a:rPr lang="en-US" sz="2600" dirty="0">
                <a:latin typeface="Arial" panose="020B0604020202020204" pitchFamily="34" charset="0"/>
                <a:cs typeface="Arial" panose="020B0604020202020204" pitchFamily="34" charset="0"/>
              </a:rPr>
              <a:t>Finally, the decision support system combined the field data with a detailed weather forecast to determine the treatment policy </a:t>
            </a:r>
          </a:p>
          <a:p>
            <a:pPr>
              <a:lnSpc>
                <a:spcPct val="120000"/>
              </a:lnSpc>
            </a:pPr>
            <a:endParaRPr lang="en-US" dirty="0">
              <a:latin typeface="Arial" panose="020B0604020202020204" pitchFamily="34" charset="0"/>
              <a:cs typeface="Arial" panose="020B0604020202020204" pitchFamily="34" charset="0"/>
            </a:endParaRPr>
          </a:p>
          <a:p>
            <a:pPr>
              <a:lnSpc>
                <a:spcPct val="12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23880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5032375"/>
          </a:xfrm>
        </p:spPr>
        <p:txBody>
          <a:bodyPr>
            <a:normAutofit fontScale="25000" lnSpcReduction="20000"/>
          </a:bodyPr>
          <a:lstStyle/>
          <a:p>
            <a:pPr>
              <a:lnSpc>
                <a:spcPct val="140000"/>
              </a:lnSpc>
              <a:spcBef>
                <a:spcPts val="0"/>
              </a:spcBef>
            </a:pPr>
            <a:r>
              <a:rPr lang="en-US" sz="9600" dirty="0">
                <a:latin typeface="Arial" panose="020B0604020202020204" pitchFamily="34" charset="0"/>
                <a:cs typeface="Arial" panose="020B0604020202020204" pitchFamily="34" charset="0"/>
              </a:rPr>
              <a:t>Structural Health Monitoring </a:t>
            </a:r>
          </a:p>
          <a:p>
            <a:pPr lvl="1">
              <a:lnSpc>
                <a:spcPct val="140000"/>
              </a:lnSpc>
              <a:spcBef>
                <a:spcPts val="0"/>
              </a:spcBef>
            </a:pPr>
            <a:r>
              <a:rPr lang="en-US" sz="8000" dirty="0" err="1">
                <a:latin typeface="Arial" panose="020B0604020202020204" pitchFamily="34" charset="0"/>
                <a:cs typeface="Arial" panose="020B0604020202020204" pitchFamily="34" charset="0"/>
              </a:rPr>
              <a:t>Wisden</a:t>
            </a:r>
            <a:r>
              <a:rPr lang="en-US" sz="8000" dirty="0">
                <a:latin typeface="Arial" panose="020B0604020202020204" pitchFamily="34" charset="0"/>
                <a:cs typeface="Arial" panose="020B0604020202020204" pitchFamily="34" charset="0"/>
              </a:rPr>
              <a:t> </a:t>
            </a:r>
          </a:p>
          <a:p>
            <a:pPr lvl="1">
              <a:lnSpc>
                <a:spcPct val="140000"/>
              </a:lnSpc>
              <a:spcBef>
                <a:spcPts val="0"/>
              </a:spcBef>
            </a:pPr>
            <a:r>
              <a:rPr lang="en-US" sz="8000" dirty="0">
                <a:latin typeface="Arial" panose="020B0604020202020204" pitchFamily="34" charset="0"/>
                <a:cs typeface="Arial" panose="020B0604020202020204" pitchFamily="34" charset="0"/>
              </a:rPr>
              <a:t>Golden Gate Bridge </a:t>
            </a:r>
          </a:p>
          <a:p>
            <a:pPr>
              <a:lnSpc>
                <a:spcPct val="140000"/>
              </a:lnSpc>
              <a:spcBef>
                <a:spcPts val="0"/>
              </a:spcBef>
            </a:pPr>
            <a:r>
              <a:rPr lang="en-US" sz="9600" dirty="0">
                <a:latin typeface="Arial" panose="020B0604020202020204" pitchFamily="34" charset="0"/>
                <a:cs typeface="Arial" panose="020B0604020202020204" pitchFamily="34" charset="0"/>
              </a:rPr>
              <a:t>Traffic Control</a:t>
            </a:r>
          </a:p>
          <a:p>
            <a:pPr lvl="1">
              <a:lnSpc>
                <a:spcPct val="140000"/>
              </a:lnSpc>
              <a:spcBef>
                <a:spcPts val="0"/>
              </a:spcBef>
            </a:pPr>
            <a:r>
              <a:rPr lang="en-US" sz="8000" dirty="0" err="1">
                <a:latin typeface="Arial" panose="020B0604020202020204" pitchFamily="34" charset="0"/>
                <a:cs typeface="Arial" panose="020B0604020202020204" pitchFamily="34" charset="0"/>
              </a:rPr>
              <a:t>Knaian</a:t>
            </a:r>
            <a:r>
              <a:rPr lang="en-US" sz="8000" dirty="0">
                <a:latin typeface="Arial" panose="020B0604020202020204" pitchFamily="34" charset="0"/>
                <a:cs typeface="Arial" panose="020B0604020202020204" pitchFamily="34" charset="0"/>
              </a:rPr>
              <a:t> (2000) </a:t>
            </a:r>
          </a:p>
          <a:p>
            <a:pPr lvl="1">
              <a:lnSpc>
                <a:spcPct val="140000"/>
              </a:lnSpc>
              <a:spcBef>
                <a:spcPts val="0"/>
              </a:spcBef>
            </a:pPr>
            <a:r>
              <a:rPr lang="en-US" sz="8000" dirty="0" err="1">
                <a:latin typeface="Arial" panose="020B0604020202020204" pitchFamily="34" charset="0"/>
                <a:cs typeface="Arial" panose="020B0604020202020204" pitchFamily="34" charset="0"/>
              </a:rPr>
              <a:t>Arora</a:t>
            </a:r>
            <a:r>
              <a:rPr lang="en-US" sz="8000" dirty="0">
                <a:latin typeface="Arial" panose="020B0604020202020204" pitchFamily="34" charset="0"/>
                <a:cs typeface="Arial" panose="020B0604020202020204" pitchFamily="34" charset="0"/>
              </a:rPr>
              <a:t> (2004) </a:t>
            </a:r>
          </a:p>
          <a:p>
            <a:pPr>
              <a:lnSpc>
                <a:spcPct val="140000"/>
              </a:lnSpc>
              <a:spcBef>
                <a:spcPts val="0"/>
              </a:spcBef>
            </a:pPr>
            <a:r>
              <a:rPr lang="en-US" sz="9600" dirty="0">
                <a:latin typeface="Arial" panose="020B0604020202020204" pitchFamily="34" charset="0"/>
                <a:cs typeface="Arial" panose="020B0604020202020204" pitchFamily="34" charset="0"/>
              </a:rPr>
              <a:t>Precision Agriculture</a:t>
            </a:r>
          </a:p>
          <a:p>
            <a:pPr lvl="1">
              <a:lnSpc>
                <a:spcPct val="140000"/>
              </a:lnSpc>
              <a:spcBef>
                <a:spcPts val="0"/>
              </a:spcBef>
            </a:pPr>
            <a:r>
              <a:rPr lang="en-US" sz="8000" dirty="0">
                <a:latin typeface="Arial" panose="020B0604020202020204" pitchFamily="34" charset="0"/>
                <a:cs typeface="Arial" panose="020B0604020202020204" pitchFamily="34" charset="0"/>
              </a:rPr>
              <a:t>Wine </a:t>
            </a:r>
            <a:r>
              <a:rPr lang="en-US" sz="8000" dirty="0" err="1">
                <a:latin typeface="Arial" panose="020B0604020202020204" pitchFamily="34" charset="0"/>
                <a:cs typeface="Arial" panose="020B0604020202020204" pitchFamily="34" charset="0"/>
              </a:rPr>
              <a:t>Vinyard</a:t>
            </a:r>
            <a:r>
              <a:rPr lang="en-US" sz="8000" dirty="0">
                <a:latin typeface="Arial" panose="020B0604020202020204" pitchFamily="34" charset="0"/>
                <a:cs typeface="Arial" panose="020B0604020202020204" pitchFamily="34" charset="0"/>
              </a:rPr>
              <a:t> (2004) </a:t>
            </a:r>
          </a:p>
          <a:p>
            <a:pPr lvl="1">
              <a:lnSpc>
                <a:spcPct val="140000"/>
              </a:lnSpc>
              <a:spcBef>
                <a:spcPts val="0"/>
              </a:spcBef>
            </a:pPr>
            <a:r>
              <a:rPr lang="en-US" sz="8000" dirty="0" err="1">
                <a:latin typeface="Arial" panose="020B0604020202020204" pitchFamily="34" charset="0"/>
                <a:cs typeface="Arial" panose="020B0604020202020204" pitchFamily="34" charset="0"/>
              </a:rPr>
              <a:t>Lofar</a:t>
            </a:r>
            <a:r>
              <a:rPr lang="en-US" sz="8000" dirty="0">
                <a:latin typeface="Arial" panose="020B0604020202020204" pitchFamily="34" charset="0"/>
                <a:cs typeface="Arial" panose="020B0604020202020204" pitchFamily="34" charset="0"/>
              </a:rPr>
              <a:t> Agro (2005) </a:t>
            </a:r>
          </a:p>
          <a:p>
            <a:pPr marL="228600" lvl="1">
              <a:lnSpc>
                <a:spcPct val="140000"/>
              </a:lnSpc>
              <a:spcBef>
                <a:spcPts val="0"/>
              </a:spcBef>
              <a:buClr>
                <a:schemeClr val="accent1"/>
              </a:buClr>
            </a:pPr>
            <a:r>
              <a:rPr lang="en-US" sz="9600" b="1" dirty="0">
                <a:latin typeface="Arial" panose="020B0604020202020204" pitchFamily="34" charset="0"/>
                <a:cs typeface="Arial" panose="020B0604020202020204" pitchFamily="34" charset="0"/>
              </a:rPr>
              <a:t>Active Volcano</a:t>
            </a:r>
          </a:p>
          <a:p>
            <a:pPr lvl="1">
              <a:lnSpc>
                <a:spcPct val="140000"/>
              </a:lnSpc>
              <a:spcBef>
                <a:spcPts val="0"/>
              </a:spcBef>
            </a:pPr>
            <a:r>
              <a:rPr lang="en-US" sz="8000" b="1" dirty="0" err="1">
                <a:latin typeface="Arial" panose="020B0604020202020204" pitchFamily="34" charset="0"/>
                <a:cs typeface="Arial" panose="020B0604020202020204" pitchFamily="34" charset="0"/>
              </a:rPr>
              <a:t>Volcán</a:t>
            </a:r>
            <a:r>
              <a:rPr lang="en-US" sz="8000" b="1" dirty="0">
                <a:latin typeface="Arial" panose="020B0604020202020204" pitchFamily="34" charset="0"/>
                <a:cs typeface="Arial" panose="020B0604020202020204" pitchFamily="34" charset="0"/>
              </a:rPr>
              <a:t> Tungurahua </a:t>
            </a:r>
          </a:p>
        </p:txBody>
      </p:sp>
    </p:spTree>
    <p:extLst>
      <p:ext uri="{BB962C8B-B14F-4D97-AF65-F5344CB8AC3E}">
        <p14:creationId xmlns:p14="http://schemas.microsoft.com/office/powerpoint/2010/main" val="28105318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Active Volcano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5"/>
            <a:ext cx="11353800" cy="4351338"/>
          </a:xfrm>
        </p:spPr>
        <p:txBody>
          <a:bodyPr>
            <a:normAutofit fontScale="85000" lnSpcReduction="10000"/>
          </a:bodyPr>
          <a:lstStyle/>
          <a:p>
            <a:pPr>
              <a:lnSpc>
                <a:spcPct val="130000"/>
              </a:lnSpc>
            </a:pPr>
            <a:r>
              <a:rPr lang="en-US" dirty="0">
                <a:latin typeface="Arial" panose="020B0604020202020204" pitchFamily="34" charset="0"/>
                <a:cs typeface="Arial" panose="020B0604020202020204" pitchFamily="34" charset="0"/>
              </a:rPr>
              <a:t>Volcanoes occur when broken slabs of the Earth’s outermost shell -- collide </a:t>
            </a:r>
          </a:p>
          <a:p>
            <a:pPr lvl="1">
              <a:lnSpc>
                <a:spcPct val="130000"/>
              </a:lnSpc>
            </a:pPr>
            <a:r>
              <a:rPr lang="en-US" dirty="0">
                <a:latin typeface="Arial" panose="020B0604020202020204" pitchFamily="34" charset="0"/>
                <a:cs typeface="Arial" panose="020B0604020202020204" pitchFamily="34" charset="0"/>
              </a:rPr>
              <a:t>Float on the hotter and softer layer in the Earth’s mantle </a:t>
            </a:r>
          </a:p>
          <a:p>
            <a:pPr>
              <a:lnSpc>
                <a:spcPct val="130000"/>
              </a:lnSpc>
            </a:pPr>
            <a:r>
              <a:rPr lang="en-US" dirty="0">
                <a:latin typeface="Arial" panose="020B0604020202020204" pitchFamily="34" charset="0"/>
                <a:cs typeface="Arial" panose="020B0604020202020204" pitchFamily="34" charset="0"/>
              </a:rPr>
              <a:t>Motivation: </a:t>
            </a:r>
          </a:p>
          <a:p>
            <a:pPr lvl="1">
              <a:lnSpc>
                <a:spcPct val="130000"/>
              </a:lnSpc>
            </a:pPr>
            <a:r>
              <a:rPr lang="en-US" dirty="0">
                <a:latin typeface="Arial" panose="020B0604020202020204" pitchFamily="34" charset="0"/>
                <a:cs typeface="Arial" panose="020B0604020202020204" pitchFamily="34" charset="0"/>
              </a:rPr>
              <a:t>The Earth’s volcanoes are </a:t>
            </a:r>
            <a:r>
              <a:rPr lang="en-US" i="1" dirty="0">
                <a:solidFill>
                  <a:srgbClr val="FF0000"/>
                </a:solidFill>
                <a:latin typeface="Arial" panose="020B0604020202020204" pitchFamily="34" charset="0"/>
                <a:cs typeface="Arial" panose="020B0604020202020204" pitchFamily="34" charset="0"/>
              </a:rPr>
              <a:t>hidden from view </a:t>
            </a:r>
            <a:endParaRPr lang="en-US" dirty="0">
              <a:solidFill>
                <a:srgbClr val="FF0000"/>
              </a:solidFill>
              <a:latin typeface="Arial" panose="020B0604020202020204" pitchFamily="34" charset="0"/>
              <a:cs typeface="Arial" panose="020B0604020202020204" pitchFamily="34" charset="0"/>
            </a:endParaRPr>
          </a:p>
          <a:p>
            <a:pPr lvl="1">
              <a:lnSpc>
                <a:spcPct val="130000"/>
              </a:lnSpc>
            </a:pPr>
            <a:r>
              <a:rPr lang="en-US" dirty="0">
                <a:latin typeface="Arial" panose="020B0604020202020204" pitchFamily="34" charset="0"/>
                <a:cs typeface="Arial" panose="020B0604020202020204" pitchFamily="34" charset="0"/>
              </a:rPr>
              <a:t>Occurring on the ocean floor along spreading ridges </a:t>
            </a:r>
          </a:p>
          <a:p>
            <a:pPr lvl="1">
              <a:lnSpc>
                <a:spcPct val="130000"/>
              </a:lnSpc>
            </a:pPr>
            <a:r>
              <a:rPr lang="en-US" dirty="0">
                <a:latin typeface="Arial" panose="020B0604020202020204" pitchFamily="34" charset="0"/>
                <a:cs typeface="Arial" panose="020B0604020202020204" pitchFamily="34" charset="0"/>
              </a:rPr>
              <a:t>At present, typical active volcanoes are monitored by </a:t>
            </a:r>
            <a:r>
              <a:rPr lang="en-US" i="1" dirty="0">
                <a:solidFill>
                  <a:srgbClr val="FF0000"/>
                </a:solidFill>
                <a:latin typeface="Arial" panose="020B0604020202020204" pitchFamily="34" charset="0"/>
                <a:cs typeface="Arial" panose="020B0604020202020204" pitchFamily="34" charset="0"/>
              </a:rPr>
              <a:t>expensive devices </a:t>
            </a:r>
            <a:r>
              <a:rPr lang="en-US" dirty="0">
                <a:latin typeface="Arial" panose="020B0604020202020204" pitchFamily="34" charset="0"/>
                <a:cs typeface="Arial" panose="020B0604020202020204" pitchFamily="34" charset="0"/>
              </a:rPr>
              <a:t>that are </a:t>
            </a:r>
            <a:r>
              <a:rPr lang="en-US" i="1" dirty="0">
                <a:solidFill>
                  <a:srgbClr val="FF0000"/>
                </a:solidFill>
                <a:latin typeface="Arial" panose="020B0604020202020204" pitchFamily="34" charset="0"/>
                <a:cs typeface="Arial" panose="020B0604020202020204" pitchFamily="34" charset="0"/>
              </a:rPr>
              <a:t>difficult to move </a:t>
            </a:r>
            <a:r>
              <a:rPr lang="en-US" dirty="0">
                <a:latin typeface="Arial" panose="020B0604020202020204" pitchFamily="34" charset="0"/>
                <a:cs typeface="Arial" panose="020B0604020202020204" pitchFamily="34" charset="0"/>
              </a:rPr>
              <a:t>or </a:t>
            </a:r>
            <a:r>
              <a:rPr lang="en-US" i="1" dirty="0">
                <a:solidFill>
                  <a:srgbClr val="FF0000"/>
                </a:solidFill>
                <a:latin typeface="Arial" panose="020B0604020202020204" pitchFamily="34" charset="0"/>
                <a:cs typeface="Arial" panose="020B0604020202020204" pitchFamily="34" charset="0"/>
              </a:rPr>
              <a:t>require external supply voltage </a:t>
            </a:r>
            <a:endParaRPr lang="en-US" dirty="0">
              <a:solidFill>
                <a:srgbClr val="FF0000"/>
              </a:solidFill>
              <a:latin typeface="Arial" panose="020B0604020202020204" pitchFamily="34" charset="0"/>
              <a:cs typeface="Arial" panose="020B0604020202020204" pitchFamily="34" charset="0"/>
            </a:endParaRPr>
          </a:p>
          <a:p>
            <a:pPr lvl="1">
              <a:lnSpc>
                <a:spcPct val="130000"/>
              </a:lnSpc>
            </a:pPr>
            <a:r>
              <a:rPr lang="en-US" dirty="0">
                <a:latin typeface="Arial" panose="020B0604020202020204" pitchFamily="34" charset="0"/>
                <a:cs typeface="Arial" panose="020B0604020202020204" pitchFamily="34" charset="0"/>
              </a:rPr>
              <a:t>The deployment and maintenance of these devices </a:t>
            </a:r>
            <a:r>
              <a:rPr lang="en-US" i="1" dirty="0">
                <a:solidFill>
                  <a:srgbClr val="FF0000"/>
                </a:solidFill>
                <a:latin typeface="Arial" panose="020B0604020202020204" pitchFamily="34" charset="0"/>
                <a:cs typeface="Arial" panose="020B0604020202020204" pitchFamily="34" charset="0"/>
              </a:rPr>
              <a:t>require vehicle</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or </a:t>
            </a:r>
            <a:r>
              <a:rPr lang="en-US" i="1" dirty="0">
                <a:solidFill>
                  <a:srgbClr val="FF0000"/>
                </a:solidFill>
                <a:latin typeface="Arial" panose="020B0604020202020204" pitchFamily="34" charset="0"/>
                <a:cs typeface="Arial" panose="020B0604020202020204" pitchFamily="34" charset="0"/>
              </a:rPr>
              <a:t>helicopter assistance </a:t>
            </a:r>
            <a:endParaRPr lang="en-US" dirty="0">
              <a:solidFill>
                <a:srgbClr val="FF0000"/>
              </a:solidFill>
              <a:latin typeface="Arial" panose="020B0604020202020204" pitchFamily="34" charset="0"/>
              <a:cs typeface="Arial" panose="020B0604020202020204" pitchFamily="34" charset="0"/>
            </a:endParaRPr>
          </a:p>
          <a:p>
            <a:pPr lvl="1">
              <a:lnSpc>
                <a:spcPct val="130000"/>
              </a:lnSpc>
            </a:pPr>
            <a:r>
              <a:rPr lang="en-US" i="1" dirty="0">
                <a:solidFill>
                  <a:srgbClr val="FF0000"/>
                </a:solidFill>
                <a:latin typeface="Arial" panose="020B0604020202020204" pitchFamily="34" charset="0"/>
                <a:cs typeface="Arial" panose="020B0604020202020204" pitchFamily="34" charset="0"/>
              </a:rPr>
              <a:t>Data</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storage must </a:t>
            </a:r>
            <a:r>
              <a:rPr lang="en-US" i="1" dirty="0">
                <a:solidFill>
                  <a:srgbClr val="FF0000"/>
                </a:solidFill>
                <a:latin typeface="Arial" panose="020B0604020202020204" pitchFamily="34" charset="0"/>
                <a:cs typeface="Arial" panose="020B0604020202020204" pitchFamily="34" charset="0"/>
              </a:rPr>
              <a:t>be retrieved </a:t>
            </a:r>
            <a:r>
              <a:rPr lang="en-US" dirty="0">
                <a:latin typeface="Arial" panose="020B0604020202020204" pitchFamily="34" charset="0"/>
                <a:cs typeface="Arial" panose="020B0604020202020204" pitchFamily="34" charset="0"/>
              </a:rPr>
              <a:t>on a periodic basis </a:t>
            </a:r>
          </a:p>
          <a:p>
            <a:pPr>
              <a:lnSpc>
                <a:spcPct val="13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97104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panose="020B0604020202020204" pitchFamily="34" charset="0"/>
                <a:cs typeface="Arial" panose="020B0604020202020204" pitchFamily="34" charset="0"/>
              </a:rPr>
              <a:t>Active Volcano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825625"/>
            <a:ext cx="11244309" cy="4351338"/>
          </a:xfrm>
        </p:spPr>
        <p:txBody>
          <a:bodyPr>
            <a:normAutofit/>
          </a:bodyPr>
          <a:lstStyle/>
          <a:p>
            <a:pPr>
              <a:lnSpc>
                <a:spcPct val="130000"/>
              </a:lnSpc>
            </a:pPr>
            <a:r>
              <a:rPr lang="en-US" sz="2400" dirty="0">
                <a:latin typeface="Arial" panose="020B0604020202020204" pitchFamily="34" charset="0"/>
                <a:cs typeface="Arial" panose="020B0604020202020204" pitchFamily="34" charset="0"/>
              </a:rPr>
              <a:t>WSN </a:t>
            </a:r>
            <a:r>
              <a:rPr lang="en-US" sz="2400" i="1" dirty="0">
                <a:solidFill>
                  <a:srgbClr val="FF0000"/>
                </a:solidFill>
                <a:latin typeface="Arial" panose="020B0604020202020204" pitchFamily="34" charset="0"/>
                <a:cs typeface="Arial" panose="020B0604020202020204" pitchFamily="34" charset="0"/>
              </a:rPr>
              <a:t>can be very useful </a:t>
            </a:r>
            <a:r>
              <a:rPr lang="en-US" sz="2400" dirty="0">
                <a:latin typeface="Arial" panose="020B0604020202020204" pitchFamily="34" charset="0"/>
                <a:cs typeface="Arial" panose="020B0604020202020204" pitchFamily="34" charset="0"/>
              </a:rPr>
              <a:t>for active volcano monitoring</a:t>
            </a:r>
          </a:p>
          <a:p>
            <a:pPr lvl="1">
              <a:lnSpc>
                <a:spcPct val="130000"/>
              </a:lnSpc>
            </a:pPr>
            <a:r>
              <a:rPr lang="en-US" sz="2000" i="1" dirty="0">
                <a:solidFill>
                  <a:srgbClr val="FF0000"/>
                </a:solidFill>
                <a:latin typeface="Arial" panose="020B0604020202020204" pitchFamily="34" charset="0"/>
                <a:cs typeface="Arial" panose="020B0604020202020204" pitchFamily="34" charset="0"/>
              </a:rPr>
              <a:t>A large number </a:t>
            </a:r>
            <a:r>
              <a:rPr lang="en-US" sz="2000" dirty="0">
                <a:latin typeface="Arial" panose="020B0604020202020204" pitchFamily="34" charset="0"/>
                <a:cs typeface="Arial" panose="020B0604020202020204" pitchFamily="34" charset="0"/>
              </a:rPr>
              <a:t>of </a:t>
            </a:r>
            <a:r>
              <a:rPr lang="en-US" sz="2000" i="1" dirty="0">
                <a:solidFill>
                  <a:srgbClr val="FF0000"/>
                </a:solidFill>
                <a:latin typeface="Arial" panose="020B0604020202020204" pitchFamily="34" charset="0"/>
                <a:cs typeface="Arial" panose="020B0604020202020204" pitchFamily="34" charset="0"/>
              </a:rPr>
              <a:t>small</a:t>
            </a:r>
            <a:r>
              <a:rPr lang="en-US" sz="2000" dirty="0">
                <a:latin typeface="Arial" panose="020B0604020202020204" pitchFamily="34" charset="0"/>
                <a:cs typeface="Arial" panose="020B0604020202020204" pitchFamily="34" charset="0"/>
              </a:rPr>
              <a:t>, </a:t>
            </a:r>
            <a:r>
              <a:rPr lang="en-US" sz="2000" i="1" dirty="0">
                <a:solidFill>
                  <a:srgbClr val="FF0000"/>
                </a:solidFill>
                <a:latin typeface="Arial" panose="020B0604020202020204" pitchFamily="34" charset="0"/>
                <a:cs typeface="Arial" panose="020B0604020202020204" pitchFamily="34" charset="0"/>
              </a:rPr>
              <a:t>cheap</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and </a:t>
            </a:r>
            <a:r>
              <a:rPr lang="en-US" sz="2000" i="1" dirty="0">
                <a:solidFill>
                  <a:srgbClr val="FF0000"/>
                </a:solidFill>
                <a:latin typeface="Arial" panose="020B0604020202020204" pitchFamily="34" charset="0"/>
                <a:cs typeface="Arial" panose="020B0604020202020204" pitchFamily="34" charset="0"/>
              </a:rPr>
              <a:t>self-organizing</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nodes</a:t>
            </a:r>
          </a:p>
          <a:p>
            <a:pPr lvl="1">
              <a:lnSpc>
                <a:spcPct val="130000"/>
              </a:lnSpc>
            </a:pPr>
            <a:r>
              <a:rPr lang="en-US" sz="2000" dirty="0">
                <a:latin typeface="Arial" panose="020B0604020202020204" pitchFamily="34" charset="0"/>
                <a:cs typeface="Arial" panose="020B0604020202020204" pitchFamily="34" charset="0"/>
              </a:rPr>
              <a:t>They can be deployed to </a:t>
            </a:r>
            <a:r>
              <a:rPr lang="en-US" sz="2000" i="1" dirty="0">
                <a:solidFill>
                  <a:srgbClr val="FF0000"/>
                </a:solidFill>
                <a:latin typeface="Arial" panose="020B0604020202020204" pitchFamily="34" charset="0"/>
                <a:cs typeface="Arial" panose="020B0604020202020204" pitchFamily="34" charset="0"/>
              </a:rPr>
              <a:t>cover a vast field</a:t>
            </a:r>
            <a:endParaRPr lang="en-US" sz="2000" i="1" dirty="0">
              <a:latin typeface="Arial" panose="020B0604020202020204" pitchFamily="34" charset="0"/>
              <a:cs typeface="Arial" panose="020B0604020202020204" pitchFamily="34" charset="0"/>
            </a:endParaRPr>
          </a:p>
          <a:p>
            <a:pPr>
              <a:lnSpc>
                <a:spcPct val="130000"/>
              </a:lnSpc>
            </a:pPr>
            <a:r>
              <a:rPr lang="en-US" sz="2400" dirty="0">
                <a:latin typeface="Arial" panose="020B0604020202020204" pitchFamily="34" charset="0"/>
                <a:cs typeface="Arial" panose="020B0604020202020204" pitchFamily="34" charset="0"/>
              </a:rPr>
              <a:t>Advantage of WSN in active volcano monitoring </a:t>
            </a:r>
          </a:p>
          <a:p>
            <a:pPr lvl="1">
              <a:lnSpc>
                <a:spcPct val="130000"/>
              </a:lnSpc>
            </a:pPr>
            <a:r>
              <a:rPr lang="en-US" sz="2000" i="1" dirty="0">
                <a:solidFill>
                  <a:srgbClr val="FF0000"/>
                </a:solidFill>
                <a:latin typeface="Arial" panose="020B0604020202020204" pitchFamily="34" charset="0"/>
                <a:cs typeface="Arial" panose="020B0604020202020204" pitchFamily="34" charset="0"/>
              </a:rPr>
              <a:t>Fast</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and </a:t>
            </a:r>
            <a:r>
              <a:rPr lang="en-US" sz="2000" i="1" dirty="0">
                <a:solidFill>
                  <a:srgbClr val="FF0000"/>
                </a:solidFill>
                <a:latin typeface="Arial" panose="020B0604020202020204" pitchFamily="34" charset="0"/>
                <a:cs typeface="Arial" panose="020B0604020202020204" pitchFamily="34" charset="0"/>
              </a:rPr>
              <a:t>economical</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deployment</a:t>
            </a:r>
          </a:p>
          <a:p>
            <a:pPr lvl="1">
              <a:lnSpc>
                <a:spcPct val="130000"/>
              </a:lnSpc>
            </a:pPr>
            <a:r>
              <a:rPr lang="en-US" sz="2000" dirty="0">
                <a:latin typeface="Arial" panose="020B0604020202020204" pitchFamily="34" charset="0"/>
                <a:cs typeface="Arial" panose="020B0604020202020204" pitchFamily="34" charset="0"/>
              </a:rPr>
              <a:t>Possible to achieve </a:t>
            </a:r>
            <a:r>
              <a:rPr lang="en-US" sz="2000" i="1" dirty="0">
                <a:solidFill>
                  <a:srgbClr val="FF0000"/>
                </a:solidFill>
                <a:latin typeface="Arial" panose="020B0604020202020204" pitchFamily="34" charset="0"/>
                <a:cs typeface="Arial" panose="020B0604020202020204" pitchFamily="34" charset="0"/>
              </a:rPr>
              <a:t>high spatial diversity </a:t>
            </a:r>
            <a:endParaRPr lang="en-US" sz="2000" dirty="0">
              <a:solidFill>
                <a:srgbClr val="FF0000"/>
              </a:solidFill>
              <a:latin typeface="Arial" panose="020B0604020202020204" pitchFamily="34" charset="0"/>
              <a:cs typeface="Arial" panose="020B0604020202020204" pitchFamily="34" charset="0"/>
            </a:endParaRPr>
          </a:p>
          <a:p>
            <a:pPr lvl="1">
              <a:lnSpc>
                <a:spcPct val="130000"/>
              </a:lnSpc>
            </a:pPr>
            <a:r>
              <a:rPr lang="en-US" sz="2000" dirty="0">
                <a:latin typeface="Arial" panose="020B0604020202020204" pitchFamily="34" charset="0"/>
                <a:cs typeface="Arial" panose="020B0604020202020204" pitchFamily="34" charset="0"/>
              </a:rPr>
              <a:t>The networks can operate </a:t>
            </a:r>
            <a:r>
              <a:rPr lang="en-US" sz="2000" i="1" dirty="0">
                <a:solidFill>
                  <a:srgbClr val="FF0000"/>
                </a:solidFill>
                <a:latin typeface="Arial" panose="020B0604020202020204" pitchFamily="34" charset="0"/>
                <a:cs typeface="Arial" panose="020B0604020202020204" pitchFamily="34" charset="0"/>
              </a:rPr>
              <a:t>without</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requiring stringent </a:t>
            </a:r>
            <a:r>
              <a:rPr lang="en-US" sz="2000" i="1" dirty="0">
                <a:solidFill>
                  <a:srgbClr val="FF0000"/>
                </a:solidFill>
                <a:latin typeface="Arial" panose="020B0604020202020204" pitchFamily="34" charset="0"/>
                <a:cs typeface="Arial" panose="020B0604020202020204" pitchFamily="34" charset="0"/>
              </a:rPr>
              <a:t>maintenance routines </a:t>
            </a:r>
            <a:endParaRPr lang="en-US" sz="2000" dirty="0">
              <a:solidFill>
                <a:srgbClr val="FF0000"/>
              </a:solidFill>
              <a:latin typeface="Arial" panose="020B0604020202020204" pitchFamily="34" charset="0"/>
              <a:cs typeface="Arial" panose="020B0604020202020204" pitchFamily="34" charset="0"/>
            </a:endParaRPr>
          </a:p>
          <a:p>
            <a:pPr>
              <a:lnSpc>
                <a:spcPct val="130000"/>
              </a:lnSpc>
            </a:pPr>
            <a:endParaRPr lang="en-US" dirty="0">
              <a:latin typeface="Arial" panose="020B0604020202020204" pitchFamily="34" charset="0"/>
              <a:cs typeface="Arial" panose="020B0604020202020204" pitchFamily="34" charset="0"/>
            </a:endParaRPr>
          </a:p>
          <a:p>
            <a:pPr marL="457200" lvl="1" indent="0">
              <a:lnSpc>
                <a:spcPct val="130000"/>
              </a:lnSpc>
              <a:buNone/>
            </a:pPr>
            <a:endParaRPr lang="en-US" dirty="0">
              <a:latin typeface="Arial" panose="020B0604020202020204" pitchFamily="34" charset="0"/>
              <a:cs typeface="Arial" panose="020B0604020202020204" pitchFamily="34" charset="0"/>
            </a:endParaRPr>
          </a:p>
          <a:p>
            <a:pPr>
              <a:lnSpc>
                <a:spcPct val="13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65647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latin typeface="Arial" panose="020B0604020202020204" pitchFamily="34" charset="0"/>
                <a:cs typeface="Arial" panose="020B0604020202020204" pitchFamily="34" charset="0"/>
              </a:rPr>
              <a:t>Volcán</a:t>
            </a:r>
            <a:r>
              <a:rPr lang="en-US" b="1" dirty="0">
                <a:latin typeface="Arial" panose="020B0604020202020204" pitchFamily="34" charset="0"/>
                <a:cs typeface="Arial" panose="020B0604020202020204" pitchFamily="34" charset="0"/>
              </a:rPr>
              <a:t> Tungurahua</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lnSpc>
                <a:spcPct val="120000"/>
              </a:lnSpc>
            </a:pPr>
            <a:r>
              <a:rPr lang="en-US" sz="2400" dirty="0" err="1">
                <a:latin typeface="Arial" panose="020B0604020202020204" pitchFamily="34" charset="0"/>
                <a:cs typeface="Arial" panose="020B0604020202020204" pitchFamily="34" charset="0"/>
              </a:rPr>
              <a:t>Volcán</a:t>
            </a:r>
            <a:r>
              <a:rPr lang="en-US" sz="2400" dirty="0">
                <a:latin typeface="Arial" panose="020B0604020202020204" pitchFamily="34" charset="0"/>
                <a:cs typeface="Arial" panose="020B0604020202020204" pitchFamily="34" charset="0"/>
              </a:rPr>
              <a:t> Tungurahua in central Ecuador(2004) </a:t>
            </a:r>
          </a:p>
          <a:p>
            <a:pPr lvl="1">
              <a:lnSpc>
                <a:spcPct val="120000"/>
              </a:lnSpc>
            </a:pPr>
            <a:r>
              <a:rPr lang="en-US" dirty="0">
                <a:latin typeface="Arial" panose="020B0604020202020204" pitchFamily="34" charset="0"/>
                <a:cs typeface="Arial" panose="020B0604020202020204" pitchFamily="34" charset="0"/>
              </a:rPr>
              <a:t>3 sensor nodes</a:t>
            </a:r>
          </a:p>
          <a:p>
            <a:pPr lvl="1">
              <a:lnSpc>
                <a:spcPct val="120000"/>
              </a:lnSpc>
            </a:pPr>
            <a:r>
              <a:rPr lang="en-US" dirty="0">
                <a:latin typeface="Arial" panose="020B0604020202020204" pitchFamily="34" charset="0"/>
                <a:cs typeface="Arial" panose="020B0604020202020204" pitchFamily="34" charset="0"/>
              </a:rPr>
              <a:t>Integrate microphones </a:t>
            </a:r>
          </a:p>
          <a:p>
            <a:pPr>
              <a:lnSpc>
                <a:spcPct val="120000"/>
              </a:lnSpc>
            </a:pPr>
            <a:r>
              <a:rPr lang="en-US" sz="2400" dirty="0" err="1">
                <a:latin typeface="Arial" panose="020B0604020202020204" pitchFamily="34" charset="0"/>
                <a:cs typeface="Arial" panose="020B0604020202020204" pitchFamily="34" charset="0"/>
              </a:rPr>
              <a:t>Volcán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Reventador</a:t>
            </a:r>
            <a:r>
              <a:rPr lang="en-US" sz="2400" dirty="0">
                <a:latin typeface="Arial" panose="020B0604020202020204" pitchFamily="34" charset="0"/>
                <a:cs typeface="Arial" panose="020B0604020202020204" pitchFamily="34" charset="0"/>
              </a:rPr>
              <a:t> in northern Ecuador(2005) </a:t>
            </a:r>
          </a:p>
          <a:p>
            <a:pPr lvl="1">
              <a:lnSpc>
                <a:spcPct val="120000"/>
              </a:lnSpc>
            </a:pPr>
            <a:r>
              <a:rPr lang="en-US" dirty="0">
                <a:latin typeface="Arial" panose="020B0604020202020204" pitchFamily="34" charset="0"/>
                <a:cs typeface="Arial" panose="020B0604020202020204" pitchFamily="34" charset="0"/>
              </a:rPr>
              <a:t>16 sensor nodes</a:t>
            </a:r>
          </a:p>
          <a:p>
            <a:pPr lvl="1">
              <a:lnSpc>
                <a:spcPct val="120000"/>
              </a:lnSpc>
            </a:pPr>
            <a:r>
              <a:rPr lang="en-US" dirty="0">
                <a:latin typeface="Arial" panose="020B0604020202020204" pitchFamily="34" charset="0"/>
                <a:cs typeface="Arial" panose="020B0604020202020204" pitchFamily="34" charset="0"/>
              </a:rPr>
              <a:t>Integrate seism acoustic sensors</a:t>
            </a:r>
          </a:p>
          <a:p>
            <a:pPr lvl="1">
              <a:lnSpc>
                <a:spcPct val="120000"/>
              </a:lnSpc>
            </a:pPr>
            <a:r>
              <a:rPr lang="en-US" dirty="0">
                <a:latin typeface="Arial" panose="020B0604020202020204" pitchFamily="34" charset="0"/>
                <a:cs typeface="Arial" panose="020B0604020202020204" pitchFamily="34" charset="0"/>
              </a:rPr>
              <a:t>Linear topology (3km) </a:t>
            </a:r>
          </a:p>
          <a:p>
            <a:pPr>
              <a:lnSpc>
                <a:spcPct val="12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20210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latin typeface="Arial" panose="020B0604020202020204" pitchFamily="34" charset="0"/>
                <a:cs typeface="Arial" panose="020B0604020202020204" pitchFamily="34" charset="0"/>
              </a:rPr>
              <a:t>Volcán</a:t>
            </a:r>
            <a:r>
              <a:rPr lang="en-US" b="1" dirty="0">
                <a:latin typeface="Arial" panose="020B0604020202020204" pitchFamily="34" charset="0"/>
                <a:cs typeface="Arial" panose="020B0604020202020204" pitchFamily="34" charset="0"/>
              </a:rPr>
              <a:t> Tungurahua</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lnSpc>
                <a:spcPct val="120000"/>
              </a:lnSpc>
            </a:pPr>
            <a:r>
              <a:rPr lang="en-US" sz="2400" dirty="0">
                <a:latin typeface="Arial" panose="020B0604020202020204" pitchFamily="34" charset="0"/>
                <a:cs typeface="Arial" panose="020B0604020202020204" pitchFamily="34" charset="0"/>
              </a:rPr>
              <a:t>An important task in active volcano monitoring is to capture </a:t>
            </a:r>
            <a:r>
              <a:rPr lang="en-US" sz="2400" i="1" dirty="0">
                <a:solidFill>
                  <a:srgbClr val="FF0000"/>
                </a:solidFill>
                <a:latin typeface="Arial" panose="020B0604020202020204" pitchFamily="34" charset="0"/>
                <a:cs typeface="Arial" panose="020B0604020202020204" pitchFamily="34" charset="0"/>
              </a:rPr>
              <a:t>discrete events </a:t>
            </a:r>
            <a:endParaRPr lang="en-US" sz="2400" dirty="0">
              <a:solidFill>
                <a:srgbClr val="FF0000"/>
              </a:solidFill>
              <a:latin typeface="Arial" panose="020B0604020202020204" pitchFamily="34" charset="0"/>
              <a:cs typeface="Arial" panose="020B0604020202020204" pitchFamily="34" charset="0"/>
            </a:endParaRPr>
          </a:p>
          <a:p>
            <a:pPr lvl="1">
              <a:lnSpc>
                <a:spcPct val="120000"/>
              </a:lnSpc>
            </a:pPr>
            <a:r>
              <a:rPr lang="en-US" sz="2000" dirty="0">
                <a:latin typeface="Arial" panose="020B0604020202020204" pitchFamily="34" charset="0"/>
                <a:cs typeface="Arial" panose="020B0604020202020204" pitchFamily="34" charset="0"/>
              </a:rPr>
              <a:t>Eruptions, earthquakes, or tremor activities</a:t>
            </a:r>
          </a:p>
          <a:p>
            <a:pPr lvl="1">
              <a:lnSpc>
                <a:spcPct val="120000"/>
              </a:lnSpc>
            </a:pPr>
            <a:r>
              <a:rPr lang="en-US" sz="2000" dirty="0">
                <a:latin typeface="Arial" panose="020B0604020202020204" pitchFamily="34" charset="0"/>
                <a:cs typeface="Arial" panose="020B0604020202020204" pitchFamily="34" charset="0"/>
              </a:rPr>
              <a:t>These events are transient</a:t>
            </a:r>
          </a:p>
          <a:p>
            <a:pPr lvl="1">
              <a:lnSpc>
                <a:spcPct val="120000"/>
              </a:lnSpc>
            </a:pPr>
            <a:r>
              <a:rPr lang="en-US" sz="2000" dirty="0">
                <a:latin typeface="Arial" panose="020B0604020202020204" pitchFamily="34" charset="0"/>
                <a:cs typeface="Arial" panose="020B0604020202020204" pitchFamily="34" charset="0"/>
              </a:rPr>
              <a:t>Having duration of less than 60 seconds</a:t>
            </a:r>
          </a:p>
          <a:p>
            <a:pPr lvl="1">
              <a:lnSpc>
                <a:spcPct val="120000"/>
              </a:lnSpc>
            </a:pPr>
            <a:r>
              <a:rPr lang="en-US" sz="2000" dirty="0">
                <a:latin typeface="Arial" panose="020B0604020202020204" pitchFamily="34" charset="0"/>
                <a:cs typeface="Arial" panose="020B0604020202020204" pitchFamily="34" charset="0"/>
              </a:rPr>
              <a:t>Occurring several times a day </a:t>
            </a:r>
          </a:p>
          <a:p>
            <a:pPr>
              <a:lnSpc>
                <a:spcPct val="120000"/>
              </a:lnSpc>
            </a:pPr>
            <a:r>
              <a:rPr lang="en-US" sz="2400" dirty="0">
                <a:latin typeface="Arial" panose="020B0604020202020204" pitchFamily="34" charset="0"/>
                <a:cs typeface="Arial" panose="020B0604020202020204" pitchFamily="34" charset="0"/>
              </a:rPr>
              <a:t>The researchers employed </a:t>
            </a:r>
            <a:r>
              <a:rPr lang="en-US" sz="2400" i="1" dirty="0">
                <a:solidFill>
                  <a:srgbClr val="FF0000"/>
                </a:solidFill>
                <a:latin typeface="Arial" panose="020B0604020202020204" pitchFamily="34" charset="0"/>
                <a:cs typeface="Arial" panose="020B0604020202020204" pitchFamily="34" charset="0"/>
              </a:rPr>
              <a:t>the raw data </a:t>
            </a:r>
            <a:r>
              <a:rPr lang="en-US" sz="2400" dirty="0">
                <a:latin typeface="Arial" panose="020B0604020202020204" pitchFamily="34" charset="0"/>
                <a:cs typeface="Arial" panose="020B0604020202020204" pitchFamily="34" charset="0"/>
              </a:rPr>
              <a:t>to investigate volcanic activities </a:t>
            </a:r>
          </a:p>
          <a:p>
            <a:pPr lvl="1">
              <a:lnSpc>
                <a:spcPct val="120000"/>
              </a:lnSpc>
            </a:pPr>
            <a:r>
              <a:rPr lang="en-US" sz="2000" dirty="0">
                <a:latin typeface="Arial" panose="020B0604020202020204" pitchFamily="34" charset="0"/>
                <a:cs typeface="Arial" panose="020B0604020202020204" pitchFamily="34" charset="0"/>
              </a:rPr>
              <a:t>The samples must be </a:t>
            </a:r>
            <a:r>
              <a:rPr lang="en-US" sz="2000" i="1" dirty="0">
                <a:solidFill>
                  <a:srgbClr val="FF0000"/>
                </a:solidFill>
                <a:latin typeface="Arial" panose="020B0604020202020204" pitchFamily="34" charset="0"/>
                <a:cs typeface="Arial" panose="020B0604020202020204" pitchFamily="34" charset="0"/>
              </a:rPr>
              <a:t>accurately time stamped </a:t>
            </a:r>
            <a:r>
              <a:rPr lang="en-US" sz="2000" dirty="0">
                <a:latin typeface="Arial" panose="020B0604020202020204" pitchFamily="34" charset="0"/>
                <a:cs typeface="Arial" panose="020B0604020202020204" pitchFamily="34" charset="0"/>
              </a:rPr>
              <a:t>to allow comparisons between correlated measurements </a:t>
            </a:r>
          </a:p>
          <a:p>
            <a:pPr>
              <a:lnSpc>
                <a:spcPct val="12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63445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latin typeface="Arial" panose="020B0604020202020204" pitchFamily="34" charset="0"/>
                <a:cs typeface="Arial" panose="020B0604020202020204" pitchFamily="34" charset="0"/>
              </a:rPr>
              <a:t>Volcán</a:t>
            </a:r>
            <a:r>
              <a:rPr lang="en-US" b="1" dirty="0">
                <a:latin typeface="Arial" panose="020B0604020202020204" pitchFamily="34" charset="0"/>
                <a:cs typeface="Arial" panose="020B0604020202020204" pitchFamily="34" charset="0"/>
              </a:rPr>
              <a:t> Tungurahua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825624"/>
            <a:ext cx="11270942" cy="5032375"/>
          </a:xfrm>
        </p:spPr>
        <p:txBody>
          <a:bodyPr>
            <a:normAutofit fontScale="92500" lnSpcReduction="20000"/>
          </a:bodyPr>
          <a:lstStyle/>
          <a:p>
            <a:pPr>
              <a:lnSpc>
                <a:spcPct val="130000"/>
              </a:lnSpc>
            </a:pPr>
            <a:r>
              <a:rPr lang="en-US" sz="2600" dirty="0">
                <a:latin typeface="Arial" panose="020B0604020202020204" pitchFamily="34" charset="0"/>
                <a:cs typeface="Arial" panose="020B0604020202020204" pitchFamily="34" charset="0"/>
              </a:rPr>
              <a:t>The sensor architecture consisted of</a:t>
            </a:r>
          </a:p>
          <a:p>
            <a:pPr lvl="1">
              <a:lnSpc>
                <a:spcPct val="130000"/>
              </a:lnSpc>
            </a:pPr>
            <a:r>
              <a:rPr lang="en-US" sz="2600" dirty="0">
                <a:latin typeface="Arial" panose="020B0604020202020204" pitchFamily="34" charset="0"/>
                <a:cs typeface="Arial" panose="020B0604020202020204" pitchFamily="34" charset="0"/>
              </a:rPr>
              <a:t>An 8dBi 2.4GHz external omnidirectional antenna</a:t>
            </a:r>
          </a:p>
          <a:p>
            <a:pPr lvl="1">
              <a:lnSpc>
                <a:spcPct val="130000"/>
              </a:lnSpc>
            </a:pPr>
            <a:r>
              <a:rPr lang="en-US" sz="2600" dirty="0">
                <a:latin typeface="Arial" panose="020B0604020202020204" pitchFamily="34" charset="0"/>
                <a:cs typeface="Arial" panose="020B0604020202020204" pitchFamily="34" charset="0"/>
              </a:rPr>
              <a:t>A seismometer</a:t>
            </a:r>
          </a:p>
          <a:p>
            <a:pPr lvl="1">
              <a:lnSpc>
                <a:spcPct val="130000"/>
              </a:lnSpc>
            </a:pPr>
            <a:r>
              <a:rPr lang="en-US" sz="2600" dirty="0">
                <a:latin typeface="Arial" panose="020B0604020202020204" pitchFamily="34" charset="0"/>
                <a:cs typeface="Arial" panose="020B0604020202020204" pitchFamily="34" charset="0"/>
              </a:rPr>
              <a:t>A microphone</a:t>
            </a:r>
          </a:p>
          <a:p>
            <a:pPr lvl="1">
              <a:lnSpc>
                <a:spcPct val="130000"/>
              </a:lnSpc>
            </a:pPr>
            <a:r>
              <a:rPr lang="en-US" sz="2600" dirty="0">
                <a:latin typeface="Arial" panose="020B0604020202020204" pitchFamily="34" charset="0"/>
                <a:cs typeface="Arial" panose="020B0604020202020204" pitchFamily="34" charset="0"/>
              </a:rPr>
              <a:t>A custom hardware interface board </a:t>
            </a:r>
          </a:p>
          <a:p>
            <a:pPr>
              <a:lnSpc>
                <a:spcPct val="130000"/>
              </a:lnSpc>
            </a:pPr>
            <a:r>
              <a:rPr lang="en-US" sz="2600" dirty="0">
                <a:latin typeface="Arial" panose="020B0604020202020204" pitchFamily="34" charset="0"/>
                <a:cs typeface="Arial" panose="020B0604020202020204" pitchFamily="34" charset="0"/>
              </a:rPr>
              <a:t>Operating environment ---- </a:t>
            </a:r>
            <a:r>
              <a:rPr lang="en-US" sz="2600" dirty="0" err="1">
                <a:latin typeface="Arial" panose="020B0604020202020204" pitchFamily="34" charset="0"/>
                <a:cs typeface="Arial" panose="020B0604020202020204" pitchFamily="34" charset="0"/>
              </a:rPr>
              <a:t>TinyOS</a:t>
            </a:r>
            <a:endParaRPr lang="en-US" sz="2600" dirty="0">
              <a:latin typeface="Arial" panose="020B0604020202020204" pitchFamily="34" charset="0"/>
              <a:cs typeface="Arial" panose="020B0604020202020204" pitchFamily="34" charset="0"/>
            </a:endParaRPr>
          </a:p>
          <a:p>
            <a:pPr>
              <a:lnSpc>
                <a:spcPct val="130000"/>
              </a:lnSpc>
            </a:pPr>
            <a:r>
              <a:rPr lang="en-US" sz="2600" dirty="0">
                <a:latin typeface="Arial" panose="020B0604020202020204" pitchFamily="34" charset="0"/>
                <a:cs typeface="Arial" panose="020B0604020202020204" pitchFamily="34" charset="0"/>
              </a:rPr>
              <a:t>The flash memory ---- for buffering raw data</a:t>
            </a:r>
          </a:p>
          <a:p>
            <a:pPr>
              <a:lnSpc>
                <a:spcPct val="130000"/>
              </a:lnSpc>
            </a:pPr>
            <a:r>
              <a:rPr lang="en-US" sz="2600" dirty="0">
                <a:latin typeface="Arial" panose="020B0604020202020204" pitchFamily="34" charset="0"/>
                <a:cs typeface="Arial" panose="020B0604020202020204" pitchFamily="34" charset="0"/>
              </a:rPr>
              <a:t>Conclusion </a:t>
            </a:r>
          </a:p>
          <a:p>
            <a:pPr lvl="1">
              <a:lnSpc>
                <a:spcPct val="130000"/>
              </a:lnSpc>
            </a:pPr>
            <a:r>
              <a:rPr lang="en-US" sz="2600" dirty="0">
                <a:latin typeface="Arial" panose="020B0604020202020204" pitchFamily="34" charset="0"/>
                <a:cs typeface="Arial" panose="020B0604020202020204" pitchFamily="34" charset="0"/>
              </a:rPr>
              <a:t>WSN are </a:t>
            </a:r>
            <a:r>
              <a:rPr lang="en-US" sz="2600" i="1" dirty="0">
                <a:solidFill>
                  <a:srgbClr val="FF0000"/>
                </a:solidFill>
                <a:latin typeface="Arial" panose="020B0604020202020204" pitchFamily="34" charset="0"/>
                <a:cs typeface="Arial" panose="020B0604020202020204" pitchFamily="34" charset="0"/>
              </a:rPr>
              <a:t>suitable </a:t>
            </a:r>
            <a:r>
              <a:rPr lang="en-US" sz="2600" dirty="0">
                <a:latin typeface="Arial" panose="020B0604020202020204" pitchFamily="34" charset="0"/>
                <a:cs typeface="Arial" panose="020B0604020202020204" pitchFamily="34" charset="0"/>
              </a:rPr>
              <a:t>for capturing </a:t>
            </a:r>
            <a:r>
              <a:rPr lang="en-US" sz="2600" i="1" dirty="0">
                <a:solidFill>
                  <a:srgbClr val="FF0000"/>
                </a:solidFill>
                <a:latin typeface="Arial" panose="020B0604020202020204" pitchFamily="34" charset="0"/>
                <a:cs typeface="Arial" panose="020B0604020202020204" pitchFamily="34" charset="0"/>
              </a:rPr>
              <a:t>triggered events </a:t>
            </a:r>
            <a:endParaRPr lang="en-US" sz="2600" dirty="0">
              <a:solidFill>
                <a:srgbClr val="FF0000"/>
              </a:solidFill>
              <a:latin typeface="Arial" panose="020B0604020202020204" pitchFamily="34" charset="0"/>
              <a:cs typeface="Arial" panose="020B0604020202020204" pitchFamily="34" charset="0"/>
            </a:endParaRPr>
          </a:p>
          <a:p>
            <a:pPr lvl="1">
              <a:lnSpc>
                <a:spcPct val="130000"/>
              </a:lnSpc>
            </a:pPr>
            <a:r>
              <a:rPr lang="en-US" sz="2600" dirty="0">
                <a:latin typeface="Arial" panose="020B0604020202020204" pitchFamily="34" charset="0"/>
                <a:cs typeface="Arial" panose="020B0604020202020204" pitchFamily="34" charset="0"/>
              </a:rPr>
              <a:t>WSN are </a:t>
            </a:r>
            <a:r>
              <a:rPr lang="en-US" sz="2600" i="1" dirty="0">
                <a:solidFill>
                  <a:srgbClr val="FF0000"/>
                </a:solidFill>
                <a:latin typeface="Arial" panose="020B0604020202020204" pitchFamily="34" charset="0"/>
                <a:cs typeface="Arial" panose="020B0604020202020204" pitchFamily="34" charset="0"/>
              </a:rPr>
              <a:t>inadequate</a:t>
            </a:r>
            <a:r>
              <a:rPr lang="en-US" sz="2600" i="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for capturing complete waveforms </a:t>
            </a:r>
            <a:r>
              <a:rPr lang="en-US" sz="2600" i="1" dirty="0">
                <a:solidFill>
                  <a:srgbClr val="FF0000"/>
                </a:solidFill>
                <a:latin typeface="Arial" panose="020B0604020202020204" pitchFamily="34" charset="0"/>
                <a:cs typeface="Arial" panose="020B0604020202020204" pitchFamily="34" charset="0"/>
              </a:rPr>
              <a:t>for a long time </a:t>
            </a:r>
            <a:endParaRPr lang="en-US" sz="2600" dirty="0">
              <a:solidFill>
                <a:srgbClr val="FF0000"/>
              </a:solidFill>
              <a:latin typeface="Arial" panose="020B0604020202020204" pitchFamily="34" charset="0"/>
              <a:cs typeface="Arial" panose="020B0604020202020204" pitchFamily="34" charset="0"/>
            </a:endParaRPr>
          </a:p>
          <a:p>
            <a:pPr>
              <a:lnSpc>
                <a:spcPct val="130000"/>
              </a:lnSpc>
            </a:pPr>
            <a:endParaRPr lang="en-US" dirty="0">
              <a:latin typeface="Arial" panose="020B0604020202020204" pitchFamily="34" charset="0"/>
              <a:cs typeface="Arial" panose="020B0604020202020204" pitchFamily="34" charset="0"/>
            </a:endParaRPr>
          </a:p>
          <a:p>
            <a:pPr>
              <a:lnSpc>
                <a:spcPct val="13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291085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idx="4294967295"/>
          </p:nvPr>
        </p:nvSpPr>
        <p:spPr>
          <a:xfrm>
            <a:off x="591845" y="649288"/>
            <a:ext cx="11117802" cy="944562"/>
          </a:xfrm>
        </p:spPr>
        <p:txBody>
          <a:bodyPr>
            <a:normAutofit fontScale="90000"/>
          </a:bodyPr>
          <a:lstStyle/>
          <a:p>
            <a:r>
              <a:rPr lang="en-US" altLang="zh-CN" b="1" dirty="0">
                <a:latin typeface="Arial" panose="020B0604020202020204" pitchFamily="34" charset="0"/>
                <a:cs typeface="Arial" panose="020B0604020202020204" pitchFamily="34" charset="0"/>
              </a:rPr>
              <a:t>Wireless Sensor Network Based Mobile Pet</a:t>
            </a:r>
          </a:p>
        </p:txBody>
      </p:sp>
      <p:sp>
        <p:nvSpPr>
          <p:cNvPr id="89092" name="Rectangle 4"/>
          <p:cNvSpPr>
            <a:spLocks noChangeArrowheads="1"/>
          </p:cNvSpPr>
          <p:nvPr/>
        </p:nvSpPr>
        <p:spPr bwMode="auto">
          <a:xfrm>
            <a:off x="6003635" y="231088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l">
              <a:spcBef>
                <a:spcPct val="20000"/>
              </a:spcBef>
              <a:buClr>
                <a:schemeClr val="bg2"/>
              </a:buClr>
              <a:buSzPct val="75000"/>
              <a:buFont typeface="Wingdings" pitchFamily="2" charset="2"/>
              <a:buChar char="p"/>
              <a:defRPr sz="2800">
                <a:solidFill>
                  <a:schemeClr val="tx1"/>
                </a:solidFill>
                <a:latin typeface="Arial" charset="0"/>
              </a:defRPr>
            </a:lvl1pPr>
            <a:lvl2pPr marL="742950" indent="-285750" algn="l">
              <a:spcBef>
                <a:spcPct val="20000"/>
              </a:spcBef>
              <a:buClr>
                <a:schemeClr val="tx2"/>
              </a:buClr>
              <a:buSzPct val="75000"/>
              <a:buFont typeface="Wingdings" pitchFamily="2" charset="2"/>
              <a:buChar char="n"/>
              <a:defRPr sz="2400">
                <a:solidFill>
                  <a:schemeClr val="tx1"/>
                </a:solidFill>
                <a:latin typeface="Arial" charset="0"/>
              </a:defRPr>
            </a:lvl2pPr>
            <a:lvl3pPr marL="1143000" indent="-228600" algn="l">
              <a:spcBef>
                <a:spcPct val="20000"/>
              </a:spcBef>
              <a:buClr>
                <a:schemeClr val="accent1"/>
              </a:buClr>
              <a:buSzPct val="65000"/>
              <a:buFont typeface="Wingdings" pitchFamily="2" charset="2"/>
              <a:buChar char="p"/>
              <a:defRPr sz="2000">
                <a:solidFill>
                  <a:schemeClr val="tx1"/>
                </a:solidFill>
                <a:latin typeface="Arial" charset="0"/>
              </a:defRPr>
            </a:lvl3pPr>
            <a:lvl4pPr marL="1600200" indent="-228600" algn="l">
              <a:spcBef>
                <a:spcPct val="20000"/>
              </a:spcBef>
              <a:buClr>
                <a:schemeClr val="bg2"/>
              </a:buClr>
              <a:buFont typeface="Wingdings" pitchFamily="2" charset="2"/>
              <a:buChar char="§"/>
              <a:defRPr>
                <a:solidFill>
                  <a:schemeClr val="tx1"/>
                </a:solidFill>
                <a:latin typeface="Arial" charset="0"/>
              </a:defRPr>
            </a:lvl4pPr>
            <a:lvl5pPr marL="2057400" indent="-228600" algn="l">
              <a:spcBef>
                <a:spcPct val="20000"/>
              </a:spcBef>
              <a:buClr>
                <a:schemeClr val="tx2"/>
              </a:buClr>
              <a:buSzPct val="80000"/>
              <a:buFont typeface="Wingdings" pitchFamily="2" charset="2"/>
              <a:buChar char="§"/>
              <a:defRPr>
                <a:solidFill>
                  <a:schemeClr val="tx1"/>
                </a:solidFill>
                <a:latin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Arial" charset="0"/>
              </a:defRPr>
            </a:lvl9pPr>
          </a:lstStyle>
          <a:p>
            <a:pPr algn="ctr">
              <a:spcBef>
                <a:spcPct val="0"/>
              </a:spcBef>
              <a:buClrTx/>
              <a:buSzTx/>
              <a:buFontTx/>
              <a:buNone/>
            </a:pPr>
            <a:endParaRPr lang="zh-CN" altLang="en-US" sz="1800"/>
          </a:p>
        </p:txBody>
      </p:sp>
      <p:graphicFrame>
        <p:nvGraphicFramePr>
          <p:cNvPr id="89093" name="Object 5"/>
          <p:cNvGraphicFramePr>
            <a:graphicFrameLocks noChangeAspect="1"/>
          </p:cNvGraphicFramePr>
          <p:nvPr>
            <p:extLst>
              <p:ext uri="{D42A27DB-BD31-4B8C-83A1-F6EECF244321}">
                <p14:modId xmlns:p14="http://schemas.microsoft.com/office/powerpoint/2010/main" val="3674437638"/>
              </p:ext>
            </p:extLst>
          </p:nvPr>
        </p:nvGraphicFramePr>
        <p:xfrm>
          <a:off x="6344334" y="2004875"/>
          <a:ext cx="4013688" cy="4117975"/>
        </p:xfrm>
        <a:graphic>
          <a:graphicData uri="http://schemas.openxmlformats.org/presentationml/2006/ole">
            <mc:AlternateContent xmlns:mc="http://schemas.openxmlformats.org/markup-compatibility/2006">
              <mc:Choice xmlns:v="urn:schemas-microsoft-com:vml" Requires="v">
                <p:oleObj spid="_x0000_s1046" name="Visio" r:id="rId4" imgW="6031992" imgH="5638495" progId="Visio.Drawing.11">
                  <p:embed/>
                </p:oleObj>
              </mc:Choice>
              <mc:Fallback>
                <p:oleObj name="Visio" r:id="rId4" imgW="6031992" imgH="5638495" progId="Visio.Drawing.11">
                  <p:embed/>
                  <p:pic>
                    <p:nvPicPr>
                      <p:cNvPr id="89093" name="Object 5"/>
                      <p:cNvPicPr>
                        <a:picLocks noChangeAspect="1" noChangeArrowheads="1"/>
                      </p:cNvPicPr>
                      <p:nvPr/>
                    </p:nvPicPr>
                    <p:blipFill>
                      <a:blip r:embed="rId5">
                        <a:lum bright="-18000" contrast="30000"/>
                        <a:extLst>
                          <a:ext uri="{28A0092B-C50C-407E-A947-70E740481C1C}">
                            <a14:useLocalDpi xmlns:a14="http://schemas.microsoft.com/office/drawing/2010/main" val="0"/>
                          </a:ext>
                        </a:extLst>
                      </a:blip>
                      <a:srcRect/>
                      <a:stretch>
                        <a:fillRect/>
                      </a:stretch>
                    </p:blipFill>
                    <p:spPr bwMode="auto">
                      <a:xfrm>
                        <a:off x="6344334" y="2004875"/>
                        <a:ext cx="4013688" cy="411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9094" name="Picture 6" descr="1"/>
          <p:cNvPicPr>
            <a:picLocks noChangeAspect="1" noChangeArrowheads="1"/>
          </p:cNvPicPr>
          <p:nvPr/>
        </p:nvPicPr>
        <p:blipFill>
          <a:blip r:embed="rId6">
            <a:lum bright="6000" contrast="18000"/>
            <a:extLst>
              <a:ext uri="{28A0092B-C50C-407E-A947-70E740481C1C}">
                <a14:useLocalDpi xmlns:a14="http://schemas.microsoft.com/office/drawing/2010/main" val="0"/>
              </a:ext>
            </a:extLst>
          </a:blip>
          <a:srcRect/>
          <a:stretch>
            <a:fillRect/>
          </a:stretch>
        </p:blipFill>
        <p:spPr bwMode="auto">
          <a:xfrm>
            <a:off x="1580013" y="2680216"/>
            <a:ext cx="3588726" cy="290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8441345"/>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674624"/>
            <a:ext cx="9144000" cy="2387600"/>
          </a:xfrm>
        </p:spPr>
        <p:txBody>
          <a:bodyPr>
            <a:normAutofit/>
          </a:bodyPr>
          <a:lstStyle/>
          <a:p>
            <a:pPr>
              <a:lnSpc>
                <a:spcPct val="120000"/>
              </a:lnSpc>
            </a:pPr>
            <a:r>
              <a:rPr lang="en-US" altLang="zh-CN" sz="4400" b="1" dirty="0">
                <a:solidFill>
                  <a:schemeClr val="accent1">
                    <a:lumMod val="75000"/>
                  </a:schemeClr>
                </a:solidFill>
                <a:latin typeface="微软雅黑" panose="020B0503020204020204" pitchFamily="34" charset="-122"/>
                <a:ea typeface="微软雅黑" panose="020B0503020204020204" pitchFamily="34" charset="-122"/>
              </a:rPr>
              <a:t>Chapter 3</a:t>
            </a:r>
            <a:br>
              <a:rPr lang="en-US" altLang="zh-CN" sz="4400" b="1" dirty="0">
                <a:solidFill>
                  <a:schemeClr val="accent1">
                    <a:lumMod val="75000"/>
                  </a:schemeClr>
                </a:solidFill>
                <a:latin typeface="微软雅黑" panose="020B0503020204020204" pitchFamily="34" charset="-122"/>
                <a:ea typeface="微软雅黑" panose="020B0503020204020204" pitchFamily="34" charset="-122"/>
              </a:rPr>
            </a:br>
            <a:r>
              <a:rPr lang="en-US" altLang="zh-CN" sz="4400" b="1" dirty="0">
                <a:latin typeface="Arial" panose="020B0604020202020204" pitchFamily="34" charset="0"/>
                <a:cs typeface="Arial" panose="020B0604020202020204" pitchFamily="34" charset="0"/>
              </a:rPr>
              <a:t>Node Architecture</a:t>
            </a:r>
            <a:endParaRPr lang="zh-CN" altLang="en-US" sz="4400" b="1"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12789887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sz="2400" b="1" dirty="0">
                <a:latin typeface="Arial" panose="020B0604020202020204" pitchFamily="34" charset="0"/>
                <a:cs typeface="Arial" panose="020B0604020202020204" pitchFamily="34" charset="0"/>
              </a:rPr>
              <a:t>Node Architecture</a:t>
            </a:r>
          </a:p>
          <a:p>
            <a:pPr>
              <a:lnSpc>
                <a:spcPct val="120000"/>
              </a:lnSpc>
            </a:pPr>
            <a:r>
              <a:rPr lang="en-US" altLang="zh-CN" sz="2400" dirty="0">
                <a:latin typeface="Arial" panose="020B0604020202020204" pitchFamily="34" charset="0"/>
                <a:cs typeface="Arial" panose="020B0604020202020204" pitchFamily="34" charset="0"/>
              </a:rPr>
              <a:t>The Sensing Subsystem</a:t>
            </a:r>
          </a:p>
          <a:p>
            <a:pPr>
              <a:lnSpc>
                <a:spcPct val="120000"/>
              </a:lnSpc>
            </a:pPr>
            <a:r>
              <a:rPr lang="en-US" altLang="zh-CN" sz="2400" dirty="0">
                <a:latin typeface="Arial" panose="020B0604020202020204" pitchFamily="34" charset="0"/>
                <a:cs typeface="Arial" panose="020B0604020202020204" pitchFamily="34" charset="0"/>
              </a:rPr>
              <a:t>The Processor Subsystem</a:t>
            </a:r>
          </a:p>
          <a:p>
            <a:pPr>
              <a:lnSpc>
                <a:spcPct val="120000"/>
              </a:lnSpc>
            </a:pPr>
            <a:r>
              <a:rPr lang="en-US" altLang="zh-CN" sz="2400" dirty="0">
                <a:latin typeface="Arial" panose="020B0604020202020204" pitchFamily="34" charset="0"/>
                <a:cs typeface="Arial" panose="020B0604020202020204" pitchFamily="34" charset="0"/>
              </a:rPr>
              <a:t>Communication Interfaces</a:t>
            </a:r>
          </a:p>
          <a:p>
            <a:pPr>
              <a:lnSpc>
                <a:spcPct val="120000"/>
              </a:lnSpc>
            </a:pPr>
            <a:r>
              <a:rPr lang="en-US" altLang="zh-CN" sz="2400" dirty="0">
                <a:latin typeface="Arial" panose="020B0604020202020204" pitchFamily="34" charset="0"/>
                <a:cs typeface="Arial" panose="020B0604020202020204" pitchFamily="34" charset="0"/>
              </a:rPr>
              <a:t>Prototypes</a:t>
            </a:r>
          </a:p>
        </p:txBody>
      </p:sp>
    </p:spTree>
    <p:extLst>
      <p:ext uri="{BB962C8B-B14F-4D97-AF65-F5344CB8AC3E}">
        <p14:creationId xmlns:p14="http://schemas.microsoft.com/office/powerpoint/2010/main" val="24970293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Node Architecture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Wireless sensor nodes are the essential building blocks in a wireless sensor network</a:t>
            </a:r>
          </a:p>
          <a:p>
            <a:pPr lvl="1">
              <a:lnSpc>
                <a:spcPct val="120000"/>
              </a:lnSpc>
            </a:pPr>
            <a:r>
              <a:rPr lang="en-US" altLang="zh-CN" i="1" dirty="0">
                <a:solidFill>
                  <a:srgbClr val="FF0000"/>
                </a:solidFill>
                <a:latin typeface="Arial" panose="020B0604020202020204" pitchFamily="34" charset="0"/>
                <a:cs typeface="Arial" panose="020B0604020202020204" pitchFamily="34" charset="0"/>
              </a:rPr>
              <a:t>Sensing</a:t>
            </a:r>
            <a:r>
              <a:rPr lang="en-US" altLang="zh-CN" dirty="0">
                <a:latin typeface="Arial" panose="020B0604020202020204" pitchFamily="34" charset="0"/>
                <a:cs typeface="Arial" panose="020B0604020202020204" pitchFamily="34" charset="0"/>
              </a:rPr>
              <a:t>, </a:t>
            </a:r>
            <a:r>
              <a:rPr lang="en-US" altLang="zh-CN" i="1" dirty="0">
                <a:solidFill>
                  <a:srgbClr val="FF0000"/>
                </a:solidFill>
                <a:latin typeface="Arial" panose="020B0604020202020204" pitchFamily="34" charset="0"/>
                <a:cs typeface="Arial" panose="020B0604020202020204" pitchFamily="34" charset="0"/>
              </a:rPr>
              <a:t>processing</a:t>
            </a:r>
            <a:r>
              <a:rPr lang="en-US" altLang="zh-CN" i="1"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and </a:t>
            </a:r>
            <a:r>
              <a:rPr lang="en-US" altLang="zh-CN" i="1" dirty="0">
                <a:solidFill>
                  <a:srgbClr val="FF0000"/>
                </a:solidFill>
                <a:latin typeface="Arial" panose="020B0604020202020204" pitchFamily="34" charset="0"/>
                <a:cs typeface="Arial" panose="020B0604020202020204" pitchFamily="34" charset="0"/>
              </a:rPr>
              <a:t>communication</a:t>
            </a:r>
            <a:r>
              <a:rPr lang="en-US" altLang="zh-CN" i="1"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take place through a node</a:t>
            </a:r>
          </a:p>
          <a:p>
            <a:pPr lvl="1">
              <a:lnSpc>
                <a:spcPct val="120000"/>
              </a:lnSpc>
            </a:pPr>
            <a:r>
              <a:rPr lang="en-US" altLang="zh-CN" i="1" dirty="0">
                <a:solidFill>
                  <a:srgbClr val="FF0000"/>
                </a:solidFill>
                <a:latin typeface="Arial" panose="020B0604020202020204" pitchFamily="34" charset="0"/>
                <a:cs typeface="Arial" panose="020B0604020202020204" pitchFamily="34" charset="0"/>
              </a:rPr>
              <a:t>Stores</a:t>
            </a:r>
            <a:r>
              <a:rPr lang="en-US" altLang="zh-CN" i="1"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and </a:t>
            </a:r>
            <a:r>
              <a:rPr lang="en-US" altLang="zh-CN" i="1" dirty="0">
                <a:solidFill>
                  <a:srgbClr val="FF0000"/>
                </a:solidFill>
                <a:latin typeface="Arial" panose="020B0604020202020204" pitchFamily="34" charset="0"/>
                <a:cs typeface="Arial" panose="020B0604020202020204" pitchFamily="34" charset="0"/>
              </a:rPr>
              <a:t>executes</a:t>
            </a:r>
            <a:r>
              <a:rPr lang="en-US" altLang="zh-CN" i="1"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the communication protocols as well as data processing algorithms</a:t>
            </a:r>
          </a:p>
          <a:p>
            <a:pPr>
              <a:lnSpc>
                <a:spcPct val="120000"/>
              </a:lnSpc>
            </a:pPr>
            <a:r>
              <a:rPr lang="en-US" altLang="zh-CN" sz="2400" dirty="0">
                <a:latin typeface="Arial" panose="020B0604020202020204" pitchFamily="34" charset="0"/>
                <a:cs typeface="Arial" panose="020B0604020202020204" pitchFamily="34" charset="0"/>
              </a:rPr>
              <a:t>The node consists of </a:t>
            </a:r>
            <a:r>
              <a:rPr lang="en-US" altLang="zh-CN" sz="2400" i="1" dirty="0">
                <a:solidFill>
                  <a:srgbClr val="FF0000"/>
                </a:solidFill>
                <a:latin typeface="Arial" panose="020B0604020202020204" pitchFamily="34" charset="0"/>
                <a:cs typeface="Arial" panose="020B0604020202020204" pitchFamily="34" charset="0"/>
              </a:rPr>
              <a:t>sensing</a:t>
            </a:r>
            <a:r>
              <a:rPr lang="en-US" altLang="zh-CN" sz="2400" i="1" dirty="0">
                <a:latin typeface="Arial" panose="020B0604020202020204" pitchFamily="34" charset="0"/>
                <a:cs typeface="Arial" panose="020B0604020202020204" pitchFamily="34" charset="0"/>
              </a:rPr>
              <a:t>, </a:t>
            </a:r>
            <a:r>
              <a:rPr lang="en-US" altLang="zh-CN" sz="2400" i="1" dirty="0">
                <a:solidFill>
                  <a:srgbClr val="FF0000"/>
                </a:solidFill>
                <a:latin typeface="Arial" panose="020B0604020202020204" pitchFamily="34" charset="0"/>
                <a:cs typeface="Arial" panose="020B0604020202020204" pitchFamily="34" charset="0"/>
              </a:rPr>
              <a:t>processing</a:t>
            </a:r>
            <a:r>
              <a:rPr lang="en-US" altLang="zh-CN" sz="2400" i="1" dirty="0">
                <a:latin typeface="Arial" panose="020B0604020202020204" pitchFamily="34" charset="0"/>
                <a:cs typeface="Arial" panose="020B0604020202020204" pitchFamily="34" charset="0"/>
              </a:rPr>
              <a:t>, </a:t>
            </a:r>
            <a:r>
              <a:rPr lang="en-US" altLang="zh-CN" sz="2400" i="1" dirty="0">
                <a:solidFill>
                  <a:srgbClr val="FF0000"/>
                </a:solidFill>
                <a:latin typeface="Arial" panose="020B0604020202020204" pitchFamily="34" charset="0"/>
                <a:cs typeface="Arial" panose="020B0604020202020204" pitchFamily="34" charset="0"/>
              </a:rPr>
              <a:t>communication</a:t>
            </a:r>
            <a:r>
              <a:rPr lang="en-US" altLang="zh-CN" sz="2400" i="1"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and </a:t>
            </a:r>
            <a:r>
              <a:rPr lang="en-US" altLang="zh-CN" sz="2400" i="1" dirty="0">
                <a:solidFill>
                  <a:srgbClr val="FF0000"/>
                </a:solidFill>
                <a:latin typeface="Arial" panose="020B0604020202020204" pitchFamily="34" charset="0"/>
                <a:cs typeface="Arial" panose="020B0604020202020204" pitchFamily="34" charset="0"/>
              </a:rPr>
              <a:t>power</a:t>
            </a:r>
            <a:r>
              <a:rPr lang="en-US" altLang="zh-CN" sz="2400" i="1" dirty="0">
                <a:latin typeface="Arial" panose="020B0604020202020204" pitchFamily="34" charset="0"/>
                <a:cs typeface="Arial" panose="020B0604020202020204" pitchFamily="34" charset="0"/>
              </a:rPr>
              <a:t> subsystems</a:t>
            </a:r>
          </a:p>
          <a:p>
            <a:pPr lvl="1">
              <a:lnSpc>
                <a:spcPct val="120000"/>
              </a:lnSpc>
            </a:pPr>
            <a:r>
              <a:rPr lang="en-US" altLang="zh-CN" dirty="0">
                <a:latin typeface="Arial" panose="020B0604020202020204" pitchFamily="34" charset="0"/>
                <a:cs typeface="Arial" panose="020B0604020202020204" pitchFamily="34" charset="0"/>
              </a:rPr>
              <a:t>Trade-off between flexibility and efficiency – both in terms of energy and performance</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59297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Node Architecture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2506662"/>
            <a:ext cx="10515600" cy="4351338"/>
          </a:xfrm>
        </p:spPr>
        <p:txBody>
          <a:bodyPr>
            <a:normAutofit/>
          </a:bodyPr>
          <a:lstStyle/>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marL="0" indent="0" algn="ctr">
              <a:buNone/>
            </a:pPr>
            <a:r>
              <a:rPr lang="en-US" altLang="zh-CN" sz="2400" dirty="0">
                <a:latin typeface="Arial" panose="020B0604020202020204" pitchFamily="34" charset="0"/>
                <a:cs typeface="Arial" panose="020B0604020202020204" pitchFamily="34" charset="0"/>
              </a:rPr>
              <a:t>Architecture of a wireless sensor node</a:t>
            </a:r>
            <a:endParaRPr lang="zh-CN" altLang="en-US" sz="2400" dirty="0">
              <a:latin typeface="Arial" panose="020B0604020202020204" pitchFamily="34" charset="0"/>
              <a:cs typeface="Arial" panose="020B0604020202020204" pitchFamily="34" charset="0"/>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279" y="1690688"/>
            <a:ext cx="9239441" cy="4130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75543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Node Architecture</a:t>
            </a:r>
          </a:p>
          <a:p>
            <a:pPr>
              <a:lnSpc>
                <a:spcPct val="120000"/>
              </a:lnSpc>
            </a:pPr>
            <a:r>
              <a:rPr lang="en-US" altLang="zh-CN" sz="2400" b="1" dirty="0">
                <a:latin typeface="Arial" panose="020B0604020202020204" pitchFamily="34" charset="0"/>
                <a:cs typeface="Arial" panose="020B0604020202020204" pitchFamily="34" charset="0"/>
              </a:rPr>
              <a:t>The Sensing Subsystem</a:t>
            </a:r>
          </a:p>
          <a:p>
            <a:pPr>
              <a:lnSpc>
                <a:spcPct val="120000"/>
              </a:lnSpc>
            </a:pPr>
            <a:r>
              <a:rPr lang="en-US" altLang="zh-CN" sz="2400" dirty="0">
                <a:latin typeface="Arial" panose="020B0604020202020204" pitchFamily="34" charset="0"/>
                <a:cs typeface="Arial" panose="020B0604020202020204" pitchFamily="34" charset="0"/>
              </a:rPr>
              <a:t>The Processor Subsystem</a:t>
            </a:r>
          </a:p>
          <a:p>
            <a:pPr>
              <a:lnSpc>
                <a:spcPct val="120000"/>
              </a:lnSpc>
            </a:pPr>
            <a:r>
              <a:rPr lang="en-US" altLang="zh-CN" sz="2400" dirty="0">
                <a:latin typeface="Arial" panose="020B0604020202020204" pitchFamily="34" charset="0"/>
                <a:cs typeface="Arial" panose="020B0604020202020204" pitchFamily="34" charset="0"/>
              </a:rPr>
              <a:t>Communication Interfaces</a:t>
            </a:r>
          </a:p>
          <a:p>
            <a:pPr>
              <a:lnSpc>
                <a:spcPct val="120000"/>
              </a:lnSpc>
            </a:pPr>
            <a:r>
              <a:rPr lang="en-US" altLang="zh-CN" sz="2400" dirty="0">
                <a:latin typeface="Arial" panose="020B0604020202020204" pitchFamily="34" charset="0"/>
                <a:cs typeface="Arial" panose="020B0604020202020204" pitchFamily="34" charset="0"/>
              </a:rPr>
              <a:t>Prototypes</a:t>
            </a:r>
          </a:p>
        </p:txBody>
      </p:sp>
    </p:spTree>
    <p:extLst>
      <p:ext uri="{BB962C8B-B14F-4D97-AF65-F5344CB8AC3E}">
        <p14:creationId xmlns:p14="http://schemas.microsoft.com/office/powerpoint/2010/main" val="911435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The Sensing Subsystem</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512275" y="1769781"/>
            <a:ext cx="2180375" cy="4351338"/>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The sensing subsystem integrates</a:t>
            </a:r>
            <a:endParaRPr lang="zh-CN" altLang="en-US" sz="2400" dirty="0">
              <a:latin typeface="Arial" panose="020B0604020202020204" pitchFamily="34" charset="0"/>
              <a:cs typeface="Arial" panose="020B0604020202020204"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2650" y="1706407"/>
            <a:ext cx="8850518" cy="4786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66088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The Sensing Subsystem</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512275" y="1769781"/>
            <a:ext cx="2180375" cy="4351338"/>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The sensing subsystem integrates</a:t>
            </a:r>
            <a:endParaRPr lang="zh-CN" altLang="en-US" sz="2400" dirty="0">
              <a:latin typeface="Arial" panose="020B0604020202020204" pitchFamily="34" charset="0"/>
              <a:cs typeface="Arial" panose="020B0604020202020204" pitchFamily="34" charset="0"/>
            </a:endParaRPr>
          </a:p>
        </p:txBody>
      </p:sp>
      <p:pic>
        <p:nvPicPr>
          <p:cNvPr id="5" name="Picture 2">
            <a:extLst>
              <a:ext uri="{FF2B5EF4-FFF2-40B4-BE49-F238E27FC236}">
                <a16:creationId xmlns:a16="http://schemas.microsoft.com/office/drawing/2014/main" id="{90E99829-E08D-4977-ACD1-268ABECEC2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2650" y="1769781"/>
            <a:ext cx="8851271" cy="5029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84546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The Sensing Subsystem</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512275" y="1769781"/>
            <a:ext cx="2180375" cy="4351338"/>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The sensing subsystem integrates</a:t>
            </a:r>
            <a:endParaRPr lang="zh-CN" altLang="en-US" sz="2400" dirty="0">
              <a:latin typeface="Arial" panose="020B0604020202020204" pitchFamily="34" charset="0"/>
              <a:cs typeface="Arial" panose="020B0604020202020204" pitchFamily="34" charset="0"/>
            </a:endParaRPr>
          </a:p>
        </p:txBody>
      </p:sp>
      <p:pic>
        <p:nvPicPr>
          <p:cNvPr id="5" name="Picture 2">
            <a:extLst>
              <a:ext uri="{FF2B5EF4-FFF2-40B4-BE49-F238E27FC236}">
                <a16:creationId xmlns:a16="http://schemas.microsoft.com/office/drawing/2014/main" id="{8498D1E9-1046-4885-A0D7-9DDD946E88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2651" y="1769781"/>
            <a:ext cx="8922946"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33850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Analog-to-Digital Converter</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690688"/>
            <a:ext cx="10596327" cy="5486400"/>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ADC converts the output of a sensor ---- which is a continuous, analog signal ---- into a digital signal. </a:t>
            </a:r>
          </a:p>
          <a:p>
            <a:pPr>
              <a:lnSpc>
                <a:spcPct val="120000"/>
              </a:lnSpc>
            </a:pPr>
            <a:r>
              <a:rPr lang="en-US" altLang="zh-CN" sz="2400" dirty="0">
                <a:latin typeface="Arial" panose="020B0604020202020204" pitchFamily="34" charset="0"/>
                <a:cs typeface="Arial" panose="020B0604020202020204" pitchFamily="34" charset="0"/>
              </a:rPr>
              <a:t>It requires two steps:</a:t>
            </a:r>
          </a:p>
          <a:p>
            <a:pPr marL="0" indent="0">
              <a:lnSpc>
                <a:spcPct val="120000"/>
              </a:lnSpc>
              <a:buNone/>
            </a:pPr>
            <a:r>
              <a:rPr lang="en-US" altLang="zh-CN" sz="2400" dirty="0">
                <a:solidFill>
                  <a:schemeClr val="accent5"/>
                </a:solidFill>
                <a:latin typeface="Arial" panose="020B0604020202020204" pitchFamily="34" charset="0"/>
                <a:cs typeface="Arial" panose="020B0604020202020204" pitchFamily="34" charset="0"/>
              </a:rPr>
              <a:t>   Step1: The analog signal has to be quantized (</a:t>
            </a:r>
            <a:r>
              <a:rPr lang="zh-CN" altLang="en-US" sz="2400" dirty="0">
                <a:solidFill>
                  <a:schemeClr val="accent5"/>
                </a:solidFill>
                <a:latin typeface="Arial" panose="020B0604020202020204" pitchFamily="34" charset="0"/>
                <a:cs typeface="Arial" panose="020B0604020202020204" pitchFamily="34" charset="0"/>
              </a:rPr>
              <a:t>量化</a:t>
            </a:r>
            <a:r>
              <a:rPr lang="en-US" altLang="zh-CN" sz="2400" dirty="0">
                <a:solidFill>
                  <a:schemeClr val="accent5"/>
                </a:solidFill>
                <a:latin typeface="Arial" panose="020B0604020202020204" pitchFamily="34" charset="0"/>
                <a:cs typeface="Arial" panose="020B0604020202020204" pitchFamily="34" charset="0"/>
              </a:rPr>
              <a:t>)</a:t>
            </a:r>
          </a:p>
          <a:p>
            <a:pPr marL="0" indent="0">
              <a:lnSpc>
                <a:spcPct val="120000"/>
              </a:lnSpc>
              <a:buNone/>
            </a:pPr>
            <a:r>
              <a:rPr lang="en-US" altLang="zh-CN" sz="2400" dirty="0">
                <a:latin typeface="Arial" panose="020B0604020202020204" pitchFamily="34" charset="0"/>
                <a:cs typeface="Arial" panose="020B0604020202020204" pitchFamily="34" charset="0"/>
              </a:rPr>
              <a:t>               Allowable discrete values is influenced :</a:t>
            </a:r>
          </a:p>
          <a:p>
            <a:pPr marL="914400" lvl="2" indent="0">
              <a:lnSpc>
                <a:spcPct val="120000"/>
              </a:lnSpc>
              <a:buNone/>
            </a:pPr>
            <a:r>
              <a:rPr lang="en-US" altLang="zh-CN" sz="2400" dirty="0">
                <a:latin typeface="Arial" panose="020B0604020202020204" pitchFamily="34" charset="0"/>
                <a:cs typeface="Arial" panose="020B0604020202020204" pitchFamily="34" charset="0"/>
              </a:rPr>
              <a:t>    a) By the frequency and magnitude of the signal</a:t>
            </a:r>
          </a:p>
          <a:p>
            <a:pPr marL="914400" lvl="2" indent="0">
              <a:lnSpc>
                <a:spcPct val="120000"/>
              </a:lnSpc>
              <a:buNone/>
            </a:pPr>
            <a:r>
              <a:rPr lang="en-US" altLang="zh-CN" sz="2400" dirty="0">
                <a:latin typeface="Arial" panose="020B0604020202020204" pitchFamily="34" charset="0"/>
                <a:cs typeface="Arial" panose="020B0604020202020204" pitchFamily="34" charset="0"/>
              </a:rPr>
              <a:t>    b) By the available processing and storage resources</a:t>
            </a:r>
          </a:p>
        </p:txBody>
      </p:sp>
    </p:spTree>
    <p:extLst>
      <p:ext uri="{BB962C8B-B14F-4D97-AF65-F5344CB8AC3E}">
        <p14:creationId xmlns:p14="http://schemas.microsoft.com/office/powerpoint/2010/main" val="28456912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Analog-to-Digital Converter</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61588" y="1792585"/>
            <a:ext cx="10515600" cy="4282289"/>
          </a:xfrm>
        </p:spPr>
        <p:txBody>
          <a:bodyPr>
            <a:normAutofit/>
          </a:bodyPr>
          <a:lstStyle/>
          <a:p>
            <a:pPr marL="0" indent="0">
              <a:lnSpc>
                <a:spcPct val="120000"/>
              </a:lnSpc>
              <a:buNone/>
            </a:pPr>
            <a:r>
              <a:rPr lang="en-US" altLang="zh-CN" sz="2400" dirty="0">
                <a:solidFill>
                  <a:schemeClr val="accent5"/>
                </a:solidFill>
                <a:latin typeface="Arial" panose="020B0604020202020204" pitchFamily="34" charset="0"/>
                <a:cs typeface="Arial" panose="020B0604020202020204" pitchFamily="34" charset="0"/>
              </a:rPr>
              <a:t>Step2: The sampling frequency</a:t>
            </a:r>
            <a:r>
              <a:rPr lang="zh-CN" altLang="en-US" sz="2400" dirty="0">
                <a:solidFill>
                  <a:schemeClr val="accent5"/>
                </a:solidFill>
                <a:latin typeface="Arial" panose="020B0604020202020204" pitchFamily="34" charset="0"/>
                <a:cs typeface="Arial" panose="020B0604020202020204" pitchFamily="34" charset="0"/>
              </a:rPr>
              <a:t> </a:t>
            </a:r>
            <a:r>
              <a:rPr lang="en-US" altLang="zh-CN" sz="2400" dirty="0">
                <a:solidFill>
                  <a:schemeClr val="accent5"/>
                </a:solidFill>
                <a:latin typeface="Arial" panose="020B0604020202020204" pitchFamily="34" charset="0"/>
                <a:cs typeface="Arial" panose="020B0604020202020204" pitchFamily="34" charset="0"/>
              </a:rPr>
              <a:t>(</a:t>
            </a:r>
            <a:r>
              <a:rPr lang="zh-CN" altLang="en-US" sz="2400" dirty="0">
                <a:solidFill>
                  <a:schemeClr val="accent5"/>
                </a:solidFill>
                <a:latin typeface="Arial" panose="020B0604020202020204" pitchFamily="34" charset="0"/>
                <a:cs typeface="Arial" panose="020B0604020202020204" pitchFamily="34" charset="0"/>
              </a:rPr>
              <a:t>采样</a:t>
            </a:r>
            <a:r>
              <a:rPr lang="en-US" altLang="zh-CN" sz="2400" dirty="0">
                <a:solidFill>
                  <a:schemeClr val="accent5"/>
                </a:solidFill>
                <a:latin typeface="Arial" panose="020B0604020202020204" pitchFamily="34" charset="0"/>
                <a:cs typeface="Arial" panose="020B0604020202020204" pitchFamily="34" charset="0"/>
              </a:rPr>
              <a:t>)</a:t>
            </a:r>
          </a:p>
          <a:p>
            <a:pPr marL="457200" lvl="1" indent="0">
              <a:lnSpc>
                <a:spcPct val="120000"/>
              </a:lnSpc>
              <a:buNone/>
            </a:pPr>
            <a:r>
              <a:rPr lang="en-US" altLang="zh-CN" dirty="0">
                <a:latin typeface="Arial" panose="020B0604020202020204" pitchFamily="34" charset="0"/>
                <a:cs typeface="Arial" panose="020B0604020202020204" pitchFamily="34" charset="0"/>
              </a:rPr>
              <a:t>Nyquist rate does not suffice because of noise and transmission error</a:t>
            </a:r>
          </a:p>
          <a:p>
            <a:pPr marL="457200" lvl="1" indent="0">
              <a:lnSpc>
                <a:spcPct val="120000"/>
              </a:lnSpc>
              <a:buNone/>
            </a:pPr>
            <a:r>
              <a:rPr lang="en-US" altLang="zh-CN" i="1" u="sng" dirty="0">
                <a:latin typeface="Arial" panose="020B0604020202020204" pitchFamily="34" charset="0"/>
                <a:cs typeface="Arial" panose="020B0604020202020204" pitchFamily="34" charset="0"/>
              </a:rPr>
              <a:t>Resolution of ADC </a:t>
            </a:r>
            <a:r>
              <a:rPr lang="en-US" altLang="zh-CN" dirty="0">
                <a:latin typeface="Arial" panose="020B0604020202020204" pitchFamily="34" charset="0"/>
                <a:cs typeface="Arial" panose="020B0604020202020204" pitchFamily="34" charset="0"/>
              </a:rPr>
              <a:t>-- An expression of the number of bits that can be used to encode the digital output</a:t>
            </a:r>
          </a:p>
          <a:p>
            <a:pPr marL="457200" lvl="1" indent="0">
              <a:lnSpc>
                <a:spcPct val="120000"/>
              </a:lnSpc>
              <a:buNone/>
            </a:pPr>
            <a:endParaRPr lang="en-US" altLang="zh-CN" dirty="0">
              <a:latin typeface="Arial" panose="020B0604020202020204" pitchFamily="34" charset="0"/>
              <a:cs typeface="Arial" panose="020B0604020202020204" pitchFamily="34" charset="0"/>
            </a:endParaRPr>
          </a:p>
          <a:p>
            <a:pPr marL="457200" lvl="1" indent="0">
              <a:lnSpc>
                <a:spcPct val="120000"/>
              </a:lnSpc>
              <a:buNone/>
            </a:pPr>
            <a:endParaRPr lang="en-US" altLang="zh-CN" dirty="0">
              <a:latin typeface="Arial" panose="020B0604020202020204" pitchFamily="34" charset="0"/>
              <a:cs typeface="Arial" panose="020B0604020202020204" pitchFamily="34" charset="0"/>
            </a:endParaRPr>
          </a:p>
          <a:p>
            <a:pPr marL="457200" lvl="1" indent="0">
              <a:lnSpc>
                <a:spcPct val="120000"/>
              </a:lnSpc>
              <a:buNone/>
            </a:pPr>
            <a:r>
              <a:rPr lang="en-US" altLang="zh-CN" dirty="0">
                <a:latin typeface="Arial" panose="020B0604020202020204" pitchFamily="34" charset="0"/>
                <a:cs typeface="Arial" panose="020B0604020202020204" pitchFamily="34" charset="0"/>
              </a:rPr>
              <a:t>where </a:t>
            </a:r>
            <a:r>
              <a:rPr lang="en-US" altLang="zh-CN" i="1" dirty="0">
                <a:latin typeface="Arial" panose="020B0604020202020204" pitchFamily="34" charset="0"/>
                <a:cs typeface="Arial" panose="020B0604020202020204" pitchFamily="34" charset="0"/>
              </a:rPr>
              <a:t>Q</a:t>
            </a:r>
            <a:r>
              <a:rPr lang="en-US" altLang="zh-CN" dirty="0">
                <a:latin typeface="Arial" panose="020B0604020202020204" pitchFamily="34" charset="0"/>
                <a:cs typeface="Arial" panose="020B0604020202020204" pitchFamily="34" charset="0"/>
              </a:rPr>
              <a:t> is the resolution in volts per step (volts per output code); </a:t>
            </a:r>
            <a:r>
              <a:rPr lang="en-US" altLang="zh-CN" i="1" dirty="0">
                <a:latin typeface="Arial" panose="020B0604020202020204" pitchFamily="34" charset="0"/>
                <a:cs typeface="Arial" panose="020B0604020202020204" pitchFamily="34" charset="0"/>
              </a:rPr>
              <a:t>E</a:t>
            </a:r>
            <a:r>
              <a:rPr lang="en-US" altLang="zh-CN" i="1" baseline="-25000" dirty="0">
                <a:latin typeface="Arial" panose="020B0604020202020204" pitchFamily="34" charset="0"/>
                <a:cs typeface="Arial" panose="020B0604020202020204" pitchFamily="34" charset="0"/>
              </a:rPr>
              <a:t>pp</a:t>
            </a:r>
            <a:r>
              <a:rPr lang="en-US" altLang="zh-CN" dirty="0">
                <a:latin typeface="Arial" panose="020B0604020202020204" pitchFamily="34" charset="0"/>
                <a:cs typeface="Arial" panose="020B0604020202020204" pitchFamily="34" charset="0"/>
              </a:rPr>
              <a:t> is the peak-to-peak analog voltage; </a:t>
            </a:r>
            <a:r>
              <a:rPr lang="en-US" altLang="zh-CN" i="1" dirty="0">
                <a:latin typeface="Arial" panose="020B0604020202020204" pitchFamily="34" charset="0"/>
                <a:cs typeface="Arial" panose="020B0604020202020204" pitchFamily="34" charset="0"/>
              </a:rPr>
              <a:t>M</a:t>
            </a:r>
            <a:r>
              <a:rPr lang="en-US" altLang="zh-CN" dirty="0">
                <a:latin typeface="Arial" panose="020B0604020202020204" pitchFamily="34" charset="0"/>
                <a:cs typeface="Arial" panose="020B0604020202020204" pitchFamily="34" charset="0"/>
              </a:rPr>
              <a:t> is the ADC’s resolution in bits</a:t>
            </a:r>
            <a:endParaRPr lang="zh-CN" altLang="en-US" dirty="0">
              <a:latin typeface="Arial" panose="020B0604020202020204" pitchFamily="34" charset="0"/>
              <a:cs typeface="Arial" panose="020B0604020202020204" pitchFamily="34"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7771" y="3942783"/>
            <a:ext cx="1118707" cy="714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51666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Node Architecture</a:t>
            </a:r>
          </a:p>
          <a:p>
            <a:pPr>
              <a:lnSpc>
                <a:spcPct val="120000"/>
              </a:lnSpc>
            </a:pPr>
            <a:r>
              <a:rPr lang="en-US" altLang="zh-CN" sz="2400" dirty="0">
                <a:latin typeface="Arial" panose="020B0604020202020204" pitchFamily="34" charset="0"/>
                <a:cs typeface="Arial" panose="020B0604020202020204" pitchFamily="34" charset="0"/>
              </a:rPr>
              <a:t>The Sensing Subsystem</a:t>
            </a:r>
          </a:p>
          <a:p>
            <a:pPr>
              <a:lnSpc>
                <a:spcPct val="120000"/>
              </a:lnSpc>
            </a:pPr>
            <a:r>
              <a:rPr lang="en-US" altLang="zh-CN" sz="2400" b="1" dirty="0">
                <a:latin typeface="Arial" panose="020B0604020202020204" pitchFamily="34" charset="0"/>
                <a:cs typeface="Arial" panose="020B0604020202020204" pitchFamily="34" charset="0"/>
              </a:rPr>
              <a:t>The Processor Subsystem</a:t>
            </a:r>
          </a:p>
          <a:p>
            <a:pPr>
              <a:lnSpc>
                <a:spcPct val="120000"/>
              </a:lnSpc>
            </a:pPr>
            <a:r>
              <a:rPr lang="en-US" altLang="zh-CN" sz="2400" dirty="0">
                <a:latin typeface="Arial" panose="020B0604020202020204" pitchFamily="34" charset="0"/>
                <a:cs typeface="Arial" panose="020B0604020202020204" pitchFamily="34" charset="0"/>
              </a:rPr>
              <a:t>Communication Interfaces</a:t>
            </a:r>
          </a:p>
          <a:p>
            <a:pPr>
              <a:lnSpc>
                <a:spcPct val="120000"/>
              </a:lnSpc>
            </a:pPr>
            <a:r>
              <a:rPr lang="en-US" altLang="zh-CN" sz="2400" dirty="0">
                <a:latin typeface="Arial" panose="020B0604020202020204" pitchFamily="34" charset="0"/>
                <a:cs typeface="Arial" panose="020B0604020202020204" pitchFamily="34" charset="0"/>
              </a:rPr>
              <a:t>Prototypes</a:t>
            </a:r>
          </a:p>
        </p:txBody>
      </p:sp>
    </p:spTree>
    <p:extLst>
      <p:ext uri="{BB962C8B-B14F-4D97-AF65-F5344CB8AC3E}">
        <p14:creationId xmlns:p14="http://schemas.microsoft.com/office/powerpoint/2010/main" val="42686264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The Processor Subsystem</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16570"/>
            <a:ext cx="10614434" cy="4747192"/>
          </a:xfrm>
        </p:spPr>
        <p:txBody>
          <a:bodyPr>
            <a:noAutofit/>
          </a:bodyPr>
          <a:lstStyle/>
          <a:p>
            <a:pPr>
              <a:lnSpc>
                <a:spcPct val="120000"/>
              </a:lnSpc>
            </a:pPr>
            <a:r>
              <a:rPr lang="en-US" altLang="zh-CN" dirty="0">
                <a:latin typeface="Arial" panose="020B0604020202020204" pitchFamily="34" charset="0"/>
                <a:cs typeface="Arial" panose="020B0604020202020204" pitchFamily="34" charset="0"/>
              </a:rPr>
              <a:t>The processor subsystem</a:t>
            </a:r>
          </a:p>
          <a:p>
            <a:pPr lvl="1">
              <a:lnSpc>
                <a:spcPct val="120000"/>
              </a:lnSpc>
            </a:pPr>
            <a:r>
              <a:rPr lang="en-US" altLang="zh-CN" dirty="0">
                <a:latin typeface="Arial" panose="020B0604020202020204" pitchFamily="34" charset="0"/>
                <a:cs typeface="Arial" panose="020B0604020202020204" pitchFamily="34" charset="0"/>
              </a:rPr>
              <a:t>Interconnects all the other subsystems and some additional peripheries</a:t>
            </a:r>
          </a:p>
          <a:p>
            <a:pPr lvl="1">
              <a:lnSpc>
                <a:spcPct val="120000"/>
              </a:lnSpc>
            </a:pPr>
            <a:r>
              <a:rPr lang="en-US" altLang="zh-CN" dirty="0">
                <a:latin typeface="Arial" panose="020B0604020202020204" pitchFamily="34" charset="0"/>
                <a:cs typeface="Arial" panose="020B0604020202020204" pitchFamily="34" charset="0"/>
              </a:rPr>
              <a:t>Its main purpose is to execute instructions pertaining to </a:t>
            </a:r>
            <a:r>
              <a:rPr lang="en-US" altLang="zh-CN" dirty="0">
                <a:solidFill>
                  <a:srgbClr val="FF0000"/>
                </a:solidFill>
                <a:latin typeface="Arial" panose="020B0604020202020204" pitchFamily="34" charset="0"/>
                <a:cs typeface="Arial" panose="020B0604020202020204" pitchFamily="34" charset="0"/>
              </a:rPr>
              <a:t>sensing</a:t>
            </a:r>
            <a:r>
              <a:rPr lang="en-US" altLang="zh-CN" dirty="0">
                <a:latin typeface="Arial" panose="020B0604020202020204" pitchFamily="34" charset="0"/>
                <a:cs typeface="Arial" panose="020B0604020202020204" pitchFamily="34" charset="0"/>
              </a:rPr>
              <a:t>, </a:t>
            </a:r>
            <a:r>
              <a:rPr lang="en-US" altLang="zh-CN" dirty="0">
                <a:solidFill>
                  <a:srgbClr val="FF0000"/>
                </a:solidFill>
                <a:latin typeface="Arial" panose="020B0604020202020204" pitchFamily="34" charset="0"/>
                <a:cs typeface="Arial" panose="020B0604020202020204" pitchFamily="34" charset="0"/>
              </a:rPr>
              <a:t>communication</a:t>
            </a:r>
            <a:r>
              <a:rPr lang="en-US" altLang="zh-CN" dirty="0">
                <a:latin typeface="Arial" panose="020B0604020202020204" pitchFamily="34" charset="0"/>
                <a:cs typeface="Arial" panose="020B0604020202020204" pitchFamily="34" charset="0"/>
              </a:rPr>
              <a:t> and </a:t>
            </a:r>
            <a:r>
              <a:rPr lang="en-US" altLang="zh-CN" dirty="0">
                <a:solidFill>
                  <a:srgbClr val="FF0000"/>
                </a:solidFill>
                <a:latin typeface="Arial" panose="020B0604020202020204" pitchFamily="34" charset="0"/>
                <a:cs typeface="Arial" panose="020B0604020202020204" pitchFamily="34" charset="0"/>
              </a:rPr>
              <a:t>self-organization</a:t>
            </a:r>
          </a:p>
          <a:p>
            <a:pPr>
              <a:lnSpc>
                <a:spcPct val="120000"/>
              </a:lnSpc>
            </a:pPr>
            <a:r>
              <a:rPr lang="en-US" altLang="zh-CN" dirty="0">
                <a:latin typeface="Arial" panose="020B0604020202020204" pitchFamily="34" charset="0"/>
                <a:cs typeface="Arial" panose="020B0604020202020204" pitchFamily="34" charset="0"/>
              </a:rPr>
              <a:t>It consists</a:t>
            </a:r>
          </a:p>
          <a:p>
            <a:pPr lvl="1">
              <a:lnSpc>
                <a:spcPct val="120000"/>
              </a:lnSpc>
            </a:pPr>
            <a:r>
              <a:rPr lang="en-US" altLang="zh-CN" dirty="0">
                <a:latin typeface="Arial" panose="020B0604020202020204" pitchFamily="34" charset="0"/>
                <a:cs typeface="Arial" panose="020B0604020202020204" pitchFamily="34" charset="0"/>
              </a:rPr>
              <a:t>A processor chip</a:t>
            </a:r>
          </a:p>
          <a:p>
            <a:pPr lvl="1">
              <a:lnSpc>
                <a:spcPct val="120000"/>
              </a:lnSpc>
            </a:pPr>
            <a:r>
              <a:rPr lang="en-US" altLang="zh-CN" dirty="0">
                <a:latin typeface="Arial" panose="020B0604020202020204" pitchFamily="34" charset="0"/>
                <a:cs typeface="Arial" panose="020B0604020202020204" pitchFamily="34" charset="0"/>
              </a:rPr>
              <a:t>A nonvolatile memory ---- stores program instructions</a:t>
            </a:r>
          </a:p>
          <a:p>
            <a:pPr lvl="1">
              <a:lnSpc>
                <a:spcPct val="120000"/>
              </a:lnSpc>
            </a:pPr>
            <a:r>
              <a:rPr lang="en-US" altLang="zh-CN" dirty="0">
                <a:latin typeface="Arial" panose="020B0604020202020204" pitchFamily="34" charset="0"/>
                <a:cs typeface="Arial" panose="020B0604020202020204" pitchFamily="34" charset="0"/>
              </a:rPr>
              <a:t>An active memory ---- temporarily stores the sensed data</a:t>
            </a:r>
          </a:p>
          <a:p>
            <a:pPr lvl="1">
              <a:lnSpc>
                <a:spcPct val="120000"/>
              </a:lnSpc>
            </a:pPr>
            <a:r>
              <a:rPr lang="en-US" altLang="zh-CN" dirty="0">
                <a:latin typeface="Arial" panose="020B0604020202020204" pitchFamily="34" charset="0"/>
                <a:cs typeface="Arial" panose="020B0604020202020204" pitchFamily="34" charset="0"/>
              </a:rPr>
              <a:t>An internal clock</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6197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Architectural Overview</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4538961"/>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The processor subsystem can be designed by employing one of the three basic computer architectures</a:t>
            </a:r>
          </a:p>
          <a:p>
            <a:pPr lvl="1">
              <a:lnSpc>
                <a:spcPct val="120000"/>
              </a:lnSpc>
            </a:pPr>
            <a:r>
              <a:rPr lang="en-US" altLang="zh-CN" i="1" dirty="0">
                <a:solidFill>
                  <a:srgbClr val="FF0000"/>
                </a:solidFill>
                <a:latin typeface="Arial" panose="020B0604020202020204" pitchFamily="34" charset="0"/>
                <a:cs typeface="Arial" panose="020B0604020202020204" pitchFamily="34" charset="0"/>
              </a:rPr>
              <a:t>Von Neumann architecture</a:t>
            </a:r>
          </a:p>
          <a:p>
            <a:pPr lvl="1">
              <a:lnSpc>
                <a:spcPct val="120000"/>
              </a:lnSpc>
            </a:pPr>
            <a:r>
              <a:rPr lang="en-US" altLang="zh-CN" i="1" dirty="0">
                <a:solidFill>
                  <a:srgbClr val="FF0000"/>
                </a:solidFill>
                <a:latin typeface="Arial" panose="020B0604020202020204" pitchFamily="34" charset="0"/>
                <a:cs typeface="Arial" panose="020B0604020202020204" pitchFamily="34" charset="0"/>
              </a:rPr>
              <a:t>Harvard architecture</a:t>
            </a:r>
          </a:p>
          <a:p>
            <a:pPr lvl="1">
              <a:lnSpc>
                <a:spcPct val="120000"/>
              </a:lnSpc>
            </a:pPr>
            <a:r>
              <a:rPr lang="en-US" altLang="zh-CN" i="1" dirty="0">
                <a:solidFill>
                  <a:srgbClr val="FF0000"/>
                </a:solidFill>
                <a:latin typeface="Arial" panose="020B0604020202020204" pitchFamily="34" charset="0"/>
                <a:cs typeface="Arial" panose="020B0604020202020204" pitchFamily="34" charset="0"/>
              </a:rPr>
              <a:t>Super-Harvard (SHARC) architecture</a:t>
            </a:r>
            <a:endParaRPr lang="zh-CN" altLang="en-US"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54119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Von Neumann Architecture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8" y="1825625"/>
            <a:ext cx="5953219" cy="4351338"/>
          </a:xfrm>
        </p:spPr>
        <p:txBody>
          <a:bodyPr>
            <a:normAutofit/>
          </a:bodyPr>
          <a:lstStyle/>
          <a:p>
            <a:pPr>
              <a:lnSpc>
                <a:spcPct val="120000"/>
              </a:lnSpc>
            </a:pPr>
            <a:r>
              <a:rPr lang="en-US" altLang="zh-CN" sz="2400" b="1" dirty="0">
                <a:latin typeface="Arial" panose="020B0604020202020204" pitchFamily="34" charset="0"/>
                <a:cs typeface="Arial" panose="020B0604020202020204" pitchFamily="34" charset="0"/>
              </a:rPr>
              <a:t>Von Neumann architecture</a:t>
            </a:r>
          </a:p>
          <a:p>
            <a:pPr lvl="1">
              <a:lnSpc>
                <a:spcPct val="120000"/>
              </a:lnSpc>
            </a:pPr>
            <a:r>
              <a:rPr lang="en-US" altLang="zh-CN" dirty="0">
                <a:latin typeface="Arial" panose="020B0604020202020204" pitchFamily="34" charset="0"/>
                <a:cs typeface="Arial" panose="020B0604020202020204" pitchFamily="34" charset="0"/>
              </a:rPr>
              <a:t>provides a </a:t>
            </a:r>
            <a:r>
              <a:rPr lang="en-US" altLang="zh-CN" i="1" dirty="0">
                <a:solidFill>
                  <a:srgbClr val="FF0000"/>
                </a:solidFill>
                <a:latin typeface="Arial" panose="020B0604020202020204" pitchFamily="34" charset="0"/>
                <a:cs typeface="Arial" panose="020B0604020202020204" pitchFamily="34" charset="0"/>
              </a:rPr>
              <a:t>single memory </a:t>
            </a:r>
            <a:r>
              <a:rPr lang="en-US" altLang="zh-CN" dirty="0">
                <a:latin typeface="Arial" panose="020B0604020202020204" pitchFamily="34" charset="0"/>
                <a:cs typeface="Arial" panose="020B0604020202020204" pitchFamily="34" charset="0"/>
              </a:rPr>
              <a:t>space ---- storing program instructions and data</a:t>
            </a:r>
          </a:p>
          <a:p>
            <a:pPr lvl="1">
              <a:lnSpc>
                <a:spcPct val="120000"/>
              </a:lnSpc>
            </a:pPr>
            <a:r>
              <a:rPr lang="en-US" altLang="zh-CN" dirty="0">
                <a:latin typeface="Arial" panose="020B0604020202020204" pitchFamily="34" charset="0"/>
                <a:cs typeface="Arial" panose="020B0604020202020204" pitchFamily="34" charset="0"/>
              </a:rPr>
              <a:t>provides a </a:t>
            </a:r>
            <a:r>
              <a:rPr lang="en-US" altLang="zh-CN" i="1" dirty="0">
                <a:solidFill>
                  <a:srgbClr val="FF0000"/>
                </a:solidFill>
                <a:latin typeface="Arial" panose="020B0604020202020204" pitchFamily="34" charset="0"/>
                <a:cs typeface="Arial" panose="020B0604020202020204" pitchFamily="34" charset="0"/>
              </a:rPr>
              <a:t>single bus </a:t>
            </a:r>
            <a:r>
              <a:rPr lang="en-US" altLang="zh-CN" dirty="0">
                <a:latin typeface="Arial" panose="020B0604020202020204" pitchFamily="34" charset="0"/>
                <a:cs typeface="Arial" panose="020B0604020202020204" pitchFamily="34" charset="0"/>
              </a:rPr>
              <a:t>---- to transfer data between the processor and the memory</a:t>
            </a:r>
          </a:p>
          <a:p>
            <a:pPr lvl="1">
              <a:lnSpc>
                <a:spcPct val="120000"/>
              </a:lnSpc>
            </a:pPr>
            <a:r>
              <a:rPr lang="en-US" altLang="zh-CN" i="1" dirty="0">
                <a:solidFill>
                  <a:srgbClr val="FF0000"/>
                </a:solidFill>
                <a:latin typeface="Arial" panose="020B0604020202020204" pitchFamily="34" charset="0"/>
                <a:cs typeface="Arial" panose="020B0604020202020204" pitchFamily="34" charset="0"/>
              </a:rPr>
              <a:t>Slow</a:t>
            </a:r>
            <a:r>
              <a:rPr lang="en-US" altLang="zh-CN" i="1"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processing </a:t>
            </a:r>
            <a:r>
              <a:rPr lang="en-US" altLang="zh-CN" i="1" dirty="0">
                <a:solidFill>
                  <a:srgbClr val="FF0000"/>
                </a:solidFill>
                <a:latin typeface="Arial" panose="020B0604020202020204" pitchFamily="34" charset="0"/>
                <a:cs typeface="Arial" panose="020B0604020202020204" pitchFamily="34" charset="0"/>
              </a:rPr>
              <a:t>speed</a:t>
            </a:r>
            <a:r>
              <a:rPr lang="en-US" altLang="zh-CN" i="1"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 each data transfer requires a separate clock</a:t>
            </a:r>
            <a:endParaRPr lang="zh-CN" altLang="en-US" dirty="0">
              <a:latin typeface="Arial" panose="020B0604020202020204" pitchFamily="34" charset="0"/>
              <a:cs typeface="Arial" panose="020B0604020202020204" pitchFamily="34" charset="0"/>
            </a:endParaRPr>
          </a:p>
        </p:txBody>
      </p:sp>
      <p:pic>
        <p:nvPicPr>
          <p:cNvPr id="4" name="Picture 2">
            <a:extLst>
              <a:ext uri="{FF2B5EF4-FFF2-40B4-BE49-F238E27FC236}">
                <a16:creationId xmlns:a16="http://schemas.microsoft.com/office/drawing/2014/main" id="{D524E1D0-BCD1-4D97-94DE-9AED33D2C8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800"/>
          <a:stretch/>
        </p:blipFill>
        <p:spPr bwMode="auto">
          <a:xfrm>
            <a:off x="6871317" y="2466335"/>
            <a:ext cx="4767682" cy="2981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a:extLst>
              <a:ext uri="{FF2B5EF4-FFF2-40B4-BE49-F238E27FC236}">
                <a16:creationId xmlns:a16="http://schemas.microsoft.com/office/drawing/2014/main" id="{6721AB27-87B4-4EF5-A42B-B2DBCD4951B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6041" r="69687"/>
          <a:stretch/>
        </p:blipFill>
        <p:spPr bwMode="auto">
          <a:xfrm>
            <a:off x="6998191" y="4216894"/>
            <a:ext cx="2483162" cy="1310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96458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Harvard Architecture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1084512" cy="4351338"/>
          </a:xfrm>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Provides </a:t>
            </a:r>
            <a:r>
              <a:rPr lang="en-US" altLang="zh-CN" sz="2400" i="1" dirty="0">
                <a:solidFill>
                  <a:srgbClr val="FF0000"/>
                </a:solidFill>
                <a:latin typeface="Arial" panose="020B0604020202020204" pitchFamily="34" charset="0"/>
                <a:cs typeface="Arial" panose="020B0604020202020204" pitchFamily="34" charset="0"/>
              </a:rPr>
              <a:t>separate memory spaces </a:t>
            </a:r>
            <a:r>
              <a:rPr lang="en-US" altLang="zh-CN" sz="2400" dirty="0">
                <a:latin typeface="Arial" panose="020B0604020202020204" pitchFamily="34" charset="0"/>
                <a:cs typeface="Arial" panose="020B0604020202020204" pitchFamily="34" charset="0"/>
              </a:rPr>
              <a:t>---- storing program instructions and data</a:t>
            </a:r>
          </a:p>
          <a:p>
            <a:pPr>
              <a:lnSpc>
                <a:spcPct val="120000"/>
              </a:lnSpc>
            </a:pPr>
            <a:r>
              <a:rPr lang="en-US" altLang="zh-CN" sz="2400" dirty="0">
                <a:latin typeface="Arial" panose="020B0604020202020204" pitchFamily="34" charset="0"/>
                <a:cs typeface="Arial" panose="020B0604020202020204" pitchFamily="34" charset="0"/>
              </a:rPr>
              <a:t>Each memory space is interfaced with the processor with a separate data bus</a:t>
            </a:r>
          </a:p>
          <a:p>
            <a:pPr>
              <a:lnSpc>
                <a:spcPct val="120000"/>
              </a:lnSpc>
            </a:pPr>
            <a:r>
              <a:rPr lang="en-US" altLang="zh-CN" sz="2400" dirty="0">
                <a:latin typeface="Arial" panose="020B0604020202020204" pitchFamily="34" charset="0"/>
                <a:cs typeface="Arial" panose="020B0604020202020204" pitchFamily="34" charset="0"/>
              </a:rPr>
              <a:t>Program instructions and data can be accessed </a:t>
            </a:r>
            <a:r>
              <a:rPr lang="en-US" altLang="zh-CN" sz="2400" i="1" dirty="0">
                <a:solidFill>
                  <a:srgbClr val="FF0000"/>
                </a:solidFill>
                <a:latin typeface="Arial" panose="020B0604020202020204" pitchFamily="34" charset="0"/>
                <a:cs typeface="Arial" panose="020B0604020202020204" pitchFamily="34" charset="0"/>
              </a:rPr>
              <a:t>at the same time</a:t>
            </a:r>
          </a:p>
          <a:p>
            <a:pPr>
              <a:lnSpc>
                <a:spcPct val="120000"/>
              </a:lnSpc>
            </a:pPr>
            <a:r>
              <a:rPr lang="en-US" altLang="zh-CN" sz="2400" dirty="0">
                <a:latin typeface="Arial" panose="020B0604020202020204" pitchFamily="34" charset="0"/>
                <a:cs typeface="Arial" panose="020B0604020202020204" pitchFamily="34" charset="0"/>
              </a:rPr>
              <a:t>A special </a:t>
            </a:r>
            <a:r>
              <a:rPr lang="en-US" altLang="zh-CN" sz="2400" i="1" dirty="0">
                <a:solidFill>
                  <a:srgbClr val="FF0000"/>
                </a:solidFill>
                <a:latin typeface="Arial" panose="020B0604020202020204" pitchFamily="34" charset="0"/>
                <a:cs typeface="Arial" panose="020B0604020202020204" pitchFamily="34" charset="0"/>
              </a:rPr>
              <a:t>Single instruction, multiple data (SIMD) </a:t>
            </a:r>
            <a:r>
              <a:rPr lang="en-US" altLang="zh-CN" sz="2400" dirty="0">
                <a:latin typeface="Arial" panose="020B0604020202020204" pitchFamily="34" charset="0"/>
                <a:cs typeface="Arial" panose="020B0604020202020204" pitchFamily="34" charset="0"/>
              </a:rPr>
              <a:t>operation, a special arithmetic operation and a Bit reverse. Supports multitasking operating systems; but does not provide virtual memory protection</a:t>
            </a:r>
            <a:endParaRPr lang="zh-CN" altLang="en-US" sz="2400" dirty="0">
              <a:latin typeface="Arial" panose="020B0604020202020204" pitchFamily="34" charset="0"/>
              <a:cs typeface="Arial" panose="020B0604020202020204" pitchFamily="34" charset="0"/>
            </a:endParaRPr>
          </a:p>
        </p:txBody>
      </p:sp>
      <p:pic>
        <p:nvPicPr>
          <p:cNvPr id="4" name="Picture 2">
            <a:extLst>
              <a:ext uri="{FF2B5EF4-FFF2-40B4-BE49-F238E27FC236}">
                <a16:creationId xmlns:a16="http://schemas.microsoft.com/office/drawing/2014/main" id="{A93F8501-60BB-4F2F-8940-9AA2D85846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759"/>
          <a:stretch/>
        </p:blipFill>
        <p:spPr bwMode="auto">
          <a:xfrm>
            <a:off x="559022" y="5054038"/>
            <a:ext cx="8144324" cy="143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a:extLst>
              <a:ext uri="{FF2B5EF4-FFF2-40B4-BE49-F238E27FC236}">
                <a16:creationId xmlns:a16="http://schemas.microsoft.com/office/drawing/2014/main" id="{4459795E-A2BE-419E-ABE3-40F643D3F6F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6041" r="69687"/>
          <a:stretch/>
        </p:blipFill>
        <p:spPr bwMode="auto">
          <a:xfrm>
            <a:off x="8982524" y="5054038"/>
            <a:ext cx="2483162" cy="1310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10858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Super-Harvard Architecture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284781" y="2360847"/>
            <a:ext cx="4808427" cy="4601074"/>
          </a:xfrm>
        </p:spPr>
        <p:txBody>
          <a:bodyPr>
            <a:normAutofit/>
          </a:bodyPr>
          <a:lstStyle/>
          <a:p>
            <a:pPr lvl="1">
              <a:lnSpc>
                <a:spcPct val="120000"/>
              </a:lnSpc>
            </a:pPr>
            <a:r>
              <a:rPr lang="en-US" altLang="zh-CN" sz="2000" b="1" dirty="0">
                <a:latin typeface="Arial" panose="020B0604020202020204" pitchFamily="34" charset="0"/>
                <a:cs typeface="Arial" panose="020B0604020202020204" pitchFamily="34" charset="0"/>
              </a:rPr>
              <a:t>Internal instruction cache </a:t>
            </a:r>
            <a:r>
              <a:rPr lang="en-US" altLang="zh-CN" sz="2000" dirty="0">
                <a:latin typeface="Arial" panose="020B0604020202020204" pitchFamily="34" charset="0"/>
                <a:cs typeface="Arial" panose="020B0604020202020204" pitchFamily="34" charset="0"/>
              </a:rPr>
              <a:t>---- temporarily store frequently used instructions ---- enhances performance</a:t>
            </a:r>
          </a:p>
          <a:p>
            <a:pPr lvl="2">
              <a:lnSpc>
                <a:spcPct val="120000"/>
              </a:lnSpc>
            </a:pPr>
            <a:r>
              <a:rPr lang="en-US" altLang="zh-CN" sz="1800" dirty="0">
                <a:latin typeface="Arial" panose="020B0604020202020204" pitchFamily="34" charset="0"/>
                <a:cs typeface="Arial" panose="020B0604020202020204" pitchFamily="34" charset="0"/>
              </a:rPr>
              <a:t>An underutilized program memory can be used as a temporary relocation place for data</a:t>
            </a:r>
          </a:p>
        </p:txBody>
      </p:sp>
      <p:pic>
        <p:nvPicPr>
          <p:cNvPr id="4" name="Picture 2">
            <a:extLst>
              <a:ext uri="{FF2B5EF4-FFF2-40B4-BE49-F238E27FC236}">
                <a16:creationId xmlns:a16="http://schemas.microsoft.com/office/drawing/2014/main" id="{3F9C5CB5-001E-432F-A781-E87EDD6B35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96"/>
          <a:stretch/>
        </p:blipFill>
        <p:spPr bwMode="auto">
          <a:xfrm>
            <a:off x="5677569" y="2321755"/>
            <a:ext cx="6438231" cy="4516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a:extLst>
              <a:ext uri="{FF2B5EF4-FFF2-40B4-BE49-F238E27FC236}">
                <a16:creationId xmlns:a16="http://schemas.microsoft.com/office/drawing/2014/main" id="{5F2DB78D-BA85-4B17-83F6-608874CB23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6041" r="69687"/>
          <a:stretch/>
        </p:blipFill>
        <p:spPr bwMode="auto">
          <a:xfrm>
            <a:off x="5677569" y="3648456"/>
            <a:ext cx="2361877" cy="1246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a:extLst>
              <a:ext uri="{FF2B5EF4-FFF2-40B4-BE49-F238E27FC236}">
                <a16:creationId xmlns:a16="http://schemas.microsoft.com/office/drawing/2014/main" id="{A0E441D8-F772-4975-BC4C-1F17EBB6D818}"/>
              </a:ext>
            </a:extLst>
          </p:cNvPr>
          <p:cNvSpPr/>
          <p:nvPr/>
        </p:nvSpPr>
        <p:spPr>
          <a:xfrm>
            <a:off x="838200" y="1593458"/>
            <a:ext cx="9887712" cy="494751"/>
          </a:xfrm>
          <a:prstGeom prst="rect">
            <a:avLst/>
          </a:prstGeom>
        </p:spPr>
        <p:txBody>
          <a:bodyPr wrap="square">
            <a:spAutoFit/>
          </a:bodyPr>
          <a:lstStyle/>
          <a:p>
            <a:pPr>
              <a:lnSpc>
                <a:spcPct val="120000"/>
              </a:lnSpc>
            </a:pPr>
            <a:r>
              <a:rPr lang="en-US" altLang="zh-CN" sz="2400" dirty="0">
                <a:latin typeface="Arial" panose="020B0604020202020204" pitchFamily="34" charset="0"/>
                <a:cs typeface="Arial" panose="020B0604020202020204" pitchFamily="34" charset="0"/>
              </a:rPr>
              <a:t>An </a:t>
            </a:r>
            <a:r>
              <a:rPr lang="en-US" altLang="zh-CN" sz="2400" i="1" dirty="0">
                <a:solidFill>
                  <a:srgbClr val="FF0000"/>
                </a:solidFill>
                <a:latin typeface="Arial" panose="020B0604020202020204" pitchFamily="34" charset="0"/>
                <a:cs typeface="Arial" panose="020B0604020202020204" pitchFamily="34" charset="0"/>
              </a:rPr>
              <a:t>extension of the Harvard architecture, adds two components</a:t>
            </a:r>
            <a:r>
              <a:rPr lang="en-US" altLang="zh-CN" sz="2400" dirty="0">
                <a:latin typeface="Arial" panose="020B0604020202020204" pitchFamily="34" charset="0"/>
                <a:cs typeface="Arial" panose="020B0604020202020204" pitchFamily="34" charset="0"/>
              </a:rPr>
              <a:t>:</a:t>
            </a:r>
          </a:p>
        </p:txBody>
      </p:sp>
      <p:sp>
        <p:nvSpPr>
          <p:cNvPr id="7" name="内容占位符 2">
            <a:extLst>
              <a:ext uri="{FF2B5EF4-FFF2-40B4-BE49-F238E27FC236}">
                <a16:creationId xmlns:a16="http://schemas.microsoft.com/office/drawing/2014/main" id="{E45BC0DF-AB25-4553-BDD2-7EBD40D76164}"/>
              </a:ext>
            </a:extLst>
          </p:cNvPr>
          <p:cNvSpPr txBox="1">
            <a:spLocks/>
          </p:cNvSpPr>
          <p:nvPr/>
        </p:nvSpPr>
        <p:spPr>
          <a:xfrm>
            <a:off x="284781" y="5068666"/>
            <a:ext cx="9471867" cy="46010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0000"/>
              </a:lnSpc>
            </a:pPr>
            <a:r>
              <a:rPr lang="en-US" altLang="zh-CN" sz="2000" b="1" dirty="0">
                <a:latin typeface="Arial" panose="020B0604020202020204" pitchFamily="34" charset="0"/>
                <a:cs typeface="Arial" panose="020B0604020202020204" pitchFamily="34" charset="0"/>
              </a:rPr>
              <a:t>Direct Memory Access (DMA)</a:t>
            </a:r>
          </a:p>
          <a:p>
            <a:pPr lvl="2">
              <a:lnSpc>
                <a:spcPct val="120000"/>
              </a:lnSpc>
            </a:pPr>
            <a:r>
              <a:rPr lang="en-US" altLang="zh-CN" sz="1800" dirty="0">
                <a:latin typeface="Arial" panose="020B0604020202020204" pitchFamily="34" charset="0"/>
                <a:cs typeface="Arial" panose="020B0604020202020204" pitchFamily="34" charset="0"/>
              </a:rPr>
              <a:t>The costly CPU cycles can be invested in a different task</a:t>
            </a:r>
          </a:p>
          <a:p>
            <a:pPr lvl="2">
              <a:lnSpc>
                <a:spcPct val="120000"/>
              </a:lnSpc>
            </a:pPr>
            <a:r>
              <a:rPr lang="en-US" altLang="zh-CN" sz="1800" dirty="0">
                <a:latin typeface="Arial" panose="020B0604020202020204" pitchFamily="34" charset="0"/>
                <a:cs typeface="Arial" panose="020B0604020202020204" pitchFamily="34" charset="0"/>
              </a:rPr>
              <a:t>Program memory bus and data memory bus accessible from outside the chip</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75448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Microcontroller</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5032375"/>
          </a:xfrm>
        </p:spPr>
        <p:txBody>
          <a:bodyPr>
            <a:normAutofit/>
          </a:bodyPr>
          <a:lstStyle/>
          <a:p>
            <a:pPr>
              <a:lnSpc>
                <a:spcPct val="120000"/>
              </a:lnSpc>
            </a:pPr>
            <a:r>
              <a:rPr lang="en-US" altLang="zh-CN" sz="2400" b="1" dirty="0">
                <a:latin typeface="Arial" panose="020B0604020202020204" pitchFamily="34" charset="0"/>
                <a:cs typeface="Arial" panose="020B0604020202020204" pitchFamily="34" charset="0"/>
              </a:rPr>
              <a:t>Structure of Microcontroller</a:t>
            </a:r>
          </a:p>
          <a:p>
            <a:pPr lvl="1">
              <a:lnSpc>
                <a:spcPct val="120000"/>
              </a:lnSpc>
            </a:pPr>
            <a:r>
              <a:rPr lang="en-US" altLang="zh-CN" sz="2000" dirty="0">
                <a:latin typeface="Arial" panose="020B0604020202020204" pitchFamily="34" charset="0"/>
                <a:cs typeface="Arial" panose="020B0604020202020204" pitchFamily="34" charset="0"/>
              </a:rPr>
              <a:t>A CPU core</a:t>
            </a:r>
          </a:p>
          <a:p>
            <a:pPr lvl="1">
              <a:lnSpc>
                <a:spcPct val="120000"/>
              </a:lnSpc>
            </a:pPr>
            <a:r>
              <a:rPr lang="en-US" altLang="zh-CN" sz="2000" dirty="0">
                <a:latin typeface="Arial" panose="020B0604020202020204" pitchFamily="34" charset="0"/>
                <a:cs typeface="Arial" panose="020B0604020202020204" pitchFamily="34" charset="0"/>
              </a:rPr>
              <a:t>A volatile memory (RAM) for data storage</a:t>
            </a:r>
          </a:p>
          <a:p>
            <a:pPr lvl="1">
              <a:lnSpc>
                <a:spcPct val="120000"/>
              </a:lnSpc>
            </a:pPr>
            <a:r>
              <a:rPr lang="en-US" altLang="zh-CN" sz="2000" dirty="0">
                <a:latin typeface="Arial" panose="020B0604020202020204" pitchFamily="34" charset="0"/>
                <a:cs typeface="Arial" panose="020B0604020202020204" pitchFamily="34" charset="0"/>
              </a:rPr>
              <a:t>A ROM, EPROM, EEPROM or Flash memory</a:t>
            </a:r>
          </a:p>
          <a:p>
            <a:pPr lvl="1">
              <a:lnSpc>
                <a:spcPct val="120000"/>
              </a:lnSpc>
            </a:pPr>
            <a:r>
              <a:rPr lang="en-US" altLang="zh-CN" sz="2000" dirty="0">
                <a:latin typeface="Arial" panose="020B0604020202020204" pitchFamily="34" charset="0"/>
                <a:cs typeface="Arial" panose="020B0604020202020204" pitchFamily="34" charset="0"/>
              </a:rPr>
              <a:t>Parallel I/O interfaces</a:t>
            </a:r>
          </a:p>
          <a:p>
            <a:pPr lvl="1">
              <a:lnSpc>
                <a:spcPct val="120000"/>
              </a:lnSpc>
            </a:pPr>
            <a:r>
              <a:rPr lang="en-US" altLang="zh-CN" sz="2000" dirty="0">
                <a:latin typeface="Arial" panose="020B0604020202020204" pitchFamily="34" charset="0"/>
                <a:cs typeface="Arial" panose="020B0604020202020204" pitchFamily="34" charset="0"/>
              </a:rPr>
              <a:t>Discrete input and output bits</a:t>
            </a:r>
          </a:p>
          <a:p>
            <a:pPr lvl="1">
              <a:lnSpc>
                <a:spcPct val="120000"/>
              </a:lnSpc>
            </a:pPr>
            <a:r>
              <a:rPr lang="en-US" altLang="zh-CN" sz="2000" dirty="0">
                <a:latin typeface="Arial" panose="020B0604020202020204" pitchFamily="34" charset="0"/>
                <a:cs typeface="Arial" panose="020B0604020202020204" pitchFamily="34" charset="0"/>
              </a:rPr>
              <a:t>A clock generator</a:t>
            </a:r>
          </a:p>
          <a:p>
            <a:pPr lvl="1">
              <a:lnSpc>
                <a:spcPct val="120000"/>
              </a:lnSpc>
            </a:pPr>
            <a:r>
              <a:rPr lang="en-US" altLang="zh-CN" sz="2000" dirty="0">
                <a:latin typeface="Arial" panose="020B0604020202020204" pitchFamily="34" charset="0"/>
                <a:cs typeface="Arial" panose="020B0604020202020204" pitchFamily="34" charset="0"/>
              </a:rPr>
              <a:t>One or more internal analog-to-digital converters</a:t>
            </a:r>
          </a:p>
          <a:p>
            <a:pPr lvl="1">
              <a:lnSpc>
                <a:spcPct val="120000"/>
              </a:lnSpc>
            </a:pPr>
            <a:r>
              <a:rPr lang="en-US" altLang="zh-CN" sz="2000" dirty="0">
                <a:latin typeface="Arial" panose="020B0604020202020204" pitchFamily="34" charset="0"/>
                <a:cs typeface="Arial" panose="020B0604020202020204" pitchFamily="34" charset="0"/>
              </a:rPr>
              <a:t>Serial communications interfaces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34028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Microcontroller</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493694"/>
          </a:xfrm>
        </p:spPr>
        <p:txBody>
          <a:bodyPr>
            <a:noAutofit/>
          </a:bodyPr>
          <a:lstStyle/>
          <a:p>
            <a:pPr>
              <a:lnSpc>
                <a:spcPct val="120000"/>
              </a:lnSpc>
            </a:pPr>
            <a:r>
              <a:rPr lang="en-US" altLang="zh-CN" sz="2400" b="1" dirty="0">
                <a:latin typeface="Arial" panose="020B0604020202020204" pitchFamily="34" charset="0"/>
                <a:cs typeface="Arial" panose="020B0604020202020204" pitchFamily="34" charset="0"/>
              </a:rPr>
              <a:t>Advantages:</a:t>
            </a:r>
          </a:p>
          <a:p>
            <a:pPr lvl="1">
              <a:lnSpc>
                <a:spcPct val="120000"/>
              </a:lnSpc>
            </a:pPr>
            <a:r>
              <a:rPr lang="en-US" altLang="zh-CN" sz="2000" dirty="0">
                <a:latin typeface="Arial" panose="020B0604020202020204" pitchFamily="34" charset="0"/>
                <a:cs typeface="Arial" panose="020B0604020202020204" pitchFamily="34" charset="0"/>
              </a:rPr>
              <a:t>It suitable for building computationally less intensive, standalone applications, because of its </a:t>
            </a:r>
            <a:r>
              <a:rPr lang="en-US" altLang="zh-CN" sz="2000" i="1" dirty="0">
                <a:solidFill>
                  <a:srgbClr val="FF0000"/>
                </a:solidFill>
                <a:latin typeface="Arial" panose="020B0604020202020204" pitchFamily="34" charset="0"/>
                <a:cs typeface="Arial" panose="020B0604020202020204" pitchFamily="34" charset="0"/>
              </a:rPr>
              <a:t>compact construction</a:t>
            </a:r>
            <a:r>
              <a:rPr lang="en-US" altLang="zh-CN" sz="2000" dirty="0">
                <a:latin typeface="Arial" panose="020B0604020202020204" pitchFamily="34" charset="0"/>
                <a:cs typeface="Arial" panose="020B0604020202020204" pitchFamily="34" charset="0"/>
              </a:rPr>
              <a:t>, </a:t>
            </a:r>
            <a:r>
              <a:rPr lang="en-US" altLang="zh-CN" sz="2000" i="1" dirty="0">
                <a:solidFill>
                  <a:srgbClr val="FF0000"/>
                </a:solidFill>
                <a:latin typeface="Arial" panose="020B0604020202020204" pitchFamily="34" charset="0"/>
                <a:cs typeface="Arial" panose="020B0604020202020204" pitchFamily="34" charset="0"/>
              </a:rPr>
              <a:t>small size</a:t>
            </a:r>
            <a:r>
              <a:rPr lang="en-US" altLang="zh-CN" sz="2000" dirty="0">
                <a:latin typeface="Arial" panose="020B0604020202020204" pitchFamily="34" charset="0"/>
                <a:cs typeface="Arial" panose="020B0604020202020204" pitchFamily="34" charset="0"/>
              </a:rPr>
              <a:t>, </a:t>
            </a:r>
            <a:r>
              <a:rPr lang="en-US" altLang="zh-CN" sz="2000" i="1" dirty="0">
                <a:solidFill>
                  <a:srgbClr val="FF0000"/>
                </a:solidFill>
                <a:latin typeface="Arial" panose="020B0604020202020204" pitchFamily="34" charset="0"/>
                <a:cs typeface="Arial" panose="020B0604020202020204" pitchFamily="34" charset="0"/>
              </a:rPr>
              <a:t>low-power consumption</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and </a:t>
            </a:r>
            <a:r>
              <a:rPr lang="en-US" altLang="zh-CN" sz="2000" i="1" dirty="0">
                <a:solidFill>
                  <a:srgbClr val="FF0000"/>
                </a:solidFill>
                <a:latin typeface="Arial" panose="020B0604020202020204" pitchFamily="34" charset="0"/>
                <a:cs typeface="Arial" panose="020B0604020202020204" pitchFamily="34" charset="0"/>
              </a:rPr>
              <a:t>low cost</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High speed </a:t>
            </a:r>
            <a:r>
              <a:rPr lang="en-US" altLang="zh-CN" sz="2000" dirty="0">
                <a:latin typeface="Arial" panose="020B0604020202020204" pitchFamily="34" charset="0"/>
                <a:cs typeface="Arial" panose="020B0604020202020204" pitchFamily="34" charset="0"/>
              </a:rPr>
              <a:t>of the programming and eases debugging, because of the use of higher-level programming languages</a:t>
            </a:r>
          </a:p>
          <a:p>
            <a:pPr>
              <a:lnSpc>
                <a:spcPct val="120000"/>
              </a:lnSpc>
            </a:pPr>
            <a:r>
              <a:rPr lang="en-US" altLang="zh-CN" sz="2400" b="1" dirty="0">
                <a:latin typeface="Arial" panose="020B0604020202020204" pitchFamily="34" charset="0"/>
                <a:cs typeface="Arial" panose="020B0604020202020204" pitchFamily="34" charset="0"/>
              </a:rPr>
              <a:t>Disadvantages:</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Not</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as </a:t>
            </a:r>
            <a:r>
              <a:rPr lang="en-US" altLang="zh-CN" sz="2000" i="1" dirty="0">
                <a:solidFill>
                  <a:srgbClr val="FF0000"/>
                </a:solidFill>
                <a:latin typeface="Arial" panose="020B0604020202020204" pitchFamily="34" charset="0"/>
                <a:cs typeface="Arial" panose="020B0604020202020204" pitchFamily="34" charset="0"/>
              </a:rPr>
              <a:t>powerful</a:t>
            </a:r>
            <a:r>
              <a:rPr lang="en-US" altLang="zh-CN" sz="2000" i="1" dirty="0">
                <a:latin typeface="Arial" panose="020B0604020202020204" pitchFamily="34" charset="0"/>
                <a:cs typeface="Arial" panose="020B0604020202020204" pitchFamily="34" charset="0"/>
              </a:rPr>
              <a:t> </a:t>
            </a:r>
            <a:r>
              <a:rPr lang="en-US" altLang="zh-CN" sz="2000" i="1" dirty="0">
                <a:solidFill>
                  <a:srgbClr val="FF0000"/>
                </a:solidFill>
                <a:latin typeface="Arial" panose="020B0604020202020204" pitchFamily="34" charset="0"/>
                <a:cs typeface="Arial" panose="020B0604020202020204" pitchFamily="34" charset="0"/>
              </a:rPr>
              <a:t>and</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as </a:t>
            </a:r>
            <a:r>
              <a:rPr lang="en-US" altLang="zh-CN" sz="2000" i="1" dirty="0">
                <a:solidFill>
                  <a:srgbClr val="FF0000"/>
                </a:solidFill>
                <a:latin typeface="Arial" panose="020B0604020202020204" pitchFamily="34" charset="0"/>
                <a:cs typeface="Arial" panose="020B0604020202020204" pitchFamily="34" charset="0"/>
              </a:rPr>
              <a:t>efficient</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as some custom-made processors (such as DSPs and FPGAs)</a:t>
            </a:r>
          </a:p>
          <a:p>
            <a:pPr lvl="1">
              <a:lnSpc>
                <a:spcPct val="120000"/>
              </a:lnSpc>
            </a:pPr>
            <a:r>
              <a:rPr lang="en-US" altLang="zh-CN" sz="2000" dirty="0">
                <a:latin typeface="Arial" panose="020B0604020202020204" pitchFamily="34" charset="0"/>
                <a:cs typeface="Arial" panose="020B0604020202020204" pitchFamily="34" charset="0"/>
              </a:rPr>
              <a:t>Some applications (simple sensing tasks but large scale deployments) may prefer to use architecturally simple but energy and cost efficient processors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18749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Digital Signal Processor</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792458"/>
          </a:xfrm>
        </p:spPr>
        <p:txBody>
          <a:bodyPr>
            <a:normAutofit/>
          </a:bodyPr>
          <a:lstStyle/>
          <a:p>
            <a:pPr>
              <a:lnSpc>
                <a:spcPct val="120000"/>
              </a:lnSpc>
            </a:pPr>
            <a:r>
              <a:rPr lang="en-US" altLang="zh-CN" sz="2400" b="1" dirty="0">
                <a:latin typeface="Arial" panose="020B0604020202020204" pitchFamily="34" charset="0"/>
                <a:cs typeface="Arial" panose="020B0604020202020204" pitchFamily="34" charset="0"/>
              </a:rPr>
              <a:t>The main function:</a:t>
            </a:r>
          </a:p>
          <a:p>
            <a:pPr lvl="1">
              <a:lnSpc>
                <a:spcPct val="120000"/>
              </a:lnSpc>
            </a:pPr>
            <a:r>
              <a:rPr lang="en-US" altLang="zh-CN" sz="2000" dirty="0">
                <a:latin typeface="Arial" panose="020B0604020202020204" pitchFamily="34" charset="0"/>
                <a:cs typeface="Arial" panose="020B0604020202020204" pitchFamily="34" charset="0"/>
              </a:rPr>
              <a:t>Process discrete signals with digital filters</a:t>
            </a:r>
          </a:p>
          <a:p>
            <a:pPr lvl="1">
              <a:lnSpc>
                <a:spcPct val="120000"/>
              </a:lnSpc>
            </a:pPr>
            <a:r>
              <a:rPr lang="en-US" altLang="zh-CN" sz="2000" dirty="0">
                <a:latin typeface="Arial" panose="020B0604020202020204" pitchFamily="34" charset="0"/>
                <a:cs typeface="Arial" panose="020B0604020202020204" pitchFamily="34" charset="0"/>
              </a:rPr>
              <a:t>Filters minimize the effect of noise on a signal or enhance or modify the spectral characteristics of a signal</a:t>
            </a:r>
          </a:p>
          <a:p>
            <a:pPr lvl="1">
              <a:lnSpc>
                <a:spcPct val="120000"/>
              </a:lnSpc>
            </a:pPr>
            <a:r>
              <a:rPr lang="en-US" altLang="zh-CN" sz="2000" dirty="0">
                <a:latin typeface="Arial" panose="020B0604020202020204" pitchFamily="34" charset="0"/>
                <a:cs typeface="Arial" panose="020B0604020202020204" pitchFamily="34" charset="0"/>
              </a:rPr>
              <a:t>While analog signal processing requires complex hardware components, digital signal process (DSP) requires simple adders, multipliers, and delay circuits</a:t>
            </a:r>
          </a:p>
          <a:p>
            <a:pPr lvl="1">
              <a:lnSpc>
                <a:spcPct val="120000"/>
              </a:lnSpc>
            </a:pPr>
            <a:r>
              <a:rPr lang="en-US" altLang="zh-CN" sz="2000" dirty="0">
                <a:latin typeface="Arial" panose="020B0604020202020204" pitchFamily="34" charset="0"/>
                <a:cs typeface="Arial" panose="020B0604020202020204" pitchFamily="34" charset="0"/>
              </a:rPr>
              <a:t>DSPs are highly efficient</a:t>
            </a:r>
          </a:p>
          <a:p>
            <a:pPr lvl="1">
              <a:lnSpc>
                <a:spcPct val="120000"/>
              </a:lnSpc>
            </a:pPr>
            <a:r>
              <a:rPr lang="en-US" altLang="zh-CN" sz="2000" dirty="0">
                <a:latin typeface="Arial" panose="020B0604020202020204" pitchFamily="34" charset="0"/>
                <a:cs typeface="Arial" panose="020B0604020202020204" pitchFamily="34" charset="0"/>
              </a:rPr>
              <a:t>Most DSPs are designed with the Harvard Architecture</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377314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199" y="365125"/>
            <a:ext cx="10523899" cy="1325563"/>
          </a:xfrm>
        </p:spPr>
        <p:txBody>
          <a:bodyPr/>
          <a:lstStyle/>
          <a:p>
            <a:pPr>
              <a:lnSpc>
                <a:spcPct val="120000"/>
              </a:lnSpc>
            </a:pPr>
            <a:r>
              <a:rPr lang="en-US" altLang="zh-CN" b="1" dirty="0">
                <a:latin typeface="Arial" panose="020B0604020202020204" pitchFamily="34" charset="0"/>
                <a:cs typeface="Arial" panose="020B0604020202020204" pitchFamily="34" charset="0"/>
              </a:rPr>
              <a:t>Digital Signal Processor</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5"/>
            <a:ext cx="10523899" cy="4351338"/>
          </a:xfrm>
        </p:spPr>
        <p:txBody>
          <a:bodyPr>
            <a:noAutofit/>
          </a:bodyPr>
          <a:lstStyle/>
          <a:p>
            <a:pPr>
              <a:lnSpc>
                <a:spcPct val="120000"/>
              </a:lnSpc>
            </a:pPr>
            <a:r>
              <a:rPr lang="en-US" altLang="zh-CN" sz="2400" b="1" dirty="0">
                <a:latin typeface="Arial" panose="020B0604020202020204" pitchFamily="34" charset="0"/>
                <a:cs typeface="Arial" panose="020B0604020202020204" pitchFamily="34" charset="0"/>
              </a:rPr>
              <a:t>Advantages:</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Powerful</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and </a:t>
            </a:r>
            <a:r>
              <a:rPr lang="en-US" altLang="zh-CN" sz="2000" i="1" dirty="0">
                <a:solidFill>
                  <a:srgbClr val="FF0000"/>
                </a:solidFill>
                <a:latin typeface="Arial" panose="020B0604020202020204" pitchFamily="34" charset="0"/>
                <a:cs typeface="Arial" panose="020B0604020202020204" pitchFamily="34" charset="0"/>
              </a:rPr>
              <a:t>complex</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digital filters can be realized with </a:t>
            </a:r>
            <a:r>
              <a:rPr lang="en-US" altLang="zh-CN" sz="2000" i="1" dirty="0">
                <a:solidFill>
                  <a:srgbClr val="FF0000"/>
                </a:solidFill>
                <a:latin typeface="Arial" panose="020B0604020202020204" pitchFamily="34" charset="0"/>
                <a:cs typeface="Arial" panose="020B0604020202020204" pitchFamily="34" charset="0"/>
              </a:rPr>
              <a:t>commonplace</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DSPs</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Useful for applications </a:t>
            </a:r>
            <a:r>
              <a:rPr lang="en-US" altLang="zh-CN" sz="2000" dirty="0">
                <a:latin typeface="Arial" panose="020B0604020202020204" pitchFamily="34" charset="0"/>
                <a:cs typeface="Arial" panose="020B0604020202020204" pitchFamily="34" charset="0"/>
              </a:rPr>
              <a:t>that require the deployment of nodes in harsh physical settings (where the signal transmission suffers corruption due to noise and interference and, hence, requires aggressive signal processing)</a:t>
            </a:r>
          </a:p>
          <a:p>
            <a:pPr>
              <a:lnSpc>
                <a:spcPct val="120000"/>
              </a:lnSpc>
            </a:pPr>
            <a:r>
              <a:rPr lang="en-US" altLang="zh-CN" sz="2400" b="1" dirty="0">
                <a:latin typeface="Arial" panose="020B0604020202020204" pitchFamily="34" charset="0"/>
                <a:cs typeface="Arial" panose="020B0604020202020204" pitchFamily="34" charset="0"/>
              </a:rPr>
              <a:t>Disadvantage:</a:t>
            </a:r>
          </a:p>
          <a:p>
            <a:pPr lvl="1">
              <a:lnSpc>
                <a:spcPct val="120000"/>
              </a:lnSpc>
            </a:pPr>
            <a:r>
              <a:rPr lang="en-US" altLang="zh-CN" sz="2000" dirty="0">
                <a:latin typeface="Arial" panose="020B0604020202020204" pitchFamily="34" charset="0"/>
                <a:cs typeface="Arial" panose="020B0604020202020204" pitchFamily="34" charset="0"/>
              </a:rPr>
              <a:t>Some tasks require </a:t>
            </a:r>
            <a:r>
              <a:rPr lang="en-US" altLang="zh-CN" sz="2000" i="1" dirty="0">
                <a:solidFill>
                  <a:srgbClr val="FF0000"/>
                </a:solidFill>
                <a:latin typeface="Arial" panose="020B0604020202020204" pitchFamily="34" charset="0"/>
                <a:cs typeface="Arial" panose="020B0604020202020204" pitchFamily="34" charset="0"/>
              </a:rPr>
              <a:t>protocols</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(and not numerical operations) that </a:t>
            </a:r>
            <a:r>
              <a:rPr lang="en-US" altLang="zh-CN" sz="2000" i="1" dirty="0">
                <a:solidFill>
                  <a:srgbClr val="FF0000"/>
                </a:solidFill>
                <a:latin typeface="Arial" panose="020B0604020202020204" pitchFamily="34" charset="0"/>
                <a:cs typeface="Arial" panose="020B0604020202020204" pitchFamily="34" charset="0"/>
              </a:rPr>
              <a:t>require</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periodical </a:t>
            </a:r>
            <a:r>
              <a:rPr lang="en-US" altLang="zh-CN" sz="2000" i="1" dirty="0">
                <a:solidFill>
                  <a:srgbClr val="FF0000"/>
                </a:solidFill>
                <a:latin typeface="Arial" panose="020B0604020202020204" pitchFamily="34" charset="0"/>
                <a:cs typeface="Arial" panose="020B0604020202020204" pitchFamily="34" charset="0"/>
              </a:rPr>
              <a:t>upgrade</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or </a:t>
            </a:r>
            <a:r>
              <a:rPr lang="en-US" altLang="zh-CN" sz="2000" i="1" dirty="0">
                <a:solidFill>
                  <a:srgbClr val="FF0000"/>
                </a:solidFill>
                <a:latin typeface="Arial" panose="020B0604020202020204" pitchFamily="34" charset="0"/>
                <a:cs typeface="Arial" panose="020B0604020202020204" pitchFamily="34" charset="0"/>
              </a:rPr>
              <a:t>modifications</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(i.e., the networks should support flexibility in network reprogramming)</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54880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Application-specific Integrated Circuit</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4"/>
            <a:ext cx="10768343" cy="4882993"/>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ASIC is </a:t>
            </a:r>
            <a:r>
              <a:rPr lang="en-US" altLang="zh-CN" sz="2400" i="1" dirty="0">
                <a:solidFill>
                  <a:srgbClr val="FF0000"/>
                </a:solidFill>
                <a:latin typeface="Arial" panose="020B0604020202020204" pitchFamily="34" charset="0"/>
                <a:cs typeface="Arial" panose="020B0604020202020204" pitchFamily="34" charset="0"/>
              </a:rPr>
              <a:t>an IC </a:t>
            </a:r>
            <a:r>
              <a:rPr lang="en-US" altLang="zh-CN" sz="2400" dirty="0">
                <a:latin typeface="Arial" panose="020B0604020202020204" pitchFamily="34" charset="0"/>
                <a:cs typeface="Arial" panose="020B0604020202020204" pitchFamily="34" charset="0"/>
              </a:rPr>
              <a:t>that can be customized for a specific application</a:t>
            </a:r>
          </a:p>
          <a:p>
            <a:pPr marL="0" indent="0">
              <a:lnSpc>
                <a:spcPct val="120000"/>
              </a:lnSpc>
              <a:buNone/>
            </a:pPr>
            <a:r>
              <a:rPr lang="en-US" altLang="zh-CN" sz="2400" dirty="0">
                <a:latin typeface="Arial" panose="020B0604020202020204" pitchFamily="34" charset="0"/>
                <a:cs typeface="Arial" panose="020B0604020202020204" pitchFamily="34" charset="0"/>
              </a:rPr>
              <a:t>   Two types of design approaches: </a:t>
            </a:r>
            <a:r>
              <a:rPr lang="en-US" altLang="zh-CN" sz="2400" b="1" i="1" dirty="0">
                <a:solidFill>
                  <a:srgbClr val="FF0000"/>
                </a:solidFill>
                <a:latin typeface="Arial" panose="020B0604020202020204" pitchFamily="34" charset="0"/>
                <a:cs typeface="Arial" panose="020B0604020202020204" pitchFamily="34" charset="0"/>
              </a:rPr>
              <a:t>fully customized </a:t>
            </a:r>
            <a:r>
              <a:rPr lang="en-US" altLang="zh-CN" sz="2400" dirty="0">
                <a:latin typeface="Arial" panose="020B0604020202020204" pitchFamily="34" charset="0"/>
                <a:cs typeface="Arial" panose="020B0604020202020204" pitchFamily="34" charset="0"/>
              </a:rPr>
              <a:t>and </a:t>
            </a:r>
            <a:r>
              <a:rPr lang="en-US" altLang="zh-CN" sz="2400" b="1" i="1" dirty="0">
                <a:solidFill>
                  <a:srgbClr val="FF0000"/>
                </a:solidFill>
                <a:latin typeface="Arial" panose="020B0604020202020204" pitchFamily="34" charset="0"/>
                <a:cs typeface="Arial" panose="020B0604020202020204" pitchFamily="34" charset="0"/>
              </a:rPr>
              <a:t>half-customized</a:t>
            </a:r>
          </a:p>
          <a:p>
            <a:pPr lvl="1">
              <a:lnSpc>
                <a:spcPct val="120000"/>
              </a:lnSpc>
            </a:pPr>
            <a:r>
              <a:rPr lang="en-US" altLang="zh-CN" sz="2000" dirty="0">
                <a:latin typeface="Arial" panose="020B0604020202020204" pitchFamily="34" charset="0"/>
                <a:cs typeface="Arial" panose="020B0604020202020204" pitchFamily="34" charset="0"/>
              </a:rPr>
              <a:t>A full-customized IC:</a:t>
            </a:r>
          </a:p>
          <a:p>
            <a:pPr lvl="2">
              <a:lnSpc>
                <a:spcPct val="120000"/>
              </a:lnSpc>
            </a:pPr>
            <a:r>
              <a:rPr lang="en-US" altLang="zh-CN" dirty="0">
                <a:latin typeface="Arial" panose="020B0604020202020204" pitchFamily="34" charset="0"/>
                <a:cs typeface="Arial" panose="020B0604020202020204" pitchFamily="34" charset="0"/>
              </a:rPr>
              <a:t>some logic cells, circuits, or layout are custom made in order to optimize cell performance</a:t>
            </a:r>
          </a:p>
          <a:p>
            <a:pPr lvl="2">
              <a:lnSpc>
                <a:spcPct val="120000"/>
              </a:lnSpc>
            </a:pPr>
            <a:r>
              <a:rPr lang="en-US" altLang="zh-CN" dirty="0">
                <a:latin typeface="Arial" panose="020B0604020202020204" pitchFamily="34" charset="0"/>
                <a:cs typeface="Arial" panose="020B0604020202020204" pitchFamily="34" charset="0"/>
              </a:rPr>
              <a:t>Includes features which are not defined by the standard cell library</a:t>
            </a:r>
          </a:p>
          <a:p>
            <a:pPr lvl="2">
              <a:lnSpc>
                <a:spcPct val="120000"/>
              </a:lnSpc>
            </a:pPr>
            <a:r>
              <a:rPr lang="en-US" altLang="zh-CN" dirty="0">
                <a:latin typeface="Arial" panose="020B0604020202020204" pitchFamily="34" charset="0"/>
                <a:cs typeface="Arial" panose="020B0604020202020204" pitchFamily="34" charset="0"/>
              </a:rPr>
              <a:t>Expensive and long design time</a:t>
            </a:r>
          </a:p>
          <a:p>
            <a:pPr lvl="1">
              <a:lnSpc>
                <a:spcPct val="120000"/>
              </a:lnSpc>
            </a:pPr>
            <a:r>
              <a:rPr lang="en-US" altLang="zh-CN" sz="2000" dirty="0">
                <a:latin typeface="Arial" panose="020B0604020202020204" pitchFamily="34" charset="0"/>
                <a:cs typeface="Arial" panose="020B0604020202020204" pitchFamily="34" charset="0"/>
              </a:rPr>
              <a:t>A half-customized ASIC is built with logic cells that are available in the standard library</a:t>
            </a:r>
          </a:p>
          <a:p>
            <a:pPr lvl="1">
              <a:lnSpc>
                <a:spcPct val="120000"/>
              </a:lnSpc>
            </a:pPr>
            <a:r>
              <a:rPr lang="en-US" altLang="zh-CN" sz="2000" dirty="0">
                <a:latin typeface="Arial" panose="020B0604020202020204" pitchFamily="34" charset="0"/>
                <a:cs typeface="Arial" panose="020B0604020202020204" pitchFamily="34" charset="0"/>
              </a:rPr>
              <a:t>In both cases, the final logic structure is configured by the end user ---- An ASIC is a cost efficient solution, flexible and reusable</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94644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Application-specific Integrated Circuit</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4"/>
            <a:ext cx="10759289" cy="5032375"/>
          </a:xfrm>
        </p:spPr>
        <p:txBody>
          <a:bodyPr>
            <a:noAutofit/>
          </a:bodyPr>
          <a:lstStyle/>
          <a:p>
            <a:pPr>
              <a:lnSpc>
                <a:spcPct val="120000"/>
              </a:lnSpc>
            </a:pPr>
            <a:r>
              <a:rPr lang="en-US" altLang="zh-CN" sz="2400" b="1" dirty="0">
                <a:latin typeface="Arial" panose="020B0604020202020204" pitchFamily="34" charset="0"/>
                <a:cs typeface="Arial" panose="020B0604020202020204" pitchFamily="34" charset="0"/>
              </a:rPr>
              <a:t>Advantages:</a:t>
            </a:r>
          </a:p>
          <a:p>
            <a:pPr lvl="1">
              <a:lnSpc>
                <a:spcPct val="120000"/>
              </a:lnSpc>
            </a:pPr>
            <a:r>
              <a:rPr lang="en-US" altLang="zh-CN" sz="2000" dirty="0">
                <a:latin typeface="Arial" panose="020B0604020202020204" pitchFamily="34" charset="0"/>
                <a:cs typeface="Arial" panose="020B0604020202020204" pitchFamily="34" charset="0"/>
              </a:rPr>
              <a:t>Relatively </a:t>
            </a:r>
            <a:r>
              <a:rPr lang="en-US" altLang="zh-CN" sz="2000" i="1" dirty="0">
                <a:solidFill>
                  <a:srgbClr val="FF0000"/>
                </a:solidFill>
                <a:latin typeface="Arial" panose="020B0604020202020204" pitchFamily="34" charset="0"/>
                <a:cs typeface="Arial" panose="020B0604020202020204" pitchFamily="34" charset="0"/>
              </a:rPr>
              <a:t>simple design</a:t>
            </a:r>
            <a:r>
              <a:rPr lang="en-US" altLang="zh-CN" sz="2000" dirty="0">
                <a:latin typeface="Arial" panose="020B0604020202020204" pitchFamily="34" charset="0"/>
                <a:cs typeface="Arial" panose="020B0604020202020204" pitchFamily="34" charset="0"/>
              </a:rPr>
              <a:t>; can be optimized to </a:t>
            </a:r>
            <a:r>
              <a:rPr lang="en-US" altLang="zh-CN" sz="2000" i="1" dirty="0">
                <a:solidFill>
                  <a:srgbClr val="FF0000"/>
                </a:solidFill>
                <a:latin typeface="Arial" panose="020B0604020202020204" pitchFamily="34" charset="0"/>
                <a:cs typeface="Arial" panose="020B0604020202020204" pitchFamily="34" charset="0"/>
              </a:rPr>
              <a:t>meet a specific customer demand</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Multiple</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microprocessor </a:t>
            </a:r>
            <a:r>
              <a:rPr lang="en-US" altLang="zh-CN" sz="2000" i="1" dirty="0">
                <a:solidFill>
                  <a:srgbClr val="FF0000"/>
                </a:solidFill>
                <a:latin typeface="Arial" panose="020B0604020202020204" pitchFamily="34" charset="0"/>
                <a:cs typeface="Arial" panose="020B0604020202020204" pitchFamily="34" charset="0"/>
              </a:rPr>
              <a:t>cores</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and </a:t>
            </a:r>
            <a:r>
              <a:rPr lang="en-US" altLang="zh-CN" sz="2000" i="1" dirty="0">
                <a:solidFill>
                  <a:srgbClr val="FF0000"/>
                </a:solidFill>
                <a:latin typeface="Arial" panose="020B0604020202020204" pitchFamily="34" charset="0"/>
                <a:cs typeface="Arial" panose="020B0604020202020204" pitchFamily="34" charset="0"/>
              </a:rPr>
              <a:t>embedded software </a:t>
            </a:r>
            <a:r>
              <a:rPr lang="en-US" altLang="zh-CN" sz="2000" dirty="0">
                <a:latin typeface="Arial" panose="020B0604020202020204" pitchFamily="34" charset="0"/>
                <a:cs typeface="Arial" panose="020B0604020202020204" pitchFamily="34" charset="0"/>
              </a:rPr>
              <a:t>can be designed in a </a:t>
            </a:r>
            <a:r>
              <a:rPr lang="en-US" altLang="zh-CN" sz="2000" i="1" dirty="0">
                <a:solidFill>
                  <a:srgbClr val="FF0000"/>
                </a:solidFill>
                <a:latin typeface="Arial" panose="020B0604020202020204" pitchFamily="34" charset="0"/>
                <a:cs typeface="Arial" panose="020B0604020202020204" pitchFamily="34" charset="0"/>
              </a:rPr>
              <a:t>single</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cell</a:t>
            </a:r>
          </a:p>
          <a:p>
            <a:pPr>
              <a:lnSpc>
                <a:spcPct val="120000"/>
              </a:lnSpc>
            </a:pPr>
            <a:r>
              <a:rPr lang="en-US" altLang="zh-CN" sz="2400" b="1" dirty="0">
                <a:latin typeface="Arial" panose="020B0604020202020204" pitchFamily="34" charset="0"/>
                <a:cs typeface="Arial" panose="020B0604020202020204" pitchFamily="34" charset="0"/>
              </a:rPr>
              <a:t>Disadvantage:</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High</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development </a:t>
            </a:r>
            <a:r>
              <a:rPr lang="en-US" altLang="zh-CN" sz="2000" i="1" dirty="0">
                <a:solidFill>
                  <a:srgbClr val="FF0000"/>
                </a:solidFill>
                <a:latin typeface="Arial" panose="020B0604020202020204" pitchFamily="34" charset="0"/>
                <a:cs typeface="Arial" panose="020B0604020202020204" pitchFamily="34" charset="0"/>
              </a:rPr>
              <a:t>costs</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and </a:t>
            </a:r>
            <a:r>
              <a:rPr lang="en-US" altLang="zh-CN" sz="2000" i="1" dirty="0">
                <a:solidFill>
                  <a:srgbClr val="FF0000"/>
                </a:solidFill>
                <a:latin typeface="Arial" panose="020B0604020202020204" pitchFamily="34" charset="0"/>
                <a:cs typeface="Arial" panose="020B0604020202020204" pitchFamily="34" charset="0"/>
              </a:rPr>
              <a:t>lack of re-configurability</a:t>
            </a:r>
          </a:p>
          <a:p>
            <a:pPr>
              <a:lnSpc>
                <a:spcPct val="120000"/>
              </a:lnSpc>
            </a:pPr>
            <a:r>
              <a:rPr lang="en-US" altLang="zh-CN" sz="2400" b="1" dirty="0">
                <a:latin typeface="Arial" panose="020B0604020202020204" pitchFamily="34" charset="0"/>
                <a:cs typeface="Arial" panose="020B0604020202020204" pitchFamily="34" charset="0"/>
              </a:rPr>
              <a:t>Application:</a:t>
            </a:r>
          </a:p>
          <a:p>
            <a:pPr lvl="1">
              <a:lnSpc>
                <a:spcPct val="120000"/>
              </a:lnSpc>
            </a:pPr>
            <a:r>
              <a:rPr lang="en-US" altLang="zh-CN" sz="2000" dirty="0">
                <a:latin typeface="Arial" panose="020B0604020202020204" pitchFamily="34" charset="0"/>
                <a:cs typeface="Arial" panose="020B0604020202020204" pitchFamily="34" charset="0"/>
              </a:rPr>
              <a:t>ASICs is not to replace microcontrollers or DSPs but to complement them</a:t>
            </a:r>
          </a:p>
          <a:p>
            <a:pPr lvl="1">
              <a:lnSpc>
                <a:spcPct val="120000"/>
              </a:lnSpc>
            </a:pPr>
            <a:r>
              <a:rPr lang="en-US" altLang="zh-CN" sz="2000" dirty="0">
                <a:latin typeface="Arial" panose="020B0604020202020204" pitchFamily="34" charset="0"/>
                <a:cs typeface="Arial" panose="020B0604020202020204" pitchFamily="34" charset="0"/>
              </a:rPr>
              <a:t>Handle rudimentary and low-level tasks</a:t>
            </a:r>
          </a:p>
          <a:p>
            <a:pPr lvl="2">
              <a:lnSpc>
                <a:spcPct val="120000"/>
              </a:lnSpc>
            </a:pPr>
            <a:r>
              <a:rPr lang="en-US" altLang="zh-CN" sz="1800" dirty="0">
                <a:latin typeface="Arial" panose="020B0604020202020204" pitchFamily="34" charset="0"/>
                <a:cs typeface="Arial" panose="020B0604020202020204" pitchFamily="34" charset="0"/>
              </a:rPr>
              <a:t>To decouple these tasks from the main processing subsystem</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94853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Field Programmable Gate Array (FPGA)</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pPr>
              <a:lnSpc>
                <a:spcPct val="120000"/>
              </a:lnSpc>
            </a:pPr>
            <a:r>
              <a:rPr lang="en-US" altLang="zh-CN" sz="2400" dirty="0">
                <a:latin typeface="Arial" panose="020B0604020202020204" pitchFamily="34" charset="0"/>
                <a:cs typeface="Arial" panose="020B0604020202020204" pitchFamily="34" charset="0"/>
              </a:rPr>
              <a:t>The distinction between ASICs and FPGAs is not always clear</a:t>
            </a:r>
          </a:p>
          <a:p>
            <a:pPr lvl="1">
              <a:lnSpc>
                <a:spcPct val="120000"/>
              </a:lnSpc>
            </a:pPr>
            <a:r>
              <a:rPr lang="en-US" altLang="zh-CN" sz="2000" dirty="0">
                <a:latin typeface="Arial" panose="020B0604020202020204" pitchFamily="34" charset="0"/>
                <a:cs typeface="Arial" panose="020B0604020202020204" pitchFamily="34" charset="0"/>
              </a:rPr>
              <a:t>FPGAs are </a:t>
            </a:r>
            <a:r>
              <a:rPr lang="en-US" altLang="zh-CN" sz="2000" i="1" dirty="0">
                <a:solidFill>
                  <a:srgbClr val="FF0000"/>
                </a:solidFill>
                <a:latin typeface="Arial" panose="020B0604020202020204" pitchFamily="34" charset="0"/>
                <a:cs typeface="Arial" panose="020B0604020202020204" pitchFamily="34" charset="0"/>
              </a:rPr>
              <a:t>more complex </a:t>
            </a:r>
            <a:r>
              <a:rPr lang="en-US" altLang="zh-CN" sz="2000" dirty="0">
                <a:latin typeface="Arial" panose="020B0604020202020204" pitchFamily="34" charset="0"/>
                <a:cs typeface="Arial" panose="020B0604020202020204" pitchFamily="34" charset="0"/>
              </a:rPr>
              <a:t>in design and </a:t>
            </a:r>
            <a:r>
              <a:rPr lang="en-US" altLang="zh-CN" sz="2000" i="1" dirty="0">
                <a:solidFill>
                  <a:srgbClr val="FF0000"/>
                </a:solidFill>
                <a:latin typeface="Arial" panose="020B0604020202020204" pitchFamily="34" charset="0"/>
                <a:cs typeface="Arial" panose="020B0604020202020204" pitchFamily="34" charset="0"/>
              </a:rPr>
              <a:t>more flexible </a:t>
            </a:r>
            <a:r>
              <a:rPr lang="en-US" altLang="zh-CN" sz="2000" dirty="0">
                <a:latin typeface="Arial" panose="020B0604020202020204" pitchFamily="34" charset="0"/>
                <a:cs typeface="Arial" panose="020B0604020202020204" pitchFamily="34" charset="0"/>
              </a:rPr>
              <a:t>to program</a:t>
            </a:r>
          </a:p>
          <a:p>
            <a:pPr lvl="1">
              <a:lnSpc>
                <a:spcPct val="120000"/>
              </a:lnSpc>
            </a:pPr>
            <a:r>
              <a:rPr lang="en-US" altLang="zh-CN" sz="2000" dirty="0">
                <a:latin typeface="Arial" panose="020B0604020202020204" pitchFamily="34" charset="0"/>
                <a:cs typeface="Arial" panose="020B0604020202020204" pitchFamily="34" charset="0"/>
              </a:rPr>
              <a:t>FPGAs are programmed electrically, by modifying a packaged part</a:t>
            </a:r>
          </a:p>
          <a:p>
            <a:pPr lvl="1">
              <a:lnSpc>
                <a:spcPct val="120000"/>
              </a:lnSpc>
            </a:pPr>
            <a:r>
              <a:rPr lang="en-US" altLang="zh-CN" sz="2000" dirty="0">
                <a:latin typeface="Arial" panose="020B0604020202020204" pitchFamily="34" charset="0"/>
                <a:cs typeface="Arial" panose="020B0604020202020204" pitchFamily="34" charset="0"/>
              </a:rPr>
              <a:t>Programming is done with the support of circuit diagrams and hardware description languages, such as VHDL and Verilog</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057034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Field Programmable Gate Array (FPGA)</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pPr>
              <a:lnSpc>
                <a:spcPct val="120000"/>
              </a:lnSpc>
            </a:pPr>
            <a:r>
              <a:rPr lang="en-US" altLang="zh-CN" sz="2400" b="1" dirty="0">
                <a:latin typeface="Arial" panose="020B0604020202020204" pitchFamily="34" charset="0"/>
                <a:cs typeface="Arial" panose="020B0604020202020204" pitchFamily="34" charset="0"/>
              </a:rPr>
              <a:t>Advantages:</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Higher bandwidth </a:t>
            </a:r>
            <a:r>
              <a:rPr lang="en-US" altLang="zh-CN" sz="2000" dirty="0">
                <a:latin typeface="Arial" panose="020B0604020202020204" pitchFamily="34" charset="0"/>
                <a:cs typeface="Arial" panose="020B0604020202020204" pitchFamily="34" charset="0"/>
              </a:rPr>
              <a:t>compared to DSPs</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Flexible</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in their application</a:t>
            </a:r>
          </a:p>
          <a:p>
            <a:pPr lvl="1">
              <a:lnSpc>
                <a:spcPct val="120000"/>
              </a:lnSpc>
            </a:pPr>
            <a:r>
              <a:rPr lang="en-US" altLang="zh-CN" sz="2000" dirty="0">
                <a:latin typeface="Arial" panose="020B0604020202020204" pitchFamily="34" charset="0"/>
                <a:cs typeface="Arial" panose="020B0604020202020204" pitchFamily="34" charset="0"/>
              </a:rPr>
              <a:t>Support </a:t>
            </a:r>
            <a:r>
              <a:rPr lang="en-US" altLang="zh-CN" sz="2000" i="1" dirty="0">
                <a:solidFill>
                  <a:srgbClr val="FF0000"/>
                </a:solidFill>
                <a:latin typeface="Arial" panose="020B0604020202020204" pitchFamily="34" charset="0"/>
                <a:cs typeface="Arial" panose="020B0604020202020204" pitchFamily="34" charset="0"/>
              </a:rPr>
              <a:t>parallel processing</a:t>
            </a:r>
          </a:p>
          <a:p>
            <a:pPr lvl="1">
              <a:lnSpc>
                <a:spcPct val="120000"/>
              </a:lnSpc>
            </a:pPr>
            <a:r>
              <a:rPr lang="en-US" altLang="zh-CN" sz="2000" dirty="0">
                <a:latin typeface="Arial" panose="020B0604020202020204" pitchFamily="34" charset="0"/>
                <a:cs typeface="Arial" panose="020B0604020202020204" pitchFamily="34" charset="0"/>
              </a:rPr>
              <a:t>Work with </a:t>
            </a:r>
            <a:r>
              <a:rPr lang="en-US" altLang="zh-CN" sz="2000" i="1" dirty="0">
                <a:solidFill>
                  <a:srgbClr val="FF0000"/>
                </a:solidFill>
                <a:latin typeface="Arial" panose="020B0604020202020204" pitchFamily="34" charset="0"/>
                <a:cs typeface="Arial" panose="020B0604020202020204" pitchFamily="34" charset="0"/>
              </a:rPr>
              <a:t>floating point representation</a:t>
            </a:r>
          </a:p>
          <a:p>
            <a:pPr lvl="1">
              <a:lnSpc>
                <a:spcPct val="120000"/>
              </a:lnSpc>
            </a:pPr>
            <a:r>
              <a:rPr lang="en-US" altLang="zh-CN" sz="2000" dirty="0">
                <a:latin typeface="Arial" panose="020B0604020202020204" pitchFamily="34" charset="0"/>
                <a:cs typeface="Arial" panose="020B0604020202020204" pitchFamily="34" charset="0"/>
              </a:rPr>
              <a:t>Greater </a:t>
            </a:r>
            <a:r>
              <a:rPr lang="en-US" altLang="zh-CN" sz="2000" i="1" dirty="0">
                <a:solidFill>
                  <a:srgbClr val="FF0000"/>
                </a:solidFill>
                <a:latin typeface="Arial" panose="020B0604020202020204" pitchFamily="34" charset="0"/>
                <a:cs typeface="Arial" panose="020B0604020202020204" pitchFamily="34" charset="0"/>
              </a:rPr>
              <a:t>flexibility of control</a:t>
            </a:r>
          </a:p>
          <a:p>
            <a:pPr>
              <a:lnSpc>
                <a:spcPct val="120000"/>
              </a:lnSpc>
            </a:pPr>
            <a:r>
              <a:rPr lang="en-US" altLang="zh-CN" sz="2400" b="1" dirty="0">
                <a:latin typeface="Arial" panose="020B0604020202020204" pitchFamily="34" charset="0"/>
                <a:cs typeface="Arial" panose="020B0604020202020204" pitchFamily="34" charset="0"/>
              </a:rPr>
              <a:t>Disadvantages:</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Complex</a:t>
            </a:r>
          </a:p>
          <a:p>
            <a:pPr lvl="1">
              <a:lnSpc>
                <a:spcPct val="120000"/>
              </a:lnSpc>
            </a:pPr>
            <a:r>
              <a:rPr lang="en-US" altLang="zh-CN" sz="2000" dirty="0">
                <a:latin typeface="Arial" panose="020B0604020202020204" pitchFamily="34" charset="0"/>
                <a:cs typeface="Arial" panose="020B0604020202020204" pitchFamily="34" charset="0"/>
              </a:rPr>
              <a:t>The design and realization process is </a:t>
            </a:r>
            <a:r>
              <a:rPr lang="en-US" altLang="zh-CN" sz="2000" i="1" dirty="0">
                <a:solidFill>
                  <a:srgbClr val="FF0000"/>
                </a:solidFill>
                <a:latin typeface="Arial" panose="020B0604020202020204" pitchFamily="34" charset="0"/>
                <a:cs typeface="Arial" panose="020B0604020202020204" pitchFamily="34" charset="0"/>
              </a:rPr>
              <a:t>costly</a:t>
            </a:r>
            <a:endParaRPr lang="zh-CN" altLang="en-US" sz="20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65006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Comparison</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901100"/>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Working with </a:t>
            </a:r>
            <a:r>
              <a:rPr lang="en-US" altLang="zh-CN" sz="2400" i="1" dirty="0">
                <a:solidFill>
                  <a:srgbClr val="FF0000"/>
                </a:solidFill>
                <a:latin typeface="Arial" panose="020B0604020202020204" pitchFamily="34" charset="0"/>
                <a:cs typeface="Arial" panose="020B0604020202020204" pitchFamily="34" charset="0"/>
              </a:rPr>
              <a:t>a micro-controller </a:t>
            </a:r>
            <a:r>
              <a:rPr lang="en-US" altLang="zh-CN" sz="2400" dirty="0">
                <a:latin typeface="Arial" panose="020B0604020202020204" pitchFamily="34" charset="0"/>
                <a:cs typeface="Arial" panose="020B0604020202020204" pitchFamily="34" charset="0"/>
              </a:rPr>
              <a:t>is </a:t>
            </a:r>
            <a:r>
              <a:rPr lang="en-US" altLang="zh-CN" sz="2400" i="1" dirty="0">
                <a:solidFill>
                  <a:srgbClr val="FF0000"/>
                </a:solidFill>
                <a:latin typeface="Arial" panose="020B0604020202020204" pitchFamily="34" charset="0"/>
                <a:cs typeface="Arial" panose="020B0604020202020204" pitchFamily="34" charset="0"/>
              </a:rPr>
              <a:t>preferred</a:t>
            </a:r>
            <a:r>
              <a:rPr lang="en-US" altLang="zh-CN" sz="2400" i="1"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if the design goal is </a:t>
            </a:r>
            <a:r>
              <a:rPr lang="en-US" altLang="zh-CN" sz="2400" i="1" dirty="0">
                <a:solidFill>
                  <a:srgbClr val="FF0000"/>
                </a:solidFill>
                <a:latin typeface="Arial" panose="020B0604020202020204" pitchFamily="34" charset="0"/>
                <a:cs typeface="Arial" panose="020B0604020202020204" pitchFamily="34" charset="0"/>
              </a:rPr>
              <a:t>to achieve flexibility</a:t>
            </a:r>
          </a:p>
          <a:p>
            <a:pPr>
              <a:lnSpc>
                <a:spcPct val="120000"/>
              </a:lnSpc>
            </a:pPr>
            <a:r>
              <a:rPr lang="en-US" altLang="zh-CN" sz="2400" dirty="0">
                <a:latin typeface="Arial" panose="020B0604020202020204" pitchFamily="34" charset="0"/>
                <a:cs typeface="Arial" panose="020B0604020202020204" pitchFamily="34" charset="0"/>
              </a:rPr>
              <a:t>Working with all the other is preferred if power consumption and computational efficiency is desired</a:t>
            </a:r>
          </a:p>
          <a:p>
            <a:pPr>
              <a:lnSpc>
                <a:spcPct val="120000"/>
              </a:lnSpc>
            </a:pPr>
            <a:r>
              <a:rPr lang="en-US" altLang="zh-CN" sz="2400" i="1" dirty="0">
                <a:solidFill>
                  <a:srgbClr val="FF0000"/>
                </a:solidFill>
                <a:latin typeface="Arial" panose="020B0604020202020204" pitchFamily="34" charset="0"/>
                <a:cs typeface="Arial" panose="020B0604020202020204" pitchFamily="34" charset="0"/>
              </a:rPr>
              <a:t>DSPs</a:t>
            </a:r>
            <a:r>
              <a:rPr lang="en-US" altLang="zh-CN" sz="2400" i="1"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are expensive, large in size and less flexible; they are </a:t>
            </a:r>
            <a:r>
              <a:rPr lang="en-US" altLang="zh-CN" sz="2400" i="1" dirty="0">
                <a:solidFill>
                  <a:srgbClr val="FF0000"/>
                </a:solidFill>
                <a:latin typeface="Arial" panose="020B0604020202020204" pitchFamily="34" charset="0"/>
                <a:cs typeface="Arial" panose="020B0604020202020204" pitchFamily="34" charset="0"/>
              </a:rPr>
              <a:t>best for signal processing</a:t>
            </a:r>
            <a:r>
              <a:rPr lang="en-US" altLang="zh-CN" sz="2400" dirty="0">
                <a:latin typeface="Arial" panose="020B0604020202020204" pitchFamily="34" charset="0"/>
                <a:cs typeface="Arial" panose="020B0604020202020204" pitchFamily="34" charset="0"/>
              </a:rPr>
              <a:t>, with specific algorithms</a:t>
            </a:r>
          </a:p>
        </p:txBody>
      </p:sp>
    </p:spTree>
    <p:extLst>
      <p:ext uri="{BB962C8B-B14F-4D97-AF65-F5344CB8AC3E}">
        <p14:creationId xmlns:p14="http://schemas.microsoft.com/office/powerpoint/2010/main" val="34322154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Comparison</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i="1" dirty="0">
                <a:solidFill>
                  <a:srgbClr val="FF0000"/>
                </a:solidFill>
                <a:latin typeface="Arial" panose="020B0604020202020204" pitchFamily="34" charset="0"/>
                <a:cs typeface="Arial" panose="020B0604020202020204" pitchFamily="34" charset="0"/>
              </a:rPr>
              <a:t>FPGAs are faster </a:t>
            </a:r>
            <a:r>
              <a:rPr lang="en-US" altLang="zh-CN" sz="2400" dirty="0">
                <a:latin typeface="Arial" panose="020B0604020202020204" pitchFamily="34" charset="0"/>
                <a:cs typeface="Arial" panose="020B0604020202020204" pitchFamily="34" charset="0"/>
              </a:rPr>
              <a:t>than both microcontrollers and digital signal processors and support </a:t>
            </a:r>
            <a:r>
              <a:rPr lang="en-US" altLang="zh-CN" sz="2400" i="1" dirty="0">
                <a:solidFill>
                  <a:srgbClr val="FF0000"/>
                </a:solidFill>
                <a:latin typeface="Arial" panose="020B0604020202020204" pitchFamily="34" charset="0"/>
                <a:cs typeface="Arial" panose="020B0604020202020204" pitchFamily="34" charset="0"/>
              </a:rPr>
              <a:t>parallel computing</a:t>
            </a:r>
            <a:r>
              <a:rPr lang="en-US" altLang="zh-CN" sz="2400" dirty="0">
                <a:latin typeface="Arial" panose="020B0604020202020204" pitchFamily="34" charset="0"/>
                <a:cs typeface="Arial" panose="020B0604020202020204" pitchFamily="34" charset="0"/>
              </a:rPr>
              <a:t>; but their production cost and the difficulty with programming make them </a:t>
            </a:r>
            <a:r>
              <a:rPr lang="en-US" altLang="zh-CN" sz="2400" i="1" dirty="0">
                <a:solidFill>
                  <a:srgbClr val="FF0000"/>
                </a:solidFill>
                <a:latin typeface="Arial" panose="020B0604020202020204" pitchFamily="34" charset="0"/>
                <a:cs typeface="Arial" panose="020B0604020202020204" pitchFamily="34" charset="0"/>
              </a:rPr>
              <a:t>less suitable</a:t>
            </a:r>
            <a:endParaRPr lang="en-US" altLang="zh-CN" sz="2400" i="1" dirty="0">
              <a:latin typeface="Arial" panose="020B0604020202020204" pitchFamily="34" charset="0"/>
              <a:cs typeface="Arial" panose="020B0604020202020204" pitchFamily="34" charset="0"/>
            </a:endParaRPr>
          </a:p>
          <a:p>
            <a:pPr>
              <a:lnSpc>
                <a:spcPct val="120000"/>
              </a:lnSpc>
            </a:pPr>
            <a:r>
              <a:rPr lang="en-US" altLang="zh-CN" sz="2400" i="1" dirty="0">
                <a:latin typeface="Arial" panose="020B0604020202020204" pitchFamily="34" charset="0"/>
                <a:cs typeface="Arial" panose="020B0604020202020204" pitchFamily="34" charset="0"/>
              </a:rPr>
              <a:t>ASICs </a:t>
            </a:r>
            <a:r>
              <a:rPr lang="en-US" altLang="zh-CN" sz="2400" dirty="0">
                <a:latin typeface="Arial" panose="020B0604020202020204" pitchFamily="34" charset="0"/>
                <a:cs typeface="Arial" panose="020B0604020202020204" pitchFamily="34" charset="0"/>
              </a:rPr>
              <a:t>have </a:t>
            </a:r>
            <a:r>
              <a:rPr lang="en-US" altLang="zh-CN" sz="2400" i="1" dirty="0">
                <a:solidFill>
                  <a:srgbClr val="FF0000"/>
                </a:solidFill>
                <a:latin typeface="Arial" panose="020B0604020202020204" pitchFamily="34" charset="0"/>
                <a:cs typeface="Arial" panose="020B0604020202020204" pitchFamily="34" charset="0"/>
              </a:rPr>
              <a:t>higher bandwidths</a:t>
            </a:r>
            <a:r>
              <a:rPr lang="en-US" altLang="zh-CN" sz="2400" dirty="0">
                <a:latin typeface="Arial" panose="020B0604020202020204" pitchFamily="34" charset="0"/>
                <a:cs typeface="Arial" panose="020B0604020202020204" pitchFamily="34" charset="0"/>
              </a:rPr>
              <a:t>; they are </a:t>
            </a:r>
            <a:r>
              <a:rPr lang="en-US" altLang="zh-CN" sz="2400" i="1" dirty="0">
                <a:solidFill>
                  <a:srgbClr val="FF0000"/>
                </a:solidFill>
                <a:latin typeface="Arial" panose="020B0604020202020204" pitchFamily="34" charset="0"/>
                <a:cs typeface="Arial" panose="020B0604020202020204" pitchFamily="34" charset="0"/>
              </a:rPr>
              <a:t>the smallest </a:t>
            </a:r>
            <a:r>
              <a:rPr lang="en-US" altLang="zh-CN" sz="2400" dirty="0">
                <a:latin typeface="Arial" panose="020B0604020202020204" pitchFamily="34" charset="0"/>
                <a:cs typeface="Arial" panose="020B0604020202020204" pitchFamily="34" charset="0"/>
              </a:rPr>
              <a:t>in size, </a:t>
            </a:r>
            <a:r>
              <a:rPr lang="en-US" altLang="zh-CN" sz="2400" i="1" dirty="0">
                <a:solidFill>
                  <a:srgbClr val="FF0000"/>
                </a:solidFill>
                <a:latin typeface="Arial" panose="020B0604020202020204" pitchFamily="34" charset="0"/>
                <a:cs typeface="Arial" panose="020B0604020202020204" pitchFamily="34" charset="0"/>
              </a:rPr>
              <a:t>perform much better </a:t>
            </a:r>
            <a:r>
              <a:rPr lang="en-US" altLang="zh-CN" sz="2400" dirty="0">
                <a:latin typeface="Arial" panose="020B0604020202020204" pitchFamily="34" charset="0"/>
                <a:cs typeface="Arial" panose="020B0604020202020204" pitchFamily="34" charset="0"/>
              </a:rPr>
              <a:t>and </a:t>
            </a:r>
            <a:r>
              <a:rPr lang="en-US" altLang="zh-CN" sz="2400" i="1" dirty="0">
                <a:solidFill>
                  <a:srgbClr val="FF0000"/>
                </a:solidFill>
                <a:latin typeface="Arial" panose="020B0604020202020204" pitchFamily="34" charset="0"/>
                <a:cs typeface="Arial" panose="020B0604020202020204" pitchFamily="34" charset="0"/>
              </a:rPr>
              <a:t>consume less power </a:t>
            </a:r>
            <a:r>
              <a:rPr lang="en-US" altLang="zh-CN" sz="2400" dirty="0">
                <a:latin typeface="Arial" panose="020B0604020202020204" pitchFamily="34" charset="0"/>
                <a:cs typeface="Arial" panose="020B0604020202020204" pitchFamily="34" charset="0"/>
              </a:rPr>
              <a:t>than any of the other processing types; but have a </a:t>
            </a:r>
            <a:r>
              <a:rPr lang="en-US" altLang="zh-CN" sz="2400" i="1" dirty="0">
                <a:solidFill>
                  <a:srgbClr val="FF0000"/>
                </a:solidFill>
                <a:latin typeface="Arial" panose="020B0604020202020204" pitchFamily="34" charset="0"/>
                <a:cs typeface="Arial" panose="020B0604020202020204" pitchFamily="34" charset="0"/>
              </a:rPr>
              <a:t>high cost </a:t>
            </a:r>
            <a:r>
              <a:rPr lang="en-US" altLang="zh-CN" sz="2400" dirty="0">
                <a:latin typeface="Arial" panose="020B0604020202020204" pitchFamily="34" charset="0"/>
                <a:cs typeface="Arial" panose="020B0604020202020204" pitchFamily="34" charset="0"/>
              </a:rPr>
              <a:t>of production owing to the complex design process</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553668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Node Architecture</a:t>
            </a:r>
          </a:p>
          <a:p>
            <a:pPr>
              <a:lnSpc>
                <a:spcPct val="120000"/>
              </a:lnSpc>
            </a:pPr>
            <a:r>
              <a:rPr lang="en-US" altLang="zh-CN" sz="2400" dirty="0">
                <a:latin typeface="Arial" panose="020B0604020202020204" pitchFamily="34" charset="0"/>
                <a:cs typeface="Arial" panose="020B0604020202020204" pitchFamily="34" charset="0"/>
              </a:rPr>
              <a:t>The Sensing Subsystem</a:t>
            </a:r>
          </a:p>
          <a:p>
            <a:pPr>
              <a:lnSpc>
                <a:spcPct val="120000"/>
              </a:lnSpc>
            </a:pPr>
            <a:r>
              <a:rPr lang="en-US" altLang="zh-CN" sz="2400" dirty="0">
                <a:latin typeface="Arial" panose="020B0604020202020204" pitchFamily="34" charset="0"/>
                <a:cs typeface="Arial" panose="020B0604020202020204" pitchFamily="34" charset="0"/>
              </a:rPr>
              <a:t>The Processor Subsystem</a:t>
            </a:r>
          </a:p>
          <a:p>
            <a:pPr>
              <a:lnSpc>
                <a:spcPct val="120000"/>
              </a:lnSpc>
            </a:pPr>
            <a:r>
              <a:rPr lang="en-US" altLang="zh-CN" sz="2400" b="1" dirty="0">
                <a:latin typeface="Arial" panose="020B0604020202020204" pitchFamily="34" charset="0"/>
                <a:cs typeface="Arial" panose="020B0604020202020204" pitchFamily="34" charset="0"/>
              </a:rPr>
              <a:t>Communication Interfaces</a:t>
            </a:r>
          </a:p>
          <a:p>
            <a:pPr>
              <a:lnSpc>
                <a:spcPct val="120000"/>
              </a:lnSpc>
            </a:pPr>
            <a:r>
              <a:rPr lang="en-US" altLang="zh-CN" sz="2400" dirty="0">
                <a:latin typeface="Arial" panose="020B0604020202020204" pitchFamily="34" charset="0"/>
                <a:cs typeface="Arial" panose="020B0604020202020204" pitchFamily="34" charset="0"/>
              </a:rPr>
              <a:t>Prototypes</a:t>
            </a:r>
          </a:p>
        </p:txBody>
      </p:sp>
    </p:spTree>
    <p:extLst>
      <p:ext uri="{BB962C8B-B14F-4D97-AF65-F5344CB8AC3E}">
        <p14:creationId xmlns:p14="http://schemas.microsoft.com/office/powerpoint/2010/main" val="176830429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Communication Interfaces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i="1" dirty="0">
                <a:solidFill>
                  <a:srgbClr val="FF0000"/>
                </a:solidFill>
                <a:latin typeface="Arial" panose="020B0604020202020204" pitchFamily="34" charset="0"/>
                <a:cs typeface="Arial" panose="020B0604020202020204" pitchFamily="34" charset="0"/>
              </a:rPr>
              <a:t>Fast</a:t>
            </a:r>
            <a:r>
              <a:rPr lang="en-US" altLang="zh-CN" sz="2400" i="1"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and </a:t>
            </a:r>
            <a:r>
              <a:rPr lang="en-US" altLang="zh-CN" sz="2400" i="1" dirty="0">
                <a:solidFill>
                  <a:srgbClr val="FF0000"/>
                </a:solidFill>
                <a:latin typeface="Arial" panose="020B0604020202020204" pitchFamily="34" charset="0"/>
                <a:cs typeface="Arial" panose="020B0604020202020204" pitchFamily="34" charset="0"/>
              </a:rPr>
              <a:t>energy efficient data transfer </a:t>
            </a:r>
            <a:r>
              <a:rPr lang="en-US" altLang="zh-CN" sz="2400" dirty="0">
                <a:latin typeface="Arial" panose="020B0604020202020204" pitchFamily="34" charset="0"/>
                <a:cs typeface="Arial" panose="020B0604020202020204" pitchFamily="34" charset="0"/>
              </a:rPr>
              <a:t>between the subsystems of a wireless sensor node </a:t>
            </a:r>
            <a:r>
              <a:rPr lang="en-US" altLang="zh-CN" sz="2400" i="1" dirty="0">
                <a:solidFill>
                  <a:srgbClr val="FF0000"/>
                </a:solidFill>
                <a:latin typeface="Arial" panose="020B0604020202020204" pitchFamily="34" charset="0"/>
                <a:cs typeface="Arial" panose="020B0604020202020204" pitchFamily="34" charset="0"/>
              </a:rPr>
              <a:t>is vital</a:t>
            </a:r>
          </a:p>
          <a:p>
            <a:pPr lvl="1">
              <a:lnSpc>
                <a:spcPct val="120000"/>
              </a:lnSpc>
            </a:pPr>
            <a:r>
              <a:rPr lang="en-US" altLang="zh-CN" sz="2000" dirty="0">
                <a:latin typeface="Arial" panose="020B0604020202020204" pitchFamily="34" charset="0"/>
                <a:cs typeface="Arial" panose="020B0604020202020204" pitchFamily="34" charset="0"/>
              </a:rPr>
              <a:t>However, the practical size of the node puts restriction on system buses</a:t>
            </a:r>
          </a:p>
          <a:p>
            <a:pPr lvl="1">
              <a:lnSpc>
                <a:spcPct val="120000"/>
              </a:lnSpc>
            </a:pPr>
            <a:r>
              <a:rPr lang="en-US" altLang="zh-CN" sz="2000" dirty="0">
                <a:latin typeface="Arial" panose="020B0604020202020204" pitchFamily="34" charset="0"/>
                <a:cs typeface="Arial" panose="020B0604020202020204" pitchFamily="34" charset="0"/>
              </a:rPr>
              <a:t>Communication via a parallel bus is </a:t>
            </a:r>
            <a:r>
              <a:rPr lang="en-US" altLang="zh-CN" sz="2000" i="1" dirty="0">
                <a:solidFill>
                  <a:srgbClr val="FF0000"/>
                </a:solidFill>
                <a:latin typeface="Arial" panose="020B0604020202020204" pitchFamily="34" charset="0"/>
                <a:cs typeface="Arial" panose="020B0604020202020204" pitchFamily="34" charset="0"/>
              </a:rPr>
              <a:t>faster</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than a serial transmission</a:t>
            </a:r>
          </a:p>
          <a:p>
            <a:pPr lvl="1">
              <a:lnSpc>
                <a:spcPct val="120000"/>
              </a:lnSpc>
            </a:pPr>
            <a:r>
              <a:rPr lang="en-US" altLang="zh-CN" sz="2000" dirty="0">
                <a:latin typeface="Arial" panose="020B0604020202020204" pitchFamily="34" charset="0"/>
                <a:cs typeface="Arial" panose="020B0604020202020204" pitchFamily="34" charset="0"/>
              </a:rPr>
              <a:t>A parallel bus needs </a:t>
            </a:r>
            <a:r>
              <a:rPr lang="en-US" altLang="zh-CN" sz="2000" i="1" dirty="0">
                <a:solidFill>
                  <a:srgbClr val="FF0000"/>
                </a:solidFill>
                <a:latin typeface="Arial" panose="020B0604020202020204" pitchFamily="34" charset="0"/>
                <a:cs typeface="Arial" panose="020B0604020202020204" pitchFamily="34" charset="0"/>
              </a:rPr>
              <a:t>more space</a:t>
            </a:r>
          </a:p>
          <a:p>
            <a:pPr>
              <a:lnSpc>
                <a:spcPct val="120000"/>
              </a:lnSpc>
            </a:pPr>
            <a:r>
              <a:rPr lang="en-US" altLang="zh-CN" sz="2400" dirty="0">
                <a:latin typeface="Arial" panose="020B0604020202020204" pitchFamily="34" charset="0"/>
                <a:cs typeface="Arial" panose="020B0604020202020204" pitchFamily="34" charset="0"/>
              </a:rPr>
              <a:t>Therefore, considering </a:t>
            </a:r>
            <a:r>
              <a:rPr lang="en-US" altLang="zh-CN" sz="2400" i="1" dirty="0">
                <a:solidFill>
                  <a:srgbClr val="FF0000"/>
                </a:solidFill>
                <a:latin typeface="Arial" panose="020B0604020202020204" pitchFamily="34" charset="0"/>
                <a:cs typeface="Arial" panose="020B0604020202020204" pitchFamily="34" charset="0"/>
              </a:rPr>
              <a:t>the size of the node</a:t>
            </a:r>
            <a:r>
              <a:rPr lang="en-US" altLang="zh-CN" sz="2400" dirty="0">
                <a:solidFill>
                  <a:srgbClr val="FF0000"/>
                </a:solidFill>
                <a:latin typeface="Arial" panose="020B0604020202020204" pitchFamily="34" charset="0"/>
                <a:cs typeface="Arial" panose="020B0604020202020204" pitchFamily="34" charset="0"/>
              </a:rPr>
              <a:t>, </a:t>
            </a:r>
            <a:r>
              <a:rPr lang="en-US" altLang="zh-CN" sz="2400" i="1" dirty="0">
                <a:solidFill>
                  <a:srgbClr val="FF0000"/>
                </a:solidFill>
                <a:latin typeface="Arial" panose="020B0604020202020204" pitchFamily="34" charset="0"/>
                <a:cs typeface="Arial" panose="020B0604020202020204" pitchFamily="34" charset="0"/>
              </a:rPr>
              <a:t>parallel buses</a:t>
            </a:r>
            <a:r>
              <a:rPr lang="en-US" altLang="zh-CN" sz="2400" i="1"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are never supported</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97117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Communication Interfaces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pPr>
              <a:lnSpc>
                <a:spcPct val="120000"/>
              </a:lnSpc>
            </a:pPr>
            <a:r>
              <a:rPr lang="en-US" altLang="zh-CN" dirty="0">
                <a:latin typeface="Arial" panose="020B0604020202020204" pitchFamily="34" charset="0"/>
                <a:cs typeface="Arial" panose="020B0604020202020204" pitchFamily="34" charset="0"/>
              </a:rPr>
              <a:t>The choice is often between </a:t>
            </a:r>
            <a:r>
              <a:rPr lang="en-US" altLang="zh-CN" i="1" dirty="0">
                <a:solidFill>
                  <a:srgbClr val="FF0000"/>
                </a:solidFill>
                <a:latin typeface="Arial" panose="020B0604020202020204" pitchFamily="34" charset="0"/>
                <a:cs typeface="Arial" panose="020B0604020202020204" pitchFamily="34" charset="0"/>
              </a:rPr>
              <a:t>serial interfaces</a:t>
            </a:r>
            <a:r>
              <a:rPr lang="en-US" altLang="zh-CN" dirty="0">
                <a:latin typeface="Arial" panose="020B0604020202020204" pitchFamily="34" charset="0"/>
                <a:cs typeface="Arial" panose="020B0604020202020204" pitchFamily="34" charset="0"/>
              </a:rPr>
              <a:t>:</a:t>
            </a:r>
          </a:p>
          <a:p>
            <a:pPr lvl="1">
              <a:lnSpc>
                <a:spcPct val="120000"/>
              </a:lnSpc>
            </a:pPr>
            <a:r>
              <a:rPr lang="en-US" altLang="zh-CN" sz="2000" dirty="0">
                <a:latin typeface="Arial" panose="020B0604020202020204" pitchFamily="34" charset="0"/>
                <a:cs typeface="Arial" panose="020B0604020202020204" pitchFamily="34" charset="0"/>
              </a:rPr>
              <a:t>Serial Peripheral</a:t>
            </a:r>
            <a:r>
              <a:rPr lang="zh-CN" altLang="en-US" sz="2000" dirty="0">
                <a:latin typeface="Arial" panose="020B0604020202020204" pitchFamily="34" charset="0"/>
                <a:cs typeface="Arial" panose="020B0604020202020204" pitchFamily="34" charset="0"/>
              </a:rPr>
              <a:t>外围</a:t>
            </a:r>
            <a:r>
              <a:rPr lang="en-US" altLang="zh-CN" sz="2000" dirty="0">
                <a:latin typeface="Arial" panose="020B0604020202020204" pitchFamily="34" charset="0"/>
                <a:cs typeface="Arial" panose="020B0604020202020204" pitchFamily="34" charset="0"/>
              </a:rPr>
              <a:t> Interface (SPI)</a:t>
            </a:r>
          </a:p>
          <a:p>
            <a:pPr lvl="1">
              <a:lnSpc>
                <a:spcPct val="120000"/>
              </a:lnSpc>
            </a:pPr>
            <a:r>
              <a:rPr lang="en-US" altLang="zh-CN" sz="2000" dirty="0">
                <a:latin typeface="Arial" panose="020B0604020202020204" pitchFamily="34" charset="0"/>
                <a:cs typeface="Arial" panose="020B0604020202020204" pitchFamily="34" charset="0"/>
              </a:rPr>
              <a:t>General Purpose </a:t>
            </a:r>
            <a:r>
              <a:rPr lang="en-US" altLang="zh-CN" sz="2000" dirty="0" err="1">
                <a:latin typeface="Arial" panose="020B0604020202020204" pitchFamily="34" charset="0"/>
                <a:cs typeface="Arial" panose="020B0604020202020204" pitchFamily="34" charset="0"/>
              </a:rPr>
              <a:t>Input/Output</a:t>
            </a:r>
            <a:r>
              <a:rPr lang="en-US" altLang="zh-CN" sz="2000" dirty="0">
                <a:latin typeface="Arial" panose="020B0604020202020204" pitchFamily="34" charset="0"/>
                <a:cs typeface="Arial" panose="020B0604020202020204" pitchFamily="34" charset="0"/>
              </a:rPr>
              <a:t> (GPIO)</a:t>
            </a:r>
          </a:p>
          <a:p>
            <a:pPr lvl="1">
              <a:lnSpc>
                <a:spcPct val="120000"/>
              </a:lnSpc>
            </a:pPr>
            <a:r>
              <a:rPr lang="en-US" altLang="zh-CN" sz="2000" dirty="0">
                <a:latin typeface="Arial" panose="020B0604020202020204" pitchFamily="34" charset="0"/>
                <a:cs typeface="Arial" panose="020B0604020202020204" pitchFamily="34" charset="0"/>
              </a:rPr>
              <a:t>Secure Data </a:t>
            </a:r>
            <a:r>
              <a:rPr lang="en-US" altLang="zh-CN" sz="2000" dirty="0" err="1">
                <a:latin typeface="Arial" panose="020B0604020202020204" pitchFamily="34" charset="0"/>
                <a:cs typeface="Arial" panose="020B0604020202020204" pitchFamily="34" charset="0"/>
              </a:rPr>
              <a:t>Input/Output</a:t>
            </a:r>
            <a:r>
              <a:rPr lang="en-US" altLang="zh-CN" sz="2000" dirty="0">
                <a:latin typeface="Arial" panose="020B0604020202020204" pitchFamily="34" charset="0"/>
                <a:cs typeface="Arial" panose="020B0604020202020204" pitchFamily="34" charset="0"/>
              </a:rPr>
              <a:t> (SDIO)</a:t>
            </a:r>
          </a:p>
          <a:p>
            <a:pPr lvl="1">
              <a:lnSpc>
                <a:spcPct val="120000"/>
              </a:lnSpc>
            </a:pPr>
            <a:r>
              <a:rPr lang="en-US" altLang="zh-CN" sz="2000" dirty="0">
                <a:latin typeface="Arial" panose="020B0604020202020204" pitchFamily="34" charset="0"/>
                <a:cs typeface="Arial" panose="020B0604020202020204" pitchFamily="34" charset="0"/>
              </a:rPr>
              <a:t>Inter-Integrated Circuit (I</a:t>
            </a:r>
            <a:r>
              <a:rPr lang="en-US" altLang="zh-CN" sz="2000" baseline="30000" dirty="0">
                <a:latin typeface="Arial" panose="020B0604020202020204" pitchFamily="34" charset="0"/>
                <a:cs typeface="Arial" panose="020B0604020202020204" pitchFamily="34" charset="0"/>
              </a:rPr>
              <a:t>2</a:t>
            </a:r>
            <a:r>
              <a:rPr lang="en-US" altLang="zh-CN" sz="2000" dirty="0">
                <a:latin typeface="Arial" panose="020B0604020202020204" pitchFamily="34" charset="0"/>
                <a:cs typeface="Arial" panose="020B0604020202020204" pitchFamily="34" charset="0"/>
              </a:rPr>
              <a:t>C)</a:t>
            </a:r>
          </a:p>
          <a:p>
            <a:pPr>
              <a:lnSpc>
                <a:spcPct val="120000"/>
              </a:lnSpc>
            </a:pPr>
            <a:r>
              <a:rPr lang="en-US" altLang="zh-CN" dirty="0">
                <a:latin typeface="Arial" panose="020B0604020202020204" pitchFamily="34" charset="0"/>
                <a:cs typeface="Arial" panose="020B0604020202020204" pitchFamily="34" charset="0"/>
              </a:rPr>
              <a:t>Among these, the most commonly used buses are </a:t>
            </a:r>
            <a:r>
              <a:rPr lang="en-US" altLang="zh-CN" i="1" dirty="0">
                <a:solidFill>
                  <a:srgbClr val="FF0000"/>
                </a:solidFill>
                <a:latin typeface="Arial" panose="020B0604020202020204" pitchFamily="34" charset="0"/>
                <a:cs typeface="Arial" panose="020B0604020202020204" pitchFamily="34" charset="0"/>
              </a:rPr>
              <a:t>SPI</a:t>
            </a:r>
            <a:r>
              <a:rPr lang="en-US" altLang="zh-CN" i="1"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and </a:t>
            </a:r>
            <a:r>
              <a:rPr lang="en-US" altLang="zh-CN" i="1" dirty="0">
                <a:solidFill>
                  <a:srgbClr val="FF0000"/>
                </a:solidFill>
                <a:latin typeface="Arial" panose="020B0604020202020204" pitchFamily="34" charset="0"/>
                <a:cs typeface="Arial" panose="020B0604020202020204" pitchFamily="34" charset="0"/>
              </a:rPr>
              <a:t>I</a:t>
            </a:r>
            <a:r>
              <a:rPr lang="en-US" altLang="zh-CN" i="1" baseline="30000" dirty="0">
                <a:solidFill>
                  <a:srgbClr val="FF0000"/>
                </a:solidFill>
                <a:latin typeface="Arial" panose="020B0604020202020204" pitchFamily="34" charset="0"/>
                <a:cs typeface="Arial" panose="020B0604020202020204" pitchFamily="34" charset="0"/>
              </a:rPr>
              <a:t>2</a:t>
            </a:r>
            <a:r>
              <a:rPr lang="en-US" altLang="zh-CN" i="1" dirty="0">
                <a:solidFill>
                  <a:srgbClr val="FF0000"/>
                </a:solidFill>
                <a:latin typeface="Arial" panose="020B0604020202020204" pitchFamily="34" charset="0"/>
                <a:cs typeface="Arial" panose="020B0604020202020204" pitchFamily="34" charset="0"/>
              </a:rPr>
              <a:t>C</a:t>
            </a:r>
            <a:endParaRPr lang="zh-CN" altLang="en-US"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91450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Serial Peripheral Interface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515600" cy="4855832"/>
          </a:xfrm>
        </p:spPr>
        <p:txBody>
          <a:bodyPr>
            <a:noAutofit/>
          </a:bodyPr>
          <a:lstStyle/>
          <a:p>
            <a:pPr>
              <a:lnSpc>
                <a:spcPct val="100000"/>
              </a:lnSpc>
            </a:pPr>
            <a:r>
              <a:rPr lang="en-US" altLang="zh-CN" sz="2400" dirty="0">
                <a:latin typeface="Arial" panose="020B0604020202020204" pitchFamily="34" charset="0"/>
                <a:cs typeface="Arial" panose="020B0604020202020204" pitchFamily="34" charset="0"/>
              </a:rPr>
              <a:t>SPI (Motorola, in the mid of the 1980s)</a:t>
            </a:r>
          </a:p>
          <a:p>
            <a:pPr lvl="1">
              <a:lnSpc>
                <a:spcPct val="100000"/>
              </a:lnSpc>
            </a:pPr>
            <a:r>
              <a:rPr lang="en-US" altLang="zh-CN" sz="2000" dirty="0">
                <a:latin typeface="Arial" panose="020B0604020202020204" pitchFamily="34" charset="0"/>
                <a:cs typeface="Arial" panose="020B0604020202020204" pitchFamily="34" charset="0"/>
              </a:rPr>
              <a:t>A </a:t>
            </a:r>
            <a:r>
              <a:rPr lang="en-US" altLang="zh-CN" sz="2000" i="1" dirty="0">
                <a:solidFill>
                  <a:srgbClr val="FF0000"/>
                </a:solidFill>
                <a:latin typeface="Arial" panose="020B0604020202020204" pitchFamily="34" charset="0"/>
                <a:cs typeface="Arial" panose="020B0604020202020204" pitchFamily="34" charset="0"/>
              </a:rPr>
              <a:t>high-speed</a:t>
            </a:r>
            <a:r>
              <a:rPr lang="en-US" altLang="zh-CN" sz="2000" dirty="0">
                <a:latin typeface="Arial" panose="020B0604020202020204" pitchFamily="34" charset="0"/>
                <a:cs typeface="Arial" panose="020B0604020202020204" pitchFamily="34" charset="0"/>
              </a:rPr>
              <a:t>, </a:t>
            </a:r>
            <a:r>
              <a:rPr lang="en-US" altLang="zh-CN" sz="2000" i="1" dirty="0">
                <a:solidFill>
                  <a:srgbClr val="FF0000"/>
                </a:solidFill>
                <a:latin typeface="Arial" panose="020B0604020202020204" pitchFamily="34" charset="0"/>
                <a:cs typeface="Arial" panose="020B0604020202020204" pitchFamily="34" charset="0"/>
              </a:rPr>
              <a:t>full-duplex</a:t>
            </a:r>
            <a:r>
              <a:rPr lang="en-US" altLang="zh-CN" sz="2000" i="1" dirty="0">
                <a:latin typeface="Arial" panose="020B0604020202020204" pitchFamily="34" charset="0"/>
                <a:cs typeface="Arial" panose="020B0604020202020204" pitchFamily="34" charset="0"/>
              </a:rPr>
              <a:t> </a:t>
            </a:r>
            <a:r>
              <a:rPr lang="en-US" altLang="zh-CN" sz="2000" i="1" dirty="0">
                <a:solidFill>
                  <a:srgbClr val="FF0000"/>
                </a:solidFill>
                <a:latin typeface="Arial" panose="020B0604020202020204" pitchFamily="34" charset="0"/>
                <a:cs typeface="Arial" panose="020B0604020202020204" pitchFamily="34" charset="0"/>
              </a:rPr>
              <a:t>synchronous</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serial bus</a:t>
            </a:r>
          </a:p>
          <a:p>
            <a:pPr lvl="1">
              <a:lnSpc>
                <a:spcPct val="100000"/>
              </a:lnSpc>
            </a:pPr>
            <a:r>
              <a:rPr lang="en-US" altLang="zh-CN" sz="2000" dirty="0">
                <a:latin typeface="Arial" panose="020B0604020202020204" pitchFamily="34" charset="0"/>
                <a:cs typeface="Arial" panose="020B0604020202020204" pitchFamily="34" charset="0"/>
              </a:rPr>
              <a:t>Does </a:t>
            </a:r>
            <a:r>
              <a:rPr lang="en-US" altLang="zh-CN" sz="2000" i="1" dirty="0">
                <a:solidFill>
                  <a:srgbClr val="FF0000"/>
                </a:solidFill>
                <a:latin typeface="Arial" panose="020B0604020202020204" pitchFamily="34" charset="0"/>
                <a:cs typeface="Arial" panose="020B0604020202020204" pitchFamily="34" charset="0"/>
              </a:rPr>
              <a:t>not</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have an official standard, but use the SPI interface should conform to the implementation specification of others  ---- correct communication</a:t>
            </a:r>
          </a:p>
          <a:p>
            <a:pPr>
              <a:lnSpc>
                <a:spcPct val="100000"/>
              </a:lnSpc>
            </a:pPr>
            <a:r>
              <a:rPr lang="en-US" altLang="zh-CN" sz="2400" dirty="0">
                <a:latin typeface="Arial" panose="020B0604020202020204" pitchFamily="34" charset="0"/>
                <a:cs typeface="Arial" panose="020B0604020202020204" pitchFamily="34" charset="0"/>
              </a:rPr>
              <a:t>The SPI bus defines </a:t>
            </a:r>
            <a:r>
              <a:rPr lang="en-US" altLang="zh-CN" sz="2400" i="1" dirty="0">
                <a:solidFill>
                  <a:srgbClr val="FF0000"/>
                </a:solidFill>
                <a:latin typeface="Arial" panose="020B0604020202020204" pitchFamily="34" charset="0"/>
                <a:cs typeface="Arial" panose="020B0604020202020204" pitchFamily="34" charset="0"/>
              </a:rPr>
              <a:t>four pins</a:t>
            </a:r>
            <a:r>
              <a:rPr lang="en-US" altLang="zh-CN" sz="2400" dirty="0">
                <a:latin typeface="Arial" panose="020B0604020202020204" pitchFamily="34" charset="0"/>
                <a:cs typeface="Arial" panose="020B0604020202020204" pitchFamily="34" charset="0"/>
              </a:rPr>
              <a:t>:</a:t>
            </a:r>
          </a:p>
          <a:p>
            <a:pPr lvl="1">
              <a:lnSpc>
                <a:spcPct val="100000"/>
              </a:lnSpc>
            </a:pPr>
            <a:r>
              <a:rPr lang="en-US" altLang="zh-CN" sz="2000" dirty="0">
                <a:latin typeface="Arial" panose="020B0604020202020204" pitchFamily="34" charset="0"/>
                <a:cs typeface="Arial" panose="020B0604020202020204" pitchFamily="34" charset="0"/>
              </a:rPr>
              <a:t>MOSI (</a:t>
            </a:r>
            <a:r>
              <a:rPr lang="en-US" altLang="zh-CN" sz="2000" dirty="0" err="1">
                <a:latin typeface="Arial" panose="020B0604020202020204" pitchFamily="34" charset="0"/>
                <a:cs typeface="Arial" panose="020B0604020202020204" pitchFamily="34" charset="0"/>
              </a:rPr>
              <a:t>MasterOut</a:t>
            </a:r>
            <a:r>
              <a:rPr lang="en-US" altLang="zh-CN" sz="2000" dirty="0">
                <a:latin typeface="Arial" panose="020B0604020202020204" pitchFamily="34" charset="0"/>
                <a:cs typeface="Arial" panose="020B0604020202020204" pitchFamily="34" charset="0"/>
              </a:rPr>
              <a:t>/</a:t>
            </a:r>
            <a:r>
              <a:rPr lang="en-US" altLang="zh-CN" sz="2000" dirty="0" err="1">
                <a:latin typeface="Arial" panose="020B0604020202020204" pitchFamily="34" charset="0"/>
                <a:cs typeface="Arial" panose="020B0604020202020204" pitchFamily="34" charset="0"/>
              </a:rPr>
              <a:t>SlaveIn</a:t>
            </a:r>
            <a:r>
              <a:rPr lang="en-US" altLang="zh-CN" sz="2000" dirty="0">
                <a:latin typeface="Arial" panose="020B0604020202020204" pitchFamily="34" charset="0"/>
                <a:cs typeface="Arial" panose="020B0604020202020204" pitchFamily="34" charset="0"/>
              </a:rPr>
              <a:t>)</a:t>
            </a:r>
          </a:p>
          <a:p>
            <a:pPr lvl="2">
              <a:lnSpc>
                <a:spcPct val="100000"/>
              </a:lnSpc>
            </a:pPr>
            <a:r>
              <a:rPr lang="en-US" altLang="zh-CN" dirty="0">
                <a:latin typeface="Arial" panose="020B0604020202020204" pitchFamily="34" charset="0"/>
                <a:cs typeface="Arial" panose="020B0604020202020204" pitchFamily="34" charset="0"/>
              </a:rPr>
              <a:t>It is used to transmit data </a:t>
            </a:r>
            <a:r>
              <a:rPr lang="en-US" altLang="zh-CN" i="1" dirty="0">
                <a:solidFill>
                  <a:srgbClr val="FF0000"/>
                </a:solidFill>
                <a:latin typeface="Arial" panose="020B0604020202020204" pitchFamily="34" charset="0"/>
                <a:cs typeface="Arial" panose="020B0604020202020204" pitchFamily="34" charset="0"/>
              </a:rPr>
              <a:t>from the master to the slave </a:t>
            </a:r>
            <a:r>
              <a:rPr lang="en-US" altLang="zh-CN" dirty="0">
                <a:latin typeface="Arial" panose="020B0604020202020204" pitchFamily="34" charset="0"/>
                <a:cs typeface="Arial" panose="020B0604020202020204" pitchFamily="34" charset="0"/>
              </a:rPr>
              <a:t>when a device is configured as a master</a:t>
            </a:r>
          </a:p>
          <a:p>
            <a:pPr lvl="1">
              <a:lnSpc>
                <a:spcPct val="100000"/>
              </a:lnSpc>
            </a:pPr>
            <a:r>
              <a:rPr lang="en-US" altLang="zh-CN" sz="2000" dirty="0">
                <a:latin typeface="Arial" panose="020B0604020202020204" pitchFamily="34" charset="0"/>
                <a:cs typeface="Arial" panose="020B0604020202020204" pitchFamily="34" charset="0"/>
              </a:rPr>
              <a:t>MISO (</a:t>
            </a:r>
            <a:r>
              <a:rPr lang="en-US" altLang="zh-CN" sz="2000" dirty="0" err="1">
                <a:latin typeface="Arial" panose="020B0604020202020204" pitchFamily="34" charset="0"/>
                <a:cs typeface="Arial" panose="020B0604020202020204" pitchFamily="34" charset="0"/>
              </a:rPr>
              <a:t>MasterIn</a:t>
            </a:r>
            <a:r>
              <a:rPr lang="en-US" altLang="zh-CN" sz="2000" dirty="0">
                <a:latin typeface="Arial" panose="020B0604020202020204" pitchFamily="34" charset="0"/>
                <a:cs typeface="Arial" panose="020B0604020202020204" pitchFamily="34" charset="0"/>
              </a:rPr>
              <a:t>/</a:t>
            </a:r>
            <a:r>
              <a:rPr lang="en-US" altLang="zh-CN" sz="2000" dirty="0" err="1">
                <a:latin typeface="Arial" panose="020B0604020202020204" pitchFamily="34" charset="0"/>
                <a:cs typeface="Arial" panose="020B0604020202020204" pitchFamily="34" charset="0"/>
              </a:rPr>
              <a:t>SlaveOut</a:t>
            </a:r>
            <a:r>
              <a:rPr lang="en-US" altLang="zh-CN" sz="2000" dirty="0">
                <a:latin typeface="Arial" panose="020B0604020202020204" pitchFamily="34" charset="0"/>
                <a:cs typeface="Arial" panose="020B0604020202020204" pitchFamily="34" charset="0"/>
              </a:rPr>
              <a:t>)</a:t>
            </a:r>
          </a:p>
          <a:p>
            <a:pPr lvl="1">
              <a:lnSpc>
                <a:spcPct val="100000"/>
              </a:lnSpc>
            </a:pPr>
            <a:r>
              <a:rPr lang="en-US" altLang="zh-CN" sz="2000" dirty="0">
                <a:latin typeface="Arial" panose="020B0604020202020204" pitchFamily="34" charset="0"/>
                <a:cs typeface="Arial" panose="020B0604020202020204" pitchFamily="34" charset="0"/>
              </a:rPr>
              <a:t>SCLK (Serial Clock)</a:t>
            </a:r>
          </a:p>
          <a:p>
            <a:pPr lvl="2">
              <a:lnSpc>
                <a:spcPct val="100000"/>
              </a:lnSpc>
            </a:pPr>
            <a:r>
              <a:rPr lang="en-US" altLang="zh-CN" dirty="0">
                <a:latin typeface="Arial" panose="020B0604020202020204" pitchFamily="34" charset="0"/>
                <a:cs typeface="Arial" panose="020B0604020202020204" pitchFamily="34" charset="0"/>
              </a:rPr>
              <a:t>By the </a:t>
            </a:r>
            <a:r>
              <a:rPr lang="en-US" altLang="zh-CN" i="1" dirty="0">
                <a:solidFill>
                  <a:srgbClr val="FF0000"/>
                </a:solidFill>
                <a:latin typeface="Arial" panose="020B0604020202020204" pitchFamily="34" charset="0"/>
                <a:cs typeface="Arial" panose="020B0604020202020204" pitchFamily="34" charset="0"/>
              </a:rPr>
              <a:t>master to send </a:t>
            </a:r>
            <a:r>
              <a:rPr lang="en-US" altLang="zh-CN" dirty="0">
                <a:latin typeface="Arial" panose="020B0604020202020204" pitchFamily="34" charset="0"/>
                <a:cs typeface="Arial" panose="020B0604020202020204" pitchFamily="34" charset="0"/>
              </a:rPr>
              <a:t>the clock signal that is needed to </a:t>
            </a:r>
            <a:r>
              <a:rPr lang="en-US" altLang="zh-CN" i="1" dirty="0">
                <a:solidFill>
                  <a:srgbClr val="FF0000"/>
                </a:solidFill>
                <a:latin typeface="Arial" panose="020B0604020202020204" pitchFamily="34" charset="0"/>
                <a:cs typeface="Arial" panose="020B0604020202020204" pitchFamily="34" charset="0"/>
              </a:rPr>
              <a:t>synchronize transmission</a:t>
            </a:r>
          </a:p>
          <a:p>
            <a:pPr lvl="2">
              <a:lnSpc>
                <a:spcPct val="100000"/>
              </a:lnSpc>
            </a:pPr>
            <a:r>
              <a:rPr lang="en-US" altLang="zh-CN" dirty="0">
                <a:latin typeface="Arial" panose="020B0604020202020204" pitchFamily="34" charset="0"/>
                <a:cs typeface="Arial" panose="020B0604020202020204" pitchFamily="34" charset="0"/>
              </a:rPr>
              <a:t>By the </a:t>
            </a:r>
            <a:r>
              <a:rPr lang="en-US" altLang="zh-CN" i="1" dirty="0">
                <a:solidFill>
                  <a:srgbClr val="FF0000"/>
                </a:solidFill>
                <a:latin typeface="Arial" panose="020B0604020202020204" pitchFamily="34" charset="0"/>
                <a:cs typeface="Arial" panose="020B0604020202020204" pitchFamily="34" charset="0"/>
              </a:rPr>
              <a:t>slave to read </a:t>
            </a:r>
            <a:r>
              <a:rPr lang="en-US" altLang="zh-CN" dirty="0">
                <a:latin typeface="Arial" panose="020B0604020202020204" pitchFamily="34" charset="0"/>
                <a:cs typeface="Arial" panose="020B0604020202020204" pitchFamily="34" charset="0"/>
              </a:rPr>
              <a:t>this signal synchronize transmission</a:t>
            </a:r>
          </a:p>
          <a:p>
            <a:pPr lvl="1">
              <a:lnSpc>
                <a:spcPct val="100000"/>
              </a:lnSpc>
            </a:pPr>
            <a:r>
              <a:rPr lang="en-US" altLang="zh-CN" sz="2000" dirty="0">
                <a:latin typeface="Arial" panose="020B0604020202020204" pitchFamily="34" charset="0"/>
                <a:cs typeface="Arial" panose="020B0604020202020204" pitchFamily="34" charset="0"/>
              </a:rPr>
              <a:t>CS (Chip Select) ---- communicate via the CS port</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28329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Serial Peripheral Interface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Both master and slave devices hold a shift register</a:t>
            </a:r>
          </a:p>
          <a:p>
            <a:pPr>
              <a:lnSpc>
                <a:spcPct val="120000"/>
              </a:lnSpc>
            </a:pPr>
            <a:r>
              <a:rPr lang="en-US" altLang="zh-CN" sz="2400" dirty="0">
                <a:latin typeface="Arial" panose="020B0604020202020204" pitchFamily="34" charset="0"/>
                <a:cs typeface="Arial" panose="020B0604020202020204" pitchFamily="34" charset="0"/>
              </a:rPr>
              <a:t>Every device in every transmission must read and send data</a:t>
            </a:r>
          </a:p>
          <a:p>
            <a:pPr>
              <a:lnSpc>
                <a:spcPct val="120000"/>
              </a:lnSpc>
            </a:pPr>
            <a:r>
              <a:rPr lang="fr-FR" altLang="zh-CN" sz="2400" dirty="0">
                <a:latin typeface="Arial" panose="020B0604020202020204" pitchFamily="34" charset="0"/>
                <a:cs typeface="Arial" panose="020B0604020202020204" pitchFamily="34" charset="0"/>
              </a:rPr>
              <a:t>SPI supports a </a:t>
            </a:r>
            <a:r>
              <a:rPr lang="fr-FR" altLang="zh-CN" sz="2400" i="1" dirty="0">
                <a:solidFill>
                  <a:srgbClr val="FF0000"/>
                </a:solidFill>
                <a:latin typeface="Arial" panose="020B0604020202020204" pitchFamily="34" charset="0"/>
                <a:cs typeface="Arial" panose="020B0604020202020204" pitchFamily="34" charset="0"/>
              </a:rPr>
              <a:t>synchronous communication protocol</a:t>
            </a:r>
          </a:p>
          <a:p>
            <a:pPr lvl="1">
              <a:lnSpc>
                <a:spcPct val="120000"/>
              </a:lnSpc>
            </a:pPr>
            <a:r>
              <a:rPr lang="en-US" altLang="zh-CN" sz="2000" dirty="0">
                <a:latin typeface="Arial" panose="020B0604020202020204" pitchFamily="34" charset="0"/>
                <a:cs typeface="Arial" panose="020B0604020202020204" pitchFamily="34" charset="0"/>
              </a:rPr>
              <a:t>The master and the slave must agree on the timing</a:t>
            </a:r>
          </a:p>
          <a:p>
            <a:pPr lvl="1">
              <a:lnSpc>
                <a:spcPct val="120000"/>
              </a:lnSpc>
            </a:pPr>
            <a:r>
              <a:rPr lang="en-US" altLang="zh-CN" sz="2000" dirty="0">
                <a:latin typeface="Arial" panose="020B0604020202020204" pitchFamily="34" charset="0"/>
                <a:cs typeface="Arial" panose="020B0604020202020204" pitchFamily="34" charset="0"/>
              </a:rPr>
              <a:t>Master and slave should agree on two additional parameters</a:t>
            </a:r>
          </a:p>
          <a:p>
            <a:pPr lvl="2">
              <a:lnSpc>
                <a:spcPct val="120000"/>
              </a:lnSpc>
            </a:pPr>
            <a:r>
              <a:rPr lang="en-US" altLang="zh-CN" sz="1800" dirty="0">
                <a:latin typeface="Arial" panose="020B0604020202020204" pitchFamily="34" charset="0"/>
                <a:cs typeface="Arial" panose="020B0604020202020204" pitchFamily="34" charset="0"/>
              </a:rPr>
              <a:t>Clock polarity (</a:t>
            </a:r>
            <a:r>
              <a:rPr lang="en-US" altLang="zh-CN" sz="1800" i="1" dirty="0">
                <a:solidFill>
                  <a:srgbClr val="FF0000"/>
                </a:solidFill>
                <a:latin typeface="Arial" panose="020B0604020202020204" pitchFamily="34" charset="0"/>
                <a:cs typeface="Arial" panose="020B0604020202020204" pitchFamily="34" charset="0"/>
              </a:rPr>
              <a:t>CPOL</a:t>
            </a:r>
            <a:r>
              <a:rPr lang="en-US" altLang="zh-CN" sz="1800" dirty="0">
                <a:latin typeface="Arial" panose="020B0604020202020204" pitchFamily="34" charset="0"/>
                <a:cs typeface="Arial" panose="020B0604020202020204" pitchFamily="34" charset="0"/>
              </a:rPr>
              <a:t>) ---- defines whether a clock is used as high- or low-active</a:t>
            </a:r>
          </a:p>
          <a:p>
            <a:pPr lvl="2">
              <a:lnSpc>
                <a:spcPct val="120000"/>
              </a:lnSpc>
            </a:pPr>
            <a:r>
              <a:rPr lang="en-US" altLang="zh-CN" sz="1800" dirty="0">
                <a:latin typeface="Arial" panose="020B0604020202020204" pitchFamily="34" charset="0"/>
                <a:cs typeface="Arial" panose="020B0604020202020204" pitchFamily="34" charset="0"/>
              </a:rPr>
              <a:t>Clock phase (</a:t>
            </a:r>
            <a:r>
              <a:rPr lang="en-US" altLang="zh-CN" sz="1800" i="1" dirty="0">
                <a:solidFill>
                  <a:srgbClr val="FF0000"/>
                </a:solidFill>
                <a:latin typeface="Arial" panose="020B0604020202020204" pitchFamily="34" charset="0"/>
                <a:cs typeface="Arial" panose="020B0604020202020204" pitchFamily="34" charset="0"/>
              </a:rPr>
              <a:t>CPHA</a:t>
            </a:r>
            <a:r>
              <a:rPr lang="en-US" altLang="zh-CN" sz="1800" dirty="0">
                <a:latin typeface="Arial" panose="020B0604020202020204" pitchFamily="34" charset="0"/>
                <a:cs typeface="Arial" panose="020B0604020202020204" pitchFamily="34" charset="0"/>
              </a:rPr>
              <a:t>) ---- determines the times when the data in the registers is allowed to change and when the written data can be read</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93060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Serial Peripheral Interface</a:t>
            </a:r>
            <a:endParaRPr lang="zh-CN" altLang="en-US" dirty="0">
              <a:latin typeface="Arial" panose="020B0604020202020204" pitchFamily="34" charset="0"/>
              <a:cs typeface="Arial" panose="020B0604020202020204" pitchFamily="34"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491" y="1801193"/>
            <a:ext cx="6509726" cy="4050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图片 3">
            <a:extLst>
              <a:ext uri="{FF2B5EF4-FFF2-40B4-BE49-F238E27FC236}">
                <a16:creationId xmlns:a16="http://schemas.microsoft.com/office/drawing/2014/main" id="{2BC6704D-6977-4CDB-863D-BF7397E490F5}"/>
              </a:ext>
            </a:extLst>
          </p:cNvPr>
          <p:cNvPicPr>
            <a:picLocks noChangeAspect="1"/>
          </p:cNvPicPr>
          <p:nvPr/>
        </p:nvPicPr>
        <p:blipFill>
          <a:blip r:embed="rId3"/>
          <a:stretch>
            <a:fillRect/>
          </a:stretch>
        </p:blipFill>
        <p:spPr>
          <a:xfrm>
            <a:off x="7734554" y="1801193"/>
            <a:ext cx="4008316" cy="4691682"/>
          </a:xfrm>
          <a:prstGeom prst="rect">
            <a:avLst/>
          </a:prstGeom>
        </p:spPr>
      </p:pic>
    </p:spTree>
    <p:extLst>
      <p:ext uri="{BB962C8B-B14F-4D97-AF65-F5344CB8AC3E}">
        <p14:creationId xmlns:p14="http://schemas.microsoft.com/office/powerpoint/2010/main" val="45797572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Inter-Integrated Circuit</a:t>
            </a:r>
            <a:endParaRPr lang="zh-CN" altLang="en-US" dirty="0">
              <a:latin typeface="Arial" panose="020B0604020202020204" pitchFamily="34" charset="0"/>
              <a:cs typeface="Arial" panose="020B0604020202020204" pitchFamily="34" charset="0"/>
            </a:endParaRPr>
          </a:p>
        </p:txBody>
      </p:sp>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3238" y="2371252"/>
            <a:ext cx="9683529" cy="2327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5145333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Inter-Integrated Circuit</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5100276"/>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Every device type that uses I</a:t>
            </a:r>
            <a:r>
              <a:rPr lang="en-US" altLang="zh-CN" sz="2400" baseline="30000" dirty="0">
                <a:latin typeface="Arial" panose="020B0604020202020204" pitchFamily="34" charset="0"/>
                <a:cs typeface="Arial" panose="020B0604020202020204" pitchFamily="34" charset="0"/>
              </a:rPr>
              <a:t>2</a:t>
            </a:r>
            <a:r>
              <a:rPr lang="en-US" altLang="zh-CN" sz="2400" dirty="0">
                <a:latin typeface="Arial" panose="020B0604020202020204" pitchFamily="34" charset="0"/>
                <a:cs typeface="Arial" panose="020B0604020202020204" pitchFamily="34" charset="0"/>
              </a:rPr>
              <a:t>C must have </a:t>
            </a:r>
            <a:r>
              <a:rPr lang="en-US" altLang="zh-CN" sz="2400" i="1" dirty="0">
                <a:solidFill>
                  <a:srgbClr val="FF0000"/>
                </a:solidFill>
                <a:latin typeface="Arial" panose="020B0604020202020204" pitchFamily="34" charset="0"/>
                <a:cs typeface="Arial" panose="020B0604020202020204" pitchFamily="34" charset="0"/>
              </a:rPr>
              <a:t>a unique address </a:t>
            </a:r>
            <a:r>
              <a:rPr lang="en-US" altLang="zh-CN" sz="2400" dirty="0">
                <a:latin typeface="Arial" panose="020B0604020202020204" pitchFamily="34" charset="0"/>
                <a:cs typeface="Arial" panose="020B0604020202020204" pitchFamily="34" charset="0"/>
              </a:rPr>
              <a:t>that will be used to communicate with a device</a:t>
            </a:r>
          </a:p>
          <a:p>
            <a:pPr>
              <a:lnSpc>
                <a:spcPct val="120000"/>
              </a:lnSpc>
            </a:pPr>
            <a:r>
              <a:rPr lang="en-US" altLang="zh-CN" sz="2400" dirty="0">
                <a:latin typeface="Arial" panose="020B0604020202020204" pitchFamily="34" charset="0"/>
                <a:cs typeface="Arial" panose="020B0604020202020204" pitchFamily="34" charset="0"/>
              </a:rPr>
              <a:t>In earlier versions, a </a:t>
            </a:r>
            <a:r>
              <a:rPr lang="en-US" altLang="zh-CN" sz="2400" i="1" dirty="0">
                <a:solidFill>
                  <a:srgbClr val="FF0000"/>
                </a:solidFill>
                <a:latin typeface="Arial" panose="020B0604020202020204" pitchFamily="34" charset="0"/>
                <a:cs typeface="Arial" panose="020B0604020202020204" pitchFamily="34" charset="0"/>
              </a:rPr>
              <a:t>7 bit address </a:t>
            </a:r>
            <a:r>
              <a:rPr lang="en-US" altLang="zh-CN" sz="2400" dirty="0">
                <a:latin typeface="Arial" panose="020B0604020202020204" pitchFamily="34" charset="0"/>
                <a:cs typeface="Arial" panose="020B0604020202020204" pitchFamily="34" charset="0"/>
              </a:rPr>
              <a:t>was used, allowing 112 devices to be uniquely addressed ---- due to an increasing number of devices, it </a:t>
            </a:r>
            <a:r>
              <a:rPr lang="en-US" altLang="zh-CN" sz="2400" i="1" dirty="0">
                <a:latin typeface="Arial" panose="020B0604020202020204" pitchFamily="34" charset="0"/>
                <a:cs typeface="Arial" panose="020B0604020202020204" pitchFamily="34" charset="0"/>
              </a:rPr>
              <a:t>is </a:t>
            </a:r>
            <a:r>
              <a:rPr lang="en-US" altLang="zh-CN" sz="2400" i="1" dirty="0">
                <a:solidFill>
                  <a:srgbClr val="FF0000"/>
                </a:solidFill>
                <a:latin typeface="Arial" panose="020B0604020202020204" pitchFamily="34" charset="0"/>
                <a:cs typeface="Arial" panose="020B0604020202020204" pitchFamily="34" charset="0"/>
              </a:rPr>
              <a:t>insufficient</a:t>
            </a:r>
          </a:p>
          <a:p>
            <a:pPr>
              <a:lnSpc>
                <a:spcPct val="120000"/>
              </a:lnSpc>
            </a:pPr>
            <a:r>
              <a:rPr lang="en-US" altLang="zh-CN" sz="2400" dirty="0">
                <a:latin typeface="Arial" panose="020B0604020202020204" pitchFamily="34" charset="0"/>
                <a:cs typeface="Arial" panose="020B0604020202020204" pitchFamily="34" charset="0"/>
              </a:rPr>
              <a:t>Currently I</a:t>
            </a:r>
            <a:r>
              <a:rPr lang="en-US" altLang="zh-CN" sz="2400" baseline="30000" dirty="0">
                <a:latin typeface="Arial" panose="020B0604020202020204" pitchFamily="34" charset="0"/>
                <a:cs typeface="Arial" panose="020B0604020202020204" pitchFamily="34" charset="0"/>
              </a:rPr>
              <a:t>2</a:t>
            </a:r>
            <a:r>
              <a:rPr lang="en-US" altLang="zh-CN" sz="2400" dirty="0">
                <a:latin typeface="Arial" panose="020B0604020202020204" pitchFamily="34" charset="0"/>
                <a:cs typeface="Arial" panose="020B0604020202020204" pitchFamily="34" charset="0"/>
              </a:rPr>
              <a:t>C uses </a:t>
            </a:r>
            <a:r>
              <a:rPr lang="en-US" altLang="zh-CN" sz="2400" i="1" dirty="0">
                <a:solidFill>
                  <a:srgbClr val="FF0000"/>
                </a:solidFill>
                <a:latin typeface="Arial" panose="020B0604020202020204" pitchFamily="34" charset="0"/>
                <a:cs typeface="Arial" panose="020B0604020202020204" pitchFamily="34" charset="0"/>
              </a:rPr>
              <a:t>10 bit addressing</a:t>
            </a:r>
          </a:p>
          <a:p>
            <a:pPr>
              <a:lnSpc>
                <a:spcPct val="120000"/>
              </a:lnSpc>
            </a:pPr>
            <a:r>
              <a:rPr lang="en-US" altLang="zh-CN" sz="2400" dirty="0">
                <a:latin typeface="Arial" panose="020B0604020202020204" pitchFamily="34" charset="0"/>
                <a:cs typeface="Arial" panose="020B0604020202020204" pitchFamily="34" charset="0"/>
              </a:rPr>
              <a:t>I</a:t>
            </a:r>
            <a:r>
              <a:rPr lang="en-US" altLang="zh-CN" sz="2400" baseline="30000" dirty="0">
                <a:latin typeface="Arial" panose="020B0604020202020204" pitchFamily="34" charset="0"/>
                <a:cs typeface="Arial" panose="020B0604020202020204" pitchFamily="34" charset="0"/>
              </a:rPr>
              <a:t>2</a:t>
            </a:r>
            <a:r>
              <a:rPr lang="en-US" altLang="zh-CN" sz="2400" dirty="0">
                <a:latin typeface="Arial" panose="020B0604020202020204" pitchFamily="34" charset="0"/>
                <a:cs typeface="Arial" panose="020B0604020202020204" pitchFamily="34" charset="0"/>
              </a:rPr>
              <a:t>C is a </a:t>
            </a:r>
            <a:r>
              <a:rPr lang="en-US" altLang="zh-CN" sz="2400" i="1" dirty="0">
                <a:solidFill>
                  <a:srgbClr val="FF0000"/>
                </a:solidFill>
                <a:latin typeface="Arial" panose="020B0604020202020204" pitchFamily="34" charset="0"/>
                <a:cs typeface="Arial" panose="020B0604020202020204" pitchFamily="34" charset="0"/>
              </a:rPr>
              <a:t>multi-master</a:t>
            </a:r>
            <a:r>
              <a:rPr lang="en-US" altLang="zh-CN" sz="2400" i="1" dirty="0">
                <a:latin typeface="Arial" panose="020B0604020202020204" pitchFamily="34" charset="0"/>
                <a:cs typeface="Arial" panose="020B0604020202020204" pitchFamily="34" charset="0"/>
              </a:rPr>
              <a:t> </a:t>
            </a:r>
            <a:r>
              <a:rPr lang="en-US" altLang="zh-CN" sz="2400" i="1" dirty="0">
                <a:solidFill>
                  <a:srgbClr val="FF0000"/>
                </a:solidFill>
                <a:latin typeface="Arial" panose="020B0604020202020204" pitchFamily="34" charset="0"/>
                <a:cs typeface="Arial" panose="020B0604020202020204" pitchFamily="34" charset="0"/>
              </a:rPr>
              <a:t>half-duplex</a:t>
            </a:r>
            <a:r>
              <a:rPr lang="en-US" altLang="zh-CN" sz="2400" i="1" dirty="0">
                <a:latin typeface="Arial" panose="020B0604020202020204" pitchFamily="34" charset="0"/>
                <a:cs typeface="Arial" panose="020B0604020202020204" pitchFamily="34" charset="0"/>
              </a:rPr>
              <a:t> </a:t>
            </a:r>
            <a:r>
              <a:rPr lang="en-US" altLang="zh-CN" sz="2400" i="1" dirty="0">
                <a:solidFill>
                  <a:srgbClr val="FF0000"/>
                </a:solidFill>
                <a:latin typeface="Arial" panose="020B0604020202020204" pitchFamily="34" charset="0"/>
                <a:cs typeface="Arial" panose="020B0604020202020204" pitchFamily="34" charset="0"/>
              </a:rPr>
              <a:t>synchronous serial </a:t>
            </a:r>
            <a:r>
              <a:rPr lang="en-US" altLang="zh-CN" sz="2400" dirty="0">
                <a:latin typeface="Arial" panose="020B0604020202020204" pitchFamily="34" charset="0"/>
                <a:cs typeface="Arial" panose="020B0604020202020204" pitchFamily="34" charset="0"/>
              </a:rPr>
              <a:t>bus</a:t>
            </a:r>
          </a:p>
          <a:p>
            <a:pPr lvl="1">
              <a:lnSpc>
                <a:spcPct val="120000"/>
              </a:lnSpc>
            </a:pPr>
            <a:r>
              <a:rPr lang="en-US" altLang="zh-CN" sz="2000" dirty="0">
                <a:latin typeface="Arial" panose="020B0604020202020204" pitchFamily="34" charset="0"/>
                <a:cs typeface="Arial" panose="020B0604020202020204" pitchFamily="34" charset="0"/>
              </a:rPr>
              <a:t>Only two bidirectional lines: (unlike SPI, which uses four)</a:t>
            </a:r>
          </a:p>
          <a:p>
            <a:pPr lvl="2">
              <a:lnSpc>
                <a:spcPct val="120000"/>
              </a:lnSpc>
            </a:pPr>
            <a:r>
              <a:rPr lang="en-US" altLang="zh-CN" sz="1800" dirty="0">
                <a:latin typeface="Arial" panose="020B0604020202020204" pitchFamily="34" charset="0"/>
                <a:cs typeface="Arial" panose="020B0604020202020204" pitchFamily="34" charset="0"/>
              </a:rPr>
              <a:t>Serial Clock (SCL)</a:t>
            </a:r>
          </a:p>
          <a:p>
            <a:pPr lvl="2">
              <a:lnSpc>
                <a:spcPct val="120000"/>
              </a:lnSpc>
            </a:pPr>
            <a:r>
              <a:rPr lang="en-US" altLang="zh-CN" sz="1800" dirty="0">
                <a:latin typeface="Arial" panose="020B0604020202020204" pitchFamily="34" charset="0"/>
                <a:cs typeface="Arial" panose="020B0604020202020204" pitchFamily="34" charset="0"/>
              </a:rPr>
              <a:t>Serial Data (SDA)</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851810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Inter-Integrated Circuit</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Since each master generates its own clock signal, communicating devices must </a:t>
            </a:r>
            <a:r>
              <a:rPr lang="en-US" altLang="zh-CN" sz="2400" i="1" dirty="0">
                <a:solidFill>
                  <a:srgbClr val="FF0000"/>
                </a:solidFill>
                <a:latin typeface="Arial" panose="020B0604020202020204" pitchFamily="34" charset="0"/>
                <a:cs typeface="Arial" panose="020B0604020202020204" pitchFamily="34" charset="0"/>
              </a:rPr>
              <a:t>synchronize their clock speeds</a:t>
            </a:r>
          </a:p>
          <a:p>
            <a:pPr lvl="1">
              <a:lnSpc>
                <a:spcPct val="120000"/>
              </a:lnSpc>
            </a:pPr>
            <a:r>
              <a:rPr lang="en-US" altLang="zh-CN" sz="2000" dirty="0">
                <a:latin typeface="Arial" panose="020B0604020202020204" pitchFamily="34" charset="0"/>
                <a:cs typeface="Arial" panose="020B0604020202020204" pitchFamily="34" charset="0"/>
              </a:rPr>
              <a:t>A slower slave device could wrongly detect its address on the SDA line while a faster master device is sending data to a third device</a:t>
            </a:r>
          </a:p>
          <a:p>
            <a:pPr>
              <a:lnSpc>
                <a:spcPct val="120000"/>
              </a:lnSpc>
            </a:pPr>
            <a:r>
              <a:rPr lang="en-US" altLang="zh-CN" sz="2400" dirty="0">
                <a:latin typeface="Arial" panose="020B0604020202020204" pitchFamily="34" charset="0"/>
                <a:cs typeface="Arial" panose="020B0604020202020204" pitchFamily="34" charset="0"/>
              </a:rPr>
              <a:t>I</a:t>
            </a:r>
            <a:r>
              <a:rPr lang="en-US" altLang="zh-CN" sz="2400" baseline="30000" dirty="0">
                <a:latin typeface="Arial" panose="020B0604020202020204" pitchFamily="34" charset="0"/>
                <a:cs typeface="Arial" panose="020B0604020202020204" pitchFamily="34" charset="0"/>
              </a:rPr>
              <a:t>2</a:t>
            </a:r>
            <a:r>
              <a:rPr lang="en-US" altLang="zh-CN" sz="2400" dirty="0">
                <a:latin typeface="Arial" panose="020B0604020202020204" pitchFamily="34" charset="0"/>
                <a:cs typeface="Arial" panose="020B0604020202020204" pitchFamily="34" charset="0"/>
              </a:rPr>
              <a:t>C requires arbitration between master devices </a:t>
            </a:r>
            <a:r>
              <a:rPr lang="en-US" altLang="zh-CN" sz="2400" i="1" dirty="0">
                <a:solidFill>
                  <a:srgbClr val="FF0000"/>
                </a:solidFill>
                <a:latin typeface="Arial" panose="020B0604020202020204" pitchFamily="34" charset="0"/>
                <a:cs typeface="Arial" panose="020B0604020202020204" pitchFamily="34" charset="0"/>
              </a:rPr>
              <a:t>wanting</a:t>
            </a:r>
            <a:r>
              <a:rPr lang="en-US" altLang="zh-CN" sz="2400" i="1"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to send or receive data at the same time</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No</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fair arbitration </a:t>
            </a:r>
            <a:r>
              <a:rPr lang="en-US" altLang="zh-CN" sz="2000" i="1" dirty="0">
                <a:solidFill>
                  <a:srgbClr val="FF0000"/>
                </a:solidFill>
                <a:latin typeface="Arial" panose="020B0604020202020204" pitchFamily="34" charset="0"/>
                <a:cs typeface="Arial" panose="020B0604020202020204" pitchFamily="34" charset="0"/>
              </a:rPr>
              <a:t>algorithm</a:t>
            </a:r>
          </a:p>
          <a:p>
            <a:pPr lvl="1">
              <a:lnSpc>
                <a:spcPct val="120000"/>
              </a:lnSpc>
            </a:pPr>
            <a:r>
              <a:rPr lang="en-US" altLang="zh-CN" sz="2000" dirty="0">
                <a:solidFill>
                  <a:srgbClr val="FF0000"/>
                </a:solidFill>
                <a:latin typeface="Arial" panose="020B0604020202020204" pitchFamily="34" charset="0"/>
                <a:cs typeface="Arial" panose="020B0604020202020204" pitchFamily="34" charset="0"/>
              </a:rPr>
              <a:t>Rather the master that holds the SDA line low for </a:t>
            </a:r>
            <a:r>
              <a:rPr lang="en-US" altLang="zh-CN" sz="2000" i="1" dirty="0">
                <a:solidFill>
                  <a:srgbClr val="FF0000"/>
                </a:solidFill>
                <a:latin typeface="Arial" panose="020B0604020202020204" pitchFamily="34" charset="0"/>
                <a:cs typeface="Arial" panose="020B0604020202020204" pitchFamily="34" charset="0"/>
              </a:rPr>
              <a:t>the longest time wins </a:t>
            </a:r>
            <a:r>
              <a:rPr lang="en-US" altLang="zh-CN" sz="2000" dirty="0">
                <a:solidFill>
                  <a:srgbClr val="FF0000"/>
                </a:solidFill>
                <a:latin typeface="Arial" panose="020B0604020202020204" pitchFamily="34" charset="0"/>
                <a:cs typeface="Arial" panose="020B0604020202020204" pitchFamily="34" charset="0"/>
              </a:rPr>
              <a:t>the medium</a:t>
            </a:r>
            <a:r>
              <a:rPr lang="zh-CN" altLang="en-US" sz="2000" dirty="0">
                <a:solidFill>
                  <a:srgbClr val="FF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20263566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Inter-Integrated Circuit</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I</a:t>
            </a:r>
            <a:r>
              <a:rPr lang="en-US" altLang="zh-CN" sz="2400" baseline="30000" dirty="0">
                <a:latin typeface="Arial" panose="020B0604020202020204" pitchFamily="34" charset="0"/>
                <a:cs typeface="Arial" panose="020B0604020202020204" pitchFamily="34" charset="0"/>
              </a:rPr>
              <a:t>2</a:t>
            </a:r>
            <a:r>
              <a:rPr lang="en-US" altLang="zh-CN" sz="2400" dirty="0">
                <a:latin typeface="Arial" panose="020B0604020202020204" pitchFamily="34" charset="0"/>
                <a:cs typeface="Arial" panose="020B0604020202020204" pitchFamily="34" charset="0"/>
              </a:rPr>
              <a:t>C enables a device to read data </a:t>
            </a:r>
            <a:r>
              <a:rPr lang="en-US" altLang="zh-CN" sz="2400" i="1" dirty="0">
                <a:solidFill>
                  <a:srgbClr val="FF0000"/>
                </a:solidFill>
                <a:latin typeface="Arial" panose="020B0604020202020204" pitchFamily="34" charset="0"/>
                <a:cs typeface="Arial" panose="020B0604020202020204" pitchFamily="34" charset="0"/>
              </a:rPr>
              <a:t>at a byte level </a:t>
            </a:r>
            <a:r>
              <a:rPr lang="en-US" altLang="zh-CN" sz="2400" dirty="0">
                <a:latin typeface="Arial" panose="020B0604020202020204" pitchFamily="34" charset="0"/>
                <a:cs typeface="Arial" panose="020B0604020202020204" pitchFamily="34" charset="0"/>
              </a:rPr>
              <a:t>for a fast communication</a:t>
            </a:r>
          </a:p>
          <a:p>
            <a:pPr lvl="1">
              <a:lnSpc>
                <a:spcPct val="120000"/>
              </a:lnSpc>
            </a:pPr>
            <a:r>
              <a:rPr lang="en-US" altLang="zh-CN" sz="2000" dirty="0">
                <a:latin typeface="Arial" panose="020B0604020202020204" pitchFamily="34" charset="0"/>
                <a:cs typeface="Arial" panose="020B0604020202020204" pitchFamily="34" charset="0"/>
              </a:rPr>
              <a:t>the device can hold the SCL low until it completes reading or sending the next byte ---- it is called </a:t>
            </a:r>
            <a:r>
              <a:rPr lang="en-US" altLang="zh-CN" sz="2000" i="1" dirty="0">
                <a:solidFill>
                  <a:srgbClr val="FF0000"/>
                </a:solidFill>
                <a:latin typeface="Arial" panose="020B0604020202020204" pitchFamily="34" charset="0"/>
                <a:cs typeface="Arial" panose="020B0604020202020204" pitchFamily="34" charset="0"/>
              </a:rPr>
              <a:t>handshaking</a:t>
            </a:r>
          </a:p>
          <a:p>
            <a:pPr>
              <a:lnSpc>
                <a:spcPct val="120000"/>
              </a:lnSpc>
            </a:pPr>
            <a:r>
              <a:rPr lang="en-US" altLang="zh-CN" sz="2400" dirty="0">
                <a:latin typeface="Arial" panose="020B0604020202020204" pitchFamily="34" charset="0"/>
                <a:cs typeface="Arial" panose="020B0604020202020204" pitchFamily="34" charset="0"/>
              </a:rPr>
              <a:t>The </a:t>
            </a:r>
            <a:r>
              <a:rPr lang="en-US" altLang="zh-CN" sz="2400" i="1" dirty="0">
                <a:solidFill>
                  <a:srgbClr val="FF0000"/>
                </a:solidFill>
                <a:latin typeface="Arial" panose="020B0604020202020204" pitchFamily="34" charset="0"/>
                <a:cs typeface="Arial" panose="020B0604020202020204" pitchFamily="34" charset="0"/>
              </a:rPr>
              <a:t>aim</a:t>
            </a:r>
            <a:r>
              <a:rPr lang="en-US" altLang="zh-CN" sz="2400" i="1"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of I</a:t>
            </a:r>
            <a:r>
              <a:rPr lang="en-US" altLang="zh-CN" sz="2400" baseline="30000" dirty="0">
                <a:latin typeface="Arial" panose="020B0604020202020204" pitchFamily="34" charset="0"/>
                <a:cs typeface="Arial" panose="020B0604020202020204" pitchFamily="34" charset="0"/>
              </a:rPr>
              <a:t>2</a:t>
            </a:r>
            <a:r>
              <a:rPr lang="en-US" altLang="zh-CN" sz="2400" dirty="0">
                <a:latin typeface="Arial" panose="020B0604020202020204" pitchFamily="34" charset="0"/>
                <a:cs typeface="Arial" panose="020B0604020202020204" pitchFamily="34" charset="0"/>
              </a:rPr>
              <a:t>C is </a:t>
            </a:r>
            <a:r>
              <a:rPr lang="en-US" altLang="zh-CN" sz="2400" i="1" dirty="0">
                <a:solidFill>
                  <a:srgbClr val="FF0000"/>
                </a:solidFill>
                <a:latin typeface="Arial" panose="020B0604020202020204" pitchFamily="34" charset="0"/>
                <a:cs typeface="Arial" panose="020B0604020202020204" pitchFamily="34" charset="0"/>
              </a:rPr>
              <a:t>to minimize costs </a:t>
            </a:r>
            <a:r>
              <a:rPr lang="en-US" altLang="zh-CN" sz="2400" dirty="0">
                <a:latin typeface="Arial" panose="020B0604020202020204" pitchFamily="34" charset="0"/>
                <a:cs typeface="Arial" panose="020B0604020202020204" pitchFamily="34" charset="0"/>
              </a:rPr>
              <a:t>for connecting devices</a:t>
            </a:r>
          </a:p>
          <a:p>
            <a:pPr lvl="1">
              <a:lnSpc>
                <a:spcPct val="120000"/>
              </a:lnSpc>
            </a:pPr>
            <a:r>
              <a:rPr lang="en-US" altLang="zh-CN" sz="2000" dirty="0">
                <a:latin typeface="Arial" panose="020B0604020202020204" pitchFamily="34" charset="0"/>
                <a:cs typeface="Arial" panose="020B0604020202020204" pitchFamily="34" charset="0"/>
              </a:rPr>
              <a:t>Accommodating lower transmission speeds</a:t>
            </a:r>
          </a:p>
          <a:p>
            <a:pPr>
              <a:lnSpc>
                <a:spcPct val="120000"/>
              </a:lnSpc>
            </a:pPr>
            <a:r>
              <a:rPr lang="en-US" altLang="zh-CN" sz="2400" dirty="0">
                <a:latin typeface="Arial" panose="020B0604020202020204" pitchFamily="34" charset="0"/>
                <a:cs typeface="Arial" panose="020B0604020202020204" pitchFamily="34" charset="0"/>
              </a:rPr>
              <a:t>I</a:t>
            </a:r>
            <a:r>
              <a:rPr lang="en-US" altLang="zh-CN" sz="2400" baseline="30000" dirty="0">
                <a:latin typeface="Arial" panose="020B0604020202020204" pitchFamily="34" charset="0"/>
                <a:cs typeface="Arial" panose="020B0604020202020204" pitchFamily="34" charset="0"/>
              </a:rPr>
              <a:t>2</a:t>
            </a:r>
            <a:r>
              <a:rPr lang="en-US" altLang="zh-CN" sz="2400" dirty="0">
                <a:latin typeface="Arial" panose="020B0604020202020204" pitchFamily="34" charset="0"/>
                <a:cs typeface="Arial" panose="020B0604020202020204" pitchFamily="34" charset="0"/>
              </a:rPr>
              <a:t>C defines two speed modes:</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A Fast-mode </a:t>
            </a:r>
            <a:r>
              <a:rPr lang="en-US" altLang="zh-CN" sz="2000" dirty="0">
                <a:latin typeface="Arial" panose="020B0604020202020204" pitchFamily="34" charset="0"/>
                <a:cs typeface="Arial" panose="020B0604020202020204" pitchFamily="34" charset="0"/>
              </a:rPr>
              <a:t>---- a bit rate of up to 400Kbps</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High-speed mode </a:t>
            </a:r>
            <a:r>
              <a:rPr lang="en-US" altLang="zh-CN" sz="2000" dirty="0">
                <a:latin typeface="Arial" panose="020B0604020202020204" pitchFamily="34" charset="0"/>
                <a:cs typeface="Arial" panose="020B0604020202020204" pitchFamily="34" charset="0"/>
              </a:rPr>
              <a:t>---- a transmission rate of up to 3.4 Mbps</a:t>
            </a:r>
          </a:p>
          <a:p>
            <a:pPr lvl="1">
              <a:lnSpc>
                <a:spcPct val="120000"/>
              </a:lnSpc>
            </a:pPr>
            <a:r>
              <a:rPr lang="en-US" altLang="zh-CN" sz="2000" dirty="0">
                <a:latin typeface="Arial" panose="020B0604020202020204" pitchFamily="34" charset="0"/>
                <a:cs typeface="Arial" panose="020B0604020202020204" pitchFamily="34" charset="0"/>
              </a:rPr>
              <a:t>They are downwards compatible to ensure communication with older components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629325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Inter-Integrated Circuit</a:t>
            </a:r>
            <a:endParaRPr lang="zh-CN" altLang="en-US" dirty="0">
              <a:latin typeface="Arial" panose="020B0604020202020204" pitchFamily="34" charset="0"/>
              <a:cs typeface="Arial" panose="020B0604020202020204" pitchFamily="34" charset="0"/>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1722" y="1577612"/>
            <a:ext cx="7889807" cy="528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792430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Comparison</a:t>
            </a:r>
            <a:endParaRPr lang="zh-CN" altLang="en-US" dirty="0">
              <a:latin typeface="Arial" panose="020B0604020202020204" pitchFamily="34" charset="0"/>
              <a:cs typeface="Arial" panose="020B0604020202020204" pitchFamily="34" charset="0"/>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63288"/>
            <a:ext cx="9144000" cy="492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754200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Communication Interfaces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Buses are essential highways to transfer data</a:t>
            </a:r>
          </a:p>
          <a:p>
            <a:pPr lvl="1">
              <a:lnSpc>
                <a:spcPct val="120000"/>
              </a:lnSpc>
            </a:pPr>
            <a:r>
              <a:rPr lang="en-US" altLang="zh-CN" sz="2000" dirty="0">
                <a:latin typeface="Arial" panose="020B0604020202020204" pitchFamily="34" charset="0"/>
                <a:cs typeface="Arial" panose="020B0604020202020204" pitchFamily="34" charset="0"/>
              </a:rPr>
              <a:t>Due to the concern for size, </a:t>
            </a:r>
            <a:r>
              <a:rPr lang="en-US" altLang="zh-CN" sz="2000" dirty="0">
                <a:solidFill>
                  <a:srgbClr val="FF0000"/>
                </a:solidFill>
                <a:latin typeface="Arial" panose="020B0604020202020204" pitchFamily="34" charset="0"/>
                <a:cs typeface="Arial" panose="020B0604020202020204" pitchFamily="34" charset="0"/>
              </a:rPr>
              <a:t>only</a:t>
            </a:r>
            <a:r>
              <a:rPr lang="en-US" altLang="zh-CN" sz="2000" dirty="0">
                <a:latin typeface="Arial" panose="020B0604020202020204" pitchFamily="34" charset="0"/>
                <a:cs typeface="Arial" panose="020B0604020202020204" pitchFamily="34" charset="0"/>
              </a:rPr>
              <a:t> serial buses can be used</a:t>
            </a:r>
          </a:p>
          <a:p>
            <a:pPr lvl="1">
              <a:lnSpc>
                <a:spcPct val="120000"/>
              </a:lnSpc>
            </a:pPr>
            <a:r>
              <a:rPr lang="en-US" altLang="zh-CN" sz="2000" dirty="0">
                <a:latin typeface="Arial" panose="020B0604020202020204" pitchFamily="34" charset="0"/>
                <a:cs typeface="Arial" panose="020B0604020202020204" pitchFamily="34" charset="0"/>
              </a:rPr>
              <a:t>Serial buses demand high clock speeds to gain </a:t>
            </a:r>
            <a:r>
              <a:rPr lang="en-US" altLang="zh-CN" sz="2000" dirty="0">
                <a:solidFill>
                  <a:srgbClr val="FF0000"/>
                </a:solidFill>
                <a:latin typeface="Arial" panose="020B0604020202020204" pitchFamily="34" charset="0"/>
                <a:cs typeface="Arial" panose="020B0604020202020204" pitchFamily="34" charset="0"/>
              </a:rPr>
              <a:t>the same throughput</a:t>
            </a:r>
            <a:r>
              <a:rPr lang="en-US" altLang="zh-CN" sz="2000" dirty="0">
                <a:latin typeface="Arial" panose="020B0604020202020204" pitchFamily="34" charset="0"/>
                <a:cs typeface="Arial" panose="020B0604020202020204" pitchFamily="34" charset="0"/>
              </a:rPr>
              <a:t> as parallel buses</a:t>
            </a:r>
          </a:p>
          <a:p>
            <a:pPr lvl="1">
              <a:lnSpc>
                <a:spcPct val="120000"/>
              </a:lnSpc>
            </a:pPr>
            <a:r>
              <a:rPr lang="en-US" altLang="zh-CN" sz="2000" dirty="0">
                <a:latin typeface="Arial" panose="020B0604020202020204" pitchFamily="34" charset="0"/>
                <a:cs typeface="Arial" panose="020B0604020202020204" pitchFamily="34" charset="0"/>
              </a:rPr>
              <a:t>Serial buses can also be </a:t>
            </a:r>
            <a:r>
              <a:rPr lang="en-US" altLang="zh-CN" sz="2000" dirty="0">
                <a:solidFill>
                  <a:srgbClr val="FF0000"/>
                </a:solidFill>
                <a:latin typeface="Arial" panose="020B0604020202020204" pitchFamily="34" charset="0"/>
                <a:cs typeface="Arial" panose="020B0604020202020204" pitchFamily="34" charset="0"/>
              </a:rPr>
              <a:t>bottlenecks</a:t>
            </a:r>
            <a:r>
              <a:rPr lang="en-US" altLang="zh-CN" sz="2000" dirty="0">
                <a:latin typeface="Arial" panose="020B0604020202020204" pitchFamily="34" charset="0"/>
                <a:cs typeface="Arial" panose="020B0604020202020204" pitchFamily="34" charset="0"/>
              </a:rPr>
              <a:t> (e.g.. Von Neumann architecture) or may </a:t>
            </a:r>
            <a:r>
              <a:rPr lang="en-US" altLang="zh-CN" sz="2000" dirty="0">
                <a:solidFill>
                  <a:srgbClr val="FF0000"/>
                </a:solidFill>
                <a:latin typeface="Arial" panose="020B0604020202020204" pitchFamily="34" charset="0"/>
                <a:cs typeface="Arial" panose="020B0604020202020204" pitchFamily="34" charset="0"/>
              </a:rPr>
              <a:t>not scale well </a:t>
            </a:r>
            <a:r>
              <a:rPr lang="en-US" altLang="zh-CN" sz="2000" dirty="0">
                <a:latin typeface="Arial" panose="020B0604020202020204" pitchFamily="34" charset="0"/>
                <a:cs typeface="Arial" panose="020B0604020202020204" pitchFamily="34" charset="0"/>
              </a:rPr>
              <a:t>with processor speed (e.g.. I</a:t>
            </a:r>
            <a:r>
              <a:rPr lang="en-US" altLang="zh-CN" sz="2000" baseline="30000" dirty="0">
                <a:latin typeface="Arial" panose="020B0604020202020204" pitchFamily="34" charset="0"/>
                <a:cs typeface="Arial" panose="020B0604020202020204" pitchFamily="34" charset="0"/>
              </a:rPr>
              <a:t>2</a:t>
            </a:r>
            <a:r>
              <a:rPr lang="en-US" altLang="zh-CN" sz="2000" dirty="0">
                <a:latin typeface="Arial" panose="020B0604020202020204" pitchFamily="34" charset="0"/>
                <a:cs typeface="Arial" panose="020B0604020202020204" pitchFamily="34" charset="0"/>
              </a:rPr>
              <a:t>C)</a:t>
            </a:r>
          </a:p>
          <a:p>
            <a:pPr>
              <a:lnSpc>
                <a:spcPct val="120000"/>
              </a:lnSpc>
            </a:pPr>
            <a:r>
              <a:rPr lang="en-US" altLang="zh-CN" sz="2400" dirty="0">
                <a:latin typeface="Arial" panose="020B0604020202020204" pitchFamily="34" charset="0"/>
                <a:cs typeface="Arial" panose="020B0604020202020204" pitchFamily="34" charset="0"/>
              </a:rPr>
              <a:t>Delays due to contention for bus access become critical, for example, if some of the devices act unfairly and keep the bus occupied</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068267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Node Architecture</a:t>
            </a:r>
          </a:p>
          <a:p>
            <a:pPr>
              <a:lnSpc>
                <a:spcPct val="120000"/>
              </a:lnSpc>
            </a:pPr>
            <a:r>
              <a:rPr lang="en-US" altLang="zh-CN" sz="2400" dirty="0">
                <a:latin typeface="Arial" panose="020B0604020202020204" pitchFamily="34" charset="0"/>
                <a:cs typeface="Arial" panose="020B0604020202020204" pitchFamily="34" charset="0"/>
              </a:rPr>
              <a:t>The Sensing Subsystem</a:t>
            </a:r>
          </a:p>
          <a:p>
            <a:pPr>
              <a:lnSpc>
                <a:spcPct val="120000"/>
              </a:lnSpc>
            </a:pPr>
            <a:r>
              <a:rPr lang="en-US" altLang="zh-CN" sz="2400" dirty="0">
                <a:latin typeface="Arial" panose="020B0604020202020204" pitchFamily="34" charset="0"/>
                <a:cs typeface="Arial" panose="020B0604020202020204" pitchFamily="34" charset="0"/>
              </a:rPr>
              <a:t>The Processor Subsystem</a:t>
            </a:r>
          </a:p>
          <a:p>
            <a:pPr>
              <a:lnSpc>
                <a:spcPct val="120000"/>
              </a:lnSpc>
            </a:pPr>
            <a:r>
              <a:rPr lang="en-US" altLang="zh-CN" sz="2400" dirty="0">
                <a:latin typeface="Arial" panose="020B0604020202020204" pitchFamily="34" charset="0"/>
                <a:cs typeface="Arial" panose="020B0604020202020204" pitchFamily="34" charset="0"/>
              </a:rPr>
              <a:t>Communication Interfaces</a:t>
            </a:r>
          </a:p>
          <a:p>
            <a:pPr>
              <a:lnSpc>
                <a:spcPct val="120000"/>
              </a:lnSpc>
            </a:pPr>
            <a:r>
              <a:rPr lang="en-US" altLang="zh-CN" sz="2400" b="1" dirty="0">
                <a:latin typeface="Arial" panose="020B0604020202020204" pitchFamily="34" charset="0"/>
                <a:cs typeface="Arial" panose="020B0604020202020204" pitchFamily="34" charset="0"/>
              </a:rPr>
              <a:t>Prototypes</a:t>
            </a:r>
          </a:p>
        </p:txBody>
      </p:sp>
    </p:spTree>
    <p:extLst>
      <p:ext uri="{BB962C8B-B14F-4D97-AF65-F5344CB8AC3E}">
        <p14:creationId xmlns:p14="http://schemas.microsoft.com/office/powerpoint/2010/main" val="317082095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The </a:t>
            </a:r>
            <a:r>
              <a:rPr lang="en-US" altLang="zh-CN" b="1" dirty="0" err="1">
                <a:latin typeface="Arial" panose="020B0604020202020204" pitchFamily="34" charset="0"/>
                <a:cs typeface="Arial" panose="020B0604020202020204" pitchFamily="34" charset="0"/>
              </a:rPr>
              <a:t>IMote</a:t>
            </a:r>
            <a:r>
              <a:rPr lang="en-US" altLang="zh-CN" b="1" dirty="0">
                <a:latin typeface="Arial" panose="020B0604020202020204" pitchFamily="34" charset="0"/>
                <a:cs typeface="Arial" panose="020B0604020202020204" pitchFamily="34" charset="0"/>
              </a:rPr>
              <a:t> Node Architecture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4756841" cy="4351338"/>
          </a:xfrm>
        </p:spPr>
        <p:txBody>
          <a:bodyPr/>
          <a:lstStyle/>
          <a:p>
            <a:pPr>
              <a:lnSpc>
                <a:spcPct val="120000"/>
              </a:lnSpc>
            </a:pPr>
            <a:r>
              <a:rPr lang="en-US" altLang="zh-CN" sz="2400" dirty="0">
                <a:latin typeface="Arial" panose="020B0604020202020204" pitchFamily="34" charset="0"/>
                <a:cs typeface="Arial" panose="020B0604020202020204" pitchFamily="34" charset="0"/>
              </a:rPr>
              <a:t>The </a:t>
            </a:r>
            <a:r>
              <a:rPr lang="en-US" altLang="zh-CN" sz="2400" dirty="0" err="1">
                <a:latin typeface="Arial" panose="020B0604020202020204" pitchFamily="34" charset="0"/>
                <a:cs typeface="Arial" panose="020B0604020202020204" pitchFamily="34" charset="0"/>
              </a:rPr>
              <a:t>IMote</a:t>
            </a:r>
            <a:r>
              <a:rPr lang="en-US" altLang="zh-CN" sz="2400" dirty="0">
                <a:latin typeface="Arial" panose="020B0604020202020204" pitchFamily="34" charset="0"/>
                <a:cs typeface="Arial" panose="020B0604020202020204" pitchFamily="34" charset="0"/>
              </a:rPr>
              <a:t> sensor node architecture is a </a:t>
            </a:r>
            <a:r>
              <a:rPr lang="en-US" altLang="zh-CN" sz="2400" i="1" dirty="0">
                <a:solidFill>
                  <a:srgbClr val="FF0000"/>
                </a:solidFill>
                <a:latin typeface="Arial" panose="020B0604020202020204" pitchFamily="34" charset="0"/>
                <a:cs typeface="Arial" panose="020B0604020202020204" pitchFamily="34" charset="0"/>
              </a:rPr>
              <a:t>multi-purpose</a:t>
            </a:r>
            <a:r>
              <a:rPr lang="en-US" altLang="zh-CN" sz="2400" i="1"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architecture, consisting of :</a:t>
            </a:r>
          </a:p>
          <a:p>
            <a:pPr lvl="1">
              <a:lnSpc>
                <a:spcPct val="120000"/>
              </a:lnSpc>
            </a:pPr>
            <a:r>
              <a:rPr lang="en-US" altLang="zh-CN" sz="2000" dirty="0">
                <a:latin typeface="Arial" panose="020B0604020202020204" pitchFamily="34" charset="0"/>
                <a:cs typeface="Arial" panose="020B0604020202020204" pitchFamily="34" charset="0"/>
              </a:rPr>
              <a:t>A power management subsystem</a:t>
            </a:r>
          </a:p>
          <a:p>
            <a:pPr lvl="1">
              <a:lnSpc>
                <a:spcPct val="120000"/>
              </a:lnSpc>
            </a:pPr>
            <a:r>
              <a:rPr lang="en-US" altLang="zh-CN" sz="2000" dirty="0">
                <a:latin typeface="Arial" panose="020B0604020202020204" pitchFamily="34" charset="0"/>
                <a:cs typeface="Arial" panose="020B0604020202020204" pitchFamily="34" charset="0"/>
              </a:rPr>
              <a:t>A processor subsystem</a:t>
            </a:r>
          </a:p>
          <a:p>
            <a:pPr lvl="1">
              <a:lnSpc>
                <a:spcPct val="120000"/>
              </a:lnSpc>
            </a:pPr>
            <a:r>
              <a:rPr lang="en-US" altLang="zh-CN" sz="2000" dirty="0">
                <a:latin typeface="Arial" panose="020B0604020202020204" pitchFamily="34" charset="0"/>
                <a:cs typeface="Arial" panose="020B0604020202020204" pitchFamily="34" charset="0"/>
              </a:rPr>
              <a:t>A sensing subsystem</a:t>
            </a:r>
          </a:p>
          <a:p>
            <a:pPr lvl="1">
              <a:lnSpc>
                <a:spcPct val="120000"/>
              </a:lnSpc>
            </a:pPr>
            <a:r>
              <a:rPr lang="en-US" altLang="zh-CN" sz="2000" dirty="0">
                <a:latin typeface="Arial" panose="020B0604020202020204" pitchFamily="34" charset="0"/>
                <a:cs typeface="Arial" panose="020B0604020202020204" pitchFamily="34" charset="0"/>
              </a:rPr>
              <a:t>A communication subsystem</a:t>
            </a:r>
          </a:p>
          <a:p>
            <a:pPr lvl="1">
              <a:lnSpc>
                <a:spcPct val="120000"/>
              </a:lnSpc>
            </a:pPr>
            <a:r>
              <a:rPr lang="en-US" altLang="zh-CN" sz="2000" dirty="0">
                <a:latin typeface="Arial" panose="020B0604020202020204" pitchFamily="34" charset="0"/>
                <a:cs typeface="Arial" panose="020B0604020202020204" pitchFamily="34" charset="0"/>
              </a:rPr>
              <a:t>An interfacing subsystem</a:t>
            </a:r>
            <a:endParaRPr lang="zh-CN" altLang="en-US" sz="2000" dirty="0">
              <a:latin typeface="Arial" panose="020B0604020202020204" pitchFamily="34" charset="0"/>
              <a:cs typeface="Arial" panose="020B0604020202020204" pitchFamily="34" charset="0"/>
            </a:endParaRPr>
          </a:p>
        </p:txBody>
      </p:sp>
      <p:pic>
        <p:nvPicPr>
          <p:cNvPr id="4" name="Picture 2">
            <a:extLst>
              <a:ext uri="{FF2B5EF4-FFF2-40B4-BE49-F238E27FC236}">
                <a16:creationId xmlns:a16="http://schemas.microsoft.com/office/drawing/2014/main" id="{622A9A67-A8BF-4165-B113-2C3D2DB751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5041" y="1970480"/>
            <a:ext cx="5969859" cy="4409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358372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The </a:t>
            </a:r>
            <a:r>
              <a:rPr lang="en-US" altLang="zh-CN" b="1" dirty="0" err="1">
                <a:latin typeface="Arial" panose="020B0604020202020204" pitchFamily="34" charset="0"/>
                <a:cs typeface="Arial" panose="020B0604020202020204" pitchFamily="34" charset="0"/>
              </a:rPr>
              <a:t>IMote</a:t>
            </a:r>
            <a:r>
              <a:rPr lang="en-US" altLang="zh-CN" b="1" dirty="0">
                <a:latin typeface="Arial" panose="020B0604020202020204" pitchFamily="34" charset="0"/>
                <a:cs typeface="Arial" panose="020B0604020202020204" pitchFamily="34" charset="0"/>
              </a:rPr>
              <a:t> Node Architecture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648077" y="1679325"/>
            <a:ext cx="4946964" cy="4351338"/>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A multiple sensor board contains :</a:t>
            </a:r>
          </a:p>
        </p:txBody>
      </p:sp>
      <p:pic>
        <p:nvPicPr>
          <p:cNvPr id="4" name="Picture 2">
            <a:extLst>
              <a:ext uri="{FF2B5EF4-FFF2-40B4-BE49-F238E27FC236}">
                <a16:creationId xmlns:a16="http://schemas.microsoft.com/office/drawing/2014/main" id="{F6300DEE-1A0B-41E1-9556-B6E99B5FE9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9695" y="2486529"/>
            <a:ext cx="7259285" cy="3769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a:extLst>
              <a:ext uri="{FF2B5EF4-FFF2-40B4-BE49-F238E27FC236}">
                <a16:creationId xmlns:a16="http://schemas.microsoft.com/office/drawing/2014/main" id="{80C3E25D-DB8B-4E74-ACA0-00B059E9764A}"/>
              </a:ext>
            </a:extLst>
          </p:cNvPr>
          <p:cNvSpPr txBox="1">
            <a:spLocks/>
          </p:cNvSpPr>
          <p:nvPr/>
        </p:nvSpPr>
        <p:spPr>
          <a:xfrm>
            <a:off x="575649" y="2295155"/>
            <a:ext cx="4041618"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0000"/>
              </a:lnSpc>
            </a:pPr>
            <a:r>
              <a:rPr lang="en-US" altLang="zh-CN" sz="2000" dirty="0">
                <a:latin typeface="Arial" panose="020B0604020202020204" pitchFamily="34" charset="0"/>
                <a:cs typeface="Arial" panose="020B0604020202020204" pitchFamily="34" charset="0"/>
              </a:rPr>
              <a:t>A 12-bit, four channels ADC</a:t>
            </a:r>
          </a:p>
          <a:p>
            <a:pPr lvl="1">
              <a:lnSpc>
                <a:spcPct val="120000"/>
              </a:lnSpc>
            </a:pPr>
            <a:r>
              <a:rPr lang="en-US" altLang="zh-CN" sz="2000" dirty="0">
                <a:latin typeface="Arial" panose="020B0604020202020204" pitchFamily="34" charset="0"/>
                <a:cs typeface="Arial" panose="020B0604020202020204" pitchFamily="34" charset="0"/>
              </a:rPr>
              <a:t>A high-resolution temperature/humidity sensor</a:t>
            </a:r>
          </a:p>
          <a:p>
            <a:pPr lvl="1">
              <a:lnSpc>
                <a:spcPct val="120000"/>
              </a:lnSpc>
            </a:pPr>
            <a:r>
              <a:rPr lang="en-US" altLang="zh-CN" sz="2000" dirty="0">
                <a:latin typeface="Arial" panose="020B0604020202020204" pitchFamily="34" charset="0"/>
                <a:cs typeface="Arial" panose="020B0604020202020204" pitchFamily="34" charset="0"/>
              </a:rPr>
              <a:t>A low-resolution digital temperature sensor</a:t>
            </a:r>
          </a:p>
          <a:p>
            <a:pPr lvl="1">
              <a:lnSpc>
                <a:spcPct val="120000"/>
              </a:lnSpc>
            </a:pPr>
            <a:r>
              <a:rPr lang="en-US" altLang="zh-CN" sz="2000" dirty="0">
                <a:latin typeface="Arial" panose="020B0604020202020204" pitchFamily="34" charset="0"/>
                <a:cs typeface="Arial" panose="020B0604020202020204" pitchFamily="34" charset="0"/>
              </a:rPr>
              <a:t>A light sensor</a:t>
            </a:r>
          </a:p>
          <a:p>
            <a:pPr lvl="1">
              <a:lnSpc>
                <a:spcPct val="120000"/>
              </a:lnSpc>
            </a:pPr>
            <a:r>
              <a:rPr lang="en-US" altLang="zh-CN" sz="2000" dirty="0">
                <a:latin typeface="Arial" panose="020B0604020202020204" pitchFamily="34" charset="0"/>
                <a:cs typeface="Arial" panose="020B0604020202020204" pitchFamily="34" charset="0"/>
              </a:rPr>
              <a:t>The I</a:t>
            </a:r>
            <a:r>
              <a:rPr lang="en-US" altLang="zh-CN" sz="2000" baseline="30000" dirty="0">
                <a:latin typeface="Arial" panose="020B0604020202020204" pitchFamily="34" charset="0"/>
                <a:cs typeface="Arial" panose="020B0604020202020204" pitchFamily="34" charset="0"/>
              </a:rPr>
              <a:t>2</a:t>
            </a:r>
            <a:r>
              <a:rPr lang="en-US" altLang="zh-CN" sz="2000" dirty="0">
                <a:latin typeface="Arial" panose="020B0604020202020204" pitchFamily="34" charset="0"/>
                <a:cs typeface="Arial" panose="020B0604020202020204" pitchFamily="34" charset="0"/>
              </a:rPr>
              <a:t>C bus is chosen to connect </a:t>
            </a:r>
            <a:r>
              <a:rPr lang="en-US" altLang="zh-CN" sz="2000" i="1" dirty="0">
                <a:solidFill>
                  <a:srgbClr val="FF0000"/>
                </a:solidFill>
                <a:latin typeface="Arial" panose="020B0604020202020204" pitchFamily="34" charset="0"/>
                <a:cs typeface="Arial" panose="020B0604020202020204" pitchFamily="34" charset="0"/>
              </a:rPr>
              <a:t>low</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data rate sources</a:t>
            </a:r>
          </a:p>
          <a:p>
            <a:pPr lvl="1">
              <a:lnSpc>
                <a:spcPct val="120000"/>
              </a:lnSpc>
            </a:pPr>
            <a:r>
              <a:rPr lang="en-US" altLang="zh-CN" sz="2000" dirty="0">
                <a:latin typeface="Arial" panose="020B0604020202020204" pitchFamily="34" charset="0"/>
                <a:cs typeface="Arial" panose="020B0604020202020204" pitchFamily="34" charset="0"/>
              </a:rPr>
              <a:t>The SPI bus is used to interface </a:t>
            </a:r>
            <a:r>
              <a:rPr lang="en-US" altLang="zh-CN" sz="2000" i="1" dirty="0">
                <a:solidFill>
                  <a:srgbClr val="FF0000"/>
                </a:solidFill>
                <a:latin typeface="Arial" panose="020B0604020202020204" pitchFamily="34" charset="0"/>
                <a:cs typeface="Arial" panose="020B0604020202020204" pitchFamily="34" charset="0"/>
              </a:rPr>
              <a:t>high</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data rate sources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748554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The </a:t>
            </a:r>
            <a:r>
              <a:rPr lang="en-US" altLang="zh-CN" b="1" dirty="0" err="1">
                <a:latin typeface="Arial" panose="020B0604020202020204" pitchFamily="34" charset="0"/>
                <a:cs typeface="Arial" panose="020B0604020202020204" pitchFamily="34" charset="0"/>
              </a:rPr>
              <a:t>IMote</a:t>
            </a:r>
            <a:r>
              <a:rPr lang="en-US" altLang="zh-CN" b="1" dirty="0">
                <a:latin typeface="Arial" panose="020B0604020202020204" pitchFamily="34" charset="0"/>
                <a:cs typeface="Arial" panose="020B0604020202020204" pitchFamily="34" charset="0"/>
              </a:rPr>
              <a:t> Node Architecture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pPr>
              <a:lnSpc>
                <a:spcPct val="120000"/>
              </a:lnSpc>
            </a:pPr>
            <a:r>
              <a:rPr lang="en-US" altLang="zh-CN" sz="2400" dirty="0">
                <a:latin typeface="Arial" panose="020B0604020202020204" pitchFamily="34" charset="0"/>
                <a:cs typeface="Arial" panose="020B0604020202020204" pitchFamily="34" charset="0"/>
              </a:rPr>
              <a:t>The processing subsystem provides</a:t>
            </a:r>
          </a:p>
          <a:p>
            <a:pPr lvl="1">
              <a:lnSpc>
                <a:spcPct val="120000"/>
              </a:lnSpc>
            </a:pPr>
            <a:r>
              <a:rPr lang="en-US" altLang="zh-CN" sz="2000" i="1" dirty="0">
                <a:latin typeface="Arial" panose="020B0604020202020204" pitchFamily="34" charset="0"/>
                <a:cs typeface="Arial" panose="020B0604020202020204" pitchFamily="34" charset="0"/>
              </a:rPr>
              <a:t>A </a:t>
            </a:r>
            <a:r>
              <a:rPr lang="en-US" altLang="zh-CN" sz="2000" i="1" dirty="0">
                <a:solidFill>
                  <a:srgbClr val="FF0000"/>
                </a:solidFill>
                <a:latin typeface="Arial" panose="020B0604020202020204" pitchFamily="34" charset="0"/>
                <a:cs typeface="Arial" panose="020B0604020202020204" pitchFamily="34" charset="0"/>
              </a:rPr>
              <a:t>main processor </a:t>
            </a:r>
            <a:r>
              <a:rPr lang="en-US" altLang="zh-CN" sz="2000" dirty="0">
                <a:latin typeface="Arial" panose="020B0604020202020204" pitchFamily="34" charset="0"/>
                <a:cs typeface="Arial" panose="020B0604020202020204" pitchFamily="34" charset="0"/>
              </a:rPr>
              <a:t>(microprocessor)</a:t>
            </a:r>
          </a:p>
          <a:p>
            <a:pPr lvl="2">
              <a:lnSpc>
                <a:spcPct val="120000"/>
              </a:lnSpc>
            </a:pPr>
            <a:r>
              <a:rPr lang="en-US" altLang="zh-CN" dirty="0">
                <a:latin typeface="Arial" panose="020B0604020202020204" pitchFamily="34" charset="0"/>
                <a:cs typeface="Arial" panose="020B0604020202020204" pitchFamily="34" charset="0"/>
              </a:rPr>
              <a:t>Operate at a low voltage (0.85V), low frequency (13MHz) mode</a:t>
            </a:r>
          </a:p>
          <a:p>
            <a:pPr lvl="2">
              <a:lnSpc>
                <a:spcPct val="120000"/>
              </a:lnSpc>
            </a:pPr>
            <a:r>
              <a:rPr lang="en-US" altLang="zh-CN" dirty="0">
                <a:latin typeface="Arial" panose="020B0604020202020204" pitchFamily="34" charset="0"/>
                <a:cs typeface="Arial" panose="020B0604020202020204" pitchFamily="34" charset="0"/>
              </a:rPr>
              <a:t>Dynamic Voltage Scaling (104MHz ---- 416MHz)</a:t>
            </a:r>
          </a:p>
          <a:p>
            <a:pPr lvl="2">
              <a:lnSpc>
                <a:spcPct val="120000"/>
              </a:lnSpc>
            </a:pPr>
            <a:r>
              <a:rPr lang="en-US" altLang="zh-CN" dirty="0">
                <a:latin typeface="Arial" panose="020B0604020202020204" pitchFamily="34" charset="0"/>
                <a:cs typeface="Arial" panose="020B0604020202020204" pitchFamily="34" charset="0"/>
              </a:rPr>
              <a:t>Sleep and deep sleep modes</a:t>
            </a:r>
          </a:p>
          <a:p>
            <a:pPr lvl="2">
              <a:lnSpc>
                <a:spcPct val="120000"/>
              </a:lnSpc>
            </a:pPr>
            <a:r>
              <a:rPr lang="en-US" altLang="zh-CN" dirty="0">
                <a:latin typeface="Arial" panose="020B0604020202020204" pitchFamily="34" charset="0"/>
                <a:cs typeface="Arial" panose="020B0604020202020204" pitchFamily="34" charset="0"/>
              </a:rPr>
              <a:t>Thus enabling </a:t>
            </a:r>
            <a:r>
              <a:rPr lang="en-US" altLang="zh-CN" i="1" dirty="0">
                <a:solidFill>
                  <a:srgbClr val="FF0000"/>
                </a:solidFill>
                <a:latin typeface="Arial" panose="020B0604020202020204" pitchFamily="34" charset="0"/>
                <a:cs typeface="Arial" panose="020B0604020202020204" pitchFamily="34" charset="0"/>
              </a:rPr>
              <a:t>low power operation</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A coprocessor </a:t>
            </a:r>
            <a:r>
              <a:rPr lang="en-US" altLang="zh-CN" sz="2000" dirty="0">
                <a:latin typeface="Arial" panose="020B0604020202020204" pitchFamily="34" charset="0"/>
                <a:cs typeface="Arial" panose="020B0604020202020204" pitchFamily="34" charset="0"/>
              </a:rPr>
              <a:t>(a DSP)</a:t>
            </a:r>
          </a:p>
          <a:p>
            <a:pPr lvl="2">
              <a:lnSpc>
                <a:spcPct val="120000"/>
              </a:lnSpc>
            </a:pPr>
            <a:r>
              <a:rPr lang="it-IT" altLang="zh-CN" dirty="0">
                <a:latin typeface="Arial" panose="020B0604020202020204" pitchFamily="34" charset="0"/>
                <a:cs typeface="Arial" panose="020B0604020202020204" pitchFamily="34" charset="0"/>
              </a:rPr>
              <a:t>Accelerate multimedia operations ---- computation intensive</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23060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The XYZ Node Architecture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494170" y="2396093"/>
            <a:ext cx="3276794" cy="3261747"/>
          </a:xfrm>
        </p:spPr>
        <p:txBody>
          <a:bodyPr>
            <a:normAutofit/>
          </a:bodyPr>
          <a:lstStyle/>
          <a:p>
            <a:pPr lvl="1">
              <a:lnSpc>
                <a:spcPct val="120000"/>
              </a:lnSpc>
            </a:pPr>
            <a:r>
              <a:rPr lang="en-US" altLang="zh-CN" sz="2000" dirty="0">
                <a:latin typeface="Arial" panose="020B0604020202020204" pitchFamily="34" charset="0"/>
                <a:cs typeface="Arial" panose="020B0604020202020204" pitchFamily="34" charset="0"/>
              </a:rPr>
              <a:t>The power subsystem</a:t>
            </a:r>
          </a:p>
          <a:p>
            <a:pPr lvl="1">
              <a:lnSpc>
                <a:spcPct val="120000"/>
              </a:lnSpc>
            </a:pPr>
            <a:r>
              <a:rPr lang="en-US" altLang="zh-CN" sz="2000" dirty="0">
                <a:latin typeface="Arial" panose="020B0604020202020204" pitchFamily="34" charset="0"/>
                <a:cs typeface="Arial" panose="020B0604020202020204" pitchFamily="34" charset="0"/>
              </a:rPr>
              <a:t>The communication subsystem</a:t>
            </a:r>
          </a:p>
          <a:p>
            <a:pPr lvl="1">
              <a:lnSpc>
                <a:spcPct val="120000"/>
              </a:lnSpc>
            </a:pPr>
            <a:r>
              <a:rPr lang="en-US" altLang="zh-CN" sz="2000" dirty="0">
                <a:latin typeface="Arial" panose="020B0604020202020204" pitchFamily="34" charset="0"/>
                <a:cs typeface="Arial" panose="020B0604020202020204" pitchFamily="34" charset="0"/>
              </a:rPr>
              <a:t>The mobility subsystem</a:t>
            </a:r>
          </a:p>
          <a:p>
            <a:pPr lvl="1">
              <a:lnSpc>
                <a:spcPct val="120000"/>
              </a:lnSpc>
            </a:pPr>
            <a:r>
              <a:rPr lang="en-US" altLang="zh-CN" sz="2000" dirty="0">
                <a:latin typeface="Arial" panose="020B0604020202020204" pitchFamily="34" charset="0"/>
                <a:cs typeface="Arial" panose="020B0604020202020204" pitchFamily="34" charset="0"/>
              </a:rPr>
              <a:t>The sensor subsystem</a:t>
            </a:r>
            <a:endParaRPr lang="zh-CN" altLang="en-US" sz="2000" dirty="0">
              <a:latin typeface="Arial" panose="020B0604020202020204" pitchFamily="34" charset="0"/>
              <a:cs typeface="Arial" panose="020B0604020202020204" pitchFamily="34" charset="0"/>
            </a:endParaRPr>
          </a:p>
        </p:txBody>
      </p:sp>
      <p:pic>
        <p:nvPicPr>
          <p:cNvPr id="4" name="Picture 2">
            <a:extLst>
              <a:ext uri="{FF2B5EF4-FFF2-40B4-BE49-F238E27FC236}">
                <a16:creationId xmlns:a16="http://schemas.microsoft.com/office/drawing/2014/main" id="{7E6E5220-E3E6-4613-A912-B2515CCAD4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1131" y="2342042"/>
            <a:ext cx="7756699" cy="4150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D8868F18-4213-4FC6-9515-DE5BFEE2013A}"/>
              </a:ext>
            </a:extLst>
          </p:cNvPr>
          <p:cNvSpPr/>
          <p:nvPr/>
        </p:nvSpPr>
        <p:spPr>
          <a:xfrm>
            <a:off x="934338" y="1796015"/>
            <a:ext cx="4817344" cy="494751"/>
          </a:xfrm>
          <a:prstGeom prst="rect">
            <a:avLst/>
          </a:prstGeom>
        </p:spPr>
        <p:txBody>
          <a:bodyPr wrap="none">
            <a:spAutoFit/>
          </a:bodyPr>
          <a:lstStyle/>
          <a:p>
            <a:pPr>
              <a:lnSpc>
                <a:spcPct val="120000"/>
              </a:lnSpc>
            </a:pPr>
            <a:r>
              <a:rPr lang="en-US" altLang="zh-CN" sz="2400" dirty="0">
                <a:latin typeface="Arial" panose="020B0604020202020204" pitchFamily="34" charset="0"/>
                <a:cs typeface="Arial" panose="020B0604020202020204" pitchFamily="34" charset="0"/>
              </a:rPr>
              <a:t>It consists of the four subsystems:</a:t>
            </a:r>
          </a:p>
        </p:txBody>
      </p:sp>
    </p:spTree>
    <p:extLst>
      <p:ext uri="{BB962C8B-B14F-4D97-AF65-F5344CB8AC3E}">
        <p14:creationId xmlns:p14="http://schemas.microsoft.com/office/powerpoint/2010/main" val="249617729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The XYZ Node Architecture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fontScale="85000" lnSpcReduction="20000"/>
          </a:bodyPr>
          <a:lstStyle/>
          <a:p>
            <a:pPr>
              <a:lnSpc>
                <a:spcPct val="130000"/>
              </a:lnSpc>
            </a:pPr>
            <a:r>
              <a:rPr lang="en-US" altLang="zh-CN" dirty="0">
                <a:latin typeface="Arial" panose="020B0604020202020204" pitchFamily="34" charset="0"/>
                <a:cs typeface="Arial" panose="020B0604020202020204" pitchFamily="34" charset="0"/>
              </a:rPr>
              <a:t>The processor subsystem is based on the ARM7TDMI core microcontroller</a:t>
            </a:r>
          </a:p>
          <a:p>
            <a:pPr lvl="1">
              <a:lnSpc>
                <a:spcPct val="130000"/>
              </a:lnSpc>
            </a:pPr>
            <a:r>
              <a:rPr lang="en-US" altLang="zh-CN" dirty="0">
                <a:latin typeface="Arial" panose="020B0604020202020204" pitchFamily="34" charset="0"/>
                <a:cs typeface="Arial" panose="020B0604020202020204" pitchFamily="34" charset="0"/>
              </a:rPr>
              <a:t>f max = 58MHz</a:t>
            </a:r>
          </a:p>
          <a:p>
            <a:pPr lvl="1">
              <a:lnSpc>
                <a:spcPct val="130000"/>
              </a:lnSpc>
            </a:pPr>
            <a:r>
              <a:rPr lang="en-US" altLang="zh-CN" dirty="0">
                <a:latin typeface="Arial" panose="020B0604020202020204" pitchFamily="34" charset="0"/>
                <a:cs typeface="Arial" panose="020B0604020202020204" pitchFamily="34" charset="0"/>
              </a:rPr>
              <a:t>Two different modes (at 32bits and 16bits)</a:t>
            </a:r>
          </a:p>
          <a:p>
            <a:pPr lvl="1">
              <a:lnSpc>
                <a:spcPct val="130000"/>
              </a:lnSpc>
            </a:pPr>
            <a:r>
              <a:rPr lang="en-US" altLang="zh-CN" dirty="0">
                <a:latin typeface="Arial" panose="020B0604020202020204" pitchFamily="34" charset="0"/>
                <a:cs typeface="Arial" panose="020B0604020202020204" pitchFamily="34" charset="0"/>
              </a:rPr>
              <a:t>Provides an on-chip memory of 4KB boot ROM and a 32KB RAM ---- can be extended by up to 512KB of flash memory</a:t>
            </a:r>
          </a:p>
          <a:p>
            <a:pPr>
              <a:lnSpc>
                <a:spcPct val="130000"/>
              </a:lnSpc>
            </a:pPr>
            <a:r>
              <a:rPr lang="en-US" altLang="zh-CN" dirty="0">
                <a:latin typeface="Arial" panose="020B0604020202020204" pitchFamily="34" charset="0"/>
                <a:cs typeface="Arial" panose="020B0604020202020204" pitchFamily="34" charset="0"/>
              </a:rPr>
              <a:t>The peripheral components:</a:t>
            </a:r>
          </a:p>
          <a:p>
            <a:pPr lvl="1">
              <a:lnSpc>
                <a:spcPct val="130000"/>
              </a:lnSpc>
            </a:pPr>
            <a:r>
              <a:rPr lang="en-US" altLang="zh-CN" dirty="0">
                <a:latin typeface="Arial" panose="020B0604020202020204" pitchFamily="34" charset="0"/>
                <a:cs typeface="Arial" panose="020B0604020202020204" pitchFamily="34" charset="0"/>
              </a:rPr>
              <a:t>A DMA controller</a:t>
            </a:r>
          </a:p>
          <a:p>
            <a:pPr lvl="1">
              <a:lnSpc>
                <a:spcPct val="130000"/>
              </a:lnSpc>
            </a:pPr>
            <a:r>
              <a:rPr lang="en-US" altLang="zh-CN" dirty="0">
                <a:latin typeface="Arial" panose="020B0604020202020204" pitchFamily="34" charset="0"/>
                <a:cs typeface="Arial" panose="020B0604020202020204" pitchFamily="34" charset="0"/>
              </a:rPr>
              <a:t>Four 10-bit ADC inputs</a:t>
            </a:r>
          </a:p>
          <a:p>
            <a:pPr lvl="1">
              <a:lnSpc>
                <a:spcPct val="130000"/>
              </a:lnSpc>
            </a:pPr>
            <a:r>
              <a:rPr lang="en-US" altLang="zh-CN" dirty="0">
                <a:latin typeface="Arial" panose="020B0604020202020204" pitchFamily="34" charset="0"/>
                <a:cs typeface="Arial" panose="020B0604020202020204" pitchFamily="34" charset="0"/>
              </a:rPr>
              <a:t>Serial ports (RS232, SPI, I</a:t>
            </a:r>
            <a:r>
              <a:rPr lang="en-US" altLang="zh-CN" baseline="30000" dirty="0">
                <a:latin typeface="Arial" panose="020B0604020202020204" pitchFamily="34" charset="0"/>
                <a:cs typeface="Arial" panose="020B0604020202020204" pitchFamily="34" charset="0"/>
              </a:rPr>
              <a:t>2</a:t>
            </a:r>
            <a:r>
              <a:rPr lang="en-US" altLang="zh-CN" dirty="0">
                <a:latin typeface="Arial" panose="020B0604020202020204" pitchFamily="34" charset="0"/>
                <a:cs typeface="Arial" panose="020B0604020202020204" pitchFamily="34" charset="0"/>
              </a:rPr>
              <a:t>C, SIO)</a:t>
            </a:r>
          </a:p>
          <a:p>
            <a:pPr lvl="1">
              <a:lnSpc>
                <a:spcPct val="130000"/>
              </a:lnSpc>
            </a:pPr>
            <a:r>
              <a:rPr lang="en-US" altLang="zh-CN" dirty="0">
                <a:latin typeface="Arial" panose="020B0604020202020204" pitchFamily="34" charset="0"/>
                <a:cs typeface="Arial" panose="020B0604020202020204" pitchFamily="34" charset="0"/>
              </a:rPr>
              <a:t>42 multiplexed general purpose I/O pins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51510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The XYZ Node Architecture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pPr>
              <a:lnSpc>
                <a:spcPct val="120000"/>
              </a:lnSpc>
            </a:pPr>
            <a:r>
              <a:rPr lang="en-US" altLang="zh-CN" sz="2400" dirty="0">
                <a:latin typeface="Arial" panose="020B0604020202020204" pitchFamily="34" charset="0"/>
                <a:cs typeface="Arial" panose="020B0604020202020204" pitchFamily="34" charset="0"/>
              </a:rPr>
              <a:t>The communication subsystem connected to the processing subsystem through a SPI interface</a:t>
            </a:r>
          </a:p>
          <a:p>
            <a:pPr lvl="1">
              <a:lnSpc>
                <a:spcPct val="120000"/>
              </a:lnSpc>
            </a:pPr>
            <a:r>
              <a:rPr lang="en-US" altLang="zh-CN" sz="2000" dirty="0">
                <a:latin typeface="Arial" panose="020B0604020202020204" pitchFamily="34" charset="0"/>
                <a:cs typeface="Arial" panose="020B0604020202020204" pitchFamily="34" charset="0"/>
              </a:rPr>
              <a:t>The CC2420 is a </a:t>
            </a:r>
            <a:r>
              <a:rPr lang="en-US" altLang="zh-CN" sz="2000" i="1" dirty="0">
                <a:solidFill>
                  <a:srgbClr val="FF0000"/>
                </a:solidFill>
                <a:latin typeface="Arial" panose="020B0604020202020204" pitchFamily="34" charset="0"/>
                <a:cs typeface="Arial" panose="020B0604020202020204" pitchFamily="34" charset="0"/>
              </a:rPr>
              <a:t>RF transceiver</a:t>
            </a:r>
          </a:p>
          <a:p>
            <a:pPr lvl="1">
              <a:lnSpc>
                <a:spcPct val="120000"/>
              </a:lnSpc>
            </a:pPr>
            <a:r>
              <a:rPr lang="en-US" altLang="zh-CN" sz="2000" dirty="0">
                <a:latin typeface="Arial" panose="020B0604020202020204" pitchFamily="34" charset="0"/>
                <a:cs typeface="Arial" panose="020B0604020202020204" pitchFamily="34" charset="0"/>
              </a:rPr>
              <a:t>When an RF message has been successfully received</a:t>
            </a:r>
          </a:p>
          <a:p>
            <a:pPr lvl="1">
              <a:lnSpc>
                <a:spcPct val="120000"/>
              </a:lnSpc>
            </a:pPr>
            <a:r>
              <a:rPr lang="en-US" altLang="zh-CN" sz="2000" dirty="0">
                <a:latin typeface="Arial" panose="020B0604020202020204" pitchFamily="34" charset="0"/>
                <a:cs typeface="Arial" panose="020B0604020202020204" pitchFamily="34" charset="0"/>
              </a:rPr>
              <a:t>The </a:t>
            </a:r>
            <a:r>
              <a:rPr lang="en-US" altLang="zh-CN" sz="2000" i="1" dirty="0">
                <a:solidFill>
                  <a:srgbClr val="FF0000"/>
                </a:solidFill>
                <a:latin typeface="Arial" panose="020B0604020202020204" pitchFamily="34" charset="0"/>
                <a:cs typeface="Arial" panose="020B0604020202020204" pitchFamily="34" charset="0"/>
              </a:rPr>
              <a:t>SPI interface </a:t>
            </a:r>
            <a:r>
              <a:rPr lang="en-US" altLang="zh-CN" sz="2000" dirty="0">
                <a:latin typeface="Arial" panose="020B0604020202020204" pitchFamily="34" charset="0"/>
                <a:cs typeface="Arial" panose="020B0604020202020204" pitchFamily="34" charset="0"/>
              </a:rPr>
              <a:t>enables the radio to wake up a sleeping processor</a:t>
            </a:r>
          </a:p>
          <a:p>
            <a:pPr lvl="1">
              <a:lnSpc>
                <a:spcPct val="120000"/>
              </a:lnSpc>
            </a:pPr>
            <a:r>
              <a:rPr lang="en-US" altLang="zh-CN" sz="2000" dirty="0">
                <a:latin typeface="Arial" panose="020B0604020202020204" pitchFamily="34" charset="0"/>
                <a:cs typeface="Arial" panose="020B0604020202020204" pitchFamily="34" charset="0"/>
              </a:rPr>
              <a:t>The processor subsystem controls the communication subsystem by either </a:t>
            </a:r>
            <a:r>
              <a:rPr lang="en-US" altLang="zh-CN" sz="2000" i="1" dirty="0">
                <a:solidFill>
                  <a:srgbClr val="FF0000"/>
                </a:solidFill>
                <a:latin typeface="Arial" panose="020B0604020202020204" pitchFamily="34" charset="0"/>
                <a:cs typeface="Arial" panose="020B0604020202020204" pitchFamily="34" charset="0"/>
              </a:rPr>
              <a:t>turning it off </a:t>
            </a:r>
            <a:r>
              <a:rPr lang="en-US" altLang="zh-CN" sz="2000" dirty="0">
                <a:latin typeface="Arial" panose="020B0604020202020204" pitchFamily="34" charset="0"/>
                <a:cs typeface="Arial" panose="020B0604020202020204" pitchFamily="34" charset="0"/>
              </a:rPr>
              <a:t>or putting it in </a:t>
            </a:r>
            <a:r>
              <a:rPr lang="en-US" altLang="zh-CN" sz="2000" i="1" dirty="0">
                <a:latin typeface="Arial" panose="020B0604020202020204" pitchFamily="34" charset="0"/>
                <a:cs typeface="Arial" panose="020B0604020202020204" pitchFamily="34" charset="0"/>
              </a:rPr>
              <a:t>sleep </a:t>
            </a:r>
            <a:r>
              <a:rPr lang="en-US" altLang="zh-CN" sz="2000" i="1" dirty="0">
                <a:solidFill>
                  <a:srgbClr val="FF0000"/>
                </a:solidFill>
                <a:latin typeface="Arial" panose="020B0604020202020204" pitchFamily="34" charset="0"/>
                <a:cs typeface="Arial" panose="020B0604020202020204" pitchFamily="34" charset="0"/>
              </a:rPr>
              <a:t>mode</a:t>
            </a:r>
            <a:endParaRPr lang="zh-CN" altLang="en-US" sz="20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03158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The </a:t>
            </a:r>
            <a:r>
              <a:rPr lang="en-US" altLang="zh-CN" b="1" dirty="0" err="1">
                <a:latin typeface="Arial" panose="020B0604020202020204" pitchFamily="34" charset="0"/>
                <a:cs typeface="Arial" panose="020B0604020202020204" pitchFamily="34" charset="0"/>
              </a:rPr>
              <a:t>Hogthrob</a:t>
            </a:r>
            <a:r>
              <a:rPr lang="en-US" altLang="zh-CN" b="1" dirty="0">
                <a:latin typeface="Arial" panose="020B0604020202020204" pitchFamily="34" charset="0"/>
                <a:cs typeface="Arial" panose="020B0604020202020204" pitchFamily="34" charset="0"/>
              </a:rPr>
              <a:t> Node Architecture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4566719" cy="4351338"/>
          </a:xfrm>
        </p:spPr>
        <p:txBody>
          <a:bodyPr>
            <a:normAutofit fontScale="92500"/>
          </a:bodyPr>
          <a:lstStyle/>
          <a:p>
            <a:pPr>
              <a:lnSpc>
                <a:spcPct val="120000"/>
              </a:lnSpc>
            </a:pPr>
            <a:r>
              <a:rPr lang="en-US" altLang="zh-CN" sz="2600" dirty="0">
                <a:latin typeface="Arial" panose="020B0604020202020204" pitchFamily="34" charset="0"/>
                <a:cs typeface="Arial" panose="020B0604020202020204" pitchFamily="34" charset="0"/>
              </a:rPr>
              <a:t>It is designed for a specific application, namely, to </a:t>
            </a:r>
            <a:r>
              <a:rPr lang="en-US" altLang="zh-CN" sz="2600" i="1" dirty="0">
                <a:solidFill>
                  <a:srgbClr val="FF0000"/>
                </a:solidFill>
                <a:latin typeface="Arial" panose="020B0604020202020204" pitchFamily="34" charset="0"/>
                <a:cs typeface="Arial" panose="020B0604020202020204" pitchFamily="34" charset="0"/>
              </a:rPr>
              <a:t>monitor pig production</a:t>
            </a:r>
          </a:p>
          <a:p>
            <a:pPr>
              <a:lnSpc>
                <a:spcPct val="120000"/>
              </a:lnSpc>
            </a:pPr>
            <a:r>
              <a:rPr lang="en-US" altLang="zh-CN" sz="2600" dirty="0">
                <a:latin typeface="Arial" panose="020B0604020202020204" pitchFamily="34" charset="0"/>
                <a:cs typeface="Arial" panose="020B0604020202020204" pitchFamily="34" charset="0"/>
              </a:rPr>
              <a:t>Motivation:</a:t>
            </a:r>
          </a:p>
          <a:p>
            <a:pPr lvl="1">
              <a:lnSpc>
                <a:spcPct val="120000"/>
              </a:lnSpc>
            </a:pPr>
            <a:r>
              <a:rPr lang="en-US" altLang="zh-CN" sz="2200" dirty="0">
                <a:latin typeface="Arial" panose="020B0604020202020204" pitchFamily="34" charset="0"/>
                <a:cs typeface="Arial" panose="020B0604020202020204" pitchFamily="34" charset="0"/>
              </a:rPr>
              <a:t>Monitors movements between a sow and the onset of estrus, so that appropriate care can be given for pregnant sows</a:t>
            </a:r>
          </a:p>
          <a:p>
            <a:pPr lvl="1">
              <a:lnSpc>
                <a:spcPct val="120000"/>
              </a:lnSpc>
            </a:pPr>
            <a:r>
              <a:rPr lang="en-US" altLang="zh-CN" sz="2200" dirty="0">
                <a:latin typeface="Arial" panose="020B0604020202020204" pitchFamily="34" charset="0"/>
                <a:cs typeface="Arial" panose="020B0604020202020204" pitchFamily="34" charset="0"/>
              </a:rPr>
              <a:t>Detecting cough or limping to monitor illness</a:t>
            </a:r>
            <a:endParaRPr lang="zh-CN" altLang="en-US" sz="2200" dirty="0">
              <a:latin typeface="Arial" panose="020B0604020202020204" pitchFamily="34" charset="0"/>
              <a:cs typeface="Arial" panose="020B0604020202020204" pitchFamily="34" charset="0"/>
            </a:endParaRPr>
          </a:p>
        </p:txBody>
      </p:sp>
      <p:pic>
        <p:nvPicPr>
          <p:cNvPr id="4" name="Picture 2">
            <a:extLst>
              <a:ext uri="{FF2B5EF4-FFF2-40B4-BE49-F238E27FC236}">
                <a16:creationId xmlns:a16="http://schemas.microsoft.com/office/drawing/2014/main" id="{73507A5C-48A8-4648-B5A8-7DC805B516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9041" y="1987040"/>
            <a:ext cx="5706020" cy="432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056706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nSpc>
                <a:spcPct val="120000"/>
              </a:lnSpc>
            </a:pPr>
            <a:r>
              <a:rPr lang="en-US" altLang="zh-CN" b="1" dirty="0">
                <a:latin typeface="Arial" panose="020B0604020202020204" pitchFamily="34" charset="0"/>
                <a:cs typeface="Arial" panose="020B0604020202020204" pitchFamily="34" charset="0"/>
              </a:rPr>
              <a:t>The </a:t>
            </a:r>
            <a:r>
              <a:rPr lang="en-US" altLang="zh-CN" b="1" dirty="0" err="1">
                <a:latin typeface="Arial" panose="020B0604020202020204" pitchFamily="34" charset="0"/>
                <a:cs typeface="Arial" panose="020B0604020202020204" pitchFamily="34" charset="0"/>
              </a:rPr>
              <a:t>Hogthrob</a:t>
            </a:r>
            <a:r>
              <a:rPr lang="en-US" altLang="zh-CN" b="1" dirty="0">
                <a:latin typeface="Arial" panose="020B0604020202020204" pitchFamily="34" charset="0"/>
                <a:cs typeface="Arial" panose="020B0604020202020204" pitchFamily="34" charset="0"/>
              </a:rPr>
              <a:t> Node Architecture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pPr>
              <a:lnSpc>
                <a:spcPct val="120000"/>
              </a:lnSpc>
            </a:pPr>
            <a:r>
              <a:rPr lang="en-US" altLang="zh-CN" dirty="0">
                <a:latin typeface="Arial" panose="020B0604020202020204" pitchFamily="34" charset="0"/>
                <a:cs typeface="Arial" panose="020B0604020202020204" pitchFamily="34" charset="0"/>
              </a:rPr>
              <a:t>The processing subsystems consists of :</a:t>
            </a:r>
          </a:p>
          <a:p>
            <a:pPr lvl="1">
              <a:lnSpc>
                <a:spcPct val="120000"/>
              </a:lnSpc>
            </a:pPr>
            <a:r>
              <a:rPr lang="en-US" altLang="zh-CN" i="1" dirty="0">
                <a:solidFill>
                  <a:srgbClr val="FF0000"/>
                </a:solidFill>
                <a:latin typeface="Arial" panose="020B0604020202020204" pitchFamily="34" charset="0"/>
                <a:cs typeface="Arial" panose="020B0604020202020204" pitchFamily="34" charset="0"/>
              </a:rPr>
              <a:t>A microcontroller</a:t>
            </a:r>
          </a:p>
          <a:p>
            <a:pPr lvl="2">
              <a:lnSpc>
                <a:spcPct val="120000"/>
              </a:lnSpc>
            </a:pPr>
            <a:r>
              <a:rPr lang="en-US" altLang="zh-CN" dirty="0">
                <a:latin typeface="Arial" panose="020B0604020202020204" pitchFamily="34" charset="0"/>
                <a:cs typeface="Arial" panose="020B0604020202020204" pitchFamily="34" charset="0"/>
              </a:rPr>
              <a:t>Performs </a:t>
            </a:r>
            <a:r>
              <a:rPr lang="en-US" altLang="zh-CN" i="1" dirty="0">
                <a:solidFill>
                  <a:srgbClr val="FF0000"/>
                </a:solidFill>
                <a:latin typeface="Arial" panose="020B0604020202020204" pitchFamily="34" charset="0"/>
                <a:cs typeface="Arial" panose="020B0604020202020204" pitchFamily="34" charset="0"/>
              </a:rPr>
              <a:t>less complex</a:t>
            </a:r>
            <a:r>
              <a:rPr lang="en-US" altLang="zh-CN" dirty="0">
                <a:latin typeface="Arial" panose="020B0604020202020204" pitchFamily="34" charset="0"/>
                <a:cs typeface="Arial" panose="020B0604020202020204" pitchFamily="34" charset="0"/>
              </a:rPr>
              <a:t>, less energy intensive tasks</a:t>
            </a:r>
          </a:p>
          <a:p>
            <a:pPr lvl="2">
              <a:lnSpc>
                <a:spcPct val="120000"/>
              </a:lnSpc>
            </a:pPr>
            <a:r>
              <a:rPr lang="en-US" altLang="zh-CN" i="1" dirty="0">
                <a:solidFill>
                  <a:srgbClr val="FF0000"/>
                </a:solidFill>
                <a:latin typeface="Arial" panose="020B0604020202020204" pitchFamily="34" charset="0"/>
                <a:cs typeface="Arial" panose="020B0604020202020204" pitchFamily="34" charset="0"/>
              </a:rPr>
              <a:t>Initializes the FPGA and functions </a:t>
            </a:r>
            <a:r>
              <a:rPr lang="en-US" altLang="zh-CN" dirty="0">
                <a:latin typeface="Arial" panose="020B0604020202020204" pitchFamily="34" charset="0"/>
                <a:cs typeface="Arial" panose="020B0604020202020204" pitchFamily="34" charset="0"/>
              </a:rPr>
              <a:t>as an external timer and an ADC converter to it</a:t>
            </a:r>
          </a:p>
          <a:p>
            <a:pPr lvl="1">
              <a:lnSpc>
                <a:spcPct val="120000"/>
              </a:lnSpc>
            </a:pPr>
            <a:r>
              <a:rPr lang="en-US" altLang="zh-CN" i="1" dirty="0">
                <a:solidFill>
                  <a:srgbClr val="FF0000"/>
                </a:solidFill>
                <a:latin typeface="Arial" panose="020B0604020202020204" pitchFamily="34" charset="0"/>
                <a:cs typeface="Arial" panose="020B0604020202020204" pitchFamily="34" charset="0"/>
              </a:rPr>
              <a:t>A Field Programmable Gate Array</a:t>
            </a:r>
          </a:p>
          <a:p>
            <a:pPr lvl="2">
              <a:lnSpc>
                <a:spcPct val="120000"/>
              </a:lnSpc>
            </a:pPr>
            <a:r>
              <a:rPr lang="en-US" altLang="zh-CN" dirty="0">
                <a:latin typeface="Arial" panose="020B0604020202020204" pitchFamily="34" charset="0"/>
                <a:cs typeface="Arial" panose="020B0604020202020204" pitchFamily="34" charset="0"/>
              </a:rPr>
              <a:t>Executes the sow monitoring application</a:t>
            </a:r>
          </a:p>
          <a:p>
            <a:pPr lvl="2">
              <a:lnSpc>
                <a:spcPct val="120000"/>
              </a:lnSpc>
            </a:pPr>
            <a:r>
              <a:rPr lang="en-US" altLang="zh-CN" dirty="0">
                <a:latin typeface="Arial" panose="020B0604020202020204" pitchFamily="34" charset="0"/>
                <a:cs typeface="Arial" panose="020B0604020202020204" pitchFamily="34" charset="0"/>
              </a:rPr>
              <a:t>Coordinates the functions of the sensor node</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512629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The </a:t>
            </a:r>
            <a:r>
              <a:rPr lang="en-US" altLang="zh-CN" b="1" dirty="0" err="1">
                <a:latin typeface="Arial" panose="020B0604020202020204" pitchFamily="34" charset="0"/>
                <a:cs typeface="Arial" panose="020B0604020202020204" pitchFamily="34" charset="0"/>
              </a:rPr>
              <a:t>Hogthrob</a:t>
            </a:r>
            <a:r>
              <a:rPr lang="en-US" altLang="zh-CN" b="1" dirty="0">
                <a:latin typeface="Arial" panose="020B0604020202020204" pitchFamily="34" charset="0"/>
                <a:cs typeface="Arial" panose="020B0604020202020204" pitchFamily="34" charset="0"/>
              </a:rPr>
              <a:t> Node Architecture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pPr>
              <a:lnSpc>
                <a:spcPct val="120000"/>
              </a:lnSpc>
            </a:pPr>
            <a:r>
              <a:rPr lang="en-US" altLang="zh-CN" sz="2400" dirty="0">
                <a:latin typeface="Arial" panose="020B0604020202020204" pitchFamily="34" charset="0"/>
                <a:cs typeface="Arial" panose="020B0604020202020204" pitchFamily="34" charset="0"/>
              </a:rPr>
              <a:t>There are a number of interfaces supported by the processing subsystem, including</a:t>
            </a:r>
          </a:p>
          <a:p>
            <a:pPr lvl="1">
              <a:lnSpc>
                <a:spcPct val="120000"/>
              </a:lnSpc>
            </a:pPr>
            <a:r>
              <a:rPr lang="en-US" altLang="zh-CN" sz="2000" dirty="0">
                <a:latin typeface="Arial" panose="020B0604020202020204" pitchFamily="34" charset="0"/>
                <a:cs typeface="Arial" panose="020B0604020202020204" pitchFamily="34" charset="0"/>
              </a:rPr>
              <a:t>The I</a:t>
            </a:r>
            <a:r>
              <a:rPr lang="en-US" altLang="zh-CN" sz="2000" baseline="30000" dirty="0">
                <a:latin typeface="Arial" panose="020B0604020202020204" pitchFamily="34" charset="0"/>
                <a:cs typeface="Arial" panose="020B0604020202020204" pitchFamily="34" charset="0"/>
              </a:rPr>
              <a:t>2</a:t>
            </a:r>
            <a:r>
              <a:rPr lang="en-US" altLang="zh-CN" sz="2000" dirty="0">
                <a:latin typeface="Arial" panose="020B0604020202020204" pitchFamily="34" charset="0"/>
                <a:cs typeface="Arial" panose="020B0604020202020204" pitchFamily="34" charset="0"/>
              </a:rPr>
              <a:t>C interface for the sensing subsystem</a:t>
            </a:r>
          </a:p>
          <a:p>
            <a:pPr lvl="1">
              <a:lnSpc>
                <a:spcPct val="120000"/>
              </a:lnSpc>
            </a:pPr>
            <a:r>
              <a:rPr lang="en-US" altLang="zh-CN" sz="2000" dirty="0">
                <a:latin typeface="Arial" panose="020B0604020202020204" pitchFamily="34" charset="0"/>
                <a:cs typeface="Arial" panose="020B0604020202020204" pitchFamily="34" charset="0"/>
              </a:rPr>
              <a:t>The SPI interface for the communication subsystem</a:t>
            </a:r>
          </a:p>
          <a:p>
            <a:pPr lvl="1">
              <a:lnSpc>
                <a:spcPct val="120000"/>
              </a:lnSpc>
            </a:pPr>
            <a:r>
              <a:rPr lang="en-US" altLang="zh-CN" sz="2000" dirty="0">
                <a:latin typeface="Arial" panose="020B0604020202020204" pitchFamily="34" charset="0"/>
                <a:cs typeface="Arial" panose="020B0604020202020204" pitchFamily="34" charset="0"/>
              </a:rPr>
              <a:t>The JTAG interface for in-system programmability and debugging</a:t>
            </a:r>
          </a:p>
          <a:p>
            <a:pPr lvl="1">
              <a:lnSpc>
                <a:spcPct val="120000"/>
              </a:lnSpc>
            </a:pPr>
            <a:r>
              <a:rPr lang="en-US" altLang="zh-CN" sz="2000" dirty="0">
                <a:latin typeface="Arial" panose="020B0604020202020204" pitchFamily="34" charset="0"/>
                <a:cs typeface="Arial" panose="020B0604020202020204" pitchFamily="34" charset="0"/>
              </a:rPr>
              <a:t>The serial (RS232) interface for interaction with a PC</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41229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674624"/>
            <a:ext cx="9144000" cy="2387600"/>
          </a:xfrm>
        </p:spPr>
        <p:txBody>
          <a:bodyPr>
            <a:normAutofit/>
          </a:bodyPr>
          <a:lstStyle/>
          <a:p>
            <a:pPr>
              <a:lnSpc>
                <a:spcPct val="120000"/>
              </a:lnSpc>
            </a:pPr>
            <a:r>
              <a:rPr lang="en-US" altLang="zh-CN" sz="4400" b="1" dirty="0">
                <a:solidFill>
                  <a:schemeClr val="accent1">
                    <a:lumMod val="75000"/>
                  </a:schemeClr>
                </a:solidFill>
                <a:latin typeface="微软雅黑" panose="020B0503020204020204" pitchFamily="34" charset="-122"/>
                <a:ea typeface="微软雅黑" panose="020B0503020204020204" pitchFamily="34" charset="-122"/>
              </a:rPr>
              <a:t>Chapter 4</a:t>
            </a:r>
            <a:br>
              <a:rPr lang="en-US" altLang="zh-CN" sz="4400" b="1" dirty="0">
                <a:solidFill>
                  <a:schemeClr val="accent1">
                    <a:lumMod val="75000"/>
                  </a:schemeClr>
                </a:solidFill>
                <a:latin typeface="微软雅黑" panose="020B0503020204020204" pitchFamily="34" charset="-122"/>
                <a:ea typeface="微软雅黑" panose="020B0503020204020204" pitchFamily="34" charset="-122"/>
              </a:rPr>
            </a:br>
            <a:r>
              <a:rPr lang="en-US" altLang="zh-CN" sz="4400" b="1" dirty="0">
                <a:latin typeface="Arial" panose="020B0604020202020204" pitchFamily="34" charset="0"/>
                <a:cs typeface="Arial" panose="020B0604020202020204" pitchFamily="34" charset="0"/>
              </a:rPr>
              <a:t>Operating Systems</a:t>
            </a:r>
            <a:endParaRPr lang="zh-CN" altLang="en-US" sz="4400" b="1"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51350131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Operating Systems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pPr>
              <a:lnSpc>
                <a:spcPct val="120000"/>
              </a:lnSpc>
            </a:pPr>
            <a:r>
              <a:rPr lang="en-US" altLang="zh-CN" dirty="0">
                <a:latin typeface="Arial" panose="020B0604020202020204" pitchFamily="34" charset="0"/>
                <a:cs typeface="Arial" panose="020B0604020202020204" pitchFamily="34" charset="0"/>
              </a:rPr>
              <a:t>An operating System is</a:t>
            </a:r>
          </a:p>
          <a:p>
            <a:pPr lvl="1">
              <a:lnSpc>
                <a:spcPct val="120000"/>
              </a:lnSpc>
            </a:pPr>
            <a:r>
              <a:rPr lang="en-US" altLang="zh-CN" dirty="0">
                <a:latin typeface="Arial" panose="020B0604020202020204" pitchFamily="34" charset="0"/>
                <a:cs typeface="Arial" panose="020B0604020202020204" pitchFamily="34" charset="0"/>
              </a:rPr>
              <a:t>a thin software layer</a:t>
            </a:r>
          </a:p>
          <a:p>
            <a:pPr lvl="1">
              <a:lnSpc>
                <a:spcPct val="120000"/>
              </a:lnSpc>
            </a:pPr>
            <a:r>
              <a:rPr lang="en-US" altLang="zh-CN" dirty="0">
                <a:latin typeface="Arial" panose="020B0604020202020204" pitchFamily="34" charset="0"/>
                <a:cs typeface="Arial" panose="020B0604020202020204" pitchFamily="34" charset="0"/>
              </a:rPr>
              <a:t>resides between the hardware and the application layer</a:t>
            </a:r>
          </a:p>
          <a:p>
            <a:pPr lvl="1">
              <a:lnSpc>
                <a:spcPct val="120000"/>
              </a:lnSpc>
            </a:pPr>
            <a:r>
              <a:rPr lang="en-US" altLang="zh-CN" dirty="0">
                <a:latin typeface="Arial" panose="020B0604020202020204" pitchFamily="34" charset="0"/>
                <a:cs typeface="Arial" panose="020B0604020202020204" pitchFamily="34" charset="0"/>
              </a:rPr>
              <a:t>provides basic programming abstractions to application developers</a:t>
            </a:r>
          </a:p>
          <a:p>
            <a:pPr>
              <a:lnSpc>
                <a:spcPct val="120000"/>
              </a:lnSpc>
            </a:pPr>
            <a:r>
              <a:rPr lang="en-US" altLang="zh-CN" dirty="0">
                <a:latin typeface="Arial" panose="020B0604020202020204" pitchFamily="34" charset="0"/>
                <a:cs typeface="Arial" panose="020B0604020202020204" pitchFamily="34" charset="0"/>
              </a:rPr>
              <a:t>Its </a:t>
            </a:r>
            <a:r>
              <a:rPr lang="en-US" altLang="zh-CN" i="1" dirty="0">
                <a:solidFill>
                  <a:srgbClr val="FF0000"/>
                </a:solidFill>
                <a:latin typeface="Arial" panose="020B0604020202020204" pitchFamily="34" charset="0"/>
                <a:cs typeface="Arial" panose="020B0604020202020204" pitchFamily="34" charset="0"/>
              </a:rPr>
              <a:t>main task </a:t>
            </a:r>
            <a:r>
              <a:rPr lang="en-US" altLang="zh-CN" dirty="0">
                <a:latin typeface="Arial" panose="020B0604020202020204" pitchFamily="34" charset="0"/>
                <a:cs typeface="Arial" panose="020B0604020202020204" pitchFamily="34" charset="0"/>
              </a:rPr>
              <a:t>is to enable applications to interact with hardware resources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58744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Operating Systems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pPr>
              <a:lnSpc>
                <a:spcPct val="120000"/>
              </a:lnSpc>
            </a:pPr>
            <a:r>
              <a:rPr lang="en-US" altLang="zh-CN" dirty="0">
                <a:latin typeface="Arial" panose="020B0604020202020204" pitchFamily="34" charset="0"/>
                <a:cs typeface="Arial" panose="020B0604020202020204" pitchFamily="34" charset="0"/>
              </a:rPr>
              <a:t>Operating systems are classified as: </a:t>
            </a:r>
            <a:r>
              <a:rPr lang="en-US" altLang="zh-CN" dirty="0">
                <a:solidFill>
                  <a:srgbClr val="FF0000"/>
                </a:solidFill>
                <a:latin typeface="Arial" panose="020B0604020202020204" pitchFamily="34" charset="0"/>
                <a:cs typeface="Arial" panose="020B0604020202020204" pitchFamily="34" charset="0"/>
              </a:rPr>
              <a:t>single-task/multitasking</a:t>
            </a:r>
            <a:r>
              <a:rPr lang="en-US" altLang="zh-CN" dirty="0">
                <a:latin typeface="Arial" panose="020B0604020202020204" pitchFamily="34" charset="0"/>
                <a:cs typeface="Arial" panose="020B0604020202020204" pitchFamily="34" charset="0"/>
              </a:rPr>
              <a:t> and </a:t>
            </a:r>
            <a:r>
              <a:rPr lang="en-US" altLang="zh-CN" dirty="0">
                <a:solidFill>
                  <a:srgbClr val="FF0000"/>
                </a:solidFill>
                <a:latin typeface="Arial" panose="020B0604020202020204" pitchFamily="34" charset="0"/>
                <a:cs typeface="Arial" panose="020B0604020202020204" pitchFamily="34" charset="0"/>
              </a:rPr>
              <a:t>single-user/multiuser</a:t>
            </a:r>
            <a:r>
              <a:rPr lang="en-US" altLang="zh-CN" dirty="0">
                <a:latin typeface="Arial" panose="020B0604020202020204" pitchFamily="34" charset="0"/>
                <a:cs typeface="Arial" panose="020B0604020202020204" pitchFamily="34" charset="0"/>
              </a:rPr>
              <a:t> operating systems!</a:t>
            </a:r>
          </a:p>
          <a:p>
            <a:pPr lvl="1">
              <a:lnSpc>
                <a:spcPct val="120000"/>
              </a:lnSpc>
            </a:pPr>
            <a:r>
              <a:rPr lang="en-US" altLang="zh-CN" dirty="0">
                <a:latin typeface="Arial" panose="020B0604020202020204" pitchFamily="34" charset="0"/>
                <a:cs typeface="Arial" panose="020B0604020202020204" pitchFamily="34" charset="0"/>
              </a:rPr>
              <a:t>multi-tasking OS - the overhead of concurrent processing because of the limited resources!</a:t>
            </a:r>
          </a:p>
          <a:p>
            <a:pPr lvl="1">
              <a:lnSpc>
                <a:spcPct val="120000"/>
              </a:lnSpc>
            </a:pPr>
            <a:r>
              <a:rPr lang="en-US" altLang="zh-CN" dirty="0">
                <a:latin typeface="Arial" panose="020B0604020202020204" pitchFamily="34" charset="0"/>
                <a:cs typeface="Arial" panose="020B0604020202020204" pitchFamily="34" charset="0"/>
              </a:rPr>
              <a:t>single task OS - tasks should have a short duration!</a:t>
            </a:r>
          </a:p>
          <a:p>
            <a:pPr>
              <a:lnSpc>
                <a:spcPct val="120000"/>
              </a:lnSpc>
            </a:pPr>
            <a:r>
              <a:rPr lang="en-US" altLang="zh-CN" dirty="0">
                <a:latin typeface="Arial" panose="020B0604020202020204" pitchFamily="34" charset="0"/>
                <a:cs typeface="Arial" panose="020B0604020202020204" pitchFamily="34" charset="0"/>
              </a:rPr>
              <a:t>The choice of a particular OS depends on several factors; typically </a:t>
            </a:r>
            <a:r>
              <a:rPr lang="en-US" altLang="zh-CN" i="1" dirty="0">
                <a:solidFill>
                  <a:srgbClr val="FF0000"/>
                </a:solidFill>
                <a:latin typeface="Arial" panose="020B0604020202020204" pitchFamily="34" charset="0"/>
                <a:cs typeface="Arial" panose="020B0604020202020204" pitchFamily="34" charset="0"/>
              </a:rPr>
              <a:t>functional</a:t>
            </a:r>
            <a:r>
              <a:rPr lang="en-US" altLang="zh-CN" i="1"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and </a:t>
            </a:r>
            <a:r>
              <a:rPr lang="en-US" altLang="zh-CN" i="1" dirty="0">
                <a:solidFill>
                  <a:srgbClr val="FF0000"/>
                </a:solidFill>
                <a:latin typeface="Arial" panose="020B0604020202020204" pitchFamily="34" charset="0"/>
                <a:cs typeface="Arial" panose="020B0604020202020204" pitchFamily="34" charset="0"/>
              </a:rPr>
              <a:t>non-functional </a:t>
            </a:r>
            <a:r>
              <a:rPr lang="en-US" altLang="zh-CN" dirty="0">
                <a:latin typeface="Arial" panose="020B0604020202020204" pitchFamily="34" charset="0"/>
                <a:cs typeface="Arial" panose="020B0604020202020204" pitchFamily="34" charset="0"/>
              </a:rPr>
              <a:t>aspects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1390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dirty="0">
                <a:latin typeface="Arial" panose="020B0604020202020204" pitchFamily="34" charset="0"/>
                <a:cs typeface="Arial" panose="020B0604020202020204" pitchFamily="34" charset="0"/>
              </a:rPr>
              <a:t>Functional Aspects</a:t>
            </a:r>
          </a:p>
          <a:p>
            <a:pPr>
              <a:lnSpc>
                <a:spcPct val="120000"/>
              </a:lnSpc>
            </a:pPr>
            <a:r>
              <a:rPr lang="en-US" altLang="zh-CN" dirty="0">
                <a:latin typeface="Arial" panose="020B0604020202020204" pitchFamily="34" charset="0"/>
                <a:cs typeface="Arial" panose="020B0604020202020204" pitchFamily="34" charset="0"/>
              </a:rPr>
              <a:t>Non-Functional Aspects</a:t>
            </a:r>
          </a:p>
          <a:p>
            <a:pPr>
              <a:lnSpc>
                <a:spcPct val="120000"/>
              </a:lnSpc>
            </a:pPr>
            <a:r>
              <a:rPr lang="en-US" altLang="zh-CN" dirty="0">
                <a:latin typeface="Arial" panose="020B0604020202020204" pitchFamily="34" charset="0"/>
                <a:cs typeface="Arial" panose="020B0604020202020204" pitchFamily="34" charset="0"/>
              </a:rPr>
              <a:t>Prototypes</a:t>
            </a:r>
          </a:p>
          <a:p>
            <a:pPr>
              <a:lnSpc>
                <a:spcPct val="120000"/>
              </a:lnSpc>
            </a:pPr>
            <a:r>
              <a:rPr lang="en-US" altLang="zh-CN" dirty="0">
                <a:latin typeface="Arial" panose="020B0604020202020204" pitchFamily="34" charset="0"/>
                <a:cs typeface="Arial" panose="020B0604020202020204" pitchFamily="34" charset="0"/>
              </a:rPr>
              <a:t>Evaluation</a:t>
            </a:r>
            <a:endParaRPr lang="en-US" altLang="zh-C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731781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667250"/>
          </a:xfrm>
        </p:spPr>
        <p:txBody>
          <a:bodyPr>
            <a:noAutofit/>
          </a:bodyPr>
          <a:lstStyle/>
          <a:p>
            <a:pPr>
              <a:lnSpc>
                <a:spcPct val="120000"/>
              </a:lnSpc>
            </a:pPr>
            <a:r>
              <a:rPr lang="en-US" altLang="zh-CN" b="1" dirty="0">
                <a:latin typeface="Arial" panose="020B0604020202020204" pitchFamily="34" charset="0"/>
                <a:cs typeface="Arial" panose="020B0604020202020204" pitchFamily="34" charset="0"/>
              </a:rPr>
              <a:t>Functional Aspects</a:t>
            </a:r>
          </a:p>
          <a:p>
            <a:pPr>
              <a:lnSpc>
                <a:spcPct val="120000"/>
              </a:lnSpc>
            </a:pPr>
            <a:endParaRPr lang="en-US" altLang="zh-CN" dirty="0">
              <a:latin typeface="Arial" panose="020B0604020202020204" pitchFamily="34" charset="0"/>
              <a:cs typeface="Arial" panose="020B0604020202020204" pitchFamily="34" charset="0"/>
            </a:endParaRPr>
          </a:p>
          <a:p>
            <a:pPr>
              <a:lnSpc>
                <a:spcPct val="120000"/>
              </a:lnSpc>
            </a:pPr>
            <a:endParaRPr lang="en-US" altLang="zh-CN" dirty="0">
              <a:latin typeface="Arial" panose="020B0604020202020204" pitchFamily="34" charset="0"/>
              <a:cs typeface="Arial" panose="020B0604020202020204" pitchFamily="34" charset="0"/>
            </a:endParaRPr>
          </a:p>
          <a:p>
            <a:pPr>
              <a:lnSpc>
                <a:spcPct val="120000"/>
              </a:lnSpc>
            </a:pPr>
            <a:endParaRPr lang="en-US" altLang="zh-CN" dirty="0">
              <a:latin typeface="Arial" panose="020B0604020202020204" pitchFamily="34" charset="0"/>
              <a:cs typeface="Arial" panose="020B0604020202020204" pitchFamily="34" charset="0"/>
            </a:endParaRPr>
          </a:p>
          <a:p>
            <a:pPr>
              <a:lnSpc>
                <a:spcPct val="120000"/>
              </a:lnSpc>
            </a:pPr>
            <a:r>
              <a:rPr lang="en-US" altLang="zh-CN" dirty="0">
                <a:latin typeface="Arial" panose="020B0604020202020204" pitchFamily="34" charset="0"/>
                <a:cs typeface="Arial" panose="020B0604020202020204" pitchFamily="34" charset="0"/>
              </a:rPr>
              <a:t>Non-Functional Aspects</a:t>
            </a:r>
          </a:p>
          <a:p>
            <a:pPr>
              <a:lnSpc>
                <a:spcPct val="120000"/>
              </a:lnSpc>
            </a:pPr>
            <a:r>
              <a:rPr lang="en-US" altLang="zh-CN" dirty="0">
                <a:latin typeface="Arial" panose="020B0604020202020204" pitchFamily="34" charset="0"/>
                <a:cs typeface="Arial" panose="020B0604020202020204" pitchFamily="34" charset="0"/>
              </a:rPr>
              <a:t>Prototypes</a:t>
            </a:r>
          </a:p>
          <a:p>
            <a:pPr>
              <a:lnSpc>
                <a:spcPct val="120000"/>
              </a:lnSpc>
            </a:pPr>
            <a:r>
              <a:rPr lang="en-US" altLang="zh-CN" dirty="0">
                <a:latin typeface="Arial" panose="020B0604020202020204" pitchFamily="34" charset="0"/>
                <a:cs typeface="Arial" panose="020B0604020202020204" pitchFamily="34" charset="0"/>
              </a:rPr>
              <a:t>Evaluation</a:t>
            </a:r>
            <a:endParaRPr lang="en-US" altLang="zh-CN" sz="2400" dirty="0">
              <a:latin typeface="Arial" panose="020B0604020202020204" pitchFamily="34" charset="0"/>
              <a:cs typeface="Arial" panose="020B0604020202020204" pitchFamily="34" charset="0"/>
            </a:endParaRPr>
          </a:p>
        </p:txBody>
      </p:sp>
      <p:sp>
        <p:nvSpPr>
          <p:cNvPr id="4" name="矩形 3">
            <a:extLst>
              <a:ext uri="{FF2B5EF4-FFF2-40B4-BE49-F238E27FC236}">
                <a16:creationId xmlns:a16="http://schemas.microsoft.com/office/drawing/2014/main" id="{CF36F3E2-AA6B-4131-AD51-D42975888471}"/>
              </a:ext>
            </a:extLst>
          </p:cNvPr>
          <p:cNvSpPr/>
          <p:nvPr/>
        </p:nvSpPr>
        <p:spPr>
          <a:xfrm>
            <a:off x="5080987" y="1965297"/>
            <a:ext cx="6096000" cy="2554545"/>
          </a:xfrm>
          <a:prstGeom prst="rect">
            <a:avLst/>
          </a:prstGeom>
        </p:spPr>
        <p:txBody>
          <a:bodyPr>
            <a:spAutoFit/>
          </a:bodyPr>
          <a:lstStyle/>
          <a:p>
            <a:pPr lvl="1">
              <a:lnSpc>
                <a:spcPct val="100000"/>
              </a:lnSpc>
            </a:pPr>
            <a:r>
              <a:rPr lang="en-US" altLang="zh-CN" sz="2000" dirty="0">
                <a:latin typeface="Arial" panose="020B0604020202020204" pitchFamily="34" charset="0"/>
                <a:cs typeface="Arial" panose="020B0604020202020204" pitchFamily="34" charset="0"/>
              </a:rPr>
              <a:t>Data Types</a:t>
            </a:r>
          </a:p>
          <a:p>
            <a:pPr lvl="1">
              <a:lnSpc>
                <a:spcPct val="100000"/>
              </a:lnSpc>
            </a:pPr>
            <a:r>
              <a:rPr lang="en-US" altLang="zh-CN" sz="2000" dirty="0">
                <a:latin typeface="Arial" panose="020B0604020202020204" pitchFamily="34" charset="0"/>
                <a:cs typeface="Arial" panose="020B0604020202020204" pitchFamily="34" charset="0"/>
              </a:rPr>
              <a:t>Scheduling</a:t>
            </a:r>
          </a:p>
          <a:p>
            <a:pPr lvl="1">
              <a:lnSpc>
                <a:spcPct val="100000"/>
              </a:lnSpc>
            </a:pPr>
            <a:r>
              <a:rPr lang="en-US" altLang="zh-CN" sz="2000" dirty="0">
                <a:latin typeface="Arial" panose="020B0604020202020204" pitchFamily="34" charset="0"/>
                <a:cs typeface="Arial" panose="020B0604020202020204" pitchFamily="34" charset="0"/>
              </a:rPr>
              <a:t>Stacks</a:t>
            </a:r>
          </a:p>
          <a:p>
            <a:pPr lvl="1">
              <a:lnSpc>
                <a:spcPct val="100000"/>
              </a:lnSpc>
            </a:pPr>
            <a:r>
              <a:rPr lang="en-US" altLang="zh-CN" sz="2000" dirty="0">
                <a:latin typeface="Arial" panose="020B0604020202020204" pitchFamily="34" charset="0"/>
                <a:cs typeface="Arial" panose="020B0604020202020204" pitchFamily="34" charset="0"/>
              </a:rPr>
              <a:t>System Calls</a:t>
            </a:r>
          </a:p>
          <a:p>
            <a:pPr lvl="1">
              <a:lnSpc>
                <a:spcPct val="100000"/>
              </a:lnSpc>
            </a:pPr>
            <a:r>
              <a:rPr lang="en-US" altLang="zh-CN" sz="2000" dirty="0">
                <a:latin typeface="Arial" panose="020B0604020202020204" pitchFamily="34" charset="0"/>
                <a:cs typeface="Arial" panose="020B0604020202020204" pitchFamily="34" charset="0"/>
              </a:rPr>
              <a:t>Handling Interrupts</a:t>
            </a:r>
          </a:p>
          <a:p>
            <a:pPr lvl="1">
              <a:lnSpc>
                <a:spcPct val="100000"/>
              </a:lnSpc>
            </a:pPr>
            <a:r>
              <a:rPr lang="en-US" altLang="zh-CN" sz="2000" dirty="0">
                <a:latin typeface="Arial" panose="020B0604020202020204" pitchFamily="34" charset="0"/>
                <a:cs typeface="Arial" panose="020B0604020202020204" pitchFamily="34" charset="0"/>
              </a:rPr>
              <a:t>Multithreading</a:t>
            </a:r>
          </a:p>
          <a:p>
            <a:pPr lvl="1">
              <a:lnSpc>
                <a:spcPct val="100000"/>
              </a:lnSpc>
            </a:pPr>
            <a:r>
              <a:rPr lang="en-US" altLang="zh-CN" sz="2000" dirty="0">
                <a:latin typeface="Arial" panose="020B0604020202020204" pitchFamily="34" charset="0"/>
                <a:cs typeface="Arial" panose="020B0604020202020204" pitchFamily="34" charset="0"/>
              </a:rPr>
              <a:t>Thread-based vs. Event-based Programming</a:t>
            </a:r>
          </a:p>
          <a:p>
            <a:pPr lvl="1">
              <a:lnSpc>
                <a:spcPct val="100000"/>
              </a:lnSpc>
            </a:pPr>
            <a:r>
              <a:rPr lang="en-US" altLang="zh-CN" sz="2000" dirty="0">
                <a:latin typeface="Arial" panose="020B0604020202020204" pitchFamily="34" charset="0"/>
                <a:cs typeface="Arial" panose="020B0604020202020204" pitchFamily="34" charset="0"/>
              </a:rPr>
              <a:t>Memory Allocation</a:t>
            </a:r>
          </a:p>
        </p:txBody>
      </p:sp>
    </p:spTree>
    <p:extLst>
      <p:ext uri="{BB962C8B-B14F-4D97-AF65-F5344CB8AC3E}">
        <p14:creationId xmlns:p14="http://schemas.microsoft.com/office/powerpoint/2010/main" val="92283258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Data Types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859260"/>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Interactions between the different subsystems take place through:</a:t>
            </a:r>
          </a:p>
          <a:p>
            <a:pPr lvl="1">
              <a:lnSpc>
                <a:spcPct val="120000"/>
              </a:lnSpc>
            </a:pPr>
            <a:r>
              <a:rPr lang="en-US" altLang="zh-CN" sz="2000" dirty="0">
                <a:latin typeface="Arial" panose="020B0604020202020204" pitchFamily="34" charset="0"/>
                <a:cs typeface="Arial" panose="020B0604020202020204" pitchFamily="34" charset="0"/>
              </a:rPr>
              <a:t>well-formulated protocols</a:t>
            </a:r>
          </a:p>
          <a:p>
            <a:pPr lvl="1">
              <a:lnSpc>
                <a:spcPct val="120000"/>
              </a:lnSpc>
            </a:pPr>
            <a:r>
              <a:rPr lang="en-US" altLang="zh-CN" sz="2000" dirty="0">
                <a:latin typeface="Arial" panose="020B0604020202020204" pitchFamily="34" charset="0"/>
                <a:cs typeface="Arial" panose="020B0604020202020204" pitchFamily="34" charset="0"/>
              </a:rPr>
              <a:t>data types</a:t>
            </a:r>
          </a:p>
          <a:p>
            <a:pPr lvl="1">
              <a:lnSpc>
                <a:spcPct val="120000"/>
              </a:lnSpc>
            </a:pPr>
            <a:endParaRPr lang="en-US" altLang="zh-CN" sz="2000" dirty="0">
              <a:latin typeface="Arial" panose="020B0604020202020204" pitchFamily="34" charset="0"/>
              <a:cs typeface="Arial" panose="020B0604020202020204" pitchFamily="34" charset="0"/>
            </a:endParaRPr>
          </a:p>
          <a:p>
            <a:pPr>
              <a:lnSpc>
                <a:spcPct val="120000"/>
              </a:lnSpc>
            </a:pPr>
            <a:r>
              <a:rPr lang="en-US" altLang="zh-CN" sz="2400" dirty="0">
                <a:solidFill>
                  <a:srgbClr val="FF0000"/>
                </a:solidFill>
                <a:latin typeface="Arial" panose="020B0604020202020204" pitchFamily="34" charset="0"/>
                <a:cs typeface="Arial" panose="020B0604020202020204" pitchFamily="34" charset="0"/>
              </a:rPr>
              <a:t>Complex data types </a:t>
            </a:r>
            <a:r>
              <a:rPr lang="en-US" altLang="zh-CN" sz="2400" dirty="0">
                <a:latin typeface="Arial" panose="020B0604020202020204" pitchFamily="34" charset="0"/>
                <a:cs typeface="Arial" panose="020B0604020202020204" pitchFamily="34" charset="0"/>
              </a:rPr>
              <a:t>have strong expression power but consume resources - struct and </a:t>
            </a:r>
            <a:r>
              <a:rPr lang="en-US" altLang="zh-CN" sz="2400" dirty="0" err="1">
                <a:latin typeface="Arial" panose="020B0604020202020204" pitchFamily="34" charset="0"/>
                <a:cs typeface="Arial" panose="020B0604020202020204" pitchFamily="34" charset="0"/>
              </a:rPr>
              <a:t>enum</a:t>
            </a: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r>
              <a:rPr lang="en-US" altLang="zh-CN" sz="2400" dirty="0">
                <a:solidFill>
                  <a:srgbClr val="FF0000"/>
                </a:solidFill>
                <a:latin typeface="Arial" panose="020B0604020202020204" pitchFamily="34" charset="0"/>
                <a:cs typeface="Arial" panose="020B0604020202020204" pitchFamily="34" charset="0"/>
              </a:rPr>
              <a:t>Simple data types </a:t>
            </a:r>
            <a:r>
              <a:rPr lang="en-US" altLang="zh-CN" sz="2400" dirty="0">
                <a:latin typeface="Arial" panose="020B0604020202020204" pitchFamily="34" charset="0"/>
                <a:cs typeface="Arial" panose="020B0604020202020204" pitchFamily="34" charset="0"/>
              </a:rPr>
              <a:t>are resource efficient but have limited expression capability - C programming language</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042196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Scheduling</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258887" cy="5032375"/>
          </a:xfrm>
        </p:spPr>
        <p:txBody>
          <a:bodyPr>
            <a:normAutofit/>
          </a:bodyPr>
          <a:lstStyle/>
          <a:p>
            <a:pPr>
              <a:lnSpc>
                <a:spcPct val="120000"/>
              </a:lnSpc>
            </a:pPr>
            <a:r>
              <a:rPr lang="en-US" altLang="zh-CN" sz="2600" dirty="0">
                <a:solidFill>
                  <a:srgbClr val="FF0000"/>
                </a:solidFill>
                <a:latin typeface="Arial" panose="020B0604020202020204" pitchFamily="34" charset="0"/>
                <a:cs typeface="Arial" panose="020B0604020202020204" pitchFamily="34" charset="0"/>
              </a:rPr>
              <a:t>queuing-based scheduling</a:t>
            </a:r>
          </a:p>
          <a:p>
            <a:pPr lvl="1">
              <a:lnSpc>
                <a:spcPct val="120000"/>
              </a:lnSpc>
            </a:pPr>
            <a:r>
              <a:rPr lang="en-US" altLang="zh-CN" sz="2000" dirty="0">
                <a:latin typeface="Arial" panose="020B0604020202020204" pitchFamily="34" charset="0"/>
                <a:cs typeface="Arial" panose="020B0604020202020204" pitchFamily="34" charset="0"/>
              </a:rPr>
              <a:t>FIFO - the simplest and has minimum system overhead, but treats tasks unfairly</a:t>
            </a:r>
          </a:p>
          <a:p>
            <a:pPr lvl="1">
              <a:lnSpc>
                <a:spcPct val="120000"/>
              </a:lnSpc>
            </a:pPr>
            <a:r>
              <a:rPr lang="en-US" altLang="zh-CN" sz="2000" dirty="0">
                <a:latin typeface="Arial" panose="020B0604020202020204" pitchFamily="34" charset="0"/>
                <a:cs typeface="Arial" panose="020B0604020202020204" pitchFamily="34" charset="0"/>
              </a:rPr>
              <a:t>sorted queue - e.g., shortest job first (SJF) - incurs system overhead (to estimate execution duration)</a:t>
            </a:r>
          </a:p>
          <a:p>
            <a:pPr>
              <a:lnSpc>
                <a:spcPct val="120000"/>
              </a:lnSpc>
            </a:pPr>
            <a:r>
              <a:rPr lang="en-US" altLang="zh-CN" sz="2600" dirty="0">
                <a:solidFill>
                  <a:srgbClr val="FF0000"/>
                </a:solidFill>
                <a:latin typeface="Arial" panose="020B0604020202020204" pitchFamily="34" charset="0"/>
                <a:cs typeface="Arial" panose="020B0604020202020204" pitchFamily="34" charset="0"/>
              </a:rPr>
              <a:t>round-robin scheduling</a:t>
            </a:r>
          </a:p>
          <a:p>
            <a:pPr lvl="1">
              <a:lnSpc>
                <a:spcPct val="120000"/>
              </a:lnSpc>
            </a:pPr>
            <a:r>
              <a:rPr lang="en-US" altLang="zh-CN" sz="2000" dirty="0">
                <a:latin typeface="Arial" panose="020B0604020202020204" pitchFamily="34" charset="0"/>
                <a:cs typeface="Arial" panose="020B0604020202020204" pitchFamily="34" charset="0"/>
              </a:rPr>
              <a:t>a time sharing scheduling technique</a:t>
            </a:r>
          </a:p>
          <a:p>
            <a:pPr lvl="1">
              <a:lnSpc>
                <a:spcPct val="120000"/>
              </a:lnSpc>
            </a:pPr>
            <a:r>
              <a:rPr lang="en-US" altLang="zh-CN" sz="2000" dirty="0">
                <a:latin typeface="Arial" panose="020B0604020202020204" pitchFamily="34" charset="0"/>
                <a:cs typeface="Arial" panose="020B0604020202020204" pitchFamily="34" charset="0"/>
              </a:rPr>
              <a:t>several tasks can be processed concurrently</a:t>
            </a:r>
          </a:p>
          <a:p>
            <a:pPr>
              <a:lnSpc>
                <a:spcPct val="120000"/>
              </a:lnSpc>
            </a:pPr>
            <a:r>
              <a:rPr lang="en-US" altLang="zh-CN" sz="2400" dirty="0">
                <a:latin typeface="Arial" panose="020B0604020202020204" pitchFamily="34" charset="0"/>
                <a:cs typeface="Arial" panose="020B0604020202020204" pitchFamily="34" charset="0"/>
              </a:rPr>
              <a:t>Regardless of how tasks are executed, a scheduler can be either</a:t>
            </a:r>
          </a:p>
          <a:p>
            <a:pPr lvl="1">
              <a:lnSpc>
                <a:spcPct val="120000"/>
              </a:lnSpc>
            </a:pPr>
            <a:r>
              <a:rPr lang="en-US" altLang="zh-CN" sz="2000" dirty="0">
                <a:latin typeface="Arial" panose="020B0604020202020204" pitchFamily="34" charset="0"/>
                <a:cs typeface="Arial" panose="020B0604020202020204" pitchFamily="34" charset="0"/>
              </a:rPr>
              <a:t>a </a:t>
            </a:r>
            <a:r>
              <a:rPr lang="en-US" altLang="zh-CN" sz="2000" dirty="0">
                <a:solidFill>
                  <a:srgbClr val="FF0000"/>
                </a:solidFill>
                <a:latin typeface="Arial" panose="020B0604020202020204" pitchFamily="34" charset="0"/>
                <a:cs typeface="Arial" panose="020B0604020202020204" pitchFamily="34" charset="0"/>
              </a:rPr>
              <a:t>non-preemptive</a:t>
            </a:r>
            <a:r>
              <a:rPr lang="en-US" altLang="zh-CN" sz="2000" dirty="0">
                <a:latin typeface="Arial" panose="020B0604020202020204" pitchFamily="34" charset="0"/>
                <a:cs typeface="Arial" panose="020B0604020202020204" pitchFamily="34" charset="0"/>
              </a:rPr>
              <a:t> scheduler - a task is executed to the end, may not be interrupted by another task</a:t>
            </a:r>
          </a:p>
          <a:p>
            <a:pPr lvl="1">
              <a:lnSpc>
                <a:spcPct val="120000"/>
              </a:lnSpc>
            </a:pPr>
            <a:r>
              <a:rPr lang="en-US" altLang="zh-CN" sz="2000" dirty="0">
                <a:latin typeface="Arial" panose="020B0604020202020204" pitchFamily="34" charset="0"/>
                <a:cs typeface="Arial" panose="020B0604020202020204" pitchFamily="34" charset="0"/>
              </a:rPr>
              <a:t>or </a:t>
            </a:r>
            <a:r>
              <a:rPr lang="en-US" altLang="zh-CN" sz="2000" dirty="0">
                <a:solidFill>
                  <a:srgbClr val="FF0000"/>
                </a:solidFill>
                <a:latin typeface="Arial" panose="020B0604020202020204" pitchFamily="34" charset="0"/>
                <a:cs typeface="Arial" panose="020B0604020202020204" pitchFamily="34" charset="0"/>
              </a:rPr>
              <a:t>preemptive</a:t>
            </a:r>
            <a:r>
              <a:rPr lang="en-US" altLang="zh-CN" sz="2000" dirty="0">
                <a:latin typeface="Arial" panose="020B0604020202020204" pitchFamily="34" charset="0"/>
                <a:cs typeface="Arial" panose="020B0604020202020204" pitchFamily="34" charset="0"/>
              </a:rPr>
              <a:t> scheduler - a task of higher priority may interrupt a task of low priority</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785879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Stacks &amp; System Calls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9495408" cy="4850383"/>
          </a:xfrm>
        </p:spPr>
        <p:txBody>
          <a:bodyPr>
            <a:normAutofit/>
          </a:bodyPr>
          <a:lstStyle/>
          <a:p>
            <a:pPr>
              <a:lnSpc>
                <a:spcPct val="120000"/>
              </a:lnSpc>
            </a:pPr>
            <a:r>
              <a:rPr lang="en-US" altLang="zh-CN" sz="2400" i="1" dirty="0">
                <a:solidFill>
                  <a:srgbClr val="FF0000"/>
                </a:solidFill>
                <a:latin typeface="Arial" panose="020B0604020202020204" pitchFamily="34" charset="0"/>
                <a:cs typeface="Arial" panose="020B0604020202020204" pitchFamily="34" charset="0"/>
              </a:rPr>
              <a:t>Stacks</a:t>
            </a:r>
          </a:p>
          <a:p>
            <a:pPr lvl="1">
              <a:lnSpc>
                <a:spcPct val="120000"/>
              </a:lnSpc>
            </a:pPr>
            <a:r>
              <a:rPr lang="en-US" altLang="zh-CN" sz="2000" dirty="0">
                <a:latin typeface="Arial" panose="020B0604020202020204" pitchFamily="34" charset="0"/>
                <a:cs typeface="Arial" panose="020B0604020202020204" pitchFamily="34" charset="0"/>
              </a:rPr>
              <a:t>a data structure that temporarily stores data objects in memory by piling one upon another</a:t>
            </a:r>
          </a:p>
          <a:p>
            <a:pPr lvl="1">
              <a:lnSpc>
                <a:spcPct val="120000"/>
              </a:lnSpc>
            </a:pPr>
            <a:r>
              <a:rPr lang="en-US" altLang="zh-CN" sz="2000" dirty="0">
                <a:latin typeface="Arial" panose="020B0604020202020204" pitchFamily="34" charset="0"/>
                <a:cs typeface="Arial" panose="020B0604020202020204" pitchFamily="34" charset="0"/>
              </a:rPr>
              <a:t>objects are accessed using last-in-first-out (LIFO)</a:t>
            </a:r>
          </a:p>
          <a:p>
            <a:pPr>
              <a:lnSpc>
                <a:spcPct val="120000"/>
              </a:lnSpc>
            </a:pPr>
            <a:r>
              <a:rPr lang="en-US" altLang="zh-CN" sz="2400" i="1" dirty="0">
                <a:solidFill>
                  <a:srgbClr val="FF0000"/>
                </a:solidFill>
                <a:latin typeface="Arial" panose="020B0604020202020204" pitchFamily="34" charset="0"/>
                <a:cs typeface="Arial" panose="020B0604020202020204" pitchFamily="34" charset="0"/>
              </a:rPr>
              <a:t>System Calls</a:t>
            </a:r>
          </a:p>
          <a:p>
            <a:pPr lvl="1">
              <a:lnSpc>
                <a:spcPct val="120000"/>
              </a:lnSpc>
            </a:pPr>
            <a:r>
              <a:rPr lang="en-US" altLang="zh-CN" sz="2000" dirty="0">
                <a:latin typeface="Arial" panose="020B0604020202020204" pitchFamily="34" charset="0"/>
                <a:cs typeface="Arial" panose="020B0604020202020204" pitchFamily="34" charset="0"/>
              </a:rPr>
              <a:t>decouple the concern of accessing hardware resources from implementation details</a:t>
            </a:r>
          </a:p>
          <a:p>
            <a:pPr lvl="1">
              <a:lnSpc>
                <a:spcPct val="120000"/>
              </a:lnSpc>
            </a:pPr>
            <a:r>
              <a:rPr lang="en-US" altLang="zh-CN" sz="2000" dirty="0">
                <a:latin typeface="Arial" panose="020B0604020202020204" pitchFamily="34" charset="0"/>
                <a:cs typeface="Arial" panose="020B0604020202020204" pitchFamily="34" charset="0"/>
              </a:rPr>
              <a:t>whenever users wish to access a hardware resource, they invoke these operations without the need to concern themselves how the hardware is accessed</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915915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Handling Interrupts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965792"/>
          </a:xfrm>
        </p:spPr>
        <p:txBody>
          <a:bodyPr>
            <a:normAutofit fontScale="85000" lnSpcReduction="20000"/>
          </a:bodyPr>
          <a:lstStyle/>
          <a:p>
            <a:pPr>
              <a:lnSpc>
                <a:spcPct val="130000"/>
              </a:lnSpc>
            </a:pPr>
            <a:r>
              <a:rPr lang="en-US" altLang="zh-CN" dirty="0">
                <a:latin typeface="Arial" panose="020B0604020202020204" pitchFamily="34" charset="0"/>
                <a:cs typeface="Arial" panose="020B0604020202020204" pitchFamily="34" charset="0"/>
              </a:rPr>
              <a:t>An interrupt is an asynchronous signal generated by</a:t>
            </a:r>
          </a:p>
          <a:p>
            <a:pPr lvl="1">
              <a:lnSpc>
                <a:spcPct val="130000"/>
              </a:lnSpc>
            </a:pPr>
            <a:r>
              <a:rPr lang="en-US" altLang="zh-CN" dirty="0">
                <a:latin typeface="Arial" panose="020B0604020202020204" pitchFamily="34" charset="0"/>
                <a:cs typeface="Arial" panose="020B0604020202020204" pitchFamily="34" charset="0"/>
              </a:rPr>
              <a:t>a hardware device</a:t>
            </a:r>
          </a:p>
          <a:p>
            <a:pPr lvl="1">
              <a:lnSpc>
                <a:spcPct val="130000"/>
              </a:lnSpc>
            </a:pPr>
            <a:r>
              <a:rPr lang="en-US" altLang="zh-CN" dirty="0">
                <a:latin typeface="Arial" panose="020B0604020202020204" pitchFamily="34" charset="0"/>
                <a:cs typeface="Arial" panose="020B0604020202020204" pitchFamily="34" charset="0"/>
              </a:rPr>
              <a:t>several system events</a:t>
            </a:r>
          </a:p>
          <a:p>
            <a:pPr lvl="1">
              <a:lnSpc>
                <a:spcPct val="130000"/>
              </a:lnSpc>
            </a:pPr>
            <a:r>
              <a:rPr lang="en-US" altLang="zh-CN" dirty="0">
                <a:latin typeface="Arial" panose="020B0604020202020204" pitchFamily="34" charset="0"/>
                <a:cs typeface="Arial" panose="020B0604020202020204" pitchFamily="34" charset="0"/>
              </a:rPr>
              <a:t>OS itself</a:t>
            </a:r>
          </a:p>
          <a:p>
            <a:pPr>
              <a:lnSpc>
                <a:spcPct val="130000"/>
              </a:lnSpc>
            </a:pPr>
            <a:r>
              <a:rPr lang="en-US" altLang="zh-CN" dirty="0">
                <a:latin typeface="Arial" panose="020B0604020202020204" pitchFamily="34" charset="0"/>
                <a:cs typeface="Arial" panose="020B0604020202020204" pitchFamily="34" charset="0"/>
              </a:rPr>
              <a:t>An interrupt causes:</a:t>
            </a:r>
          </a:p>
          <a:p>
            <a:pPr lvl="1">
              <a:lnSpc>
                <a:spcPct val="130000"/>
              </a:lnSpc>
            </a:pPr>
            <a:r>
              <a:rPr lang="en-US" altLang="zh-CN" dirty="0">
                <a:latin typeface="Arial" panose="020B0604020202020204" pitchFamily="34" charset="0"/>
                <a:cs typeface="Arial" panose="020B0604020202020204" pitchFamily="34" charset="0"/>
              </a:rPr>
              <a:t>the processor to interrupt executing the present instruction</a:t>
            </a:r>
          </a:p>
          <a:p>
            <a:pPr lvl="1">
              <a:lnSpc>
                <a:spcPct val="130000"/>
              </a:lnSpc>
            </a:pPr>
            <a:r>
              <a:rPr lang="en-US" altLang="zh-CN" dirty="0">
                <a:latin typeface="Arial" panose="020B0604020202020204" pitchFamily="34" charset="0"/>
                <a:cs typeface="Arial" panose="020B0604020202020204" pitchFamily="34" charset="0"/>
              </a:rPr>
              <a:t>to call for an appropriate interrupt handler</a:t>
            </a:r>
          </a:p>
          <a:p>
            <a:pPr>
              <a:lnSpc>
                <a:spcPct val="130000"/>
              </a:lnSpc>
            </a:pPr>
            <a:r>
              <a:rPr lang="en-US" altLang="zh-CN" dirty="0">
                <a:latin typeface="Arial" panose="020B0604020202020204" pitchFamily="34" charset="0"/>
                <a:cs typeface="Arial" panose="020B0604020202020204" pitchFamily="34" charset="0"/>
              </a:rPr>
              <a:t>Interrupt signals can have different priority levels, a high priority interrupt can interrupt a low level interrupt</a:t>
            </a:r>
          </a:p>
          <a:p>
            <a:pPr>
              <a:lnSpc>
                <a:spcPct val="130000"/>
              </a:lnSpc>
            </a:pPr>
            <a:r>
              <a:rPr lang="en-US" altLang="zh-CN" dirty="0">
                <a:latin typeface="Arial" panose="020B0604020202020204" pitchFamily="34" charset="0"/>
                <a:cs typeface="Arial" panose="020B0604020202020204" pitchFamily="34" charset="0"/>
              </a:rPr>
              <a:t>Interrupt mask: let programs choose whether or not they wish to be interrupted</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011034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Multi-threading</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859260"/>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A </a:t>
            </a:r>
            <a:r>
              <a:rPr lang="en-US" altLang="zh-CN" sz="2400" i="1" dirty="0">
                <a:solidFill>
                  <a:srgbClr val="FF0000"/>
                </a:solidFill>
                <a:latin typeface="Arial" panose="020B0604020202020204" pitchFamily="34" charset="0"/>
                <a:cs typeface="Arial" panose="020B0604020202020204" pitchFamily="34" charset="0"/>
              </a:rPr>
              <a:t>thread</a:t>
            </a:r>
            <a:r>
              <a:rPr lang="en-US" altLang="zh-CN" sz="2400" i="1"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is the path taken by a processor or a program during its execution</a:t>
            </a:r>
          </a:p>
          <a:p>
            <a:pPr>
              <a:lnSpc>
                <a:spcPct val="120000"/>
              </a:lnSpc>
            </a:pPr>
            <a:r>
              <a:rPr lang="en-US" altLang="zh-CN" sz="2400" i="1" dirty="0">
                <a:solidFill>
                  <a:srgbClr val="FF0000"/>
                </a:solidFill>
                <a:latin typeface="Arial" panose="020B0604020202020204" pitchFamily="34" charset="0"/>
                <a:cs typeface="Arial" panose="020B0604020202020204" pitchFamily="34" charset="0"/>
              </a:rPr>
              <a:t>Multi-threading</a:t>
            </a:r>
            <a:r>
              <a:rPr lang="en-US" altLang="zh-CN" sz="2400" i="1"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 a task is divided into several logical pieces</a:t>
            </a:r>
          </a:p>
          <a:p>
            <a:pPr lvl="1">
              <a:lnSpc>
                <a:spcPct val="120000"/>
              </a:lnSpc>
            </a:pPr>
            <a:r>
              <a:rPr lang="en-US" altLang="zh-CN" sz="2000" dirty="0">
                <a:latin typeface="Arial" panose="020B0604020202020204" pitchFamily="34" charset="0"/>
                <a:cs typeface="Arial" panose="020B0604020202020204" pitchFamily="34" charset="0"/>
              </a:rPr>
              <a:t>scheduled independent from each other</a:t>
            </a:r>
          </a:p>
          <a:p>
            <a:pPr lvl="1">
              <a:lnSpc>
                <a:spcPct val="120000"/>
              </a:lnSpc>
            </a:pPr>
            <a:r>
              <a:rPr lang="en-US" altLang="zh-CN" sz="2000" dirty="0">
                <a:latin typeface="Arial" panose="020B0604020202020204" pitchFamily="34" charset="0"/>
                <a:cs typeface="Arial" panose="020B0604020202020204" pitchFamily="34" charset="0"/>
              </a:rPr>
              <a:t>executed concurrently</a:t>
            </a:r>
          </a:p>
          <a:p>
            <a:pPr>
              <a:lnSpc>
                <a:spcPct val="120000"/>
              </a:lnSpc>
            </a:pPr>
            <a:r>
              <a:rPr lang="en-US" altLang="zh-CN" sz="2400" dirty="0">
                <a:latin typeface="Arial" panose="020B0604020202020204" pitchFamily="34" charset="0"/>
                <a:cs typeface="Arial" panose="020B0604020202020204" pitchFamily="34" charset="0"/>
              </a:rPr>
              <a:t>Two advantages of a multi-threaded OS:</a:t>
            </a:r>
          </a:p>
          <a:p>
            <a:pPr lvl="1">
              <a:lnSpc>
                <a:spcPct val="120000"/>
              </a:lnSpc>
            </a:pPr>
            <a:r>
              <a:rPr lang="en-US" altLang="zh-CN" sz="2000" dirty="0">
                <a:latin typeface="Arial" panose="020B0604020202020204" pitchFamily="34" charset="0"/>
                <a:cs typeface="Arial" panose="020B0604020202020204" pitchFamily="34" charset="0"/>
              </a:rPr>
              <a:t>tasks do not block other tasks</a:t>
            </a:r>
          </a:p>
          <a:p>
            <a:pPr lvl="1">
              <a:lnSpc>
                <a:spcPct val="120000"/>
              </a:lnSpc>
            </a:pPr>
            <a:r>
              <a:rPr lang="en-US" altLang="zh-CN" sz="2000" dirty="0">
                <a:latin typeface="Arial" panose="020B0604020202020204" pitchFamily="34" charset="0"/>
                <a:cs typeface="Arial" panose="020B0604020202020204" pitchFamily="34" charset="0"/>
              </a:rPr>
              <a:t>short-duration tasks can be executed along with long-duration tasks</a:t>
            </a:r>
          </a:p>
          <a:p>
            <a:pPr>
              <a:lnSpc>
                <a:spcPct val="120000"/>
              </a:lnSpc>
            </a:pPr>
            <a:r>
              <a:rPr lang="en-US" altLang="zh-CN" sz="2400" dirty="0">
                <a:latin typeface="Arial" panose="020B0604020202020204" pitchFamily="34" charset="0"/>
                <a:cs typeface="Arial" panose="020B0604020202020204" pitchFamily="34" charset="0"/>
              </a:rPr>
              <a:t>Keep the number of threads to a </a:t>
            </a:r>
            <a:r>
              <a:rPr lang="en-US" altLang="zh-CN" sz="2400" i="1" dirty="0">
                <a:solidFill>
                  <a:srgbClr val="FF0000"/>
                </a:solidFill>
                <a:latin typeface="Arial" panose="020B0604020202020204" pitchFamily="34" charset="0"/>
                <a:cs typeface="Arial" panose="020B0604020202020204" pitchFamily="34" charset="0"/>
              </a:rPr>
              <a:t>manageable size </a:t>
            </a:r>
            <a:r>
              <a:rPr lang="en-US" altLang="zh-CN" sz="2400" dirty="0">
                <a:latin typeface="Arial" panose="020B0604020202020204" pitchFamily="34" charset="0"/>
                <a:cs typeface="Arial" panose="020B0604020202020204" pitchFamily="34" charset="0"/>
              </a:rPr>
              <a:t>using a thread pool</a:t>
            </a:r>
          </a:p>
          <a:p>
            <a:pPr lvl="1">
              <a:lnSpc>
                <a:spcPct val="120000"/>
              </a:lnSpc>
            </a:pPr>
            <a:r>
              <a:rPr lang="en-US" altLang="zh-CN" sz="2100" dirty="0">
                <a:latin typeface="Arial" panose="020B0604020202020204" pitchFamily="34" charset="0"/>
                <a:cs typeface="Arial" panose="020B0604020202020204" pitchFamily="34" charset="0"/>
              </a:rPr>
              <a:t>the creation of threads slows down the processor</a:t>
            </a:r>
          </a:p>
          <a:p>
            <a:pPr lvl="1">
              <a:lnSpc>
                <a:spcPct val="120000"/>
              </a:lnSpc>
            </a:pPr>
            <a:r>
              <a:rPr lang="en-US" altLang="zh-CN" sz="2100" dirty="0">
                <a:latin typeface="Arial" panose="020B0604020202020204" pitchFamily="34" charset="0"/>
                <a:cs typeface="Arial" panose="020B0604020202020204" pitchFamily="34" charset="0"/>
              </a:rPr>
              <a:t>no sufficient resources to divide</a:t>
            </a:r>
            <a:r>
              <a:rPr lang="zh-CN" altLang="en-US" sz="21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15699726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1353800" cy="1325563"/>
          </a:xfrm>
        </p:spPr>
        <p:txBody>
          <a:bodyPr>
            <a:normAutofit/>
          </a:bodyPr>
          <a:lstStyle/>
          <a:p>
            <a:r>
              <a:rPr lang="en-US" altLang="zh-CN" sz="4000" b="1" dirty="0">
                <a:latin typeface="Arial" panose="020B0604020202020204" pitchFamily="34" charset="0"/>
                <a:cs typeface="Arial" panose="020B0604020202020204" pitchFamily="34" charset="0"/>
              </a:rPr>
              <a:t>Thread-based vs Event-based Programming</a:t>
            </a:r>
            <a:endParaRPr lang="zh-CN" altLang="en-US" sz="4000"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667260" cy="5032375"/>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Decision whether to use threads or events programming</a:t>
            </a:r>
          </a:p>
          <a:p>
            <a:pPr lvl="1">
              <a:lnSpc>
                <a:spcPct val="120000"/>
              </a:lnSpc>
            </a:pPr>
            <a:r>
              <a:rPr lang="en-US" altLang="zh-CN" sz="2000" dirty="0">
                <a:latin typeface="Arial" panose="020B0604020202020204" pitchFamily="34" charset="0"/>
                <a:cs typeface="Arial" panose="020B0604020202020204" pitchFamily="34" charset="0"/>
              </a:rPr>
              <a:t>need for separate stacks</a:t>
            </a:r>
          </a:p>
          <a:p>
            <a:pPr lvl="1">
              <a:lnSpc>
                <a:spcPct val="120000"/>
              </a:lnSpc>
            </a:pPr>
            <a:r>
              <a:rPr lang="en-US" altLang="zh-CN" sz="2000" dirty="0">
                <a:latin typeface="Arial" panose="020B0604020202020204" pitchFamily="34" charset="0"/>
                <a:cs typeface="Arial" panose="020B0604020202020204" pitchFamily="34" charset="0"/>
              </a:rPr>
              <a:t>need to estimate maximum size for saving context information</a:t>
            </a:r>
          </a:p>
          <a:p>
            <a:pPr>
              <a:lnSpc>
                <a:spcPct val="120000"/>
              </a:lnSpc>
            </a:pPr>
            <a:r>
              <a:rPr lang="en-US" altLang="zh-CN" sz="2400" i="1" dirty="0">
                <a:solidFill>
                  <a:srgbClr val="FF0000"/>
                </a:solidFill>
                <a:latin typeface="Arial" panose="020B0604020202020204" pitchFamily="34" charset="0"/>
                <a:cs typeface="Arial" panose="020B0604020202020204" pitchFamily="34" charset="0"/>
              </a:rPr>
              <a:t>Thread-based programs </a:t>
            </a:r>
            <a:r>
              <a:rPr lang="en-US" altLang="zh-CN" sz="2400" dirty="0">
                <a:latin typeface="Arial" panose="020B0604020202020204" pitchFamily="34" charset="0"/>
                <a:cs typeface="Arial" panose="020B0604020202020204" pitchFamily="34" charset="0"/>
              </a:rPr>
              <a:t>use multiple threads of control within:</a:t>
            </a:r>
          </a:p>
          <a:p>
            <a:pPr lvl="1">
              <a:lnSpc>
                <a:spcPct val="120000"/>
              </a:lnSpc>
            </a:pPr>
            <a:r>
              <a:rPr lang="en-US" altLang="zh-CN" sz="2000" dirty="0">
                <a:latin typeface="Arial" panose="020B0604020202020204" pitchFamily="34" charset="0"/>
                <a:cs typeface="Arial" panose="020B0604020202020204" pitchFamily="34" charset="0"/>
              </a:rPr>
              <a:t>a single program</a:t>
            </a:r>
          </a:p>
          <a:p>
            <a:pPr lvl="1">
              <a:lnSpc>
                <a:spcPct val="120000"/>
              </a:lnSpc>
            </a:pPr>
            <a:r>
              <a:rPr lang="en-US" altLang="zh-CN" sz="2000" dirty="0">
                <a:latin typeface="Arial" panose="020B0604020202020204" pitchFamily="34" charset="0"/>
                <a:cs typeface="Arial" panose="020B0604020202020204" pitchFamily="34" charset="0"/>
              </a:rPr>
              <a:t>a single address space</a:t>
            </a:r>
          </a:p>
          <a:p>
            <a:pPr lvl="1">
              <a:lnSpc>
                <a:spcPct val="120000"/>
              </a:lnSpc>
            </a:pPr>
            <a:r>
              <a:rPr lang="en-US" altLang="zh-CN" sz="2000" dirty="0">
                <a:solidFill>
                  <a:srgbClr val="FF0000"/>
                </a:solidFill>
                <a:latin typeface="Arial" panose="020B0604020202020204" pitchFamily="34" charset="0"/>
                <a:cs typeface="Arial" panose="020B0604020202020204" pitchFamily="34" charset="0"/>
              </a:rPr>
              <a:t>Advantage: </a:t>
            </a:r>
            <a:r>
              <a:rPr lang="en-US" altLang="zh-CN" sz="2000" dirty="0">
                <a:latin typeface="Arial" panose="020B0604020202020204" pitchFamily="34" charset="0"/>
                <a:cs typeface="Arial" panose="020B0604020202020204" pitchFamily="34" charset="0"/>
              </a:rPr>
              <a:t>a thread blocked can be suspended while other tasks are executed in different threads</a:t>
            </a:r>
          </a:p>
          <a:p>
            <a:pPr lvl="1">
              <a:lnSpc>
                <a:spcPct val="120000"/>
              </a:lnSpc>
            </a:pPr>
            <a:r>
              <a:rPr lang="en-US" altLang="zh-CN" sz="2000" dirty="0">
                <a:solidFill>
                  <a:srgbClr val="FF0000"/>
                </a:solidFill>
                <a:latin typeface="Arial" panose="020B0604020202020204" pitchFamily="34" charset="0"/>
                <a:cs typeface="Arial" panose="020B0604020202020204" pitchFamily="34" charset="0"/>
              </a:rPr>
              <a:t>Disadvantages: </a:t>
            </a:r>
            <a:r>
              <a:rPr lang="en-US" altLang="zh-CN" sz="2000" dirty="0">
                <a:latin typeface="Arial" panose="020B0604020202020204" pitchFamily="34" charset="0"/>
                <a:cs typeface="Arial" panose="020B0604020202020204" pitchFamily="34" charset="0"/>
              </a:rPr>
              <a:t>1) must carefully protect shared data structures with locks; 2) use condition variables to coordinate the execution of threads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884243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825624"/>
            <a:ext cx="10515600" cy="4220069"/>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In </a:t>
            </a:r>
            <a:r>
              <a:rPr lang="en-US" altLang="zh-CN" sz="2400" i="1" dirty="0">
                <a:solidFill>
                  <a:srgbClr val="FF0000"/>
                </a:solidFill>
                <a:latin typeface="Arial" panose="020B0604020202020204" pitchFamily="34" charset="0"/>
                <a:cs typeface="Arial" panose="020B0604020202020204" pitchFamily="34" charset="0"/>
              </a:rPr>
              <a:t>event-based programming</a:t>
            </a:r>
            <a:r>
              <a:rPr lang="en-US" altLang="zh-CN" sz="2400" dirty="0">
                <a:latin typeface="Arial" panose="020B0604020202020204" pitchFamily="34" charset="0"/>
                <a:cs typeface="Arial" panose="020B0604020202020204" pitchFamily="34" charset="0"/>
              </a:rPr>
              <a:t>: use events and event handlers</a:t>
            </a:r>
          </a:p>
          <a:p>
            <a:pPr lvl="1">
              <a:lnSpc>
                <a:spcPct val="120000"/>
              </a:lnSpc>
            </a:pPr>
            <a:r>
              <a:rPr lang="en-US" altLang="zh-CN" sz="2000" dirty="0">
                <a:latin typeface="Arial" panose="020B0604020202020204" pitchFamily="34" charset="0"/>
                <a:cs typeface="Arial" panose="020B0604020202020204" pitchFamily="34" charset="0"/>
              </a:rPr>
              <a:t>event-handlers register with the OS scheduler to be notified when a named event occurs</a:t>
            </a:r>
          </a:p>
          <a:p>
            <a:pPr lvl="1">
              <a:lnSpc>
                <a:spcPct val="120000"/>
              </a:lnSpc>
            </a:pPr>
            <a:r>
              <a:rPr lang="en-US" altLang="zh-CN" sz="2000" dirty="0">
                <a:latin typeface="Arial" panose="020B0604020202020204" pitchFamily="34" charset="0"/>
                <a:cs typeface="Arial" panose="020B0604020202020204" pitchFamily="34" charset="0"/>
              </a:rPr>
              <a:t>a loop function: </a:t>
            </a:r>
          </a:p>
          <a:p>
            <a:pPr lvl="2">
              <a:lnSpc>
                <a:spcPct val="120000"/>
              </a:lnSpc>
            </a:pPr>
            <a:r>
              <a:rPr lang="en-US" altLang="zh-CN" dirty="0">
                <a:latin typeface="Arial" panose="020B0604020202020204" pitchFamily="34" charset="0"/>
                <a:cs typeface="Arial" panose="020B0604020202020204" pitchFamily="34" charset="0"/>
              </a:rPr>
              <a:t>polls for events</a:t>
            </a:r>
          </a:p>
          <a:p>
            <a:pPr lvl="2">
              <a:lnSpc>
                <a:spcPct val="120000"/>
              </a:lnSpc>
            </a:pPr>
            <a:r>
              <a:rPr lang="en-US" altLang="zh-CN" dirty="0">
                <a:latin typeface="Arial" panose="020B0604020202020204" pitchFamily="34" charset="0"/>
                <a:cs typeface="Arial" panose="020B0604020202020204" pitchFamily="34" charset="0"/>
              </a:rPr>
              <a:t>calls the appropriate event-handlers when events occur</a:t>
            </a:r>
          </a:p>
          <a:p>
            <a:pPr>
              <a:lnSpc>
                <a:spcPct val="120000"/>
              </a:lnSpc>
            </a:pPr>
            <a:r>
              <a:rPr lang="en-US" altLang="zh-CN" sz="2400" dirty="0">
                <a:latin typeface="Arial" panose="020B0604020202020204" pitchFamily="34" charset="0"/>
                <a:cs typeface="Arial" panose="020B0604020202020204" pitchFamily="34" charset="0"/>
              </a:rPr>
              <a:t>An event is processed to completion</a:t>
            </a:r>
          </a:p>
          <a:p>
            <a:pPr lvl="1">
              <a:lnSpc>
                <a:spcPct val="120000"/>
              </a:lnSpc>
            </a:pPr>
            <a:r>
              <a:rPr lang="en-US" altLang="zh-CN" sz="2000" dirty="0">
                <a:latin typeface="Arial" panose="020B0604020202020204" pitchFamily="34" charset="0"/>
                <a:cs typeface="Arial" panose="020B0604020202020204" pitchFamily="34" charset="0"/>
              </a:rPr>
              <a:t>unless its handler reaches at a blocking operation (callback and returns control to the scheduler)</a:t>
            </a:r>
            <a:endParaRPr lang="zh-CN" altLang="en-US" sz="2000" dirty="0">
              <a:latin typeface="Arial" panose="020B0604020202020204" pitchFamily="34" charset="0"/>
              <a:cs typeface="Arial" panose="020B0604020202020204" pitchFamily="34" charset="0"/>
            </a:endParaRPr>
          </a:p>
        </p:txBody>
      </p:sp>
      <p:sp>
        <p:nvSpPr>
          <p:cNvPr id="7" name="标题 1">
            <a:extLst>
              <a:ext uri="{FF2B5EF4-FFF2-40B4-BE49-F238E27FC236}">
                <a16:creationId xmlns:a16="http://schemas.microsoft.com/office/drawing/2014/main" id="{B5B2CFF9-C39C-457E-997A-C5FDB220CD82}"/>
              </a:ext>
            </a:extLst>
          </p:cNvPr>
          <p:cNvSpPr>
            <a:spLocks noGrp="1"/>
          </p:cNvSpPr>
          <p:nvPr>
            <p:ph type="title"/>
          </p:nvPr>
        </p:nvSpPr>
        <p:spPr>
          <a:xfrm>
            <a:off x="838200" y="365125"/>
            <a:ext cx="11353800" cy="1325563"/>
          </a:xfrm>
        </p:spPr>
        <p:txBody>
          <a:bodyPr>
            <a:normAutofit/>
          </a:bodyPr>
          <a:lstStyle/>
          <a:p>
            <a:r>
              <a:rPr lang="en-US" altLang="zh-CN" sz="4000" b="1" dirty="0">
                <a:latin typeface="Arial" panose="020B0604020202020204" pitchFamily="34" charset="0"/>
                <a:cs typeface="Arial" panose="020B0604020202020204" pitchFamily="34" charset="0"/>
              </a:rPr>
              <a:t>Thread-based vs Event-based Programming</a:t>
            </a:r>
            <a:endParaRPr lang="zh-CN" alt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35148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Memory Allocation</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4"/>
            <a:ext cx="10747159" cy="5032375"/>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How and for how long a memory is allocated for a piece of program determines the speed of task execution</a:t>
            </a:r>
          </a:p>
          <a:p>
            <a:pPr>
              <a:lnSpc>
                <a:spcPct val="120000"/>
              </a:lnSpc>
            </a:pPr>
            <a:r>
              <a:rPr lang="en-US" altLang="zh-CN" sz="2400" dirty="0">
                <a:latin typeface="Arial" panose="020B0604020202020204" pitchFamily="34" charset="0"/>
                <a:cs typeface="Arial" panose="020B0604020202020204" pitchFamily="34" charset="0"/>
              </a:rPr>
              <a:t>Memory can be allocated to a program:</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statically</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 a frugal approach, but the requirement of memory </a:t>
            </a:r>
            <a:r>
              <a:rPr lang="en-US" altLang="zh-CN" sz="2000" i="1" dirty="0">
                <a:latin typeface="Arial" panose="020B0604020202020204" pitchFamily="34" charset="0"/>
                <a:cs typeface="Arial" panose="020B0604020202020204" pitchFamily="34" charset="0"/>
              </a:rPr>
              <a:t>must be known </a:t>
            </a:r>
            <a:r>
              <a:rPr lang="en-US" altLang="zh-CN" sz="2000" dirty="0">
                <a:latin typeface="Arial" panose="020B0604020202020204" pitchFamily="34" charset="0"/>
                <a:cs typeface="Arial" panose="020B0604020202020204" pitchFamily="34" charset="0"/>
              </a:rPr>
              <a:t>in advance</a:t>
            </a:r>
          </a:p>
          <a:p>
            <a:pPr lvl="2">
              <a:lnSpc>
                <a:spcPct val="120000"/>
              </a:lnSpc>
            </a:pPr>
            <a:r>
              <a:rPr lang="en-US" altLang="zh-CN" dirty="0">
                <a:latin typeface="Arial" panose="020B0604020202020204" pitchFamily="34" charset="0"/>
                <a:cs typeface="Arial" panose="020B0604020202020204" pitchFamily="34" charset="0"/>
              </a:rPr>
              <a:t>memory is used efficiently</a:t>
            </a:r>
          </a:p>
          <a:p>
            <a:pPr lvl="2">
              <a:lnSpc>
                <a:spcPct val="120000"/>
              </a:lnSpc>
            </a:pPr>
            <a:r>
              <a:rPr lang="en-US" altLang="zh-CN" dirty="0">
                <a:latin typeface="Arial" panose="020B0604020202020204" pitchFamily="34" charset="0"/>
                <a:cs typeface="Arial" panose="020B0604020202020204" pitchFamily="34" charset="0"/>
              </a:rPr>
              <a:t>runtime adaptation is not allowed</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dynamically</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 the requirement of memory is </a:t>
            </a:r>
            <a:r>
              <a:rPr lang="en-US" altLang="zh-CN" sz="2000" i="1" dirty="0">
                <a:latin typeface="Arial" panose="020B0604020202020204" pitchFamily="34" charset="0"/>
                <a:cs typeface="Arial" panose="020B0604020202020204" pitchFamily="34" charset="0"/>
              </a:rPr>
              <a:t>not known </a:t>
            </a:r>
            <a:r>
              <a:rPr lang="en-US" altLang="zh-CN" sz="2000" dirty="0">
                <a:latin typeface="Arial" panose="020B0604020202020204" pitchFamily="34" charset="0"/>
                <a:cs typeface="Arial" panose="020B0604020202020204" pitchFamily="34" charset="0"/>
              </a:rPr>
              <a:t>in advance (on a transient basis)</a:t>
            </a:r>
          </a:p>
          <a:p>
            <a:pPr lvl="2">
              <a:lnSpc>
                <a:spcPct val="120000"/>
              </a:lnSpc>
            </a:pPr>
            <a:r>
              <a:rPr lang="en-US" altLang="zh-CN" dirty="0">
                <a:latin typeface="Arial" panose="020B0604020202020204" pitchFamily="34" charset="0"/>
                <a:cs typeface="Arial" panose="020B0604020202020204" pitchFamily="34" charset="0"/>
              </a:rPr>
              <a:t>enables flexibility in programming</a:t>
            </a:r>
          </a:p>
          <a:p>
            <a:pPr lvl="2">
              <a:lnSpc>
                <a:spcPct val="120000"/>
              </a:lnSpc>
            </a:pPr>
            <a:r>
              <a:rPr lang="en-US" altLang="zh-CN" dirty="0">
                <a:latin typeface="Arial" panose="020B0604020202020204" pitchFamily="34" charset="0"/>
                <a:cs typeface="Arial" panose="020B0604020202020204" pitchFamily="34" charset="0"/>
              </a:rPr>
              <a:t>but produces a considerable management overhead</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236741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667250"/>
          </a:xfrm>
        </p:spPr>
        <p:txBody>
          <a:bodyPr>
            <a:noAutofit/>
          </a:bodyPr>
          <a:lstStyle/>
          <a:p>
            <a:pPr>
              <a:lnSpc>
                <a:spcPct val="120000"/>
              </a:lnSpc>
            </a:pPr>
            <a:r>
              <a:rPr lang="en-US" altLang="zh-CN" dirty="0">
                <a:latin typeface="Arial" panose="020B0604020202020204" pitchFamily="34" charset="0"/>
                <a:cs typeface="Arial" panose="020B0604020202020204" pitchFamily="34" charset="0"/>
              </a:rPr>
              <a:t>Functional Aspects</a:t>
            </a:r>
          </a:p>
          <a:p>
            <a:pPr>
              <a:lnSpc>
                <a:spcPct val="120000"/>
              </a:lnSpc>
            </a:pPr>
            <a:r>
              <a:rPr lang="en-US" altLang="zh-CN" b="1" dirty="0">
                <a:latin typeface="Arial" panose="020B0604020202020204" pitchFamily="34" charset="0"/>
                <a:cs typeface="Arial" panose="020B0604020202020204" pitchFamily="34" charset="0"/>
              </a:rPr>
              <a:t>Non-Functional Aspects</a:t>
            </a:r>
          </a:p>
          <a:p>
            <a:pPr marL="0" indent="0">
              <a:lnSpc>
                <a:spcPct val="120000"/>
              </a:lnSpc>
              <a:buNone/>
            </a:pPr>
            <a:endParaRPr lang="en-US" altLang="zh-CN" dirty="0">
              <a:latin typeface="Arial" panose="020B0604020202020204" pitchFamily="34" charset="0"/>
              <a:cs typeface="Arial" panose="020B0604020202020204" pitchFamily="34" charset="0"/>
            </a:endParaRPr>
          </a:p>
          <a:p>
            <a:pPr>
              <a:lnSpc>
                <a:spcPct val="120000"/>
              </a:lnSpc>
            </a:pPr>
            <a:r>
              <a:rPr lang="en-US" altLang="zh-CN" dirty="0">
                <a:latin typeface="Arial" panose="020B0604020202020204" pitchFamily="34" charset="0"/>
                <a:cs typeface="Arial" panose="020B0604020202020204" pitchFamily="34" charset="0"/>
              </a:rPr>
              <a:t>Prototypes</a:t>
            </a:r>
          </a:p>
          <a:p>
            <a:pPr>
              <a:lnSpc>
                <a:spcPct val="120000"/>
              </a:lnSpc>
            </a:pPr>
            <a:r>
              <a:rPr lang="en-US" altLang="zh-CN" dirty="0">
                <a:latin typeface="Arial" panose="020B0604020202020204" pitchFamily="34" charset="0"/>
                <a:cs typeface="Arial" panose="020B0604020202020204" pitchFamily="34" charset="0"/>
              </a:rPr>
              <a:t>Evaluation</a:t>
            </a:r>
            <a:endParaRPr lang="en-US" altLang="zh-CN" sz="2400" dirty="0">
              <a:latin typeface="Arial" panose="020B0604020202020204" pitchFamily="34" charset="0"/>
              <a:cs typeface="Arial" panose="020B0604020202020204" pitchFamily="34" charset="0"/>
            </a:endParaRPr>
          </a:p>
        </p:txBody>
      </p:sp>
      <p:sp>
        <p:nvSpPr>
          <p:cNvPr id="4" name="矩形 3">
            <a:extLst>
              <a:ext uri="{FF2B5EF4-FFF2-40B4-BE49-F238E27FC236}">
                <a16:creationId xmlns:a16="http://schemas.microsoft.com/office/drawing/2014/main" id="{F8BE13C2-59EE-4D47-A321-ABF2B5ED19FF}"/>
              </a:ext>
            </a:extLst>
          </p:cNvPr>
          <p:cNvSpPr/>
          <p:nvPr/>
        </p:nvSpPr>
        <p:spPr>
          <a:xfrm>
            <a:off x="5249663" y="2589138"/>
            <a:ext cx="3938726" cy="1323439"/>
          </a:xfrm>
          <a:prstGeom prst="rect">
            <a:avLst/>
          </a:prstGeom>
        </p:spPr>
        <p:txBody>
          <a:bodyPr wrap="square">
            <a:spAutoFit/>
          </a:bodyPr>
          <a:lstStyle/>
          <a:p>
            <a:pPr lvl="1"/>
            <a:r>
              <a:rPr lang="en-US" altLang="zh-CN" sz="2000" dirty="0">
                <a:latin typeface="Arial" panose="020B0604020202020204" pitchFamily="34" charset="0"/>
                <a:cs typeface="Arial" panose="020B0604020202020204" pitchFamily="34" charset="0"/>
              </a:rPr>
              <a:t>Separation of Concern</a:t>
            </a:r>
          </a:p>
          <a:p>
            <a:pPr lvl="1"/>
            <a:r>
              <a:rPr lang="en-US" altLang="zh-CN" sz="2000" dirty="0">
                <a:latin typeface="Arial" panose="020B0604020202020204" pitchFamily="34" charset="0"/>
                <a:cs typeface="Arial" panose="020B0604020202020204" pitchFamily="34" charset="0"/>
              </a:rPr>
              <a:t>System Overhead</a:t>
            </a:r>
          </a:p>
          <a:p>
            <a:pPr lvl="1"/>
            <a:r>
              <a:rPr lang="en-US" altLang="zh-CN" sz="2000" dirty="0">
                <a:latin typeface="Arial" panose="020B0604020202020204" pitchFamily="34" charset="0"/>
                <a:cs typeface="Arial" panose="020B0604020202020204" pitchFamily="34" charset="0"/>
              </a:rPr>
              <a:t>Portability</a:t>
            </a:r>
          </a:p>
          <a:p>
            <a:pPr lvl="1"/>
            <a:r>
              <a:rPr lang="en-US" altLang="zh-CN" sz="2000" dirty="0">
                <a:latin typeface="Arial" panose="020B0604020202020204" pitchFamily="34" charset="0"/>
                <a:cs typeface="Arial" panose="020B0604020202020204" pitchFamily="34" charset="0"/>
              </a:rPr>
              <a:t>Dynamic Reprogramming</a:t>
            </a:r>
          </a:p>
        </p:txBody>
      </p:sp>
    </p:spTree>
    <p:extLst>
      <p:ext uri="{BB962C8B-B14F-4D97-AF65-F5344CB8AC3E}">
        <p14:creationId xmlns:p14="http://schemas.microsoft.com/office/powerpoint/2010/main" val="49154166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Separation of Concern</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028068" cy="4667250"/>
          </a:xfrm>
        </p:spPr>
        <p:txBody>
          <a:bodyPr/>
          <a:lstStyle/>
          <a:p>
            <a:pPr>
              <a:lnSpc>
                <a:spcPct val="120000"/>
              </a:lnSpc>
            </a:pPr>
            <a:r>
              <a:rPr lang="en-US" altLang="zh-CN" sz="2400" dirty="0">
                <a:latin typeface="Arial" panose="020B0604020202020204" pitchFamily="34" charset="0"/>
                <a:cs typeface="Arial" panose="020B0604020202020204" pitchFamily="34" charset="0"/>
              </a:rPr>
              <a:t>Separation between the operating system and the applications layer</a:t>
            </a:r>
          </a:p>
          <a:p>
            <a:pPr>
              <a:lnSpc>
                <a:spcPct val="120000"/>
              </a:lnSpc>
            </a:pPr>
            <a:r>
              <a:rPr lang="en-US" altLang="zh-CN" sz="2400" dirty="0">
                <a:latin typeface="Arial" panose="020B0604020202020204" pitchFamily="34" charset="0"/>
                <a:cs typeface="Arial" panose="020B0604020202020204" pitchFamily="34" charset="0"/>
              </a:rPr>
              <a:t>The operation systems can provide:</a:t>
            </a:r>
          </a:p>
          <a:p>
            <a:pPr lvl="1">
              <a:lnSpc>
                <a:spcPct val="120000"/>
              </a:lnSpc>
            </a:pPr>
            <a:r>
              <a:rPr lang="en-US" altLang="zh-CN" sz="2000" dirty="0">
                <a:latin typeface="Arial" panose="020B0604020202020204" pitchFamily="34" charset="0"/>
                <a:cs typeface="Arial" panose="020B0604020202020204" pitchFamily="34" charset="0"/>
              </a:rPr>
              <a:t>a number of lightweight modules - “wired” together, or</a:t>
            </a:r>
          </a:p>
          <a:p>
            <a:pPr lvl="1">
              <a:lnSpc>
                <a:spcPct val="120000"/>
              </a:lnSpc>
            </a:pPr>
            <a:r>
              <a:rPr lang="en-US" altLang="zh-CN" sz="2000" dirty="0">
                <a:latin typeface="Arial" panose="020B0604020202020204" pitchFamily="34" charset="0"/>
                <a:cs typeface="Arial" panose="020B0604020202020204" pitchFamily="34" charset="0"/>
              </a:rPr>
              <a:t>an indivisible system kernel + a set of library components for building an application, or</a:t>
            </a:r>
          </a:p>
          <a:p>
            <a:pPr lvl="1">
              <a:lnSpc>
                <a:spcPct val="120000"/>
              </a:lnSpc>
            </a:pPr>
            <a:r>
              <a:rPr lang="en-US" altLang="zh-CN" sz="2000" dirty="0">
                <a:latin typeface="Arial" panose="020B0604020202020204" pitchFamily="34" charset="0"/>
                <a:cs typeface="Arial" panose="020B0604020202020204" pitchFamily="34" charset="0"/>
              </a:rPr>
              <a:t>a kernel + a set of reconfigurable low-level services</a:t>
            </a:r>
          </a:p>
          <a:p>
            <a:pPr>
              <a:lnSpc>
                <a:spcPct val="120000"/>
              </a:lnSpc>
            </a:pPr>
            <a:r>
              <a:rPr lang="en-US" altLang="zh-CN" sz="2400" dirty="0">
                <a:latin typeface="Arial" panose="020B0604020202020204" pitchFamily="34" charset="0"/>
                <a:cs typeface="Arial" panose="020B0604020202020204" pitchFamily="34" charset="0"/>
              </a:rPr>
              <a:t>Separation of concern enables:</a:t>
            </a:r>
          </a:p>
          <a:p>
            <a:pPr lvl="1">
              <a:lnSpc>
                <a:spcPct val="120000"/>
              </a:lnSpc>
            </a:pPr>
            <a:r>
              <a:rPr lang="en-US" altLang="zh-CN" sz="2000" dirty="0">
                <a:latin typeface="Arial" panose="020B0604020202020204" pitchFamily="34" charset="0"/>
                <a:cs typeface="Arial" panose="020B0604020202020204" pitchFamily="34" charset="0"/>
              </a:rPr>
              <a:t>flexible and efficient reprogramming and reconfiguration</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171479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Portability</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Ideally, operating systems should be able to co-exist and collaborate with each other</a:t>
            </a: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r>
              <a:rPr lang="en-US" altLang="zh-CN" sz="2400" dirty="0">
                <a:latin typeface="Arial" panose="020B0604020202020204" pitchFamily="34" charset="0"/>
                <a:cs typeface="Arial" panose="020B0604020202020204" pitchFamily="34" charset="0"/>
              </a:rPr>
              <a:t>However, existing operating systems do </a:t>
            </a:r>
            <a:r>
              <a:rPr lang="en-US" altLang="zh-CN" sz="2400" i="1" dirty="0">
                <a:solidFill>
                  <a:srgbClr val="FF0000"/>
                </a:solidFill>
                <a:latin typeface="Arial" panose="020B0604020202020204" pitchFamily="34" charset="0"/>
                <a:cs typeface="Arial" panose="020B0604020202020204" pitchFamily="34" charset="0"/>
              </a:rPr>
              <a:t>not</a:t>
            </a:r>
            <a:r>
              <a:rPr lang="en-US" altLang="zh-CN" sz="2400" i="1"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provide this type of support</a:t>
            </a: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r>
              <a:rPr lang="en-US" altLang="zh-CN" sz="2400" dirty="0">
                <a:latin typeface="Arial" panose="020B0604020202020204" pitchFamily="34" charset="0"/>
                <a:cs typeface="Arial" panose="020B0604020202020204" pitchFamily="34" charset="0"/>
              </a:rPr>
              <a:t>In order to accommodate unforeseen requirements, operating systems should be portable and extensible</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291789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System Overhead</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5"/>
            <a:ext cx="10515600" cy="4930282"/>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An operating system executes program code – requires its own share of resources</a:t>
            </a:r>
          </a:p>
          <a:p>
            <a:pPr>
              <a:lnSpc>
                <a:spcPct val="120000"/>
              </a:lnSpc>
            </a:pPr>
            <a:r>
              <a:rPr lang="en-US" altLang="zh-CN" sz="2400" dirty="0">
                <a:latin typeface="Arial" panose="020B0604020202020204" pitchFamily="34" charset="0"/>
                <a:cs typeface="Arial" panose="020B0604020202020204" pitchFamily="34" charset="0"/>
              </a:rPr>
              <a:t>The </a:t>
            </a:r>
            <a:r>
              <a:rPr lang="en-US" altLang="zh-CN" sz="2400" dirty="0">
                <a:solidFill>
                  <a:srgbClr val="FF0000"/>
                </a:solidFill>
                <a:latin typeface="Arial" panose="020B0604020202020204" pitchFamily="34" charset="0"/>
                <a:cs typeface="Arial" panose="020B0604020202020204" pitchFamily="34" charset="0"/>
              </a:rPr>
              <a:t>resources consumed </a:t>
            </a:r>
            <a:r>
              <a:rPr lang="en-US" altLang="zh-CN" sz="2400" dirty="0">
                <a:latin typeface="Arial" panose="020B0604020202020204" pitchFamily="34" charset="0"/>
                <a:cs typeface="Arial" panose="020B0604020202020204" pitchFamily="34" charset="0"/>
              </a:rPr>
              <a:t>by the OS are the system's overhead</a:t>
            </a:r>
          </a:p>
          <a:p>
            <a:pPr lvl="1">
              <a:lnSpc>
                <a:spcPct val="120000"/>
              </a:lnSpc>
            </a:pPr>
            <a:r>
              <a:rPr lang="en-US" altLang="zh-CN" sz="2000" dirty="0">
                <a:latin typeface="Arial" panose="020B0604020202020204" pitchFamily="34" charset="0"/>
                <a:cs typeface="Arial" panose="020B0604020202020204" pitchFamily="34" charset="0"/>
              </a:rPr>
              <a:t>the size of the operating system </a:t>
            </a:r>
          </a:p>
          <a:p>
            <a:pPr lvl="1">
              <a:lnSpc>
                <a:spcPct val="120000"/>
              </a:lnSpc>
            </a:pPr>
            <a:r>
              <a:rPr lang="en-US" altLang="zh-CN" sz="2000" dirty="0">
                <a:latin typeface="Arial" panose="020B0604020202020204" pitchFamily="34" charset="0"/>
                <a:cs typeface="Arial" panose="020B0604020202020204" pitchFamily="34" charset="0"/>
              </a:rPr>
              <a:t>the type of services that the OS provides to the higher-level services and applications</a:t>
            </a:r>
          </a:p>
          <a:p>
            <a:pPr>
              <a:lnSpc>
                <a:spcPct val="120000"/>
              </a:lnSpc>
            </a:pPr>
            <a:r>
              <a:rPr lang="en-US" altLang="zh-CN" sz="2400" dirty="0">
                <a:latin typeface="Arial" panose="020B0604020202020204" pitchFamily="34" charset="0"/>
                <a:cs typeface="Arial" panose="020B0604020202020204" pitchFamily="34" charset="0"/>
              </a:rPr>
              <a:t>The resources of wireless sensor nodes have to be shared by programs that carry out:</a:t>
            </a:r>
          </a:p>
          <a:p>
            <a:pPr lvl="1">
              <a:lnSpc>
                <a:spcPct val="120000"/>
              </a:lnSpc>
            </a:pPr>
            <a:r>
              <a:rPr lang="en-US" altLang="zh-CN" sz="2000" dirty="0">
                <a:latin typeface="Arial" panose="020B0604020202020204" pitchFamily="34" charset="0"/>
                <a:cs typeface="Arial" panose="020B0604020202020204" pitchFamily="34" charset="0"/>
              </a:rPr>
              <a:t>sensing,</a:t>
            </a:r>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data aggregation, self-organization, network management, network communication</a:t>
            </a:r>
            <a:endParaRPr lang="zh-CN" altLang="en-US" sz="2000" dirty="0">
              <a:latin typeface="Arial" panose="020B0604020202020204" pitchFamily="34" charset="0"/>
              <a:cs typeface="Arial" panose="020B0604020202020204" pitchFamily="34" charset="0"/>
            </a:endParaRPr>
          </a:p>
          <a:p>
            <a:pPr>
              <a:lnSpc>
                <a:spcPct val="120000"/>
              </a:lnSpc>
            </a:pP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787741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Dynamic Reprogramming</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pPr>
              <a:lnSpc>
                <a:spcPct val="120000"/>
              </a:lnSpc>
            </a:pPr>
            <a:r>
              <a:rPr lang="en-US" altLang="zh-CN" sz="2400" dirty="0">
                <a:latin typeface="Arial" panose="020B0604020202020204" pitchFamily="34" charset="0"/>
                <a:cs typeface="Arial" panose="020B0604020202020204" pitchFamily="34" charset="0"/>
              </a:rPr>
              <a:t>Once a wireless sensor network is deployed, it may be necessary to reprogram some part of the application or the operating system for the following reasons:</a:t>
            </a:r>
          </a:p>
          <a:p>
            <a:pPr lvl="1">
              <a:lnSpc>
                <a:spcPct val="120000"/>
              </a:lnSpc>
            </a:pPr>
            <a:r>
              <a:rPr lang="en-US" altLang="zh-CN" sz="2000" dirty="0">
                <a:latin typeface="Arial" panose="020B0604020202020204" pitchFamily="34" charset="0"/>
                <a:cs typeface="Arial" panose="020B0604020202020204" pitchFamily="34" charset="0"/>
              </a:rPr>
              <a:t>the network may not perform optimally</a:t>
            </a:r>
          </a:p>
          <a:p>
            <a:pPr lvl="1">
              <a:lnSpc>
                <a:spcPct val="120000"/>
              </a:lnSpc>
            </a:pPr>
            <a:r>
              <a:rPr lang="en-US" altLang="zh-CN" sz="2000" dirty="0">
                <a:latin typeface="Arial" panose="020B0604020202020204" pitchFamily="34" charset="0"/>
                <a:cs typeface="Arial" panose="020B0604020202020204" pitchFamily="34" charset="0"/>
              </a:rPr>
              <a:t>both the application requirements and the network's operating environment can change over time</a:t>
            </a:r>
          </a:p>
          <a:p>
            <a:pPr lvl="1">
              <a:lnSpc>
                <a:spcPct val="120000"/>
              </a:lnSpc>
            </a:pPr>
            <a:r>
              <a:rPr lang="en-US" altLang="zh-CN" sz="2000" dirty="0">
                <a:latin typeface="Arial" panose="020B0604020202020204" pitchFamily="34" charset="0"/>
                <a:cs typeface="Arial" panose="020B0604020202020204" pitchFamily="34" charset="0"/>
              </a:rPr>
              <a:t>may be necessary to detect and fix bugs􀀁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358425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Dynamic Reprogramming</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592930"/>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Manual replacement may not be feasible - develop an operating system to provide dynamic reprogramming support, which depends on</a:t>
            </a:r>
          </a:p>
          <a:p>
            <a:pPr lvl="1">
              <a:lnSpc>
                <a:spcPct val="120000"/>
              </a:lnSpc>
            </a:pPr>
            <a:r>
              <a:rPr lang="en-US" altLang="zh-CN" sz="2000" dirty="0">
                <a:latin typeface="Arial" panose="020B0604020202020204" pitchFamily="34" charset="0"/>
                <a:cs typeface="Arial" panose="020B0604020202020204" pitchFamily="34" charset="0"/>
              </a:rPr>
              <a:t>clear separation between the application and the OS</a:t>
            </a:r>
          </a:p>
          <a:p>
            <a:pPr lvl="1">
              <a:lnSpc>
                <a:spcPct val="120000"/>
              </a:lnSpc>
            </a:pPr>
            <a:r>
              <a:rPr lang="en-US" altLang="zh-CN" sz="2000" dirty="0">
                <a:latin typeface="Arial" panose="020B0604020202020204" pitchFamily="34" charset="0"/>
                <a:cs typeface="Arial" panose="020B0604020202020204" pitchFamily="34" charset="0"/>
              </a:rPr>
              <a:t>the OS can receive software updates and assemble and store it in memory</a:t>
            </a:r>
          </a:p>
          <a:p>
            <a:pPr lvl="1">
              <a:lnSpc>
                <a:spcPct val="120000"/>
              </a:lnSpc>
            </a:pPr>
            <a:r>
              <a:rPr lang="en-US" altLang="zh-CN" sz="2000" dirty="0">
                <a:latin typeface="Arial" panose="020B0604020202020204" pitchFamily="34" charset="0"/>
                <a:cs typeface="Arial" panose="020B0604020202020204" pitchFamily="34" charset="0"/>
              </a:rPr>
              <a:t>OS should make sure that this is indeed an updated version</a:t>
            </a:r>
          </a:p>
          <a:p>
            <a:pPr lvl="1">
              <a:lnSpc>
                <a:spcPct val="120000"/>
              </a:lnSpc>
            </a:pPr>
            <a:r>
              <a:rPr lang="en-US" altLang="zh-CN" sz="2000" dirty="0">
                <a:latin typeface="Arial" panose="020B0604020202020204" pitchFamily="34" charset="0"/>
                <a:cs typeface="Arial" panose="020B0604020202020204" pitchFamily="34" charset="0"/>
              </a:rPr>
              <a:t>OS can remove the piece of software that should be updated and install and configure the new version</a:t>
            </a:r>
          </a:p>
          <a:p>
            <a:pPr lvl="1">
              <a:lnSpc>
                <a:spcPct val="120000"/>
              </a:lnSpc>
            </a:pPr>
            <a:r>
              <a:rPr lang="en-US" altLang="zh-CN" sz="2000" dirty="0">
                <a:latin typeface="Arial" panose="020B0604020202020204" pitchFamily="34" charset="0"/>
                <a:cs typeface="Arial" panose="020B0604020202020204" pitchFamily="34" charset="0"/>
              </a:rPr>
              <a:t>all these consume resources and may cause their own bugs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667274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Dynamic Reprogramming</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pPr>
              <a:lnSpc>
                <a:spcPct val="120000"/>
              </a:lnSpc>
            </a:pPr>
            <a:r>
              <a:rPr lang="en-US" altLang="zh-CN" sz="2400" dirty="0">
                <a:latin typeface="Arial" panose="020B0604020202020204" pitchFamily="34" charset="0"/>
                <a:cs typeface="Arial" panose="020B0604020202020204" pitchFamily="34" charset="0"/>
              </a:rPr>
              <a:t>Software reprogramming (update) requires robust </a:t>
            </a:r>
            <a:r>
              <a:rPr lang="en-US" altLang="zh-CN" sz="2400" i="1" dirty="0">
                <a:solidFill>
                  <a:srgbClr val="FF0000"/>
                </a:solidFill>
                <a:latin typeface="Arial" panose="020B0604020202020204" pitchFamily="34" charset="0"/>
                <a:cs typeface="Arial" panose="020B0604020202020204" pitchFamily="34" charset="0"/>
              </a:rPr>
              <a:t>code dissemination protocols</a:t>
            </a:r>
            <a:r>
              <a:rPr lang="en-US" altLang="zh-CN" sz="2400" dirty="0">
                <a:latin typeface="Arial" panose="020B0604020202020204" pitchFamily="34" charset="0"/>
                <a:cs typeface="Arial" panose="020B0604020202020204" pitchFamily="34" charset="0"/>
              </a:rPr>
              <a:t>:</a:t>
            </a:r>
          </a:p>
          <a:p>
            <a:pPr lvl="1">
              <a:lnSpc>
                <a:spcPct val="120000"/>
              </a:lnSpc>
            </a:pPr>
            <a:r>
              <a:rPr lang="en-US" altLang="zh-CN" sz="2000" dirty="0">
                <a:latin typeface="Arial" panose="020B0604020202020204" pitchFamily="34" charset="0"/>
                <a:cs typeface="Arial" panose="020B0604020202020204" pitchFamily="34" charset="0"/>
              </a:rPr>
              <a:t>splitting and compressing the code</a:t>
            </a:r>
          </a:p>
          <a:p>
            <a:pPr lvl="1">
              <a:lnSpc>
                <a:spcPct val="120000"/>
              </a:lnSpc>
            </a:pPr>
            <a:r>
              <a:rPr lang="en-US" altLang="zh-CN" sz="2000" dirty="0">
                <a:latin typeface="Arial" panose="020B0604020202020204" pitchFamily="34" charset="0"/>
                <a:cs typeface="Arial" panose="020B0604020202020204" pitchFamily="34" charset="0"/>
              </a:rPr>
              <a:t>ensuring code consistency and version controlling</a:t>
            </a:r>
          </a:p>
          <a:p>
            <a:pPr lvl="1">
              <a:lnSpc>
                <a:spcPct val="120000"/>
              </a:lnSpc>
            </a:pPr>
            <a:r>
              <a:rPr lang="en-US" altLang="zh-CN" sz="2000" dirty="0">
                <a:latin typeface="Arial" panose="020B0604020202020204" pitchFamily="34" charset="0"/>
                <a:cs typeface="Arial" panose="020B0604020202020204" pitchFamily="34" charset="0"/>
              </a:rPr>
              <a:t>providing a robust dissemination strategy to deliver the code over a wireless link</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030473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dirty="0">
                <a:latin typeface="Arial" panose="020B0604020202020204" pitchFamily="34" charset="0"/>
                <a:cs typeface="Arial" panose="020B0604020202020204" pitchFamily="34" charset="0"/>
              </a:rPr>
              <a:t>Functional Aspects</a:t>
            </a:r>
          </a:p>
          <a:p>
            <a:pPr>
              <a:lnSpc>
                <a:spcPct val="120000"/>
              </a:lnSpc>
            </a:pPr>
            <a:r>
              <a:rPr lang="en-US" altLang="zh-CN" dirty="0">
                <a:latin typeface="Arial" panose="020B0604020202020204" pitchFamily="34" charset="0"/>
                <a:cs typeface="Arial" panose="020B0604020202020204" pitchFamily="34" charset="0"/>
              </a:rPr>
              <a:t>Non-Functional Aspects</a:t>
            </a:r>
          </a:p>
          <a:p>
            <a:pPr>
              <a:lnSpc>
                <a:spcPct val="120000"/>
              </a:lnSpc>
            </a:pPr>
            <a:r>
              <a:rPr lang="en-US" altLang="zh-CN" b="1" dirty="0">
                <a:latin typeface="Arial" panose="020B0604020202020204" pitchFamily="34" charset="0"/>
                <a:cs typeface="Arial" panose="020B0604020202020204" pitchFamily="34" charset="0"/>
              </a:rPr>
              <a:t>Prototypes</a:t>
            </a:r>
          </a:p>
          <a:p>
            <a:pPr>
              <a:lnSpc>
                <a:spcPct val="120000"/>
              </a:lnSpc>
            </a:pPr>
            <a:endParaRPr lang="en-US" altLang="zh-CN" dirty="0">
              <a:latin typeface="Arial" panose="020B0604020202020204" pitchFamily="34" charset="0"/>
              <a:cs typeface="Arial" panose="020B0604020202020204" pitchFamily="34" charset="0"/>
            </a:endParaRPr>
          </a:p>
          <a:p>
            <a:pPr>
              <a:lnSpc>
                <a:spcPct val="120000"/>
              </a:lnSpc>
            </a:pPr>
            <a:r>
              <a:rPr lang="en-US" altLang="zh-CN" dirty="0">
                <a:latin typeface="Arial" panose="020B0604020202020204" pitchFamily="34" charset="0"/>
                <a:cs typeface="Arial" panose="020B0604020202020204" pitchFamily="34" charset="0"/>
              </a:rPr>
              <a:t>Evaluation</a:t>
            </a:r>
            <a:endParaRPr lang="en-US" altLang="zh-CN" sz="2400" dirty="0">
              <a:latin typeface="Arial" panose="020B0604020202020204" pitchFamily="34" charset="0"/>
              <a:cs typeface="Arial" panose="020B0604020202020204" pitchFamily="34" charset="0"/>
            </a:endParaRPr>
          </a:p>
        </p:txBody>
      </p:sp>
      <p:sp>
        <p:nvSpPr>
          <p:cNvPr id="4" name="矩形 3">
            <a:extLst>
              <a:ext uri="{FF2B5EF4-FFF2-40B4-BE49-F238E27FC236}">
                <a16:creationId xmlns:a16="http://schemas.microsoft.com/office/drawing/2014/main" id="{74883596-47F1-4842-821B-A560466E5B93}"/>
              </a:ext>
            </a:extLst>
          </p:cNvPr>
          <p:cNvSpPr/>
          <p:nvPr/>
        </p:nvSpPr>
        <p:spPr>
          <a:xfrm>
            <a:off x="3048000" y="3254964"/>
            <a:ext cx="6096000" cy="1323439"/>
          </a:xfrm>
          <a:prstGeom prst="rect">
            <a:avLst/>
          </a:prstGeom>
        </p:spPr>
        <p:txBody>
          <a:bodyPr>
            <a:spAutoFit/>
          </a:bodyPr>
          <a:lstStyle/>
          <a:p>
            <a:pPr lvl="1"/>
            <a:r>
              <a:rPr lang="en-US" altLang="zh-CN" sz="2000" b="1" dirty="0" err="1">
                <a:latin typeface="Arial" panose="020B0604020202020204" pitchFamily="34" charset="0"/>
                <a:cs typeface="Arial" panose="020B0604020202020204" pitchFamily="34" charset="0"/>
              </a:rPr>
              <a:t>TinyOS</a:t>
            </a:r>
            <a:endParaRPr lang="en-US" altLang="zh-CN" sz="2000" b="1" dirty="0">
              <a:latin typeface="Arial" panose="020B0604020202020204" pitchFamily="34" charset="0"/>
              <a:cs typeface="Arial" panose="020B0604020202020204" pitchFamily="34" charset="0"/>
            </a:endParaRPr>
          </a:p>
          <a:p>
            <a:pPr lvl="1"/>
            <a:r>
              <a:rPr lang="en-US" altLang="zh-CN" sz="2000" dirty="0">
                <a:latin typeface="Arial" panose="020B0604020202020204" pitchFamily="34" charset="0"/>
                <a:cs typeface="Arial" panose="020B0604020202020204" pitchFamily="34" charset="0"/>
              </a:rPr>
              <a:t>SOS</a:t>
            </a:r>
          </a:p>
          <a:p>
            <a:pPr lvl="1"/>
            <a:r>
              <a:rPr lang="en-US" altLang="zh-CN" sz="2000" dirty="0">
                <a:latin typeface="Arial" panose="020B0604020202020204" pitchFamily="34" charset="0"/>
                <a:cs typeface="Arial" panose="020B0604020202020204" pitchFamily="34" charset="0"/>
              </a:rPr>
              <a:t>Contiki</a:t>
            </a:r>
          </a:p>
          <a:p>
            <a:pPr lvl="1"/>
            <a:r>
              <a:rPr lang="en-US" altLang="zh-CN" sz="2000" dirty="0" err="1">
                <a:latin typeface="Arial" panose="020B0604020202020204" pitchFamily="34" charset="0"/>
                <a:cs typeface="Arial" panose="020B0604020202020204" pitchFamily="34" charset="0"/>
              </a:rPr>
              <a:t>LiteOS</a:t>
            </a:r>
            <a:endParaRPr lang="en-US" altLang="zh-C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340051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da-DK" altLang="zh-CN" b="1" dirty="0">
                <a:latin typeface="Arial" panose="020B0604020202020204" pitchFamily="34" charset="0"/>
                <a:cs typeface="Arial" panose="020B0604020202020204" pitchFamily="34" charset="0"/>
              </a:rPr>
              <a:t>TinyOS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3955742" cy="4351338"/>
          </a:xfrm>
        </p:spPr>
        <p:txBody>
          <a:bodyPr>
            <a:normAutofit/>
          </a:bodyPr>
          <a:lstStyle/>
          <a:p>
            <a:pPr algn="just">
              <a:lnSpc>
                <a:spcPct val="120000"/>
              </a:lnSpc>
            </a:pPr>
            <a:r>
              <a:rPr lang="en-US" altLang="zh-CN" sz="2400" dirty="0" err="1">
                <a:latin typeface="Arial" panose="020B0604020202020204" pitchFamily="34" charset="0"/>
                <a:cs typeface="Arial" panose="020B0604020202020204" pitchFamily="34" charset="0"/>
              </a:rPr>
              <a:t>TinyOS</a:t>
            </a:r>
            <a:r>
              <a:rPr lang="en-US" altLang="zh-CN" sz="2400" dirty="0">
                <a:latin typeface="Arial" panose="020B0604020202020204" pitchFamily="34" charset="0"/>
                <a:cs typeface="Arial" panose="020B0604020202020204" pitchFamily="34" charset="0"/>
              </a:rPr>
              <a:t> is </a:t>
            </a:r>
            <a:r>
              <a:rPr lang="en-US" altLang="zh-CN" sz="2400" i="1" dirty="0">
                <a:solidFill>
                  <a:srgbClr val="FF0000"/>
                </a:solidFill>
                <a:latin typeface="Arial" panose="020B0604020202020204" pitchFamily="34" charset="0"/>
                <a:cs typeface="Arial" panose="020B0604020202020204" pitchFamily="34" charset="0"/>
              </a:rPr>
              <a:t>the most widely used</a:t>
            </a:r>
            <a:r>
              <a:rPr lang="en-US" altLang="zh-CN" sz="2400" dirty="0">
                <a:latin typeface="Arial" panose="020B0604020202020204" pitchFamily="34" charset="0"/>
                <a:cs typeface="Arial" panose="020B0604020202020204" pitchFamily="34" charset="0"/>
              </a:rPr>
              <a:t>, </a:t>
            </a:r>
            <a:r>
              <a:rPr lang="en-US" altLang="zh-CN" sz="2400" i="1" dirty="0">
                <a:solidFill>
                  <a:srgbClr val="FF0000"/>
                </a:solidFill>
                <a:latin typeface="Arial" panose="020B0604020202020204" pitchFamily="34" charset="0"/>
                <a:cs typeface="Arial" panose="020B0604020202020204" pitchFamily="34" charset="0"/>
              </a:rPr>
              <a:t>richly documented</a:t>
            </a:r>
            <a:r>
              <a:rPr lang="en-US" altLang="zh-CN" sz="2400" dirty="0">
                <a:latin typeface="Arial" panose="020B0604020202020204" pitchFamily="34" charset="0"/>
                <a:cs typeface="Arial" panose="020B0604020202020204" pitchFamily="34" charset="0"/>
              </a:rPr>
              <a:t>, and </a:t>
            </a:r>
            <a:r>
              <a:rPr lang="en-US" altLang="zh-CN" sz="2400" i="1" dirty="0">
                <a:solidFill>
                  <a:srgbClr val="FF0000"/>
                </a:solidFill>
                <a:latin typeface="Arial" panose="020B0604020202020204" pitchFamily="34" charset="0"/>
                <a:cs typeface="Arial" panose="020B0604020202020204" pitchFamily="34" charset="0"/>
              </a:rPr>
              <a:t>tool-assisted</a:t>
            </a:r>
            <a:r>
              <a:rPr lang="en-US" altLang="zh-CN" sz="2400" i="1"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runtime environment in WSN</a:t>
            </a:r>
          </a:p>
          <a:p>
            <a:pPr lvl="1" algn="just">
              <a:lnSpc>
                <a:spcPct val="120000"/>
              </a:lnSpc>
            </a:pPr>
            <a:r>
              <a:rPr lang="en-US" altLang="zh-CN" sz="2000" dirty="0">
                <a:latin typeface="Arial" panose="020B0604020202020204" pitchFamily="34" charset="0"/>
                <a:cs typeface="Arial" panose="020B0604020202020204" pitchFamily="34" charset="0"/>
              </a:rPr>
              <a:t>static memory allocation</a:t>
            </a:r>
          </a:p>
          <a:p>
            <a:pPr lvl="1" algn="just">
              <a:lnSpc>
                <a:spcPct val="120000"/>
              </a:lnSpc>
            </a:pPr>
            <a:r>
              <a:rPr lang="en-US" altLang="zh-CN" sz="2000" dirty="0">
                <a:latin typeface="Arial" panose="020B0604020202020204" pitchFamily="34" charset="0"/>
                <a:cs typeface="Arial" panose="020B0604020202020204" pitchFamily="34" charset="0"/>
              </a:rPr>
              <a:t>event-based system</a:t>
            </a:r>
          </a:p>
        </p:txBody>
      </p:sp>
      <p:pic>
        <p:nvPicPr>
          <p:cNvPr id="4" name="图片 3">
            <a:extLst>
              <a:ext uri="{FF2B5EF4-FFF2-40B4-BE49-F238E27FC236}">
                <a16:creationId xmlns:a16="http://schemas.microsoft.com/office/drawing/2014/main" id="{E8B780D5-6C19-4671-9BD4-8BDEE81A0179}"/>
              </a:ext>
            </a:extLst>
          </p:cNvPr>
          <p:cNvPicPr>
            <a:picLocks noChangeAspect="1"/>
          </p:cNvPicPr>
          <p:nvPr/>
        </p:nvPicPr>
        <p:blipFill>
          <a:blip r:embed="rId2"/>
          <a:stretch>
            <a:fillRect/>
          </a:stretch>
        </p:blipFill>
        <p:spPr>
          <a:xfrm>
            <a:off x="5504155" y="1830823"/>
            <a:ext cx="5092815" cy="4662052"/>
          </a:xfrm>
          <a:prstGeom prst="rect">
            <a:avLst/>
          </a:prstGeom>
        </p:spPr>
      </p:pic>
      <p:sp>
        <p:nvSpPr>
          <p:cNvPr id="5" name="矩形 4">
            <a:extLst>
              <a:ext uri="{FF2B5EF4-FFF2-40B4-BE49-F238E27FC236}">
                <a16:creationId xmlns:a16="http://schemas.microsoft.com/office/drawing/2014/main" id="{197FA4EE-BC4E-40DB-B388-BAC68E346A83}"/>
              </a:ext>
            </a:extLst>
          </p:cNvPr>
          <p:cNvSpPr/>
          <p:nvPr/>
        </p:nvSpPr>
        <p:spPr>
          <a:xfrm>
            <a:off x="962038" y="5046500"/>
            <a:ext cx="3708066" cy="400110"/>
          </a:xfrm>
          <a:prstGeom prst="rect">
            <a:avLst/>
          </a:prstGeom>
        </p:spPr>
        <p:txBody>
          <a:bodyPr wrap="none">
            <a:spAutoFit/>
          </a:bodyPr>
          <a:lstStyle/>
          <a:p>
            <a:r>
              <a:rPr lang="zh-CN" altLang="en-US" sz="2000" dirty="0"/>
              <a:t>http://webs.cs.berkeley.edu/tos/</a:t>
            </a:r>
          </a:p>
        </p:txBody>
      </p:sp>
    </p:spTree>
    <p:extLst>
      <p:ext uri="{BB962C8B-B14F-4D97-AF65-F5344CB8AC3E}">
        <p14:creationId xmlns:p14="http://schemas.microsoft.com/office/powerpoint/2010/main" val="232509572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da-DK" altLang="zh-CN" b="1" dirty="0">
                <a:latin typeface="Arial" panose="020B0604020202020204" pitchFamily="34" charset="0"/>
                <a:cs typeface="Arial" panose="020B0604020202020204" pitchFamily="34" charset="0"/>
              </a:rPr>
              <a:t>TinyOS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5"/>
            <a:ext cx="4994429" cy="4667250"/>
          </a:xfrm>
        </p:spPr>
        <p:txBody>
          <a:bodyPr>
            <a:normAutofit/>
          </a:bodyPr>
          <a:lstStyle/>
          <a:p>
            <a:pPr>
              <a:lnSpc>
                <a:spcPct val="120000"/>
              </a:lnSpc>
            </a:pPr>
            <a:r>
              <a:rPr lang="en-US" altLang="zh-CN" dirty="0" err="1">
                <a:latin typeface="Arial" panose="020B0604020202020204" pitchFamily="34" charset="0"/>
                <a:cs typeface="Arial" panose="020B0604020202020204" pitchFamily="34" charset="0"/>
              </a:rPr>
              <a:t>TinyOSʼs</a:t>
            </a:r>
            <a:r>
              <a:rPr lang="en-US" altLang="zh-CN" dirty="0">
                <a:latin typeface="Arial" panose="020B0604020202020204" pitchFamily="34" charset="0"/>
                <a:cs typeface="Arial" panose="020B0604020202020204" pitchFamily="34" charset="0"/>
              </a:rPr>
              <a:t> architecture </a:t>
            </a:r>
          </a:p>
          <a:p>
            <a:pPr lvl="1">
              <a:lnSpc>
                <a:spcPct val="120000"/>
              </a:lnSpc>
            </a:pPr>
            <a:r>
              <a:rPr lang="en-US" altLang="zh-CN" dirty="0">
                <a:latin typeface="Arial" panose="020B0604020202020204" pitchFamily="34" charset="0"/>
                <a:cs typeface="Arial" panose="020B0604020202020204" pitchFamily="34" charset="0"/>
              </a:rPr>
              <a:t>a scheduler</a:t>
            </a:r>
          </a:p>
          <a:p>
            <a:pPr lvl="1">
              <a:lnSpc>
                <a:spcPct val="120000"/>
              </a:lnSpc>
            </a:pPr>
            <a:r>
              <a:rPr lang="en-US" altLang="zh-CN" dirty="0">
                <a:latin typeface="Arial" panose="020B0604020202020204" pitchFamily="34" charset="0"/>
                <a:cs typeface="Arial" panose="020B0604020202020204" pitchFamily="34" charset="0"/>
              </a:rPr>
              <a:t>a set of components, which are classified into</a:t>
            </a:r>
          </a:p>
          <a:p>
            <a:pPr lvl="2">
              <a:lnSpc>
                <a:spcPct val="120000"/>
              </a:lnSpc>
            </a:pPr>
            <a:r>
              <a:rPr lang="en-US" altLang="zh-CN" dirty="0">
                <a:latin typeface="Arial" panose="020B0604020202020204" pitchFamily="34" charset="0"/>
                <a:cs typeface="Arial" panose="020B0604020202020204" pitchFamily="34" charset="0"/>
              </a:rPr>
              <a:t>configuration components - "wiring" (how modules are connected with each other) </a:t>
            </a:r>
          </a:p>
          <a:p>
            <a:pPr lvl="2">
              <a:lnSpc>
                <a:spcPct val="120000"/>
              </a:lnSpc>
            </a:pPr>
            <a:r>
              <a:rPr lang="en-US" altLang="zh-CN" dirty="0">
                <a:latin typeface="Arial" panose="020B0604020202020204" pitchFamily="34" charset="0"/>
                <a:cs typeface="Arial" panose="020B0604020202020204" pitchFamily="34" charset="0"/>
              </a:rPr>
              <a:t>modules - the basic building blocks of a </a:t>
            </a:r>
            <a:r>
              <a:rPr lang="en-US" altLang="zh-CN" dirty="0" err="1">
                <a:latin typeface="Arial" panose="020B0604020202020204" pitchFamily="34" charset="0"/>
                <a:cs typeface="Arial" panose="020B0604020202020204" pitchFamily="34" charset="0"/>
              </a:rPr>
              <a:t>TinyOS</a:t>
            </a:r>
            <a:r>
              <a:rPr lang="en-US" altLang="zh-CN" dirty="0">
                <a:latin typeface="Arial" panose="020B0604020202020204" pitchFamily="34" charset="0"/>
                <a:cs typeface="Arial" panose="020B0604020202020204" pitchFamily="34" charset="0"/>
              </a:rPr>
              <a:t> program</a:t>
            </a:r>
            <a:endParaRPr lang="zh-CN" altLang="en-US" dirty="0">
              <a:latin typeface="Arial" panose="020B0604020202020204" pitchFamily="34" charset="0"/>
              <a:cs typeface="Arial" panose="020B0604020202020204" pitchFamily="34" charset="0"/>
            </a:endParaRPr>
          </a:p>
        </p:txBody>
      </p:sp>
      <p:pic>
        <p:nvPicPr>
          <p:cNvPr id="4" name="Picture 2">
            <a:extLst>
              <a:ext uri="{FF2B5EF4-FFF2-40B4-BE49-F238E27FC236}">
                <a16:creationId xmlns:a16="http://schemas.microsoft.com/office/drawing/2014/main" id="{00802EC5-D78C-4AFD-8D5A-50D8ECA1CA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7520" y="1955906"/>
            <a:ext cx="5616280" cy="3845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0E231DF4-3AF1-4313-8465-D48F20CEFE0F}"/>
              </a:ext>
            </a:extLst>
          </p:cNvPr>
          <p:cNvSpPr/>
          <p:nvPr/>
        </p:nvSpPr>
        <p:spPr>
          <a:xfrm>
            <a:off x="5584053" y="6066380"/>
            <a:ext cx="6791419" cy="369332"/>
          </a:xfrm>
          <a:prstGeom prst="rect">
            <a:avLst/>
          </a:prstGeom>
        </p:spPr>
        <p:txBody>
          <a:bodyPr wrap="square">
            <a:spAutoFit/>
          </a:bodyPr>
          <a:lstStyle/>
          <a:p>
            <a:r>
              <a:rPr lang="en-US" altLang="zh-CN" dirty="0"/>
              <a:t>Logical distinction between low-level and high-level components </a:t>
            </a:r>
            <a:endParaRPr lang="zh-CN" altLang="en-US" dirty="0"/>
          </a:p>
        </p:txBody>
      </p:sp>
    </p:spTree>
    <p:extLst>
      <p:ext uri="{BB962C8B-B14F-4D97-AF65-F5344CB8AC3E}">
        <p14:creationId xmlns:p14="http://schemas.microsoft.com/office/powerpoint/2010/main" val="191250564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da-DK" altLang="zh-CN" b="1" dirty="0">
                <a:latin typeface="Arial" panose="020B0604020202020204" pitchFamily="34" charset="0"/>
                <a:cs typeface="Arial" panose="020B0604020202020204" pitchFamily="34" charset="0"/>
              </a:rPr>
              <a:t>TinyOS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A component is made up of</a:t>
            </a:r>
          </a:p>
          <a:p>
            <a:pPr lvl="1">
              <a:lnSpc>
                <a:spcPct val="120000"/>
              </a:lnSpc>
            </a:pPr>
            <a:r>
              <a:rPr lang="en-US" altLang="zh-CN" sz="2000" dirty="0">
                <a:latin typeface="Arial" panose="020B0604020202020204" pitchFamily="34" charset="0"/>
                <a:cs typeface="Arial" panose="020B0604020202020204" pitchFamily="34" charset="0"/>
              </a:rPr>
              <a:t>a frame</a:t>
            </a:r>
          </a:p>
          <a:p>
            <a:pPr lvl="1">
              <a:lnSpc>
                <a:spcPct val="120000"/>
              </a:lnSpc>
            </a:pPr>
            <a:r>
              <a:rPr lang="en-US" altLang="zh-CN" sz="2000" dirty="0">
                <a:latin typeface="Arial" panose="020B0604020202020204" pitchFamily="34" charset="0"/>
                <a:cs typeface="Arial" panose="020B0604020202020204" pitchFamily="34" charset="0"/>
              </a:rPr>
              <a:t>command handlers</a:t>
            </a:r>
          </a:p>
          <a:p>
            <a:pPr lvl="1">
              <a:lnSpc>
                <a:spcPct val="120000"/>
              </a:lnSpc>
            </a:pPr>
            <a:r>
              <a:rPr lang="en-US" altLang="zh-CN" sz="2000" dirty="0">
                <a:latin typeface="Arial" panose="020B0604020202020204" pitchFamily="34" charset="0"/>
                <a:cs typeface="Arial" panose="020B0604020202020204" pitchFamily="34" charset="0"/>
              </a:rPr>
              <a:t>event handlers</a:t>
            </a:r>
          </a:p>
          <a:p>
            <a:pPr lvl="1">
              <a:lnSpc>
                <a:spcPct val="120000"/>
              </a:lnSpc>
            </a:pPr>
            <a:r>
              <a:rPr lang="en-US" altLang="zh-CN" sz="2000" dirty="0">
                <a:latin typeface="Arial" panose="020B0604020202020204" pitchFamily="34" charset="0"/>
                <a:cs typeface="Arial" panose="020B0604020202020204" pitchFamily="34" charset="0"/>
              </a:rPr>
              <a:t>a set of non-preemptive tasks</a:t>
            </a:r>
          </a:p>
          <a:p>
            <a:pPr>
              <a:lnSpc>
                <a:spcPct val="120000"/>
              </a:lnSpc>
            </a:pPr>
            <a:r>
              <a:rPr lang="en-US" altLang="zh-CN" sz="2400" dirty="0">
                <a:latin typeface="Arial" panose="020B0604020202020204" pitchFamily="34" charset="0"/>
                <a:cs typeface="Arial" panose="020B0604020202020204" pitchFamily="34" charset="0"/>
              </a:rPr>
              <a:t>A component is similar to an object in object-based programming languages:</a:t>
            </a:r>
          </a:p>
          <a:p>
            <a:pPr lvl="1">
              <a:lnSpc>
                <a:spcPct val="120000"/>
              </a:lnSpc>
            </a:pPr>
            <a:r>
              <a:rPr lang="en-US" altLang="zh-CN" sz="2000" dirty="0">
                <a:latin typeface="Arial" panose="020B0604020202020204" pitchFamily="34" charset="0"/>
                <a:cs typeface="Arial" panose="020B0604020202020204" pitchFamily="34" charset="0"/>
              </a:rPr>
              <a:t>it encapsulates state and interacts through well-defined interfaces</a:t>
            </a:r>
          </a:p>
          <a:p>
            <a:pPr lvl="1">
              <a:lnSpc>
                <a:spcPct val="120000"/>
              </a:lnSpc>
            </a:pPr>
            <a:r>
              <a:rPr lang="en-US" altLang="zh-CN" sz="2000" dirty="0">
                <a:latin typeface="Arial" panose="020B0604020202020204" pitchFamily="34" charset="0"/>
                <a:cs typeface="Arial" panose="020B0604020202020204" pitchFamily="34" charset="0"/>
              </a:rPr>
              <a:t>an interface that can define commands, event handlers, and tasks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564458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da-DK" altLang="zh-CN" b="1" dirty="0">
                <a:latin typeface="Arial" panose="020B0604020202020204" pitchFamily="34" charset="0"/>
                <a:cs typeface="Arial" panose="020B0604020202020204" pitchFamily="34" charset="0"/>
              </a:rPr>
              <a:t>TinyOS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Components are structured hierarchically and communicate with each other through commands and events:</a:t>
            </a:r>
          </a:p>
          <a:p>
            <a:pPr lvl="1">
              <a:lnSpc>
                <a:spcPct val="120000"/>
              </a:lnSpc>
            </a:pPr>
            <a:r>
              <a:rPr lang="en-US" altLang="zh-CN" sz="2000" dirty="0">
                <a:latin typeface="Arial" panose="020B0604020202020204" pitchFamily="34" charset="0"/>
                <a:cs typeface="Arial" panose="020B0604020202020204" pitchFamily="34" charset="0"/>
              </a:rPr>
              <a:t>higher-level components issue commands to lower-level components</a:t>
            </a:r>
          </a:p>
          <a:p>
            <a:pPr lvl="1">
              <a:lnSpc>
                <a:spcPct val="120000"/>
              </a:lnSpc>
            </a:pPr>
            <a:r>
              <a:rPr lang="en-US" altLang="zh-CN" sz="2000" dirty="0">
                <a:latin typeface="Arial" panose="020B0604020202020204" pitchFamily="34" charset="0"/>
                <a:cs typeface="Arial" panose="020B0604020202020204" pitchFamily="34" charset="0"/>
              </a:rPr>
              <a:t>lower-level components signal events to higher-level components</a:t>
            </a:r>
          </a:p>
          <a:p>
            <a:pPr>
              <a:lnSpc>
                <a:spcPct val="120000"/>
              </a:lnSpc>
            </a:pPr>
            <a:r>
              <a:rPr lang="en-US" altLang="zh-CN" sz="2400" dirty="0">
                <a:latin typeface="Arial" panose="020B0604020202020204" pitchFamily="34" charset="0"/>
                <a:cs typeface="Arial" panose="020B0604020202020204" pitchFamily="34" charset="0"/>
              </a:rPr>
              <a:t>Two components at the highest level communicate asynchronously through active messages</a:t>
            </a:r>
          </a:p>
          <a:p>
            <a:pPr lvl="1">
              <a:lnSpc>
                <a:spcPct val="120000"/>
              </a:lnSpc>
            </a:pPr>
            <a:r>
              <a:rPr lang="en-US" altLang="zh-CN" sz="2000" dirty="0">
                <a:latin typeface="Arial" panose="020B0604020202020204" pitchFamily="34" charset="0"/>
                <a:cs typeface="Arial" panose="020B0604020202020204" pitchFamily="34" charset="0"/>
              </a:rPr>
              <a:t>routing component - establishing and maintaining the network</a:t>
            </a:r>
          </a:p>
          <a:p>
            <a:pPr lvl="1">
              <a:lnSpc>
                <a:spcPct val="120000"/>
              </a:lnSpc>
            </a:pPr>
            <a:r>
              <a:rPr lang="en-US" altLang="zh-CN" sz="2000" dirty="0">
                <a:latin typeface="Arial" panose="020B0604020202020204" pitchFamily="34" charset="0"/>
                <a:cs typeface="Arial" panose="020B0604020202020204" pitchFamily="34" charset="0"/>
              </a:rPr>
              <a:t>sensor application - responsible for sensing and processing</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625214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da-DK" altLang="zh-CN" b="1" dirty="0">
                <a:latin typeface="Arial" panose="020B0604020202020204" pitchFamily="34" charset="0"/>
                <a:cs typeface="Arial" panose="020B0604020202020204" pitchFamily="34" charset="0"/>
              </a:rPr>
              <a:t>TinyOS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20970" y="1481214"/>
            <a:ext cx="10515600" cy="4351338"/>
          </a:xfrm>
        </p:spPr>
        <p:txBody>
          <a:bodyPr>
            <a:normAutofit/>
          </a:bodyPr>
          <a:lstStyle/>
          <a:p>
            <a:r>
              <a:rPr lang="en-US" altLang="zh-CN" sz="2400" dirty="0">
                <a:latin typeface="Arial" panose="020B0604020202020204" pitchFamily="34" charset="0"/>
                <a:cs typeface="Arial" panose="020B0604020202020204" pitchFamily="34" charset="0"/>
              </a:rPr>
              <a:t>The logical structure of components and component configurations</a:t>
            </a:r>
            <a:endParaRPr lang="zh-CN" altLang="en-US" sz="2400" dirty="0">
              <a:latin typeface="Arial" panose="020B0604020202020204" pitchFamily="34" charset="0"/>
              <a:cs typeface="Arial" panose="020B0604020202020204"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305" y="2014230"/>
            <a:ext cx="2642711" cy="2617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9144" y="2806777"/>
            <a:ext cx="3147846" cy="1818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8118" y="2797369"/>
            <a:ext cx="3147846" cy="1827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550772" y="4625151"/>
            <a:ext cx="2991775" cy="646331"/>
          </a:xfrm>
          <a:prstGeom prst="rect">
            <a:avLst/>
          </a:prstGeom>
        </p:spPr>
        <p:txBody>
          <a:bodyPr wrap="square">
            <a:spAutoFit/>
          </a:bodyPr>
          <a:lstStyle/>
          <a:p>
            <a:pPr algn="ctr"/>
            <a:r>
              <a:rPr lang="en-US" altLang="zh-CN" dirty="0"/>
              <a:t>A </a:t>
            </a:r>
            <a:r>
              <a:rPr lang="en-US" altLang="zh-CN" dirty="0" err="1"/>
              <a:t>TinyOS</a:t>
            </a:r>
            <a:r>
              <a:rPr lang="en-US" altLang="zh-CN" dirty="0"/>
              <a:t> component providing an interface</a:t>
            </a:r>
            <a:endParaRPr lang="zh-CN" altLang="en-US" dirty="0"/>
          </a:p>
        </p:txBody>
      </p:sp>
      <p:sp>
        <p:nvSpPr>
          <p:cNvPr id="5" name="矩形 4"/>
          <p:cNvSpPr/>
          <p:nvPr/>
        </p:nvSpPr>
        <p:spPr>
          <a:xfrm>
            <a:off x="3957256" y="4632223"/>
            <a:ext cx="3191621" cy="646331"/>
          </a:xfrm>
          <a:prstGeom prst="rect">
            <a:avLst/>
          </a:prstGeom>
        </p:spPr>
        <p:txBody>
          <a:bodyPr wrap="square">
            <a:spAutoFit/>
          </a:bodyPr>
          <a:lstStyle/>
          <a:p>
            <a:pPr algn="ctr"/>
            <a:r>
              <a:rPr lang="en-US" altLang="zh-CN" dirty="0"/>
              <a:t>A </a:t>
            </a:r>
            <a:r>
              <a:rPr lang="en-US" altLang="zh-CN" dirty="0" err="1"/>
              <a:t>TinyOS</a:t>
            </a:r>
            <a:r>
              <a:rPr lang="en-US" altLang="zh-CN" dirty="0"/>
              <a:t> component that uses an interface</a:t>
            </a:r>
            <a:endParaRPr lang="zh-CN" altLang="en-US" dirty="0"/>
          </a:p>
        </p:txBody>
      </p:sp>
      <p:sp>
        <p:nvSpPr>
          <p:cNvPr id="6" name="矩形 5"/>
          <p:cNvSpPr/>
          <p:nvPr/>
        </p:nvSpPr>
        <p:spPr>
          <a:xfrm>
            <a:off x="7290610" y="4632223"/>
            <a:ext cx="4176085" cy="646331"/>
          </a:xfrm>
          <a:prstGeom prst="rect">
            <a:avLst/>
          </a:prstGeom>
        </p:spPr>
        <p:txBody>
          <a:bodyPr wrap="square">
            <a:spAutoFit/>
          </a:bodyPr>
          <a:lstStyle/>
          <a:p>
            <a:pPr algn="ctr"/>
            <a:r>
              <a:rPr lang="en-US" altLang="zh-CN" dirty="0"/>
              <a:t>A </a:t>
            </a:r>
            <a:r>
              <a:rPr lang="en-US" altLang="zh-CN" dirty="0" err="1"/>
              <a:t>TinyOS</a:t>
            </a:r>
            <a:r>
              <a:rPr lang="en-US" altLang="zh-CN" dirty="0"/>
              <a:t> configuration that wires an interface provider and an interface user</a:t>
            </a:r>
            <a:endParaRPr lang="zh-CN" altLang="en-US" dirty="0"/>
          </a:p>
        </p:txBody>
      </p:sp>
      <p:sp>
        <p:nvSpPr>
          <p:cNvPr id="7" name="矩形 6"/>
          <p:cNvSpPr/>
          <p:nvPr/>
        </p:nvSpPr>
        <p:spPr>
          <a:xfrm>
            <a:off x="470256" y="5374423"/>
            <a:ext cx="3487000" cy="1200329"/>
          </a:xfrm>
          <a:prstGeom prst="rect">
            <a:avLst/>
          </a:prstGeom>
        </p:spPr>
        <p:txBody>
          <a:bodyPr wrap="square">
            <a:spAutoFit/>
          </a:bodyPr>
          <a:lstStyle/>
          <a:p>
            <a:r>
              <a:rPr lang="it-IT" altLang="zh-CN" i="1" dirty="0">
                <a:latin typeface="Arial" panose="020B0604020202020204" pitchFamily="34" charset="0"/>
                <a:cs typeface="Arial" panose="020B0604020202020204" pitchFamily="34" charset="0"/>
              </a:rPr>
              <a:t>Component A </a:t>
            </a:r>
            <a:r>
              <a:rPr lang="en-US" altLang="zh-CN" dirty="0">
                <a:latin typeface="Arial" panose="020B0604020202020204" pitchFamily="34" charset="0"/>
                <a:cs typeface="Arial" panose="020B0604020202020204" pitchFamily="34" charset="0"/>
              </a:rPr>
              <a:t>declares its service by providing </a:t>
            </a:r>
            <a:r>
              <a:rPr lang="en-US" altLang="zh-CN" i="1" dirty="0">
                <a:latin typeface="Arial" panose="020B0604020202020204" pitchFamily="34" charset="0"/>
                <a:cs typeface="Arial" panose="020B0604020202020204" pitchFamily="34" charset="0"/>
              </a:rPr>
              <a:t>interface C</a:t>
            </a:r>
            <a:r>
              <a:rPr lang="en-US" altLang="zh-CN" dirty="0">
                <a:latin typeface="Arial" panose="020B0604020202020204" pitchFamily="34" charset="0"/>
                <a:cs typeface="Arial" panose="020B0604020202020204" pitchFamily="34" charset="0"/>
              </a:rPr>
              <a:t>, which in turn provides </a:t>
            </a:r>
            <a:r>
              <a:rPr lang="en-US" altLang="zh-CN" i="1" dirty="0">
                <a:latin typeface="Arial" panose="020B0604020202020204" pitchFamily="34" charset="0"/>
                <a:cs typeface="Arial" panose="020B0604020202020204" pitchFamily="34" charset="0"/>
              </a:rPr>
              <a:t>command D1 </a:t>
            </a:r>
            <a:r>
              <a:rPr lang="en-US" altLang="zh-CN" dirty="0">
                <a:latin typeface="Arial" panose="020B0604020202020204" pitchFamily="34" charset="0"/>
                <a:cs typeface="Arial" panose="020B0604020202020204" pitchFamily="34" charset="0"/>
              </a:rPr>
              <a:t>and signals </a:t>
            </a:r>
            <a:r>
              <a:rPr lang="en-US" altLang="zh-CN" i="1" dirty="0">
                <a:latin typeface="Arial" panose="020B0604020202020204" pitchFamily="34" charset="0"/>
                <a:cs typeface="Arial" panose="020B0604020202020204" pitchFamily="34" charset="0"/>
              </a:rPr>
              <a:t>event D2</a:t>
            </a: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sp>
        <p:nvSpPr>
          <p:cNvPr id="8" name="矩形 7"/>
          <p:cNvSpPr/>
          <p:nvPr/>
        </p:nvSpPr>
        <p:spPr>
          <a:xfrm>
            <a:off x="4052921" y="5353028"/>
            <a:ext cx="3191621" cy="1477328"/>
          </a:xfrm>
          <a:prstGeom prst="rect">
            <a:avLst/>
          </a:prstGeom>
        </p:spPr>
        <p:txBody>
          <a:bodyPr wrap="square">
            <a:spAutoFit/>
          </a:bodyPr>
          <a:lstStyle/>
          <a:p>
            <a:r>
              <a:rPr lang="it-IT" altLang="zh-CN" i="1" dirty="0">
                <a:latin typeface="Arial" panose="020B0604020202020204" pitchFamily="34" charset="0"/>
                <a:cs typeface="Arial" panose="020B0604020202020204" pitchFamily="34" charset="0"/>
              </a:rPr>
              <a:t>Component B </a:t>
            </a:r>
            <a:r>
              <a:rPr lang="en-US" altLang="zh-CN" dirty="0">
                <a:latin typeface="Arial" panose="020B0604020202020204" pitchFamily="34" charset="0"/>
                <a:cs typeface="Arial" panose="020B0604020202020204" pitchFamily="34" charset="0"/>
              </a:rPr>
              <a:t>expresses interest in </a:t>
            </a:r>
            <a:r>
              <a:rPr lang="en-US" altLang="zh-CN" i="1" dirty="0">
                <a:latin typeface="Arial" panose="020B0604020202020204" pitchFamily="34" charset="0"/>
                <a:cs typeface="Arial" panose="020B0604020202020204" pitchFamily="34" charset="0"/>
              </a:rPr>
              <a:t>interface C </a:t>
            </a:r>
            <a:r>
              <a:rPr lang="en-US" altLang="zh-CN" dirty="0">
                <a:latin typeface="Arial" panose="020B0604020202020204" pitchFamily="34" charset="0"/>
                <a:cs typeface="Arial" panose="020B0604020202020204" pitchFamily="34" charset="0"/>
              </a:rPr>
              <a:t>by declaring a call to </a:t>
            </a:r>
            <a:r>
              <a:rPr lang="en-US" altLang="zh-CN" i="1" dirty="0">
                <a:latin typeface="Arial" panose="020B0604020202020204" pitchFamily="34" charset="0"/>
                <a:cs typeface="Arial" panose="020B0604020202020204" pitchFamily="34" charset="0"/>
              </a:rPr>
              <a:t>command D1 </a:t>
            </a:r>
            <a:r>
              <a:rPr lang="en-US" altLang="zh-CN" dirty="0">
                <a:latin typeface="Arial" panose="020B0604020202020204" pitchFamily="34" charset="0"/>
                <a:cs typeface="Arial" panose="020B0604020202020204" pitchFamily="34" charset="0"/>
              </a:rPr>
              <a:t>and by providing an event handler to process </a:t>
            </a:r>
            <a:r>
              <a:rPr lang="en-US" altLang="zh-CN" i="1" dirty="0">
                <a:latin typeface="Arial" panose="020B0604020202020204" pitchFamily="34" charset="0"/>
                <a:cs typeface="Arial" panose="020B0604020202020204" pitchFamily="34" charset="0"/>
              </a:rPr>
              <a:t>event D2</a:t>
            </a: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sp>
        <p:nvSpPr>
          <p:cNvPr id="9" name="矩形 8"/>
          <p:cNvSpPr/>
          <p:nvPr/>
        </p:nvSpPr>
        <p:spPr>
          <a:xfrm>
            <a:off x="7740899" y="5374423"/>
            <a:ext cx="3275506" cy="1200329"/>
          </a:xfrm>
          <a:prstGeom prst="rect">
            <a:avLst/>
          </a:prstGeom>
        </p:spPr>
        <p:txBody>
          <a:bodyPr wrap="square">
            <a:spAutoFit/>
          </a:bodyPr>
          <a:lstStyle/>
          <a:p>
            <a:r>
              <a:rPr lang="en-US" altLang="zh-CN" dirty="0">
                <a:latin typeface="Arial" panose="020B0604020202020204" pitchFamily="34" charset="0"/>
                <a:cs typeface="Arial" panose="020B0604020202020204" pitchFamily="34" charset="0"/>
              </a:rPr>
              <a:t>A binding between </a:t>
            </a:r>
            <a:r>
              <a:rPr lang="en-US" altLang="zh-CN" i="1" dirty="0">
                <a:latin typeface="Arial" panose="020B0604020202020204" pitchFamily="34" charset="0"/>
                <a:cs typeface="Arial" panose="020B0604020202020204" pitchFamily="34" charset="0"/>
              </a:rPr>
              <a:t>Component A </a:t>
            </a:r>
            <a:r>
              <a:rPr lang="en-US" altLang="zh-CN" dirty="0">
                <a:latin typeface="Arial" panose="020B0604020202020204" pitchFamily="34" charset="0"/>
                <a:cs typeface="Arial" panose="020B0604020202020204" pitchFamily="34" charset="0"/>
              </a:rPr>
              <a:t>and </a:t>
            </a:r>
            <a:r>
              <a:rPr lang="en-US" altLang="zh-CN" i="1" dirty="0">
                <a:latin typeface="Arial" panose="020B0604020202020204" pitchFamily="34" charset="0"/>
                <a:cs typeface="Arial" panose="020B0604020202020204" pitchFamily="34" charset="0"/>
              </a:rPr>
              <a:t>Component B </a:t>
            </a:r>
            <a:r>
              <a:rPr lang="en-US" altLang="zh-CN" dirty="0">
                <a:latin typeface="Arial" panose="020B0604020202020204" pitchFamily="34" charset="0"/>
                <a:cs typeface="Arial" panose="020B0604020202020204" pitchFamily="34" charset="0"/>
              </a:rPr>
              <a:t>is established through the </a:t>
            </a:r>
            <a:r>
              <a:rPr lang="en-US" altLang="zh-CN" i="1" dirty="0">
                <a:latin typeface="Arial" panose="020B0604020202020204" pitchFamily="34" charset="0"/>
                <a:cs typeface="Arial" panose="020B0604020202020204" pitchFamily="34" charset="0"/>
              </a:rPr>
              <a:t>Configuration E</a:t>
            </a: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92800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Tasks, Commands and Events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868138"/>
          </a:xfrm>
        </p:spPr>
        <p:txBody>
          <a:bodyPr>
            <a:normAutofit fontScale="70000" lnSpcReduction="20000"/>
          </a:bodyPr>
          <a:lstStyle/>
          <a:p>
            <a:pPr>
              <a:lnSpc>
                <a:spcPct val="130000"/>
              </a:lnSpc>
            </a:pPr>
            <a:r>
              <a:rPr lang="en-US" altLang="zh-CN" sz="3400" dirty="0">
                <a:latin typeface="Arial" panose="020B0604020202020204" pitchFamily="34" charset="0"/>
                <a:cs typeface="Arial" panose="020B0604020202020204" pitchFamily="34" charset="0"/>
              </a:rPr>
              <a:t>The fundamental building blocks of a </a:t>
            </a:r>
            <a:r>
              <a:rPr lang="en-US" altLang="zh-CN" sz="3400" dirty="0" err="1">
                <a:latin typeface="Arial" panose="020B0604020202020204" pitchFamily="34" charset="0"/>
                <a:cs typeface="Arial" panose="020B0604020202020204" pitchFamily="34" charset="0"/>
              </a:rPr>
              <a:t>TinyOS</a:t>
            </a:r>
            <a:r>
              <a:rPr lang="en-US" altLang="zh-CN" sz="3400" dirty="0">
                <a:latin typeface="Arial" panose="020B0604020202020204" pitchFamily="34" charset="0"/>
                <a:cs typeface="Arial" panose="020B0604020202020204" pitchFamily="34" charset="0"/>
              </a:rPr>
              <a:t> runtime environment: </a:t>
            </a:r>
            <a:r>
              <a:rPr lang="en-US" altLang="zh-CN" sz="3400" i="1" dirty="0">
                <a:solidFill>
                  <a:srgbClr val="FF0000"/>
                </a:solidFill>
                <a:latin typeface="Arial" panose="020B0604020202020204" pitchFamily="34" charset="0"/>
                <a:cs typeface="Arial" panose="020B0604020202020204" pitchFamily="34" charset="0"/>
              </a:rPr>
              <a:t>tasks</a:t>
            </a:r>
            <a:r>
              <a:rPr lang="en-US" altLang="zh-CN" sz="3400" i="1" dirty="0">
                <a:latin typeface="Arial" panose="020B0604020202020204" pitchFamily="34" charset="0"/>
                <a:cs typeface="Arial" panose="020B0604020202020204" pitchFamily="34" charset="0"/>
              </a:rPr>
              <a:t>, </a:t>
            </a:r>
            <a:r>
              <a:rPr lang="en-US" altLang="zh-CN" sz="3400" i="1" dirty="0">
                <a:solidFill>
                  <a:srgbClr val="FF0000"/>
                </a:solidFill>
                <a:latin typeface="Arial" panose="020B0604020202020204" pitchFamily="34" charset="0"/>
                <a:cs typeface="Arial" panose="020B0604020202020204" pitchFamily="34" charset="0"/>
              </a:rPr>
              <a:t>commands</a:t>
            </a:r>
            <a:r>
              <a:rPr lang="en-US" altLang="zh-CN" sz="3400" i="1" dirty="0">
                <a:latin typeface="Arial" panose="020B0604020202020204" pitchFamily="34" charset="0"/>
                <a:cs typeface="Arial" panose="020B0604020202020204" pitchFamily="34" charset="0"/>
              </a:rPr>
              <a:t>, </a:t>
            </a:r>
            <a:r>
              <a:rPr lang="en-US" altLang="zh-CN" sz="3400" dirty="0">
                <a:latin typeface="Arial" panose="020B0604020202020204" pitchFamily="34" charset="0"/>
                <a:cs typeface="Arial" panose="020B0604020202020204" pitchFamily="34" charset="0"/>
              </a:rPr>
              <a:t>and </a:t>
            </a:r>
            <a:r>
              <a:rPr lang="en-US" altLang="zh-CN" sz="3400" i="1" dirty="0">
                <a:solidFill>
                  <a:srgbClr val="FF0000"/>
                </a:solidFill>
                <a:latin typeface="Arial" panose="020B0604020202020204" pitchFamily="34" charset="0"/>
                <a:cs typeface="Arial" panose="020B0604020202020204" pitchFamily="34" charset="0"/>
              </a:rPr>
              <a:t>events</a:t>
            </a:r>
          </a:p>
          <a:p>
            <a:pPr lvl="1">
              <a:lnSpc>
                <a:spcPct val="130000"/>
              </a:lnSpc>
            </a:pPr>
            <a:r>
              <a:rPr lang="en-US" altLang="zh-CN" sz="2900" dirty="0">
                <a:latin typeface="Arial" panose="020B0604020202020204" pitchFamily="34" charset="0"/>
                <a:cs typeface="Arial" panose="020B0604020202020204" pitchFamily="34" charset="0"/>
              </a:rPr>
              <a:t>enabling effective communication between the components of a single frame</a:t>
            </a:r>
          </a:p>
          <a:p>
            <a:pPr>
              <a:lnSpc>
                <a:spcPct val="130000"/>
              </a:lnSpc>
            </a:pPr>
            <a:r>
              <a:rPr lang="en-US" altLang="zh-CN" sz="3400" i="1" dirty="0">
                <a:solidFill>
                  <a:srgbClr val="FF0000"/>
                </a:solidFill>
                <a:latin typeface="Arial" panose="020B0604020202020204" pitchFamily="34" charset="0"/>
                <a:cs typeface="Arial" panose="020B0604020202020204" pitchFamily="34" charset="0"/>
              </a:rPr>
              <a:t>Tasks</a:t>
            </a:r>
            <a:r>
              <a:rPr lang="en-US" altLang="zh-CN" sz="3400" i="1" dirty="0">
                <a:latin typeface="Arial" panose="020B0604020202020204" pitchFamily="34" charset="0"/>
                <a:cs typeface="Arial" panose="020B0604020202020204" pitchFamily="34" charset="0"/>
              </a:rPr>
              <a:t>:</a:t>
            </a:r>
          </a:p>
          <a:p>
            <a:pPr lvl="1">
              <a:lnSpc>
                <a:spcPct val="130000"/>
              </a:lnSpc>
            </a:pPr>
            <a:r>
              <a:rPr lang="en-US" altLang="zh-CN" sz="3200" i="1" dirty="0">
                <a:solidFill>
                  <a:srgbClr val="FF0000"/>
                </a:solidFill>
                <a:latin typeface="Arial" panose="020B0604020202020204" pitchFamily="34" charset="0"/>
                <a:cs typeface="Arial" panose="020B0604020202020204" pitchFamily="34" charset="0"/>
              </a:rPr>
              <a:t>monolithic processes </a:t>
            </a:r>
            <a:r>
              <a:rPr lang="zh-CN" altLang="en-US" sz="3200" i="1" dirty="0">
                <a:solidFill>
                  <a:srgbClr val="FF0000"/>
                </a:solidFill>
                <a:latin typeface="Arial" panose="020B0604020202020204" pitchFamily="34" charset="0"/>
                <a:cs typeface="Arial" panose="020B0604020202020204" pitchFamily="34" charset="0"/>
              </a:rPr>
              <a:t>单独进程</a:t>
            </a:r>
            <a:r>
              <a:rPr lang="en-US" altLang="zh-CN" sz="3200" dirty="0">
                <a:latin typeface="Arial" panose="020B0604020202020204" pitchFamily="34" charset="0"/>
                <a:cs typeface="Arial" panose="020B0604020202020204" pitchFamily="34" charset="0"/>
              </a:rPr>
              <a:t>- should execute to completion – they cannot be preempted by other tasks, though they can be interrupted by events</a:t>
            </a:r>
          </a:p>
          <a:p>
            <a:pPr lvl="1">
              <a:lnSpc>
                <a:spcPct val="130000"/>
              </a:lnSpc>
            </a:pPr>
            <a:r>
              <a:rPr lang="en-US" altLang="zh-CN" sz="3200" dirty="0">
                <a:latin typeface="Arial" panose="020B0604020202020204" pitchFamily="34" charset="0"/>
                <a:cs typeface="Arial" panose="020B0604020202020204" pitchFamily="34" charset="0"/>
              </a:rPr>
              <a:t>possible to allocate a single stack to store context information</a:t>
            </a:r>
          </a:p>
          <a:p>
            <a:pPr lvl="1">
              <a:lnSpc>
                <a:spcPct val="130000"/>
              </a:lnSpc>
            </a:pPr>
            <a:r>
              <a:rPr lang="en-US" altLang="zh-CN" sz="3200" dirty="0">
                <a:latin typeface="Arial" panose="020B0604020202020204" pitchFamily="34" charset="0"/>
                <a:cs typeface="Arial" panose="020B0604020202020204" pitchFamily="34" charset="0"/>
              </a:rPr>
              <a:t>call lower level commands; signal higher level events; and post (schedule) other tasks</a:t>
            </a:r>
          </a:p>
          <a:p>
            <a:pPr lvl="1">
              <a:lnSpc>
                <a:spcPct val="130000"/>
              </a:lnSpc>
            </a:pPr>
            <a:r>
              <a:rPr lang="en-US" altLang="zh-CN" sz="3200" dirty="0">
                <a:latin typeface="Arial" panose="020B0604020202020204" pitchFamily="34" charset="0"/>
                <a:cs typeface="Arial" panose="020B0604020202020204" pitchFamily="34" charset="0"/>
              </a:rPr>
              <a:t>scheduled based on FIFO principle (in </a:t>
            </a:r>
            <a:r>
              <a:rPr lang="en-US" altLang="zh-CN" sz="3200" dirty="0" err="1">
                <a:latin typeface="Arial" panose="020B0604020202020204" pitchFamily="34" charset="0"/>
                <a:cs typeface="Arial" panose="020B0604020202020204" pitchFamily="34" charset="0"/>
              </a:rPr>
              <a:t>TinyOS</a:t>
            </a:r>
            <a:r>
              <a:rPr lang="en-US" altLang="zh-CN" sz="3200" dirty="0">
                <a:latin typeface="Arial" panose="020B0604020202020204" pitchFamily="34" charset="0"/>
                <a:cs typeface="Arial" panose="020B0604020202020204" pitchFamily="34" charset="0"/>
              </a:rPr>
              <a:t>)􀀁</a:t>
            </a:r>
            <a:endParaRPr lang="zh-CN" alt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504288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Tasks, Commands and Events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949909" y="1690688"/>
            <a:ext cx="10515599" cy="5486400"/>
          </a:xfrm>
        </p:spPr>
        <p:txBody>
          <a:bodyPr>
            <a:noAutofit/>
          </a:bodyPr>
          <a:lstStyle/>
          <a:p>
            <a:pPr>
              <a:lnSpc>
                <a:spcPct val="120000"/>
              </a:lnSpc>
            </a:pPr>
            <a:r>
              <a:rPr lang="en-US" altLang="zh-CN" sz="2400" i="1" dirty="0">
                <a:solidFill>
                  <a:srgbClr val="FF0000"/>
                </a:solidFill>
                <a:latin typeface="Arial" panose="020B0604020202020204" pitchFamily="34" charset="0"/>
                <a:cs typeface="Arial" panose="020B0604020202020204" pitchFamily="34" charset="0"/>
              </a:rPr>
              <a:t>Commands</a:t>
            </a:r>
            <a:r>
              <a:rPr lang="en-US" altLang="zh-CN" sz="2400" i="1" dirty="0">
                <a:latin typeface="Arial" panose="020B0604020202020204" pitchFamily="34" charset="0"/>
                <a:cs typeface="Arial" panose="020B0604020202020204" pitchFamily="34" charset="0"/>
              </a:rPr>
              <a:t>:</a:t>
            </a:r>
          </a:p>
          <a:p>
            <a:pPr lvl="1">
              <a:lnSpc>
                <a:spcPct val="120000"/>
              </a:lnSpc>
            </a:pPr>
            <a:r>
              <a:rPr lang="en-US" altLang="zh-CN" sz="2000" dirty="0">
                <a:latin typeface="Arial" panose="020B0604020202020204" pitchFamily="34" charset="0"/>
                <a:cs typeface="Arial" panose="020B0604020202020204" pitchFamily="34" charset="0"/>
              </a:rPr>
              <a:t>non-blocking requests made by higher-level components to lower-level components</a:t>
            </a:r>
          </a:p>
          <a:p>
            <a:pPr lvl="1">
              <a:lnSpc>
                <a:spcPct val="120000"/>
              </a:lnSpc>
            </a:pPr>
            <a:r>
              <a:rPr lang="en-US" altLang="zh-CN" sz="2000" dirty="0">
                <a:latin typeface="Arial" panose="020B0604020202020204" pitchFamily="34" charset="0"/>
                <a:cs typeface="Arial" panose="020B0604020202020204" pitchFamily="34" charset="0"/>
              </a:rPr>
              <a:t>split-phase operation:</a:t>
            </a:r>
          </a:p>
          <a:p>
            <a:pPr lvl="2">
              <a:lnSpc>
                <a:spcPct val="120000"/>
              </a:lnSpc>
            </a:pPr>
            <a:r>
              <a:rPr lang="en-US" altLang="zh-CN" dirty="0">
                <a:latin typeface="Arial" panose="020B0604020202020204" pitchFamily="34" charset="0"/>
                <a:cs typeface="Arial" panose="020B0604020202020204" pitchFamily="34" charset="0"/>
              </a:rPr>
              <a:t>a function call returns immediately</a:t>
            </a:r>
          </a:p>
          <a:p>
            <a:pPr lvl="2">
              <a:lnSpc>
                <a:spcPct val="120000"/>
              </a:lnSpc>
            </a:pPr>
            <a:r>
              <a:rPr lang="en-US" altLang="zh-CN" dirty="0">
                <a:latin typeface="Arial" panose="020B0604020202020204" pitchFamily="34" charset="0"/>
                <a:cs typeface="Arial" panose="020B0604020202020204" pitchFamily="34" charset="0"/>
              </a:rPr>
              <a:t>the called function notifies the caller when the task is completed</a:t>
            </a:r>
            <a:endParaRPr lang="en-US" altLang="zh-CN" b="1" i="1" dirty="0">
              <a:latin typeface="Arial" panose="020B0604020202020204" pitchFamily="34" charset="0"/>
              <a:cs typeface="Arial" panose="020B0604020202020204" pitchFamily="34" charset="0"/>
            </a:endParaRPr>
          </a:p>
          <a:p>
            <a:pPr>
              <a:lnSpc>
                <a:spcPct val="120000"/>
              </a:lnSpc>
            </a:pPr>
            <a:r>
              <a:rPr lang="en-US" altLang="zh-CN" sz="2400" i="1" dirty="0">
                <a:solidFill>
                  <a:srgbClr val="FF0000"/>
                </a:solidFill>
                <a:latin typeface="Arial" panose="020B0604020202020204" pitchFamily="34" charset="0"/>
                <a:cs typeface="Arial" panose="020B0604020202020204" pitchFamily="34" charset="0"/>
              </a:rPr>
              <a:t>Events</a:t>
            </a:r>
            <a:r>
              <a:rPr lang="en-US" altLang="zh-CN" sz="2400" i="1" dirty="0">
                <a:latin typeface="Arial" panose="020B0604020202020204" pitchFamily="34" charset="0"/>
                <a:cs typeface="Arial" panose="020B0604020202020204" pitchFamily="34" charset="0"/>
              </a:rPr>
              <a:t>:</a:t>
            </a:r>
            <a:endParaRPr lang="en-US" altLang="zh-CN" sz="2400" dirty="0">
              <a:latin typeface="Arial" panose="020B0604020202020204" pitchFamily="34" charset="0"/>
              <a:cs typeface="Arial" panose="020B0604020202020204" pitchFamily="34" charset="0"/>
            </a:endParaRPr>
          </a:p>
          <a:p>
            <a:pPr lvl="1">
              <a:lnSpc>
                <a:spcPct val="120000"/>
              </a:lnSpc>
            </a:pPr>
            <a:r>
              <a:rPr lang="en-US" altLang="zh-CN" sz="2000" dirty="0">
                <a:latin typeface="Arial" panose="020B0604020202020204" pitchFamily="34" charset="0"/>
                <a:cs typeface="Arial" panose="020B0604020202020204" pitchFamily="34" charset="0"/>
              </a:rPr>
              <a:t>events are processed by the event handler</a:t>
            </a:r>
            <a:endParaRPr lang="en-US" altLang="zh-CN" sz="2000" b="1" i="1" dirty="0">
              <a:latin typeface="Arial" panose="020B0604020202020204" pitchFamily="34" charset="0"/>
              <a:cs typeface="Arial" panose="020B0604020202020204" pitchFamily="34" charset="0"/>
            </a:endParaRPr>
          </a:p>
          <a:p>
            <a:pPr lvl="1">
              <a:lnSpc>
                <a:spcPct val="120000"/>
              </a:lnSpc>
            </a:pPr>
            <a:r>
              <a:rPr lang="en-US" altLang="zh-CN" sz="2000" dirty="0">
                <a:latin typeface="Arial" panose="020B0604020202020204" pitchFamily="34" charset="0"/>
                <a:cs typeface="Arial" panose="020B0604020202020204" pitchFamily="34" charset="0"/>
              </a:rPr>
              <a:t>event handlers are called when hardware events occur</a:t>
            </a:r>
            <a:endParaRPr lang="en-US" altLang="zh-CN" sz="2000" b="1" i="1" dirty="0">
              <a:latin typeface="Arial" panose="020B0604020202020204" pitchFamily="34" charset="0"/>
              <a:cs typeface="Arial" panose="020B0604020202020204" pitchFamily="34" charset="0"/>
            </a:endParaRPr>
          </a:p>
          <a:p>
            <a:pPr lvl="1">
              <a:lnSpc>
                <a:spcPct val="120000"/>
              </a:lnSpc>
            </a:pPr>
            <a:r>
              <a:rPr lang="en-US" altLang="zh-CN" sz="2000" dirty="0">
                <a:latin typeface="Arial" panose="020B0604020202020204" pitchFamily="34" charset="0"/>
                <a:cs typeface="Arial" panose="020B0604020202020204" pitchFamily="34" charset="0"/>
              </a:rPr>
              <a:t>an event handler may react to the occurrence of an event in different ways</a:t>
            </a:r>
            <a:endParaRPr lang="en-US" altLang="zh-CN" sz="2000" b="1" i="1" dirty="0">
              <a:latin typeface="Arial" panose="020B0604020202020204" pitchFamily="34" charset="0"/>
              <a:cs typeface="Arial" panose="020B0604020202020204" pitchFamily="34" charset="0"/>
            </a:endParaRPr>
          </a:p>
          <a:p>
            <a:pPr lvl="2">
              <a:lnSpc>
                <a:spcPct val="120000"/>
              </a:lnSpc>
            </a:pPr>
            <a:r>
              <a:rPr lang="en-US" altLang="zh-CN" dirty="0">
                <a:latin typeface="Arial" panose="020B0604020202020204" pitchFamily="34" charset="0"/>
                <a:cs typeface="Arial" panose="020B0604020202020204" pitchFamily="34" charset="0"/>
              </a:rPr>
              <a:t>deposit information into its frame, post tasks, signal higher level events, or call lower level commands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598760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SOS (Han et al. 2005 )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66400"/>
            <a:ext cx="10515600" cy="4351338"/>
          </a:xfrm>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The SOS operating system (Han et al. 2005)</a:t>
            </a:r>
          </a:p>
          <a:p>
            <a:pPr lvl="1">
              <a:lnSpc>
                <a:spcPct val="120000"/>
              </a:lnSpc>
            </a:pPr>
            <a:r>
              <a:rPr lang="en-US" altLang="zh-CN" sz="2000" dirty="0">
                <a:latin typeface="Arial" panose="020B0604020202020204" pitchFamily="34" charset="0"/>
                <a:cs typeface="Arial" panose="020B0604020202020204" pitchFamily="34" charset="0"/>
              </a:rPr>
              <a:t>establishes a balance between flexibility and resource efficiency</a:t>
            </a:r>
          </a:p>
          <a:p>
            <a:pPr lvl="1">
              <a:lnSpc>
                <a:spcPct val="120000"/>
              </a:lnSpc>
            </a:pPr>
            <a:r>
              <a:rPr lang="en-US" altLang="zh-CN" sz="2000" dirty="0">
                <a:latin typeface="Arial" panose="020B0604020202020204" pitchFamily="34" charset="0"/>
                <a:cs typeface="Arial" panose="020B0604020202020204" pitchFamily="34" charset="0"/>
              </a:rPr>
              <a:t>supports runtime reconfiguration and reprogramming</a:t>
            </a:r>
          </a:p>
          <a:p>
            <a:pPr>
              <a:lnSpc>
                <a:spcPct val="120000"/>
              </a:lnSpc>
            </a:pPr>
            <a:r>
              <a:rPr lang="en-US" altLang="zh-CN" sz="2400" dirty="0">
                <a:latin typeface="Arial" panose="020B0604020202020204" pitchFamily="34" charset="0"/>
                <a:cs typeface="Arial" panose="020B0604020202020204" pitchFamily="34" charset="0"/>
              </a:rPr>
              <a:t>The SOS operating system consists of:</a:t>
            </a:r>
          </a:p>
          <a:p>
            <a:pPr lvl="1">
              <a:lnSpc>
                <a:spcPct val="120000"/>
              </a:lnSpc>
            </a:pPr>
            <a:r>
              <a:rPr lang="en-US" altLang="zh-CN" dirty="0">
                <a:latin typeface="Arial" panose="020B0604020202020204" pitchFamily="34" charset="0"/>
                <a:cs typeface="Arial" panose="020B0604020202020204" pitchFamily="34" charset="0"/>
              </a:rPr>
              <a:t>a kernel :</a:t>
            </a:r>
          </a:p>
          <a:p>
            <a:pPr lvl="2">
              <a:lnSpc>
                <a:spcPct val="120000"/>
              </a:lnSpc>
            </a:pPr>
            <a:r>
              <a:rPr lang="en-US" altLang="zh-CN" dirty="0">
                <a:latin typeface="Arial" panose="020B0604020202020204" pitchFamily="34" charset="0"/>
                <a:cs typeface="Arial" panose="020B0604020202020204" pitchFamily="34" charset="0"/>
              </a:rPr>
              <a:t>provides interfaces to the underlying hardware</a:t>
            </a:r>
          </a:p>
          <a:p>
            <a:pPr lvl="2">
              <a:lnSpc>
                <a:spcPct val="120000"/>
              </a:lnSpc>
            </a:pPr>
            <a:r>
              <a:rPr lang="en-US" altLang="zh-CN" dirty="0">
                <a:latin typeface="Arial" panose="020B0604020202020204" pitchFamily="34" charset="0"/>
                <a:cs typeface="Arial" panose="020B0604020202020204" pitchFamily="34" charset="0"/>
              </a:rPr>
              <a:t>provides priority-based scheduling mechanism</a:t>
            </a:r>
          </a:p>
          <a:p>
            <a:pPr lvl="2">
              <a:lnSpc>
                <a:spcPct val="120000"/>
              </a:lnSpc>
            </a:pPr>
            <a:r>
              <a:rPr lang="en-US" altLang="zh-CN" dirty="0">
                <a:latin typeface="Arial" panose="020B0604020202020204" pitchFamily="34" charset="0"/>
                <a:cs typeface="Arial" panose="020B0604020202020204" pitchFamily="34" charset="0"/>
              </a:rPr>
              <a:t>supports dynamic memory allocation</a:t>
            </a:r>
          </a:p>
          <a:p>
            <a:pPr lvl="1">
              <a:lnSpc>
                <a:spcPct val="120000"/>
              </a:lnSpc>
            </a:pPr>
            <a:r>
              <a:rPr lang="en-US" altLang="zh-CN" dirty="0">
                <a:latin typeface="Arial" panose="020B0604020202020204" pitchFamily="34" charset="0"/>
                <a:cs typeface="Arial" panose="020B0604020202020204" pitchFamily="34" charset="0"/>
              </a:rPr>
              <a:t>a set of modules – can be loaded and unloaded - a position independent binary</a:t>
            </a:r>
          </a:p>
          <a:p>
            <a:pPr lvl="2">
              <a:lnSpc>
                <a:spcPct val="120000"/>
              </a:lnSpc>
            </a:pPr>
            <a:r>
              <a:rPr lang="en-US" altLang="zh-CN" dirty="0">
                <a:latin typeface="Arial" panose="020B0604020202020204" pitchFamily="34" charset="0"/>
                <a:cs typeface="Arial" panose="020B0604020202020204" pitchFamily="34" charset="0"/>
              </a:rPr>
              <a:t>enables SOS to dynamically link modules with each other</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201914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Interaction</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371600"/>
            <a:ext cx="11146655" cy="5486400"/>
          </a:xfrm>
        </p:spPr>
        <p:txBody>
          <a:bodyPr>
            <a:normAutofit fontScale="92500"/>
          </a:bodyPr>
          <a:lstStyle/>
          <a:p>
            <a:pPr>
              <a:lnSpc>
                <a:spcPct val="120000"/>
              </a:lnSpc>
            </a:pPr>
            <a:r>
              <a:rPr lang="en-US" altLang="zh-CN" sz="2600" i="1" dirty="0">
                <a:solidFill>
                  <a:srgbClr val="FF0000"/>
                </a:solidFill>
                <a:latin typeface="Arial" panose="020B0604020202020204" pitchFamily="34" charset="0"/>
                <a:cs typeface="Arial" panose="020B0604020202020204" pitchFamily="34" charset="0"/>
              </a:rPr>
              <a:t>messages</a:t>
            </a:r>
            <a:r>
              <a:rPr lang="en-US" altLang="zh-CN" sz="2600" i="1" dirty="0">
                <a:latin typeface="Arial" panose="020B0604020202020204" pitchFamily="34" charset="0"/>
                <a:cs typeface="Arial" panose="020B0604020202020204" pitchFamily="34" charset="0"/>
              </a:rPr>
              <a:t> </a:t>
            </a:r>
            <a:r>
              <a:rPr lang="en-US" altLang="zh-CN" sz="2600" dirty="0">
                <a:latin typeface="Arial" panose="020B0604020202020204" pitchFamily="34" charset="0"/>
                <a:cs typeface="Arial" panose="020B0604020202020204" pitchFamily="34" charset="0"/>
              </a:rPr>
              <a:t>(asynchronous communication)</a:t>
            </a:r>
          </a:p>
          <a:p>
            <a:pPr lvl="1">
              <a:lnSpc>
                <a:spcPct val="120000"/>
              </a:lnSpc>
            </a:pPr>
            <a:r>
              <a:rPr lang="en-US" altLang="zh-CN" sz="2000" dirty="0">
                <a:latin typeface="Arial" panose="020B0604020202020204" pitchFamily="34" charset="0"/>
                <a:cs typeface="Arial" panose="020B0604020202020204" pitchFamily="34" charset="0"/>
              </a:rPr>
              <a:t>a message that originates from module A to module B</a:t>
            </a:r>
          </a:p>
          <a:p>
            <a:pPr lvl="2">
              <a:lnSpc>
                <a:spcPct val="120000"/>
              </a:lnSpc>
            </a:pPr>
            <a:r>
              <a:rPr lang="en-US" altLang="zh-CN" dirty="0">
                <a:latin typeface="Arial" panose="020B0604020202020204" pitchFamily="34" charset="0"/>
                <a:cs typeface="Arial" panose="020B0604020202020204" pitchFamily="34" charset="0"/>
              </a:rPr>
              <a:t>the message goes through the scheduler</a:t>
            </a:r>
          </a:p>
          <a:p>
            <a:pPr lvl="2">
              <a:lnSpc>
                <a:spcPct val="120000"/>
              </a:lnSpc>
            </a:pPr>
            <a:r>
              <a:rPr lang="en-US" altLang="zh-CN" dirty="0">
                <a:latin typeface="Arial" panose="020B0604020202020204" pitchFamily="34" charset="0"/>
                <a:cs typeface="Arial" panose="020B0604020202020204" pitchFamily="34" charset="0"/>
              </a:rPr>
              <a:t>the kernel calls the appropriate message handler in module B and passes the message to it</a:t>
            </a:r>
          </a:p>
          <a:p>
            <a:pPr marL="228600" lvl="1">
              <a:lnSpc>
                <a:spcPct val="120000"/>
              </a:lnSpc>
              <a:spcBef>
                <a:spcPts val="1000"/>
              </a:spcBef>
            </a:pPr>
            <a:r>
              <a:rPr lang="en-US" altLang="zh-CN" sz="2600" i="1" dirty="0">
                <a:solidFill>
                  <a:srgbClr val="FF0000"/>
                </a:solidFill>
                <a:latin typeface="Arial" panose="020B0604020202020204" pitchFamily="34" charset="0"/>
                <a:cs typeface="Arial" panose="020B0604020202020204" pitchFamily="34" charset="0"/>
              </a:rPr>
              <a:t>direct calls to registered functions </a:t>
            </a:r>
            <a:r>
              <a:rPr lang="en-US" altLang="zh-CN" sz="2600" dirty="0">
                <a:latin typeface="Arial" panose="020B0604020202020204" pitchFamily="34" charset="0"/>
                <a:cs typeface="Arial" panose="020B0604020202020204" pitchFamily="34" charset="0"/>
              </a:rPr>
              <a:t>(synchronous communication)</a:t>
            </a:r>
          </a:p>
          <a:p>
            <a:pPr lvl="1">
              <a:lnSpc>
                <a:spcPct val="120000"/>
              </a:lnSpc>
            </a:pPr>
            <a:r>
              <a:rPr lang="en-US" altLang="zh-CN" sz="2000" dirty="0">
                <a:latin typeface="Arial" panose="020B0604020202020204" pitchFamily="34" charset="0"/>
                <a:cs typeface="Arial" panose="020B0604020202020204" pitchFamily="34" charset="0"/>
              </a:rPr>
              <a:t>requires modules to register their public functions at the kernel – all modules can subscribe to these functions </a:t>
            </a:r>
          </a:p>
          <a:p>
            <a:pPr lvl="2">
              <a:lnSpc>
                <a:spcPct val="120000"/>
              </a:lnSpc>
            </a:pPr>
            <a:r>
              <a:rPr lang="en-US" altLang="zh-CN" dirty="0">
                <a:latin typeface="Arial" panose="020B0604020202020204" pitchFamily="34" charset="0"/>
                <a:cs typeface="Arial" panose="020B0604020202020204" pitchFamily="34" charset="0"/>
              </a:rPr>
              <a:t>the kernel creates a </a:t>
            </a:r>
            <a:r>
              <a:rPr lang="en-US" altLang="zh-CN" i="1" dirty="0">
                <a:solidFill>
                  <a:srgbClr val="FF0000"/>
                </a:solidFill>
                <a:latin typeface="Arial" panose="020B0604020202020204" pitchFamily="34" charset="0"/>
                <a:cs typeface="Arial" panose="020B0604020202020204" pitchFamily="34" charset="0"/>
              </a:rPr>
              <a:t>function control block (FCB) </a:t>
            </a:r>
            <a:r>
              <a:rPr lang="en-US" altLang="zh-CN" dirty="0">
                <a:latin typeface="Arial" panose="020B0604020202020204" pitchFamily="34" charset="0"/>
                <a:cs typeface="Arial" panose="020B0604020202020204" pitchFamily="34" charset="0"/>
              </a:rPr>
              <a:t>to store key information about the function</a:t>
            </a:r>
          </a:p>
          <a:p>
            <a:pPr lvl="2">
              <a:lnSpc>
                <a:spcPct val="120000"/>
              </a:lnSpc>
            </a:pPr>
            <a:r>
              <a:rPr lang="en-US" altLang="zh-CN" dirty="0">
                <a:latin typeface="Arial" panose="020B0604020202020204" pitchFamily="34" charset="0"/>
                <a:cs typeface="Arial" panose="020B0604020202020204" pitchFamily="34" charset="0"/>
              </a:rPr>
              <a:t>this information is used to:</a:t>
            </a:r>
          </a:p>
          <a:p>
            <a:pPr lvl="3">
              <a:lnSpc>
                <a:spcPct val="120000"/>
              </a:lnSpc>
            </a:pPr>
            <a:r>
              <a:rPr lang="en-US" altLang="zh-CN" sz="2000" dirty="0">
                <a:latin typeface="Arial" panose="020B0604020202020204" pitchFamily="34" charset="0"/>
                <a:cs typeface="Arial" panose="020B0604020202020204" pitchFamily="34" charset="0"/>
              </a:rPr>
              <a:t>handle function subscription</a:t>
            </a:r>
          </a:p>
          <a:p>
            <a:pPr lvl="3">
              <a:lnSpc>
                <a:spcPct val="120000"/>
              </a:lnSpc>
            </a:pPr>
            <a:r>
              <a:rPr lang="en-US" altLang="zh-CN" sz="2000" dirty="0">
                <a:latin typeface="Arial" panose="020B0604020202020204" pitchFamily="34" charset="0"/>
                <a:cs typeface="Arial" panose="020B0604020202020204" pitchFamily="34" charset="0"/>
              </a:rPr>
              <a:t>support dynamic memory management</a:t>
            </a:r>
          </a:p>
          <a:p>
            <a:pPr lvl="3">
              <a:lnSpc>
                <a:spcPct val="120000"/>
              </a:lnSpc>
            </a:pPr>
            <a:r>
              <a:rPr lang="en-US" altLang="zh-CN" sz="2000" dirty="0">
                <a:latin typeface="Arial" panose="020B0604020202020204" pitchFamily="34" charset="0"/>
                <a:cs typeface="Arial" panose="020B0604020202020204" pitchFamily="34" charset="0"/>
              </a:rPr>
              <a:t>support runtime module update (replacement)</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169228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Interaction</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3872144" y="1320869"/>
            <a:ext cx="8229600" cy="5486400"/>
          </a:xfrm>
        </p:spPr>
        <p:txBody>
          <a:bodyPr>
            <a:normAutofit fontScale="92500" lnSpcReduction="10000"/>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sz="2000" dirty="0"/>
          </a:p>
          <a:p>
            <a:pPr marL="0" indent="0" algn="ctr">
              <a:buNone/>
            </a:pPr>
            <a:r>
              <a:rPr lang="en-US" altLang="zh-CN" sz="2200" dirty="0"/>
              <a:t>illustrates the two basic types of interactions between modules</a:t>
            </a:r>
            <a:endParaRPr lang="en-US" altLang="zh-CN" sz="18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9419" y="1462912"/>
            <a:ext cx="6115050" cy="4378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a:extLst>
              <a:ext uri="{FF2B5EF4-FFF2-40B4-BE49-F238E27FC236}">
                <a16:creationId xmlns:a16="http://schemas.microsoft.com/office/drawing/2014/main" id="{4F48548C-7F26-4082-B39D-5A6E11E12998}"/>
              </a:ext>
            </a:extLst>
          </p:cNvPr>
          <p:cNvSpPr/>
          <p:nvPr/>
        </p:nvSpPr>
        <p:spPr>
          <a:xfrm>
            <a:off x="838200" y="1690688"/>
            <a:ext cx="3173026" cy="1824346"/>
          </a:xfrm>
          <a:prstGeom prst="rect">
            <a:avLst/>
          </a:prstGeom>
        </p:spPr>
        <p:txBody>
          <a:bodyPr wrap="square">
            <a:spAutoFit/>
          </a:bodyPr>
          <a:lstStyle/>
          <a:p>
            <a:pPr>
              <a:lnSpc>
                <a:spcPct val="120000"/>
              </a:lnSpc>
            </a:pPr>
            <a:r>
              <a:rPr lang="en-US" altLang="zh-CN" sz="2400" dirty="0">
                <a:latin typeface="Arial" panose="020B0604020202020204" pitchFamily="34" charset="0"/>
                <a:cs typeface="Arial" panose="020B0604020202020204" pitchFamily="34" charset="0"/>
              </a:rPr>
              <a:t>Interaction through a function call is faster than message-based communication</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524330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Dynamic Reprogramming</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sz="2400" i="1" dirty="0">
                <a:solidFill>
                  <a:srgbClr val="FF0000"/>
                </a:solidFill>
                <a:latin typeface="Arial" panose="020B0604020202020204" pitchFamily="34" charset="0"/>
                <a:cs typeface="Arial" panose="020B0604020202020204" pitchFamily="34" charset="0"/>
              </a:rPr>
              <a:t>Five basic features </a:t>
            </a:r>
            <a:r>
              <a:rPr lang="en-US" altLang="zh-CN" sz="2400" dirty="0">
                <a:latin typeface="Arial" panose="020B0604020202020204" pitchFamily="34" charset="0"/>
                <a:cs typeface="Arial" panose="020B0604020202020204" pitchFamily="34" charset="0"/>
              </a:rPr>
              <a:t>enable SOS to support dynamic reprogramming</a:t>
            </a:r>
          </a:p>
          <a:p>
            <a:pPr lvl="1">
              <a:lnSpc>
                <a:spcPct val="120000"/>
              </a:lnSpc>
            </a:pPr>
            <a:r>
              <a:rPr lang="en-US" altLang="zh-CN" sz="2000" dirty="0">
                <a:latin typeface="Arial" panose="020B0604020202020204" pitchFamily="34" charset="0"/>
                <a:cs typeface="Arial" panose="020B0604020202020204" pitchFamily="34" charset="0"/>
              </a:rPr>
              <a:t>modules are </a:t>
            </a:r>
            <a:r>
              <a:rPr lang="en-US" altLang="zh-CN" sz="2000" i="1" dirty="0">
                <a:solidFill>
                  <a:srgbClr val="FF0000"/>
                </a:solidFill>
                <a:latin typeface="Arial" panose="020B0604020202020204" pitchFamily="34" charset="0"/>
                <a:cs typeface="Arial" panose="020B0604020202020204" pitchFamily="34" charset="0"/>
              </a:rPr>
              <a:t>position independent binaries</a:t>
            </a:r>
          </a:p>
          <a:p>
            <a:pPr lvl="2">
              <a:lnSpc>
                <a:spcPct val="120000"/>
              </a:lnSpc>
            </a:pPr>
            <a:r>
              <a:rPr lang="en-US" altLang="zh-CN" dirty="0">
                <a:latin typeface="Arial" panose="020B0604020202020204" pitchFamily="34" charset="0"/>
                <a:cs typeface="Arial" panose="020B0604020202020204" pitchFamily="34" charset="0"/>
              </a:rPr>
              <a:t>they use relative addresses rather than absolute addresses ---- they are re-locatable</a:t>
            </a:r>
          </a:p>
          <a:p>
            <a:pPr lvl="1">
              <a:lnSpc>
                <a:spcPct val="120000"/>
              </a:lnSpc>
            </a:pPr>
            <a:r>
              <a:rPr lang="en-US" altLang="zh-CN" sz="2000" dirty="0">
                <a:latin typeface="Arial" panose="020B0604020202020204" pitchFamily="34" charset="0"/>
                <a:cs typeface="Arial" panose="020B0604020202020204" pitchFamily="34" charset="0"/>
              </a:rPr>
              <a:t>every SOS module implements two types of handlers – the </a:t>
            </a:r>
            <a:r>
              <a:rPr lang="en-US" altLang="zh-CN" sz="2000" i="1" dirty="0" err="1">
                <a:solidFill>
                  <a:srgbClr val="FF0000"/>
                </a:solidFill>
                <a:latin typeface="Arial" panose="020B0604020202020204" pitchFamily="34" charset="0"/>
                <a:cs typeface="Arial" panose="020B0604020202020204" pitchFamily="34" charset="0"/>
              </a:rPr>
              <a:t>init</a:t>
            </a:r>
            <a:r>
              <a:rPr lang="en-US" altLang="zh-CN" sz="2000" i="1" dirty="0">
                <a:solidFill>
                  <a:srgbClr val="FF0000"/>
                </a:solidFill>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and </a:t>
            </a:r>
            <a:r>
              <a:rPr lang="en-US" altLang="zh-CN" sz="2000" i="1" dirty="0">
                <a:solidFill>
                  <a:srgbClr val="FF0000"/>
                </a:solidFill>
                <a:latin typeface="Arial" panose="020B0604020202020204" pitchFamily="34" charset="0"/>
                <a:cs typeface="Arial" panose="020B0604020202020204" pitchFamily="34" charset="0"/>
              </a:rPr>
              <a:t>final</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message handlers</a:t>
            </a:r>
          </a:p>
          <a:p>
            <a:pPr lvl="2">
              <a:lnSpc>
                <a:spcPct val="120000"/>
              </a:lnSpc>
            </a:pPr>
            <a:r>
              <a:rPr lang="en-US" altLang="zh-CN" dirty="0">
                <a:latin typeface="Arial" panose="020B0604020202020204" pitchFamily="34" charset="0"/>
                <a:cs typeface="Arial" panose="020B0604020202020204" pitchFamily="34" charset="0"/>
              </a:rPr>
              <a:t>the </a:t>
            </a:r>
            <a:r>
              <a:rPr lang="en-US" altLang="zh-CN" i="1" dirty="0" err="1">
                <a:latin typeface="Arial" panose="020B0604020202020204" pitchFamily="34" charset="0"/>
                <a:cs typeface="Arial" panose="020B0604020202020204" pitchFamily="34" charset="0"/>
              </a:rPr>
              <a:t>init</a:t>
            </a:r>
            <a:r>
              <a:rPr lang="en-US" altLang="zh-CN" i="1"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message handler - to set the </a:t>
            </a:r>
            <a:r>
              <a:rPr lang="en-US" altLang="zh-CN" dirty="0" err="1">
                <a:latin typeface="Arial" panose="020B0604020202020204" pitchFamily="34" charset="0"/>
                <a:cs typeface="Arial" panose="020B0604020202020204" pitchFamily="34" charset="0"/>
              </a:rPr>
              <a:t>moduleʼs</a:t>
            </a:r>
            <a:r>
              <a:rPr lang="en-US" altLang="zh-CN" dirty="0">
                <a:latin typeface="Arial" panose="020B0604020202020204" pitchFamily="34" charset="0"/>
                <a:cs typeface="Arial" panose="020B0604020202020204" pitchFamily="34" charset="0"/>
              </a:rPr>
              <a:t> initial state</a:t>
            </a:r>
          </a:p>
          <a:p>
            <a:pPr lvl="2">
              <a:lnSpc>
                <a:spcPct val="120000"/>
              </a:lnSpc>
            </a:pPr>
            <a:r>
              <a:rPr lang="en-US" altLang="zh-CN" dirty="0">
                <a:latin typeface="Arial" panose="020B0604020202020204" pitchFamily="34" charset="0"/>
                <a:cs typeface="Arial" panose="020B0604020202020204" pitchFamily="34" charset="0"/>
              </a:rPr>
              <a:t>the </a:t>
            </a:r>
            <a:r>
              <a:rPr lang="en-US" altLang="zh-CN" i="1" dirty="0">
                <a:latin typeface="Arial" panose="020B0604020202020204" pitchFamily="34" charset="0"/>
                <a:cs typeface="Arial" panose="020B0604020202020204" pitchFamily="34" charset="0"/>
              </a:rPr>
              <a:t>final </a:t>
            </a:r>
            <a:r>
              <a:rPr lang="en-US" altLang="zh-CN" dirty="0">
                <a:latin typeface="Arial" panose="020B0604020202020204" pitchFamily="34" charset="0"/>
                <a:cs typeface="Arial" panose="020B0604020202020204" pitchFamily="34" charset="0"/>
              </a:rPr>
              <a:t>message handler - to release all resources the module owns and to enable the module to exit the system gracefully</a:t>
            </a:r>
          </a:p>
          <a:p>
            <a:pPr lvl="2">
              <a:lnSpc>
                <a:spcPct val="120000"/>
              </a:lnSpc>
            </a:pPr>
            <a:r>
              <a:rPr lang="en-US" altLang="zh-CN" dirty="0">
                <a:latin typeface="Arial" panose="020B0604020202020204" pitchFamily="34" charset="0"/>
                <a:cs typeface="Arial" panose="020B0604020202020204" pitchFamily="34" charset="0"/>
              </a:rPr>
              <a:t>after the </a:t>
            </a:r>
            <a:r>
              <a:rPr lang="en-US" altLang="zh-CN" i="1" dirty="0">
                <a:latin typeface="Arial" panose="020B0604020202020204" pitchFamily="34" charset="0"/>
                <a:cs typeface="Arial" panose="020B0604020202020204" pitchFamily="34" charset="0"/>
              </a:rPr>
              <a:t>final </a:t>
            </a:r>
            <a:r>
              <a:rPr lang="en-US" altLang="zh-CN" dirty="0">
                <a:latin typeface="Arial" panose="020B0604020202020204" pitchFamily="34" charset="0"/>
                <a:cs typeface="Arial" panose="020B0604020202020204" pitchFamily="34" charset="0"/>
              </a:rPr>
              <a:t>message, the kernel performs garbage collection</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094885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Dynamic Reprogramming</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85927"/>
            <a:ext cx="10515600" cy="5032376"/>
          </a:xfrm>
        </p:spPr>
        <p:txBody>
          <a:bodyPr>
            <a:normAutofit fontScale="92500" lnSpcReduction="10000"/>
          </a:bodyPr>
          <a:lstStyle/>
          <a:p>
            <a:pPr>
              <a:lnSpc>
                <a:spcPct val="130000"/>
              </a:lnSpc>
            </a:pPr>
            <a:r>
              <a:rPr lang="en-US" altLang="zh-CN" sz="2600" dirty="0">
                <a:latin typeface="Arial" panose="020B0604020202020204" pitchFamily="34" charset="0"/>
                <a:cs typeface="Arial" panose="020B0604020202020204" pitchFamily="34" charset="0"/>
              </a:rPr>
              <a:t>SOS </a:t>
            </a:r>
            <a:r>
              <a:rPr lang="en-US" altLang="zh-CN" sz="2600" i="1" dirty="0">
                <a:solidFill>
                  <a:srgbClr val="FF0000"/>
                </a:solidFill>
                <a:latin typeface="Arial" panose="020B0604020202020204" pitchFamily="34" charset="0"/>
                <a:cs typeface="Arial" panose="020B0604020202020204" pitchFamily="34" charset="0"/>
              </a:rPr>
              <a:t>uses a linker script </a:t>
            </a:r>
            <a:r>
              <a:rPr lang="en-US" altLang="zh-CN" sz="2600" dirty="0">
                <a:latin typeface="Arial" panose="020B0604020202020204" pitchFamily="34" charset="0"/>
                <a:cs typeface="Arial" panose="020B0604020202020204" pitchFamily="34" charset="0"/>
              </a:rPr>
              <a:t>to place the </a:t>
            </a:r>
            <a:r>
              <a:rPr lang="en-US" altLang="zh-CN" sz="2600" i="1" dirty="0" err="1">
                <a:latin typeface="Arial" panose="020B0604020202020204" pitchFamily="34" charset="0"/>
                <a:cs typeface="Arial" panose="020B0604020202020204" pitchFamily="34" charset="0"/>
              </a:rPr>
              <a:t>init</a:t>
            </a:r>
            <a:r>
              <a:rPr lang="en-US" altLang="zh-CN" sz="2600" i="1" dirty="0">
                <a:latin typeface="Arial" panose="020B0604020202020204" pitchFamily="34" charset="0"/>
                <a:cs typeface="Arial" panose="020B0604020202020204" pitchFamily="34" charset="0"/>
              </a:rPr>
              <a:t> </a:t>
            </a:r>
            <a:r>
              <a:rPr lang="en-US" altLang="zh-CN" sz="2600" dirty="0">
                <a:latin typeface="Arial" panose="020B0604020202020204" pitchFamily="34" charset="0"/>
                <a:cs typeface="Arial" panose="020B0604020202020204" pitchFamily="34" charset="0"/>
              </a:rPr>
              <a:t>handler of a module at a known offset in the binary</a:t>
            </a:r>
          </a:p>
          <a:p>
            <a:pPr lvl="1">
              <a:lnSpc>
                <a:spcPct val="130000"/>
              </a:lnSpc>
            </a:pPr>
            <a:r>
              <a:rPr lang="en-US" altLang="zh-CN" sz="2200" dirty="0">
                <a:latin typeface="Arial" panose="020B0604020202020204" pitchFamily="34" charset="0"/>
                <a:cs typeface="Arial" panose="020B0604020202020204" pitchFamily="34" charset="0"/>
              </a:rPr>
              <a:t>enables easy linking during module insertion</a:t>
            </a:r>
          </a:p>
          <a:p>
            <a:pPr>
              <a:lnSpc>
                <a:spcPct val="130000"/>
              </a:lnSpc>
            </a:pPr>
            <a:r>
              <a:rPr lang="en-US" altLang="zh-CN" sz="2600" dirty="0">
                <a:latin typeface="Arial" panose="020B0604020202020204" pitchFamily="34" charset="0"/>
                <a:cs typeface="Arial" panose="020B0604020202020204" pitchFamily="34" charset="0"/>
              </a:rPr>
              <a:t>SOS keeps the state of a module </a:t>
            </a:r>
            <a:r>
              <a:rPr lang="en-US" altLang="zh-CN" sz="2600" i="1" dirty="0">
                <a:solidFill>
                  <a:srgbClr val="FF0000"/>
                </a:solidFill>
                <a:latin typeface="Arial" panose="020B0604020202020204" pitchFamily="34" charset="0"/>
                <a:cs typeface="Arial" panose="020B0604020202020204" pitchFamily="34" charset="0"/>
              </a:rPr>
              <a:t>outside</a:t>
            </a:r>
            <a:r>
              <a:rPr lang="en-US" altLang="zh-CN" sz="2600" i="1" dirty="0">
                <a:latin typeface="Arial" panose="020B0604020202020204" pitchFamily="34" charset="0"/>
                <a:cs typeface="Arial" panose="020B0604020202020204" pitchFamily="34" charset="0"/>
              </a:rPr>
              <a:t> </a:t>
            </a:r>
            <a:r>
              <a:rPr lang="en-US" altLang="zh-CN" sz="2600" dirty="0">
                <a:latin typeface="Arial" panose="020B0604020202020204" pitchFamily="34" charset="0"/>
                <a:cs typeface="Arial" panose="020B0604020202020204" pitchFamily="34" charset="0"/>
              </a:rPr>
              <a:t>of it</a:t>
            </a:r>
          </a:p>
          <a:p>
            <a:pPr lvl="1">
              <a:lnSpc>
                <a:spcPct val="130000"/>
              </a:lnSpc>
            </a:pPr>
            <a:r>
              <a:rPr lang="en-US" altLang="zh-CN" sz="2200" dirty="0">
                <a:latin typeface="Arial" panose="020B0604020202020204" pitchFamily="34" charset="0"/>
                <a:cs typeface="Arial" panose="020B0604020202020204" pitchFamily="34" charset="0"/>
              </a:rPr>
              <a:t>enables the newly inserted module to inherit the state information of the module it replaces</a:t>
            </a:r>
          </a:p>
          <a:p>
            <a:pPr>
              <a:lnSpc>
                <a:spcPct val="130000"/>
              </a:lnSpc>
            </a:pPr>
            <a:r>
              <a:rPr lang="en-US" altLang="zh-CN" sz="2600" dirty="0">
                <a:latin typeface="Arial" panose="020B0604020202020204" pitchFamily="34" charset="0"/>
                <a:cs typeface="Arial" panose="020B0604020202020204" pitchFamily="34" charset="0"/>
              </a:rPr>
              <a:t>Whenever a module is inserted, SOS generates and </a:t>
            </a:r>
            <a:r>
              <a:rPr lang="en-US" altLang="zh-CN" sz="2600" i="1" dirty="0">
                <a:solidFill>
                  <a:srgbClr val="FF0000"/>
                </a:solidFill>
                <a:latin typeface="Arial" panose="020B0604020202020204" pitchFamily="34" charset="0"/>
                <a:cs typeface="Arial" panose="020B0604020202020204" pitchFamily="34" charset="0"/>
              </a:rPr>
              <a:t>keeps</a:t>
            </a:r>
            <a:r>
              <a:rPr lang="en-US" altLang="zh-CN" sz="2600" i="1" dirty="0">
                <a:latin typeface="Arial" panose="020B0604020202020204" pitchFamily="34" charset="0"/>
                <a:cs typeface="Arial" panose="020B0604020202020204" pitchFamily="34" charset="0"/>
              </a:rPr>
              <a:t> </a:t>
            </a:r>
            <a:r>
              <a:rPr lang="en-US" altLang="zh-CN" sz="2600" dirty="0">
                <a:latin typeface="Arial" panose="020B0604020202020204" pitchFamily="34" charset="0"/>
                <a:cs typeface="Arial" panose="020B0604020202020204" pitchFamily="34" charset="0"/>
              </a:rPr>
              <a:t>metadata that </a:t>
            </a:r>
            <a:r>
              <a:rPr lang="en-US" altLang="zh-CN" sz="2600" i="1" dirty="0">
                <a:solidFill>
                  <a:srgbClr val="FF0000"/>
                </a:solidFill>
                <a:latin typeface="Arial" panose="020B0604020202020204" pitchFamily="34" charset="0"/>
                <a:cs typeface="Arial" panose="020B0604020202020204" pitchFamily="34" charset="0"/>
              </a:rPr>
              <a:t>contains information</a:t>
            </a:r>
            <a:r>
              <a:rPr lang="en-US" altLang="zh-CN" sz="2600" dirty="0">
                <a:latin typeface="Arial" panose="020B0604020202020204" pitchFamily="34" charset="0"/>
                <a:cs typeface="Arial" panose="020B0604020202020204" pitchFamily="34" charset="0"/>
              </a:rPr>
              <a:t>: </a:t>
            </a:r>
          </a:p>
          <a:p>
            <a:pPr lvl="1">
              <a:lnSpc>
                <a:spcPct val="130000"/>
              </a:lnSpc>
            </a:pPr>
            <a:r>
              <a:rPr lang="en-US" altLang="zh-CN" sz="2200" dirty="0">
                <a:latin typeface="Arial" panose="020B0604020202020204" pitchFamily="34" charset="0"/>
                <a:cs typeface="Arial" panose="020B0604020202020204" pitchFamily="34" charset="0"/>
              </a:rPr>
              <a:t>the ID of the module</a:t>
            </a:r>
          </a:p>
          <a:p>
            <a:pPr lvl="1">
              <a:lnSpc>
                <a:spcPct val="130000"/>
              </a:lnSpc>
            </a:pPr>
            <a:r>
              <a:rPr lang="en-US" altLang="zh-CN" sz="2200" dirty="0">
                <a:latin typeface="Arial" panose="020B0604020202020204" pitchFamily="34" charset="0"/>
                <a:cs typeface="Arial" panose="020B0604020202020204" pitchFamily="34" charset="0"/>
              </a:rPr>
              <a:t>the absolute address of the </a:t>
            </a:r>
            <a:r>
              <a:rPr lang="en-US" altLang="zh-CN" sz="2200" i="1" dirty="0" err="1">
                <a:latin typeface="Arial" panose="020B0604020202020204" pitchFamily="34" charset="0"/>
                <a:cs typeface="Arial" panose="020B0604020202020204" pitchFamily="34" charset="0"/>
              </a:rPr>
              <a:t>init</a:t>
            </a:r>
            <a:r>
              <a:rPr lang="en-US" altLang="zh-CN" sz="2200" i="1" dirty="0">
                <a:latin typeface="Arial" panose="020B0604020202020204" pitchFamily="34" charset="0"/>
                <a:cs typeface="Arial" panose="020B0604020202020204" pitchFamily="34" charset="0"/>
              </a:rPr>
              <a:t> </a:t>
            </a:r>
            <a:r>
              <a:rPr lang="en-US" altLang="zh-CN" sz="2200" dirty="0">
                <a:latin typeface="Arial" panose="020B0604020202020204" pitchFamily="34" charset="0"/>
                <a:cs typeface="Arial" panose="020B0604020202020204" pitchFamily="34" charset="0"/>
              </a:rPr>
              <a:t>handler</a:t>
            </a:r>
          </a:p>
          <a:p>
            <a:pPr lvl="1">
              <a:lnSpc>
                <a:spcPct val="130000"/>
              </a:lnSpc>
            </a:pPr>
            <a:r>
              <a:rPr lang="en-US" altLang="zh-CN" sz="2200" dirty="0">
                <a:latin typeface="Arial" panose="020B0604020202020204" pitchFamily="34" charset="0"/>
                <a:cs typeface="Arial" panose="020B0604020202020204" pitchFamily="34" charset="0"/>
              </a:rPr>
              <a:t>a pointer to the dynamic memory holding the module state</a:t>
            </a:r>
            <a:endParaRPr lang="zh-CN" alt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656661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Dynamic Reprogramming</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515600" cy="4351338"/>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In SOS, dynamic module replacement (update) takes place in </a:t>
            </a:r>
            <a:r>
              <a:rPr lang="en-US" altLang="zh-CN" sz="2400" i="1" dirty="0">
                <a:solidFill>
                  <a:srgbClr val="FF0000"/>
                </a:solidFill>
                <a:latin typeface="Arial" panose="020B0604020202020204" pitchFamily="34" charset="0"/>
                <a:cs typeface="Arial" panose="020B0604020202020204" pitchFamily="34" charset="0"/>
              </a:rPr>
              <a:t>three steps</a:t>
            </a:r>
            <a:r>
              <a:rPr lang="en-US" altLang="zh-CN" sz="2400" dirty="0">
                <a:latin typeface="Arial" panose="020B0604020202020204" pitchFamily="34" charset="0"/>
                <a:cs typeface="Arial" panose="020B0604020202020204" pitchFamily="34" charset="0"/>
              </a:rPr>
              <a:t>:</a:t>
            </a:r>
          </a:p>
          <a:p>
            <a:pPr lvl="1">
              <a:lnSpc>
                <a:spcPct val="120000"/>
              </a:lnSpc>
            </a:pPr>
            <a:r>
              <a:rPr lang="en-US" altLang="zh-CN" sz="2000" dirty="0">
                <a:latin typeface="Arial" panose="020B0604020202020204" pitchFamily="34" charset="0"/>
                <a:cs typeface="Arial" panose="020B0604020202020204" pitchFamily="34" charset="0"/>
              </a:rPr>
              <a:t>a code distribution protocol </a:t>
            </a:r>
            <a:r>
              <a:rPr lang="en-US" altLang="zh-CN" sz="2000" i="1" dirty="0">
                <a:solidFill>
                  <a:srgbClr val="FF0000"/>
                </a:solidFill>
                <a:latin typeface="Arial" panose="020B0604020202020204" pitchFamily="34" charset="0"/>
                <a:cs typeface="Arial" panose="020B0604020202020204" pitchFamily="34" charset="0"/>
              </a:rPr>
              <a:t>advertises</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the new module in the network</a:t>
            </a:r>
          </a:p>
          <a:p>
            <a:pPr lvl="1">
              <a:lnSpc>
                <a:spcPct val="120000"/>
              </a:lnSpc>
            </a:pPr>
            <a:r>
              <a:rPr lang="en-US" altLang="zh-CN" sz="2000" dirty="0">
                <a:latin typeface="Arial" panose="020B0604020202020204" pitchFamily="34" charset="0"/>
                <a:cs typeface="Arial" panose="020B0604020202020204" pitchFamily="34" charset="0"/>
              </a:rPr>
              <a:t>the protocol </a:t>
            </a:r>
            <a:r>
              <a:rPr lang="en-US" altLang="zh-CN" sz="2000" i="1" dirty="0">
                <a:solidFill>
                  <a:srgbClr val="FF0000"/>
                </a:solidFill>
                <a:latin typeface="Arial" panose="020B0604020202020204" pitchFamily="34" charset="0"/>
                <a:cs typeface="Arial" panose="020B0604020202020204" pitchFamily="34" charset="0"/>
              </a:rPr>
              <a:t>proceeds</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with downloading the module and examines the metadata</a:t>
            </a:r>
          </a:p>
          <a:p>
            <a:pPr lvl="2">
              <a:lnSpc>
                <a:spcPct val="120000"/>
              </a:lnSpc>
            </a:pPr>
            <a:r>
              <a:rPr lang="en-US" altLang="zh-CN" dirty="0">
                <a:latin typeface="Arial" panose="020B0604020202020204" pitchFamily="34" charset="0"/>
                <a:cs typeface="Arial" panose="020B0604020202020204" pitchFamily="34" charset="0"/>
              </a:rPr>
              <a:t>the metadata contains the size of the memory required to </a:t>
            </a:r>
            <a:r>
              <a:rPr lang="en-US" altLang="zh-CN" i="1" dirty="0">
                <a:solidFill>
                  <a:srgbClr val="FF0000"/>
                </a:solidFill>
                <a:latin typeface="Arial" panose="020B0604020202020204" pitchFamily="34" charset="0"/>
                <a:cs typeface="Arial" panose="020B0604020202020204" pitchFamily="34" charset="0"/>
              </a:rPr>
              <a:t>store the local state of the module</a:t>
            </a:r>
            <a:endParaRPr lang="en-US" altLang="zh-CN" dirty="0">
              <a:solidFill>
                <a:srgbClr val="FF0000"/>
              </a:solidFill>
              <a:latin typeface="Arial" panose="020B0604020202020204" pitchFamily="34" charset="0"/>
              <a:cs typeface="Arial" panose="020B0604020202020204" pitchFamily="34" charset="0"/>
            </a:endParaRPr>
          </a:p>
          <a:p>
            <a:pPr lvl="2">
              <a:lnSpc>
                <a:spcPct val="120000"/>
              </a:lnSpc>
            </a:pPr>
            <a:r>
              <a:rPr lang="en-US" altLang="zh-CN" dirty="0">
                <a:latin typeface="Arial" panose="020B0604020202020204" pitchFamily="34" charset="0"/>
                <a:cs typeface="Arial" panose="020B0604020202020204" pitchFamily="34" charset="0"/>
              </a:rPr>
              <a:t>if a node does not have sufficient </a:t>
            </a:r>
            <a:r>
              <a:rPr lang="en-US" altLang="zh-CN" i="1" dirty="0">
                <a:latin typeface="Arial" panose="020B0604020202020204" pitchFamily="34" charset="0"/>
                <a:cs typeface="Arial" panose="020B0604020202020204" pitchFamily="34" charset="0"/>
              </a:rPr>
              <a:t>RAM, </a:t>
            </a:r>
            <a:r>
              <a:rPr lang="en-US" altLang="zh-CN" dirty="0">
                <a:latin typeface="Arial" panose="020B0604020202020204" pitchFamily="34" charset="0"/>
                <a:cs typeface="Arial" panose="020B0604020202020204" pitchFamily="34" charset="0"/>
              </a:rPr>
              <a:t>module insertion is immediately </a:t>
            </a:r>
            <a:r>
              <a:rPr lang="en-US" altLang="zh-CN" i="1" dirty="0">
                <a:solidFill>
                  <a:srgbClr val="FF0000"/>
                </a:solidFill>
                <a:latin typeface="Arial" panose="020B0604020202020204" pitchFamily="34" charset="0"/>
                <a:cs typeface="Arial" panose="020B0604020202020204" pitchFamily="34" charset="0"/>
              </a:rPr>
              <a:t>aborted</a:t>
            </a:r>
            <a:endParaRPr lang="en-US" altLang="zh-CN" dirty="0">
              <a:solidFill>
                <a:srgbClr val="FF0000"/>
              </a:solidFill>
              <a:latin typeface="Arial" panose="020B0604020202020204" pitchFamily="34" charset="0"/>
              <a:cs typeface="Arial" panose="020B0604020202020204" pitchFamily="34" charset="0"/>
            </a:endParaRPr>
          </a:p>
          <a:p>
            <a:pPr lvl="1">
              <a:lnSpc>
                <a:spcPct val="120000"/>
              </a:lnSpc>
            </a:pPr>
            <a:r>
              <a:rPr lang="en-US" altLang="zh-CN" sz="2000" dirty="0">
                <a:latin typeface="Arial" panose="020B0604020202020204" pitchFamily="34" charset="0"/>
                <a:cs typeface="Arial" panose="020B0604020202020204" pitchFamily="34" charset="0"/>
              </a:rPr>
              <a:t>if everything is correct, module insertion takes place and the kernel invokes the handler by </a:t>
            </a:r>
            <a:r>
              <a:rPr lang="en-US" altLang="zh-CN" sz="2000" i="1" dirty="0">
                <a:solidFill>
                  <a:srgbClr val="FF0000"/>
                </a:solidFill>
                <a:latin typeface="Arial" panose="020B0604020202020204" pitchFamily="34" charset="0"/>
                <a:cs typeface="Arial" panose="020B0604020202020204" pitchFamily="34" charset="0"/>
              </a:rPr>
              <a:t>scheduling</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an </a:t>
            </a:r>
            <a:r>
              <a:rPr lang="en-US" altLang="zh-CN" sz="2000" i="1" dirty="0" err="1">
                <a:solidFill>
                  <a:srgbClr val="FF0000"/>
                </a:solidFill>
                <a:latin typeface="Arial" panose="020B0604020202020204" pitchFamily="34" charset="0"/>
                <a:cs typeface="Arial" panose="020B0604020202020204" pitchFamily="34" charset="0"/>
              </a:rPr>
              <a:t>init</a:t>
            </a:r>
            <a:r>
              <a:rPr lang="en-US" altLang="zh-CN" sz="2000" i="1" dirty="0">
                <a:solidFill>
                  <a:srgbClr val="FF0000"/>
                </a:solidFill>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message for the module</a:t>
            </a:r>
            <a:r>
              <a:rPr lang="zh-CN" alt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7876272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Contiki</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4797117"/>
          </a:xfrm>
        </p:spPr>
        <p:txBody>
          <a:bodyPr>
            <a:normAutofit lnSpcReduction="10000"/>
          </a:bodyPr>
          <a:lstStyle/>
          <a:p>
            <a:r>
              <a:rPr lang="en-US" altLang="zh-CN" sz="2400" dirty="0">
                <a:latin typeface="Arial" panose="020B0604020202020204" pitchFamily="34" charset="0"/>
                <a:cs typeface="Arial" panose="020B0604020202020204" pitchFamily="34" charset="0"/>
              </a:rPr>
              <a:t>an </a:t>
            </a:r>
            <a:r>
              <a:rPr lang="en-US" altLang="zh-CN" sz="2400" dirty="0">
                <a:solidFill>
                  <a:srgbClr val="FF0000"/>
                </a:solidFill>
                <a:latin typeface="Arial" panose="020B0604020202020204" pitchFamily="34" charset="0"/>
                <a:cs typeface="Arial" panose="020B0604020202020204" pitchFamily="34" charset="0"/>
              </a:rPr>
              <a:t>event-driven</a:t>
            </a:r>
            <a:r>
              <a:rPr lang="en-US" altLang="zh-CN" sz="2400" dirty="0">
                <a:latin typeface="Arial" panose="020B0604020202020204" pitchFamily="34" charset="0"/>
                <a:cs typeface="Arial" panose="020B0604020202020204" pitchFamily="34" charset="0"/>
              </a:rPr>
              <a:t> kernel but </a:t>
            </a:r>
            <a:r>
              <a:rPr lang="en-US" altLang="zh-CN" sz="2400" dirty="0">
                <a:solidFill>
                  <a:srgbClr val="FF0000"/>
                </a:solidFill>
                <a:latin typeface="Arial" panose="020B0604020202020204" pitchFamily="34" charset="0"/>
                <a:cs typeface="Arial" panose="020B0604020202020204" pitchFamily="34" charset="0"/>
              </a:rPr>
              <a:t>multi-threading</a:t>
            </a:r>
            <a:r>
              <a:rPr lang="en-US" altLang="zh-CN" sz="2400" dirty="0">
                <a:latin typeface="Arial" panose="020B0604020202020204" pitchFamily="34" charset="0"/>
                <a:cs typeface="Arial" panose="020B0604020202020204" pitchFamily="34" charset="0"/>
              </a:rPr>
              <a:t> with a dynamic linking strategy</a:t>
            </a:r>
          </a:p>
          <a:p>
            <a:endParaRPr lang="en-US" altLang="zh-CN" sz="2400" dirty="0">
              <a:latin typeface="Arial" panose="020B0604020202020204" pitchFamily="34" charset="0"/>
              <a:cs typeface="Arial" panose="020B0604020202020204" pitchFamily="34" charset="0"/>
            </a:endParaRPr>
          </a:p>
          <a:p>
            <a:r>
              <a:rPr lang="en-US" altLang="zh-CN" sz="2400" dirty="0">
                <a:latin typeface="Arial" panose="020B0604020202020204" pitchFamily="34" charset="0"/>
                <a:cs typeface="Arial" panose="020B0604020202020204" pitchFamily="34" charset="0"/>
              </a:rPr>
              <a:t>separate the kernel from processes</a:t>
            </a:r>
          </a:p>
          <a:p>
            <a:endParaRPr lang="en-US" altLang="zh-CN" sz="2400" dirty="0">
              <a:latin typeface="Arial" panose="020B0604020202020204" pitchFamily="34" charset="0"/>
              <a:cs typeface="Arial" panose="020B0604020202020204" pitchFamily="34" charset="0"/>
            </a:endParaRPr>
          </a:p>
          <a:p>
            <a:r>
              <a:rPr lang="en-US" altLang="zh-CN" sz="2400" dirty="0">
                <a:latin typeface="Arial" panose="020B0604020202020204" pitchFamily="34" charset="0"/>
                <a:cs typeface="Arial" panose="020B0604020202020204" pitchFamily="34" charset="0"/>
              </a:rPr>
              <a:t>communication of services through the kernel by </a:t>
            </a:r>
            <a:r>
              <a:rPr lang="en-US" altLang="zh-CN" sz="2400" dirty="0">
                <a:solidFill>
                  <a:srgbClr val="FF0000"/>
                </a:solidFill>
                <a:latin typeface="Arial" panose="020B0604020202020204" pitchFamily="34" charset="0"/>
                <a:cs typeface="Arial" panose="020B0604020202020204" pitchFamily="34" charset="0"/>
              </a:rPr>
              <a:t>posting events</a:t>
            </a:r>
          </a:p>
          <a:p>
            <a:endParaRPr lang="en-US" altLang="zh-CN" sz="2400" dirty="0">
              <a:solidFill>
                <a:srgbClr val="FF0000"/>
              </a:solidFill>
              <a:latin typeface="Arial" panose="020B0604020202020204" pitchFamily="34" charset="0"/>
              <a:cs typeface="Arial" panose="020B0604020202020204" pitchFamily="34" charset="0"/>
            </a:endParaRPr>
          </a:p>
          <a:p>
            <a:r>
              <a:rPr lang="en-US" altLang="zh-CN" sz="2400" dirty="0">
                <a:latin typeface="Arial" panose="020B0604020202020204" pitchFamily="34" charset="0"/>
                <a:cs typeface="Arial" panose="020B0604020202020204" pitchFamily="34" charset="0"/>
              </a:rPr>
              <a:t>the kernel does </a:t>
            </a:r>
            <a:r>
              <a:rPr lang="en-US" altLang="zh-CN" sz="2400" dirty="0">
                <a:solidFill>
                  <a:srgbClr val="FF0000"/>
                </a:solidFill>
                <a:latin typeface="Arial" panose="020B0604020202020204" pitchFamily="34" charset="0"/>
                <a:cs typeface="Arial" panose="020B0604020202020204" pitchFamily="34" charset="0"/>
              </a:rPr>
              <a:t>not</a:t>
            </a:r>
            <a:r>
              <a:rPr lang="en-US" altLang="zh-CN" sz="2400" dirty="0">
                <a:latin typeface="Arial" panose="020B0604020202020204" pitchFamily="34" charset="0"/>
                <a:cs typeface="Arial" panose="020B0604020202020204" pitchFamily="34" charset="0"/>
              </a:rPr>
              <a:t> provide hardware abstraction</a:t>
            </a:r>
          </a:p>
          <a:p>
            <a:endParaRPr lang="en-US" altLang="zh-CN" sz="2400" dirty="0">
              <a:latin typeface="Arial" panose="020B0604020202020204" pitchFamily="34" charset="0"/>
              <a:cs typeface="Arial" panose="020B0604020202020204" pitchFamily="34" charset="0"/>
            </a:endParaRPr>
          </a:p>
          <a:p>
            <a:r>
              <a:rPr lang="en-US" altLang="zh-CN" sz="2400" dirty="0">
                <a:latin typeface="Arial" panose="020B0604020202020204" pitchFamily="34" charset="0"/>
                <a:cs typeface="Arial" panose="020B0604020202020204" pitchFamily="34" charset="0"/>
              </a:rPr>
              <a:t>device drivers and applications </a:t>
            </a:r>
            <a:r>
              <a:rPr lang="en-US" altLang="zh-CN" sz="2400" dirty="0">
                <a:solidFill>
                  <a:srgbClr val="FF0000"/>
                </a:solidFill>
                <a:latin typeface="Arial" panose="020B0604020202020204" pitchFamily="34" charset="0"/>
                <a:cs typeface="Arial" panose="020B0604020202020204" pitchFamily="34" charset="0"/>
              </a:rPr>
              <a:t>communicate directly </a:t>
            </a:r>
            <a:r>
              <a:rPr lang="en-US" altLang="zh-CN" sz="2400" dirty="0">
                <a:latin typeface="Arial" panose="020B0604020202020204" pitchFamily="34" charset="0"/>
                <a:cs typeface="Arial" panose="020B0604020202020204" pitchFamily="34" charset="0"/>
              </a:rPr>
              <a:t>with the hardware</a:t>
            </a:r>
          </a:p>
          <a:p>
            <a:endParaRPr lang="en-US" altLang="zh-CN" sz="2400" dirty="0">
              <a:latin typeface="Arial" panose="020B0604020202020204" pitchFamily="34" charset="0"/>
              <a:cs typeface="Arial" panose="020B0604020202020204" pitchFamily="34" charset="0"/>
            </a:endParaRPr>
          </a:p>
          <a:p>
            <a:r>
              <a:rPr lang="en-US" altLang="zh-CN" sz="2400" dirty="0">
                <a:latin typeface="Arial" panose="020B0604020202020204" pitchFamily="34" charset="0"/>
                <a:cs typeface="Arial" panose="020B0604020202020204" pitchFamily="34" charset="0"/>
              </a:rPr>
              <a:t>the kernel is </a:t>
            </a:r>
            <a:r>
              <a:rPr lang="en-US" altLang="zh-CN" sz="2400" dirty="0">
                <a:solidFill>
                  <a:srgbClr val="FF0000"/>
                </a:solidFill>
                <a:latin typeface="Arial" panose="020B0604020202020204" pitchFamily="34" charset="0"/>
                <a:cs typeface="Arial" panose="020B0604020202020204" pitchFamily="34" charset="0"/>
              </a:rPr>
              <a:t>easy</a:t>
            </a:r>
            <a:r>
              <a:rPr lang="en-US" altLang="zh-CN" sz="2400" dirty="0">
                <a:latin typeface="Arial" panose="020B0604020202020204" pitchFamily="34" charset="0"/>
                <a:cs typeface="Arial" panose="020B0604020202020204" pitchFamily="34" charset="0"/>
              </a:rPr>
              <a:t> to </a:t>
            </a:r>
            <a:r>
              <a:rPr lang="en-US" altLang="zh-CN" sz="2400" dirty="0">
                <a:solidFill>
                  <a:srgbClr val="FF0000"/>
                </a:solidFill>
                <a:latin typeface="Arial" panose="020B0604020202020204" pitchFamily="34" charset="0"/>
                <a:cs typeface="Arial" panose="020B0604020202020204" pitchFamily="34" charset="0"/>
              </a:rPr>
              <a:t>reprogram</a:t>
            </a:r>
            <a:r>
              <a:rPr lang="en-US" altLang="zh-CN" sz="2400" dirty="0">
                <a:latin typeface="Arial" panose="020B0604020202020204" pitchFamily="34" charset="0"/>
                <a:cs typeface="Arial" panose="020B0604020202020204" pitchFamily="34" charset="0"/>
              </a:rPr>
              <a:t> and it is </a:t>
            </a:r>
            <a:r>
              <a:rPr lang="en-US" altLang="zh-CN" sz="2400" dirty="0">
                <a:solidFill>
                  <a:srgbClr val="FF0000"/>
                </a:solidFill>
                <a:latin typeface="Arial" panose="020B0604020202020204" pitchFamily="34" charset="0"/>
                <a:cs typeface="Arial" panose="020B0604020202020204" pitchFamily="34" charset="0"/>
              </a:rPr>
              <a:t>easy</a:t>
            </a:r>
            <a:r>
              <a:rPr lang="en-US" altLang="zh-CN" sz="2400" dirty="0">
                <a:latin typeface="Arial" panose="020B0604020202020204" pitchFamily="34" charset="0"/>
                <a:cs typeface="Arial" panose="020B0604020202020204" pitchFamily="34" charset="0"/>
              </a:rPr>
              <a:t> to </a:t>
            </a:r>
            <a:r>
              <a:rPr lang="en-US" altLang="zh-CN" sz="2400" dirty="0">
                <a:solidFill>
                  <a:srgbClr val="FF0000"/>
                </a:solidFill>
                <a:latin typeface="Arial" panose="020B0604020202020204" pitchFamily="34" charset="0"/>
                <a:cs typeface="Arial" panose="020B0604020202020204" pitchFamily="34" charset="0"/>
              </a:rPr>
              <a:t>replace</a:t>
            </a:r>
            <a:r>
              <a:rPr lang="en-US" altLang="zh-CN" sz="2400" dirty="0">
                <a:latin typeface="Arial" panose="020B0604020202020204" pitchFamily="34" charset="0"/>
                <a:cs typeface="Arial" panose="020B0604020202020204" pitchFamily="34" charset="0"/>
              </a:rPr>
              <a:t> services</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865703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Contiki</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1265730" y="2141537"/>
            <a:ext cx="9291221" cy="4351338"/>
          </a:xfrm>
        </p:spPr>
        <p:txBody>
          <a:bodyPr>
            <a:normAutofit fontScale="92500" lnSpcReduction="20000"/>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endParaRPr lang="en-US" altLang="zh-CN" b="1" dirty="0"/>
          </a:p>
          <a:p>
            <a:pPr marL="0" indent="0" algn="ctr">
              <a:lnSpc>
                <a:spcPct val="120000"/>
              </a:lnSpc>
              <a:buNone/>
            </a:pPr>
            <a:r>
              <a:rPr lang="en-US" altLang="zh-CN" sz="2200" dirty="0">
                <a:latin typeface="Arial" panose="020B0604020202020204" pitchFamily="34" charset="0"/>
                <a:cs typeface="Arial" panose="020B0604020202020204" pitchFamily="34" charset="0"/>
              </a:rPr>
              <a:t>The Contiki operating system: the system programs are partitioned into core services and loaded programs</a:t>
            </a:r>
            <a:endParaRPr lang="zh-CN" altLang="en-US" sz="2200" dirty="0">
              <a:latin typeface="Arial" panose="020B0604020202020204" pitchFamily="34" charset="0"/>
              <a:cs typeface="Arial" panose="020B0604020202020204"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1503" y="1818258"/>
            <a:ext cx="8339676" cy="3562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106543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Service Structure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4736977" cy="4351338"/>
          </a:xfrm>
        </p:spPr>
        <p:txBody>
          <a:bodyPr/>
          <a:lstStyle/>
          <a:p>
            <a:pPr>
              <a:lnSpc>
                <a:spcPct val="120000"/>
              </a:lnSpc>
            </a:pPr>
            <a:r>
              <a:rPr lang="en-US" altLang="zh-CN" sz="2400" dirty="0">
                <a:latin typeface="Arial" panose="020B0604020202020204" pitchFamily="34" charset="0"/>
                <a:cs typeface="Arial" panose="020B0604020202020204" pitchFamily="34" charset="0"/>
              </a:rPr>
              <a:t>Contiki OS supports</a:t>
            </a:r>
          </a:p>
          <a:p>
            <a:pPr lvl="1">
              <a:lnSpc>
                <a:spcPct val="120000"/>
              </a:lnSpc>
            </a:pPr>
            <a:r>
              <a:rPr lang="en-US" altLang="zh-CN" sz="2000" dirty="0">
                <a:latin typeface="Arial" panose="020B0604020202020204" pitchFamily="34" charset="0"/>
                <a:cs typeface="Arial" panose="020B0604020202020204" pitchFamily="34" charset="0"/>
              </a:rPr>
              <a:t>dynamic loading</a:t>
            </a:r>
          </a:p>
          <a:p>
            <a:pPr lvl="1">
              <a:lnSpc>
                <a:spcPct val="120000"/>
              </a:lnSpc>
            </a:pPr>
            <a:r>
              <a:rPr lang="en-US" altLang="zh-CN" sz="2000" dirty="0">
                <a:latin typeface="Arial" panose="020B0604020202020204" pitchFamily="34" charset="0"/>
                <a:cs typeface="Arial" panose="020B0604020202020204" pitchFamily="34" charset="0"/>
              </a:rPr>
              <a:t>reconfiguration of services</a:t>
            </a:r>
          </a:p>
          <a:p>
            <a:pPr>
              <a:lnSpc>
                <a:spcPct val="120000"/>
              </a:lnSpc>
            </a:pPr>
            <a:r>
              <a:rPr lang="en-US" altLang="zh-CN" sz="2400" dirty="0">
                <a:latin typeface="Arial" panose="020B0604020202020204" pitchFamily="34" charset="0"/>
                <a:cs typeface="Arial" panose="020B0604020202020204" pitchFamily="34" charset="0"/>
              </a:rPr>
              <a:t>This is achieved by defining</a:t>
            </a:r>
          </a:p>
          <a:p>
            <a:pPr lvl="1">
              <a:lnSpc>
                <a:spcPct val="120000"/>
              </a:lnSpc>
            </a:pPr>
            <a:r>
              <a:rPr lang="en-US" altLang="zh-CN" sz="2000" dirty="0">
                <a:latin typeface="Arial" panose="020B0604020202020204" pitchFamily="34" charset="0"/>
                <a:cs typeface="Arial" panose="020B0604020202020204" pitchFamily="34" charset="0"/>
              </a:rPr>
              <a:t>services</a:t>
            </a:r>
          </a:p>
          <a:p>
            <a:pPr lvl="1">
              <a:lnSpc>
                <a:spcPct val="120000"/>
              </a:lnSpc>
            </a:pPr>
            <a:r>
              <a:rPr lang="en-US" altLang="zh-CN" sz="2000" dirty="0">
                <a:latin typeface="Arial" panose="020B0604020202020204" pitchFamily="34" charset="0"/>
                <a:cs typeface="Arial" panose="020B0604020202020204" pitchFamily="34" charset="0"/>
              </a:rPr>
              <a:t>service interfaces</a:t>
            </a:r>
          </a:p>
          <a:p>
            <a:pPr lvl="1">
              <a:lnSpc>
                <a:spcPct val="120000"/>
              </a:lnSpc>
            </a:pPr>
            <a:r>
              <a:rPr lang="en-US" altLang="zh-CN" sz="2000" dirty="0">
                <a:latin typeface="Arial" panose="020B0604020202020204" pitchFamily="34" charset="0"/>
                <a:cs typeface="Arial" panose="020B0604020202020204" pitchFamily="34" charset="0"/>
              </a:rPr>
              <a:t>service stubs</a:t>
            </a:r>
          </a:p>
          <a:p>
            <a:pPr lvl="1">
              <a:lnSpc>
                <a:spcPct val="120000"/>
              </a:lnSpc>
            </a:pPr>
            <a:r>
              <a:rPr lang="en-US" altLang="zh-CN" sz="2000" dirty="0">
                <a:latin typeface="Arial" panose="020B0604020202020204" pitchFamily="34" charset="0"/>
                <a:cs typeface="Arial" panose="020B0604020202020204" pitchFamily="34" charset="0"/>
              </a:rPr>
              <a:t>service layers</a:t>
            </a:r>
            <a:endParaRPr lang="zh-CN" altLang="en-US" sz="2000" dirty="0">
              <a:latin typeface="Arial" panose="020B0604020202020204" pitchFamily="34" charset="0"/>
              <a:cs typeface="Arial" panose="020B0604020202020204" pitchFamily="34" charset="0"/>
            </a:endParaRPr>
          </a:p>
        </p:txBody>
      </p:sp>
      <p:pic>
        <p:nvPicPr>
          <p:cNvPr id="4" name="Picture 2">
            <a:extLst>
              <a:ext uri="{FF2B5EF4-FFF2-40B4-BE49-F238E27FC236}">
                <a16:creationId xmlns:a16="http://schemas.microsoft.com/office/drawing/2014/main" id="{64491108-DBEA-4F66-9E6C-EF89185C04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5177" y="1825424"/>
            <a:ext cx="6098959" cy="40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828E15EB-0CE0-498C-880B-C244415C1652}"/>
              </a:ext>
            </a:extLst>
          </p:cNvPr>
          <p:cNvSpPr/>
          <p:nvPr/>
        </p:nvSpPr>
        <p:spPr>
          <a:xfrm>
            <a:off x="6319377" y="5976908"/>
            <a:ext cx="4610558" cy="400110"/>
          </a:xfrm>
          <a:prstGeom prst="rect">
            <a:avLst/>
          </a:prstGeom>
        </p:spPr>
        <p:txBody>
          <a:bodyPr wrap="none">
            <a:spAutoFit/>
          </a:bodyPr>
          <a:lstStyle/>
          <a:p>
            <a:r>
              <a:rPr lang="fr-FR" altLang="zh-CN" sz="2000" dirty="0"/>
              <a:t>A Contiki service interaction architecture</a:t>
            </a:r>
            <a:endParaRPr lang="zh-CN" altLang="en-US" sz="2000" dirty="0"/>
          </a:p>
        </p:txBody>
      </p:sp>
    </p:spTree>
    <p:extLst>
      <p:ext uri="{BB962C8B-B14F-4D97-AF65-F5344CB8AC3E}">
        <p14:creationId xmlns:p14="http://schemas.microsoft.com/office/powerpoint/2010/main" val="159627058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b="1" dirty="0">
                <a:latin typeface="Arial" panose="020B0604020202020204" pitchFamily="34" charset="0"/>
                <a:cs typeface="Arial" panose="020B0604020202020204" pitchFamily="34" charset="0"/>
              </a:rPr>
              <a:t>LiteOS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err="1">
                <a:latin typeface="Arial" panose="020B0604020202020204" pitchFamily="34" charset="0"/>
                <a:cs typeface="Arial" panose="020B0604020202020204" pitchFamily="34" charset="0"/>
              </a:rPr>
              <a:t>LiteOS</a:t>
            </a:r>
            <a:r>
              <a:rPr lang="en-US" altLang="zh-CN" sz="2400" dirty="0">
                <a:latin typeface="Arial" panose="020B0604020202020204" pitchFamily="34" charset="0"/>
                <a:cs typeface="Arial" panose="020B0604020202020204" pitchFamily="34" charset="0"/>
              </a:rPr>
              <a:t> is a </a:t>
            </a:r>
            <a:r>
              <a:rPr lang="en-US" altLang="zh-CN" sz="2400" i="1" dirty="0">
                <a:solidFill>
                  <a:srgbClr val="FF0000"/>
                </a:solidFill>
                <a:latin typeface="Arial" panose="020B0604020202020204" pitchFamily="34" charset="0"/>
                <a:cs typeface="Arial" panose="020B0604020202020204" pitchFamily="34" charset="0"/>
              </a:rPr>
              <a:t>thread-based</a:t>
            </a:r>
            <a:r>
              <a:rPr lang="en-US" altLang="zh-CN" sz="2400" i="1"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operating system and supports </a:t>
            </a:r>
            <a:r>
              <a:rPr lang="en-US" altLang="zh-CN" sz="2400" i="1" dirty="0">
                <a:solidFill>
                  <a:srgbClr val="FF0000"/>
                </a:solidFill>
                <a:latin typeface="Arial" panose="020B0604020202020204" pitchFamily="34" charset="0"/>
                <a:cs typeface="Arial" panose="020B0604020202020204" pitchFamily="34" charset="0"/>
              </a:rPr>
              <a:t>multiple applications</a:t>
            </a:r>
          </a:p>
          <a:p>
            <a:pPr lvl="1">
              <a:lnSpc>
                <a:spcPct val="120000"/>
              </a:lnSpc>
            </a:pPr>
            <a:r>
              <a:rPr lang="en-US" altLang="zh-CN" sz="2000" dirty="0">
                <a:latin typeface="Arial" panose="020B0604020202020204" pitchFamily="34" charset="0"/>
                <a:cs typeface="Arial" panose="020B0604020202020204" pitchFamily="34" charset="0"/>
              </a:rPr>
              <a:t>based on the principle of </a:t>
            </a:r>
            <a:r>
              <a:rPr lang="en-US" altLang="zh-CN" sz="2000" i="1" dirty="0">
                <a:solidFill>
                  <a:srgbClr val="FF0000"/>
                </a:solidFill>
                <a:latin typeface="Arial" panose="020B0604020202020204" pitchFamily="34" charset="0"/>
                <a:cs typeface="Arial" panose="020B0604020202020204" pitchFamily="34" charset="0"/>
              </a:rPr>
              <a:t>clean separation </a:t>
            </a:r>
            <a:r>
              <a:rPr lang="en-US" altLang="zh-CN" sz="2000" dirty="0">
                <a:latin typeface="Arial" panose="020B0604020202020204" pitchFamily="34" charset="0"/>
                <a:cs typeface="Arial" panose="020B0604020202020204" pitchFamily="34" charset="0"/>
              </a:rPr>
              <a:t>between the OS and the applications</a:t>
            </a:r>
          </a:p>
          <a:p>
            <a:pPr lvl="1">
              <a:lnSpc>
                <a:spcPct val="120000"/>
              </a:lnSpc>
            </a:pPr>
            <a:r>
              <a:rPr lang="en-US" altLang="zh-CN" sz="2000" i="1" dirty="0">
                <a:solidFill>
                  <a:srgbClr val="FF0000"/>
                </a:solidFill>
                <a:latin typeface="Arial" panose="020B0604020202020204" pitchFamily="34" charset="0"/>
                <a:cs typeface="Arial" panose="020B0604020202020204" pitchFamily="34" charset="0"/>
              </a:rPr>
              <a:t>does not </a:t>
            </a:r>
            <a:r>
              <a:rPr lang="en-US" altLang="zh-CN" sz="2000" dirty="0">
                <a:latin typeface="Arial" panose="020B0604020202020204" pitchFamily="34" charset="0"/>
                <a:cs typeface="Arial" panose="020B0604020202020204" pitchFamily="34" charset="0"/>
              </a:rPr>
              <a:t>provide components or modules that should be “wired” together</a:t>
            </a:r>
          </a:p>
          <a:p>
            <a:pPr lvl="1">
              <a:lnSpc>
                <a:spcPct val="120000"/>
              </a:lnSpc>
            </a:pPr>
            <a:r>
              <a:rPr lang="en-US" altLang="zh-CN" sz="2000" dirty="0">
                <a:latin typeface="Arial" panose="020B0604020202020204" pitchFamily="34" charset="0"/>
                <a:cs typeface="Arial" panose="020B0604020202020204" pitchFamily="34" charset="0"/>
              </a:rPr>
              <a:t>provides several </a:t>
            </a:r>
            <a:r>
              <a:rPr lang="en-US" altLang="zh-CN" sz="2000" i="1" dirty="0">
                <a:solidFill>
                  <a:srgbClr val="FF0000"/>
                </a:solidFill>
                <a:latin typeface="Arial" panose="020B0604020202020204" pitchFamily="34" charset="0"/>
                <a:cs typeface="Arial" panose="020B0604020202020204" pitchFamily="34" charset="0"/>
              </a:rPr>
              <a:t>system calls</a:t>
            </a:r>
          </a:p>
          <a:p>
            <a:pPr lvl="1">
              <a:lnSpc>
                <a:spcPct val="120000"/>
              </a:lnSpc>
            </a:pPr>
            <a:r>
              <a:rPr lang="en-US" altLang="zh-CN" sz="2000" dirty="0">
                <a:latin typeface="Arial" panose="020B0604020202020204" pitchFamily="34" charset="0"/>
                <a:cs typeface="Arial" panose="020B0604020202020204" pitchFamily="34" charset="0"/>
              </a:rPr>
              <a:t>provides </a:t>
            </a:r>
            <a:r>
              <a:rPr lang="en-US" altLang="zh-CN" sz="2000" i="1" dirty="0">
                <a:solidFill>
                  <a:srgbClr val="FF0000"/>
                </a:solidFill>
                <a:latin typeface="Arial" panose="020B0604020202020204" pitchFamily="34" charset="0"/>
                <a:cs typeface="Arial" panose="020B0604020202020204" pitchFamily="34" charset="0"/>
              </a:rPr>
              <a:t>a shell </a:t>
            </a:r>
            <a:r>
              <a:rPr lang="en-US" altLang="zh-CN" sz="2000" dirty="0">
                <a:latin typeface="Arial" panose="020B0604020202020204" pitchFamily="34" charset="0"/>
                <a:cs typeface="Arial" panose="020B0604020202020204" pitchFamily="34" charset="0"/>
              </a:rPr>
              <a:t>- isolates the system calls from a user</a:t>
            </a:r>
          </a:p>
          <a:p>
            <a:pPr lvl="1">
              <a:lnSpc>
                <a:spcPct val="120000"/>
              </a:lnSpc>
            </a:pPr>
            <a:r>
              <a:rPr lang="en-US" altLang="zh-CN" sz="2000" dirty="0">
                <a:latin typeface="Arial" panose="020B0604020202020204" pitchFamily="34" charset="0"/>
                <a:cs typeface="Arial" panose="020B0604020202020204" pitchFamily="34" charset="0"/>
              </a:rPr>
              <a:t>provides a hierarchical </a:t>
            </a:r>
            <a:r>
              <a:rPr lang="en-US" altLang="zh-CN" sz="2000" i="1" dirty="0">
                <a:solidFill>
                  <a:srgbClr val="FF0000"/>
                </a:solidFill>
                <a:latin typeface="Arial" panose="020B0604020202020204" pitchFamily="34" charset="0"/>
                <a:cs typeface="Arial" panose="020B0604020202020204" pitchFamily="34" charset="0"/>
              </a:rPr>
              <a:t>file management system</a:t>
            </a:r>
          </a:p>
          <a:p>
            <a:pPr lvl="1">
              <a:lnSpc>
                <a:spcPct val="120000"/>
              </a:lnSpc>
            </a:pPr>
            <a:r>
              <a:rPr lang="en-US" altLang="zh-CN" sz="2000" dirty="0">
                <a:latin typeface="Arial" panose="020B0604020202020204" pitchFamily="34" charset="0"/>
                <a:cs typeface="Arial" panose="020B0604020202020204" pitchFamily="34" charset="0"/>
              </a:rPr>
              <a:t>provides a dynamic </a:t>
            </a:r>
            <a:r>
              <a:rPr lang="en-US" altLang="zh-CN" sz="2000" i="1" dirty="0">
                <a:solidFill>
                  <a:srgbClr val="FF0000"/>
                </a:solidFill>
                <a:latin typeface="Arial" panose="020B0604020202020204" pitchFamily="34" charset="0"/>
                <a:cs typeface="Arial" panose="020B0604020202020204" pitchFamily="34" charset="0"/>
              </a:rPr>
              <a:t>reprogramming</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technique</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388385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s-ES" altLang="zh-CN" b="1" dirty="0">
                <a:latin typeface="Arial" panose="020B0604020202020204" pitchFamily="34" charset="0"/>
                <a:cs typeface="Arial" panose="020B0604020202020204" pitchFamily="34" charset="0"/>
              </a:rPr>
              <a:t>LiteOS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3411874" y="1241187"/>
            <a:ext cx="8229600" cy="5486400"/>
          </a:xfrm>
        </p:spPr>
        <p:txBody>
          <a:bodyPr>
            <a:normAutofit fontScale="92500" lnSpcReduction="10000"/>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lgn="ctr">
              <a:buNone/>
            </a:pPr>
            <a:r>
              <a:rPr lang="en-US" altLang="zh-CN" sz="2000" dirty="0"/>
              <a:t>The </a:t>
            </a:r>
            <a:r>
              <a:rPr lang="en-US" altLang="zh-CN" sz="2000" dirty="0" err="1"/>
              <a:t>LiteOS</a:t>
            </a:r>
            <a:r>
              <a:rPr lang="en-US" altLang="zh-CN" sz="2000" dirty="0"/>
              <a:t> operating system architecture (Cao et al. 2008)</a:t>
            </a:r>
            <a:endParaRPr lang="zh-CN" altLang="en-US" sz="20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143" y="1472185"/>
            <a:ext cx="6977062" cy="4330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a:extLst>
              <a:ext uri="{FF2B5EF4-FFF2-40B4-BE49-F238E27FC236}">
                <a16:creationId xmlns:a16="http://schemas.microsoft.com/office/drawing/2014/main" id="{7F57D657-8FCA-4FB3-BE66-BEA5A93638EE}"/>
              </a:ext>
            </a:extLst>
          </p:cNvPr>
          <p:cNvSpPr/>
          <p:nvPr/>
        </p:nvSpPr>
        <p:spPr>
          <a:xfrm>
            <a:off x="838200" y="1796277"/>
            <a:ext cx="2679192" cy="1381147"/>
          </a:xfrm>
          <a:prstGeom prst="rect">
            <a:avLst/>
          </a:prstGeom>
        </p:spPr>
        <p:txBody>
          <a:bodyPr wrap="square">
            <a:spAutoFit/>
          </a:bodyPr>
          <a:lstStyle/>
          <a:p>
            <a:pPr>
              <a:lnSpc>
                <a:spcPct val="120000"/>
              </a:lnSpc>
            </a:pPr>
            <a:r>
              <a:rPr lang="en-US" altLang="zh-CN" sz="2400" dirty="0" err="1">
                <a:latin typeface="Arial" panose="020B0604020202020204" pitchFamily="34" charset="0"/>
                <a:cs typeface="Arial" panose="020B0604020202020204" pitchFamily="34" charset="0"/>
              </a:rPr>
              <a:t>LiteOS</a:t>
            </a:r>
            <a:r>
              <a:rPr lang="en-US" altLang="zh-CN" sz="2400" dirty="0">
                <a:latin typeface="Arial" panose="020B0604020202020204" pitchFamily="34" charset="0"/>
                <a:cs typeface="Arial" panose="020B0604020202020204" pitchFamily="34" charset="0"/>
              </a:rPr>
              <a:t> is modeled as a distributed file system</a:t>
            </a:r>
          </a:p>
        </p:txBody>
      </p:sp>
    </p:spTree>
    <p:extLst>
      <p:ext uri="{BB962C8B-B14F-4D97-AF65-F5344CB8AC3E}">
        <p14:creationId xmlns:p14="http://schemas.microsoft.com/office/powerpoint/2010/main" val="24686457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Shell and System Calls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06029"/>
            <a:ext cx="10702771" cy="4351338"/>
          </a:xfrm>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The shell provides: </a:t>
            </a:r>
          </a:p>
          <a:p>
            <a:pPr lvl="1">
              <a:lnSpc>
                <a:spcPct val="120000"/>
              </a:lnSpc>
            </a:pPr>
            <a:r>
              <a:rPr lang="en-US" altLang="zh-CN" sz="2000" dirty="0">
                <a:latin typeface="Arial" panose="020B0604020202020204" pitchFamily="34" charset="0"/>
                <a:cs typeface="Arial" panose="020B0604020202020204" pitchFamily="34" charset="0"/>
              </a:rPr>
              <a:t>a </a:t>
            </a:r>
            <a:r>
              <a:rPr lang="en-US" altLang="zh-CN" sz="2000" i="1" dirty="0">
                <a:solidFill>
                  <a:srgbClr val="FF0000"/>
                </a:solidFill>
                <a:latin typeface="Arial" panose="020B0604020202020204" pitchFamily="34" charset="0"/>
                <a:cs typeface="Arial" panose="020B0604020202020204" pitchFamily="34" charset="0"/>
              </a:rPr>
              <a:t>mounting mechanism </a:t>
            </a:r>
            <a:r>
              <a:rPr lang="en-US" altLang="zh-CN" sz="2000" dirty="0">
                <a:latin typeface="Arial" panose="020B0604020202020204" pitchFamily="34" charset="0"/>
                <a:cs typeface="Arial" panose="020B0604020202020204" pitchFamily="34" charset="0"/>
              </a:rPr>
              <a:t>to a wireless node which is one-hop away from it</a:t>
            </a:r>
          </a:p>
          <a:p>
            <a:pPr lvl="2">
              <a:lnSpc>
                <a:spcPct val="120000"/>
              </a:lnSpc>
            </a:pPr>
            <a:r>
              <a:rPr lang="en-US" altLang="zh-CN" dirty="0">
                <a:latin typeface="Arial" panose="020B0604020202020204" pitchFamily="34" charset="0"/>
                <a:cs typeface="Arial" panose="020B0604020202020204" pitchFamily="34" charset="0"/>
              </a:rPr>
              <a:t>a distributed and hierarchical file system</a:t>
            </a:r>
          </a:p>
          <a:p>
            <a:pPr lvl="2">
              <a:lnSpc>
                <a:spcPct val="120000"/>
              </a:lnSpc>
            </a:pPr>
            <a:r>
              <a:rPr lang="en-US" altLang="zh-CN" dirty="0">
                <a:latin typeface="Arial" panose="020B0604020202020204" pitchFamily="34" charset="0"/>
                <a:cs typeface="Arial" panose="020B0604020202020204" pitchFamily="34" charset="0"/>
              </a:rPr>
              <a:t>a user can access the resources of a named node</a:t>
            </a:r>
          </a:p>
          <a:p>
            <a:pPr lvl="1">
              <a:lnSpc>
                <a:spcPct val="120000"/>
              </a:lnSpc>
            </a:pPr>
            <a:r>
              <a:rPr lang="en-US" altLang="zh-CN" sz="2000" dirty="0">
                <a:latin typeface="Arial" panose="020B0604020202020204" pitchFamily="34" charset="0"/>
                <a:cs typeface="Arial" panose="020B0604020202020204" pitchFamily="34" charset="0"/>
              </a:rPr>
              <a:t>a large number of </a:t>
            </a:r>
            <a:r>
              <a:rPr lang="en-US" altLang="zh-CN" sz="2000" i="1" dirty="0">
                <a:solidFill>
                  <a:srgbClr val="FF0000"/>
                </a:solidFill>
                <a:latin typeface="Arial" panose="020B0604020202020204" pitchFamily="34" charset="0"/>
                <a:cs typeface="Arial" panose="020B0604020202020204" pitchFamily="34" charset="0"/>
              </a:rPr>
              <a:t>Linux commands</a:t>
            </a:r>
          </a:p>
          <a:p>
            <a:pPr lvl="2">
              <a:lnSpc>
                <a:spcPct val="120000"/>
              </a:lnSpc>
            </a:pPr>
            <a:r>
              <a:rPr lang="en-US" altLang="zh-CN" dirty="0">
                <a:latin typeface="Arial" panose="020B0604020202020204" pitchFamily="34" charset="0"/>
                <a:cs typeface="Arial" panose="020B0604020202020204" pitchFamily="34" charset="0"/>
              </a:rPr>
              <a:t>file commands - move, copy and, delete files and directories</a:t>
            </a:r>
          </a:p>
          <a:p>
            <a:pPr lvl="2">
              <a:lnSpc>
                <a:spcPct val="120000"/>
              </a:lnSpc>
            </a:pPr>
            <a:r>
              <a:rPr lang="en-US" altLang="zh-CN" dirty="0">
                <a:latin typeface="Arial" panose="020B0604020202020204" pitchFamily="34" charset="0"/>
                <a:cs typeface="Arial" panose="020B0604020202020204" pitchFamily="34" charset="0"/>
              </a:rPr>
              <a:t>process commands - manage threads</a:t>
            </a:r>
          </a:p>
          <a:p>
            <a:pPr lvl="2">
              <a:lnSpc>
                <a:spcPct val="120000"/>
              </a:lnSpc>
            </a:pPr>
            <a:r>
              <a:rPr lang="en-US" altLang="zh-CN" dirty="0">
                <a:latin typeface="Arial" panose="020B0604020202020204" pitchFamily="34" charset="0"/>
                <a:cs typeface="Arial" panose="020B0604020202020204" pitchFamily="34" charset="0"/>
              </a:rPr>
              <a:t>debugging commands - set up a debugging environment and debug code</a:t>
            </a:r>
          </a:p>
          <a:p>
            <a:pPr lvl="2">
              <a:lnSpc>
                <a:spcPct val="120000"/>
              </a:lnSpc>
            </a:pPr>
            <a:r>
              <a:rPr lang="en-US" altLang="zh-CN" dirty="0">
                <a:latin typeface="Arial" panose="020B0604020202020204" pitchFamily="34" charset="0"/>
                <a:cs typeface="Arial" panose="020B0604020202020204" pitchFamily="34" charset="0"/>
              </a:rPr>
              <a:t>environment commands</a:t>
            </a:r>
          </a:p>
          <a:p>
            <a:pPr lvl="3">
              <a:lnSpc>
                <a:spcPct val="120000"/>
              </a:lnSpc>
            </a:pPr>
            <a:r>
              <a:rPr lang="en-US" altLang="zh-CN" sz="2000" dirty="0">
                <a:latin typeface="Arial" panose="020B0604020202020204" pitchFamily="34" charset="0"/>
                <a:cs typeface="Arial" panose="020B0604020202020204" pitchFamily="34" charset="0"/>
              </a:rPr>
              <a:t>user - managing the environment of OS</a:t>
            </a:r>
          </a:p>
          <a:p>
            <a:pPr lvl="3">
              <a:lnSpc>
                <a:spcPct val="120000"/>
              </a:lnSpc>
            </a:pPr>
            <a:r>
              <a:rPr lang="en-US" altLang="zh-CN" sz="2000" dirty="0">
                <a:latin typeface="Arial" panose="020B0604020202020204" pitchFamily="34" charset="0"/>
                <a:cs typeface="Arial" panose="020B0604020202020204" pitchFamily="34" charset="0"/>
              </a:rPr>
              <a:t>manual - displaying interaction history and providing command reference</a:t>
            </a:r>
          </a:p>
          <a:p>
            <a:pPr lvl="2">
              <a:lnSpc>
                <a:spcPct val="120000"/>
              </a:lnSpc>
            </a:pPr>
            <a:r>
              <a:rPr lang="en-US" altLang="zh-CN" dirty="0">
                <a:latin typeface="Arial" panose="020B0604020202020204" pitchFamily="34" charset="0"/>
                <a:cs typeface="Arial" panose="020B0604020202020204" pitchFamily="34" charset="0"/>
              </a:rPr>
              <a:t>device commands - provide direct access to hardware devices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504573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err="1">
                <a:latin typeface="Arial" panose="020B0604020202020204" pitchFamily="34" charset="0"/>
                <a:cs typeface="Arial" panose="020B0604020202020204" pitchFamily="34" charset="0"/>
              </a:rPr>
              <a:t>LiteFS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28354" y="1693986"/>
            <a:ext cx="10515600" cy="4351338"/>
          </a:xfrm>
        </p:spPr>
        <p:txBody>
          <a:bodyPr>
            <a:noAutofit/>
          </a:bodyPr>
          <a:lstStyle/>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b="1" dirty="0"/>
          </a:p>
          <a:p>
            <a:pPr marL="0" indent="0" algn="ctr">
              <a:buNone/>
            </a:pPr>
            <a:r>
              <a:rPr lang="en-US" altLang="zh-CN" sz="2000" dirty="0"/>
              <a:t>The file system structure of </a:t>
            </a:r>
            <a:r>
              <a:rPr lang="en-US" altLang="zh-CN" sz="2000" dirty="0" err="1"/>
              <a:t>LiteFS</a:t>
            </a:r>
            <a:r>
              <a:rPr lang="en-US" altLang="zh-CN" sz="2000" dirty="0"/>
              <a:t> (Cao et al. 2008)</a:t>
            </a:r>
            <a:endParaRPr lang="zh-CN" altLang="en-US" sz="20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2143" y="2015425"/>
            <a:ext cx="7958603" cy="3708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193716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Dynamic Reprogramming</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The </a:t>
            </a:r>
            <a:r>
              <a:rPr lang="en-US" altLang="zh-CN" sz="2400" dirty="0" err="1">
                <a:latin typeface="Arial" panose="020B0604020202020204" pitchFamily="34" charset="0"/>
                <a:cs typeface="Arial" panose="020B0604020202020204" pitchFamily="34" charset="0"/>
              </a:rPr>
              <a:t>LiteFS</a:t>
            </a:r>
            <a:r>
              <a:rPr lang="en-US" altLang="zh-CN" sz="2400" dirty="0">
                <a:latin typeface="Arial" panose="020B0604020202020204" pitchFamily="34" charset="0"/>
                <a:cs typeface="Arial" panose="020B0604020202020204" pitchFamily="34" charset="0"/>
              </a:rPr>
              <a:t> is a </a:t>
            </a:r>
            <a:r>
              <a:rPr lang="en-US" altLang="zh-CN" sz="2400" i="1" dirty="0">
                <a:solidFill>
                  <a:srgbClr val="FF0000"/>
                </a:solidFill>
                <a:latin typeface="Arial" panose="020B0604020202020204" pitchFamily="34" charset="0"/>
                <a:cs typeface="Arial" panose="020B0604020202020204" pitchFamily="34" charset="0"/>
              </a:rPr>
              <a:t>distributed file system</a:t>
            </a:r>
          </a:p>
          <a:p>
            <a:pPr>
              <a:lnSpc>
                <a:spcPct val="120000"/>
              </a:lnSpc>
            </a:pPr>
            <a:r>
              <a:rPr lang="en-US" altLang="zh-CN" sz="2400" dirty="0">
                <a:latin typeface="Arial" panose="020B0604020202020204" pitchFamily="34" charset="0"/>
                <a:cs typeface="Arial" panose="020B0604020202020204" pitchFamily="34" charset="0"/>
              </a:rPr>
              <a:t>A user can</a:t>
            </a:r>
          </a:p>
          <a:p>
            <a:pPr lvl="1">
              <a:lnSpc>
                <a:spcPct val="120000"/>
              </a:lnSpc>
            </a:pPr>
            <a:r>
              <a:rPr lang="en-US" altLang="zh-CN" sz="2000" dirty="0">
                <a:latin typeface="Arial" panose="020B0604020202020204" pitchFamily="34" charset="0"/>
                <a:cs typeface="Arial" panose="020B0604020202020204" pitchFamily="34" charset="0"/>
              </a:rPr>
              <a:t>access the entire sensor network</a:t>
            </a:r>
          </a:p>
          <a:p>
            <a:pPr lvl="1">
              <a:lnSpc>
                <a:spcPct val="120000"/>
              </a:lnSpc>
            </a:pPr>
            <a:r>
              <a:rPr lang="en-US" altLang="zh-CN" sz="2000" dirty="0">
                <a:latin typeface="Arial" panose="020B0604020202020204" pitchFamily="34" charset="0"/>
                <a:cs typeface="Arial" panose="020B0604020202020204" pitchFamily="34" charset="0"/>
              </a:rPr>
              <a:t>program and manage individual nodes</a:t>
            </a:r>
          </a:p>
          <a:p>
            <a:pPr>
              <a:lnSpc>
                <a:spcPct val="120000"/>
              </a:lnSpc>
            </a:pPr>
            <a:r>
              <a:rPr lang="en-US" altLang="zh-CN" sz="2400" dirty="0" err="1">
                <a:latin typeface="Arial" panose="020B0604020202020204" pitchFamily="34" charset="0"/>
                <a:cs typeface="Arial" panose="020B0604020202020204" pitchFamily="34" charset="0"/>
              </a:rPr>
              <a:t>LiteOS</a:t>
            </a:r>
            <a:r>
              <a:rPr lang="en-US" altLang="zh-CN" sz="2400" dirty="0">
                <a:latin typeface="Arial" panose="020B0604020202020204" pitchFamily="34" charset="0"/>
                <a:cs typeface="Arial" panose="020B0604020202020204" pitchFamily="34" charset="0"/>
              </a:rPr>
              <a:t> supports the </a:t>
            </a:r>
            <a:r>
              <a:rPr lang="en-US" altLang="zh-CN" sz="2400" i="1" dirty="0">
                <a:solidFill>
                  <a:srgbClr val="FF0000"/>
                </a:solidFill>
                <a:latin typeface="Arial" panose="020B0604020202020204" pitchFamily="34" charset="0"/>
                <a:cs typeface="Arial" panose="020B0604020202020204" pitchFamily="34" charset="0"/>
              </a:rPr>
              <a:t>dynamic replacement</a:t>
            </a:r>
            <a:r>
              <a:rPr lang="en-US" altLang="zh-CN" sz="2400" i="1"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and </a:t>
            </a:r>
            <a:r>
              <a:rPr lang="en-US" altLang="zh-CN" sz="2400" i="1" dirty="0">
                <a:solidFill>
                  <a:srgbClr val="FF0000"/>
                </a:solidFill>
                <a:latin typeface="Arial" panose="020B0604020202020204" pitchFamily="34" charset="0"/>
                <a:cs typeface="Arial" panose="020B0604020202020204" pitchFamily="34" charset="0"/>
              </a:rPr>
              <a:t>reprogramming</a:t>
            </a:r>
            <a:r>
              <a:rPr lang="en-US" altLang="zh-CN" sz="2400" i="1"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of user applications</a:t>
            </a:r>
          </a:p>
          <a:p>
            <a:pPr lvl="1">
              <a:lnSpc>
                <a:spcPct val="120000"/>
              </a:lnSpc>
            </a:pPr>
            <a:r>
              <a:rPr lang="en-US" altLang="zh-CN" sz="2000" dirty="0">
                <a:latin typeface="Arial" panose="020B0604020202020204" pitchFamily="34" charset="0"/>
                <a:cs typeface="Arial" panose="020B0604020202020204" pitchFamily="34" charset="0"/>
              </a:rPr>
              <a:t>if the original source code is available to the OS</a:t>
            </a:r>
          </a:p>
          <a:p>
            <a:pPr lvl="2">
              <a:lnSpc>
                <a:spcPct val="120000"/>
              </a:lnSpc>
            </a:pPr>
            <a:r>
              <a:rPr lang="en-US" altLang="zh-CN" sz="1800" dirty="0">
                <a:latin typeface="Arial" panose="020B0604020202020204" pitchFamily="34" charset="0"/>
                <a:cs typeface="Arial" panose="020B0604020202020204" pitchFamily="34" charset="0"/>
              </a:rPr>
              <a:t>recompiled with a new memory setting</a:t>
            </a:r>
          </a:p>
          <a:p>
            <a:pPr lvl="2">
              <a:lnSpc>
                <a:spcPct val="120000"/>
              </a:lnSpc>
            </a:pPr>
            <a:r>
              <a:rPr lang="en-US" altLang="zh-CN" sz="1800" dirty="0">
                <a:latin typeface="Arial" panose="020B0604020202020204" pitchFamily="34" charset="0"/>
                <a:cs typeface="Arial" panose="020B0604020202020204" pitchFamily="34" charset="0"/>
              </a:rPr>
              <a:t>the old version will be redirected</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812866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Dynamic Reprogramming</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dirty="0">
                <a:latin typeface="Arial" panose="020B0604020202020204" pitchFamily="34" charset="0"/>
                <a:cs typeface="Arial" panose="020B0604020202020204" pitchFamily="34" charset="0"/>
              </a:rPr>
              <a:t>If the original source code is not available to the OS</a:t>
            </a:r>
          </a:p>
          <a:p>
            <a:pPr lvl="1">
              <a:lnSpc>
                <a:spcPct val="120000"/>
              </a:lnSpc>
            </a:pPr>
            <a:r>
              <a:rPr lang="en-US" altLang="zh-CN" dirty="0">
                <a:latin typeface="Arial" panose="020B0604020202020204" pitchFamily="34" charset="0"/>
                <a:cs typeface="Arial" panose="020B0604020202020204" pitchFamily="34" charset="0"/>
              </a:rPr>
              <a:t>use a </a:t>
            </a:r>
            <a:r>
              <a:rPr lang="en-US" altLang="zh-CN" i="1" dirty="0">
                <a:solidFill>
                  <a:srgbClr val="FF0000"/>
                </a:solidFill>
                <a:latin typeface="Arial" panose="020B0604020202020204" pitchFamily="34" charset="0"/>
                <a:cs typeface="Arial" panose="020B0604020202020204" pitchFamily="34" charset="0"/>
              </a:rPr>
              <a:t>differential patching </a:t>
            </a:r>
            <a:r>
              <a:rPr lang="en-US" altLang="zh-CN" dirty="0">
                <a:latin typeface="Arial" panose="020B0604020202020204" pitchFamily="34" charset="0"/>
                <a:cs typeface="Arial" panose="020B0604020202020204" pitchFamily="34" charset="0"/>
              </a:rPr>
              <a:t>mechanism to replace an older version binary</a:t>
            </a:r>
          </a:p>
          <a:p>
            <a:pPr lvl="2">
              <a:lnSpc>
                <a:spcPct val="120000"/>
              </a:lnSpc>
            </a:pPr>
            <a:r>
              <a:rPr lang="en-US" altLang="zh-CN" dirty="0">
                <a:latin typeface="Arial" panose="020B0604020202020204" pitchFamily="34" charset="0"/>
                <a:cs typeface="Arial" panose="020B0604020202020204" pitchFamily="34" charset="0"/>
              </a:rPr>
              <a:t>the start address (S) of the binary executable in the flash memory</a:t>
            </a:r>
          </a:p>
          <a:p>
            <a:pPr lvl="2">
              <a:lnSpc>
                <a:spcPct val="120000"/>
              </a:lnSpc>
            </a:pPr>
            <a:r>
              <a:rPr lang="en-US" altLang="zh-CN" dirty="0">
                <a:latin typeface="Arial" panose="020B0604020202020204" pitchFamily="34" charset="0"/>
                <a:cs typeface="Arial" panose="020B0604020202020204" pitchFamily="34" charset="0"/>
              </a:rPr>
              <a:t>the start address of allocated memory in RAM (M)</a:t>
            </a:r>
          </a:p>
          <a:p>
            <a:pPr lvl="2">
              <a:lnSpc>
                <a:spcPct val="120000"/>
              </a:lnSpc>
            </a:pPr>
            <a:r>
              <a:rPr lang="en-US" altLang="zh-CN" dirty="0">
                <a:latin typeface="Arial" panose="020B0604020202020204" pitchFamily="34" charset="0"/>
                <a:cs typeface="Arial" panose="020B0604020202020204" pitchFamily="34" charset="0"/>
              </a:rPr>
              <a:t>the stack top (T)</a:t>
            </a:r>
          </a:p>
          <a:p>
            <a:pPr lvl="2">
              <a:lnSpc>
                <a:spcPct val="120000"/>
              </a:lnSpc>
            </a:pPr>
            <a:r>
              <a:rPr lang="en-US" altLang="zh-CN" dirty="0">
                <a:latin typeface="Arial" panose="020B0604020202020204" pitchFamily="34" charset="0"/>
                <a:cs typeface="Arial" panose="020B0604020202020204" pitchFamily="34" charset="0"/>
              </a:rPr>
              <a:t>T - M = the memory space allocated for the program code</a:t>
            </a:r>
          </a:p>
          <a:p>
            <a:pPr lvl="1">
              <a:lnSpc>
                <a:spcPct val="120000"/>
              </a:lnSpc>
            </a:pPr>
            <a:r>
              <a:rPr lang="en-US" altLang="zh-CN" dirty="0">
                <a:latin typeface="Arial" panose="020B0604020202020204" pitchFamily="34" charset="0"/>
                <a:cs typeface="Arial" panose="020B0604020202020204" pitchFamily="34" charset="0"/>
              </a:rPr>
              <a:t>but the parameters are obtained empirically and require knowledge of the node architecture - limits the usefulness of the patching scheme</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074324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dirty="0">
                <a:latin typeface="Arial" panose="020B0604020202020204" pitchFamily="34" charset="0"/>
                <a:cs typeface="Arial" panose="020B0604020202020204" pitchFamily="34" charset="0"/>
              </a:rPr>
              <a:t>Functional Aspects</a:t>
            </a:r>
          </a:p>
          <a:p>
            <a:pPr>
              <a:lnSpc>
                <a:spcPct val="120000"/>
              </a:lnSpc>
            </a:pPr>
            <a:r>
              <a:rPr lang="en-US" altLang="zh-CN" dirty="0">
                <a:latin typeface="Arial" panose="020B0604020202020204" pitchFamily="34" charset="0"/>
                <a:cs typeface="Arial" panose="020B0604020202020204" pitchFamily="34" charset="0"/>
              </a:rPr>
              <a:t>Non-Functional Aspects</a:t>
            </a:r>
          </a:p>
          <a:p>
            <a:pPr>
              <a:lnSpc>
                <a:spcPct val="120000"/>
              </a:lnSpc>
            </a:pPr>
            <a:r>
              <a:rPr lang="en-US" altLang="zh-CN" dirty="0">
                <a:latin typeface="Arial" panose="020B0604020202020204" pitchFamily="34" charset="0"/>
                <a:cs typeface="Arial" panose="020B0604020202020204" pitchFamily="34" charset="0"/>
              </a:rPr>
              <a:t>Prototypes</a:t>
            </a:r>
          </a:p>
          <a:p>
            <a:pPr>
              <a:lnSpc>
                <a:spcPct val="120000"/>
              </a:lnSpc>
            </a:pPr>
            <a:r>
              <a:rPr lang="en-US" altLang="zh-CN" b="1" dirty="0">
                <a:latin typeface="Arial" panose="020B0604020202020204" pitchFamily="34" charset="0"/>
                <a:cs typeface="Arial" panose="020B0604020202020204" pitchFamily="34" charset="0"/>
              </a:rPr>
              <a:t>Evaluation</a:t>
            </a:r>
            <a:endParaRPr lang="en-US" altLang="zh-CN"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306424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Evaluation</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73388" y="1566755"/>
            <a:ext cx="3097428" cy="4851646"/>
          </a:xfrm>
        </p:spPr>
        <p:txBody>
          <a:bodyPr>
            <a:normAutofit/>
          </a:bodyPr>
          <a:lstStyle/>
          <a:p>
            <a:pPr marL="0" indent="0">
              <a:lnSpc>
                <a:spcPct val="120000"/>
              </a:lnSpc>
              <a:buNone/>
            </a:pPr>
            <a:r>
              <a:rPr lang="en-US" altLang="zh-CN" sz="2400" dirty="0">
                <a:latin typeface="Arial" panose="020B0604020202020204" pitchFamily="34" charset="0"/>
                <a:cs typeface="Arial" panose="020B0604020202020204" pitchFamily="34" charset="0"/>
              </a:rPr>
              <a:t>Comparison of functional aspects of existing operating systems</a:t>
            </a:r>
            <a:endParaRPr lang="zh-CN" altLang="en-US" sz="2400" dirty="0">
              <a:latin typeface="Arial" panose="020B0604020202020204" pitchFamily="34" charset="0"/>
              <a:cs typeface="Arial" panose="020B0604020202020204" pitchFamily="34"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0153" y="1652883"/>
            <a:ext cx="6444310" cy="4839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517781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Evaluation</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73388" y="1566755"/>
            <a:ext cx="3097428" cy="4851646"/>
          </a:xfrm>
        </p:spPr>
        <p:txBody>
          <a:bodyPr>
            <a:normAutofit/>
          </a:bodyPr>
          <a:lstStyle/>
          <a:p>
            <a:pPr marL="0" indent="0">
              <a:lnSpc>
                <a:spcPct val="120000"/>
              </a:lnSpc>
              <a:buNone/>
            </a:pPr>
            <a:r>
              <a:rPr lang="en-US" altLang="zh-CN" sz="2400" dirty="0">
                <a:latin typeface="Arial" panose="020B0604020202020204" pitchFamily="34" charset="0"/>
                <a:cs typeface="Arial" panose="020B0604020202020204" pitchFamily="34" charset="0"/>
              </a:rPr>
              <a:t>Comparison of nonfunctional aspects of existing operating systems</a:t>
            </a:r>
            <a:endParaRPr lang="zh-CN" altLang="en-US" sz="2400" dirty="0">
              <a:latin typeface="Arial" panose="020B0604020202020204" pitchFamily="34" charset="0"/>
              <a:cs typeface="Arial" panose="020B0604020202020204" pitchFamily="34" charset="0"/>
            </a:endParaRPr>
          </a:p>
        </p:txBody>
      </p:sp>
      <p:pic>
        <p:nvPicPr>
          <p:cNvPr id="5" name="Picture 2">
            <a:extLst>
              <a:ext uri="{FF2B5EF4-FFF2-40B4-BE49-F238E27FC236}">
                <a16:creationId xmlns:a16="http://schemas.microsoft.com/office/drawing/2014/main" id="{BD6363AD-706D-43AA-BCB5-F01963531B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7304" y="1566755"/>
            <a:ext cx="6048910" cy="5124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185758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AC3F7D-7C8D-440F-87A4-A8307D39D806}"/>
              </a:ext>
            </a:extLst>
          </p:cNvPr>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Task I</a:t>
            </a:r>
            <a:endParaRPr lang="zh-CN" altLang="en-US" b="1" dirty="0">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AB448E1F-F2F5-41FA-AD5F-E0C043EC79E5}"/>
              </a:ext>
            </a:extLst>
          </p:cNvPr>
          <p:cNvSpPr>
            <a:spLocks noGrp="1"/>
          </p:cNvSpPr>
          <p:nvPr>
            <p:ph idx="1"/>
          </p:nvPr>
        </p:nvSpPr>
        <p:spPr/>
        <p:txBody>
          <a:bodyPr/>
          <a:lstStyle/>
          <a:p>
            <a:pPr>
              <a:lnSpc>
                <a:spcPct val="120000"/>
              </a:lnSpc>
            </a:pPr>
            <a:r>
              <a:rPr lang="en-US" altLang="zh-CN" dirty="0">
                <a:solidFill>
                  <a:srgbClr val="FF0000"/>
                </a:solidFill>
                <a:latin typeface="Arial" panose="020B0604020202020204" pitchFamily="34" charset="0"/>
                <a:cs typeface="Arial" panose="020B0604020202020204" pitchFamily="34" charset="0"/>
              </a:rPr>
              <a:t>PAPER READING: </a:t>
            </a:r>
            <a:r>
              <a:rPr lang="en-US" altLang="zh-CN" dirty="0" err="1">
                <a:latin typeface="Arial" panose="020B0604020202020204" pitchFamily="34" charset="0"/>
                <a:cs typeface="Arial" panose="020B0604020202020204" pitchFamily="34" charset="0"/>
              </a:rPr>
              <a:t>TinyOS</a:t>
            </a:r>
            <a:r>
              <a:rPr lang="en-US" altLang="zh-CN" dirty="0">
                <a:latin typeface="Arial" panose="020B0604020202020204" pitchFamily="34" charset="0"/>
                <a:cs typeface="Arial" panose="020B0604020202020204" pitchFamily="34" charset="0"/>
              </a:rPr>
              <a:t> An Operating System for Sensor Networks</a:t>
            </a:r>
          </a:p>
          <a:p>
            <a:pPr>
              <a:lnSpc>
                <a:spcPct val="120000"/>
              </a:lnSpc>
            </a:pPr>
            <a:endParaRPr lang="en-US" altLang="zh-CN" dirty="0">
              <a:latin typeface="Arial" panose="020B0604020202020204" pitchFamily="34" charset="0"/>
              <a:cs typeface="Arial" panose="020B0604020202020204" pitchFamily="34" charset="0"/>
            </a:endParaRPr>
          </a:p>
          <a:p>
            <a:pPr>
              <a:lnSpc>
                <a:spcPct val="120000"/>
              </a:lnSpc>
            </a:pPr>
            <a:r>
              <a:rPr lang="en-US" altLang="zh-CN" dirty="0">
                <a:latin typeface="Arial" panose="020B0604020202020204" pitchFamily="34" charset="0"/>
                <a:cs typeface="Arial" panose="020B0604020202020204" pitchFamily="34" charset="0"/>
              </a:rPr>
              <a:t>Download and install </a:t>
            </a:r>
            <a:r>
              <a:rPr lang="en-US" altLang="zh-CN" dirty="0" err="1">
                <a:latin typeface="Arial" panose="020B0604020202020204" pitchFamily="34" charset="0"/>
                <a:cs typeface="Arial" panose="020B0604020202020204" pitchFamily="34" charset="0"/>
              </a:rPr>
              <a:t>TinyOS</a:t>
            </a:r>
            <a:r>
              <a:rPr lang="en-US" altLang="zh-CN" dirty="0">
                <a:latin typeface="Arial" panose="020B0604020202020204" pitchFamily="34" charset="0"/>
                <a:cs typeface="Arial" panose="020B0604020202020204" pitchFamily="34" charset="0"/>
              </a:rPr>
              <a:t> on your own laptop</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664808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674624"/>
            <a:ext cx="9144000" cy="2387600"/>
          </a:xfrm>
        </p:spPr>
        <p:txBody>
          <a:bodyPr>
            <a:normAutofit/>
          </a:bodyPr>
          <a:lstStyle/>
          <a:p>
            <a:pPr>
              <a:lnSpc>
                <a:spcPct val="120000"/>
              </a:lnSpc>
            </a:pPr>
            <a:r>
              <a:rPr lang="en-US" altLang="zh-CN" sz="4400" b="1" dirty="0">
                <a:solidFill>
                  <a:schemeClr val="accent1">
                    <a:lumMod val="75000"/>
                  </a:schemeClr>
                </a:solidFill>
                <a:latin typeface="微软雅黑" panose="020B0503020204020204" pitchFamily="34" charset="-122"/>
                <a:ea typeface="微软雅黑" panose="020B0503020204020204" pitchFamily="34" charset="-122"/>
              </a:rPr>
              <a:t>Chapter 5</a:t>
            </a:r>
            <a:br>
              <a:rPr lang="en-US" altLang="zh-CN" sz="4400" b="1" dirty="0">
                <a:solidFill>
                  <a:schemeClr val="accent1">
                    <a:lumMod val="75000"/>
                  </a:schemeClr>
                </a:solidFill>
                <a:latin typeface="微软雅黑" panose="020B0503020204020204" pitchFamily="34" charset="-122"/>
                <a:ea typeface="微软雅黑" panose="020B0503020204020204" pitchFamily="34" charset="-122"/>
              </a:rPr>
            </a:br>
            <a:r>
              <a:rPr lang="en-US" altLang="zh-CN" sz="4400" b="1" dirty="0">
                <a:latin typeface="Arial" panose="020B0604020202020204" pitchFamily="34" charset="0"/>
                <a:cs typeface="Arial" panose="020B0604020202020204" pitchFamily="34" charset="0"/>
              </a:rPr>
              <a:t>Medium Access Control Layer </a:t>
            </a:r>
            <a:endParaRPr lang="zh-CN" altLang="en-US" sz="4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720279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Overview</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1063030" y="4112489"/>
            <a:ext cx="10379798" cy="2471830"/>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Responsibilities of MAC layer include: </a:t>
            </a:r>
          </a:p>
          <a:p>
            <a:pPr lvl="1">
              <a:lnSpc>
                <a:spcPct val="120000"/>
              </a:lnSpc>
            </a:pPr>
            <a:r>
              <a:rPr lang="en-US" altLang="zh-CN" sz="2000" dirty="0">
                <a:latin typeface="Arial" panose="020B0604020202020204" pitchFamily="34" charset="0"/>
                <a:cs typeface="Arial" panose="020B0604020202020204" pitchFamily="34" charset="0"/>
              </a:rPr>
              <a:t>decide when a node accesses a shared medium</a:t>
            </a:r>
          </a:p>
          <a:p>
            <a:pPr lvl="1">
              <a:lnSpc>
                <a:spcPct val="120000"/>
              </a:lnSpc>
            </a:pPr>
            <a:r>
              <a:rPr lang="en-US" altLang="zh-CN" sz="2000" dirty="0">
                <a:latin typeface="Arial" panose="020B0604020202020204" pitchFamily="34" charset="0"/>
                <a:cs typeface="Arial" panose="020B0604020202020204" pitchFamily="34" charset="0"/>
              </a:rPr>
              <a:t>resolve any potential conflicts between competing nodes</a:t>
            </a:r>
          </a:p>
          <a:p>
            <a:pPr lvl="1">
              <a:lnSpc>
                <a:spcPct val="120000"/>
              </a:lnSpc>
            </a:pPr>
            <a:r>
              <a:rPr lang="en-US" altLang="zh-CN" sz="2000" dirty="0">
                <a:latin typeface="Arial" panose="020B0604020202020204" pitchFamily="34" charset="0"/>
                <a:cs typeface="Arial" panose="020B0604020202020204" pitchFamily="34" charset="0"/>
              </a:rPr>
              <a:t>correct communication errors occurring at the physical layer</a:t>
            </a:r>
          </a:p>
          <a:p>
            <a:pPr lvl="1">
              <a:lnSpc>
                <a:spcPct val="120000"/>
              </a:lnSpc>
            </a:pPr>
            <a:r>
              <a:rPr lang="en-US" altLang="zh-CN" sz="2000" dirty="0">
                <a:latin typeface="Arial" panose="020B0604020202020204" pitchFamily="34" charset="0"/>
                <a:cs typeface="Arial" panose="020B0604020202020204" pitchFamily="34" charset="0"/>
              </a:rPr>
              <a:t>perform other activities such as framing, addressing, and flow control</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0134" y="365125"/>
            <a:ext cx="4776274" cy="3480334"/>
          </a:xfrm>
          <a:prstGeom prst="rect">
            <a:avLst/>
          </a:prstGeom>
        </p:spPr>
      </p:pic>
      <p:sp>
        <p:nvSpPr>
          <p:cNvPr id="6" name="内容占位符 2">
            <a:extLst>
              <a:ext uri="{FF2B5EF4-FFF2-40B4-BE49-F238E27FC236}">
                <a16:creationId xmlns:a16="http://schemas.microsoft.com/office/drawing/2014/main" id="{F0281E53-A786-41AD-94A1-3AE5C19285E1}"/>
              </a:ext>
            </a:extLst>
          </p:cNvPr>
          <p:cNvSpPr txBox="1">
            <a:spLocks/>
          </p:cNvSpPr>
          <p:nvPr/>
        </p:nvSpPr>
        <p:spPr>
          <a:xfrm>
            <a:off x="1063030" y="1972698"/>
            <a:ext cx="4286061" cy="132556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zh-CN" sz="2400" dirty="0">
                <a:latin typeface="Arial" panose="020B0604020202020204" pitchFamily="34" charset="0"/>
                <a:cs typeface="Arial" panose="020B0604020202020204" pitchFamily="34" charset="0"/>
              </a:rPr>
              <a:t>Second layer of the OSI reference or the IEEE 802 reference model</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984888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Medium Access Control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1148588" cy="4810565"/>
          </a:xfrm>
        </p:spPr>
        <p:txBody>
          <a:bodyPr>
            <a:normAutofit fontScale="85000" lnSpcReduction="10000"/>
          </a:bodyPr>
          <a:lstStyle/>
          <a:p>
            <a:pPr>
              <a:lnSpc>
                <a:spcPct val="130000"/>
              </a:lnSpc>
            </a:pPr>
            <a:r>
              <a:rPr lang="en-US" altLang="zh-CN" dirty="0">
                <a:latin typeface="Arial" panose="020B0604020202020204" pitchFamily="34" charset="0"/>
                <a:cs typeface="Arial" panose="020B0604020202020204" pitchFamily="34" charset="0"/>
              </a:rPr>
              <a:t>In most networks, multiple nodes  </a:t>
            </a:r>
            <a:r>
              <a:rPr lang="en-US" altLang="zh-CN" dirty="0">
                <a:solidFill>
                  <a:schemeClr val="tx2">
                    <a:lumMod val="75000"/>
                    <a:lumOff val="25000"/>
                  </a:schemeClr>
                </a:solidFill>
                <a:latin typeface="Arial" panose="020B0604020202020204" pitchFamily="34" charset="0"/>
                <a:cs typeface="Arial" panose="020B0604020202020204" pitchFamily="34" charset="0"/>
              </a:rPr>
              <a:t>share a communication medium</a:t>
            </a:r>
            <a:r>
              <a:rPr lang="en-US" altLang="zh-CN" dirty="0">
                <a:latin typeface="Arial" panose="020B0604020202020204" pitchFamily="34" charset="0"/>
                <a:cs typeface="Arial" panose="020B0604020202020204" pitchFamily="34" charset="0"/>
              </a:rPr>
              <a:t> for transmitting their data packets </a:t>
            </a:r>
          </a:p>
          <a:p>
            <a:pPr>
              <a:lnSpc>
                <a:spcPct val="130000"/>
              </a:lnSpc>
            </a:pPr>
            <a:r>
              <a:rPr lang="en-US" altLang="zh-CN" dirty="0">
                <a:latin typeface="Arial" panose="020B0604020202020204" pitchFamily="34" charset="0"/>
                <a:cs typeface="Arial" panose="020B0604020202020204" pitchFamily="34" charset="0"/>
              </a:rPr>
              <a:t>The </a:t>
            </a:r>
            <a:r>
              <a:rPr lang="en-US" altLang="zh-CN" dirty="0">
                <a:solidFill>
                  <a:schemeClr val="tx2">
                    <a:lumMod val="75000"/>
                    <a:lumOff val="25000"/>
                  </a:schemeClr>
                </a:solidFill>
                <a:latin typeface="Arial" panose="020B0604020202020204" pitchFamily="34" charset="0"/>
                <a:cs typeface="Arial" panose="020B0604020202020204" pitchFamily="34" charset="0"/>
              </a:rPr>
              <a:t>medium access control (MAC) </a:t>
            </a:r>
            <a:r>
              <a:rPr lang="en-US" altLang="zh-CN" dirty="0">
                <a:latin typeface="Arial" panose="020B0604020202020204" pitchFamily="34" charset="0"/>
                <a:cs typeface="Arial" panose="020B0604020202020204" pitchFamily="34" charset="0"/>
              </a:rPr>
              <a:t>protocol is primarily responsible for regulating access to the shared medium </a:t>
            </a:r>
          </a:p>
          <a:p>
            <a:pPr>
              <a:lnSpc>
                <a:spcPct val="130000"/>
              </a:lnSpc>
            </a:pPr>
            <a:r>
              <a:rPr lang="en-US" altLang="zh-CN" dirty="0">
                <a:latin typeface="Arial" panose="020B0604020202020204" pitchFamily="34" charset="0"/>
                <a:cs typeface="Arial" panose="020B0604020202020204" pitchFamily="34" charset="0"/>
              </a:rPr>
              <a:t>The choice of MAC protocol has a direct bearing on the reliability and efficiency of network transmissions</a:t>
            </a:r>
          </a:p>
          <a:p>
            <a:pPr lvl="1">
              <a:lnSpc>
                <a:spcPct val="130000"/>
              </a:lnSpc>
            </a:pPr>
            <a:r>
              <a:rPr lang="en-US" altLang="zh-CN" dirty="0">
                <a:latin typeface="Arial" panose="020B0604020202020204" pitchFamily="34" charset="0"/>
                <a:cs typeface="Arial" panose="020B0604020202020204" pitchFamily="34" charset="0"/>
              </a:rPr>
              <a:t>due to errors and interferences in wireless communications and to other challenges </a:t>
            </a:r>
          </a:p>
          <a:p>
            <a:pPr>
              <a:lnSpc>
                <a:spcPct val="130000"/>
              </a:lnSpc>
            </a:pPr>
            <a:r>
              <a:rPr lang="en-US" altLang="zh-CN" dirty="0">
                <a:solidFill>
                  <a:schemeClr val="tx2">
                    <a:lumMod val="75000"/>
                    <a:lumOff val="25000"/>
                  </a:schemeClr>
                </a:solidFill>
                <a:latin typeface="Arial" panose="020B0604020202020204" pitchFamily="34" charset="0"/>
                <a:cs typeface="Arial" panose="020B0604020202020204" pitchFamily="34" charset="0"/>
              </a:rPr>
              <a:t>Energy efficiency </a:t>
            </a:r>
            <a:r>
              <a:rPr lang="en-US" altLang="zh-CN" dirty="0">
                <a:latin typeface="Arial" panose="020B0604020202020204" pitchFamily="34" charset="0"/>
                <a:cs typeface="Arial" panose="020B0604020202020204" pitchFamily="34" charset="0"/>
              </a:rPr>
              <a:t>also affects the design of the MAC protocol </a:t>
            </a:r>
          </a:p>
          <a:p>
            <a:pPr lvl="1">
              <a:lnSpc>
                <a:spcPct val="130000"/>
              </a:lnSpc>
            </a:pPr>
            <a:r>
              <a:rPr lang="en-US" altLang="zh-CN" dirty="0">
                <a:latin typeface="Arial" panose="020B0604020202020204" pitchFamily="34" charset="0"/>
                <a:cs typeface="Arial" panose="020B0604020202020204" pitchFamily="34" charset="0"/>
              </a:rPr>
              <a:t>trade energy efficiency for increased latency or a reduction in throughput or fairness </a:t>
            </a:r>
          </a:p>
        </p:txBody>
      </p:sp>
    </p:spTree>
    <p:extLst>
      <p:ext uri="{BB962C8B-B14F-4D97-AF65-F5344CB8AC3E}">
        <p14:creationId xmlns:p14="http://schemas.microsoft.com/office/powerpoint/2010/main" val="107871059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p>
        </p:txBody>
      </p:sp>
      <p:sp>
        <p:nvSpPr>
          <p:cNvPr id="3" name="内容占位符 2"/>
          <p:cNvSpPr>
            <a:spLocks noGrp="1"/>
          </p:cNvSpPr>
          <p:nvPr>
            <p:ph idx="1"/>
          </p:nvPr>
        </p:nvSpPr>
        <p:spPr/>
        <p:txBody>
          <a:bodyPr>
            <a:noAutofit/>
          </a:bodyPr>
          <a:lstStyle/>
          <a:p>
            <a:pPr>
              <a:lnSpc>
                <a:spcPct val="120000"/>
              </a:lnSpc>
            </a:pPr>
            <a:r>
              <a:rPr lang="en-US" altLang="zh-CN" sz="2400" b="1" dirty="0">
                <a:latin typeface="Arial" panose="020B0604020202020204" pitchFamily="34" charset="0"/>
                <a:cs typeface="Arial" panose="020B0604020202020204" pitchFamily="34" charset="0"/>
              </a:rPr>
              <a:t>Wireless MAC protocols</a:t>
            </a:r>
          </a:p>
          <a:p>
            <a:pPr>
              <a:lnSpc>
                <a:spcPct val="120000"/>
              </a:lnSpc>
            </a:pPr>
            <a:r>
              <a:rPr lang="en-US" altLang="zh-CN" sz="2400" dirty="0">
                <a:latin typeface="Arial" panose="020B0604020202020204" pitchFamily="34" charset="0"/>
                <a:cs typeface="Arial" panose="020B0604020202020204" pitchFamily="34" charset="0"/>
              </a:rPr>
              <a:t>Characteristics of MAC Protocols in Sensor Networks</a:t>
            </a:r>
          </a:p>
          <a:p>
            <a:pPr>
              <a:lnSpc>
                <a:spcPct val="120000"/>
              </a:lnSpc>
            </a:pPr>
            <a:r>
              <a:rPr lang="en-US" altLang="zh-CN" sz="2400" dirty="0">
                <a:latin typeface="Arial" panose="020B0604020202020204" pitchFamily="34" charset="0"/>
                <a:cs typeface="Arial" panose="020B0604020202020204" pitchFamily="34" charset="0"/>
              </a:rPr>
              <a:t>Contention-Free MAC Protocols</a:t>
            </a:r>
          </a:p>
          <a:p>
            <a:pPr>
              <a:lnSpc>
                <a:spcPct val="120000"/>
              </a:lnSpc>
            </a:pPr>
            <a:r>
              <a:rPr lang="en-US" altLang="zh-CN" sz="2400" dirty="0">
                <a:latin typeface="Arial" panose="020B0604020202020204" pitchFamily="34" charset="0"/>
                <a:cs typeface="Arial" panose="020B0604020202020204" pitchFamily="34" charset="0"/>
              </a:rPr>
              <a:t>Contention-Based MAC Protocols </a:t>
            </a:r>
          </a:p>
          <a:p>
            <a:pPr>
              <a:lnSpc>
                <a:spcPct val="120000"/>
              </a:lnSpc>
            </a:pPr>
            <a:r>
              <a:rPr lang="en-US" altLang="zh-CN" sz="2400" dirty="0">
                <a:latin typeface="Arial" panose="020B0604020202020204" pitchFamily="34" charset="0"/>
                <a:cs typeface="Arial" panose="020B0604020202020204" pitchFamily="34" charset="0"/>
              </a:rPr>
              <a:t>Hybrid MAC Protocols </a:t>
            </a:r>
          </a:p>
        </p:txBody>
      </p:sp>
    </p:spTree>
    <p:extLst>
      <p:ext uri="{BB962C8B-B14F-4D97-AF65-F5344CB8AC3E}">
        <p14:creationId xmlns:p14="http://schemas.microsoft.com/office/powerpoint/2010/main" val="355426641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MAC Protocol Categorization</a:t>
            </a:r>
            <a:endParaRPr lang="zh-CN" altLang="en-US" b="1" dirty="0">
              <a:latin typeface="Arial" panose="020B0604020202020204" pitchFamily="34" charset="0"/>
              <a:cs typeface="Arial" panose="020B0604020202020204" pitchFamily="34" charset="0"/>
            </a:endParaRP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1016" y="1690688"/>
            <a:ext cx="8125342" cy="4848095"/>
          </a:xfrm>
        </p:spPr>
      </p:pic>
    </p:spTree>
    <p:extLst>
      <p:ext uri="{BB962C8B-B14F-4D97-AF65-F5344CB8AC3E}">
        <p14:creationId xmlns:p14="http://schemas.microsoft.com/office/powerpoint/2010/main" val="12883385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Contention-Free Medium Access</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690688"/>
            <a:ext cx="10795503" cy="4574310"/>
          </a:xfrm>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Collisions can be avoided by ensuring that each node can use its allocated resources exclusively </a:t>
            </a:r>
          </a:p>
          <a:p>
            <a:pPr>
              <a:lnSpc>
                <a:spcPct val="120000"/>
              </a:lnSpc>
            </a:pPr>
            <a:r>
              <a:rPr lang="en-US" altLang="zh-CN" sz="2400" b="1" dirty="0">
                <a:solidFill>
                  <a:schemeClr val="tx2">
                    <a:lumMod val="75000"/>
                    <a:lumOff val="25000"/>
                  </a:schemeClr>
                </a:solidFill>
                <a:latin typeface="Arial" panose="020B0604020202020204" pitchFamily="34" charset="0"/>
                <a:cs typeface="Arial" panose="020B0604020202020204" pitchFamily="34" charset="0"/>
              </a:rPr>
              <a:t>FDMA</a:t>
            </a:r>
            <a:r>
              <a:rPr lang="en-US" altLang="zh-CN" sz="2400" dirty="0">
                <a:latin typeface="Arial" panose="020B0604020202020204" pitchFamily="34" charset="0"/>
                <a:cs typeface="Arial" panose="020B0604020202020204" pitchFamily="34" charset="0"/>
              </a:rPr>
              <a:t> : Frequency Division Multiple Access</a:t>
            </a:r>
          </a:p>
          <a:p>
            <a:pPr lvl="1">
              <a:lnSpc>
                <a:spcPct val="120000"/>
              </a:lnSpc>
            </a:pPr>
            <a:r>
              <a:rPr lang="en-US" altLang="zh-CN" sz="2000" dirty="0">
                <a:latin typeface="Arial" panose="020B0604020202020204" pitchFamily="34" charset="0"/>
                <a:cs typeface="Arial" panose="020B0604020202020204" pitchFamily="34" charset="0"/>
              </a:rPr>
              <a:t>the frequency band is divided into several smaller frequency bands</a:t>
            </a:r>
          </a:p>
          <a:p>
            <a:pPr lvl="1">
              <a:lnSpc>
                <a:spcPct val="120000"/>
              </a:lnSpc>
            </a:pPr>
            <a:r>
              <a:rPr lang="en-US" altLang="zh-CN" sz="2000" dirty="0">
                <a:latin typeface="Arial" panose="020B0604020202020204" pitchFamily="34" charset="0"/>
                <a:cs typeface="Arial" panose="020B0604020202020204" pitchFamily="34" charset="0"/>
              </a:rPr>
              <a:t>the data transfer between a pair of nodes uses one frequency band</a:t>
            </a:r>
          </a:p>
          <a:p>
            <a:pPr lvl="1">
              <a:lnSpc>
                <a:spcPct val="120000"/>
              </a:lnSpc>
            </a:pPr>
            <a:r>
              <a:rPr lang="en-US" altLang="zh-CN" sz="2000" dirty="0">
                <a:latin typeface="Arial" panose="020B0604020202020204" pitchFamily="34" charset="0"/>
                <a:cs typeface="Arial" panose="020B0604020202020204" pitchFamily="34" charset="0"/>
              </a:rPr>
              <a:t>all other nodes use a different frequency band</a:t>
            </a:r>
          </a:p>
          <a:p>
            <a:pPr>
              <a:lnSpc>
                <a:spcPct val="120000"/>
              </a:lnSpc>
            </a:pPr>
            <a:r>
              <a:rPr lang="en-US" altLang="zh-CN" sz="2400" b="1" dirty="0">
                <a:solidFill>
                  <a:schemeClr val="tx2">
                    <a:lumMod val="75000"/>
                    <a:lumOff val="25000"/>
                  </a:schemeClr>
                </a:solidFill>
                <a:latin typeface="Arial" panose="020B0604020202020204" pitchFamily="34" charset="0"/>
                <a:cs typeface="Arial" panose="020B0604020202020204" pitchFamily="34" charset="0"/>
              </a:rPr>
              <a:t>TDMA</a:t>
            </a:r>
            <a:r>
              <a:rPr lang="en-US" altLang="zh-CN" sz="2400" dirty="0">
                <a:latin typeface="Arial" panose="020B0604020202020204" pitchFamily="34" charset="0"/>
                <a:cs typeface="Arial" panose="020B0604020202020204" pitchFamily="34" charset="0"/>
              </a:rPr>
              <a:t> : Time Division Multiple Access </a:t>
            </a:r>
          </a:p>
          <a:p>
            <a:pPr lvl="1">
              <a:lnSpc>
                <a:spcPct val="120000"/>
              </a:lnSpc>
            </a:pPr>
            <a:r>
              <a:rPr lang="en-US" altLang="zh-CN" sz="2000" dirty="0">
                <a:latin typeface="Arial" panose="020B0604020202020204" pitchFamily="34" charset="0"/>
                <a:cs typeface="Arial" panose="020B0604020202020204" pitchFamily="34" charset="0"/>
              </a:rPr>
              <a:t>multiple devices to use the same frequency band</a:t>
            </a:r>
          </a:p>
          <a:p>
            <a:pPr lvl="1">
              <a:lnSpc>
                <a:spcPct val="120000"/>
              </a:lnSpc>
            </a:pPr>
            <a:r>
              <a:rPr lang="en-US" altLang="zh-CN" sz="2000" dirty="0">
                <a:latin typeface="Arial" panose="020B0604020202020204" pitchFamily="34" charset="0"/>
                <a:cs typeface="Arial" panose="020B0604020202020204" pitchFamily="34" charset="0"/>
              </a:rPr>
              <a:t>relies on periodic time windows ( frames)</a:t>
            </a:r>
          </a:p>
          <a:p>
            <a:pPr lvl="2">
              <a:lnSpc>
                <a:spcPct val="120000"/>
              </a:lnSpc>
            </a:pPr>
            <a:r>
              <a:rPr lang="en-US" altLang="zh-CN" sz="1600" dirty="0">
                <a:latin typeface="Arial" panose="020B0604020202020204" pitchFamily="34" charset="0"/>
                <a:cs typeface="Arial" panose="020B0604020202020204" pitchFamily="34" charset="0"/>
              </a:rPr>
              <a:t>frames consist of a fixed number of transmission slots to separate medium accesses of different devices</a:t>
            </a:r>
          </a:p>
          <a:p>
            <a:pPr lvl="2">
              <a:lnSpc>
                <a:spcPct val="120000"/>
              </a:lnSpc>
            </a:pPr>
            <a:r>
              <a:rPr lang="en-US" altLang="zh-CN" sz="1600" dirty="0">
                <a:latin typeface="Arial" panose="020B0604020202020204" pitchFamily="34" charset="0"/>
                <a:cs typeface="Arial" panose="020B0604020202020204" pitchFamily="34" charset="0"/>
              </a:rPr>
              <a:t>a time schedule indicates which node may transmit data during a certain slot</a:t>
            </a:r>
            <a:endParaRPr lang="zh-CN" alt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537072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Contention-Free Medium Access</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354901" cy="5486400"/>
          </a:xfrm>
        </p:spPr>
        <p:txBody>
          <a:bodyPr>
            <a:noAutofit/>
          </a:bodyPr>
          <a:lstStyle/>
          <a:p>
            <a:pPr>
              <a:lnSpc>
                <a:spcPct val="120000"/>
              </a:lnSpc>
            </a:pPr>
            <a:r>
              <a:rPr lang="en-US" altLang="zh-CN" sz="2400" b="1" dirty="0">
                <a:solidFill>
                  <a:schemeClr val="tx2">
                    <a:lumMod val="75000"/>
                    <a:lumOff val="25000"/>
                  </a:schemeClr>
                </a:solidFill>
                <a:latin typeface="Arial" panose="020B0604020202020204" pitchFamily="34" charset="0"/>
                <a:cs typeface="Arial" panose="020B0604020202020204" pitchFamily="34" charset="0"/>
              </a:rPr>
              <a:t>CDMA </a:t>
            </a:r>
            <a:r>
              <a:rPr lang="en-US" altLang="zh-CN" sz="2400" dirty="0">
                <a:latin typeface="Arial" panose="020B0604020202020204" pitchFamily="34" charset="0"/>
                <a:cs typeface="Arial" panose="020B0604020202020204" pitchFamily="34" charset="0"/>
              </a:rPr>
              <a:t>: Code Division Multiple Access </a:t>
            </a:r>
          </a:p>
          <a:p>
            <a:pPr lvl="1">
              <a:lnSpc>
                <a:spcPct val="120000"/>
              </a:lnSpc>
            </a:pPr>
            <a:r>
              <a:rPr lang="en-US" altLang="zh-CN" sz="2000" dirty="0">
                <a:latin typeface="Arial" panose="020B0604020202020204" pitchFamily="34" charset="0"/>
                <a:cs typeface="Arial" panose="020B0604020202020204" pitchFamily="34" charset="0"/>
              </a:rPr>
              <a:t>simultaneous accesses of the wireless medium are supported using different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codes </a:t>
            </a:r>
          </a:p>
          <a:p>
            <a:pPr lvl="1">
              <a:lnSpc>
                <a:spcPct val="120000"/>
              </a:lnSpc>
            </a:pPr>
            <a:r>
              <a:rPr lang="en-US" altLang="zh-CN" sz="2000" dirty="0">
                <a:latin typeface="Arial" panose="020B0604020202020204" pitchFamily="34" charset="0"/>
                <a:cs typeface="Arial" panose="020B0604020202020204" pitchFamily="34" charset="0"/>
              </a:rPr>
              <a:t>if these codes are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orthogonal</a:t>
            </a:r>
            <a:r>
              <a:rPr lang="en-US" altLang="zh-CN" sz="2000" dirty="0">
                <a:latin typeface="Arial" panose="020B0604020202020204" pitchFamily="34" charset="0"/>
                <a:cs typeface="Arial" panose="020B0604020202020204" pitchFamily="34" charset="0"/>
              </a:rPr>
              <a:t>, it is possible for multiple communications to share the same frequency band </a:t>
            </a:r>
          </a:p>
          <a:p>
            <a:pPr lvl="1">
              <a:lnSpc>
                <a:spcPct val="120000"/>
              </a:lnSpc>
            </a:pPr>
            <a:r>
              <a:rPr lang="en-US" altLang="zh-CN" sz="2000" dirty="0">
                <a:solidFill>
                  <a:schemeClr val="tx2">
                    <a:lumMod val="75000"/>
                    <a:lumOff val="25000"/>
                  </a:schemeClr>
                </a:solidFill>
                <a:latin typeface="Arial" panose="020B0604020202020204" pitchFamily="34" charset="0"/>
                <a:cs typeface="Arial" panose="020B0604020202020204" pitchFamily="34" charset="0"/>
              </a:rPr>
              <a:t>forward error correction </a:t>
            </a:r>
            <a:r>
              <a:rPr lang="en-US" altLang="zh-CN" sz="2000" dirty="0">
                <a:latin typeface="Arial" panose="020B0604020202020204" pitchFamily="34" charset="0"/>
                <a:cs typeface="Arial" panose="020B0604020202020204" pitchFamily="34" charset="0"/>
              </a:rPr>
              <a:t>(FEC) at the receiver is used to recover from interferences among these simultaneous communications </a:t>
            </a:r>
          </a:p>
          <a:p>
            <a:pPr>
              <a:lnSpc>
                <a:spcPct val="120000"/>
              </a:lnSpc>
            </a:pPr>
            <a:r>
              <a:rPr lang="en-US" altLang="zh-CN" sz="2400" dirty="0">
                <a:latin typeface="Arial" panose="020B0604020202020204" pitchFamily="34" charset="0"/>
                <a:cs typeface="Arial" panose="020B0604020202020204" pitchFamily="34" charset="0"/>
              </a:rPr>
              <a:t>Fixed assignment strategies are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inefficient</a:t>
            </a:r>
            <a:r>
              <a:rPr lang="en-US" altLang="zh-CN" sz="2400" dirty="0">
                <a:latin typeface="Arial" panose="020B0604020202020204" pitchFamily="34" charset="0"/>
                <a:cs typeface="Arial" panose="020B0604020202020204" pitchFamily="34" charset="0"/>
              </a:rPr>
              <a:t> </a:t>
            </a:r>
          </a:p>
          <a:p>
            <a:pPr lvl="1">
              <a:lnSpc>
                <a:spcPct val="120000"/>
              </a:lnSpc>
            </a:pPr>
            <a:r>
              <a:rPr lang="en-US" altLang="zh-CN" sz="2000" dirty="0">
                <a:latin typeface="Arial" panose="020B0604020202020204" pitchFamily="34" charset="0"/>
                <a:cs typeface="Arial" panose="020B0604020202020204" pitchFamily="34" charset="0"/>
              </a:rPr>
              <a:t>it is impossible to reallocate slots belonging to one device to other devices if not needed in every frame</a:t>
            </a:r>
          </a:p>
          <a:p>
            <a:pPr lvl="2">
              <a:lnSpc>
                <a:spcPct val="120000"/>
              </a:lnSpc>
            </a:pPr>
            <a:r>
              <a:rPr lang="en-US" altLang="zh-CN" sz="1800" dirty="0">
                <a:latin typeface="Arial" panose="020B0604020202020204" pitchFamily="34" charset="0"/>
                <a:cs typeface="Arial" panose="020B0604020202020204" pitchFamily="34" charset="0"/>
              </a:rPr>
              <a:t>generating schedules for an entire network can be a taunting task </a:t>
            </a:r>
          </a:p>
          <a:p>
            <a:pPr lvl="2">
              <a:lnSpc>
                <a:spcPct val="120000"/>
              </a:lnSpc>
            </a:pPr>
            <a:r>
              <a:rPr lang="en-US" altLang="zh-CN" sz="1800" dirty="0">
                <a:latin typeface="Arial" panose="020B0604020202020204" pitchFamily="34" charset="0"/>
                <a:cs typeface="Arial" panose="020B0604020202020204" pitchFamily="34" charset="0"/>
              </a:rPr>
              <a:t>these schedules may require modifications every time the network topology or traffic characteristics in the network change </a:t>
            </a:r>
          </a:p>
          <a:p>
            <a:pPr>
              <a:lnSpc>
                <a:spcPct val="120000"/>
              </a:lnSpc>
            </a:pPr>
            <a:endParaRPr lang="en-US" altLang="zh-CN" sz="2000" dirty="0">
              <a:latin typeface="Arial" panose="020B0604020202020204" pitchFamily="34" charset="0"/>
              <a:cs typeface="Arial" panose="020B0604020202020204" pitchFamily="34" charset="0"/>
            </a:endParaRPr>
          </a:p>
          <a:p>
            <a:pPr marL="0" indent="0">
              <a:lnSpc>
                <a:spcPct val="120000"/>
              </a:lnSpc>
              <a:buNone/>
            </a:pPr>
            <a:endParaRPr lang="en-US" altLang="zh-C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349707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Contention-Free Medium Access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61724"/>
            <a:ext cx="11105586" cy="4754563"/>
          </a:xfrm>
        </p:spPr>
        <p:txBody>
          <a:bodyPr>
            <a:noAutofit/>
          </a:bodyPr>
          <a:lstStyle/>
          <a:p>
            <a:pPr>
              <a:lnSpc>
                <a:spcPct val="100000"/>
              </a:lnSpc>
            </a:pPr>
            <a:r>
              <a:rPr lang="en-US" altLang="zh-CN" sz="2400" dirty="0">
                <a:latin typeface="Arial" panose="020B0604020202020204" pitchFamily="34" charset="0"/>
                <a:cs typeface="Arial" panose="020B0604020202020204" pitchFamily="34" charset="0"/>
              </a:rPr>
              <a:t>Dynamic assignment strategies: allow nodes to access the medium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on demand</a:t>
            </a:r>
            <a:endParaRPr lang="en-US" altLang="zh-CN" sz="2400" dirty="0">
              <a:latin typeface="Arial" panose="020B0604020202020204" pitchFamily="34" charset="0"/>
              <a:cs typeface="Arial" panose="020B0604020202020204" pitchFamily="34" charset="0"/>
            </a:endParaRPr>
          </a:p>
          <a:p>
            <a:pPr>
              <a:lnSpc>
                <a:spcPct val="10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polling-based protocols</a:t>
            </a:r>
          </a:p>
          <a:p>
            <a:pPr lvl="1">
              <a:lnSpc>
                <a:spcPct val="100000"/>
              </a:lnSpc>
            </a:pPr>
            <a:r>
              <a:rPr lang="en-US" altLang="zh-CN" sz="2000" dirty="0">
                <a:latin typeface="Arial" panose="020B0604020202020204" pitchFamily="34" charset="0"/>
                <a:cs typeface="Arial" panose="020B0604020202020204" pitchFamily="34" charset="0"/>
              </a:rPr>
              <a:t>a controller device issues small polling frames in a round-robin fashion, asking each station if it has data to send </a:t>
            </a:r>
          </a:p>
          <a:p>
            <a:pPr lvl="1">
              <a:lnSpc>
                <a:spcPct val="100000"/>
              </a:lnSpc>
            </a:pPr>
            <a:r>
              <a:rPr lang="en-US" altLang="zh-CN" sz="2000" dirty="0">
                <a:latin typeface="Arial" panose="020B0604020202020204" pitchFamily="34" charset="0"/>
                <a:cs typeface="Arial" panose="020B0604020202020204" pitchFamily="34" charset="0"/>
              </a:rPr>
              <a:t>if no data to be sent, the controller polls the next station </a:t>
            </a:r>
          </a:p>
          <a:p>
            <a:pPr marL="228600" lvl="1">
              <a:lnSpc>
                <a:spcPct val="100000"/>
              </a:lnSpc>
              <a:spcBef>
                <a:spcPts val="1000"/>
              </a:spcBef>
            </a:pPr>
            <a:r>
              <a:rPr lang="en-US" altLang="zh-CN" dirty="0">
                <a:solidFill>
                  <a:schemeClr val="tx2">
                    <a:lumMod val="75000"/>
                    <a:lumOff val="25000"/>
                  </a:schemeClr>
                </a:solidFill>
                <a:latin typeface="Arial" panose="020B0604020202020204" pitchFamily="34" charset="0"/>
                <a:cs typeface="Arial" panose="020B0604020202020204" pitchFamily="34" charset="0"/>
              </a:rPr>
              <a:t>token passing  </a:t>
            </a:r>
          </a:p>
          <a:p>
            <a:pPr lvl="1">
              <a:lnSpc>
                <a:spcPct val="100000"/>
              </a:lnSpc>
            </a:pPr>
            <a:r>
              <a:rPr lang="en-US" altLang="zh-CN" sz="2000" dirty="0">
                <a:latin typeface="Arial" panose="020B0604020202020204" pitchFamily="34" charset="0"/>
                <a:cs typeface="Arial" panose="020B0604020202020204" pitchFamily="34" charset="0"/>
              </a:rPr>
              <a:t>stations pass a polling request to each other (round-robin fashion) using a special frame called a token</a:t>
            </a:r>
          </a:p>
          <a:p>
            <a:pPr lvl="1">
              <a:lnSpc>
                <a:spcPct val="100000"/>
              </a:lnSpc>
            </a:pPr>
            <a:r>
              <a:rPr lang="en-US" altLang="zh-CN" sz="2000" dirty="0">
                <a:latin typeface="Arial" panose="020B0604020202020204" pitchFamily="34" charset="0"/>
                <a:cs typeface="Arial" panose="020B0604020202020204" pitchFamily="34" charset="0"/>
              </a:rPr>
              <a:t>a station is allowed to transmit data only when it holds the token</a:t>
            </a:r>
          </a:p>
          <a:p>
            <a:pPr marL="228600" lvl="1">
              <a:lnSpc>
                <a:spcPct val="100000"/>
              </a:lnSpc>
              <a:spcBef>
                <a:spcPts val="1000"/>
              </a:spcBef>
            </a:pPr>
            <a:r>
              <a:rPr lang="en-US" altLang="zh-CN" dirty="0">
                <a:solidFill>
                  <a:schemeClr val="tx2">
                    <a:lumMod val="75000"/>
                    <a:lumOff val="25000"/>
                  </a:schemeClr>
                </a:solidFill>
                <a:latin typeface="Arial" panose="020B0604020202020204" pitchFamily="34" charset="0"/>
                <a:cs typeface="Arial" panose="020B0604020202020204" pitchFamily="34" charset="0"/>
              </a:rPr>
              <a:t>reservation-based protocols </a:t>
            </a:r>
          </a:p>
          <a:p>
            <a:pPr lvl="1">
              <a:lnSpc>
                <a:spcPct val="100000"/>
              </a:lnSpc>
            </a:pPr>
            <a:r>
              <a:rPr lang="en-US" altLang="zh-CN" sz="2000" dirty="0">
                <a:latin typeface="Arial" panose="020B0604020202020204" pitchFamily="34" charset="0"/>
                <a:cs typeface="Arial" panose="020B0604020202020204" pitchFamily="34" charset="0"/>
              </a:rPr>
              <a:t>static time slots used to reserve future access to the medium </a:t>
            </a:r>
          </a:p>
          <a:p>
            <a:pPr lvl="1">
              <a:lnSpc>
                <a:spcPct val="100000"/>
              </a:lnSpc>
            </a:pPr>
            <a:r>
              <a:rPr lang="en-US" altLang="zh-CN" sz="2000" dirty="0">
                <a:latin typeface="Arial" panose="020B0604020202020204" pitchFamily="34" charset="0"/>
                <a:cs typeface="Arial" panose="020B0604020202020204" pitchFamily="34" charset="0"/>
              </a:rPr>
              <a:t>these often very complex protocols then ensure that other potentially conflicting nodes take note of such a reservation to avoid collisions </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1485738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Contention-Based Medium Access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4"/>
            <a:ext cx="11031245" cy="5032375"/>
          </a:xfrm>
        </p:spPr>
        <p:txBody>
          <a:bodyPr>
            <a:normAutofit fontScale="85000" lnSpcReduction="10000"/>
          </a:bodyPr>
          <a:lstStyle/>
          <a:p>
            <a:pPr>
              <a:lnSpc>
                <a:spcPct val="120000"/>
              </a:lnSpc>
            </a:pPr>
            <a:r>
              <a:rPr lang="en-US" altLang="zh-CN" dirty="0">
                <a:latin typeface="Arial" panose="020B0604020202020204" pitchFamily="34" charset="0"/>
                <a:cs typeface="Arial" panose="020B0604020202020204" pitchFamily="34" charset="0"/>
              </a:rPr>
              <a:t>Nodes may initiate transmissions at the same time</a:t>
            </a:r>
          </a:p>
          <a:p>
            <a:pPr lvl="1">
              <a:lnSpc>
                <a:spcPct val="120000"/>
              </a:lnSpc>
            </a:pPr>
            <a:r>
              <a:rPr lang="en-US" altLang="zh-CN" dirty="0">
                <a:latin typeface="Arial" panose="020B0604020202020204" pitchFamily="34" charset="0"/>
                <a:cs typeface="Arial" panose="020B0604020202020204" pitchFamily="34" charset="0"/>
              </a:rPr>
              <a:t>requires mechanisms to reduce the number of collisions and to recover from collisions </a:t>
            </a:r>
          </a:p>
          <a:p>
            <a:pPr>
              <a:lnSpc>
                <a:spcPct val="120000"/>
              </a:lnSpc>
            </a:pPr>
            <a:r>
              <a:rPr lang="en-US" altLang="zh-CN" dirty="0">
                <a:latin typeface="Arial" panose="020B0604020202020204" pitchFamily="34" charset="0"/>
                <a:cs typeface="Arial" panose="020B0604020202020204" pitchFamily="34" charset="0"/>
              </a:rPr>
              <a:t>Example 1: </a:t>
            </a:r>
            <a:r>
              <a:rPr lang="en-US" altLang="zh-CN" dirty="0">
                <a:solidFill>
                  <a:schemeClr val="tx2">
                    <a:lumMod val="75000"/>
                    <a:lumOff val="25000"/>
                  </a:schemeClr>
                </a:solidFill>
                <a:latin typeface="Arial" panose="020B0604020202020204" pitchFamily="34" charset="0"/>
                <a:cs typeface="Arial" panose="020B0604020202020204" pitchFamily="34" charset="0"/>
              </a:rPr>
              <a:t>ALOHA</a:t>
            </a:r>
            <a:r>
              <a:rPr lang="en-US" altLang="zh-CN" dirty="0">
                <a:latin typeface="Arial" panose="020B0604020202020204" pitchFamily="34" charset="0"/>
                <a:cs typeface="Arial" panose="020B0604020202020204" pitchFamily="34" charset="0"/>
              </a:rPr>
              <a:t> protocol </a:t>
            </a:r>
          </a:p>
          <a:p>
            <a:pPr lvl="1">
              <a:lnSpc>
                <a:spcPct val="120000"/>
              </a:lnSpc>
            </a:pPr>
            <a:r>
              <a:rPr lang="en-US" altLang="zh-CN" dirty="0">
                <a:latin typeface="Arial" panose="020B0604020202020204" pitchFamily="34" charset="0"/>
                <a:cs typeface="Arial" panose="020B0604020202020204" pitchFamily="34" charset="0"/>
              </a:rPr>
              <a:t>uses acknowledgments to confirm the success of a broadcast data transmission </a:t>
            </a:r>
          </a:p>
          <a:p>
            <a:pPr lvl="2">
              <a:lnSpc>
                <a:spcPct val="120000"/>
              </a:lnSpc>
            </a:pPr>
            <a:r>
              <a:rPr lang="en-US" altLang="zh-CN" dirty="0">
                <a:latin typeface="Arial" panose="020B0604020202020204" pitchFamily="34" charset="0"/>
                <a:cs typeface="Arial" panose="020B0604020202020204" pitchFamily="34" charset="0"/>
              </a:rPr>
              <a:t>allows nodes to access the medium immediately</a:t>
            </a:r>
          </a:p>
          <a:p>
            <a:pPr lvl="2">
              <a:lnSpc>
                <a:spcPct val="120000"/>
              </a:lnSpc>
            </a:pPr>
            <a:r>
              <a:rPr lang="en-US" altLang="zh-CN" dirty="0">
                <a:latin typeface="Arial" panose="020B0604020202020204" pitchFamily="34" charset="0"/>
                <a:cs typeface="Arial" panose="020B0604020202020204" pitchFamily="34" charset="0"/>
              </a:rPr>
              <a:t>addresses collisions with approaches such as </a:t>
            </a:r>
            <a:r>
              <a:rPr lang="en-US" altLang="zh-CN" dirty="0">
                <a:solidFill>
                  <a:schemeClr val="tx2">
                    <a:lumMod val="75000"/>
                    <a:lumOff val="25000"/>
                  </a:schemeClr>
                </a:solidFill>
                <a:latin typeface="Arial" panose="020B0604020202020204" pitchFamily="34" charset="0"/>
                <a:cs typeface="Arial" panose="020B0604020202020204" pitchFamily="34" charset="0"/>
              </a:rPr>
              <a:t>exponential back-off to</a:t>
            </a:r>
            <a:r>
              <a:rPr lang="en-US" altLang="zh-CN" dirty="0">
                <a:latin typeface="Arial" panose="020B0604020202020204" pitchFamily="34" charset="0"/>
                <a:cs typeface="Arial" panose="020B0604020202020204" pitchFamily="34" charset="0"/>
              </a:rPr>
              <a:t> increase the likelihood of successful transmissions </a:t>
            </a:r>
          </a:p>
          <a:p>
            <a:pPr>
              <a:lnSpc>
                <a:spcPct val="120000"/>
              </a:lnSpc>
            </a:pPr>
            <a:r>
              <a:rPr lang="en-US" altLang="zh-CN" dirty="0">
                <a:latin typeface="Arial" panose="020B0604020202020204" pitchFamily="34" charset="0"/>
                <a:cs typeface="Arial" panose="020B0604020202020204" pitchFamily="34" charset="0"/>
              </a:rPr>
              <a:t>Example 2: </a:t>
            </a:r>
            <a:r>
              <a:rPr lang="en-US" altLang="zh-CN" dirty="0">
                <a:solidFill>
                  <a:schemeClr val="tx2">
                    <a:lumMod val="75000"/>
                    <a:lumOff val="25000"/>
                  </a:schemeClr>
                </a:solidFill>
                <a:latin typeface="Arial" panose="020B0604020202020204" pitchFamily="34" charset="0"/>
                <a:cs typeface="Arial" panose="020B0604020202020204" pitchFamily="34" charset="0"/>
              </a:rPr>
              <a:t>slotted-ALOHA</a:t>
            </a:r>
            <a:r>
              <a:rPr lang="en-US" altLang="zh-CN" dirty="0">
                <a:latin typeface="Arial" panose="020B0604020202020204" pitchFamily="34" charset="0"/>
                <a:cs typeface="Arial" panose="020B0604020202020204" pitchFamily="34" charset="0"/>
              </a:rPr>
              <a:t>  protocol </a:t>
            </a:r>
          </a:p>
          <a:p>
            <a:pPr lvl="1">
              <a:lnSpc>
                <a:spcPct val="120000"/>
              </a:lnSpc>
            </a:pPr>
            <a:r>
              <a:rPr lang="en-US" altLang="zh-CN" dirty="0">
                <a:latin typeface="Arial" panose="020B0604020202020204" pitchFamily="34" charset="0"/>
                <a:cs typeface="Arial" panose="020B0604020202020204" pitchFamily="34" charset="0"/>
              </a:rPr>
              <a:t>requires that a station may commence transmission only at predefined points in time (the beginning of a time slot) </a:t>
            </a:r>
          </a:p>
          <a:p>
            <a:pPr lvl="1">
              <a:lnSpc>
                <a:spcPct val="120000"/>
              </a:lnSpc>
            </a:pPr>
            <a:r>
              <a:rPr lang="en-US" altLang="zh-CN" dirty="0">
                <a:latin typeface="Arial" panose="020B0604020202020204" pitchFamily="34" charset="0"/>
                <a:cs typeface="Arial" panose="020B0604020202020204" pitchFamily="34" charset="0"/>
              </a:rPr>
              <a:t>increases the efficiency of ALOHA</a:t>
            </a:r>
          </a:p>
          <a:p>
            <a:pPr lvl="1">
              <a:lnSpc>
                <a:spcPct val="120000"/>
              </a:lnSpc>
            </a:pPr>
            <a:r>
              <a:rPr lang="en-US" altLang="zh-CN" dirty="0">
                <a:latin typeface="Arial" panose="020B0604020202020204" pitchFamily="34" charset="0"/>
                <a:cs typeface="Arial" panose="020B0604020202020204" pitchFamily="34" charset="0"/>
              </a:rPr>
              <a:t>introduces the need for synchronization among nodes </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2940454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199" y="365125"/>
            <a:ext cx="10931305" cy="1325563"/>
          </a:xfrm>
        </p:spPr>
        <p:txBody>
          <a:bodyPr>
            <a:normAutofit/>
          </a:bodyPr>
          <a:lstStyle/>
          <a:p>
            <a:r>
              <a:rPr lang="en-US" altLang="zh-CN" b="1" dirty="0">
                <a:latin typeface="Arial" panose="020B0604020202020204" pitchFamily="34" charset="0"/>
                <a:cs typeface="Arial" panose="020B0604020202020204" pitchFamily="34" charset="0"/>
              </a:rPr>
              <a:t>Hidden and Exposed Terminal Problems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1732387"/>
          </a:xfrm>
        </p:spPr>
        <p:txBody>
          <a:bodyPr>
            <a:normAutofit/>
          </a:bodyPr>
          <a:lstStyle/>
          <a:p>
            <a:pPr>
              <a:lnSpc>
                <a:spcPct val="11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Hidden-terminal problem </a:t>
            </a:r>
          </a:p>
          <a:p>
            <a:pPr lvl="1">
              <a:lnSpc>
                <a:spcPct val="110000"/>
              </a:lnSpc>
            </a:pPr>
            <a:r>
              <a:rPr lang="en-US" altLang="zh-CN" sz="2000" dirty="0">
                <a:latin typeface="Arial" panose="020B0604020202020204" pitchFamily="34" charset="0"/>
                <a:cs typeface="Arial" panose="020B0604020202020204" pitchFamily="34" charset="0"/>
              </a:rPr>
              <a:t>senders A and C are able to reach B, but cannot overhear each other ʼ s signals</a:t>
            </a:r>
          </a:p>
          <a:p>
            <a:pPr lvl="1">
              <a:lnSpc>
                <a:spcPct val="110000"/>
              </a:lnSpc>
            </a:pPr>
            <a:r>
              <a:rPr lang="en-US" altLang="zh-CN" sz="2000" dirty="0">
                <a:latin typeface="Arial" panose="020B0604020202020204" pitchFamily="34" charset="0"/>
                <a:cs typeface="Arial" panose="020B0604020202020204" pitchFamily="34" charset="0"/>
              </a:rPr>
              <a:t>it is possible for A and C to transmit data to B at the same time, causing a collision at B, without being able to directly detect this collision</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3149" y="3692949"/>
            <a:ext cx="5451859" cy="2498365"/>
          </a:xfrm>
          <a:prstGeom prst="rect">
            <a:avLst/>
          </a:prstGeom>
        </p:spPr>
      </p:pic>
      <p:sp>
        <p:nvSpPr>
          <p:cNvPr id="5" name="内容占位符 2">
            <a:extLst>
              <a:ext uri="{FF2B5EF4-FFF2-40B4-BE49-F238E27FC236}">
                <a16:creationId xmlns:a16="http://schemas.microsoft.com/office/drawing/2014/main" id="{5303EEFE-7D50-4481-9688-5B00E11975BD}"/>
              </a:ext>
            </a:extLst>
          </p:cNvPr>
          <p:cNvSpPr txBox="1">
            <a:spLocks/>
          </p:cNvSpPr>
          <p:nvPr/>
        </p:nvSpPr>
        <p:spPr>
          <a:xfrm>
            <a:off x="838200" y="3523338"/>
            <a:ext cx="4774949" cy="3062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Exposed-terminal problem </a:t>
            </a:r>
          </a:p>
          <a:p>
            <a:pPr lvl="1">
              <a:lnSpc>
                <a:spcPct val="110000"/>
              </a:lnSpc>
            </a:pPr>
            <a:r>
              <a:rPr lang="en-US" altLang="zh-CN" sz="2000" dirty="0">
                <a:latin typeface="Arial" panose="020B0604020202020204" pitchFamily="34" charset="0"/>
                <a:cs typeface="Arial" panose="020B0604020202020204" pitchFamily="34" charset="0"/>
              </a:rPr>
              <a:t>C wants to transmit data D, but decides to wait because it overhears an ongoing transmission from B to A </a:t>
            </a:r>
          </a:p>
          <a:p>
            <a:pPr lvl="1">
              <a:lnSpc>
                <a:spcPct val="110000"/>
              </a:lnSpc>
            </a:pPr>
            <a:r>
              <a:rPr lang="en-US" altLang="zh-CN" sz="2000" dirty="0" err="1">
                <a:latin typeface="Arial" panose="020B0604020202020204" pitchFamily="34" charset="0"/>
                <a:cs typeface="Arial" panose="020B0604020202020204" pitchFamily="34" charset="0"/>
              </a:rPr>
              <a:t>Bʼ</a:t>
            </a:r>
            <a:r>
              <a:rPr lang="en-US" altLang="zh-CN" sz="2000" dirty="0">
                <a:latin typeface="Arial" panose="020B0604020202020204" pitchFamily="34" charset="0"/>
                <a:cs typeface="Arial" panose="020B0604020202020204" pitchFamily="34" charset="0"/>
              </a:rPr>
              <a:t> s transmission could not interfere with data reception at C</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256837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Contention-Based Medium Access</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CSMA with Collision Detection (CSMA/CD)</a:t>
            </a:r>
          </a:p>
          <a:p>
            <a:pPr lvl="1">
              <a:lnSpc>
                <a:spcPct val="120000"/>
              </a:lnSpc>
            </a:pPr>
            <a:r>
              <a:rPr lang="en-US" altLang="zh-CN" sz="2000" dirty="0">
                <a:latin typeface="Arial" panose="020B0604020202020204" pitchFamily="34" charset="0"/>
                <a:cs typeface="Arial" panose="020B0604020202020204" pitchFamily="34" charset="0"/>
              </a:rPr>
              <a:t>sender first senses the medium to determine whether it is idle or busy</a:t>
            </a:r>
          </a:p>
          <a:p>
            <a:pPr lvl="2">
              <a:lnSpc>
                <a:spcPct val="120000"/>
              </a:lnSpc>
            </a:pPr>
            <a:r>
              <a:rPr lang="en-US" altLang="zh-CN" dirty="0">
                <a:latin typeface="Arial" panose="020B0604020202020204" pitchFamily="34" charset="0"/>
                <a:cs typeface="Arial" panose="020B0604020202020204" pitchFamily="34" charset="0"/>
              </a:rPr>
              <a:t>if it is found busy, the sender refrains from transmitting packets </a:t>
            </a:r>
          </a:p>
          <a:p>
            <a:pPr lvl="2">
              <a:lnSpc>
                <a:spcPct val="120000"/>
              </a:lnSpc>
            </a:pPr>
            <a:r>
              <a:rPr lang="en-US" altLang="zh-CN" dirty="0">
                <a:latin typeface="Arial" panose="020B0604020202020204" pitchFamily="34" charset="0"/>
                <a:cs typeface="Arial" panose="020B0604020202020204" pitchFamily="34" charset="0"/>
              </a:rPr>
              <a:t>if the medium is idle, the sender can initiate data transmission </a:t>
            </a:r>
          </a:p>
          <a:p>
            <a:pPr marL="228600" lvl="1">
              <a:lnSpc>
                <a:spcPct val="120000"/>
              </a:lnSpc>
              <a:spcBef>
                <a:spcPts val="1000"/>
              </a:spcBef>
            </a:pPr>
            <a:r>
              <a:rPr lang="en-US" altLang="zh-CN" dirty="0">
                <a:solidFill>
                  <a:schemeClr val="tx2">
                    <a:lumMod val="75000"/>
                    <a:lumOff val="25000"/>
                  </a:schemeClr>
                </a:solidFill>
                <a:latin typeface="Arial" panose="020B0604020202020204" pitchFamily="34" charset="0"/>
                <a:cs typeface="Arial" panose="020B0604020202020204" pitchFamily="34" charset="0"/>
              </a:rPr>
              <a:t>CSMA with Collision Avoidance (CSMA/CA)</a:t>
            </a:r>
          </a:p>
          <a:p>
            <a:pPr lvl="1">
              <a:lnSpc>
                <a:spcPct val="120000"/>
              </a:lnSpc>
            </a:pPr>
            <a:r>
              <a:rPr lang="en-US" altLang="zh-CN" sz="2000" dirty="0">
                <a:latin typeface="Arial" panose="020B0604020202020204" pitchFamily="34" charset="0"/>
                <a:cs typeface="Arial" panose="020B0604020202020204" pitchFamily="34" charset="0"/>
              </a:rPr>
              <a:t>CSMA/CD requires that sender aware of collisions</a:t>
            </a:r>
          </a:p>
          <a:p>
            <a:pPr lvl="1">
              <a:lnSpc>
                <a:spcPct val="120000"/>
              </a:lnSpc>
            </a:pPr>
            <a:r>
              <a:rPr lang="en-US" altLang="zh-CN" sz="2000" dirty="0">
                <a:latin typeface="Arial" panose="020B0604020202020204" pitchFamily="34" charset="0"/>
                <a:cs typeface="Arial" panose="020B0604020202020204" pitchFamily="34" charset="0"/>
              </a:rPr>
              <a:t>CSMA/CA attempts to avoid collisions in the first place </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1569135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Carrier Sense Multiple Access</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985626" cy="4855832"/>
          </a:xfrm>
        </p:spPr>
        <p:txBody>
          <a:bodyPr>
            <a:noAutofit/>
          </a:bodyPr>
          <a:lstStyle/>
          <a:p>
            <a:pPr>
              <a:lnSpc>
                <a:spcPct val="110000"/>
              </a:lnSpc>
            </a:pPr>
            <a:r>
              <a:rPr lang="en-US" altLang="zh-CN" sz="2400" dirty="0">
                <a:latin typeface="Arial" panose="020B0604020202020204" pitchFamily="34" charset="0"/>
                <a:cs typeface="Arial" panose="020B0604020202020204" pitchFamily="34" charset="0"/>
              </a:rPr>
              <a:t>Nodes first sense the medium before they begin a transmission (reduces number of collisions)</a:t>
            </a:r>
          </a:p>
          <a:p>
            <a:pPr>
              <a:lnSpc>
                <a:spcPct val="11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Non-persistent CSMA</a:t>
            </a:r>
            <a:endParaRPr lang="en-US" altLang="zh-CN" sz="2400" dirty="0">
              <a:latin typeface="Arial" panose="020B0604020202020204" pitchFamily="34" charset="0"/>
              <a:cs typeface="Arial" panose="020B0604020202020204" pitchFamily="34" charset="0"/>
            </a:endParaRPr>
          </a:p>
          <a:p>
            <a:pPr lvl="1">
              <a:lnSpc>
                <a:spcPct val="110000"/>
              </a:lnSpc>
            </a:pPr>
            <a:r>
              <a:rPr lang="en-US" altLang="zh-CN" sz="2000" dirty="0">
                <a:latin typeface="Arial" panose="020B0604020202020204" pitchFamily="34" charset="0"/>
                <a:cs typeface="Arial" panose="020B0604020202020204" pitchFamily="34" charset="0"/>
              </a:rPr>
              <a:t>node is allowed to immediately transmit data once medium is idle </a:t>
            </a:r>
          </a:p>
          <a:p>
            <a:pPr lvl="1">
              <a:lnSpc>
                <a:spcPct val="110000"/>
              </a:lnSpc>
            </a:pPr>
            <a:r>
              <a:rPr lang="en-US" altLang="zh-CN" sz="2000" dirty="0">
                <a:latin typeface="Arial" panose="020B0604020202020204" pitchFamily="34" charset="0"/>
                <a:cs typeface="Arial" panose="020B0604020202020204" pitchFamily="34" charset="0"/>
              </a:rPr>
              <a:t>if the medium is busy, the node performs a back-off operation</a:t>
            </a:r>
          </a:p>
          <a:p>
            <a:pPr lvl="2">
              <a:lnSpc>
                <a:spcPct val="110000"/>
              </a:lnSpc>
            </a:pPr>
            <a:r>
              <a:rPr lang="en-US" altLang="zh-CN" dirty="0">
                <a:latin typeface="Arial" panose="020B0604020202020204" pitchFamily="34" charset="0"/>
                <a:cs typeface="Arial" panose="020B0604020202020204" pitchFamily="34" charset="0"/>
              </a:rPr>
              <a:t>wait for a certain amount of time before attempting to transmit again </a:t>
            </a:r>
          </a:p>
          <a:p>
            <a:pPr>
              <a:lnSpc>
                <a:spcPct val="11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1-persistent CSMA</a:t>
            </a:r>
          </a:p>
          <a:p>
            <a:pPr lvl="1">
              <a:lnSpc>
                <a:spcPct val="110000"/>
              </a:lnSpc>
            </a:pPr>
            <a:r>
              <a:rPr lang="en-US" altLang="zh-CN" sz="2000" dirty="0">
                <a:latin typeface="Arial" panose="020B0604020202020204" pitchFamily="34" charset="0"/>
                <a:cs typeface="Arial" panose="020B0604020202020204" pitchFamily="34" charset="0"/>
              </a:rPr>
              <a:t>node wishing to transmit data continuously senses the medium for activity</a:t>
            </a:r>
          </a:p>
          <a:p>
            <a:pPr lvl="1">
              <a:lnSpc>
                <a:spcPct val="110000"/>
              </a:lnSpc>
            </a:pPr>
            <a:r>
              <a:rPr lang="en-US" altLang="zh-CN" sz="2000" dirty="0">
                <a:latin typeface="Arial" panose="020B0604020202020204" pitchFamily="34" charset="0"/>
                <a:cs typeface="Arial" panose="020B0604020202020204" pitchFamily="34" charset="0"/>
              </a:rPr>
              <a:t>once the medium is found idle, the node transmits data immediately</a:t>
            </a:r>
          </a:p>
          <a:p>
            <a:pPr lvl="1">
              <a:lnSpc>
                <a:spcPct val="110000"/>
              </a:lnSpc>
            </a:pPr>
            <a:r>
              <a:rPr lang="en-US" altLang="zh-CN" sz="2000" dirty="0">
                <a:latin typeface="Arial" panose="020B0604020202020204" pitchFamily="34" charset="0"/>
                <a:cs typeface="Arial" panose="020B0604020202020204" pitchFamily="34" charset="0"/>
              </a:rPr>
              <a:t>if a collision occurs, the node waits for a random period of time before attempting to transmit again</a:t>
            </a:r>
          </a:p>
        </p:txBody>
      </p:sp>
    </p:spTree>
    <p:extLst>
      <p:ext uri="{BB962C8B-B14F-4D97-AF65-F5344CB8AC3E}">
        <p14:creationId xmlns:p14="http://schemas.microsoft.com/office/powerpoint/2010/main" val="363043676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Carrier Sense Multiple Access</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498350"/>
            <a:ext cx="11030894" cy="5119733"/>
          </a:xfrm>
        </p:spPr>
        <p:txBody>
          <a:bodyPr>
            <a:noAutofit/>
          </a:bodyPr>
          <a:lstStyle/>
          <a:p>
            <a:pPr>
              <a:lnSpc>
                <a:spcPct val="11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p-persistent CSMA</a:t>
            </a:r>
          </a:p>
          <a:p>
            <a:pPr lvl="1">
              <a:lnSpc>
                <a:spcPct val="110000"/>
              </a:lnSpc>
            </a:pPr>
            <a:r>
              <a:rPr lang="en-US" altLang="zh-CN" sz="2000" dirty="0">
                <a:latin typeface="Arial" panose="020B0604020202020204" pitchFamily="34" charset="0"/>
                <a:cs typeface="Arial" panose="020B0604020202020204" pitchFamily="34" charset="0"/>
              </a:rPr>
              <a:t>node continuously senses the medium</a:t>
            </a:r>
          </a:p>
          <a:p>
            <a:pPr lvl="1">
              <a:lnSpc>
                <a:spcPct val="110000"/>
              </a:lnSpc>
            </a:pPr>
            <a:r>
              <a:rPr lang="en-US" altLang="zh-CN" sz="2000" dirty="0">
                <a:latin typeface="Arial" panose="020B0604020202020204" pitchFamily="34" charset="0"/>
                <a:cs typeface="Arial" panose="020B0604020202020204" pitchFamily="34" charset="0"/>
              </a:rPr>
              <a:t>node transmits data with a probability  p  once the medium becomes idle </a:t>
            </a:r>
          </a:p>
          <a:p>
            <a:pPr lvl="1">
              <a:lnSpc>
                <a:spcPct val="110000"/>
              </a:lnSpc>
            </a:pPr>
            <a:r>
              <a:rPr lang="en-US" altLang="zh-CN" sz="2000" dirty="0">
                <a:latin typeface="Arial" panose="020B0604020202020204" pitchFamily="34" charset="0"/>
                <a:cs typeface="Arial" panose="020B0604020202020204" pitchFamily="34" charset="0"/>
              </a:rPr>
              <a:t>delays transmission with a probability 1  − p</a:t>
            </a:r>
          </a:p>
          <a:p>
            <a:pPr lvl="1">
              <a:lnSpc>
                <a:spcPct val="110000"/>
              </a:lnSpc>
            </a:pPr>
            <a:r>
              <a:rPr lang="en-US" altLang="zh-CN" sz="2000" dirty="0">
                <a:latin typeface="Arial" panose="020B0604020202020204" pitchFamily="34" charset="0"/>
                <a:cs typeface="Arial" panose="020B0604020202020204" pitchFamily="34" charset="0"/>
              </a:rPr>
              <a:t>random back-off values are either continuous values in the case of un-slotted CSMA or multiples of a fixed slot size in slotted CSMA</a:t>
            </a:r>
          </a:p>
          <a:p>
            <a:pPr>
              <a:lnSpc>
                <a:spcPct val="11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CSMA/CA (CSMA with Collision Avoidance)</a:t>
            </a:r>
          </a:p>
          <a:p>
            <a:pPr lvl="1">
              <a:lnSpc>
                <a:spcPct val="110000"/>
              </a:lnSpc>
            </a:pPr>
            <a:r>
              <a:rPr lang="en-US" altLang="zh-CN" sz="2000" dirty="0">
                <a:latin typeface="Arial" panose="020B0604020202020204" pitchFamily="34" charset="0"/>
                <a:cs typeface="Arial" panose="020B0604020202020204" pitchFamily="34" charset="0"/>
              </a:rPr>
              <a:t>nodes sense the medium, but do not immediately access the channel when it is found idle </a:t>
            </a:r>
          </a:p>
          <a:p>
            <a:pPr lvl="1">
              <a:lnSpc>
                <a:spcPct val="110000"/>
              </a:lnSpc>
            </a:pPr>
            <a:r>
              <a:rPr lang="en-US" altLang="zh-CN" sz="2000" dirty="0">
                <a:latin typeface="Arial" panose="020B0604020202020204" pitchFamily="34" charset="0"/>
                <a:cs typeface="Arial" panose="020B0604020202020204" pitchFamily="34" charset="0"/>
              </a:rPr>
              <a:t>instead, a node waits for a time period called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DCF </a:t>
            </a:r>
            <a:r>
              <a:rPr lang="en-US" altLang="zh-CN" sz="2000" dirty="0" err="1">
                <a:solidFill>
                  <a:schemeClr val="tx2">
                    <a:lumMod val="75000"/>
                    <a:lumOff val="25000"/>
                  </a:schemeClr>
                </a:solidFill>
                <a:latin typeface="Arial" panose="020B0604020202020204" pitchFamily="34" charset="0"/>
                <a:cs typeface="Arial" panose="020B0604020202020204" pitchFamily="34" charset="0"/>
              </a:rPr>
              <a:t>interframe</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 space (DIFS) </a:t>
            </a:r>
            <a:r>
              <a:rPr lang="en-US" altLang="zh-CN" sz="2000" dirty="0">
                <a:latin typeface="Arial" panose="020B0604020202020204" pitchFamily="34" charset="0"/>
                <a:cs typeface="Arial" panose="020B0604020202020204" pitchFamily="34" charset="0"/>
              </a:rPr>
              <a:t>plus a multiple of a slot size </a:t>
            </a:r>
          </a:p>
          <a:p>
            <a:pPr lvl="1">
              <a:lnSpc>
                <a:spcPct val="110000"/>
              </a:lnSpc>
            </a:pPr>
            <a:r>
              <a:rPr lang="en-US" altLang="zh-CN" sz="2000" dirty="0">
                <a:latin typeface="Arial" panose="020B0604020202020204" pitchFamily="34" charset="0"/>
                <a:cs typeface="Arial" panose="020B0604020202020204" pitchFamily="34" charset="0"/>
              </a:rPr>
              <a:t>in case there are multiple nodes attempting to access the medium, the one with the shorter back-off period will win</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786741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Carrier Sense Multiple Access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16863"/>
            <a:ext cx="10677808" cy="4351338"/>
          </a:xfrm>
        </p:spPr>
        <p:txBody>
          <a:bodyPr>
            <a:normAutofit/>
          </a:bodyPr>
          <a:lstStyle/>
          <a:p>
            <a:pPr>
              <a:lnSpc>
                <a:spcPct val="110000"/>
              </a:lnSpc>
            </a:pPr>
            <a:r>
              <a:rPr lang="en-US" altLang="zh-CN" sz="2400" dirty="0">
                <a:latin typeface="Arial" panose="020B0604020202020204" pitchFamily="34" charset="0"/>
                <a:cs typeface="Arial" panose="020B0604020202020204" pitchFamily="34" charset="0"/>
              </a:rPr>
              <a:t>Example:</a:t>
            </a:r>
          </a:p>
          <a:p>
            <a:pPr lvl="1">
              <a:lnSpc>
                <a:spcPct val="110000"/>
              </a:lnSpc>
            </a:pPr>
            <a:r>
              <a:rPr lang="en-US" altLang="zh-CN" sz="2000" dirty="0">
                <a:latin typeface="Arial" panose="020B0604020202020204" pitchFamily="34" charset="0"/>
                <a:cs typeface="Arial" panose="020B0604020202020204" pitchFamily="34" charset="0"/>
              </a:rPr>
              <a:t>node A waits for DIFS + 4  ∗ s  (where s represents the slot size), while node </a:t>
            </a:r>
            <a:r>
              <a:rPr lang="en-US" altLang="zh-CN" sz="2000" dirty="0" err="1">
                <a:latin typeface="Arial" panose="020B0604020202020204" pitchFamily="34" charset="0"/>
                <a:cs typeface="Arial" panose="020B0604020202020204" pitchFamily="34" charset="0"/>
              </a:rPr>
              <a:t>Bʼ</a:t>
            </a:r>
            <a:r>
              <a:rPr lang="en-US" altLang="zh-CN" sz="2000" dirty="0">
                <a:latin typeface="Arial" panose="020B0604020202020204" pitchFamily="34" charset="0"/>
                <a:cs typeface="Arial" panose="020B0604020202020204" pitchFamily="34" charset="0"/>
              </a:rPr>
              <a:t> s back-off is DIFS + 7  ∗ s</a:t>
            </a:r>
          </a:p>
          <a:p>
            <a:pPr lvl="1">
              <a:lnSpc>
                <a:spcPct val="110000"/>
              </a:lnSpc>
            </a:pPr>
            <a:r>
              <a:rPr lang="en-US" altLang="zh-CN" sz="2000" dirty="0">
                <a:latin typeface="Arial" panose="020B0604020202020204" pitchFamily="34" charset="0"/>
                <a:cs typeface="Arial" panose="020B0604020202020204" pitchFamily="34" charset="0"/>
              </a:rPr>
              <a:t>once node A begins with its transmission, node B freezes its own back-off timer and resumes the timer after node A completes its transmission plus another period of DIFS</a:t>
            </a:r>
          </a:p>
          <a:p>
            <a:pPr lvl="1">
              <a:lnSpc>
                <a:spcPct val="110000"/>
              </a:lnSpc>
            </a:pPr>
            <a:r>
              <a:rPr lang="en-US" altLang="zh-CN" sz="2000" dirty="0">
                <a:latin typeface="Arial" panose="020B0604020202020204" pitchFamily="34" charset="0"/>
                <a:cs typeface="Arial" panose="020B0604020202020204" pitchFamily="34" charset="0"/>
              </a:rPr>
              <a:t>once node B </a:t>
            </a:r>
            <a:r>
              <a:rPr lang="en-US" altLang="zh-CN" sz="2000" dirty="0" err="1">
                <a:latin typeface="Arial" panose="020B0604020202020204" pitchFamily="34" charset="0"/>
                <a:cs typeface="Arial" panose="020B0604020202020204" pitchFamily="34" charset="0"/>
              </a:rPr>
              <a:t>ʼs</a:t>
            </a:r>
            <a:r>
              <a:rPr lang="en-US" altLang="zh-CN" sz="2000" dirty="0">
                <a:latin typeface="Arial" panose="020B0604020202020204" pitchFamily="34" charset="0"/>
                <a:cs typeface="Arial" panose="020B0604020202020204" pitchFamily="34" charset="0"/>
              </a:rPr>
              <a:t> back-off timer expires, it can also begin its transmission</a:t>
            </a:r>
          </a:p>
          <a:p>
            <a:pPr lvl="1">
              <a:lnSpc>
                <a:spcPct val="110000"/>
              </a:lnSpc>
            </a:pPr>
            <a:endParaRPr lang="zh-CN" altLang="en-US" sz="2000" dirty="0">
              <a:latin typeface="Arial" panose="020B0604020202020204" pitchFamily="34" charset="0"/>
              <a:cs typeface="Arial" panose="020B0604020202020204" pitchFamily="34" charset="0"/>
            </a:endParaRPr>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t="2517"/>
          <a:stretch/>
        </p:blipFill>
        <p:spPr>
          <a:xfrm>
            <a:off x="2201612" y="4015211"/>
            <a:ext cx="8085388" cy="2842789"/>
          </a:xfrm>
          <a:prstGeom prst="rect">
            <a:avLst/>
          </a:prstGeom>
        </p:spPr>
      </p:pic>
    </p:spTree>
    <p:extLst>
      <p:ext uri="{BB962C8B-B14F-4D97-AF65-F5344CB8AC3E}">
        <p14:creationId xmlns:p14="http://schemas.microsoft.com/office/powerpoint/2010/main" val="106145504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MACA and MACAW</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22333"/>
            <a:ext cx="10773792" cy="5335667"/>
          </a:xfrm>
        </p:spPr>
        <p:txBody>
          <a:bodyPr>
            <a:normAutofit fontScale="92500" lnSpcReduction="10000"/>
          </a:bodyPr>
          <a:lstStyle/>
          <a:p>
            <a:pPr>
              <a:lnSpc>
                <a:spcPct val="110000"/>
              </a:lnSpc>
            </a:pPr>
            <a:r>
              <a:rPr lang="en-US" altLang="zh-CN" sz="2600" dirty="0">
                <a:solidFill>
                  <a:schemeClr val="tx2">
                    <a:lumMod val="75000"/>
                    <a:lumOff val="25000"/>
                  </a:schemeClr>
                </a:solidFill>
                <a:latin typeface="Arial" panose="020B0604020202020204" pitchFamily="34" charset="0"/>
                <a:cs typeface="Arial" panose="020B0604020202020204" pitchFamily="34" charset="0"/>
              </a:rPr>
              <a:t>Multiple Access with Collision Avoidance (MACA) </a:t>
            </a:r>
          </a:p>
          <a:p>
            <a:pPr lvl="1" indent="-342900">
              <a:lnSpc>
                <a:spcPct val="110000"/>
              </a:lnSpc>
            </a:pPr>
            <a:r>
              <a:rPr lang="en-US" altLang="zh-CN" sz="2200" dirty="0">
                <a:latin typeface="Arial" panose="020B0604020202020204" pitchFamily="34" charset="0"/>
                <a:cs typeface="Arial" panose="020B0604020202020204" pitchFamily="34" charset="0"/>
              </a:rPr>
              <a:t>dynamic reservation mechanism  </a:t>
            </a:r>
          </a:p>
          <a:p>
            <a:pPr lvl="1" indent="-342900">
              <a:lnSpc>
                <a:spcPct val="110000"/>
              </a:lnSpc>
            </a:pPr>
            <a:r>
              <a:rPr lang="en-US" altLang="zh-CN" sz="2200" dirty="0">
                <a:latin typeface="Arial" panose="020B0604020202020204" pitchFamily="34" charset="0"/>
                <a:cs typeface="Arial" panose="020B0604020202020204" pitchFamily="34" charset="0"/>
              </a:rPr>
              <a:t>sender indicates desire to send </a:t>
            </a:r>
            <a:r>
              <a:rPr lang="en-US" altLang="zh-CN" sz="2200" dirty="0">
                <a:solidFill>
                  <a:schemeClr val="tx2">
                    <a:lumMod val="75000"/>
                    <a:lumOff val="25000"/>
                  </a:schemeClr>
                </a:solidFill>
                <a:latin typeface="Arial" panose="020B0604020202020204" pitchFamily="34" charset="0"/>
                <a:cs typeface="Arial" panose="020B0604020202020204" pitchFamily="34" charset="0"/>
              </a:rPr>
              <a:t>with ready-to-send (RTS) </a:t>
            </a:r>
            <a:r>
              <a:rPr lang="en-US" altLang="zh-CN" sz="2200" dirty="0">
                <a:latin typeface="Arial" panose="020B0604020202020204" pitchFamily="34" charset="0"/>
                <a:cs typeface="Arial" panose="020B0604020202020204" pitchFamily="34" charset="0"/>
              </a:rPr>
              <a:t>packet</a:t>
            </a:r>
          </a:p>
          <a:p>
            <a:pPr lvl="1" indent="-342900">
              <a:lnSpc>
                <a:spcPct val="110000"/>
              </a:lnSpc>
            </a:pPr>
            <a:r>
              <a:rPr lang="en-US" altLang="zh-CN" sz="2200" dirty="0">
                <a:latin typeface="Arial" panose="020B0604020202020204" pitchFamily="34" charset="0"/>
                <a:cs typeface="Arial" panose="020B0604020202020204" pitchFamily="34" charset="0"/>
              </a:rPr>
              <a:t>intended receiver responds with  </a:t>
            </a:r>
            <a:r>
              <a:rPr lang="en-US" altLang="zh-CN" sz="2200" dirty="0">
                <a:solidFill>
                  <a:schemeClr val="tx2">
                    <a:lumMod val="75000"/>
                    <a:lumOff val="25000"/>
                  </a:schemeClr>
                </a:solidFill>
                <a:latin typeface="Arial" panose="020B0604020202020204" pitchFamily="34" charset="0"/>
                <a:cs typeface="Arial" panose="020B0604020202020204" pitchFamily="34" charset="0"/>
              </a:rPr>
              <a:t>clear-to-send (CTS)</a:t>
            </a:r>
            <a:r>
              <a:rPr lang="en-US" altLang="zh-CN" sz="2200" dirty="0">
                <a:latin typeface="Arial" panose="020B0604020202020204" pitchFamily="34" charset="0"/>
                <a:cs typeface="Arial" panose="020B0604020202020204" pitchFamily="34" charset="0"/>
              </a:rPr>
              <a:t>  packet</a:t>
            </a:r>
          </a:p>
          <a:p>
            <a:pPr lvl="1" indent="-342900">
              <a:lnSpc>
                <a:spcPct val="110000"/>
              </a:lnSpc>
            </a:pPr>
            <a:r>
              <a:rPr lang="en-US" altLang="zh-CN" sz="2200" dirty="0">
                <a:latin typeface="Arial" panose="020B0604020202020204" pitchFamily="34" charset="0"/>
                <a:cs typeface="Arial" panose="020B0604020202020204" pitchFamily="34" charset="0"/>
              </a:rPr>
              <a:t>if sender does not receive CTS, it will retry at later point in time </a:t>
            </a:r>
          </a:p>
          <a:p>
            <a:pPr lvl="1" indent="-342900">
              <a:lnSpc>
                <a:spcPct val="110000"/>
              </a:lnSpc>
            </a:pPr>
            <a:r>
              <a:rPr lang="en-US" altLang="zh-CN" sz="2200" dirty="0">
                <a:latin typeface="Arial" panose="020B0604020202020204" pitchFamily="34" charset="0"/>
                <a:cs typeface="Arial" panose="020B0604020202020204" pitchFamily="34" charset="0"/>
              </a:rPr>
              <a:t>nodes overhearing RTS or CTS know that reservation has taken place and must wait (e.g., based on the size of data transmission)</a:t>
            </a:r>
          </a:p>
          <a:p>
            <a:pPr lvl="1" indent="-342900">
              <a:lnSpc>
                <a:spcPct val="110000"/>
              </a:lnSpc>
            </a:pPr>
            <a:r>
              <a:rPr lang="en-US" altLang="zh-CN" sz="2200" dirty="0">
                <a:latin typeface="Arial" panose="020B0604020202020204" pitchFamily="34" charset="0"/>
                <a:cs typeface="Arial" panose="020B0604020202020204" pitchFamily="34" charset="0"/>
              </a:rPr>
              <a:t>address hidden terminal problem and reduces number of collisions</a:t>
            </a:r>
          </a:p>
          <a:p>
            <a:pPr>
              <a:lnSpc>
                <a:spcPct val="110000"/>
              </a:lnSpc>
            </a:pPr>
            <a:r>
              <a:rPr lang="en-US" altLang="zh-CN" sz="2600" dirty="0">
                <a:solidFill>
                  <a:schemeClr val="tx2">
                    <a:lumMod val="75000"/>
                    <a:lumOff val="25000"/>
                  </a:schemeClr>
                </a:solidFill>
                <a:latin typeface="Arial" panose="020B0604020202020204" pitchFamily="34" charset="0"/>
                <a:cs typeface="Arial" panose="020B0604020202020204" pitchFamily="34" charset="0"/>
              </a:rPr>
              <a:t>MACA for Wireless LANs (MACAW) </a:t>
            </a:r>
          </a:p>
          <a:p>
            <a:pPr lvl="1" indent="-342900">
              <a:lnSpc>
                <a:spcPct val="110000"/>
              </a:lnSpc>
            </a:pPr>
            <a:r>
              <a:rPr lang="en-US" altLang="zh-CN" sz="2200" dirty="0">
                <a:latin typeface="Arial" panose="020B0604020202020204" pitchFamily="34" charset="0"/>
                <a:cs typeface="Arial" panose="020B0604020202020204" pitchFamily="34" charset="0"/>
              </a:rPr>
              <a:t>receiver responds with acknowledgment (ACK) after data reception </a:t>
            </a:r>
          </a:p>
          <a:p>
            <a:pPr lvl="2" indent="-342900">
              <a:lnSpc>
                <a:spcPct val="110000"/>
              </a:lnSpc>
            </a:pPr>
            <a:r>
              <a:rPr lang="en-US" altLang="zh-CN" sz="1900" dirty="0">
                <a:latin typeface="Arial" panose="020B0604020202020204" pitchFamily="34" charset="0"/>
                <a:cs typeface="Arial" panose="020B0604020202020204" pitchFamily="34" charset="0"/>
              </a:rPr>
              <a:t>other nodes in </a:t>
            </a:r>
            <a:r>
              <a:rPr lang="en-US" altLang="zh-CN" sz="1900" dirty="0" err="1">
                <a:latin typeface="Arial" panose="020B0604020202020204" pitchFamily="34" charset="0"/>
                <a:cs typeface="Arial" panose="020B0604020202020204" pitchFamily="34" charset="0"/>
              </a:rPr>
              <a:t>receiverʼs</a:t>
            </a:r>
            <a:r>
              <a:rPr lang="en-US" altLang="zh-CN" sz="1900" dirty="0">
                <a:latin typeface="Arial" panose="020B0604020202020204" pitchFamily="34" charset="0"/>
                <a:cs typeface="Arial" panose="020B0604020202020204" pitchFamily="34" charset="0"/>
              </a:rPr>
              <a:t> range learn that channel is available </a:t>
            </a:r>
          </a:p>
          <a:p>
            <a:pPr lvl="1" indent="-342900">
              <a:lnSpc>
                <a:spcPct val="110000"/>
              </a:lnSpc>
            </a:pPr>
            <a:r>
              <a:rPr lang="en-US" altLang="zh-CN" sz="2200" dirty="0">
                <a:latin typeface="Arial" panose="020B0604020202020204" pitchFamily="34" charset="0"/>
                <a:cs typeface="Arial" panose="020B0604020202020204" pitchFamily="34" charset="0"/>
              </a:rPr>
              <a:t>nodes hearing RTS, but not CTS do not know if transmission will occur</a:t>
            </a:r>
          </a:p>
          <a:p>
            <a:pPr lvl="2" indent="-342900">
              <a:lnSpc>
                <a:spcPct val="110000"/>
              </a:lnSpc>
            </a:pPr>
            <a:r>
              <a:rPr lang="en-US" altLang="zh-CN" sz="1900" dirty="0">
                <a:latin typeface="Arial" panose="020B0604020202020204" pitchFamily="34" charset="0"/>
                <a:cs typeface="Arial" panose="020B0604020202020204" pitchFamily="34" charset="0"/>
              </a:rPr>
              <a:t>MACAW uses </a:t>
            </a:r>
            <a:r>
              <a:rPr lang="en-US" altLang="zh-CN" sz="1900" dirty="0">
                <a:solidFill>
                  <a:schemeClr val="tx2">
                    <a:lumMod val="75000"/>
                    <a:lumOff val="25000"/>
                  </a:schemeClr>
                </a:solidFill>
                <a:latin typeface="Arial" panose="020B0604020202020204" pitchFamily="34" charset="0"/>
                <a:cs typeface="Arial" panose="020B0604020202020204" pitchFamily="34" charset="0"/>
              </a:rPr>
              <a:t>data sending (DS) </a:t>
            </a:r>
            <a:r>
              <a:rPr lang="en-US" altLang="zh-CN" sz="1900" dirty="0">
                <a:latin typeface="Arial" panose="020B0604020202020204" pitchFamily="34" charset="0"/>
                <a:cs typeface="Arial" panose="020B0604020202020204" pitchFamily="34" charset="0"/>
              </a:rPr>
              <a:t>packet, sent by sender after receiving CTS to inform such nodes of successful handshake</a:t>
            </a:r>
          </a:p>
        </p:txBody>
      </p:sp>
    </p:spTree>
    <p:extLst>
      <p:ext uri="{BB962C8B-B14F-4D97-AF65-F5344CB8AC3E}">
        <p14:creationId xmlns:p14="http://schemas.microsoft.com/office/powerpoint/2010/main" val="392776387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MACA By Invitation</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448426"/>
          </a:xfrm>
        </p:spPr>
        <p:txBody>
          <a:bodyPr>
            <a:normAutofit/>
          </a:bodyPr>
          <a:lstStyle/>
          <a:p>
            <a:pPr>
              <a:lnSpc>
                <a:spcPct val="110000"/>
              </a:lnSpc>
            </a:pPr>
            <a:r>
              <a:rPr lang="en-US" altLang="zh-CN" sz="2400" dirty="0">
                <a:latin typeface="Arial" panose="020B0604020202020204" pitchFamily="34" charset="0"/>
                <a:cs typeface="Arial" panose="020B0604020202020204" pitchFamily="34" charset="0"/>
              </a:rPr>
              <a:t>In</a:t>
            </a:r>
            <a:r>
              <a:rPr lang="en-US" altLang="zh-CN" sz="3200" dirty="0">
                <a:solidFill>
                  <a:srgbClr val="FF0000"/>
                </a:solidFill>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MACA-BI, destination device initiates data transfers by sending a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Ready To Receive (RTR) </a:t>
            </a:r>
            <a:r>
              <a:rPr lang="en-US" altLang="zh-CN" sz="2400" dirty="0">
                <a:latin typeface="Arial" panose="020B0604020202020204" pitchFamily="34" charset="0"/>
                <a:cs typeface="Arial" panose="020B0604020202020204" pitchFamily="34" charset="0"/>
              </a:rPr>
              <a:t>packet to the source </a:t>
            </a:r>
          </a:p>
          <a:p>
            <a:pPr lvl="1">
              <a:lnSpc>
                <a:spcPct val="110000"/>
              </a:lnSpc>
            </a:pPr>
            <a:r>
              <a:rPr lang="en-US" altLang="zh-CN" sz="2000" dirty="0">
                <a:latin typeface="Arial" panose="020B0604020202020204" pitchFamily="34" charset="0"/>
                <a:cs typeface="Arial" panose="020B0604020202020204" pitchFamily="34" charset="0"/>
              </a:rPr>
              <a:t>source then responds with the data message</a:t>
            </a:r>
          </a:p>
          <a:p>
            <a:pPr>
              <a:lnSpc>
                <a:spcPct val="110000"/>
              </a:lnSpc>
            </a:pPr>
            <a:r>
              <a:rPr lang="en-US" altLang="zh-CN" sz="2400" dirty="0">
                <a:latin typeface="Arial" panose="020B0604020202020204" pitchFamily="34" charset="0"/>
                <a:cs typeface="Arial" panose="020B0604020202020204" pitchFamily="34" charset="0"/>
              </a:rPr>
              <a:t>Compared to MACA, MACA-BI reduces overhead </a:t>
            </a:r>
          </a:p>
          <a:p>
            <a:pPr lvl="1">
              <a:lnSpc>
                <a:spcPct val="110000"/>
              </a:lnSpc>
            </a:pPr>
            <a:r>
              <a:rPr lang="en-US" altLang="zh-CN" sz="2000" dirty="0">
                <a:latin typeface="Arial" panose="020B0604020202020204" pitchFamily="34" charset="0"/>
                <a:cs typeface="Arial" panose="020B0604020202020204" pitchFamily="34" charset="0"/>
              </a:rPr>
              <a:t>increases the theoretical maximum throughput </a:t>
            </a:r>
          </a:p>
          <a:p>
            <a:pPr lvl="1">
              <a:lnSpc>
                <a:spcPct val="110000"/>
              </a:lnSpc>
            </a:pPr>
            <a:r>
              <a:rPr lang="en-US" altLang="zh-CN" sz="2000" dirty="0">
                <a:latin typeface="Arial" panose="020B0604020202020204" pitchFamily="34" charset="0"/>
                <a:cs typeface="Arial" panose="020B0604020202020204" pitchFamily="34" charset="0"/>
              </a:rPr>
              <a:t>depends on the destination knowing when to receive data</a:t>
            </a:r>
          </a:p>
          <a:p>
            <a:pPr>
              <a:lnSpc>
                <a:spcPct val="110000"/>
              </a:lnSpc>
            </a:pPr>
            <a:r>
              <a:rPr lang="en-US" altLang="zh-CN" sz="2400" dirty="0">
                <a:latin typeface="Arial" panose="020B0604020202020204" pitchFamily="34" charset="0"/>
                <a:cs typeface="Arial" panose="020B0604020202020204" pitchFamily="34" charset="0"/>
              </a:rPr>
              <a:t>Source nodes can use an optional field within the data message to indicate the number of queued messages </a:t>
            </a:r>
          </a:p>
          <a:p>
            <a:pPr lvl="1">
              <a:lnSpc>
                <a:spcPct val="110000"/>
              </a:lnSpc>
            </a:pPr>
            <a:r>
              <a:rPr lang="en-US" altLang="zh-CN" sz="2000" dirty="0">
                <a:latin typeface="Arial" panose="020B0604020202020204" pitchFamily="34" charset="0"/>
                <a:cs typeface="Arial" panose="020B0604020202020204" pitchFamily="34" charset="0"/>
              </a:rPr>
              <a:t>providing the destination with an indication that more RTS packets will be required</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672041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IEEE 802.11</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1" y="1690688"/>
            <a:ext cx="10515599" cy="5410199"/>
          </a:xfrm>
        </p:spPr>
        <p:txBody>
          <a:bodyPr>
            <a:noAutofit/>
          </a:bodyPr>
          <a:lstStyle/>
          <a:p>
            <a:pPr>
              <a:lnSpc>
                <a:spcPct val="100000"/>
              </a:lnSpc>
            </a:pPr>
            <a:r>
              <a:rPr lang="en-US" altLang="zh-CN" sz="2400" dirty="0">
                <a:latin typeface="Arial" panose="020B0604020202020204" pitchFamily="34" charset="0"/>
                <a:cs typeface="Arial" panose="020B0604020202020204" pitchFamily="34" charset="0"/>
              </a:rPr>
              <a:t>Published in 1999 by the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Institute of Electrical and Electronics Engineers </a:t>
            </a:r>
          </a:p>
          <a:p>
            <a:pPr lvl="1">
              <a:lnSpc>
                <a:spcPct val="100000"/>
              </a:lnSpc>
            </a:pPr>
            <a:r>
              <a:rPr lang="en-US" altLang="zh-CN" sz="2000" dirty="0">
                <a:latin typeface="Arial" panose="020B0604020202020204" pitchFamily="34" charset="0"/>
                <a:cs typeface="Arial" panose="020B0604020202020204" pitchFamily="34" charset="0"/>
              </a:rPr>
              <a:t>specifies the physical and data link layers of the OSI model for wireless connections</a:t>
            </a:r>
          </a:p>
          <a:p>
            <a:pPr>
              <a:lnSpc>
                <a:spcPct val="100000"/>
              </a:lnSpc>
            </a:pPr>
            <a:r>
              <a:rPr lang="en-US" altLang="zh-CN" sz="2400" dirty="0">
                <a:latin typeface="Arial" panose="020B0604020202020204" pitchFamily="34" charset="0"/>
                <a:cs typeface="Arial" panose="020B0604020202020204" pitchFamily="34" charset="0"/>
              </a:rPr>
              <a:t>Often referred to as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Wireless Fidelity (Wi-Fi)</a:t>
            </a:r>
          </a:p>
          <a:p>
            <a:pPr lvl="1">
              <a:lnSpc>
                <a:spcPct val="100000"/>
              </a:lnSpc>
            </a:pPr>
            <a:r>
              <a:rPr lang="en-US" altLang="zh-CN" sz="2000" dirty="0">
                <a:latin typeface="Arial" panose="020B0604020202020204" pitchFamily="34" charset="0"/>
                <a:cs typeface="Arial" panose="020B0604020202020204" pitchFamily="34" charset="0"/>
              </a:rPr>
              <a:t>certification given by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Wi-Fi Alliance</a:t>
            </a:r>
            <a:r>
              <a:rPr lang="en-US" altLang="zh-CN" sz="2000" dirty="0">
                <a:latin typeface="Arial" panose="020B0604020202020204" pitchFamily="34" charset="0"/>
                <a:cs typeface="Arial" panose="020B0604020202020204" pitchFamily="34" charset="0"/>
              </a:rPr>
              <a:t>, a group that ensures compatibility between devices that use 802.11 standard </a:t>
            </a:r>
          </a:p>
          <a:p>
            <a:pPr>
              <a:lnSpc>
                <a:spcPct val="100000"/>
              </a:lnSpc>
            </a:pPr>
            <a:r>
              <a:rPr lang="en-US" altLang="zh-CN" sz="2400" dirty="0">
                <a:latin typeface="Arial" panose="020B0604020202020204" pitchFamily="34" charset="0"/>
                <a:cs typeface="Arial" panose="020B0604020202020204" pitchFamily="34" charset="0"/>
              </a:rPr>
              <a:t>Wi-Fi combines concepts found in CSMA/CA and MACAW, but also offers features to preserve energy</a:t>
            </a:r>
          </a:p>
          <a:p>
            <a:pPr>
              <a:lnSpc>
                <a:spcPct val="100000"/>
              </a:lnSpc>
            </a:pPr>
            <a:r>
              <a:rPr lang="en-US" altLang="zh-CN" sz="2400" dirty="0">
                <a:latin typeface="Arial" panose="020B0604020202020204" pitchFamily="34" charset="0"/>
                <a:cs typeface="Arial" panose="020B0604020202020204" pitchFamily="34" charset="0"/>
              </a:rPr>
              <a:t>Two modes of operation </a:t>
            </a:r>
          </a:p>
          <a:p>
            <a:pPr lvl="1">
              <a:lnSpc>
                <a:spcPct val="100000"/>
              </a:lnSpc>
            </a:pPr>
            <a:r>
              <a:rPr lang="en-US" altLang="zh-CN" sz="2000" dirty="0">
                <a:solidFill>
                  <a:schemeClr val="tx2">
                    <a:lumMod val="75000"/>
                    <a:lumOff val="25000"/>
                  </a:schemeClr>
                </a:solidFill>
                <a:latin typeface="Arial" panose="020B0604020202020204" pitchFamily="34" charset="0"/>
                <a:cs typeface="Arial" panose="020B0604020202020204" pitchFamily="34" charset="0"/>
              </a:rPr>
              <a:t>Point Coordination Function (PCF) </a:t>
            </a:r>
            <a:r>
              <a:rPr lang="en-US" altLang="zh-CN" sz="2000" dirty="0">
                <a:latin typeface="Arial" panose="020B0604020202020204" pitchFamily="34" charset="0"/>
                <a:cs typeface="Arial" panose="020B0604020202020204" pitchFamily="34" charset="0"/>
              </a:rPr>
              <a:t>mode</a:t>
            </a:r>
          </a:p>
          <a:p>
            <a:pPr lvl="2">
              <a:lnSpc>
                <a:spcPct val="100000"/>
              </a:lnSpc>
            </a:pPr>
            <a:r>
              <a:rPr lang="en-US" altLang="zh-CN" sz="1800" dirty="0">
                <a:latin typeface="Arial" panose="020B0604020202020204" pitchFamily="34" charset="0"/>
                <a:cs typeface="Arial" panose="020B0604020202020204" pitchFamily="34" charset="0"/>
              </a:rPr>
              <a:t>communication among devices goes through a central entity called an </a:t>
            </a:r>
            <a:r>
              <a:rPr lang="en-US" altLang="zh-CN" sz="1800" dirty="0">
                <a:solidFill>
                  <a:schemeClr val="tx2">
                    <a:lumMod val="75000"/>
                    <a:lumOff val="25000"/>
                  </a:schemeClr>
                </a:solidFill>
                <a:latin typeface="Arial" panose="020B0604020202020204" pitchFamily="34" charset="0"/>
                <a:cs typeface="Arial" panose="020B0604020202020204" pitchFamily="34" charset="0"/>
              </a:rPr>
              <a:t>access point (AP)  or  base station (BS) </a:t>
            </a:r>
            <a:r>
              <a:rPr lang="en-US" altLang="zh-CN" sz="1800" dirty="0">
                <a:latin typeface="Arial" panose="020B0604020202020204" pitchFamily="34" charset="0"/>
                <a:cs typeface="Arial" panose="020B0604020202020204" pitchFamily="34" charset="0"/>
              </a:rPr>
              <a:t>:  </a:t>
            </a:r>
            <a:r>
              <a:rPr lang="en-US" altLang="zh-CN" sz="1800" dirty="0">
                <a:solidFill>
                  <a:schemeClr val="tx2">
                    <a:lumMod val="75000"/>
                    <a:lumOff val="25000"/>
                  </a:schemeClr>
                </a:solidFill>
                <a:latin typeface="Arial" panose="020B0604020202020204" pitchFamily="34" charset="0"/>
                <a:cs typeface="Arial" panose="020B0604020202020204" pitchFamily="34" charset="0"/>
              </a:rPr>
              <a:t>managed mode </a:t>
            </a:r>
            <a:endParaRPr lang="en-US" altLang="zh-CN" sz="1800" dirty="0">
              <a:latin typeface="Arial" panose="020B0604020202020204" pitchFamily="34" charset="0"/>
              <a:cs typeface="Arial" panose="020B0604020202020204" pitchFamily="34" charset="0"/>
            </a:endParaRPr>
          </a:p>
          <a:p>
            <a:pPr lvl="1">
              <a:lnSpc>
                <a:spcPct val="100000"/>
              </a:lnSpc>
            </a:pPr>
            <a:r>
              <a:rPr lang="en-US" altLang="zh-CN" sz="2000" dirty="0">
                <a:solidFill>
                  <a:schemeClr val="tx2">
                    <a:lumMod val="75000"/>
                    <a:lumOff val="25000"/>
                  </a:schemeClr>
                </a:solidFill>
                <a:latin typeface="Arial" panose="020B0604020202020204" pitchFamily="34" charset="0"/>
                <a:cs typeface="Arial" panose="020B0604020202020204" pitchFamily="34" charset="0"/>
              </a:rPr>
              <a:t>Distributed Coordination Function (DCF)  </a:t>
            </a:r>
            <a:r>
              <a:rPr lang="en-US" altLang="zh-CN" sz="2000" dirty="0">
                <a:latin typeface="Arial" panose="020B0604020202020204" pitchFamily="34" charset="0"/>
                <a:cs typeface="Arial" panose="020B0604020202020204" pitchFamily="34" charset="0"/>
              </a:rPr>
              <a:t>mode </a:t>
            </a:r>
          </a:p>
          <a:p>
            <a:pPr lvl="2">
              <a:lnSpc>
                <a:spcPct val="100000"/>
              </a:lnSpc>
            </a:pPr>
            <a:r>
              <a:rPr lang="en-US" altLang="zh-CN" sz="1800" dirty="0">
                <a:latin typeface="Arial" panose="020B0604020202020204" pitchFamily="34" charset="0"/>
                <a:cs typeface="Arial" panose="020B0604020202020204" pitchFamily="34" charset="0"/>
              </a:rPr>
              <a:t>devices communicate directly with each other:  </a:t>
            </a:r>
            <a:r>
              <a:rPr lang="en-US" altLang="zh-CN" sz="1800" dirty="0">
                <a:solidFill>
                  <a:schemeClr val="tx2">
                    <a:lumMod val="75000"/>
                    <a:lumOff val="25000"/>
                  </a:schemeClr>
                </a:solidFill>
                <a:latin typeface="Arial" panose="020B0604020202020204" pitchFamily="34" charset="0"/>
                <a:cs typeface="Arial" panose="020B0604020202020204" pitchFamily="34" charset="0"/>
              </a:rPr>
              <a:t>ad-hoc mode </a:t>
            </a:r>
            <a:endParaRPr lang="zh-CN" altLang="en-US" sz="1800" dirty="0">
              <a:solidFill>
                <a:schemeClr val="tx2">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254825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IEEE 802.11</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762249"/>
            <a:ext cx="10976572" cy="4882993"/>
          </a:xfrm>
        </p:spPr>
        <p:txBody>
          <a:bodyPr>
            <a:normAutofit fontScale="92500"/>
          </a:bodyPr>
          <a:lstStyle/>
          <a:p>
            <a:pPr>
              <a:lnSpc>
                <a:spcPct val="120000"/>
              </a:lnSpc>
            </a:pPr>
            <a:r>
              <a:rPr lang="en-US" altLang="zh-CN" sz="2600" dirty="0">
                <a:latin typeface="Arial" panose="020B0604020202020204" pitchFamily="34" charset="0"/>
                <a:cs typeface="Arial" panose="020B0604020202020204" pitchFamily="34" charset="0"/>
              </a:rPr>
              <a:t>IEEE 802.11 is based on CSMA/CA </a:t>
            </a:r>
          </a:p>
          <a:p>
            <a:pPr lvl="1">
              <a:lnSpc>
                <a:spcPct val="120000"/>
              </a:lnSpc>
            </a:pPr>
            <a:r>
              <a:rPr lang="en-US" altLang="zh-CN" sz="2200" dirty="0">
                <a:latin typeface="Arial" panose="020B0604020202020204" pitchFamily="34" charset="0"/>
                <a:cs typeface="Arial" panose="020B0604020202020204" pitchFamily="34" charset="0"/>
              </a:rPr>
              <a:t>before a node transmits, it first senses the medium for activity</a:t>
            </a:r>
          </a:p>
          <a:p>
            <a:pPr lvl="1">
              <a:lnSpc>
                <a:spcPct val="120000"/>
              </a:lnSpc>
            </a:pPr>
            <a:r>
              <a:rPr lang="en-US" altLang="zh-CN" sz="2200" dirty="0">
                <a:latin typeface="Arial" panose="020B0604020202020204" pitchFamily="34" charset="0"/>
                <a:cs typeface="Arial" panose="020B0604020202020204" pitchFamily="34" charset="0"/>
              </a:rPr>
              <a:t>the node is allowed to transmit, if the medium is idle for at least a time period called the  </a:t>
            </a:r>
            <a:r>
              <a:rPr lang="en-US" altLang="zh-CN" sz="2200" dirty="0">
                <a:solidFill>
                  <a:schemeClr val="tx2">
                    <a:lumMod val="75000"/>
                    <a:lumOff val="25000"/>
                  </a:schemeClr>
                </a:solidFill>
                <a:latin typeface="Arial" panose="020B0604020202020204" pitchFamily="34" charset="0"/>
                <a:cs typeface="Arial" panose="020B0604020202020204" pitchFamily="34" charset="0"/>
              </a:rPr>
              <a:t>DCF </a:t>
            </a:r>
            <a:r>
              <a:rPr lang="en-US" altLang="zh-CN" sz="2200" dirty="0" err="1">
                <a:solidFill>
                  <a:schemeClr val="tx2">
                    <a:lumMod val="75000"/>
                    <a:lumOff val="25000"/>
                  </a:schemeClr>
                </a:solidFill>
                <a:latin typeface="Arial" panose="020B0604020202020204" pitchFamily="34" charset="0"/>
                <a:cs typeface="Arial" panose="020B0604020202020204" pitchFamily="34" charset="0"/>
              </a:rPr>
              <a:t>interframe</a:t>
            </a:r>
            <a:r>
              <a:rPr lang="en-US" altLang="zh-CN" sz="2200" dirty="0">
                <a:solidFill>
                  <a:schemeClr val="tx2">
                    <a:lumMod val="75000"/>
                    <a:lumOff val="25000"/>
                  </a:schemeClr>
                </a:solidFill>
                <a:latin typeface="Arial" panose="020B0604020202020204" pitchFamily="34" charset="0"/>
                <a:cs typeface="Arial" panose="020B0604020202020204" pitchFamily="34" charset="0"/>
              </a:rPr>
              <a:t> space (DIFS) </a:t>
            </a:r>
          </a:p>
          <a:p>
            <a:pPr lvl="1">
              <a:lnSpc>
                <a:spcPct val="120000"/>
              </a:lnSpc>
            </a:pPr>
            <a:r>
              <a:rPr lang="en-US" altLang="zh-CN" sz="2200" dirty="0">
                <a:latin typeface="Arial" panose="020B0604020202020204" pitchFamily="34" charset="0"/>
                <a:cs typeface="Arial" panose="020B0604020202020204" pitchFamily="34" charset="0"/>
              </a:rPr>
              <a:t>otherwise the device executes a </a:t>
            </a:r>
            <a:r>
              <a:rPr lang="en-US" altLang="zh-CN" sz="2200" dirty="0">
                <a:solidFill>
                  <a:schemeClr val="tx2">
                    <a:lumMod val="75000"/>
                    <a:lumOff val="25000"/>
                  </a:schemeClr>
                </a:solidFill>
                <a:latin typeface="Arial" panose="020B0604020202020204" pitchFamily="34" charset="0"/>
                <a:cs typeface="Arial" panose="020B0604020202020204" pitchFamily="34" charset="0"/>
              </a:rPr>
              <a:t>back-off algorithm </a:t>
            </a:r>
            <a:r>
              <a:rPr lang="en-US" altLang="zh-CN" sz="2200" dirty="0">
                <a:latin typeface="Arial" panose="020B0604020202020204" pitchFamily="34" charset="0"/>
                <a:cs typeface="Arial" panose="020B0604020202020204" pitchFamily="34" charset="0"/>
              </a:rPr>
              <a:t>to defer transmission to a later time </a:t>
            </a:r>
          </a:p>
          <a:p>
            <a:pPr lvl="1">
              <a:lnSpc>
                <a:spcPct val="120000"/>
              </a:lnSpc>
            </a:pPr>
            <a:r>
              <a:rPr lang="en-US" altLang="zh-CN" sz="2200" dirty="0">
                <a:latin typeface="Arial" panose="020B0604020202020204" pitchFamily="34" charset="0"/>
                <a:cs typeface="Arial" panose="020B0604020202020204" pitchFamily="34" charset="0"/>
              </a:rPr>
              <a:t>this algorithm randomly selects a number of time slots to wait and stores this value in a back-off counter </a:t>
            </a:r>
          </a:p>
          <a:p>
            <a:pPr lvl="1">
              <a:lnSpc>
                <a:spcPct val="120000"/>
              </a:lnSpc>
            </a:pPr>
            <a:r>
              <a:rPr lang="en-US" altLang="zh-CN" sz="2200" dirty="0">
                <a:latin typeface="Arial" panose="020B0604020202020204" pitchFamily="34" charset="0"/>
                <a:cs typeface="Arial" panose="020B0604020202020204" pitchFamily="34" charset="0"/>
              </a:rPr>
              <a:t>for every time slot that passes without activity on the network, the counter is decremented and the device can attempt transmission when this counter reaches zero</a:t>
            </a:r>
          </a:p>
          <a:p>
            <a:pPr lvl="1">
              <a:lnSpc>
                <a:spcPct val="120000"/>
              </a:lnSpc>
            </a:pPr>
            <a:r>
              <a:rPr lang="en-US" altLang="zh-CN" sz="2200" dirty="0">
                <a:latin typeface="Arial" panose="020B0604020202020204" pitchFamily="34" charset="0"/>
                <a:cs typeface="Arial" panose="020B0604020202020204" pitchFamily="34" charset="0"/>
              </a:rPr>
              <a:t>if activity is detected before the counter reaches zero, the device waits until the channel has been idle for a period of DIFS before it continues to decrement the counter value</a:t>
            </a:r>
          </a:p>
          <a:p>
            <a:pPr>
              <a:lnSpc>
                <a:spcPct val="120000"/>
              </a:lnSpc>
            </a:pPr>
            <a:endParaRPr lang="en-US" altLang="zh-CN" dirty="0">
              <a:latin typeface="Arial" panose="020B0604020202020204" pitchFamily="34" charset="0"/>
              <a:cs typeface="Arial" panose="020B0604020202020204" pitchFamily="34" charset="0"/>
            </a:endParaRPr>
          </a:p>
          <a:p>
            <a:pPr>
              <a:lnSpc>
                <a:spcPct val="120000"/>
              </a:lnSpc>
            </a:pPr>
            <a:endParaRPr lang="en-US" altLang="zh-CN" dirty="0">
              <a:latin typeface="Arial" panose="020B0604020202020204" pitchFamily="34" charset="0"/>
              <a:cs typeface="Arial" panose="020B0604020202020204" pitchFamily="34" charset="0"/>
            </a:endParaRPr>
          </a:p>
          <a:p>
            <a:pPr>
              <a:lnSpc>
                <a:spcPct val="120000"/>
              </a:lnSpc>
            </a:pPr>
            <a:endParaRPr lang="en-US" altLang="zh-CN" dirty="0">
              <a:latin typeface="Arial" panose="020B0604020202020204" pitchFamily="34" charset="0"/>
              <a:cs typeface="Arial" panose="020B0604020202020204" pitchFamily="34" charset="0"/>
            </a:endParaRPr>
          </a:p>
          <a:p>
            <a:pPr>
              <a:lnSpc>
                <a:spcPct val="120000"/>
              </a:lnSpc>
            </a:pPr>
            <a:endParaRPr lang="en-US" altLang="zh-CN" dirty="0">
              <a:latin typeface="Arial" panose="020B0604020202020204" pitchFamily="34" charset="0"/>
              <a:cs typeface="Arial" panose="020B0604020202020204" pitchFamily="34" charset="0"/>
            </a:endParaRPr>
          </a:p>
          <a:p>
            <a:pPr>
              <a:lnSpc>
                <a:spcPct val="120000"/>
              </a:lnSpc>
            </a:pPr>
            <a:endParaRPr lang="en-US" altLang="zh-CN" dirty="0">
              <a:latin typeface="Arial" panose="020B0604020202020204" pitchFamily="34" charset="0"/>
              <a:cs typeface="Arial" panose="020B0604020202020204" pitchFamily="34" charset="0"/>
            </a:endParaRPr>
          </a:p>
          <a:p>
            <a:pPr>
              <a:lnSpc>
                <a:spcPct val="120000"/>
              </a:lnSpc>
            </a:pPr>
            <a:endParaRPr lang="en-US" altLang="zh-CN" dirty="0">
              <a:latin typeface="Arial" panose="020B0604020202020204" pitchFamily="34" charset="0"/>
              <a:cs typeface="Arial" panose="020B0604020202020204" pitchFamily="34" charset="0"/>
            </a:endParaRPr>
          </a:p>
          <a:p>
            <a:pPr marL="0" indent="0">
              <a:lnSpc>
                <a:spcPct val="120000"/>
              </a:lnSpc>
              <a:buNone/>
            </a:pP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7223279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IEEE 802.11</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4548015"/>
          </a:xfrm>
        </p:spPr>
        <p:txBody>
          <a:bodyPr>
            <a:noAutofit/>
          </a:bodyPr>
          <a:lstStyle/>
          <a:p>
            <a:pPr>
              <a:lnSpc>
                <a:spcPct val="110000"/>
              </a:lnSpc>
            </a:pPr>
            <a:r>
              <a:rPr lang="en-US" altLang="zh-CN" sz="2400" dirty="0">
                <a:latin typeface="Arial" panose="020B0604020202020204" pitchFamily="34" charset="0"/>
                <a:cs typeface="Arial" panose="020B0604020202020204" pitchFamily="34" charset="0"/>
              </a:rPr>
              <a:t>After a successful transmission </a:t>
            </a:r>
          </a:p>
          <a:p>
            <a:pPr lvl="1">
              <a:lnSpc>
                <a:spcPct val="110000"/>
              </a:lnSpc>
            </a:pPr>
            <a:r>
              <a:rPr lang="en-US" altLang="zh-CN" sz="2000" dirty="0">
                <a:latin typeface="Arial" panose="020B0604020202020204" pitchFamily="34" charset="0"/>
                <a:cs typeface="Arial" panose="020B0604020202020204" pitchFamily="34" charset="0"/>
              </a:rPr>
              <a:t>receiver device responds with an acknowledgment after waiting for a time period called the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short interframe space (SIFS)</a:t>
            </a:r>
          </a:p>
          <a:p>
            <a:pPr lvl="1">
              <a:lnSpc>
                <a:spcPct val="110000"/>
              </a:lnSpc>
            </a:pPr>
            <a:r>
              <a:rPr lang="en-US" altLang="zh-CN" sz="2000" dirty="0">
                <a:latin typeface="Arial" panose="020B0604020202020204" pitchFamily="34" charset="0"/>
                <a:cs typeface="Arial" panose="020B0604020202020204" pitchFamily="34" charset="0"/>
              </a:rPr>
              <a:t>the value of SIFS is smaller than the value of DIFS to ensure that no other device accesses the channel before the receiver can transmit its acknowledgment</a:t>
            </a:r>
          </a:p>
          <a:p>
            <a:pPr>
              <a:lnSpc>
                <a:spcPct val="110000"/>
              </a:lnSpc>
            </a:pPr>
            <a:r>
              <a:rPr lang="en-US" altLang="zh-CN" sz="2400" dirty="0">
                <a:latin typeface="Arial" panose="020B0604020202020204" pitchFamily="34" charset="0"/>
                <a:cs typeface="Arial" panose="020B0604020202020204" pitchFamily="34" charset="0"/>
              </a:rPr>
              <a:t>Once a node A makes a reservation using RTS and CTS control messages</a:t>
            </a:r>
          </a:p>
          <a:p>
            <a:pPr lvl="1">
              <a:lnSpc>
                <a:spcPct val="110000"/>
              </a:lnSpc>
            </a:pPr>
            <a:r>
              <a:rPr lang="en-US" altLang="zh-CN" sz="2000" dirty="0">
                <a:latin typeface="Arial" panose="020B0604020202020204" pitchFamily="34" charset="0"/>
                <a:cs typeface="Arial" panose="020B0604020202020204" pitchFamily="34" charset="0"/>
              </a:rPr>
              <a:t>another neighboring node B, overhearing the RTS message, must refrain from accessing the medium until node A ʼ s transmission has been completed and acknowledged</a:t>
            </a:r>
          </a:p>
          <a:p>
            <a:pPr lvl="1">
              <a:lnSpc>
                <a:spcPct val="110000"/>
              </a:lnSpc>
            </a:pPr>
            <a:r>
              <a:rPr lang="en-US" altLang="zh-CN" sz="2000" dirty="0">
                <a:latin typeface="Arial" panose="020B0604020202020204" pitchFamily="34" charset="0"/>
                <a:cs typeface="Arial" panose="020B0604020202020204" pitchFamily="34" charset="0"/>
              </a:rPr>
              <a:t>however, this would mean that node B has to continuously sense the medium to detect when it becomes idle again</a:t>
            </a:r>
          </a:p>
        </p:txBody>
      </p:sp>
    </p:spTree>
    <p:extLst>
      <p:ext uri="{BB962C8B-B14F-4D97-AF65-F5344CB8AC3E}">
        <p14:creationId xmlns:p14="http://schemas.microsoft.com/office/powerpoint/2010/main" val="213545834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IEEE 802.11</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Instead, A </a:t>
            </a:r>
            <a:r>
              <a:rPr lang="zh-CN" altLang="en-US"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 s RTS message carries the size of the data it will transmit  </a:t>
            </a:r>
          </a:p>
          <a:p>
            <a:pPr lvl="1">
              <a:lnSpc>
                <a:spcPct val="120000"/>
              </a:lnSpc>
            </a:pPr>
            <a:r>
              <a:rPr lang="en-US" altLang="zh-CN" sz="2000" dirty="0">
                <a:latin typeface="Arial" panose="020B0604020202020204" pitchFamily="34" charset="0"/>
                <a:cs typeface="Arial" panose="020B0604020202020204" pitchFamily="34" charset="0"/>
              </a:rPr>
              <a:t>allowing node B to estimate how long the transmission will take and to decide whether to enter a low-power sleep mode </a:t>
            </a:r>
          </a:p>
          <a:p>
            <a:pPr lvl="1">
              <a:lnSpc>
                <a:spcPct val="120000"/>
              </a:lnSpc>
            </a:pPr>
            <a:r>
              <a:rPr lang="en-US" altLang="zh-CN" sz="2000" dirty="0">
                <a:latin typeface="Arial" panose="020B0604020202020204" pitchFamily="34" charset="0"/>
                <a:cs typeface="Arial" panose="020B0604020202020204" pitchFamily="34" charset="0"/>
              </a:rPr>
              <a:t>some neighboring nodes may only overhear CTS (but not RTS), therefore, the data size is also carried in the CTS message</a:t>
            </a:r>
          </a:p>
          <a:p>
            <a:pPr lvl="1">
              <a:lnSpc>
                <a:spcPct val="120000"/>
              </a:lnSpc>
            </a:pPr>
            <a:r>
              <a:rPr lang="en-US" altLang="zh-CN" sz="2000" dirty="0">
                <a:latin typeface="Arial" panose="020B0604020202020204" pitchFamily="34" charset="0"/>
                <a:cs typeface="Arial" panose="020B0604020202020204" pitchFamily="34" charset="0"/>
              </a:rPr>
              <a:t>using the data size information, neighboring nodes set a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network</a:t>
            </a:r>
            <a:r>
              <a:rPr lang="en-US" altLang="zh-CN" sz="2000" dirty="0">
                <a:latin typeface="Arial" panose="020B0604020202020204" pitchFamily="34" charset="0"/>
                <a:cs typeface="Arial" panose="020B0604020202020204" pitchFamily="34" charset="0"/>
              </a:rPr>
              <a:t>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allocation vector (NAV) </a:t>
            </a:r>
            <a:r>
              <a:rPr lang="en-US" altLang="zh-CN" sz="2000" dirty="0">
                <a:latin typeface="Arial" panose="020B0604020202020204" pitchFamily="34" charset="0"/>
                <a:cs typeface="Arial" panose="020B0604020202020204" pitchFamily="34" charset="0"/>
              </a:rPr>
              <a:t>that indicates how long the medium will be unavailable</a:t>
            </a:r>
          </a:p>
          <a:p>
            <a:pPr lvl="2">
              <a:lnSpc>
                <a:spcPct val="120000"/>
              </a:lnSpc>
            </a:pPr>
            <a:r>
              <a:rPr lang="en-US" altLang="zh-CN" sz="1800" dirty="0">
                <a:latin typeface="Arial" panose="020B0604020202020204" pitchFamily="34" charset="0"/>
                <a:cs typeface="Arial" panose="020B0604020202020204" pitchFamily="34" charset="0"/>
              </a:rPr>
              <a:t>reduces the need for continuously sensing the medium, allowing a node to </a:t>
            </a:r>
            <a:r>
              <a:rPr lang="en-US" altLang="zh-CN" sz="1800" dirty="0">
                <a:solidFill>
                  <a:schemeClr val="tx2">
                    <a:lumMod val="75000"/>
                    <a:lumOff val="25000"/>
                  </a:schemeClr>
                </a:solidFill>
                <a:latin typeface="Arial" panose="020B0604020202020204" pitchFamily="34" charset="0"/>
                <a:cs typeface="Arial" panose="020B0604020202020204" pitchFamily="34" charset="0"/>
              </a:rPr>
              <a:t>save power</a:t>
            </a:r>
            <a:endParaRPr lang="zh-CN" altLang="en-US" sz="1800" dirty="0">
              <a:solidFill>
                <a:schemeClr val="tx2">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45330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IEEE 802.11</a:t>
            </a:r>
            <a:endParaRPr lang="zh-CN" altLang="en-US" b="1" dirty="0">
              <a:latin typeface="Arial" panose="020B0604020202020204" pitchFamily="34" charset="0"/>
              <a:cs typeface="Arial" panose="020B0604020202020204" pitchFamily="34" charset="0"/>
            </a:endParaRP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3670" y="1690688"/>
            <a:ext cx="9084660" cy="3812313"/>
          </a:xfrm>
        </p:spPr>
      </p:pic>
    </p:spTree>
    <p:extLst>
      <p:ext uri="{BB962C8B-B14F-4D97-AF65-F5344CB8AC3E}">
        <p14:creationId xmlns:p14="http://schemas.microsoft.com/office/powerpoint/2010/main" val="321435903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IEEE 802.11</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977773" y="1690688"/>
            <a:ext cx="10583501" cy="4754563"/>
          </a:xfrm>
        </p:spPr>
        <p:txBody>
          <a:bodyPr>
            <a:noAutofit/>
          </a:bodyPr>
          <a:lstStyle/>
          <a:p>
            <a:pPr>
              <a:lnSpc>
                <a:spcPct val="110000"/>
              </a:lnSpc>
            </a:pPr>
            <a:r>
              <a:rPr lang="en-US" altLang="zh-CN" sz="2400" dirty="0">
                <a:latin typeface="Arial" panose="020B0604020202020204" pitchFamily="34" charset="0"/>
                <a:cs typeface="Arial" panose="020B0604020202020204" pitchFamily="34" charset="0"/>
              </a:rPr>
              <a:t>PCF mode </a:t>
            </a:r>
          </a:p>
          <a:p>
            <a:pPr lvl="1">
              <a:lnSpc>
                <a:spcPct val="110000"/>
              </a:lnSpc>
            </a:pPr>
            <a:r>
              <a:rPr lang="en-US" altLang="zh-CN" sz="2000" dirty="0">
                <a:latin typeface="Arial" panose="020B0604020202020204" pitchFamily="34" charset="0"/>
                <a:cs typeface="Arial" panose="020B0604020202020204" pitchFamily="34" charset="0"/>
              </a:rPr>
              <a:t>access point (AP) coordinates channel access to ensure collision-free communication </a:t>
            </a:r>
          </a:p>
          <a:p>
            <a:pPr lvl="2">
              <a:lnSpc>
                <a:spcPct val="110000"/>
              </a:lnSpc>
            </a:pPr>
            <a:r>
              <a:rPr lang="en-US" altLang="zh-CN" sz="1800" dirty="0">
                <a:latin typeface="Arial" panose="020B0604020202020204" pitchFamily="34" charset="0"/>
                <a:cs typeface="Arial" panose="020B0604020202020204" pitchFamily="34" charset="0"/>
              </a:rPr>
              <a:t>periodically broadcasts a beacon to its client devices (includes list of devices with data pending at AP) </a:t>
            </a:r>
          </a:p>
          <a:p>
            <a:pPr lvl="1">
              <a:lnSpc>
                <a:spcPct val="110000"/>
              </a:lnSpc>
            </a:pPr>
            <a:r>
              <a:rPr lang="en-US" altLang="zh-CN" sz="2000" dirty="0">
                <a:latin typeface="Arial" panose="020B0604020202020204" pitchFamily="34" charset="0"/>
                <a:cs typeface="Arial" panose="020B0604020202020204" pitchFamily="34" charset="0"/>
              </a:rPr>
              <a:t>during contention-free period, AP transmits these packets to its client devices</a:t>
            </a:r>
          </a:p>
          <a:p>
            <a:pPr lvl="1">
              <a:lnSpc>
                <a:spcPct val="110000"/>
              </a:lnSpc>
            </a:pPr>
            <a:r>
              <a:rPr lang="en-US" altLang="zh-CN" sz="2000" dirty="0">
                <a:latin typeface="Arial" panose="020B0604020202020204" pitchFamily="34" charset="0"/>
                <a:cs typeface="Arial" panose="020B0604020202020204" pitchFamily="34" charset="0"/>
              </a:rPr>
              <a:t>AP can also poll client devices to allow them to initiate data transfers</a:t>
            </a:r>
          </a:p>
          <a:p>
            <a:pPr lvl="1">
              <a:lnSpc>
                <a:spcPct val="110000"/>
              </a:lnSpc>
            </a:pPr>
            <a:r>
              <a:rPr lang="en-US" altLang="zh-CN" sz="2000" dirty="0">
                <a:latin typeface="Arial" panose="020B0604020202020204" pitchFamily="34" charset="0"/>
                <a:cs typeface="Arial" panose="020B0604020202020204" pitchFamily="34" charset="0"/>
              </a:rPr>
              <a:t>AP uses a wait period called the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PCF </a:t>
            </a:r>
            <a:r>
              <a:rPr lang="en-US" altLang="zh-CN" sz="2000" dirty="0" err="1">
                <a:solidFill>
                  <a:schemeClr val="tx2">
                    <a:lumMod val="75000"/>
                    <a:lumOff val="25000"/>
                  </a:schemeClr>
                </a:solidFill>
                <a:latin typeface="Arial" panose="020B0604020202020204" pitchFamily="34" charset="0"/>
                <a:cs typeface="Arial" panose="020B0604020202020204" pitchFamily="34" charset="0"/>
              </a:rPr>
              <a:t>interframe</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 space (PIFS)  </a:t>
            </a:r>
          </a:p>
          <a:p>
            <a:pPr lvl="2">
              <a:lnSpc>
                <a:spcPct val="110000"/>
              </a:lnSpc>
            </a:pPr>
            <a:r>
              <a:rPr lang="en-US" altLang="zh-CN" sz="1800" dirty="0">
                <a:latin typeface="Arial" panose="020B0604020202020204" pitchFamily="34" charset="0"/>
                <a:cs typeface="Arial" panose="020B0604020202020204" pitchFamily="34" charset="0"/>
              </a:rPr>
              <a:t>PIFS is shorter than DIFS, but longer than SIFS</a:t>
            </a:r>
          </a:p>
          <a:p>
            <a:pPr lvl="2">
              <a:lnSpc>
                <a:spcPct val="110000"/>
              </a:lnSpc>
            </a:pPr>
            <a:r>
              <a:rPr lang="en-US" altLang="zh-CN" sz="1800" dirty="0">
                <a:latin typeface="Arial" panose="020B0604020202020204" pitchFamily="34" charset="0"/>
                <a:cs typeface="Arial" panose="020B0604020202020204" pitchFamily="34" charset="0"/>
              </a:rPr>
              <a:t>ensures that PCF traffic has priority over traffic generated by devices operating in the DCF mode, without interfering with control messages in the DCF mode such as CTS and ACK</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939764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IEEE 802.11</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03989"/>
            <a:ext cx="10940358" cy="4754563"/>
          </a:xfrm>
        </p:spPr>
        <p:txBody>
          <a:bodyPr>
            <a:noAutofit/>
          </a:bodyPr>
          <a:lstStyle/>
          <a:p>
            <a:pPr>
              <a:lnSpc>
                <a:spcPct val="110000"/>
              </a:lnSpc>
            </a:pPr>
            <a:r>
              <a:rPr lang="en-US" altLang="zh-CN" sz="2400" dirty="0">
                <a:latin typeface="Arial" panose="020B0604020202020204" pitchFamily="34" charset="0"/>
                <a:cs typeface="Arial" panose="020B0604020202020204" pitchFamily="34" charset="0"/>
              </a:rPr>
              <a:t>Focus of IEEE 802.11 is on providing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fair access  </a:t>
            </a:r>
            <a:r>
              <a:rPr lang="en-US" altLang="zh-CN" sz="2400" dirty="0">
                <a:latin typeface="Arial" panose="020B0604020202020204" pitchFamily="34" charset="0"/>
                <a:cs typeface="Arial" panose="020B0604020202020204" pitchFamily="34" charset="0"/>
              </a:rPr>
              <a:t>to the medium with support for high throughput and mobility </a:t>
            </a:r>
          </a:p>
          <a:p>
            <a:pPr lvl="1">
              <a:lnSpc>
                <a:spcPct val="110000"/>
              </a:lnSpc>
            </a:pPr>
            <a:r>
              <a:rPr lang="en-US" altLang="zh-CN" sz="2000" dirty="0">
                <a:latin typeface="Arial" panose="020B0604020202020204" pitchFamily="34" charset="0"/>
                <a:cs typeface="Arial" panose="020B0604020202020204" pitchFamily="34" charset="0"/>
              </a:rPr>
              <a:t>since devices spend a large amount of time listening to the medium and collisions occur frequently, this standard incurs large overheads, including significant energy costs </a:t>
            </a:r>
          </a:p>
          <a:p>
            <a:pPr>
              <a:lnSpc>
                <a:spcPct val="110000"/>
              </a:lnSpc>
            </a:pPr>
            <a:r>
              <a:rPr lang="en-US" altLang="zh-CN" sz="2400" dirty="0">
                <a:latin typeface="Arial" panose="020B0604020202020204" pitchFamily="34" charset="0"/>
                <a:cs typeface="Arial" panose="020B0604020202020204" pitchFamily="34" charset="0"/>
              </a:rPr>
              <a:t>Energy consumption problem</a:t>
            </a:r>
          </a:p>
          <a:p>
            <a:pPr lvl="1">
              <a:lnSpc>
                <a:spcPct val="110000"/>
              </a:lnSpc>
            </a:pPr>
            <a:r>
              <a:rPr lang="en-US" altLang="zh-CN" sz="2000" dirty="0">
                <a:latin typeface="Arial" panose="020B0604020202020204" pitchFamily="34" charset="0"/>
                <a:cs typeface="Arial" panose="020B0604020202020204" pitchFamily="34" charset="0"/>
              </a:rPr>
              <a:t>IEEE 802.11 offers a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power saving mode (PSM)  </a:t>
            </a:r>
            <a:r>
              <a:rPr lang="en-US" altLang="zh-CN" sz="2000" dirty="0">
                <a:latin typeface="Arial" panose="020B0604020202020204" pitchFamily="34" charset="0"/>
                <a:cs typeface="Arial" panose="020B0604020202020204" pitchFamily="34" charset="0"/>
              </a:rPr>
              <a:t>for devices operating in the PCF mode </a:t>
            </a:r>
          </a:p>
          <a:p>
            <a:pPr lvl="1">
              <a:lnSpc>
                <a:spcPct val="110000"/>
              </a:lnSpc>
            </a:pPr>
            <a:r>
              <a:rPr lang="en-US" altLang="zh-CN" sz="2000" dirty="0">
                <a:latin typeface="Arial" panose="020B0604020202020204" pitchFamily="34" charset="0"/>
                <a:cs typeface="Arial" panose="020B0604020202020204" pitchFamily="34" charset="0"/>
              </a:rPr>
              <a:t>devices can inform the AP that they wish to enter a low-power sleep mode using special control messages</a:t>
            </a:r>
          </a:p>
          <a:p>
            <a:pPr lvl="1">
              <a:lnSpc>
                <a:spcPct val="110000"/>
              </a:lnSpc>
            </a:pPr>
            <a:r>
              <a:rPr lang="en-US" altLang="zh-CN" sz="2000" dirty="0">
                <a:latin typeface="Arial" panose="020B0604020202020204" pitchFamily="34" charset="0"/>
                <a:cs typeface="Arial" panose="020B0604020202020204" pitchFamily="34" charset="0"/>
              </a:rPr>
              <a:t>these devices wake up periodically to receive beacon messages from the AP to determine if they should stay awake to receive incoming messages</a:t>
            </a:r>
          </a:p>
          <a:p>
            <a:pPr lvl="1">
              <a:lnSpc>
                <a:spcPct val="110000"/>
              </a:lnSpc>
            </a:pPr>
            <a:r>
              <a:rPr lang="en-US" altLang="zh-CN" sz="2000" dirty="0">
                <a:latin typeface="Arial" panose="020B0604020202020204" pitchFamily="34" charset="0"/>
                <a:cs typeface="Arial" panose="020B0604020202020204" pitchFamily="34" charset="0"/>
              </a:rPr>
              <a:t>saves energy, but only works in the infrastructure mode and it is not specified when or how long devices should sleep</a:t>
            </a:r>
          </a:p>
          <a:p>
            <a:pPr marL="0" indent="0">
              <a:lnSpc>
                <a:spcPct val="110000"/>
              </a:lnSpc>
              <a:buNone/>
            </a:pPr>
            <a:endParaRPr lang="en-US" altLang="zh-CN" sz="2000" dirty="0">
              <a:latin typeface="Arial" panose="020B0604020202020204" pitchFamily="34" charset="0"/>
              <a:cs typeface="Arial" panose="020B0604020202020204" pitchFamily="34" charset="0"/>
            </a:endParaRPr>
          </a:p>
          <a:p>
            <a:pPr>
              <a:lnSpc>
                <a:spcPct val="110000"/>
              </a:lnSpc>
            </a:pPr>
            <a:endParaRPr lang="en-US" altLang="zh-CN" sz="2000" dirty="0">
              <a:latin typeface="Arial" panose="020B0604020202020204" pitchFamily="34" charset="0"/>
              <a:cs typeface="Arial" panose="020B0604020202020204" pitchFamily="34" charset="0"/>
            </a:endParaRPr>
          </a:p>
          <a:p>
            <a:pPr>
              <a:lnSpc>
                <a:spcPct val="110000"/>
              </a:lnSpc>
            </a:pPr>
            <a:endParaRPr lang="en-US" altLang="zh-CN" sz="2000" dirty="0">
              <a:latin typeface="Arial" panose="020B0604020202020204" pitchFamily="34" charset="0"/>
              <a:cs typeface="Arial" panose="020B0604020202020204" pitchFamily="34" charset="0"/>
            </a:endParaRPr>
          </a:p>
          <a:p>
            <a:pPr>
              <a:lnSpc>
                <a:spcPct val="110000"/>
              </a:lnSpc>
            </a:pPr>
            <a:endParaRPr lang="en-US" altLang="zh-CN" sz="2000" dirty="0">
              <a:latin typeface="Arial" panose="020B0604020202020204" pitchFamily="34" charset="0"/>
              <a:cs typeface="Arial" panose="020B0604020202020204" pitchFamily="34" charset="0"/>
            </a:endParaRPr>
          </a:p>
          <a:p>
            <a:pPr>
              <a:lnSpc>
                <a:spcPct val="110000"/>
              </a:lnSpc>
            </a:pPr>
            <a:endParaRPr lang="en-US" altLang="zh-CN" sz="2000" dirty="0">
              <a:latin typeface="Arial" panose="020B0604020202020204" pitchFamily="34" charset="0"/>
              <a:cs typeface="Arial" panose="020B0604020202020204" pitchFamily="34" charset="0"/>
            </a:endParaRPr>
          </a:p>
          <a:p>
            <a:pPr>
              <a:lnSpc>
                <a:spcPct val="110000"/>
              </a:lnSpc>
            </a:pPr>
            <a:endParaRPr lang="en-US" altLang="zh-CN" sz="2000" dirty="0">
              <a:latin typeface="Arial" panose="020B0604020202020204" pitchFamily="34" charset="0"/>
              <a:cs typeface="Arial" panose="020B0604020202020204" pitchFamily="34" charset="0"/>
            </a:endParaRPr>
          </a:p>
          <a:p>
            <a:pPr>
              <a:lnSpc>
                <a:spcPct val="110000"/>
              </a:lnSpc>
            </a:pPr>
            <a:endParaRPr lang="en-US" altLang="zh-CN" sz="2000" dirty="0">
              <a:latin typeface="Arial" panose="020B0604020202020204" pitchFamily="34" charset="0"/>
              <a:cs typeface="Arial" panose="020B0604020202020204" pitchFamily="34" charset="0"/>
            </a:endParaRPr>
          </a:p>
          <a:p>
            <a:pPr>
              <a:lnSpc>
                <a:spcPct val="110000"/>
              </a:lnSpc>
            </a:pPr>
            <a:endParaRPr lang="en-US" altLang="zh-CN" sz="2000" dirty="0">
              <a:latin typeface="Arial" panose="020B0604020202020204" pitchFamily="34" charset="0"/>
              <a:cs typeface="Arial" panose="020B0604020202020204" pitchFamily="34" charset="0"/>
            </a:endParaRPr>
          </a:p>
          <a:p>
            <a:pPr>
              <a:lnSpc>
                <a:spcPct val="110000"/>
              </a:lnSpc>
            </a:pPr>
            <a:endParaRPr lang="en-US" altLang="zh-C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713704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IEEE 802.15.4 &amp; ZigBee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461639"/>
            <a:ext cx="10880324" cy="5396361"/>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IEEE 802.15.4 </a:t>
            </a:r>
          </a:p>
          <a:p>
            <a:pPr lvl="1">
              <a:lnSpc>
                <a:spcPct val="120000"/>
              </a:lnSpc>
            </a:pPr>
            <a:r>
              <a:rPr lang="en-US" altLang="zh-CN" sz="2000" dirty="0">
                <a:latin typeface="Arial" panose="020B0604020202020204" pitchFamily="34" charset="0"/>
                <a:cs typeface="Arial" panose="020B0604020202020204" pitchFamily="34" charset="0"/>
              </a:rPr>
              <a:t>created for low-power devices in the 868 MHz, 915 MHz, and 2.45 GHz frequency bands </a:t>
            </a:r>
          </a:p>
          <a:p>
            <a:pPr lvl="1">
              <a:lnSpc>
                <a:spcPct val="120000"/>
              </a:lnSpc>
            </a:pPr>
            <a:r>
              <a:rPr lang="en-US" altLang="zh-CN" sz="2000" dirty="0">
                <a:latin typeface="Arial" panose="020B0604020202020204" pitchFamily="34" charset="0"/>
                <a:cs typeface="Arial" panose="020B0604020202020204" pitchFamily="34" charset="0"/>
              </a:rPr>
              <a:t>supports two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transmission modes </a:t>
            </a:r>
            <a:r>
              <a:rPr lang="en-US" altLang="zh-CN" sz="2000" dirty="0">
                <a:latin typeface="Arial" panose="020B0604020202020204" pitchFamily="34" charset="0"/>
                <a:cs typeface="Arial" panose="020B0604020202020204" pitchFamily="34" charset="0"/>
              </a:rPr>
              <a:t>:</a:t>
            </a:r>
          </a:p>
          <a:p>
            <a:pPr lvl="2">
              <a:lnSpc>
                <a:spcPct val="120000"/>
              </a:lnSpc>
            </a:pPr>
            <a:r>
              <a:rPr lang="en-US" altLang="zh-CN" dirty="0">
                <a:solidFill>
                  <a:schemeClr val="tx2">
                    <a:lumMod val="75000"/>
                    <a:lumOff val="25000"/>
                  </a:schemeClr>
                </a:solidFill>
                <a:latin typeface="Arial" panose="020B0604020202020204" pitchFamily="34" charset="0"/>
                <a:cs typeface="Arial" panose="020B0604020202020204" pitchFamily="34" charset="0"/>
              </a:rPr>
              <a:t>UWB PHY</a:t>
            </a:r>
          </a:p>
          <a:p>
            <a:pPr lvl="3">
              <a:lnSpc>
                <a:spcPct val="120000"/>
              </a:lnSpc>
            </a:pPr>
            <a:r>
              <a:rPr lang="en-US" altLang="zh-CN" sz="2000" dirty="0">
                <a:latin typeface="Arial" panose="020B0604020202020204" pitchFamily="34" charset="0"/>
                <a:cs typeface="Arial" panose="020B0604020202020204" pitchFamily="34" charset="0"/>
              </a:rPr>
              <a:t>bit rates: 110 kbps, 851 kbps (nominal), 6.81 kbps, and 27.24 Mbps</a:t>
            </a:r>
          </a:p>
          <a:p>
            <a:pPr lvl="2">
              <a:lnSpc>
                <a:spcPct val="120000"/>
              </a:lnSpc>
            </a:pPr>
            <a:r>
              <a:rPr lang="en-US" altLang="zh-CN" dirty="0">
                <a:solidFill>
                  <a:schemeClr val="tx2">
                    <a:lumMod val="75000"/>
                    <a:lumOff val="25000"/>
                  </a:schemeClr>
                </a:solidFill>
                <a:latin typeface="Arial" panose="020B0604020202020204" pitchFamily="34" charset="0"/>
                <a:cs typeface="Arial" panose="020B0604020202020204" pitchFamily="34" charset="0"/>
              </a:rPr>
              <a:t>CSS PHY</a:t>
            </a:r>
            <a:endParaRPr lang="en-US" altLang="zh-CN" dirty="0">
              <a:latin typeface="Arial" panose="020B0604020202020204" pitchFamily="34" charset="0"/>
              <a:cs typeface="Arial" panose="020B0604020202020204" pitchFamily="34" charset="0"/>
            </a:endParaRPr>
          </a:p>
          <a:p>
            <a:pPr lvl="3">
              <a:lnSpc>
                <a:spcPct val="120000"/>
              </a:lnSpc>
            </a:pPr>
            <a:r>
              <a:rPr lang="en-US" altLang="zh-CN" sz="2000" dirty="0">
                <a:latin typeface="Arial" panose="020B0604020202020204" pitchFamily="34" charset="0"/>
                <a:cs typeface="Arial" panose="020B0604020202020204" pitchFamily="34" charset="0"/>
              </a:rPr>
              <a:t>bit rates: 1 Mbps (nominal) and 250 kbps</a:t>
            </a:r>
          </a:p>
          <a:p>
            <a:pPr>
              <a:lnSpc>
                <a:spcPct val="120000"/>
              </a:lnSpc>
            </a:pPr>
            <a:r>
              <a:rPr lang="en-US" altLang="zh-CN" sz="2400" dirty="0">
                <a:latin typeface="Arial" panose="020B0604020202020204" pitchFamily="34" charset="0"/>
                <a:cs typeface="Arial" panose="020B0604020202020204" pitchFamily="34" charset="0"/>
              </a:rPr>
              <a:t>Before 802.15.4,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ZigBee Alliance </a:t>
            </a:r>
            <a:r>
              <a:rPr lang="en-US" altLang="zh-CN" sz="2400" dirty="0">
                <a:latin typeface="Arial" panose="020B0604020202020204" pitchFamily="34" charset="0"/>
                <a:cs typeface="Arial" panose="020B0604020202020204" pitchFamily="34" charset="0"/>
              </a:rPr>
              <a:t>worked on low-cost communication technology for low data rates and low power consumption</a:t>
            </a:r>
          </a:p>
          <a:p>
            <a:pPr>
              <a:lnSpc>
                <a:spcPct val="120000"/>
              </a:lnSpc>
            </a:pPr>
            <a:r>
              <a:rPr lang="en-US" altLang="zh-CN" sz="2400" dirty="0">
                <a:latin typeface="Arial" panose="020B0604020202020204" pitchFamily="34" charset="0"/>
                <a:cs typeface="Arial" panose="020B0604020202020204" pitchFamily="34" charset="0"/>
              </a:rPr>
              <a:t>IEEE and ZigBee Alliance joined forces and ZigBee has become the commercial name for the IEEE 802.15.4 technology</a:t>
            </a:r>
          </a:p>
          <a:p>
            <a:pPr marL="457200" lvl="1" indent="0">
              <a:lnSpc>
                <a:spcPct val="120000"/>
              </a:lnSpc>
              <a:buNone/>
            </a:pPr>
            <a:endParaRPr lang="en-US" altLang="zh-CN" sz="2000" dirty="0">
              <a:latin typeface="Arial" panose="020B0604020202020204" pitchFamily="34" charset="0"/>
              <a:cs typeface="Arial" panose="020B0604020202020204" pitchFamily="34" charset="0"/>
            </a:endParaRPr>
          </a:p>
          <a:p>
            <a:pPr lvl="1">
              <a:lnSpc>
                <a:spcPct val="120000"/>
              </a:lnSpc>
            </a:pP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385909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err="1">
                <a:latin typeface="Arial" panose="020B0604020202020204" pitchFamily="34" charset="0"/>
                <a:cs typeface="Arial" panose="020B0604020202020204" pitchFamily="34" charset="0"/>
              </a:rPr>
              <a:t>ZigBee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921944" y="1444028"/>
            <a:ext cx="10729866" cy="5551576"/>
          </a:xfrm>
        </p:spPr>
        <p:txBody>
          <a:bodyPr>
            <a:normAutofit/>
          </a:bodyPr>
          <a:lstStyle/>
          <a:p>
            <a:pPr>
              <a:lnSpc>
                <a:spcPct val="12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Star</a:t>
            </a:r>
            <a:r>
              <a:rPr lang="en-US" altLang="zh-CN" sz="2400" dirty="0">
                <a:latin typeface="Arial" panose="020B0604020202020204" pitchFamily="34" charset="0"/>
                <a:cs typeface="Arial" panose="020B0604020202020204" pitchFamily="34" charset="0"/>
              </a:rPr>
              <a:t> mode:</a:t>
            </a:r>
          </a:p>
          <a:p>
            <a:pPr lvl="1">
              <a:lnSpc>
                <a:spcPct val="120000"/>
              </a:lnSpc>
            </a:pPr>
            <a:r>
              <a:rPr lang="en-US" altLang="zh-CN" sz="2000" dirty="0">
                <a:latin typeface="Arial" panose="020B0604020202020204" pitchFamily="34" charset="0"/>
                <a:cs typeface="Arial" panose="020B0604020202020204" pitchFamily="34" charset="0"/>
              </a:rPr>
              <a:t>communication via the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Personal Area Network (PAN) </a:t>
            </a:r>
            <a:r>
              <a:rPr lang="en-US" altLang="zh-CN" sz="2000" dirty="0">
                <a:latin typeface="Arial" panose="020B0604020202020204" pitchFamily="34" charset="0"/>
                <a:cs typeface="Arial" panose="020B0604020202020204" pitchFamily="34" charset="0"/>
              </a:rPr>
              <a:t>coordinator</a:t>
            </a:r>
          </a:p>
          <a:p>
            <a:pPr lvl="1">
              <a:lnSpc>
                <a:spcPct val="120000"/>
              </a:lnSpc>
            </a:pPr>
            <a:r>
              <a:rPr lang="en-US" altLang="zh-CN" sz="2000" dirty="0">
                <a:solidFill>
                  <a:schemeClr val="tx2">
                    <a:lumMod val="75000"/>
                    <a:lumOff val="25000"/>
                  </a:schemeClr>
                </a:solidFill>
                <a:latin typeface="Arial" panose="020B0604020202020204" pitchFamily="34" charset="0"/>
                <a:cs typeface="Arial" panose="020B0604020202020204" pitchFamily="34" charset="0"/>
              </a:rPr>
              <a:t>synchronized</a:t>
            </a:r>
            <a:r>
              <a:rPr lang="en-US" altLang="zh-CN" sz="2000" dirty="0">
                <a:latin typeface="Arial" panose="020B0604020202020204" pitchFamily="34" charset="0"/>
                <a:cs typeface="Arial" panose="020B0604020202020204" pitchFamily="34" charset="0"/>
              </a:rPr>
              <a:t> mode (beacon-enabled) </a:t>
            </a:r>
          </a:p>
          <a:p>
            <a:pPr lvl="2">
              <a:lnSpc>
                <a:spcPct val="120000"/>
              </a:lnSpc>
            </a:pPr>
            <a:r>
              <a:rPr lang="en-US" altLang="zh-CN" sz="1800" dirty="0">
                <a:latin typeface="Arial" panose="020B0604020202020204" pitchFamily="34" charset="0"/>
                <a:cs typeface="Arial" panose="020B0604020202020204" pitchFamily="34" charset="0"/>
              </a:rPr>
              <a:t>PAN coordinator periodically broadcasts beacons for synchronization and management</a:t>
            </a:r>
          </a:p>
          <a:p>
            <a:pPr lvl="2">
              <a:lnSpc>
                <a:spcPct val="120000"/>
              </a:lnSpc>
            </a:pPr>
            <a:r>
              <a:rPr lang="en-US" altLang="zh-CN" sz="1800" dirty="0">
                <a:latin typeface="Arial" panose="020B0604020202020204" pitchFamily="34" charset="0"/>
                <a:cs typeface="Arial" panose="020B0604020202020204" pitchFamily="34" charset="0"/>
              </a:rPr>
              <a:t>slotted channel access: device performs random </a:t>
            </a:r>
            <a:r>
              <a:rPr lang="en-US" altLang="zh-CN" sz="1800" dirty="0" err="1">
                <a:latin typeface="Arial" panose="020B0604020202020204" pitchFamily="34" charset="0"/>
                <a:cs typeface="Arial" panose="020B0604020202020204" pitchFamily="34" charset="0"/>
              </a:rPr>
              <a:t>backoff</a:t>
            </a:r>
            <a:r>
              <a:rPr lang="en-US" altLang="zh-CN" sz="1800" dirty="0">
                <a:latin typeface="Arial" panose="020B0604020202020204" pitchFamily="34" charset="0"/>
                <a:cs typeface="Arial" panose="020B0604020202020204" pitchFamily="34" charset="0"/>
              </a:rPr>
              <a:t> before channel is sensed</a:t>
            </a:r>
          </a:p>
          <a:p>
            <a:pPr lvl="3">
              <a:lnSpc>
                <a:spcPct val="120000"/>
              </a:lnSpc>
            </a:pPr>
            <a:r>
              <a:rPr lang="en-US" altLang="zh-CN" dirty="0">
                <a:latin typeface="Arial" panose="020B0604020202020204" pitchFamily="34" charset="0"/>
                <a:cs typeface="Arial" panose="020B0604020202020204" pitchFamily="34" charset="0"/>
              </a:rPr>
              <a:t>if no activity, node waits until next slot and senses channel again until no activity has been detected for two consecutive slots</a:t>
            </a:r>
          </a:p>
          <a:p>
            <a:pPr lvl="3">
              <a:lnSpc>
                <a:spcPct val="120000"/>
              </a:lnSpc>
            </a:pPr>
            <a:r>
              <a:rPr lang="en-US" altLang="zh-CN" dirty="0">
                <a:latin typeface="Arial" panose="020B0604020202020204" pitchFamily="34" charset="0"/>
                <a:cs typeface="Arial" panose="020B0604020202020204" pitchFamily="34" charset="0"/>
              </a:rPr>
              <a:t>if activity, </a:t>
            </a:r>
            <a:r>
              <a:rPr lang="en-US" altLang="zh-CN" dirty="0" err="1">
                <a:latin typeface="Arial" panose="020B0604020202020204" pitchFamily="34" charset="0"/>
                <a:cs typeface="Arial" panose="020B0604020202020204" pitchFamily="34" charset="0"/>
              </a:rPr>
              <a:t>backoff</a:t>
            </a:r>
            <a:r>
              <a:rPr lang="en-US" altLang="zh-CN" dirty="0">
                <a:latin typeface="Arial" panose="020B0604020202020204" pitchFamily="34" charset="0"/>
                <a:cs typeface="Arial" panose="020B0604020202020204" pitchFamily="34" charset="0"/>
              </a:rPr>
              <a:t> procedure is repeated </a:t>
            </a:r>
          </a:p>
          <a:p>
            <a:pPr lvl="1">
              <a:lnSpc>
                <a:spcPct val="120000"/>
              </a:lnSpc>
            </a:pPr>
            <a:r>
              <a:rPr lang="en-US" altLang="zh-CN" sz="2000" dirty="0">
                <a:solidFill>
                  <a:schemeClr val="tx2">
                    <a:lumMod val="75000"/>
                    <a:lumOff val="25000"/>
                  </a:schemeClr>
                </a:solidFill>
                <a:latin typeface="Arial" panose="020B0604020202020204" pitchFamily="34" charset="0"/>
                <a:cs typeface="Arial" panose="020B0604020202020204" pitchFamily="34" charset="0"/>
              </a:rPr>
              <a:t>unsynchronized</a:t>
            </a:r>
            <a:r>
              <a:rPr lang="en-US" altLang="zh-CN" sz="2000" dirty="0">
                <a:latin typeface="Arial" panose="020B0604020202020204" pitchFamily="34" charset="0"/>
                <a:cs typeface="Arial" panose="020B0604020202020204" pitchFamily="34" charset="0"/>
              </a:rPr>
              <a:t> mode: device access channel immediately when no activity is detected during the first initial </a:t>
            </a:r>
            <a:r>
              <a:rPr lang="en-US" altLang="zh-CN" sz="2000" dirty="0" err="1">
                <a:latin typeface="Arial" panose="020B0604020202020204" pitchFamily="34" charset="0"/>
                <a:cs typeface="Arial" panose="020B0604020202020204" pitchFamily="34" charset="0"/>
              </a:rPr>
              <a:t>backoff</a:t>
            </a:r>
            <a:r>
              <a:rPr lang="en-US" altLang="zh-CN" sz="2000" dirty="0">
                <a:latin typeface="Arial" panose="020B0604020202020204" pitchFamily="34" charset="0"/>
                <a:cs typeface="Arial" panose="020B0604020202020204" pitchFamily="34" charset="0"/>
              </a:rPr>
              <a:t> time </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9158384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err="1">
                <a:latin typeface="Arial" panose="020B0604020202020204" pitchFamily="34" charset="0"/>
                <a:cs typeface="Arial" panose="020B0604020202020204" pitchFamily="34" charset="0"/>
              </a:rPr>
              <a:t>ZigBee</a:t>
            </a:r>
            <a:r>
              <a:rPr lang="en-US" altLang="zh-CN" b="1" dirty="0">
                <a:latin typeface="Arial" panose="020B0604020202020204" pitchFamily="34" charset="0"/>
                <a:cs typeface="Arial" panose="020B0604020202020204" pitchFamily="34" charset="0"/>
              </a:rPr>
              <a:t>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608341"/>
            <a:ext cx="11003733" cy="5032376"/>
          </a:xfrm>
        </p:spPr>
        <p:txBody>
          <a:bodyPr>
            <a:normAutofit fontScale="85000" lnSpcReduction="10000"/>
          </a:bodyPr>
          <a:lstStyle/>
          <a:p>
            <a:pPr>
              <a:lnSpc>
                <a:spcPct val="120000"/>
              </a:lnSpc>
            </a:pPr>
            <a:r>
              <a:rPr lang="en-US" altLang="zh-CN" dirty="0">
                <a:solidFill>
                  <a:schemeClr val="tx2">
                    <a:lumMod val="75000"/>
                    <a:lumOff val="25000"/>
                  </a:schemeClr>
                </a:solidFill>
                <a:latin typeface="Arial" panose="020B0604020202020204" pitchFamily="34" charset="0"/>
                <a:cs typeface="Arial" panose="020B0604020202020204" pitchFamily="34" charset="0"/>
              </a:rPr>
              <a:t>Peer-to-peer</a:t>
            </a:r>
            <a:r>
              <a:rPr lang="en-US" altLang="zh-CN" dirty="0">
                <a:latin typeface="Arial" panose="020B0604020202020204" pitchFamily="34" charset="0"/>
                <a:cs typeface="Arial" panose="020B0604020202020204" pitchFamily="34" charset="0"/>
              </a:rPr>
              <a:t> mode:</a:t>
            </a:r>
          </a:p>
          <a:p>
            <a:pPr lvl="1">
              <a:lnSpc>
                <a:spcPct val="120000"/>
              </a:lnSpc>
            </a:pPr>
            <a:r>
              <a:rPr lang="en-US" altLang="zh-CN" dirty="0">
                <a:latin typeface="Arial" panose="020B0604020202020204" pitchFamily="34" charset="0"/>
                <a:cs typeface="Arial" panose="020B0604020202020204" pitchFamily="34" charset="0"/>
              </a:rPr>
              <a:t>devices are free to communicate directly with each other </a:t>
            </a:r>
          </a:p>
          <a:p>
            <a:pPr lvl="1">
              <a:lnSpc>
                <a:spcPct val="120000"/>
              </a:lnSpc>
            </a:pPr>
            <a:r>
              <a:rPr lang="en-US" altLang="zh-CN" dirty="0">
                <a:latin typeface="Arial" panose="020B0604020202020204" pitchFamily="34" charset="0"/>
                <a:cs typeface="Arial" panose="020B0604020202020204" pitchFamily="34" charset="0"/>
              </a:rPr>
              <a:t>but they still must associate with the PAN coordinator before they can participate in peer-to-peer communication</a:t>
            </a:r>
          </a:p>
          <a:p>
            <a:pPr>
              <a:lnSpc>
                <a:spcPct val="120000"/>
              </a:lnSpc>
            </a:pPr>
            <a:r>
              <a:rPr lang="en-US" altLang="zh-CN" dirty="0">
                <a:latin typeface="Arial" panose="020B0604020202020204" pitchFamily="34" charset="0"/>
                <a:cs typeface="Arial" panose="020B0604020202020204" pitchFamily="34" charset="0"/>
              </a:rPr>
              <a:t>Data transfer between the device and its PAN coordinator is </a:t>
            </a:r>
            <a:r>
              <a:rPr lang="en-US" altLang="zh-CN" dirty="0">
                <a:solidFill>
                  <a:schemeClr val="tx2">
                    <a:lumMod val="75000"/>
                    <a:lumOff val="25000"/>
                  </a:schemeClr>
                </a:solidFill>
                <a:latin typeface="Arial" panose="020B0604020202020204" pitchFamily="34" charset="0"/>
                <a:cs typeface="Arial" panose="020B0604020202020204" pitchFamily="34" charset="0"/>
              </a:rPr>
              <a:t>always initiated by the device </a:t>
            </a:r>
          </a:p>
          <a:p>
            <a:pPr lvl="1">
              <a:lnSpc>
                <a:spcPct val="120000"/>
              </a:lnSpc>
            </a:pPr>
            <a:r>
              <a:rPr lang="en-US" altLang="zh-CN" dirty="0">
                <a:latin typeface="Arial" panose="020B0604020202020204" pitchFamily="34" charset="0"/>
                <a:cs typeface="Arial" panose="020B0604020202020204" pitchFamily="34" charset="0"/>
              </a:rPr>
              <a:t>allows a device to determine when data is transferred and to maximize its energy savings </a:t>
            </a:r>
          </a:p>
          <a:p>
            <a:pPr lvl="2">
              <a:lnSpc>
                <a:spcPct val="120000"/>
              </a:lnSpc>
            </a:pPr>
            <a:r>
              <a:rPr lang="en-US" altLang="zh-CN" dirty="0">
                <a:latin typeface="Arial" panose="020B0604020202020204" pitchFamily="34" charset="0"/>
                <a:cs typeface="Arial" panose="020B0604020202020204" pitchFamily="34" charset="0"/>
              </a:rPr>
              <a:t>when a device wants to send data to the PAN coordinator, it can use the previously described channel access method </a:t>
            </a:r>
          </a:p>
          <a:p>
            <a:pPr lvl="2">
              <a:lnSpc>
                <a:spcPct val="120000"/>
              </a:lnSpc>
            </a:pPr>
            <a:r>
              <a:rPr lang="en-US" altLang="zh-CN" dirty="0">
                <a:latin typeface="Arial" panose="020B0604020202020204" pitchFamily="34" charset="0"/>
                <a:cs typeface="Arial" panose="020B0604020202020204" pitchFamily="34" charset="0"/>
              </a:rPr>
              <a:t>the PAN coordinator transmits data intended for a device only after the device explicitly requested such a transmission </a:t>
            </a:r>
          </a:p>
          <a:p>
            <a:pPr lvl="1">
              <a:lnSpc>
                <a:spcPct val="120000"/>
              </a:lnSpc>
            </a:pPr>
            <a:r>
              <a:rPr lang="en-US" altLang="zh-CN" dirty="0">
                <a:latin typeface="Arial" panose="020B0604020202020204" pitchFamily="34" charset="0"/>
                <a:cs typeface="Arial" panose="020B0604020202020204" pitchFamily="34" charset="0"/>
              </a:rPr>
              <a:t>in both cases, optional acknowledgments can be used to let the PAN coordinator or device know that the transmission was successful</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609233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IEEE 802.15.4 and </a:t>
            </a:r>
            <a:r>
              <a:rPr lang="en-US" altLang="zh-CN" b="1" dirty="0" err="1">
                <a:latin typeface="Arial" panose="020B0604020202020204" pitchFamily="34" charset="0"/>
                <a:cs typeface="Arial" panose="020B0604020202020204" pitchFamily="34" charset="0"/>
              </a:rPr>
              <a:t>ZigBee</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912890" y="1539875"/>
            <a:ext cx="10440909" cy="4953000"/>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Challenges:</a:t>
            </a:r>
          </a:p>
          <a:p>
            <a:pPr lvl="1">
              <a:lnSpc>
                <a:spcPct val="120000"/>
              </a:lnSpc>
            </a:pPr>
            <a:r>
              <a:rPr lang="en-US" altLang="zh-CN" sz="2000" dirty="0">
                <a:latin typeface="Arial" panose="020B0604020202020204" pitchFamily="34" charset="0"/>
                <a:cs typeface="Arial" panose="020B0604020202020204" pitchFamily="34" charset="0"/>
              </a:rPr>
              <a:t>standard does not clearly define the operation of the peer-to-peer approach</a:t>
            </a:r>
          </a:p>
          <a:p>
            <a:pPr lvl="1">
              <a:lnSpc>
                <a:spcPct val="120000"/>
              </a:lnSpc>
            </a:pPr>
            <a:r>
              <a:rPr lang="en-US" altLang="zh-CN" sz="2000" dirty="0">
                <a:latin typeface="Arial" panose="020B0604020202020204" pitchFamily="34" charset="0"/>
                <a:cs typeface="Arial" panose="020B0604020202020204" pitchFamily="34" charset="0"/>
              </a:rPr>
              <a:t>in large WSNs, it is unlikely that all devices will be able to use the same PAN coordinator</a:t>
            </a:r>
          </a:p>
          <a:p>
            <a:pPr lvl="1">
              <a:lnSpc>
                <a:spcPct val="120000"/>
              </a:lnSpc>
            </a:pPr>
            <a:r>
              <a:rPr lang="en-US" altLang="zh-CN" sz="2000" dirty="0">
                <a:latin typeface="Arial" panose="020B0604020202020204" pitchFamily="34" charset="0"/>
                <a:cs typeface="Arial" panose="020B0604020202020204" pitchFamily="34" charset="0"/>
              </a:rPr>
              <a:t>standard does allow communication among PAN coordinators, but this again is not well defined</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307900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p>
        </p:txBody>
      </p:sp>
      <p:sp>
        <p:nvSpPr>
          <p:cNvPr id="3" name="内容占位符 2"/>
          <p:cNvSpPr>
            <a:spLocks noGrp="1"/>
          </p:cNvSpPr>
          <p:nvPr>
            <p:ph idx="1"/>
          </p:nvPr>
        </p:nvSpPr>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Wireless MAC protocols</a:t>
            </a:r>
          </a:p>
          <a:p>
            <a:pPr>
              <a:lnSpc>
                <a:spcPct val="120000"/>
              </a:lnSpc>
            </a:pPr>
            <a:r>
              <a:rPr lang="en-US" altLang="zh-CN" sz="2400" b="1" dirty="0">
                <a:latin typeface="Arial" panose="020B0604020202020204" pitchFamily="34" charset="0"/>
                <a:cs typeface="Arial" panose="020B0604020202020204" pitchFamily="34" charset="0"/>
              </a:rPr>
              <a:t>Characteristics of MAC Protocols in Sensor Networks</a:t>
            </a:r>
          </a:p>
          <a:p>
            <a:pPr>
              <a:lnSpc>
                <a:spcPct val="120000"/>
              </a:lnSpc>
            </a:pPr>
            <a:r>
              <a:rPr lang="en-US" altLang="zh-CN" sz="2400" dirty="0">
                <a:latin typeface="Arial" panose="020B0604020202020204" pitchFamily="34" charset="0"/>
                <a:cs typeface="Arial" panose="020B0604020202020204" pitchFamily="34" charset="0"/>
              </a:rPr>
              <a:t>Contention-Free MAC Protocols</a:t>
            </a:r>
          </a:p>
          <a:p>
            <a:pPr>
              <a:lnSpc>
                <a:spcPct val="120000"/>
              </a:lnSpc>
            </a:pPr>
            <a:r>
              <a:rPr lang="en-US" altLang="zh-CN" sz="2400" dirty="0">
                <a:latin typeface="Arial" panose="020B0604020202020204" pitchFamily="34" charset="0"/>
                <a:cs typeface="Arial" panose="020B0604020202020204" pitchFamily="34" charset="0"/>
              </a:rPr>
              <a:t>Contention-Based MAC Protocols </a:t>
            </a:r>
          </a:p>
          <a:p>
            <a:pPr>
              <a:lnSpc>
                <a:spcPct val="120000"/>
              </a:lnSpc>
            </a:pPr>
            <a:r>
              <a:rPr lang="en-US" altLang="zh-CN" sz="2400" dirty="0">
                <a:latin typeface="Arial" panose="020B0604020202020204" pitchFamily="34" charset="0"/>
                <a:cs typeface="Arial" panose="020B0604020202020204" pitchFamily="34" charset="0"/>
              </a:rPr>
              <a:t>Hybrid MAC Protocols </a:t>
            </a:r>
          </a:p>
        </p:txBody>
      </p:sp>
    </p:spTree>
    <p:extLst>
      <p:ext uri="{BB962C8B-B14F-4D97-AF65-F5344CB8AC3E}">
        <p14:creationId xmlns:p14="http://schemas.microsoft.com/office/powerpoint/2010/main" val="144606824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1353800" cy="1325563"/>
          </a:xfrm>
        </p:spPr>
        <p:txBody>
          <a:bodyPr>
            <a:normAutofit/>
          </a:bodyPr>
          <a:lstStyle/>
          <a:p>
            <a:r>
              <a:rPr lang="en-US" altLang="zh-CN" b="1" dirty="0">
                <a:latin typeface="Arial" panose="020B0604020202020204" pitchFamily="34" charset="0"/>
                <a:cs typeface="Arial" panose="020B0604020202020204" pitchFamily="34" charset="0"/>
              </a:rPr>
              <a:t>Characteristics of MAC Protocols in WSN</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5"/>
            <a:ext cx="10756037" cy="4351338"/>
          </a:xfrm>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Most MAC protocols are built for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fairness </a:t>
            </a:r>
          </a:p>
          <a:p>
            <a:pPr lvl="1">
              <a:lnSpc>
                <a:spcPct val="120000"/>
              </a:lnSpc>
            </a:pPr>
            <a:r>
              <a:rPr lang="en-US" altLang="zh-CN" sz="2000" dirty="0">
                <a:latin typeface="Arial" panose="020B0604020202020204" pitchFamily="34" charset="0"/>
                <a:cs typeface="Arial" panose="020B0604020202020204" pitchFamily="34" charset="0"/>
              </a:rPr>
              <a:t>everybody should get an equal amount of resources </a:t>
            </a:r>
          </a:p>
          <a:p>
            <a:pPr lvl="1">
              <a:lnSpc>
                <a:spcPct val="120000"/>
              </a:lnSpc>
            </a:pPr>
            <a:r>
              <a:rPr lang="en-US" altLang="zh-CN" sz="2000" dirty="0">
                <a:latin typeface="Arial" panose="020B0604020202020204" pitchFamily="34" charset="0"/>
                <a:cs typeface="Arial" panose="020B0604020202020204" pitchFamily="34" charset="0"/>
              </a:rPr>
              <a:t>no one should receive special treatment </a:t>
            </a:r>
          </a:p>
          <a:p>
            <a:pPr>
              <a:lnSpc>
                <a:spcPct val="120000"/>
              </a:lnSpc>
            </a:pPr>
            <a:r>
              <a:rPr lang="en-US" altLang="zh-CN" sz="2400" dirty="0">
                <a:latin typeface="Arial" panose="020B0604020202020204" pitchFamily="34" charset="0"/>
                <a:cs typeface="Arial" panose="020B0604020202020204" pitchFamily="34" charset="0"/>
              </a:rPr>
              <a:t>In a WSN, all nodes cooperate to achieve a common purpose, therefore fairness is less of a concern</a:t>
            </a:r>
          </a:p>
          <a:p>
            <a:pPr>
              <a:lnSpc>
                <a:spcPct val="120000"/>
              </a:lnSpc>
            </a:pPr>
            <a:r>
              <a:rPr lang="en-US" altLang="zh-CN" sz="2400" dirty="0">
                <a:latin typeface="Arial" panose="020B0604020202020204" pitchFamily="34" charset="0"/>
                <a:cs typeface="Arial" panose="020B0604020202020204" pitchFamily="34" charset="0"/>
              </a:rPr>
              <a:t>Instead, wireless nodes are mostly concerned with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energy consumption</a:t>
            </a:r>
          </a:p>
          <a:p>
            <a:pPr>
              <a:lnSpc>
                <a:spcPct val="120000"/>
              </a:lnSpc>
            </a:pPr>
            <a:r>
              <a:rPr lang="en-US" altLang="zh-CN" sz="2400" dirty="0">
                <a:latin typeface="Arial" panose="020B0604020202020204" pitchFamily="34" charset="0"/>
                <a:cs typeface="Arial" panose="020B0604020202020204" pitchFamily="34" charset="0"/>
              </a:rPr>
              <a:t>Sensing applications may value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low latency  </a:t>
            </a:r>
            <a:r>
              <a:rPr lang="en-US" altLang="zh-CN" sz="2400" dirty="0">
                <a:latin typeface="Arial" panose="020B0604020202020204" pitchFamily="34" charset="0"/>
                <a:cs typeface="Arial" panose="020B0604020202020204" pitchFamily="34" charset="0"/>
              </a:rPr>
              <a:t>or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high reliability </a:t>
            </a:r>
            <a:r>
              <a:rPr lang="en-US" altLang="zh-CN" sz="2400" dirty="0">
                <a:latin typeface="Arial" panose="020B0604020202020204" pitchFamily="34" charset="0"/>
                <a:cs typeface="Arial" panose="020B0604020202020204" pitchFamily="34" charset="0"/>
              </a:rPr>
              <a:t>over fairness</a:t>
            </a:r>
            <a:endParaRPr lang="en-US" altLang="zh-C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514661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Energy Efficiency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1173287" cy="5232123"/>
          </a:xfrm>
        </p:spPr>
        <p:txBody>
          <a:bodyPr>
            <a:normAutofit fontScale="92500"/>
          </a:bodyPr>
          <a:lstStyle/>
          <a:p>
            <a:pPr>
              <a:lnSpc>
                <a:spcPct val="130000"/>
              </a:lnSpc>
            </a:pPr>
            <a:r>
              <a:rPr lang="en-US" altLang="zh-CN" sz="2600" dirty="0">
                <a:latin typeface="Arial" panose="020B0604020202020204" pitchFamily="34" charset="0"/>
                <a:cs typeface="Arial" panose="020B0604020202020204" pitchFamily="34" charset="0"/>
              </a:rPr>
              <a:t>Sensor nodes must operate using finite energy sources, therefore MAC protocols must consider energy efficiency </a:t>
            </a:r>
          </a:p>
          <a:p>
            <a:pPr>
              <a:lnSpc>
                <a:spcPct val="130000"/>
              </a:lnSpc>
            </a:pPr>
            <a:r>
              <a:rPr lang="en-US" altLang="zh-CN" sz="2600" dirty="0">
                <a:latin typeface="Arial" panose="020B0604020202020204" pitchFamily="34" charset="0"/>
                <a:cs typeface="Arial" panose="020B0604020202020204" pitchFamily="34" charset="0"/>
              </a:rPr>
              <a:t>Common technique: </a:t>
            </a:r>
            <a:r>
              <a:rPr lang="en-US" altLang="zh-CN" sz="2600" dirty="0">
                <a:solidFill>
                  <a:schemeClr val="tx2">
                    <a:lumMod val="75000"/>
                    <a:lumOff val="25000"/>
                  </a:schemeClr>
                </a:solidFill>
                <a:latin typeface="Arial" panose="020B0604020202020204" pitchFamily="34" charset="0"/>
                <a:cs typeface="Arial" panose="020B0604020202020204" pitchFamily="34" charset="0"/>
              </a:rPr>
              <a:t>dynamic power management (DPM)</a:t>
            </a:r>
          </a:p>
          <a:p>
            <a:pPr lvl="1">
              <a:lnSpc>
                <a:spcPct val="130000"/>
              </a:lnSpc>
            </a:pPr>
            <a:r>
              <a:rPr lang="en-US" altLang="zh-CN" sz="2200" dirty="0">
                <a:latin typeface="Arial" panose="020B0604020202020204" pitchFamily="34" charset="0"/>
                <a:cs typeface="Arial" panose="020B0604020202020204" pitchFamily="34" charset="0"/>
              </a:rPr>
              <a:t>a resource can be moved between different </a:t>
            </a:r>
            <a:r>
              <a:rPr lang="en-US" altLang="zh-CN" sz="2200" dirty="0">
                <a:solidFill>
                  <a:schemeClr val="tx2">
                    <a:lumMod val="75000"/>
                    <a:lumOff val="25000"/>
                  </a:schemeClr>
                </a:solidFill>
                <a:latin typeface="Arial" panose="020B0604020202020204" pitchFamily="34" charset="0"/>
                <a:cs typeface="Arial" panose="020B0604020202020204" pitchFamily="34" charset="0"/>
              </a:rPr>
              <a:t>operational modes (active, idle</a:t>
            </a:r>
            <a:r>
              <a:rPr lang="en-US" altLang="zh-CN" sz="2200" dirty="0">
                <a:latin typeface="Arial" panose="020B0604020202020204" pitchFamily="34" charset="0"/>
                <a:cs typeface="Arial" panose="020B0604020202020204" pitchFamily="34" charset="0"/>
              </a:rPr>
              <a:t>, and </a:t>
            </a:r>
            <a:r>
              <a:rPr lang="en-US" altLang="zh-CN" sz="2200" dirty="0">
                <a:solidFill>
                  <a:schemeClr val="tx2">
                    <a:lumMod val="75000"/>
                    <a:lumOff val="25000"/>
                  </a:schemeClr>
                </a:solidFill>
                <a:latin typeface="Arial" panose="020B0604020202020204" pitchFamily="34" charset="0"/>
                <a:cs typeface="Arial" panose="020B0604020202020204" pitchFamily="34" charset="0"/>
              </a:rPr>
              <a:t>asleep)</a:t>
            </a:r>
            <a:r>
              <a:rPr lang="en-US" altLang="zh-CN" sz="2200" dirty="0">
                <a:latin typeface="Arial" panose="020B0604020202020204" pitchFamily="34" charset="0"/>
                <a:cs typeface="Arial" panose="020B0604020202020204" pitchFamily="34" charset="0"/>
              </a:rPr>
              <a:t> </a:t>
            </a:r>
          </a:p>
          <a:p>
            <a:pPr lvl="1">
              <a:lnSpc>
                <a:spcPct val="130000"/>
              </a:lnSpc>
            </a:pPr>
            <a:r>
              <a:rPr lang="en-US" altLang="zh-CN" sz="2200" dirty="0">
                <a:latin typeface="Arial" panose="020B0604020202020204" pitchFamily="34" charset="0"/>
                <a:cs typeface="Arial" panose="020B0604020202020204" pitchFamily="34" charset="0"/>
              </a:rPr>
              <a:t>for resources such as the network, the active mode can group together multiple different modes of activity, e.g., </a:t>
            </a:r>
            <a:r>
              <a:rPr lang="en-US" altLang="zh-CN" sz="2200" dirty="0">
                <a:solidFill>
                  <a:schemeClr val="tx2">
                    <a:lumMod val="75000"/>
                    <a:lumOff val="25000"/>
                  </a:schemeClr>
                </a:solidFill>
                <a:latin typeface="Arial" panose="020B0604020202020204" pitchFamily="34" charset="0"/>
                <a:cs typeface="Arial" panose="020B0604020202020204" pitchFamily="34" charset="0"/>
              </a:rPr>
              <a:t>transmitting</a:t>
            </a:r>
            <a:r>
              <a:rPr lang="en-US" altLang="zh-CN" sz="2200" dirty="0">
                <a:latin typeface="Arial" panose="020B0604020202020204" pitchFamily="34" charset="0"/>
                <a:cs typeface="Arial" panose="020B0604020202020204" pitchFamily="34" charset="0"/>
              </a:rPr>
              <a:t> and </a:t>
            </a:r>
            <a:r>
              <a:rPr lang="en-US" altLang="zh-CN" sz="2200" dirty="0">
                <a:solidFill>
                  <a:schemeClr val="tx2">
                    <a:lumMod val="75000"/>
                    <a:lumOff val="25000"/>
                  </a:schemeClr>
                </a:solidFill>
                <a:latin typeface="Arial" panose="020B0604020202020204" pitchFamily="34" charset="0"/>
                <a:cs typeface="Arial" panose="020B0604020202020204" pitchFamily="34" charset="0"/>
              </a:rPr>
              <a:t>receiving</a:t>
            </a:r>
          </a:p>
          <a:p>
            <a:pPr>
              <a:lnSpc>
                <a:spcPct val="130000"/>
              </a:lnSpc>
            </a:pPr>
            <a:r>
              <a:rPr lang="en-US" altLang="zh-CN" sz="2600" dirty="0">
                <a:solidFill>
                  <a:schemeClr val="tx2">
                    <a:lumMod val="75000"/>
                    <a:lumOff val="25000"/>
                  </a:schemeClr>
                </a:solidFill>
                <a:latin typeface="Arial" panose="020B0604020202020204" pitchFamily="34" charset="0"/>
                <a:cs typeface="Arial" panose="020B0604020202020204" pitchFamily="34" charset="0"/>
              </a:rPr>
              <a:t>Periodic traffic models </a:t>
            </a:r>
            <a:r>
              <a:rPr lang="en-US" altLang="zh-CN" sz="2600" dirty="0">
                <a:latin typeface="Arial" panose="020B0604020202020204" pitchFamily="34" charset="0"/>
                <a:cs typeface="Arial" panose="020B0604020202020204" pitchFamily="34" charset="0"/>
              </a:rPr>
              <a:t>are very common in WSNs</a:t>
            </a:r>
          </a:p>
          <a:p>
            <a:pPr lvl="1">
              <a:lnSpc>
                <a:spcPct val="130000"/>
              </a:lnSpc>
            </a:pPr>
            <a:r>
              <a:rPr lang="en-US" altLang="zh-CN" sz="2200" dirty="0">
                <a:latin typeface="Arial" panose="020B0604020202020204" pitchFamily="34" charset="0"/>
                <a:cs typeface="Arial" panose="020B0604020202020204" pitchFamily="34" charset="0"/>
              </a:rPr>
              <a:t>significant energy savings can be obtained by putting a device into a </a:t>
            </a:r>
            <a:r>
              <a:rPr lang="en-US" altLang="zh-CN" sz="2200" dirty="0">
                <a:solidFill>
                  <a:schemeClr val="tx2">
                    <a:lumMod val="75000"/>
                    <a:lumOff val="25000"/>
                  </a:schemeClr>
                </a:solidFill>
                <a:latin typeface="Arial" panose="020B0604020202020204" pitchFamily="34" charset="0"/>
                <a:cs typeface="Arial" panose="020B0604020202020204" pitchFamily="34" charset="0"/>
              </a:rPr>
              <a:t>low-power sleep mode </a:t>
            </a:r>
            <a:endParaRPr lang="en-US" altLang="zh-CN" sz="2200" dirty="0">
              <a:latin typeface="Arial" panose="020B0604020202020204" pitchFamily="34" charset="0"/>
              <a:cs typeface="Arial" panose="020B0604020202020204" pitchFamily="34" charset="0"/>
            </a:endParaRPr>
          </a:p>
          <a:p>
            <a:pPr lvl="1">
              <a:lnSpc>
                <a:spcPct val="130000"/>
              </a:lnSpc>
            </a:pPr>
            <a:r>
              <a:rPr lang="en-US" altLang="zh-CN" sz="2200" dirty="0">
                <a:latin typeface="Arial" panose="020B0604020202020204" pitchFamily="34" charset="0"/>
                <a:cs typeface="Arial" panose="020B0604020202020204" pitchFamily="34" charset="0"/>
              </a:rPr>
              <a:t>fraction of time a sensor nodes spends in active mode is called the </a:t>
            </a:r>
            <a:r>
              <a:rPr lang="en-US" altLang="zh-CN" sz="2200" dirty="0">
                <a:solidFill>
                  <a:schemeClr val="tx2">
                    <a:lumMod val="75000"/>
                    <a:lumOff val="25000"/>
                  </a:schemeClr>
                </a:solidFill>
                <a:latin typeface="Arial" panose="020B0604020202020204" pitchFamily="34" charset="0"/>
                <a:cs typeface="Arial" panose="020B0604020202020204" pitchFamily="34" charset="0"/>
              </a:rPr>
              <a:t>duty cycle</a:t>
            </a:r>
          </a:p>
          <a:p>
            <a:pPr lvl="2">
              <a:lnSpc>
                <a:spcPct val="130000"/>
              </a:lnSpc>
            </a:pPr>
            <a:r>
              <a:rPr lang="en-US" altLang="zh-CN" sz="1900" dirty="0">
                <a:latin typeface="Arial" panose="020B0604020202020204" pitchFamily="34" charset="0"/>
                <a:cs typeface="Arial" panose="020B0604020202020204" pitchFamily="34" charset="0"/>
              </a:rPr>
              <a:t>often very small due to infrequent and brief data transmissions occurring in most sensor networks</a:t>
            </a:r>
            <a:endParaRPr lang="zh-CN" altLang="en-US"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809262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Energy Efficiency</a:t>
            </a:r>
            <a:endParaRPr lang="zh-CN" altLang="en-US" b="1" dirty="0">
              <a:latin typeface="Arial" panose="020B0604020202020204" pitchFamily="34" charset="0"/>
              <a:cs typeface="Arial" panose="020B0604020202020204" pitchFamily="34" charset="0"/>
            </a:endParaRP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13968" y="1943643"/>
            <a:ext cx="8164065" cy="3610479"/>
          </a:xfrm>
        </p:spPr>
      </p:pic>
    </p:spTree>
    <p:extLst>
      <p:ext uri="{BB962C8B-B14F-4D97-AF65-F5344CB8AC3E}">
        <p14:creationId xmlns:p14="http://schemas.microsoft.com/office/powerpoint/2010/main" val="90130638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Energy Efficiency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753340"/>
            <a:ext cx="10915835" cy="3573262"/>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Reasons for energy inefficiency </a:t>
            </a:r>
          </a:p>
          <a:p>
            <a:pPr lvl="1">
              <a:lnSpc>
                <a:spcPct val="120000"/>
              </a:lnSpc>
            </a:pPr>
            <a:r>
              <a:rPr lang="en-US" altLang="zh-CN" sz="2000" dirty="0">
                <a:latin typeface="Arial" panose="020B0604020202020204" pitchFamily="34" charset="0"/>
                <a:cs typeface="Arial" panose="020B0604020202020204" pitchFamily="34" charset="0"/>
              </a:rPr>
              <a:t>idle listening  </a:t>
            </a:r>
          </a:p>
          <a:p>
            <a:pPr lvl="1">
              <a:lnSpc>
                <a:spcPct val="120000"/>
              </a:lnSpc>
            </a:pPr>
            <a:r>
              <a:rPr lang="en-US" altLang="zh-CN" sz="2000" dirty="0">
                <a:latin typeface="Arial" panose="020B0604020202020204" pitchFamily="34" charset="0"/>
                <a:cs typeface="Arial" panose="020B0604020202020204" pitchFamily="34" charset="0"/>
              </a:rPr>
              <a:t>inefficient protocol designs (e.g., large packet headers) </a:t>
            </a:r>
          </a:p>
          <a:p>
            <a:pPr lvl="1">
              <a:lnSpc>
                <a:spcPct val="120000"/>
              </a:lnSpc>
            </a:pPr>
            <a:r>
              <a:rPr lang="en-US" altLang="zh-CN" sz="2000" dirty="0">
                <a:latin typeface="Arial" panose="020B0604020202020204" pitchFamily="34" charset="0"/>
                <a:cs typeface="Arial" panose="020B0604020202020204" pitchFamily="34" charset="0"/>
              </a:rPr>
              <a:t>reliability features (collisions requiring retransmissions or other error control mechanisms)</a:t>
            </a:r>
          </a:p>
          <a:p>
            <a:pPr lvl="1">
              <a:lnSpc>
                <a:spcPct val="120000"/>
              </a:lnSpc>
            </a:pPr>
            <a:r>
              <a:rPr lang="en-US" altLang="zh-CN" sz="2000" dirty="0">
                <a:latin typeface="Arial" panose="020B0604020202020204" pitchFamily="34" charset="0"/>
                <a:cs typeface="Arial" panose="020B0604020202020204" pitchFamily="34" charset="0"/>
              </a:rPr>
              <a:t>control messages to address the hidden-terminal problem </a:t>
            </a:r>
          </a:p>
          <a:p>
            <a:pPr lvl="1">
              <a:lnSpc>
                <a:spcPct val="120000"/>
              </a:lnSpc>
            </a:pPr>
            <a:r>
              <a:rPr lang="en-US" altLang="zh-CN" sz="2000" dirty="0">
                <a:latin typeface="Arial" panose="020B0604020202020204" pitchFamily="34" charset="0"/>
                <a:cs typeface="Arial" panose="020B0604020202020204" pitchFamily="34" charset="0"/>
              </a:rPr>
              <a:t>choice of modulation scheme </a:t>
            </a:r>
          </a:p>
          <a:p>
            <a:pPr lvl="1">
              <a:lnSpc>
                <a:spcPct val="120000"/>
              </a:lnSpc>
            </a:pPr>
            <a:r>
              <a:rPr lang="en-US" altLang="zh-CN" sz="2000" dirty="0">
                <a:latin typeface="Arial" panose="020B0604020202020204" pitchFamily="34" charset="0"/>
                <a:cs typeface="Arial" panose="020B0604020202020204" pitchFamily="34" charset="0"/>
              </a:rPr>
              <a:t>choice of transmission rate </a:t>
            </a:r>
          </a:p>
          <a:p>
            <a:pPr lvl="1">
              <a:lnSpc>
                <a:spcPct val="120000"/>
              </a:lnSpc>
            </a:pPr>
            <a:r>
              <a:rPr lang="en-US" altLang="zh-CN" sz="2000" dirty="0" err="1">
                <a:latin typeface="Arial" panose="020B0604020202020204" pitchFamily="34" charset="0"/>
                <a:cs typeface="Arial" panose="020B0604020202020204" pitchFamily="34" charset="0"/>
              </a:rPr>
              <a:t>overemitting</a:t>
            </a:r>
            <a:endParaRPr lang="en-US" altLang="zh-CN" dirty="0">
              <a:latin typeface="Arial" panose="020B0604020202020204" pitchFamily="34" charset="0"/>
              <a:cs typeface="Arial" panose="020B0604020202020204" pitchFamily="34" charset="0"/>
            </a:endParaRPr>
          </a:p>
          <a:p>
            <a:pPr>
              <a:lnSpc>
                <a:spcPct val="120000"/>
              </a:lnSpc>
            </a:pPr>
            <a:endParaRPr lang="en-US" altLang="zh-C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587280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Scalability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9"/>
            <a:ext cx="10738282" cy="4115308"/>
          </a:xfrm>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Many wireless MAC protocols have been designed for use in infrastructure-based networks</a:t>
            </a:r>
          </a:p>
          <a:p>
            <a:pPr lvl="1">
              <a:lnSpc>
                <a:spcPct val="120000"/>
              </a:lnSpc>
            </a:pPr>
            <a:r>
              <a:rPr lang="en-US" altLang="zh-CN" sz="2000" dirty="0">
                <a:latin typeface="Arial" panose="020B0604020202020204" pitchFamily="34" charset="0"/>
                <a:cs typeface="Arial" panose="020B0604020202020204" pitchFamily="34" charset="0"/>
              </a:rPr>
              <a:t>access points or controller nodes arbitrate access to the channel and perform some centralized coordination and management functions </a:t>
            </a:r>
          </a:p>
          <a:p>
            <a:pPr>
              <a:lnSpc>
                <a:spcPct val="120000"/>
              </a:lnSpc>
            </a:pPr>
            <a:r>
              <a:rPr lang="en-US" altLang="zh-CN" sz="2400" dirty="0">
                <a:latin typeface="Arial" panose="020B0604020202020204" pitchFamily="34" charset="0"/>
                <a:cs typeface="Arial" panose="020B0604020202020204" pitchFamily="34" charset="0"/>
              </a:rPr>
              <a:t>Most wireless sensor networks rely on multi-hop and peer-to-peer communications without centralized coordinators  </a:t>
            </a:r>
          </a:p>
          <a:p>
            <a:pPr>
              <a:lnSpc>
                <a:spcPct val="120000"/>
              </a:lnSpc>
            </a:pPr>
            <a:r>
              <a:rPr lang="en-US" altLang="zh-CN" sz="2400" dirty="0">
                <a:latin typeface="Arial" panose="020B0604020202020204" pitchFamily="34" charset="0"/>
                <a:cs typeface="Arial" panose="020B0604020202020204" pitchFamily="34" charset="0"/>
              </a:rPr>
              <a:t>MAC protocols must be able to allow for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efficient use of resources </a:t>
            </a:r>
            <a:r>
              <a:rPr lang="en-US" altLang="zh-CN" sz="2400" dirty="0">
                <a:latin typeface="Arial" panose="020B0604020202020204" pitchFamily="34" charset="0"/>
                <a:cs typeface="Arial" panose="020B0604020202020204" pitchFamily="34" charset="0"/>
              </a:rPr>
              <a:t>without incurring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unacceptable overheads</a:t>
            </a:r>
            <a:r>
              <a:rPr lang="en-US" altLang="zh-CN" sz="2400" dirty="0">
                <a:latin typeface="Arial" panose="020B0604020202020204" pitchFamily="34" charset="0"/>
                <a:cs typeface="Arial" panose="020B0604020202020204" pitchFamily="34" charset="0"/>
              </a:rPr>
              <a:t>, particularly in very large networks </a:t>
            </a:r>
          </a:p>
        </p:txBody>
      </p:sp>
    </p:spTree>
    <p:extLst>
      <p:ext uri="{BB962C8B-B14F-4D97-AF65-F5344CB8AC3E}">
        <p14:creationId xmlns:p14="http://schemas.microsoft.com/office/powerpoint/2010/main" val="1748607227"/>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Scalability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738282" cy="4754563"/>
          </a:xfrm>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MAC protocols based on CDMA have to cache a large number of code (may be impractical for resource-constrained sensor devices)</a:t>
            </a:r>
          </a:p>
          <a:p>
            <a:pPr>
              <a:lnSpc>
                <a:spcPct val="120000"/>
              </a:lnSpc>
            </a:pPr>
            <a:r>
              <a:rPr lang="en-US" altLang="zh-CN" sz="2400" dirty="0">
                <a:latin typeface="Arial" panose="020B0604020202020204" pitchFamily="34" charset="0"/>
                <a:cs typeface="Arial" panose="020B0604020202020204" pitchFamily="34" charset="0"/>
              </a:rPr>
              <a:t>WSNs are not only constrained in their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energy resources</a:t>
            </a:r>
            <a:r>
              <a:rPr lang="en-US" altLang="zh-CN" sz="2400" dirty="0">
                <a:latin typeface="Arial" panose="020B0604020202020204" pitchFamily="34" charset="0"/>
                <a:cs typeface="Arial" panose="020B0604020202020204" pitchFamily="34" charset="0"/>
              </a:rPr>
              <a:t>, but also in their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processing</a:t>
            </a:r>
            <a:r>
              <a:rPr lang="en-US" altLang="zh-CN" sz="2400" dirty="0">
                <a:latin typeface="Arial" panose="020B0604020202020204" pitchFamily="34" charset="0"/>
                <a:cs typeface="Arial" panose="020B0604020202020204" pitchFamily="34" charset="0"/>
              </a:rPr>
              <a:t> and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memory capacities</a:t>
            </a:r>
          </a:p>
          <a:p>
            <a:pPr>
              <a:lnSpc>
                <a:spcPct val="120000"/>
              </a:lnSpc>
            </a:pPr>
            <a:r>
              <a:rPr lang="en-US" altLang="zh-CN" sz="2400" dirty="0">
                <a:latin typeface="Arial" panose="020B0604020202020204" pitchFamily="34" charset="0"/>
                <a:cs typeface="Arial" panose="020B0604020202020204" pitchFamily="34" charset="0"/>
              </a:rPr>
              <a:t>MAC protocols should not impose excessive computational burden should not require too much memory to save state information</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022299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Adaptability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1137777" cy="4754563"/>
          </a:xfrm>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A key characteristic of a WSN is its ability to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self-manage</a:t>
            </a:r>
          </a:p>
          <a:p>
            <a:pPr lvl="1">
              <a:lnSpc>
                <a:spcPct val="120000"/>
              </a:lnSpc>
            </a:pPr>
            <a:r>
              <a:rPr lang="en-US" altLang="zh-CN" sz="2000" dirty="0">
                <a:latin typeface="Arial" panose="020B0604020202020204" pitchFamily="34" charset="0"/>
                <a:cs typeface="Arial" panose="020B0604020202020204" pitchFamily="34" charset="0"/>
              </a:rPr>
              <a:t>adapt to changes in the network</a:t>
            </a:r>
          </a:p>
          <a:p>
            <a:pPr lvl="1">
              <a:lnSpc>
                <a:spcPct val="120000"/>
              </a:lnSpc>
            </a:pPr>
            <a:r>
              <a:rPr lang="en-US" altLang="zh-CN" sz="2000" dirty="0">
                <a:latin typeface="Arial" panose="020B0604020202020204" pitchFamily="34" charset="0"/>
                <a:cs typeface="Arial" panose="020B0604020202020204" pitchFamily="34" charset="0"/>
              </a:rPr>
              <a:t>including changes in topology, network size, density, and traffic characteristics</a:t>
            </a:r>
          </a:p>
          <a:p>
            <a:pPr>
              <a:lnSpc>
                <a:spcPct val="120000"/>
              </a:lnSpc>
            </a:pPr>
            <a:r>
              <a:rPr lang="en-US" altLang="zh-CN" sz="2400" dirty="0">
                <a:latin typeface="Arial" panose="020B0604020202020204" pitchFamily="34" charset="0"/>
                <a:cs typeface="Arial" panose="020B0604020202020204" pitchFamily="34" charset="0"/>
              </a:rPr>
              <a:t>A MAC protocol for a WSN should be able to gracefully adapt to such changes without significant overheads </a:t>
            </a:r>
          </a:p>
          <a:p>
            <a:pPr>
              <a:lnSpc>
                <a:spcPct val="120000"/>
              </a:lnSpc>
            </a:pPr>
            <a:r>
              <a:rPr lang="en-US" altLang="zh-CN" sz="2400" dirty="0">
                <a:latin typeface="Arial" panose="020B0604020202020204" pitchFamily="34" charset="0"/>
                <a:cs typeface="Arial" panose="020B0604020202020204" pitchFamily="34" charset="0"/>
              </a:rPr>
              <a:t>This requirement generally favors protocols that are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dynamic</a:t>
            </a:r>
            <a:r>
              <a:rPr lang="en-US" altLang="zh-CN" sz="2400" dirty="0">
                <a:latin typeface="Arial" panose="020B0604020202020204" pitchFamily="34" charset="0"/>
                <a:cs typeface="Arial" panose="020B0604020202020204" pitchFamily="34" charset="0"/>
              </a:rPr>
              <a:t> in nature</a:t>
            </a:r>
          </a:p>
          <a:p>
            <a:pPr lvl="1">
              <a:lnSpc>
                <a:spcPct val="120000"/>
              </a:lnSpc>
            </a:pPr>
            <a:r>
              <a:rPr lang="en-US" altLang="zh-CN" sz="2000" dirty="0">
                <a:latin typeface="Arial" panose="020B0604020202020204" pitchFamily="34" charset="0"/>
                <a:cs typeface="Arial" panose="020B0604020202020204" pitchFamily="34" charset="0"/>
              </a:rPr>
              <a:t>protocols that make medium access decisions based on current demand and network state </a:t>
            </a:r>
          </a:p>
          <a:p>
            <a:pPr>
              <a:lnSpc>
                <a:spcPct val="120000"/>
              </a:lnSpc>
            </a:pPr>
            <a:r>
              <a:rPr lang="en-US" altLang="zh-CN" sz="2400" dirty="0">
                <a:latin typeface="Arial" panose="020B0604020202020204" pitchFamily="34" charset="0"/>
                <a:cs typeface="Arial" panose="020B0604020202020204" pitchFamily="34" charset="0"/>
              </a:rPr>
              <a:t>Protocols with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fixed assignments </a:t>
            </a:r>
            <a:r>
              <a:rPr lang="en-US" altLang="zh-CN" sz="2400" dirty="0">
                <a:latin typeface="Arial" panose="020B0604020202020204" pitchFamily="34" charset="0"/>
                <a:cs typeface="Arial" panose="020B0604020202020204" pitchFamily="34" charset="0"/>
              </a:rPr>
              <a:t>(e.g., TDMA with fixed-size frames and slots) may incur large overheads due to adaptations of such assignments that may affect many or all nodes in the network</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3492867"/>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Low Latency and Predictability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499587"/>
            <a:ext cx="10951346" cy="4754563"/>
          </a:xfrm>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Many WSN applications have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timeliness requirements </a:t>
            </a:r>
          </a:p>
          <a:p>
            <a:pPr lvl="1">
              <a:lnSpc>
                <a:spcPct val="120000"/>
              </a:lnSpc>
            </a:pPr>
            <a:r>
              <a:rPr lang="en-US" altLang="zh-CN" sz="2000" dirty="0">
                <a:latin typeface="Arial" panose="020B0604020202020204" pitchFamily="34" charset="0"/>
                <a:cs typeface="Arial" panose="020B0604020202020204" pitchFamily="34" charset="0"/>
              </a:rPr>
              <a:t>sensor data must be collected, aggregated, and delivered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within certain latency constraints  </a:t>
            </a:r>
            <a:r>
              <a:rPr lang="en-US" altLang="zh-CN" sz="2000" dirty="0">
                <a:latin typeface="Arial" panose="020B0604020202020204" pitchFamily="34" charset="0"/>
                <a:cs typeface="Arial" panose="020B0604020202020204" pitchFamily="34" charset="0"/>
              </a:rPr>
              <a:t>or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deadlines</a:t>
            </a:r>
            <a:r>
              <a:rPr lang="en-US" altLang="zh-CN" sz="2000" dirty="0">
                <a:latin typeface="Arial" panose="020B0604020202020204" pitchFamily="34" charset="0"/>
                <a:cs typeface="Arial" panose="020B0604020202020204" pitchFamily="34" charset="0"/>
              </a:rPr>
              <a:t> </a:t>
            </a:r>
          </a:p>
          <a:p>
            <a:pPr lvl="1">
              <a:lnSpc>
                <a:spcPct val="120000"/>
              </a:lnSpc>
            </a:pPr>
            <a:r>
              <a:rPr lang="en-US" altLang="zh-CN" sz="2000" dirty="0">
                <a:latin typeface="Arial" panose="020B0604020202020204" pitchFamily="34" charset="0"/>
                <a:cs typeface="Arial" panose="020B0604020202020204" pitchFamily="34" charset="0"/>
              </a:rPr>
              <a:t>example: wildfire detection (sensor data must be delivered to monitoring stations in a timely fashion to ensure timely responses)</a:t>
            </a:r>
          </a:p>
          <a:p>
            <a:pPr>
              <a:lnSpc>
                <a:spcPct val="120000"/>
              </a:lnSpc>
            </a:pPr>
            <a:r>
              <a:rPr lang="en-US" altLang="zh-CN" sz="2400" dirty="0">
                <a:latin typeface="Arial" panose="020B0604020202020204" pitchFamily="34" charset="0"/>
                <a:cs typeface="Arial" panose="020B0604020202020204" pitchFamily="34" charset="0"/>
              </a:rPr>
              <a:t>MAC protocol design</a:t>
            </a:r>
          </a:p>
          <a:p>
            <a:pPr lvl="1">
              <a:lnSpc>
                <a:spcPct val="120000"/>
              </a:lnSpc>
            </a:pPr>
            <a:r>
              <a:rPr lang="en-US" altLang="zh-CN" sz="2000" dirty="0">
                <a:latin typeface="Arial" panose="020B0604020202020204" pitchFamily="34" charset="0"/>
                <a:cs typeface="Arial" panose="020B0604020202020204" pitchFamily="34" charset="0"/>
              </a:rPr>
              <a:t>choice of frame size and slot allocations in TDMA-based protocols lead to large delays </a:t>
            </a:r>
          </a:p>
          <a:p>
            <a:pPr lvl="1">
              <a:lnSpc>
                <a:spcPct val="120000"/>
              </a:lnSpc>
            </a:pPr>
            <a:r>
              <a:rPr lang="en-US" altLang="zh-CN" sz="2000" dirty="0">
                <a:latin typeface="Arial" panose="020B0604020202020204" pitchFamily="34" charset="0"/>
                <a:cs typeface="Arial" panose="020B0604020202020204" pitchFamily="34" charset="0"/>
              </a:rPr>
              <a:t>in contention-based protocols, nodes may be able to access the wireless medium sooner (than TDMA), but collisions and the resulting retransmissions incur delays </a:t>
            </a:r>
          </a:p>
          <a:p>
            <a:pPr lvl="1">
              <a:lnSpc>
                <a:spcPct val="120000"/>
              </a:lnSpc>
            </a:pPr>
            <a:r>
              <a:rPr lang="en-US" altLang="zh-CN" sz="2000" dirty="0">
                <a:latin typeface="Arial" panose="020B0604020202020204" pitchFamily="34" charset="0"/>
                <a:cs typeface="Arial" panose="020B0604020202020204" pitchFamily="34" charset="0"/>
              </a:rPr>
              <a:t>choice of MAC protocol can affect how predictable the experienced delay is (expressed as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upper latency bounds </a:t>
            </a:r>
            <a:r>
              <a:rPr lang="en-US" altLang="zh-CN" sz="2000" dirty="0">
                <a:latin typeface="Arial" panose="020B0604020202020204" pitchFamily="34" charset="0"/>
                <a:cs typeface="Arial" panose="020B0604020202020204" pitchFamily="34" charset="0"/>
              </a:rPr>
              <a:t>)</a:t>
            </a:r>
          </a:p>
          <a:p>
            <a:pPr lvl="1">
              <a:lnSpc>
                <a:spcPct val="120000"/>
              </a:lnSpc>
            </a:pPr>
            <a:r>
              <a:rPr lang="en-US" altLang="zh-CN" sz="2000" dirty="0">
                <a:latin typeface="Arial" panose="020B0604020202020204" pitchFamily="34" charset="0"/>
                <a:cs typeface="Arial" panose="020B0604020202020204" pitchFamily="34" charset="0"/>
              </a:rPr>
              <a:t>some contention-based MAC protocols allow the theoretical possibility of starvation</a:t>
            </a:r>
            <a:endParaRPr lang="en-US" altLang="zh-CN" sz="2200" dirty="0">
              <a:latin typeface="Arial" panose="020B0604020202020204" pitchFamily="34" charset="0"/>
              <a:cs typeface="Arial" panose="020B0604020202020204" pitchFamily="34" charset="0"/>
            </a:endParaRPr>
          </a:p>
          <a:p>
            <a:pPr>
              <a:lnSpc>
                <a:spcPct val="120000"/>
              </a:lnSpc>
            </a:pPr>
            <a:endParaRPr lang="en-US" altLang="zh-CN" sz="2200" dirty="0">
              <a:latin typeface="Arial" panose="020B0604020202020204" pitchFamily="34" charset="0"/>
              <a:cs typeface="Arial" panose="020B0604020202020204" pitchFamily="34" charset="0"/>
            </a:endParaRPr>
          </a:p>
          <a:p>
            <a:pPr>
              <a:lnSpc>
                <a:spcPct val="120000"/>
              </a:lnSpc>
            </a:pPr>
            <a:endParaRPr lang="en-US" altLang="zh-CN" sz="2200" dirty="0">
              <a:latin typeface="Arial" panose="020B0604020202020204" pitchFamily="34" charset="0"/>
              <a:cs typeface="Arial" panose="020B0604020202020204" pitchFamily="34" charset="0"/>
            </a:endParaRPr>
          </a:p>
          <a:p>
            <a:pPr>
              <a:lnSpc>
                <a:spcPct val="120000"/>
              </a:lnSpc>
            </a:pPr>
            <a:endParaRPr lang="en-US" altLang="zh-CN" sz="2200" dirty="0">
              <a:latin typeface="Arial" panose="020B0604020202020204" pitchFamily="34" charset="0"/>
              <a:cs typeface="Arial" panose="020B0604020202020204" pitchFamily="34" charset="0"/>
            </a:endParaRPr>
          </a:p>
          <a:p>
            <a:pPr>
              <a:lnSpc>
                <a:spcPct val="120000"/>
              </a:lnSpc>
            </a:pPr>
            <a:endParaRPr lang="en-US" altLang="zh-CN" sz="2200" dirty="0">
              <a:latin typeface="Arial" panose="020B0604020202020204" pitchFamily="34" charset="0"/>
              <a:cs typeface="Arial" panose="020B0604020202020204" pitchFamily="34" charset="0"/>
            </a:endParaRPr>
          </a:p>
          <a:p>
            <a:pPr>
              <a:lnSpc>
                <a:spcPct val="120000"/>
              </a:lnSpc>
            </a:pPr>
            <a:endParaRPr lang="en-US" altLang="zh-CN" sz="2200" dirty="0">
              <a:latin typeface="Arial" panose="020B0604020202020204" pitchFamily="34" charset="0"/>
              <a:cs typeface="Arial" panose="020B0604020202020204" pitchFamily="34" charset="0"/>
            </a:endParaRPr>
          </a:p>
          <a:p>
            <a:pPr>
              <a:lnSpc>
                <a:spcPct val="120000"/>
              </a:lnSpc>
            </a:pPr>
            <a:endParaRPr lang="en-US" altLang="zh-C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137216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Reliability</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1920752"/>
          </a:xfrm>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Common requirement for WSNs</a:t>
            </a:r>
          </a:p>
          <a:p>
            <a:pPr>
              <a:lnSpc>
                <a:spcPct val="120000"/>
              </a:lnSpc>
            </a:pPr>
            <a:r>
              <a:rPr lang="en-US" altLang="zh-CN" sz="2400" dirty="0">
                <a:latin typeface="Arial" panose="020B0604020202020204" pitchFamily="34" charset="0"/>
                <a:cs typeface="Arial" panose="020B0604020202020204" pitchFamily="34" charset="0"/>
              </a:rPr>
              <a:t>MAC protocol design affects reliability</a:t>
            </a:r>
          </a:p>
          <a:p>
            <a:pPr lvl="1">
              <a:lnSpc>
                <a:spcPct val="120000"/>
              </a:lnSpc>
            </a:pPr>
            <a:r>
              <a:rPr lang="en-US" altLang="zh-CN" sz="2000" dirty="0">
                <a:latin typeface="Arial" panose="020B0604020202020204" pitchFamily="34" charset="0"/>
                <a:cs typeface="Arial" panose="020B0604020202020204" pitchFamily="34" charset="0"/>
              </a:rPr>
              <a:t>responsible for detecting and recovering from transmission errors and collisions</a:t>
            </a:r>
          </a:p>
        </p:txBody>
      </p:sp>
    </p:spTree>
    <p:extLst>
      <p:ext uri="{BB962C8B-B14F-4D97-AF65-F5344CB8AC3E}">
        <p14:creationId xmlns:p14="http://schemas.microsoft.com/office/powerpoint/2010/main" val="3779511223"/>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Outline</a:t>
            </a:r>
            <a:endParaRPr lang="zh-CN" altLang="en-US" dirty="0"/>
          </a:p>
        </p:txBody>
      </p:sp>
      <p:sp>
        <p:nvSpPr>
          <p:cNvPr id="3" name="内容占位符 2"/>
          <p:cNvSpPr>
            <a:spLocks noGrp="1"/>
          </p:cNvSpPr>
          <p:nvPr>
            <p:ph idx="1"/>
          </p:nvPr>
        </p:nvSpPr>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Wireless MAC protocols</a:t>
            </a:r>
          </a:p>
          <a:p>
            <a:pPr>
              <a:lnSpc>
                <a:spcPct val="120000"/>
              </a:lnSpc>
            </a:pPr>
            <a:r>
              <a:rPr lang="en-US" altLang="zh-CN" sz="2400" dirty="0">
                <a:latin typeface="Arial" panose="020B0604020202020204" pitchFamily="34" charset="0"/>
                <a:cs typeface="Arial" panose="020B0604020202020204" pitchFamily="34" charset="0"/>
              </a:rPr>
              <a:t>Characteristics of MAC Protocols in Sensor Networks</a:t>
            </a:r>
          </a:p>
          <a:p>
            <a:pPr>
              <a:lnSpc>
                <a:spcPct val="120000"/>
              </a:lnSpc>
            </a:pPr>
            <a:r>
              <a:rPr lang="en-US" altLang="zh-CN" sz="2400" b="1" dirty="0">
                <a:latin typeface="Arial" panose="020B0604020202020204" pitchFamily="34" charset="0"/>
                <a:cs typeface="Arial" panose="020B0604020202020204" pitchFamily="34" charset="0"/>
              </a:rPr>
              <a:t>Contention-Free MAC Protocols</a:t>
            </a:r>
          </a:p>
          <a:p>
            <a:pPr>
              <a:lnSpc>
                <a:spcPct val="120000"/>
              </a:lnSpc>
            </a:pPr>
            <a:r>
              <a:rPr lang="en-US" altLang="zh-CN" sz="2400" dirty="0">
                <a:latin typeface="Arial" panose="020B0604020202020204" pitchFamily="34" charset="0"/>
                <a:cs typeface="Arial" panose="020B0604020202020204" pitchFamily="34" charset="0"/>
              </a:rPr>
              <a:t>Contention-Based MAC Protocols </a:t>
            </a:r>
          </a:p>
          <a:p>
            <a:pPr>
              <a:lnSpc>
                <a:spcPct val="120000"/>
              </a:lnSpc>
            </a:pPr>
            <a:r>
              <a:rPr lang="en-US" altLang="zh-CN" sz="2400" dirty="0">
                <a:latin typeface="Arial" panose="020B0604020202020204" pitchFamily="34" charset="0"/>
                <a:cs typeface="Arial" panose="020B0604020202020204" pitchFamily="34" charset="0"/>
              </a:rPr>
              <a:t>Hybrid MAC Protocols </a:t>
            </a:r>
          </a:p>
        </p:txBody>
      </p:sp>
    </p:spTree>
    <p:extLst>
      <p:ext uri="{BB962C8B-B14F-4D97-AF65-F5344CB8AC3E}">
        <p14:creationId xmlns:p14="http://schemas.microsoft.com/office/powerpoint/2010/main" val="60631788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Contention-Free MAC Protocols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51303"/>
            <a:ext cx="10773792" cy="5306697"/>
          </a:xfrm>
        </p:spPr>
        <p:txBody>
          <a:bodyPr>
            <a:normAutofit fontScale="77500" lnSpcReduction="20000"/>
          </a:bodyPr>
          <a:lstStyle/>
          <a:p>
            <a:pPr>
              <a:lnSpc>
                <a:spcPct val="130000"/>
              </a:lnSpc>
            </a:pPr>
            <a:r>
              <a:rPr lang="en-US" altLang="zh-CN" dirty="0">
                <a:latin typeface="Arial" panose="020B0604020202020204" pitchFamily="34" charset="0"/>
                <a:cs typeface="Arial" panose="020B0604020202020204" pitchFamily="34" charset="0"/>
              </a:rPr>
              <a:t>Concept:</a:t>
            </a:r>
          </a:p>
          <a:p>
            <a:pPr lvl="1">
              <a:lnSpc>
                <a:spcPct val="130000"/>
              </a:lnSpc>
            </a:pPr>
            <a:r>
              <a:rPr lang="en-US" altLang="zh-CN" dirty="0">
                <a:latin typeface="Arial" panose="020B0604020202020204" pitchFamily="34" charset="0"/>
                <a:cs typeface="Arial" panose="020B0604020202020204" pitchFamily="34" charset="0"/>
              </a:rPr>
              <a:t>allow only one sensor node to access the channel at any given time </a:t>
            </a:r>
          </a:p>
          <a:p>
            <a:pPr lvl="1">
              <a:lnSpc>
                <a:spcPct val="130000"/>
              </a:lnSpc>
            </a:pPr>
            <a:r>
              <a:rPr lang="en-US" altLang="zh-CN" dirty="0">
                <a:latin typeface="Arial" panose="020B0604020202020204" pitchFamily="34" charset="0"/>
                <a:cs typeface="Arial" panose="020B0604020202020204" pitchFamily="34" charset="0"/>
              </a:rPr>
              <a:t>assuming a perfect medium and environment</a:t>
            </a:r>
          </a:p>
          <a:p>
            <a:pPr lvl="2">
              <a:lnSpc>
                <a:spcPct val="130000"/>
              </a:lnSpc>
            </a:pPr>
            <a:r>
              <a:rPr lang="en-US" altLang="zh-CN" dirty="0">
                <a:latin typeface="Arial" panose="020B0604020202020204" pitchFamily="34" charset="0"/>
                <a:cs typeface="Arial" panose="020B0604020202020204" pitchFamily="34" charset="0"/>
              </a:rPr>
              <a:t>i.e., no other competing networks or misbehaving devices exist that could otherwise cause collisions or even jam a channel</a:t>
            </a:r>
          </a:p>
          <a:p>
            <a:pPr>
              <a:lnSpc>
                <a:spcPct val="130000"/>
              </a:lnSpc>
            </a:pPr>
            <a:r>
              <a:rPr lang="en-US" altLang="zh-CN" dirty="0">
                <a:latin typeface="Arial" panose="020B0604020202020204" pitchFamily="34" charset="0"/>
                <a:cs typeface="Arial" panose="020B0604020202020204" pitchFamily="34" charset="0"/>
              </a:rPr>
              <a:t>Contention-free protocols allocate resources to individual nodes to ensure exclusive resource access by only one node at any given time</a:t>
            </a:r>
          </a:p>
          <a:p>
            <a:pPr>
              <a:lnSpc>
                <a:spcPct val="130000"/>
              </a:lnSpc>
            </a:pPr>
            <a:r>
              <a:rPr lang="en-US" altLang="zh-CN" dirty="0">
                <a:latin typeface="Arial" panose="020B0604020202020204" pitchFamily="34" charset="0"/>
                <a:cs typeface="Arial" panose="020B0604020202020204" pitchFamily="34" charset="0"/>
              </a:rPr>
              <a:t>Exposes a number of </a:t>
            </a:r>
            <a:r>
              <a:rPr lang="en-US" altLang="zh-CN" dirty="0">
                <a:solidFill>
                  <a:schemeClr val="tx2">
                    <a:lumMod val="75000"/>
                    <a:lumOff val="25000"/>
                  </a:schemeClr>
                </a:solidFill>
                <a:latin typeface="Arial" panose="020B0604020202020204" pitchFamily="34" charset="0"/>
                <a:cs typeface="Arial" panose="020B0604020202020204" pitchFamily="34" charset="0"/>
              </a:rPr>
              <a:t>characteristics</a:t>
            </a:r>
          </a:p>
          <a:p>
            <a:pPr lvl="1">
              <a:lnSpc>
                <a:spcPct val="130000"/>
              </a:lnSpc>
            </a:pPr>
            <a:r>
              <a:rPr lang="en-US" altLang="zh-CN" dirty="0">
                <a:latin typeface="Arial" panose="020B0604020202020204" pitchFamily="34" charset="0"/>
                <a:cs typeface="Arial" panose="020B0604020202020204" pitchFamily="34" charset="0"/>
              </a:rPr>
              <a:t>node knows exactly when it has to turn on its radio</a:t>
            </a:r>
          </a:p>
          <a:p>
            <a:pPr lvl="1">
              <a:lnSpc>
                <a:spcPct val="130000"/>
              </a:lnSpc>
            </a:pPr>
            <a:r>
              <a:rPr lang="en-US" altLang="zh-CN" dirty="0">
                <a:latin typeface="Arial" panose="020B0604020202020204" pitchFamily="34" charset="0"/>
                <a:cs typeface="Arial" panose="020B0604020202020204" pitchFamily="34" charset="0"/>
              </a:rPr>
              <a:t>during all other times, radio can be turned off to preserve energy</a:t>
            </a:r>
          </a:p>
          <a:p>
            <a:pPr lvl="1">
              <a:lnSpc>
                <a:spcPct val="130000"/>
              </a:lnSpc>
            </a:pPr>
            <a:r>
              <a:rPr lang="en-US" altLang="zh-CN" dirty="0">
                <a:latin typeface="Arial" panose="020B0604020202020204" pitchFamily="34" charset="0"/>
                <a:cs typeface="Arial" panose="020B0604020202020204" pitchFamily="34" charset="0"/>
              </a:rPr>
              <a:t>fixed slot allocations impose upper bounds on delay </a:t>
            </a:r>
          </a:p>
          <a:p>
            <a:pPr lvl="1">
              <a:lnSpc>
                <a:spcPct val="130000"/>
              </a:lnSpc>
            </a:pPr>
            <a:r>
              <a:rPr lang="en-US" altLang="zh-CN" dirty="0">
                <a:latin typeface="Arial" panose="020B0604020202020204" pitchFamily="34" charset="0"/>
                <a:cs typeface="Arial" panose="020B0604020202020204" pitchFamily="34" charset="0"/>
              </a:rPr>
              <a:t>difficult to design schedules for large networks</a:t>
            </a:r>
          </a:p>
          <a:p>
            <a:pPr lvl="1">
              <a:lnSpc>
                <a:spcPct val="130000"/>
              </a:lnSpc>
            </a:pPr>
            <a:r>
              <a:rPr lang="en-US" altLang="zh-CN" dirty="0">
                <a:latin typeface="Arial" panose="020B0604020202020204" pitchFamily="34" charset="0"/>
                <a:cs typeface="Arial" panose="020B0604020202020204" pitchFamily="34" charset="0"/>
              </a:rPr>
              <a:t>difficult to handle changes in topology, density, traffic load </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611422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Traffic-Adaptive Medium Access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515600" cy="5032376"/>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TRAMA is an example of a contention-free MAC protocol with the goal to increase network throughput and energy efficiency (compared to TDMA) </a:t>
            </a:r>
          </a:p>
          <a:p>
            <a:pPr>
              <a:lnSpc>
                <a:spcPct val="120000"/>
              </a:lnSpc>
            </a:pPr>
            <a:r>
              <a:rPr lang="en-US" altLang="zh-CN" sz="2400" dirty="0">
                <a:latin typeface="Arial" panose="020B0604020202020204" pitchFamily="34" charset="0"/>
                <a:cs typeface="Arial" panose="020B0604020202020204" pitchFamily="34" charset="0"/>
              </a:rPr>
              <a:t>It uses a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distributed election scheme </a:t>
            </a:r>
            <a:r>
              <a:rPr lang="en-US" altLang="zh-CN" sz="2400" dirty="0">
                <a:latin typeface="Arial" panose="020B0604020202020204" pitchFamily="34" charset="0"/>
                <a:cs typeface="Arial" panose="020B0604020202020204" pitchFamily="34" charset="0"/>
              </a:rPr>
              <a:t>to determine when nodes are allowed to transmit </a:t>
            </a:r>
          </a:p>
          <a:p>
            <a:pPr lvl="1">
              <a:lnSpc>
                <a:spcPct val="120000"/>
              </a:lnSpc>
            </a:pPr>
            <a:r>
              <a:rPr lang="en-US" altLang="zh-CN" sz="2000" dirty="0">
                <a:latin typeface="Arial" panose="020B0604020202020204" pitchFamily="34" charset="0"/>
                <a:cs typeface="Arial" panose="020B0604020202020204" pitchFamily="34" charset="0"/>
              </a:rPr>
              <a:t>based on information about the traffic at each node </a:t>
            </a:r>
          </a:p>
          <a:p>
            <a:pPr lvl="1">
              <a:lnSpc>
                <a:spcPct val="120000"/>
              </a:lnSpc>
            </a:pPr>
            <a:r>
              <a:rPr lang="en-US" altLang="zh-CN" sz="2000" dirty="0">
                <a:latin typeface="Arial" panose="020B0604020202020204" pitchFamily="34" charset="0"/>
                <a:cs typeface="Arial" panose="020B0604020202020204" pitchFamily="34" charset="0"/>
              </a:rPr>
              <a:t>avoids assigning slots to nodes with no traffic to send (increased throughput)  </a:t>
            </a:r>
          </a:p>
          <a:p>
            <a:pPr lvl="1">
              <a:lnSpc>
                <a:spcPct val="120000"/>
              </a:lnSpc>
            </a:pPr>
            <a:r>
              <a:rPr lang="en-US" altLang="zh-CN" sz="2000" dirty="0">
                <a:latin typeface="Arial" panose="020B0604020202020204" pitchFamily="34" charset="0"/>
                <a:cs typeface="Arial" panose="020B0604020202020204" pitchFamily="34" charset="0"/>
              </a:rPr>
              <a:t>allows nodes to determine when they can become idle and do not have to listen to the channel (increased energy efficiency)</a:t>
            </a:r>
          </a:p>
          <a:p>
            <a:pPr>
              <a:lnSpc>
                <a:spcPct val="120000"/>
              </a:lnSpc>
            </a:pPr>
            <a:r>
              <a:rPr lang="en-US" altLang="zh-CN" sz="2400" dirty="0">
                <a:latin typeface="Arial" panose="020B0604020202020204" pitchFamily="34" charset="0"/>
                <a:cs typeface="Arial" panose="020B0604020202020204" pitchFamily="34" charset="0"/>
              </a:rPr>
              <a:t>TRAMA assumes a time-slotted channel, where time is dived into:</a:t>
            </a:r>
          </a:p>
          <a:p>
            <a:pPr lvl="1">
              <a:lnSpc>
                <a:spcPct val="120000"/>
              </a:lnSpc>
            </a:pPr>
            <a:r>
              <a:rPr lang="en-US" altLang="zh-CN" sz="2000" dirty="0">
                <a:solidFill>
                  <a:schemeClr val="tx2">
                    <a:lumMod val="75000"/>
                    <a:lumOff val="25000"/>
                  </a:schemeClr>
                </a:solidFill>
                <a:latin typeface="Arial" panose="020B0604020202020204" pitchFamily="34" charset="0"/>
                <a:cs typeface="Arial" panose="020B0604020202020204" pitchFamily="34" charset="0"/>
              </a:rPr>
              <a:t>periodic random-access intervals  </a:t>
            </a:r>
            <a:r>
              <a:rPr lang="en-US" altLang="zh-CN" sz="2000" dirty="0">
                <a:latin typeface="Arial" panose="020B0604020202020204" pitchFamily="34" charset="0"/>
                <a:cs typeface="Arial" panose="020B0604020202020204" pitchFamily="34" charset="0"/>
              </a:rPr>
              <a:t>(signaling slots)</a:t>
            </a:r>
          </a:p>
          <a:p>
            <a:pPr lvl="1">
              <a:lnSpc>
                <a:spcPct val="120000"/>
              </a:lnSpc>
            </a:pPr>
            <a:r>
              <a:rPr lang="en-US" altLang="zh-CN" sz="2000" dirty="0">
                <a:solidFill>
                  <a:schemeClr val="tx2">
                    <a:lumMod val="75000"/>
                    <a:lumOff val="25000"/>
                  </a:schemeClr>
                </a:solidFill>
                <a:latin typeface="Arial" panose="020B0604020202020204" pitchFamily="34" charset="0"/>
                <a:cs typeface="Arial" panose="020B0604020202020204" pitchFamily="34" charset="0"/>
              </a:rPr>
              <a:t>scheduled-access intervals </a:t>
            </a:r>
            <a:r>
              <a:rPr lang="en-US" altLang="zh-CN" sz="2000" dirty="0">
                <a:latin typeface="Arial" panose="020B0604020202020204" pitchFamily="34" charset="0"/>
                <a:cs typeface="Arial" panose="020B0604020202020204" pitchFamily="34" charset="0"/>
              </a:rPr>
              <a:t>(transmission slots) </a:t>
            </a:r>
          </a:p>
        </p:txBody>
      </p:sp>
    </p:spTree>
    <p:extLst>
      <p:ext uri="{BB962C8B-B14F-4D97-AF65-F5344CB8AC3E}">
        <p14:creationId xmlns:p14="http://schemas.microsoft.com/office/powerpoint/2010/main" val="117015504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Traffic-Adaptive Medium Access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667250"/>
          </a:xfrm>
        </p:spPr>
        <p:txBody>
          <a:bodyPr>
            <a:normAutofit/>
          </a:bodyPr>
          <a:lstStyle/>
          <a:p>
            <a:pPr>
              <a:lnSpc>
                <a:spcPct val="12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Random-access intervals</a:t>
            </a:r>
          </a:p>
          <a:p>
            <a:pPr lvl="1">
              <a:lnSpc>
                <a:spcPct val="120000"/>
              </a:lnSpc>
            </a:pPr>
            <a:r>
              <a:rPr lang="en-US" altLang="zh-CN" sz="2000" dirty="0">
                <a:solidFill>
                  <a:schemeClr val="tx2">
                    <a:lumMod val="75000"/>
                    <a:lumOff val="25000"/>
                  </a:schemeClr>
                </a:solidFill>
                <a:latin typeface="Arial" panose="020B0604020202020204" pitchFamily="34" charset="0"/>
                <a:cs typeface="Arial" panose="020B0604020202020204" pitchFamily="34" charset="0"/>
              </a:rPr>
              <a:t>Neighbor Protocol (NP) </a:t>
            </a:r>
            <a:r>
              <a:rPr lang="en-US" altLang="zh-CN" sz="2000" dirty="0">
                <a:latin typeface="Arial" panose="020B0604020202020204" pitchFamily="34" charset="0"/>
                <a:cs typeface="Arial" panose="020B0604020202020204" pitchFamily="34" charset="0"/>
              </a:rPr>
              <a:t>is used to propagate one-hop neighbor information among neighboring nodes </a:t>
            </a:r>
          </a:p>
          <a:p>
            <a:pPr lvl="2">
              <a:lnSpc>
                <a:spcPct val="120000"/>
              </a:lnSpc>
            </a:pPr>
            <a:r>
              <a:rPr lang="en-US" altLang="zh-CN" sz="1800" dirty="0">
                <a:latin typeface="Arial" panose="020B0604020202020204" pitchFamily="34" charset="0"/>
                <a:cs typeface="Arial" panose="020B0604020202020204" pitchFamily="34" charset="0"/>
              </a:rPr>
              <a:t>nodes join a network by transmitting during a randomly selected slot</a:t>
            </a:r>
          </a:p>
          <a:p>
            <a:pPr lvl="2">
              <a:lnSpc>
                <a:spcPct val="120000"/>
              </a:lnSpc>
            </a:pPr>
            <a:r>
              <a:rPr lang="en-US" altLang="zh-CN" sz="1800" dirty="0">
                <a:latin typeface="Arial" panose="020B0604020202020204" pitchFamily="34" charset="0"/>
                <a:cs typeface="Arial" panose="020B0604020202020204" pitchFamily="34" charset="0"/>
              </a:rPr>
              <a:t>packets transmitted during these slots are used to gather neighborhood information by carrying a set of added and deleted neighbors</a:t>
            </a:r>
          </a:p>
          <a:p>
            <a:pPr lvl="2">
              <a:lnSpc>
                <a:spcPct val="120000"/>
              </a:lnSpc>
            </a:pPr>
            <a:r>
              <a:rPr lang="en-US" altLang="zh-CN" sz="1800" dirty="0">
                <a:latin typeface="Arial" panose="020B0604020202020204" pitchFamily="34" charset="0"/>
                <a:cs typeface="Arial" panose="020B0604020202020204" pitchFamily="34" charset="0"/>
              </a:rPr>
              <a:t>in case no changes have occurred, these packets serve as “keep-alive” beacons</a:t>
            </a:r>
          </a:p>
          <a:p>
            <a:pPr lvl="1">
              <a:lnSpc>
                <a:spcPct val="120000"/>
              </a:lnSpc>
            </a:pPr>
            <a:r>
              <a:rPr lang="en-US" altLang="zh-CN" sz="2000" dirty="0">
                <a:latin typeface="Arial" panose="020B0604020202020204" pitchFamily="34" charset="0"/>
                <a:cs typeface="Arial" panose="020B0604020202020204" pitchFamily="34" charset="0"/>
              </a:rPr>
              <a:t>NP allows nodes to obtain consistent two-hop topology information</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1747123"/>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Traffic-Adaptive Medium Access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4793451"/>
          </a:xfrm>
        </p:spPr>
        <p:txBody>
          <a:bodyPr>
            <a:normAutofit/>
          </a:bodyPr>
          <a:lstStyle/>
          <a:p>
            <a:pPr>
              <a:lnSpc>
                <a:spcPct val="12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Random-access intervals </a:t>
            </a:r>
            <a:r>
              <a:rPr lang="en-US" altLang="zh-CN" sz="2400" dirty="0">
                <a:latin typeface="Arial" panose="020B0604020202020204" pitchFamily="34" charset="0"/>
                <a:cs typeface="Arial" panose="020B0604020202020204" pitchFamily="34" charset="0"/>
              </a:rPr>
              <a:t>(contd.) </a:t>
            </a:r>
          </a:p>
          <a:p>
            <a:pPr lvl="1">
              <a:lnSpc>
                <a:spcPct val="120000"/>
              </a:lnSpc>
            </a:pPr>
            <a:r>
              <a:rPr lang="en-US" altLang="zh-CN" sz="2000" dirty="0">
                <a:solidFill>
                  <a:schemeClr val="tx2">
                    <a:lumMod val="75000"/>
                    <a:lumOff val="25000"/>
                  </a:schemeClr>
                </a:solidFill>
                <a:latin typeface="Arial" panose="020B0604020202020204" pitchFamily="34" charset="0"/>
                <a:cs typeface="Arial" panose="020B0604020202020204" pitchFamily="34" charset="0"/>
              </a:rPr>
              <a:t>Schedule Exchange Protocol (SEP) </a:t>
            </a:r>
            <a:r>
              <a:rPr lang="en-US" altLang="zh-CN" sz="2000" dirty="0">
                <a:latin typeface="Arial" panose="020B0604020202020204" pitchFamily="34" charset="0"/>
                <a:cs typeface="Arial" panose="020B0604020202020204" pitchFamily="34" charset="0"/>
              </a:rPr>
              <a:t>establishes and broadcasts actual schedules (i.e., allocations of slots to a node) </a:t>
            </a:r>
          </a:p>
          <a:p>
            <a:pPr lvl="2">
              <a:lnSpc>
                <a:spcPct val="120000"/>
              </a:lnSpc>
            </a:pPr>
            <a:r>
              <a:rPr lang="en-US" altLang="zh-CN" sz="1800" dirty="0">
                <a:latin typeface="Arial" panose="020B0604020202020204" pitchFamily="34" charset="0"/>
                <a:cs typeface="Arial" panose="020B0604020202020204" pitchFamily="34" charset="0"/>
              </a:rPr>
              <a:t>each node computes a duration </a:t>
            </a:r>
            <a:r>
              <a:rPr lang="en-US" altLang="zh-CN" sz="1800" dirty="0">
                <a:solidFill>
                  <a:schemeClr val="tx2">
                    <a:lumMod val="75000"/>
                    <a:lumOff val="25000"/>
                  </a:schemeClr>
                </a:solidFill>
                <a:latin typeface="Arial" panose="020B0604020202020204" pitchFamily="34" charset="0"/>
                <a:cs typeface="Arial" panose="020B0604020202020204" pitchFamily="34" charset="0"/>
              </a:rPr>
              <a:t>SCHEDULE_INTERVAL</a:t>
            </a:r>
            <a:r>
              <a:rPr lang="en-US" altLang="zh-CN" sz="1800" dirty="0">
                <a:latin typeface="Arial" panose="020B0604020202020204" pitchFamily="34" charset="0"/>
                <a:cs typeface="Arial" panose="020B0604020202020204" pitchFamily="34" charset="0"/>
              </a:rPr>
              <a:t> </a:t>
            </a:r>
          </a:p>
          <a:p>
            <a:pPr marL="1371600" lvl="3" indent="0">
              <a:lnSpc>
                <a:spcPct val="120000"/>
              </a:lnSpc>
              <a:buNone/>
            </a:pPr>
            <a:r>
              <a:rPr lang="en-US" altLang="zh-CN" sz="1600" dirty="0">
                <a:latin typeface="Arial" panose="020B0604020202020204" pitchFamily="34" charset="0"/>
                <a:cs typeface="Arial" panose="020B0604020202020204" pitchFamily="34" charset="0"/>
              </a:rPr>
              <a:t>–  represents the number of slots for which the node can announce its schedule to its neighbors </a:t>
            </a:r>
          </a:p>
          <a:p>
            <a:pPr marL="1371600" lvl="3" indent="0">
              <a:lnSpc>
                <a:spcPct val="120000"/>
              </a:lnSpc>
              <a:buNone/>
            </a:pPr>
            <a:r>
              <a:rPr lang="en-US" altLang="zh-CN" sz="1600" dirty="0">
                <a:latin typeface="Arial" panose="020B0604020202020204" pitchFamily="34" charset="0"/>
                <a:cs typeface="Arial" panose="020B0604020202020204" pitchFamily="34" charset="0"/>
              </a:rPr>
              <a:t>–  this duration depends on the rate at which the node ʼ s applications can produce packets </a:t>
            </a:r>
          </a:p>
          <a:p>
            <a:pPr lvl="2">
              <a:lnSpc>
                <a:spcPct val="120000"/>
              </a:lnSpc>
            </a:pPr>
            <a:r>
              <a:rPr lang="en-US" altLang="zh-CN" sz="1800" dirty="0">
                <a:latin typeface="Arial" panose="020B0604020202020204" pitchFamily="34" charset="0"/>
                <a:cs typeface="Arial" panose="020B0604020202020204" pitchFamily="34" charset="0"/>
              </a:rPr>
              <a:t>at time t, the node then computes the number of slots within [</a:t>
            </a:r>
            <a:r>
              <a:rPr lang="en-US" altLang="zh-CN" sz="1800" dirty="0">
                <a:solidFill>
                  <a:schemeClr val="tx2">
                    <a:lumMod val="75000"/>
                    <a:lumOff val="25000"/>
                  </a:schemeClr>
                </a:solidFill>
                <a:latin typeface="Arial" panose="020B0604020202020204" pitchFamily="34" charset="0"/>
                <a:cs typeface="Arial" panose="020B0604020202020204" pitchFamily="34" charset="0"/>
              </a:rPr>
              <a:t>t, t+ SCHEDULE_INTERVAL</a:t>
            </a:r>
            <a:r>
              <a:rPr lang="en-US" altLang="zh-CN" sz="1800" dirty="0">
                <a:latin typeface="Arial" panose="020B0604020202020204" pitchFamily="34" charset="0"/>
                <a:cs typeface="Arial" panose="020B0604020202020204" pitchFamily="34" charset="0"/>
              </a:rPr>
              <a:t>] for which it has the highest priority among its two-hop neighbors </a:t>
            </a:r>
          </a:p>
          <a:p>
            <a:pPr lvl="2">
              <a:lnSpc>
                <a:spcPct val="120000"/>
              </a:lnSpc>
            </a:pPr>
            <a:r>
              <a:rPr lang="en-US" altLang="zh-CN" sz="1800" dirty="0">
                <a:latin typeface="Arial" panose="020B0604020202020204" pitchFamily="34" charset="0"/>
                <a:cs typeface="Arial" panose="020B0604020202020204" pitchFamily="34" charset="0"/>
              </a:rPr>
              <a:t>the node announces the selected slots and the intended receivers using a </a:t>
            </a:r>
            <a:r>
              <a:rPr lang="en-US" altLang="zh-CN" sz="1800" dirty="0">
                <a:solidFill>
                  <a:schemeClr val="tx2">
                    <a:lumMod val="75000"/>
                    <a:lumOff val="25000"/>
                  </a:schemeClr>
                </a:solidFill>
                <a:latin typeface="Arial" panose="020B0604020202020204" pitchFamily="34" charset="0"/>
                <a:cs typeface="Arial" panose="020B0604020202020204" pitchFamily="34" charset="0"/>
              </a:rPr>
              <a:t>schedule packet</a:t>
            </a:r>
          </a:p>
          <a:p>
            <a:pPr lvl="2">
              <a:lnSpc>
                <a:spcPct val="120000"/>
              </a:lnSpc>
            </a:pPr>
            <a:r>
              <a:rPr lang="en-US" altLang="zh-CN" sz="1800" dirty="0">
                <a:latin typeface="Arial" panose="020B0604020202020204" pitchFamily="34" charset="0"/>
                <a:cs typeface="Arial" panose="020B0604020202020204" pitchFamily="34" charset="0"/>
              </a:rPr>
              <a:t>the last slot in this schedule is used to announce the next schedule for the next interval</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910682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Traffic-Adaptive Medium Access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569276"/>
          </a:xfrm>
        </p:spPr>
        <p:txBody>
          <a:bodyPr>
            <a:normAutofit/>
          </a:bodyPr>
          <a:lstStyle/>
          <a:p>
            <a:pPr>
              <a:lnSpc>
                <a:spcPct val="12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Random-access intervals </a:t>
            </a:r>
            <a:r>
              <a:rPr lang="en-US" altLang="zh-CN" sz="2400" dirty="0">
                <a:latin typeface="Arial" panose="020B0604020202020204" pitchFamily="34" charset="0"/>
                <a:cs typeface="Arial" panose="020B0604020202020204" pitchFamily="34" charset="0"/>
              </a:rPr>
              <a:t>(contd.) </a:t>
            </a:r>
          </a:p>
          <a:p>
            <a:pPr lvl="1">
              <a:lnSpc>
                <a:spcPct val="120000"/>
              </a:lnSpc>
            </a:pPr>
            <a:r>
              <a:rPr lang="en-US" altLang="zh-CN" sz="2000" dirty="0">
                <a:solidFill>
                  <a:schemeClr val="tx2">
                    <a:lumMod val="75000"/>
                    <a:lumOff val="25000"/>
                  </a:schemeClr>
                </a:solidFill>
                <a:latin typeface="Arial" panose="020B0604020202020204" pitchFamily="34" charset="0"/>
                <a:cs typeface="Arial" panose="020B0604020202020204" pitchFamily="34" charset="0"/>
              </a:rPr>
              <a:t>Schedule Exchange Protocol (SEP) </a:t>
            </a:r>
            <a:r>
              <a:rPr lang="en-US" altLang="zh-CN" sz="2000" dirty="0">
                <a:latin typeface="Arial" panose="020B0604020202020204" pitchFamily="34" charset="0"/>
                <a:cs typeface="Arial" panose="020B0604020202020204" pitchFamily="34" charset="0"/>
              </a:rPr>
              <a:t>(contd.) </a:t>
            </a:r>
          </a:p>
          <a:p>
            <a:pPr lvl="2">
              <a:lnSpc>
                <a:spcPct val="120000"/>
              </a:lnSpc>
            </a:pPr>
            <a:r>
              <a:rPr lang="en-US" altLang="zh-CN" sz="1800" dirty="0">
                <a:latin typeface="Arial" panose="020B0604020202020204" pitchFamily="34" charset="0"/>
                <a:cs typeface="Arial" panose="020B0604020202020204" pitchFamily="34" charset="0"/>
              </a:rPr>
              <a:t>example:</a:t>
            </a:r>
          </a:p>
          <a:p>
            <a:pPr marL="1371600" lvl="3" indent="0">
              <a:lnSpc>
                <a:spcPct val="120000"/>
              </a:lnSpc>
              <a:buNone/>
            </a:pPr>
            <a:r>
              <a:rPr lang="en-US" altLang="zh-CN" sz="1600" dirty="0">
                <a:latin typeface="Arial" panose="020B0604020202020204" pitchFamily="34" charset="0"/>
                <a:cs typeface="Arial" panose="020B0604020202020204" pitchFamily="34" charset="0"/>
              </a:rPr>
              <a:t>–  a </a:t>
            </a:r>
            <a:r>
              <a:rPr lang="en-US" altLang="zh-CN" sz="1600" dirty="0" err="1">
                <a:latin typeface="Arial" panose="020B0604020202020204" pitchFamily="34" charset="0"/>
                <a:cs typeface="Arial" panose="020B0604020202020204" pitchFamily="34" charset="0"/>
              </a:rPr>
              <a:t>nodeʼ</a:t>
            </a:r>
            <a:r>
              <a:rPr lang="en-US" altLang="zh-CN" sz="1600" dirty="0">
                <a:latin typeface="Arial" panose="020B0604020202020204" pitchFamily="34" charset="0"/>
                <a:cs typeface="Arial" panose="020B0604020202020204" pitchFamily="34" charset="0"/>
              </a:rPr>
              <a:t> s  </a:t>
            </a:r>
            <a:r>
              <a:rPr lang="en-US" altLang="zh-CN" sz="1600" dirty="0">
                <a:solidFill>
                  <a:schemeClr val="tx2">
                    <a:lumMod val="75000"/>
                    <a:lumOff val="25000"/>
                  </a:schemeClr>
                </a:solidFill>
                <a:latin typeface="Arial" panose="020B0604020202020204" pitchFamily="34" charset="0"/>
                <a:cs typeface="Arial" panose="020B0604020202020204" pitchFamily="34" charset="0"/>
              </a:rPr>
              <a:t>SCHEDULE_INTERVAL</a:t>
            </a:r>
            <a:r>
              <a:rPr lang="en-US" altLang="zh-CN" sz="1600" dirty="0">
                <a:latin typeface="Arial" panose="020B0604020202020204" pitchFamily="34" charset="0"/>
                <a:cs typeface="Arial" panose="020B0604020202020204" pitchFamily="34" charset="0"/>
              </a:rPr>
              <a:t> is 100 slots  </a:t>
            </a:r>
          </a:p>
          <a:p>
            <a:pPr marL="1371600" lvl="3" indent="0">
              <a:lnSpc>
                <a:spcPct val="120000"/>
              </a:lnSpc>
              <a:buNone/>
            </a:pPr>
            <a:r>
              <a:rPr lang="en-US" altLang="zh-CN" sz="1600" dirty="0">
                <a:latin typeface="Arial" panose="020B0604020202020204" pitchFamily="34" charset="0"/>
                <a:cs typeface="Arial" panose="020B0604020202020204" pitchFamily="34" charset="0"/>
              </a:rPr>
              <a:t>–  the current time (slot number) is 1000 </a:t>
            </a:r>
          </a:p>
          <a:p>
            <a:pPr marL="1371600" lvl="3" indent="0">
              <a:lnSpc>
                <a:spcPct val="120000"/>
              </a:lnSpc>
              <a:buNone/>
            </a:pPr>
            <a:r>
              <a:rPr lang="en-US" altLang="zh-CN" sz="1600" dirty="0">
                <a:latin typeface="Arial" panose="020B0604020202020204" pitchFamily="34" charset="0"/>
                <a:cs typeface="Arial" panose="020B0604020202020204" pitchFamily="34" charset="0"/>
              </a:rPr>
              <a:t>–  a possible slot selection for interval [1000, 1100] for this node could be 1011, 1021, 1049, 1050, and 1093  </a:t>
            </a:r>
          </a:p>
          <a:p>
            <a:pPr marL="1371600" lvl="3" indent="0">
              <a:lnSpc>
                <a:spcPct val="120000"/>
              </a:lnSpc>
              <a:buNone/>
            </a:pPr>
            <a:r>
              <a:rPr lang="en-US" altLang="zh-CN" sz="1600" dirty="0">
                <a:latin typeface="Arial" panose="020B0604020202020204" pitchFamily="34" charset="0"/>
                <a:cs typeface="Arial" panose="020B0604020202020204" pitchFamily="34" charset="0"/>
              </a:rPr>
              <a:t>–  during slot 1093, the node broadcasts its new schedule for interval [1093, 1193]</a:t>
            </a:r>
          </a:p>
          <a:p>
            <a:pPr lvl="2">
              <a:lnSpc>
                <a:spcPct val="120000"/>
              </a:lnSpc>
            </a:pPr>
            <a:r>
              <a:rPr lang="en-US" altLang="zh-CN" sz="1800" dirty="0">
                <a:latin typeface="Arial" panose="020B0604020202020204" pitchFamily="34" charset="0"/>
                <a:cs typeface="Arial" panose="020B0604020202020204" pitchFamily="34" charset="0"/>
              </a:rPr>
              <a:t>list of intended receivers in the schedule packet is implemented as a </a:t>
            </a:r>
            <a:r>
              <a:rPr lang="en-US" altLang="zh-CN" sz="1800" dirty="0">
                <a:solidFill>
                  <a:schemeClr val="tx2">
                    <a:lumMod val="75000"/>
                    <a:lumOff val="25000"/>
                  </a:schemeClr>
                </a:solidFill>
                <a:latin typeface="Arial" panose="020B0604020202020204" pitchFamily="34" charset="0"/>
                <a:cs typeface="Arial" panose="020B0604020202020204" pitchFamily="34" charset="0"/>
              </a:rPr>
              <a:t>bitmap</a:t>
            </a:r>
            <a:endParaRPr lang="en-US" altLang="zh-CN" sz="1800" dirty="0">
              <a:latin typeface="Arial" panose="020B0604020202020204" pitchFamily="34" charset="0"/>
              <a:cs typeface="Arial" panose="020B0604020202020204" pitchFamily="34" charset="0"/>
            </a:endParaRPr>
          </a:p>
          <a:p>
            <a:pPr marL="1371600" lvl="3" indent="0">
              <a:lnSpc>
                <a:spcPct val="120000"/>
              </a:lnSpc>
              <a:buNone/>
            </a:pPr>
            <a:r>
              <a:rPr lang="en-US" altLang="zh-CN" sz="1600" dirty="0">
                <a:latin typeface="Arial" panose="020B0604020202020204" pitchFamily="34" charset="0"/>
                <a:cs typeface="Arial" panose="020B0604020202020204" pitchFamily="34" charset="0"/>
              </a:rPr>
              <a:t>–  length of a bitmap is equal to the number of one-hop neighbors </a:t>
            </a:r>
          </a:p>
          <a:p>
            <a:pPr marL="1371600" lvl="3" indent="0">
              <a:lnSpc>
                <a:spcPct val="120000"/>
              </a:lnSpc>
              <a:buNone/>
            </a:pPr>
            <a:r>
              <a:rPr lang="en-US" altLang="zh-CN" sz="1600" dirty="0">
                <a:latin typeface="Arial" panose="020B0604020202020204" pitchFamily="34" charset="0"/>
                <a:cs typeface="Arial" panose="020B0604020202020204" pitchFamily="34" charset="0"/>
              </a:rPr>
              <a:t>    each bit in the bitmap corresponds to one particular receiver ordered by its identities</a:t>
            </a:r>
          </a:p>
          <a:p>
            <a:pPr marL="1371600" lvl="3" indent="0">
              <a:lnSpc>
                <a:spcPct val="120000"/>
              </a:lnSpc>
              <a:buNone/>
            </a:pPr>
            <a:r>
              <a:rPr lang="en-US" altLang="zh-CN" sz="1600" dirty="0">
                <a:latin typeface="Arial" panose="020B0604020202020204" pitchFamily="34" charset="0"/>
                <a:cs typeface="Arial" panose="020B0604020202020204" pitchFamily="34" charset="0"/>
              </a:rPr>
              <a:t>    every node can determine the receiver address based on the bitmap and its list of neighbors</a:t>
            </a:r>
            <a:endParaRPr lang="zh-CN" alt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0107489"/>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Traffic-Adaptive Medium Access</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Random-access intervals </a:t>
            </a:r>
            <a:r>
              <a:rPr lang="en-US" altLang="zh-CN" sz="2400" dirty="0">
                <a:latin typeface="Arial" panose="020B0604020202020204" pitchFamily="34" charset="0"/>
                <a:cs typeface="Arial" panose="020B0604020202020204" pitchFamily="34" charset="0"/>
              </a:rPr>
              <a:t>(contd.) </a:t>
            </a:r>
          </a:p>
          <a:p>
            <a:pPr lvl="1">
              <a:lnSpc>
                <a:spcPct val="120000"/>
              </a:lnSpc>
            </a:pPr>
            <a:r>
              <a:rPr lang="en-US" altLang="zh-CN" sz="2000" dirty="0">
                <a:solidFill>
                  <a:schemeClr val="tx2">
                    <a:lumMod val="75000"/>
                    <a:lumOff val="25000"/>
                  </a:schemeClr>
                </a:solidFill>
                <a:latin typeface="Arial" panose="020B0604020202020204" pitchFamily="34" charset="0"/>
                <a:cs typeface="Arial" panose="020B0604020202020204" pitchFamily="34" charset="0"/>
              </a:rPr>
              <a:t>Schedule Exchange Protocol (SEP) </a:t>
            </a:r>
            <a:r>
              <a:rPr lang="en-US" altLang="zh-CN" sz="2000" dirty="0">
                <a:latin typeface="Arial" panose="020B0604020202020204" pitchFamily="34" charset="0"/>
                <a:cs typeface="Arial" panose="020B0604020202020204" pitchFamily="34" charset="0"/>
              </a:rPr>
              <a:t>(contd.) </a:t>
            </a:r>
          </a:p>
          <a:p>
            <a:pPr lvl="2">
              <a:lnSpc>
                <a:spcPct val="120000"/>
              </a:lnSpc>
            </a:pPr>
            <a:r>
              <a:rPr lang="en-US" altLang="zh-CN" sz="1800" dirty="0">
                <a:latin typeface="Arial" panose="020B0604020202020204" pitchFamily="34" charset="0"/>
                <a:cs typeface="Arial" panose="020B0604020202020204" pitchFamily="34" charset="0"/>
              </a:rPr>
              <a:t>slot selection is based on the </a:t>
            </a:r>
            <a:r>
              <a:rPr lang="en-US" altLang="zh-CN" sz="1800" dirty="0" err="1">
                <a:latin typeface="Arial" panose="020B0604020202020204" pitchFamily="34" charset="0"/>
                <a:cs typeface="Arial" panose="020B0604020202020204" pitchFamily="34" charset="0"/>
              </a:rPr>
              <a:t>nodeʼ</a:t>
            </a:r>
            <a:r>
              <a:rPr lang="en-US" altLang="zh-CN" sz="1800" dirty="0">
                <a:latin typeface="Arial" panose="020B0604020202020204" pitchFamily="34" charset="0"/>
                <a:cs typeface="Arial" panose="020B0604020202020204" pitchFamily="34" charset="0"/>
              </a:rPr>
              <a:t> s priority at time </a:t>
            </a:r>
            <a:r>
              <a:rPr lang="en-US" altLang="zh-CN" sz="1800" i="1" dirty="0">
                <a:latin typeface="Arial" panose="020B0604020202020204" pitchFamily="34" charset="0"/>
                <a:cs typeface="Arial" panose="020B0604020202020204" pitchFamily="34" charset="0"/>
              </a:rPr>
              <a:t>t </a:t>
            </a:r>
          </a:p>
          <a:p>
            <a:pPr marL="1371600" lvl="3" indent="0">
              <a:lnSpc>
                <a:spcPct val="120000"/>
              </a:lnSpc>
              <a:buNone/>
            </a:pPr>
            <a:r>
              <a:rPr lang="en-US" altLang="zh-CN" sz="1400" dirty="0">
                <a:latin typeface="Arial" panose="020B0604020202020204" pitchFamily="34" charset="0"/>
                <a:cs typeface="Arial" panose="020B0604020202020204" pitchFamily="34" charset="0"/>
              </a:rPr>
              <a:t>–  </a:t>
            </a:r>
            <a:r>
              <a:rPr lang="en-US" altLang="zh-CN" sz="1600" dirty="0">
                <a:latin typeface="Arial" panose="020B0604020202020204" pitchFamily="34" charset="0"/>
                <a:cs typeface="Arial" panose="020B0604020202020204" pitchFamily="34" charset="0"/>
              </a:rPr>
              <a:t>uses a pseudo-random hash of the concatenation of the </a:t>
            </a:r>
            <a:r>
              <a:rPr lang="en-US" altLang="zh-CN" sz="1600" dirty="0" err="1">
                <a:latin typeface="Arial" panose="020B0604020202020204" pitchFamily="34" charset="0"/>
                <a:cs typeface="Arial" panose="020B0604020202020204" pitchFamily="34" charset="0"/>
              </a:rPr>
              <a:t>nodeʼ</a:t>
            </a:r>
            <a:r>
              <a:rPr lang="en-US" altLang="zh-CN" sz="1600" dirty="0">
                <a:latin typeface="Arial" panose="020B0604020202020204" pitchFamily="34" charset="0"/>
                <a:cs typeface="Arial" panose="020B0604020202020204" pitchFamily="34" charset="0"/>
              </a:rPr>
              <a:t> s identity </a:t>
            </a:r>
            <a:r>
              <a:rPr lang="en-US" altLang="zh-CN" sz="1600" i="1" dirty="0">
                <a:latin typeface="Arial" panose="020B0604020202020204" pitchFamily="34" charset="0"/>
                <a:cs typeface="Arial" panose="020B0604020202020204" pitchFamily="34" charset="0"/>
              </a:rPr>
              <a:t> i  </a:t>
            </a:r>
            <a:r>
              <a:rPr lang="en-US" altLang="zh-CN" sz="1600" dirty="0">
                <a:latin typeface="Arial" panose="020B0604020202020204" pitchFamily="34" charset="0"/>
                <a:cs typeface="Arial" panose="020B0604020202020204" pitchFamily="34" charset="0"/>
              </a:rPr>
              <a:t>and </a:t>
            </a:r>
            <a:r>
              <a:rPr lang="en-US" altLang="zh-CN" sz="1600" i="1" dirty="0">
                <a:latin typeface="Arial" panose="020B0604020202020204" pitchFamily="34" charset="0"/>
                <a:cs typeface="Arial" panose="020B0604020202020204" pitchFamily="34" charset="0"/>
              </a:rPr>
              <a:t> t </a:t>
            </a:r>
            <a:r>
              <a:rPr lang="en-US" altLang="zh-CN" sz="1600" dirty="0">
                <a:latin typeface="Arial" panose="020B0604020202020204" pitchFamily="34" charset="0"/>
                <a:cs typeface="Arial" panose="020B0604020202020204" pitchFamily="34" charset="0"/>
              </a:rPr>
              <a:t>:</a:t>
            </a:r>
          </a:p>
          <a:p>
            <a:pPr marL="1371600" lvl="3" indent="0">
              <a:lnSpc>
                <a:spcPct val="120000"/>
              </a:lnSpc>
              <a:buNone/>
            </a:pPr>
            <a:endParaRPr lang="en-US" altLang="zh-CN" dirty="0">
              <a:latin typeface="Arial" panose="020B0604020202020204" pitchFamily="34" charset="0"/>
              <a:cs typeface="Arial" panose="020B0604020202020204" pitchFamily="34" charset="0"/>
            </a:endParaRPr>
          </a:p>
          <a:p>
            <a:pPr marL="1371600" lvl="3" indent="0">
              <a:lnSpc>
                <a:spcPct val="120000"/>
              </a:lnSpc>
              <a:buNone/>
            </a:pPr>
            <a:r>
              <a:rPr lang="en-US" altLang="zh-CN" sz="1400" dirty="0">
                <a:latin typeface="Arial" panose="020B0604020202020204" pitchFamily="34" charset="0"/>
                <a:cs typeface="Arial" panose="020B0604020202020204" pitchFamily="34" charset="0"/>
              </a:rPr>
              <a:t>–  </a:t>
            </a:r>
            <a:r>
              <a:rPr lang="en-US" altLang="zh-CN" sz="1600" dirty="0">
                <a:latin typeface="Arial" panose="020B0604020202020204" pitchFamily="34" charset="0"/>
                <a:cs typeface="Arial" panose="020B0604020202020204" pitchFamily="34" charset="0"/>
              </a:rPr>
              <a:t>node can indicate which slots it gives up, allowing other nodes to claim these unused slots </a:t>
            </a:r>
            <a:endParaRPr lang="en-US" altLang="zh-CN" dirty="0">
              <a:latin typeface="Arial" panose="020B0604020202020204" pitchFamily="34" charset="0"/>
              <a:cs typeface="Arial" panose="020B0604020202020204" pitchFamily="34" charset="0"/>
            </a:endParaRPr>
          </a:p>
          <a:p>
            <a:pPr lvl="2">
              <a:lnSpc>
                <a:spcPct val="120000"/>
              </a:lnSpc>
            </a:pPr>
            <a:r>
              <a:rPr lang="en-US" altLang="zh-CN" sz="1800" dirty="0">
                <a:latin typeface="Arial" panose="020B0604020202020204" pitchFamily="34" charset="0"/>
                <a:cs typeface="Arial" panose="020B0604020202020204" pitchFamily="34" charset="0"/>
              </a:rPr>
              <a:t>a node can determine its state for any given time slot  </a:t>
            </a:r>
            <a:r>
              <a:rPr lang="en-US" altLang="zh-CN" sz="1800" i="1" dirty="0">
                <a:latin typeface="Arial" panose="020B0604020202020204" pitchFamily="34" charset="0"/>
                <a:cs typeface="Arial" panose="020B0604020202020204" pitchFamily="34" charset="0"/>
              </a:rPr>
              <a:t>t </a:t>
            </a:r>
            <a:r>
              <a:rPr lang="en-US" altLang="zh-CN" sz="1800" dirty="0">
                <a:latin typeface="Arial" panose="020B0604020202020204" pitchFamily="34" charset="0"/>
                <a:cs typeface="Arial" panose="020B0604020202020204" pitchFamily="34" charset="0"/>
              </a:rPr>
              <a:t> based on its two-hop neighborhood information and the announced schedules </a:t>
            </a:r>
          </a:p>
          <a:p>
            <a:pPr marL="1371600" lvl="3" indent="0">
              <a:lnSpc>
                <a:spcPct val="120000"/>
              </a:lnSpc>
              <a:buNone/>
            </a:pPr>
            <a:r>
              <a:rPr lang="en-US" altLang="zh-CN" sz="1400" dirty="0">
                <a:latin typeface="Arial" panose="020B0604020202020204" pitchFamily="34" charset="0"/>
                <a:cs typeface="Arial" panose="020B0604020202020204" pitchFamily="34" charset="0"/>
              </a:rPr>
              <a:t>–  </a:t>
            </a:r>
            <a:r>
              <a:rPr lang="en-US" altLang="zh-CN" sz="1600" dirty="0">
                <a:latin typeface="Arial" panose="020B0604020202020204" pitchFamily="34" charset="0"/>
                <a:cs typeface="Arial" panose="020B0604020202020204" pitchFamily="34" charset="0"/>
              </a:rPr>
              <a:t>node </a:t>
            </a:r>
            <a:r>
              <a:rPr lang="en-US" altLang="zh-CN" sz="1600" i="1" dirty="0">
                <a:latin typeface="Arial" panose="020B0604020202020204" pitchFamily="34" charset="0"/>
                <a:cs typeface="Arial" panose="020B0604020202020204" pitchFamily="34" charset="0"/>
              </a:rPr>
              <a:t>i </a:t>
            </a:r>
            <a:r>
              <a:rPr lang="en-US" altLang="zh-CN" sz="1600" dirty="0">
                <a:latin typeface="Arial" panose="020B0604020202020204" pitchFamily="34" charset="0"/>
                <a:cs typeface="Arial" panose="020B0604020202020204" pitchFamily="34" charset="0"/>
              </a:rPr>
              <a:t> is in the </a:t>
            </a:r>
            <a:r>
              <a:rPr lang="en-US" altLang="zh-CN" sz="1600" dirty="0">
                <a:solidFill>
                  <a:schemeClr val="tx2">
                    <a:lumMod val="75000"/>
                    <a:lumOff val="25000"/>
                  </a:schemeClr>
                </a:solidFill>
                <a:latin typeface="Arial" panose="020B0604020202020204" pitchFamily="34" charset="0"/>
                <a:cs typeface="Arial" panose="020B0604020202020204" pitchFamily="34" charset="0"/>
              </a:rPr>
              <a:t>transmit (TX) </a:t>
            </a:r>
            <a:r>
              <a:rPr lang="en-US" altLang="zh-CN" sz="1600" dirty="0">
                <a:latin typeface="Arial" panose="020B0604020202020204" pitchFamily="34" charset="0"/>
                <a:cs typeface="Arial" panose="020B0604020202020204" pitchFamily="34" charset="0"/>
              </a:rPr>
              <a:t>state if it has the highest priority and if it has data to send </a:t>
            </a:r>
          </a:p>
          <a:p>
            <a:pPr marL="1371600" lvl="3" indent="0">
              <a:lnSpc>
                <a:spcPct val="120000"/>
              </a:lnSpc>
              <a:buNone/>
            </a:pPr>
            <a:r>
              <a:rPr lang="en-US" altLang="zh-CN" sz="1400" dirty="0">
                <a:latin typeface="Arial" panose="020B0604020202020204" pitchFamily="34" charset="0"/>
                <a:cs typeface="Arial" panose="020B0604020202020204" pitchFamily="34" charset="0"/>
              </a:rPr>
              <a:t>–  </a:t>
            </a:r>
            <a:r>
              <a:rPr lang="en-US" altLang="zh-CN" sz="1600" dirty="0">
                <a:latin typeface="Arial" panose="020B0604020202020204" pitchFamily="34" charset="0"/>
                <a:cs typeface="Arial" panose="020B0604020202020204" pitchFamily="34" charset="0"/>
              </a:rPr>
              <a:t>node </a:t>
            </a:r>
            <a:r>
              <a:rPr lang="en-US" altLang="zh-CN" sz="1600" i="1" dirty="0">
                <a:latin typeface="Arial" panose="020B0604020202020204" pitchFamily="34" charset="0"/>
                <a:cs typeface="Arial" panose="020B0604020202020204" pitchFamily="34" charset="0"/>
              </a:rPr>
              <a:t>i </a:t>
            </a:r>
            <a:r>
              <a:rPr lang="en-US" altLang="zh-CN" sz="1600" dirty="0">
                <a:latin typeface="Arial" panose="020B0604020202020204" pitchFamily="34" charset="0"/>
                <a:cs typeface="Arial" panose="020B0604020202020204" pitchFamily="34" charset="0"/>
              </a:rPr>
              <a:t> is in the  </a:t>
            </a:r>
            <a:r>
              <a:rPr lang="en-US" altLang="zh-CN" sz="1600" dirty="0">
                <a:solidFill>
                  <a:schemeClr val="tx2">
                    <a:lumMod val="75000"/>
                    <a:lumOff val="25000"/>
                  </a:schemeClr>
                </a:solidFill>
                <a:latin typeface="Arial" panose="020B0604020202020204" pitchFamily="34" charset="0"/>
                <a:cs typeface="Arial" panose="020B0604020202020204" pitchFamily="34" charset="0"/>
              </a:rPr>
              <a:t>receive (RX) </a:t>
            </a:r>
            <a:r>
              <a:rPr lang="en-US" altLang="zh-CN" sz="1600" dirty="0">
                <a:latin typeface="Arial" panose="020B0604020202020204" pitchFamily="34" charset="0"/>
                <a:cs typeface="Arial" panose="020B0604020202020204" pitchFamily="34" charset="0"/>
              </a:rPr>
              <a:t>state if it is the intended receiver of the transmitter during slot  </a:t>
            </a:r>
            <a:r>
              <a:rPr lang="en-US" altLang="zh-CN" sz="1600" i="1" dirty="0">
                <a:latin typeface="Arial" panose="020B0604020202020204" pitchFamily="34" charset="0"/>
                <a:cs typeface="Arial" panose="020B0604020202020204" pitchFamily="34" charset="0"/>
              </a:rPr>
              <a:t>t</a:t>
            </a:r>
          </a:p>
          <a:p>
            <a:pPr marL="1371600" lvl="3" indent="0">
              <a:lnSpc>
                <a:spcPct val="120000"/>
              </a:lnSpc>
              <a:buNone/>
            </a:pPr>
            <a:r>
              <a:rPr lang="en-US" altLang="zh-CN" sz="1400" dirty="0">
                <a:latin typeface="Arial" panose="020B0604020202020204" pitchFamily="34" charset="0"/>
                <a:cs typeface="Arial" panose="020B0604020202020204" pitchFamily="34" charset="0"/>
              </a:rPr>
              <a:t>– </a:t>
            </a:r>
            <a:r>
              <a:rPr lang="en-US" altLang="zh-CN" sz="1600" dirty="0">
                <a:latin typeface="Arial" panose="020B0604020202020204" pitchFamily="34" charset="0"/>
                <a:cs typeface="Arial" panose="020B0604020202020204" pitchFamily="34" charset="0"/>
              </a:rPr>
              <a:t> otherwise, the node can be switched into the </a:t>
            </a:r>
            <a:r>
              <a:rPr lang="en-US" altLang="zh-CN" sz="1600" dirty="0">
                <a:solidFill>
                  <a:schemeClr val="tx2">
                    <a:lumMod val="75000"/>
                    <a:lumOff val="25000"/>
                  </a:schemeClr>
                </a:solidFill>
                <a:latin typeface="Arial" panose="020B0604020202020204" pitchFamily="34" charset="0"/>
                <a:cs typeface="Arial" panose="020B0604020202020204" pitchFamily="34" charset="0"/>
              </a:rPr>
              <a:t>sleep (SL) state </a:t>
            </a:r>
            <a:endParaRPr lang="en-US" altLang="zh-CN" sz="1400" dirty="0">
              <a:solidFill>
                <a:schemeClr val="tx2">
                  <a:lumMod val="75000"/>
                  <a:lumOff val="25000"/>
                </a:schemeClr>
              </a:solidFill>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8441" y="3429000"/>
            <a:ext cx="2325300" cy="572294"/>
          </a:xfrm>
          <a:prstGeom prst="rect">
            <a:avLst/>
          </a:prstGeom>
        </p:spPr>
      </p:pic>
    </p:spTree>
    <p:extLst>
      <p:ext uri="{BB962C8B-B14F-4D97-AF65-F5344CB8AC3E}">
        <p14:creationId xmlns:p14="http://schemas.microsoft.com/office/powerpoint/2010/main" val="121301260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Traffic-Adaptive Medium Access</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Summary</a:t>
            </a:r>
          </a:p>
          <a:p>
            <a:pPr lvl="1">
              <a:lnSpc>
                <a:spcPct val="120000"/>
              </a:lnSpc>
            </a:pPr>
            <a:r>
              <a:rPr lang="en-US" altLang="zh-CN" sz="2000" dirty="0">
                <a:latin typeface="Arial" panose="020B0604020202020204" pitchFamily="34" charset="0"/>
                <a:cs typeface="Arial" panose="020B0604020202020204" pitchFamily="34" charset="0"/>
              </a:rPr>
              <a:t>compared to CSMA-based protocols</a:t>
            </a:r>
          </a:p>
          <a:p>
            <a:pPr lvl="2">
              <a:lnSpc>
                <a:spcPct val="120000"/>
              </a:lnSpc>
            </a:pPr>
            <a:r>
              <a:rPr lang="en-US" altLang="zh-CN" sz="1800" dirty="0">
                <a:latin typeface="Arial" panose="020B0604020202020204" pitchFamily="34" charset="0"/>
                <a:cs typeface="Arial" panose="020B0604020202020204" pitchFamily="34" charset="0"/>
              </a:rPr>
              <a:t>reduces the probability of collisions </a:t>
            </a:r>
          </a:p>
          <a:p>
            <a:pPr lvl="2">
              <a:lnSpc>
                <a:spcPct val="120000"/>
              </a:lnSpc>
            </a:pPr>
            <a:r>
              <a:rPr lang="en-US" altLang="zh-CN" sz="1800" dirty="0">
                <a:latin typeface="Arial" panose="020B0604020202020204" pitchFamily="34" charset="0"/>
                <a:cs typeface="Arial" panose="020B0604020202020204" pitchFamily="34" charset="0"/>
              </a:rPr>
              <a:t>increases the sleep time and energy savings</a:t>
            </a:r>
          </a:p>
          <a:p>
            <a:pPr lvl="1">
              <a:lnSpc>
                <a:spcPct val="120000"/>
              </a:lnSpc>
            </a:pPr>
            <a:r>
              <a:rPr lang="en-US" altLang="zh-CN" sz="2000" dirty="0">
                <a:latin typeface="Arial" panose="020B0604020202020204" pitchFamily="34" charset="0"/>
                <a:cs typeface="Arial" panose="020B0604020202020204" pitchFamily="34" charset="0"/>
              </a:rPr>
              <a:t>unlike standard TDMA approaches</a:t>
            </a:r>
          </a:p>
          <a:p>
            <a:pPr lvl="2">
              <a:lnSpc>
                <a:spcPct val="120000"/>
              </a:lnSpc>
            </a:pPr>
            <a:r>
              <a:rPr lang="en-US" altLang="zh-CN" sz="1800" dirty="0">
                <a:latin typeface="Arial" panose="020B0604020202020204" pitchFamily="34" charset="0"/>
                <a:cs typeface="Arial" panose="020B0604020202020204" pitchFamily="34" charset="0"/>
              </a:rPr>
              <a:t>TRAMA divides time into random-access and scheduled-access intervals</a:t>
            </a:r>
          </a:p>
          <a:p>
            <a:pPr lvl="2">
              <a:lnSpc>
                <a:spcPct val="120000"/>
              </a:lnSpc>
            </a:pPr>
            <a:r>
              <a:rPr lang="en-US" altLang="zh-CN" sz="1800" dirty="0">
                <a:latin typeface="Arial" panose="020B0604020202020204" pitchFamily="34" charset="0"/>
                <a:cs typeface="Arial" panose="020B0604020202020204" pitchFamily="34" charset="0"/>
              </a:rPr>
              <a:t>during the random-access intervals</a:t>
            </a:r>
          </a:p>
          <a:p>
            <a:pPr marL="1371600" lvl="3" indent="0">
              <a:lnSpc>
                <a:spcPct val="120000"/>
              </a:lnSpc>
              <a:buNone/>
            </a:pPr>
            <a:r>
              <a:rPr lang="en-US" altLang="zh-CN" sz="1600" dirty="0">
                <a:latin typeface="Arial" panose="020B0604020202020204" pitchFamily="34" charset="0"/>
                <a:cs typeface="Arial" panose="020B0604020202020204" pitchFamily="34" charset="0"/>
              </a:rPr>
              <a:t>–  nodes are awake to either transmit or receive topology information </a:t>
            </a:r>
          </a:p>
          <a:p>
            <a:pPr marL="1371600" lvl="3" indent="0">
              <a:lnSpc>
                <a:spcPct val="120000"/>
              </a:lnSpc>
              <a:buNone/>
            </a:pPr>
            <a:r>
              <a:rPr lang="en-US" altLang="zh-CN" sz="1600" dirty="0">
                <a:latin typeface="Arial" panose="020B0604020202020204" pitchFamily="34" charset="0"/>
                <a:cs typeface="Arial" panose="020B0604020202020204" pitchFamily="34" charset="0"/>
              </a:rPr>
              <a:t>–  the length of the random-access interval affects the overall duty cycle and achievable energy savings of a node </a:t>
            </a:r>
            <a:endParaRPr lang="zh-CN" alt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779253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1353800" cy="1325563"/>
          </a:xfrm>
        </p:spPr>
        <p:txBody>
          <a:bodyPr>
            <a:normAutofit/>
          </a:bodyPr>
          <a:lstStyle/>
          <a:p>
            <a:r>
              <a:rPr lang="en-US" altLang="zh-CN" b="1" dirty="0">
                <a:latin typeface="Arial" panose="020B0604020202020204" pitchFamily="34" charset="0"/>
                <a:cs typeface="Arial" panose="020B0604020202020204" pitchFamily="34" charset="0"/>
              </a:rPr>
              <a:t>Low-Energy Adaptive Clustering Hierarchy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10000"/>
              </a:lnSpc>
            </a:pPr>
            <a:r>
              <a:rPr lang="en-US" altLang="zh-CN" sz="2000" dirty="0">
                <a:latin typeface="Arial" panose="020B0604020202020204" pitchFamily="34" charset="0"/>
                <a:cs typeface="Arial" panose="020B0604020202020204" pitchFamily="34" charset="0"/>
              </a:rPr>
              <a:t>The LEACH protocol combines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TDMA-style contention-free </a:t>
            </a:r>
            <a:r>
              <a:rPr lang="en-US" altLang="zh-CN" sz="2000" dirty="0">
                <a:latin typeface="Arial" panose="020B0604020202020204" pitchFamily="34" charset="0"/>
                <a:cs typeface="Arial" panose="020B0604020202020204" pitchFamily="34" charset="0"/>
              </a:rPr>
              <a:t>communication with a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clustering algorithm  </a:t>
            </a:r>
            <a:r>
              <a:rPr lang="en-US" altLang="zh-CN" sz="2000" dirty="0">
                <a:latin typeface="Arial" panose="020B0604020202020204" pitchFamily="34" charset="0"/>
                <a:cs typeface="Arial" panose="020B0604020202020204" pitchFamily="34" charset="0"/>
              </a:rPr>
              <a:t>for wireless sensor networks </a:t>
            </a:r>
          </a:p>
          <a:p>
            <a:pPr lvl="1">
              <a:lnSpc>
                <a:spcPct val="110000"/>
              </a:lnSpc>
            </a:pPr>
            <a:r>
              <a:rPr lang="en-US" altLang="zh-CN" sz="2000" dirty="0">
                <a:latin typeface="Arial" panose="020B0604020202020204" pitchFamily="34" charset="0"/>
                <a:cs typeface="Arial" panose="020B0604020202020204" pitchFamily="34" charset="0"/>
              </a:rPr>
              <a:t>a cluster consists of a single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cluster head  </a:t>
            </a:r>
            <a:r>
              <a:rPr lang="en-US" altLang="zh-CN" sz="2000" dirty="0">
                <a:latin typeface="Arial" panose="020B0604020202020204" pitchFamily="34" charset="0"/>
                <a:cs typeface="Arial" panose="020B0604020202020204" pitchFamily="34" charset="0"/>
              </a:rPr>
              <a:t>and any number of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cluster members</a:t>
            </a:r>
            <a:r>
              <a:rPr lang="en-US" altLang="zh-CN" sz="2000" dirty="0">
                <a:latin typeface="Arial" panose="020B0604020202020204" pitchFamily="34" charset="0"/>
                <a:cs typeface="Arial" panose="020B0604020202020204" pitchFamily="34" charset="0"/>
              </a:rPr>
              <a:t>, which only communicate with their cluster head  </a:t>
            </a:r>
          </a:p>
          <a:p>
            <a:pPr lvl="1">
              <a:lnSpc>
                <a:spcPct val="110000"/>
              </a:lnSpc>
            </a:pPr>
            <a:r>
              <a:rPr lang="en-US" altLang="zh-CN" sz="2000" dirty="0">
                <a:latin typeface="Arial" panose="020B0604020202020204" pitchFamily="34" charset="0"/>
                <a:cs typeface="Arial" panose="020B0604020202020204" pitchFamily="34" charset="0"/>
              </a:rPr>
              <a:t>clustering is a popular approach for sensor networks</a:t>
            </a:r>
          </a:p>
          <a:p>
            <a:pPr lvl="2">
              <a:lnSpc>
                <a:spcPct val="110000"/>
              </a:lnSpc>
            </a:pPr>
            <a:r>
              <a:rPr lang="en-US" altLang="zh-CN" dirty="0">
                <a:latin typeface="Arial" panose="020B0604020202020204" pitchFamily="34" charset="0"/>
                <a:cs typeface="Arial" panose="020B0604020202020204" pitchFamily="34" charset="0"/>
              </a:rPr>
              <a:t>facilitates  </a:t>
            </a:r>
            <a:r>
              <a:rPr lang="en-US" altLang="zh-CN" dirty="0">
                <a:solidFill>
                  <a:schemeClr val="tx2">
                    <a:lumMod val="75000"/>
                    <a:lumOff val="25000"/>
                  </a:schemeClr>
                </a:solidFill>
                <a:latin typeface="Arial" panose="020B0604020202020204" pitchFamily="34" charset="0"/>
                <a:cs typeface="Arial" panose="020B0604020202020204" pitchFamily="34" charset="0"/>
              </a:rPr>
              <a:t>data aggregation  </a:t>
            </a:r>
            <a:r>
              <a:rPr lang="en-US" altLang="zh-CN" dirty="0">
                <a:latin typeface="Arial" panose="020B0604020202020204" pitchFamily="34" charset="0"/>
                <a:cs typeface="Arial" panose="020B0604020202020204" pitchFamily="34" charset="0"/>
              </a:rPr>
              <a:t>and  </a:t>
            </a:r>
            <a:r>
              <a:rPr lang="en-US" altLang="zh-CN" dirty="0">
                <a:solidFill>
                  <a:schemeClr val="tx2">
                    <a:lumMod val="75000"/>
                    <a:lumOff val="25000"/>
                  </a:schemeClr>
                </a:solidFill>
                <a:latin typeface="Arial" panose="020B0604020202020204" pitchFamily="34" charset="0"/>
                <a:cs typeface="Arial" panose="020B0604020202020204" pitchFamily="34" charset="0"/>
              </a:rPr>
              <a:t>in-network processing </a:t>
            </a:r>
            <a:r>
              <a:rPr lang="en-US" altLang="zh-CN" dirty="0">
                <a:latin typeface="Arial" panose="020B0604020202020204" pitchFamily="34" charset="0"/>
                <a:cs typeface="Arial" panose="020B0604020202020204" pitchFamily="34" charset="0"/>
              </a:rPr>
              <a:t>at the cluster head </a:t>
            </a:r>
          </a:p>
          <a:p>
            <a:pPr lvl="2">
              <a:lnSpc>
                <a:spcPct val="110000"/>
              </a:lnSpc>
            </a:pPr>
            <a:r>
              <a:rPr lang="en-US" altLang="zh-CN" dirty="0">
                <a:latin typeface="Arial" panose="020B0604020202020204" pitchFamily="34" charset="0"/>
                <a:cs typeface="Arial" panose="020B0604020202020204" pitchFamily="34" charset="0"/>
              </a:rPr>
              <a:t>reduces the amount of data that needs to be transmitted to the base station</a:t>
            </a:r>
          </a:p>
          <a:p>
            <a:pPr>
              <a:lnSpc>
                <a:spcPct val="110000"/>
              </a:lnSpc>
            </a:pPr>
            <a:r>
              <a:rPr lang="en-US" altLang="zh-CN" sz="2000" dirty="0">
                <a:latin typeface="Arial" panose="020B0604020202020204" pitchFamily="34" charset="0"/>
                <a:cs typeface="Arial" panose="020B0604020202020204" pitchFamily="34" charset="0"/>
              </a:rPr>
              <a:t>LEACH operates in rounds consisting of two phases:  </a:t>
            </a:r>
          </a:p>
          <a:p>
            <a:pPr lvl="1">
              <a:lnSpc>
                <a:spcPct val="110000"/>
              </a:lnSpc>
            </a:pPr>
            <a:r>
              <a:rPr lang="en-US" altLang="zh-CN" sz="2000" dirty="0">
                <a:latin typeface="Arial" panose="020B0604020202020204" pitchFamily="34" charset="0"/>
                <a:cs typeface="Arial" panose="020B0604020202020204" pitchFamily="34" charset="0"/>
              </a:rPr>
              <a:t>A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setup </a:t>
            </a:r>
            <a:r>
              <a:rPr lang="en-US" altLang="zh-CN" sz="2000" dirty="0">
                <a:latin typeface="Arial" panose="020B0604020202020204" pitchFamily="34" charset="0"/>
                <a:cs typeface="Arial" panose="020B0604020202020204" pitchFamily="34" charset="0"/>
              </a:rPr>
              <a:t>phase</a:t>
            </a:r>
          </a:p>
          <a:p>
            <a:pPr lvl="1">
              <a:lnSpc>
                <a:spcPct val="110000"/>
              </a:lnSpc>
            </a:pPr>
            <a:r>
              <a:rPr lang="en-US" altLang="zh-CN" sz="2000" dirty="0">
                <a:latin typeface="Arial" panose="020B0604020202020204" pitchFamily="34" charset="0"/>
                <a:cs typeface="Arial" panose="020B0604020202020204" pitchFamily="34" charset="0"/>
              </a:rPr>
              <a:t>A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steady-state</a:t>
            </a:r>
            <a:r>
              <a:rPr lang="en-US" altLang="zh-CN" sz="2000" dirty="0">
                <a:latin typeface="Arial" panose="020B0604020202020204" pitchFamily="34" charset="0"/>
                <a:cs typeface="Arial" panose="020B0604020202020204" pitchFamily="34" charset="0"/>
              </a:rPr>
              <a:t>  phase</a:t>
            </a:r>
            <a:endParaRPr lang="zh-CN" altLang="en-US" sz="2000" dirty="0">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2556" y="5101468"/>
            <a:ext cx="5075723" cy="1443693"/>
          </a:xfrm>
          <a:prstGeom prst="rect">
            <a:avLst/>
          </a:prstGeom>
        </p:spPr>
      </p:pic>
    </p:spTree>
    <p:extLst>
      <p:ext uri="{BB962C8B-B14F-4D97-AF65-F5344CB8AC3E}">
        <p14:creationId xmlns:p14="http://schemas.microsoft.com/office/powerpoint/2010/main" val="3635033042"/>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Low-Energy Adaptive Clustering Hierarchy</a:t>
            </a:r>
            <a:endParaRPr lang="zh-CN" altLang="en-US"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825625"/>
                <a:ext cx="10515600" cy="4667250"/>
              </a:xfrm>
            </p:spPr>
            <p:txBody>
              <a:bodyPr>
                <a:normAutofit lnSpcReduction="10000"/>
              </a:bodyPr>
              <a:lstStyle/>
              <a:p>
                <a:pPr>
                  <a:lnSpc>
                    <a:spcPct val="12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Setup phase</a:t>
                </a:r>
              </a:p>
              <a:p>
                <a:pPr lvl="1">
                  <a:lnSpc>
                    <a:spcPct val="120000"/>
                  </a:lnSpc>
                </a:pPr>
                <a:r>
                  <a:rPr lang="en-US" altLang="zh-CN" sz="2000" dirty="0">
                    <a:latin typeface="Arial" panose="020B0604020202020204" pitchFamily="34" charset="0"/>
                    <a:cs typeface="Arial" panose="020B0604020202020204" pitchFamily="34" charset="0"/>
                  </a:rPr>
                  <a:t>cluster heads are determined and communication schedules within each cluster are established</a:t>
                </a:r>
              </a:p>
              <a:p>
                <a:pPr lvl="1">
                  <a:lnSpc>
                    <a:spcPct val="120000"/>
                  </a:lnSpc>
                </a:pPr>
                <a:r>
                  <a:rPr lang="en-US" altLang="zh-CN" sz="2000" dirty="0">
                    <a:latin typeface="Arial" panose="020B0604020202020204" pitchFamily="34" charset="0"/>
                    <a:cs typeface="Arial" panose="020B0604020202020204" pitchFamily="34" charset="0"/>
                  </a:rPr>
                  <a:t>since the cluster head is responsible for coordinating cluster activity and forwarding data to the base station, its energy requirements will be significantly larger compared to other sensor nodes </a:t>
                </a:r>
              </a:p>
              <a:p>
                <a:pPr lvl="1">
                  <a:lnSpc>
                    <a:spcPct val="120000"/>
                  </a:lnSpc>
                </a:pPr>
                <a:r>
                  <a:rPr lang="en-US" altLang="zh-CN" sz="2000" dirty="0">
                    <a:latin typeface="Arial" panose="020B0604020202020204" pitchFamily="34" charset="0"/>
                    <a:cs typeface="Arial" panose="020B0604020202020204" pitchFamily="34" charset="0"/>
                  </a:rPr>
                  <a:t>therefore, LEACH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rotates the cluster head responsibility </a:t>
                </a:r>
                <a:r>
                  <a:rPr lang="en-US" altLang="zh-CN" sz="2000" dirty="0">
                    <a:latin typeface="Arial" panose="020B0604020202020204" pitchFamily="34" charset="0"/>
                    <a:cs typeface="Arial" panose="020B0604020202020204" pitchFamily="34" charset="0"/>
                  </a:rPr>
                  <a:t>among sensor nodes to evenly distribute the energy load</a:t>
                </a:r>
              </a:p>
              <a:p>
                <a:pPr lvl="2">
                  <a:lnSpc>
                    <a:spcPct val="120000"/>
                  </a:lnSpc>
                </a:pPr>
                <a:r>
                  <a:rPr lang="en-US" altLang="zh-CN" sz="1800" dirty="0">
                    <a:latin typeface="Arial" panose="020B0604020202020204" pitchFamily="34" charset="0"/>
                    <a:cs typeface="Arial" panose="020B0604020202020204" pitchFamily="34" charset="0"/>
                  </a:rPr>
                  <a:t>every sensor </a:t>
                </a:r>
                <a:r>
                  <a:rPr lang="en-US" altLang="zh-CN" sz="1800" i="1" dirty="0" err="1">
                    <a:latin typeface="Arial" panose="020B0604020202020204" pitchFamily="34" charset="0"/>
                    <a:cs typeface="Arial" panose="020B0604020202020204" pitchFamily="34" charset="0"/>
                  </a:rPr>
                  <a:t>i</a:t>
                </a:r>
                <a:r>
                  <a:rPr lang="en-US" altLang="zh-CN" sz="1800" dirty="0">
                    <a:latin typeface="Arial" panose="020B0604020202020204" pitchFamily="34" charset="0"/>
                    <a:cs typeface="Arial" panose="020B0604020202020204" pitchFamily="34" charset="0"/>
                  </a:rPr>
                  <a:t> elects itself to be a cluster head with a certain probability </a:t>
                </a:r>
                <a:r>
                  <a:rPr lang="en-US" altLang="zh-CN" sz="1800" i="1" dirty="0">
                    <a:latin typeface="Arial" panose="020B0604020202020204" pitchFamily="34" charset="0"/>
                    <a:cs typeface="Arial" panose="020B0604020202020204" pitchFamily="34" charset="0"/>
                  </a:rPr>
                  <a:t>P</a:t>
                </a:r>
                <a:r>
                  <a:rPr lang="en-US" altLang="zh-CN" sz="1800" i="1" baseline="-25000" dirty="0">
                    <a:latin typeface="Arial" panose="020B0604020202020204" pitchFamily="34" charset="0"/>
                    <a:cs typeface="Arial" panose="020B0604020202020204" pitchFamily="34" charset="0"/>
                  </a:rPr>
                  <a:t>i</a:t>
                </a:r>
                <a:r>
                  <a:rPr lang="en-US" altLang="zh-CN" sz="1800" i="1" dirty="0">
                    <a:latin typeface="Arial" panose="020B0604020202020204" pitchFamily="34" charset="0"/>
                    <a:cs typeface="Arial" panose="020B0604020202020204" pitchFamily="34" charset="0"/>
                  </a:rPr>
                  <a:t>(t) </a:t>
                </a:r>
              </a:p>
              <a:p>
                <a:pPr lvl="2">
                  <a:lnSpc>
                    <a:spcPct val="120000"/>
                  </a:lnSpc>
                </a:pPr>
                <a:r>
                  <a:rPr lang="en-US" altLang="zh-CN" sz="1800" dirty="0">
                    <a:latin typeface="Arial" panose="020B0604020202020204" pitchFamily="34" charset="0"/>
                    <a:cs typeface="Arial" panose="020B0604020202020204" pitchFamily="34" charset="0"/>
                  </a:rPr>
                  <a:t>In a network with </a:t>
                </a:r>
                <a:r>
                  <a:rPr lang="en-US" altLang="zh-CN" sz="1800" i="1" dirty="0">
                    <a:latin typeface="Arial" panose="020B0604020202020204" pitchFamily="34" charset="0"/>
                    <a:cs typeface="Arial" panose="020B0604020202020204" pitchFamily="34" charset="0"/>
                  </a:rPr>
                  <a:t>N</a:t>
                </a:r>
                <a:r>
                  <a:rPr lang="en-US" altLang="zh-CN" sz="1800" dirty="0">
                    <a:latin typeface="Arial" panose="020B0604020202020204" pitchFamily="34" charset="0"/>
                    <a:cs typeface="Arial" panose="020B0604020202020204" pitchFamily="34" charset="0"/>
                  </a:rPr>
                  <a:t> nodes and a desired number of cluster heads of </a:t>
                </a:r>
                <a:r>
                  <a:rPr lang="en-US" altLang="zh-CN" sz="1800" i="1" dirty="0">
                    <a:latin typeface="Arial" panose="020B0604020202020204" pitchFamily="34" charset="0"/>
                    <a:cs typeface="Arial" panose="020B0604020202020204" pitchFamily="34" charset="0"/>
                  </a:rPr>
                  <a:t>k</a:t>
                </a:r>
                <a:r>
                  <a:rPr lang="en-US" altLang="zh-CN" sz="1800" dirty="0">
                    <a:latin typeface="Arial" panose="020B0604020202020204" pitchFamily="34" charset="0"/>
                    <a:cs typeface="Arial" panose="020B0604020202020204" pitchFamily="34" charset="0"/>
                  </a:rPr>
                  <a:t>, the probabilities can be chosen to satisfy: </a:t>
                </a:r>
              </a:p>
              <a:p>
                <a:pPr marL="914400" lvl="2" indent="0" algn="ctr">
                  <a:lnSpc>
                    <a:spcPct val="120000"/>
                  </a:lnSpc>
                  <a:buNone/>
                </a:pPr>
                <a14:m>
                  <m:oMath xmlns:m="http://schemas.openxmlformats.org/officeDocument/2006/math">
                    <m:nary>
                      <m:naryPr>
                        <m:chr m:val="∑"/>
                        <m:ctrlPr>
                          <a:rPr lang="zh-CN" altLang="en-US" sz="1800" i="1" smtClean="0">
                            <a:latin typeface="Cambria Math" panose="02040503050406030204" pitchFamily="18" charset="0"/>
                          </a:rPr>
                        </m:ctrlPr>
                      </m:naryPr>
                      <m:sub>
                        <m:r>
                          <m:rPr>
                            <m:brk m:alnAt="23"/>
                          </m:rPr>
                          <a:rPr lang="en-US" altLang="zh-CN" sz="1800" b="0" i="1" smtClean="0">
                            <a:latin typeface="Cambria Math"/>
                          </a:rPr>
                          <m:t>𝑖</m:t>
                        </m:r>
                        <m:r>
                          <a:rPr lang="en-US" altLang="zh-CN" sz="1800" b="0" i="1" smtClean="0">
                            <a:latin typeface="Cambria Math"/>
                          </a:rPr>
                          <m:t>=</m:t>
                        </m:r>
                        <m:r>
                          <a:rPr lang="en-US" altLang="zh-CN" sz="1800" b="0" i="1" smtClean="0">
                            <a:latin typeface="Cambria Math"/>
                          </a:rPr>
                          <m:t>1</m:t>
                        </m:r>
                      </m:sub>
                      <m:sup>
                        <m:r>
                          <a:rPr lang="en-US" altLang="zh-CN" sz="1800" b="0" i="1" smtClean="0">
                            <a:latin typeface="Cambria Math"/>
                          </a:rPr>
                          <m:t>𝑁</m:t>
                        </m:r>
                      </m:sup>
                      <m:e>
                        <m:r>
                          <a:rPr lang="en-US" altLang="zh-CN" sz="1800" b="0" i="1" smtClean="0">
                            <a:latin typeface="Cambria Math"/>
                          </a:rPr>
                          <m:t>𝑃</m:t>
                        </m:r>
                        <m:r>
                          <a:rPr lang="en-US" altLang="zh-CN" sz="1800" b="0" i="1" baseline="-25000" smtClean="0">
                            <a:latin typeface="Cambria Math"/>
                          </a:rPr>
                          <m:t>𝑖</m:t>
                        </m:r>
                        <m:r>
                          <a:rPr lang="en-US" altLang="zh-CN" sz="1800" b="0" i="1" smtClean="0">
                            <a:latin typeface="Cambria Math"/>
                          </a:rPr>
                          <m:t>(</m:t>
                        </m:r>
                        <m:r>
                          <a:rPr lang="en-US" altLang="zh-CN" sz="1800" b="0" i="1" smtClean="0">
                            <a:latin typeface="Cambria Math"/>
                          </a:rPr>
                          <m:t>𝑡</m:t>
                        </m:r>
                        <m:r>
                          <a:rPr lang="en-US" altLang="zh-CN" sz="1800" b="0" i="1" smtClean="0">
                            <a:latin typeface="Cambria Math"/>
                          </a:rPr>
                          <m:t>)</m:t>
                        </m:r>
                      </m:e>
                    </m:nary>
                  </m:oMath>
                </a14:m>
                <a:r>
                  <a:rPr lang="en-US" altLang="zh-CN" sz="1800" i="1" dirty="0">
                    <a:latin typeface="Arial" panose="020B0604020202020204" pitchFamily="34" charset="0"/>
                    <a:cs typeface="Arial" panose="020B0604020202020204" pitchFamily="34" charset="0"/>
                  </a:rPr>
                  <a:t>=k</a:t>
                </a:r>
              </a:p>
              <a:p>
                <a:pPr marL="914400" lvl="2" indent="0">
                  <a:lnSpc>
                    <a:spcPct val="120000"/>
                  </a:lnSpc>
                  <a:buNone/>
                </a:pPr>
                <a:endParaRPr lang="zh-CN" altLang="en-US" sz="1800" b="1" dirty="0">
                  <a:latin typeface="Arial" panose="020B0604020202020204" pitchFamily="34" charset="0"/>
                  <a:cs typeface="Arial" panose="020B0604020202020204" pitchFamily="34"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812" t="-783" r="-1043" b="-95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4281035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Low-Energy Adaptive Clustering Hierarchy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10000"/>
              </a:lnSpc>
            </a:pPr>
            <a:r>
              <a:rPr lang="en-US" altLang="zh-CN" sz="2400" dirty="0">
                <a:latin typeface="Arial" panose="020B0604020202020204" pitchFamily="34" charset="0"/>
                <a:cs typeface="Arial" panose="020B0604020202020204" pitchFamily="34" charset="0"/>
              </a:rPr>
              <a:t>There are various approaches to choose </a:t>
            </a:r>
            <a:r>
              <a:rPr lang="en-US" altLang="zh-CN" sz="2400" i="1" dirty="0">
                <a:latin typeface="Arial" panose="020B0604020202020204" pitchFamily="34" charset="0"/>
                <a:cs typeface="Arial" panose="020B0604020202020204" pitchFamily="34" charset="0"/>
              </a:rPr>
              <a:t>P</a:t>
            </a:r>
            <a:r>
              <a:rPr lang="en-US" altLang="zh-CN" sz="2400" i="1" baseline="-25000" dirty="0">
                <a:latin typeface="Arial" panose="020B0604020202020204" pitchFamily="34" charset="0"/>
                <a:cs typeface="Arial" panose="020B0604020202020204" pitchFamily="34" charset="0"/>
              </a:rPr>
              <a:t>i</a:t>
            </a:r>
            <a:r>
              <a:rPr lang="en-US" altLang="zh-CN" sz="2400" i="1" dirty="0">
                <a:latin typeface="Arial" panose="020B0604020202020204" pitchFamily="34" charset="0"/>
                <a:cs typeface="Arial" panose="020B0604020202020204" pitchFamily="34" charset="0"/>
              </a:rPr>
              <a:t> (t) </a:t>
            </a:r>
            <a:r>
              <a:rPr lang="en-US" altLang="zh-CN" sz="2400" dirty="0">
                <a:latin typeface="Arial" panose="020B0604020202020204" pitchFamily="34" charset="0"/>
                <a:cs typeface="Arial" panose="020B0604020202020204" pitchFamily="34" charset="0"/>
              </a:rPr>
              <a:t>, e.g.,: </a:t>
            </a:r>
          </a:p>
          <a:p>
            <a:pPr>
              <a:lnSpc>
                <a:spcPct val="110000"/>
              </a:lnSpc>
            </a:pPr>
            <a:endParaRPr lang="en-US" altLang="zh-CN" sz="2400" dirty="0">
              <a:latin typeface="Arial" panose="020B0604020202020204" pitchFamily="34" charset="0"/>
              <a:cs typeface="Arial" panose="020B0604020202020204" pitchFamily="34" charset="0"/>
            </a:endParaRPr>
          </a:p>
          <a:p>
            <a:pPr>
              <a:lnSpc>
                <a:spcPct val="110000"/>
              </a:lnSpc>
            </a:pPr>
            <a:endParaRPr lang="en-US" altLang="zh-CN" sz="2400" dirty="0">
              <a:latin typeface="Arial" panose="020B0604020202020204" pitchFamily="34" charset="0"/>
              <a:cs typeface="Arial" panose="020B0604020202020204" pitchFamily="34" charset="0"/>
            </a:endParaRPr>
          </a:p>
          <a:p>
            <a:pPr marL="0" indent="0">
              <a:lnSpc>
                <a:spcPct val="110000"/>
              </a:lnSpc>
              <a:buNone/>
            </a:pPr>
            <a:endParaRPr lang="en-US" altLang="zh-CN" sz="2400" dirty="0">
              <a:latin typeface="Arial" panose="020B0604020202020204" pitchFamily="34" charset="0"/>
              <a:cs typeface="Arial" panose="020B0604020202020204" pitchFamily="34" charset="0"/>
            </a:endParaRPr>
          </a:p>
          <a:p>
            <a:pPr>
              <a:lnSpc>
                <a:spcPct val="110000"/>
              </a:lnSpc>
            </a:pPr>
            <a:r>
              <a:rPr lang="en-US" altLang="zh-CN" sz="2400" dirty="0">
                <a:latin typeface="Arial" panose="020B0604020202020204" pitchFamily="34" charset="0"/>
                <a:cs typeface="Arial" panose="020B0604020202020204" pitchFamily="34" charset="0"/>
              </a:rPr>
              <a:t>This approach uses an indicator function </a:t>
            </a:r>
            <a:r>
              <a:rPr lang="en-US" altLang="zh-CN" sz="2400" i="1" dirty="0">
                <a:latin typeface="Arial" panose="020B0604020202020204" pitchFamily="34" charset="0"/>
                <a:cs typeface="Arial" panose="020B0604020202020204" pitchFamily="34" charset="0"/>
              </a:rPr>
              <a:t>C</a:t>
            </a:r>
            <a:r>
              <a:rPr lang="en-US" altLang="zh-CN" sz="2400" i="1" baseline="-25000" dirty="0">
                <a:latin typeface="Arial" panose="020B0604020202020204" pitchFamily="34" charset="0"/>
                <a:cs typeface="Arial" panose="020B0604020202020204" pitchFamily="34" charset="0"/>
              </a:rPr>
              <a:t>i</a:t>
            </a:r>
            <a:r>
              <a:rPr lang="en-US" altLang="zh-CN" sz="2400" i="1" dirty="0">
                <a:latin typeface="Arial" panose="020B0604020202020204" pitchFamily="34" charset="0"/>
                <a:cs typeface="Arial" panose="020B0604020202020204" pitchFamily="34" charset="0"/>
              </a:rPr>
              <a:t> (t) </a:t>
            </a:r>
            <a:r>
              <a:rPr lang="en-US" altLang="zh-CN" sz="2400" dirty="0">
                <a:latin typeface="Arial" panose="020B0604020202020204" pitchFamily="34" charset="0"/>
                <a:cs typeface="Arial" panose="020B0604020202020204" pitchFamily="34" charset="0"/>
              </a:rPr>
              <a:t>to determine whether node </a:t>
            </a:r>
            <a:r>
              <a:rPr lang="en-US" altLang="zh-CN" sz="2400" i="1" dirty="0">
                <a:latin typeface="Arial" panose="020B0604020202020204" pitchFamily="34" charset="0"/>
                <a:cs typeface="Arial" panose="020B0604020202020204" pitchFamily="34" charset="0"/>
              </a:rPr>
              <a:t>i</a:t>
            </a:r>
            <a:r>
              <a:rPr lang="en-US" altLang="zh-CN" sz="2400" dirty="0">
                <a:latin typeface="Arial" panose="020B0604020202020204" pitchFamily="34" charset="0"/>
                <a:cs typeface="Arial" panose="020B0604020202020204" pitchFamily="34" charset="0"/>
              </a:rPr>
              <a:t> has been a cluster head in the </a:t>
            </a:r>
            <a:r>
              <a:rPr lang="en-US" altLang="zh-CN" sz="2400" i="1" dirty="0">
                <a:latin typeface="Arial" panose="020B0604020202020204" pitchFamily="34" charset="0"/>
                <a:cs typeface="Arial" panose="020B0604020202020204" pitchFamily="34" charset="0"/>
              </a:rPr>
              <a:t> r  </a:t>
            </a:r>
            <a:r>
              <a:rPr lang="en-US" altLang="zh-CN" sz="2400" dirty="0">
                <a:latin typeface="Arial" panose="020B0604020202020204" pitchFamily="34" charset="0"/>
                <a:cs typeface="Arial" panose="020B0604020202020204" pitchFamily="34" charset="0"/>
              </a:rPr>
              <a:t>mod (</a:t>
            </a:r>
            <a:r>
              <a:rPr lang="en-US" altLang="zh-CN" sz="2400" i="1" dirty="0">
                <a:latin typeface="Arial" panose="020B0604020202020204" pitchFamily="34" charset="0"/>
                <a:cs typeface="Arial" panose="020B0604020202020204" pitchFamily="34" charset="0"/>
              </a:rPr>
              <a:t>N/k</a:t>
            </a:r>
            <a:r>
              <a:rPr lang="en-US" altLang="zh-CN" sz="2400" dirty="0">
                <a:latin typeface="Arial" panose="020B0604020202020204" pitchFamily="34" charset="0"/>
                <a:cs typeface="Arial" panose="020B0604020202020204" pitchFamily="34" charset="0"/>
              </a:rPr>
              <a:t>) previous rounds</a:t>
            </a:r>
          </a:p>
          <a:p>
            <a:pPr>
              <a:lnSpc>
                <a:spcPct val="110000"/>
              </a:lnSpc>
            </a:pPr>
            <a:r>
              <a:rPr lang="en-US" altLang="zh-CN" sz="2400" dirty="0">
                <a:latin typeface="Arial" panose="020B0604020202020204" pitchFamily="34" charset="0"/>
                <a:cs typeface="Arial" panose="020B0604020202020204" pitchFamily="34" charset="0"/>
              </a:rPr>
              <a:t>Only nodes that have not been cluster heads recently are candidates for the cluster head role, in order to evenly distribute the cluster head responsibility (and energy overhead) among all nodes </a:t>
            </a:r>
            <a:endParaRPr lang="zh-CN" altLang="en-US" sz="2400" dirty="0">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4916" y="2406994"/>
            <a:ext cx="4122167" cy="1286116"/>
          </a:xfrm>
          <a:prstGeom prst="rect">
            <a:avLst/>
          </a:prstGeom>
        </p:spPr>
      </p:pic>
    </p:spTree>
    <p:extLst>
      <p:ext uri="{BB962C8B-B14F-4D97-AF65-F5344CB8AC3E}">
        <p14:creationId xmlns:p14="http://schemas.microsoft.com/office/powerpoint/2010/main" val="2652427666"/>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Low-Energy Adaptive Clustering Hierarchy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252588" cy="4351338"/>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This approach does not consider the actual amount of energy available to each node </a:t>
            </a:r>
          </a:p>
          <a:p>
            <a:pPr>
              <a:lnSpc>
                <a:spcPct val="120000"/>
              </a:lnSpc>
            </a:pPr>
            <a:r>
              <a:rPr lang="en-US" altLang="zh-CN" sz="2400" dirty="0">
                <a:latin typeface="Arial" panose="020B0604020202020204" pitchFamily="34" charset="0"/>
                <a:cs typeface="Arial" panose="020B0604020202020204" pitchFamily="34" charset="0"/>
              </a:rPr>
              <a:t>An alternative approach to determining the probability of becoming a cluster head can be used:</a:t>
            </a:r>
          </a:p>
          <a:p>
            <a:pPr>
              <a:lnSpc>
                <a:spcPct val="120000"/>
              </a:lnSpc>
            </a:pPr>
            <a:endParaRPr lang="en-US" altLang="zh-CN" sz="2400" dirty="0">
              <a:latin typeface="Arial" panose="020B0604020202020204" pitchFamily="34" charset="0"/>
              <a:cs typeface="Arial" panose="020B0604020202020204" pitchFamily="34" charset="0"/>
            </a:endParaRPr>
          </a:p>
          <a:p>
            <a:pPr marL="0" indent="0">
              <a:lnSpc>
                <a:spcPct val="120000"/>
              </a:lnSpc>
              <a:buNone/>
            </a:pPr>
            <a:endParaRPr lang="en-US" altLang="zh-CN" sz="2400" dirty="0">
              <a:latin typeface="Arial" panose="020B0604020202020204" pitchFamily="34" charset="0"/>
              <a:cs typeface="Arial" panose="020B0604020202020204" pitchFamily="34" charset="0"/>
            </a:endParaRPr>
          </a:p>
          <a:p>
            <a:pPr lvl="1">
              <a:lnSpc>
                <a:spcPct val="120000"/>
              </a:lnSpc>
            </a:pPr>
            <a:r>
              <a:rPr lang="en-US" altLang="zh-CN" sz="2000" i="1" dirty="0" err="1">
                <a:latin typeface="Arial" panose="020B0604020202020204" pitchFamily="34" charset="0"/>
                <a:cs typeface="Arial" panose="020B0604020202020204" pitchFamily="34" charset="0"/>
              </a:rPr>
              <a:t>E</a:t>
            </a:r>
            <a:r>
              <a:rPr lang="en-US" altLang="zh-CN" sz="2000" i="1" baseline="-25000" dirty="0" err="1">
                <a:latin typeface="Arial" panose="020B0604020202020204" pitchFamily="34" charset="0"/>
                <a:cs typeface="Arial" panose="020B0604020202020204" pitchFamily="34" charset="0"/>
              </a:rPr>
              <a:t>i</a:t>
            </a:r>
            <a:r>
              <a:rPr lang="en-US" altLang="zh-CN" sz="2000" i="1" dirty="0">
                <a:latin typeface="Arial" panose="020B0604020202020204" pitchFamily="34" charset="0"/>
                <a:cs typeface="Arial" panose="020B0604020202020204" pitchFamily="34" charset="0"/>
              </a:rPr>
              <a:t>(t)  </a:t>
            </a:r>
            <a:r>
              <a:rPr lang="en-US" altLang="zh-CN" sz="2000" dirty="0">
                <a:latin typeface="Arial" panose="020B0604020202020204" pitchFamily="34" charset="0"/>
                <a:cs typeface="Arial" panose="020B0604020202020204" pitchFamily="34" charset="0"/>
              </a:rPr>
              <a:t>is node </a:t>
            </a:r>
            <a:r>
              <a:rPr lang="en-US" altLang="zh-CN" sz="2000" i="1" dirty="0">
                <a:latin typeface="Arial" panose="020B0604020202020204" pitchFamily="34" charset="0"/>
                <a:cs typeface="Arial" panose="020B0604020202020204" pitchFamily="34" charset="0"/>
              </a:rPr>
              <a:t> i </a:t>
            </a:r>
            <a:r>
              <a:rPr lang="en-US" altLang="zh-CN" sz="2000" dirty="0">
                <a:latin typeface="Arial" panose="020B0604020202020204" pitchFamily="34" charset="0"/>
                <a:cs typeface="Arial" panose="020B0604020202020204" pitchFamily="34" charset="0"/>
              </a:rPr>
              <a:t>ʼ s actual current energy and </a:t>
            </a:r>
            <a:r>
              <a:rPr lang="en-US" altLang="zh-CN" sz="2000" i="1" dirty="0" err="1">
                <a:latin typeface="Arial" panose="020B0604020202020204" pitchFamily="34" charset="0"/>
                <a:cs typeface="Arial" panose="020B0604020202020204" pitchFamily="34" charset="0"/>
              </a:rPr>
              <a:t>E</a:t>
            </a:r>
            <a:r>
              <a:rPr lang="en-US" altLang="zh-CN" sz="2000" i="1" baseline="-25000" dirty="0" err="1">
                <a:latin typeface="Arial" panose="020B0604020202020204" pitchFamily="34" charset="0"/>
                <a:cs typeface="Arial" panose="020B0604020202020204" pitchFamily="34" charset="0"/>
              </a:rPr>
              <a:t>total</a:t>
            </a:r>
            <a:r>
              <a:rPr lang="en-US" altLang="zh-CN" sz="2000" i="1" dirty="0">
                <a:latin typeface="Arial" panose="020B0604020202020204" pitchFamily="34" charset="0"/>
                <a:cs typeface="Arial" panose="020B0604020202020204" pitchFamily="34" charset="0"/>
              </a:rPr>
              <a:t>(t)  </a:t>
            </a:r>
            <a:r>
              <a:rPr lang="en-US" altLang="zh-CN" sz="2000" dirty="0">
                <a:latin typeface="Arial" panose="020B0604020202020204" pitchFamily="34" charset="0"/>
                <a:cs typeface="Arial" panose="020B0604020202020204" pitchFamily="34" charset="0"/>
              </a:rPr>
              <a:t>is the sum of the energy levels of all nodes </a:t>
            </a:r>
          </a:p>
          <a:p>
            <a:pPr lvl="1">
              <a:lnSpc>
                <a:spcPct val="120000"/>
              </a:lnSpc>
            </a:pPr>
            <a:r>
              <a:rPr lang="en-US" altLang="zh-CN" sz="2000" dirty="0">
                <a:latin typeface="Arial" panose="020B0604020202020204" pitchFamily="34" charset="0"/>
                <a:cs typeface="Arial" panose="020B0604020202020204" pitchFamily="34" charset="0"/>
              </a:rPr>
              <a:t>a disadvantage of this approach is that every node must know (or estimate) </a:t>
            </a:r>
            <a:r>
              <a:rPr lang="en-US" altLang="zh-CN" sz="2000" i="1" dirty="0" err="1">
                <a:latin typeface="Arial" panose="020B0604020202020204" pitchFamily="34" charset="0"/>
                <a:cs typeface="Arial" panose="020B0604020202020204" pitchFamily="34" charset="0"/>
              </a:rPr>
              <a:t>E</a:t>
            </a:r>
            <a:r>
              <a:rPr lang="en-US" altLang="zh-CN" sz="2000" i="1" baseline="-25000" dirty="0" err="1">
                <a:latin typeface="Arial" panose="020B0604020202020204" pitchFamily="34" charset="0"/>
                <a:cs typeface="Arial" panose="020B0604020202020204" pitchFamily="34" charset="0"/>
              </a:rPr>
              <a:t>total</a:t>
            </a:r>
            <a:r>
              <a:rPr lang="en-US" altLang="zh-CN" sz="2000" i="1" dirty="0">
                <a:latin typeface="Arial" panose="020B0604020202020204" pitchFamily="34" charset="0"/>
                <a:cs typeface="Arial" panose="020B0604020202020204" pitchFamily="34" charset="0"/>
              </a:rPr>
              <a:t>(t) </a:t>
            </a:r>
            <a:endParaRPr lang="zh-CN" altLang="en-US" sz="2000" i="1" dirty="0">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4415" y="3860349"/>
            <a:ext cx="3143169" cy="889576"/>
          </a:xfrm>
          <a:prstGeom prst="rect">
            <a:avLst/>
          </a:prstGeom>
        </p:spPr>
      </p:pic>
    </p:spTree>
    <p:extLst>
      <p:ext uri="{BB962C8B-B14F-4D97-AF65-F5344CB8AC3E}">
        <p14:creationId xmlns:p14="http://schemas.microsoft.com/office/powerpoint/2010/main" val="2419460522"/>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Low-Energy Adaptive Clustering Hierarchy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4"/>
            <a:ext cx="10671441" cy="4852446"/>
          </a:xfrm>
        </p:spPr>
        <p:txBody>
          <a:bodyPr>
            <a:normAutofit/>
          </a:bodyPr>
          <a:lstStyle/>
          <a:p>
            <a:pPr>
              <a:lnSpc>
                <a:spcPct val="110000"/>
              </a:lnSpc>
            </a:pPr>
            <a:r>
              <a:rPr lang="en-US" altLang="zh-CN" sz="2400" dirty="0">
                <a:latin typeface="Arial" panose="020B0604020202020204" pitchFamily="34" charset="0"/>
                <a:cs typeface="Arial" panose="020B0604020202020204" pitchFamily="34" charset="0"/>
              </a:rPr>
              <a:t>Once a sensor node has determined that it will serve as cluster head for the next round, it informs other sensor nodes of its new role by broadcasting an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advertisement message (ADV)  </a:t>
            </a:r>
            <a:r>
              <a:rPr lang="en-US" altLang="zh-CN" sz="2400" dirty="0">
                <a:latin typeface="Arial" panose="020B0604020202020204" pitchFamily="34" charset="0"/>
                <a:cs typeface="Arial" panose="020B0604020202020204" pitchFamily="34" charset="0"/>
              </a:rPr>
              <a:t>using a non-persistent CSMA protocol </a:t>
            </a:r>
          </a:p>
          <a:p>
            <a:pPr>
              <a:lnSpc>
                <a:spcPct val="110000"/>
              </a:lnSpc>
            </a:pPr>
            <a:r>
              <a:rPr lang="en-US" altLang="zh-CN" sz="2400" dirty="0">
                <a:latin typeface="Arial" panose="020B0604020202020204" pitchFamily="34" charset="0"/>
                <a:cs typeface="Arial" panose="020B0604020202020204" pitchFamily="34" charset="0"/>
              </a:rPr>
              <a:t>Every sensor node joins a cluster by selecting the cluster head that can be reached with the smallest amount of transmit energy, based on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received signal strength </a:t>
            </a:r>
            <a:r>
              <a:rPr lang="en-US" altLang="zh-CN" sz="2400" dirty="0">
                <a:latin typeface="Arial" panose="020B0604020202020204" pitchFamily="34" charset="0"/>
                <a:cs typeface="Arial" panose="020B0604020202020204" pitchFamily="34" charset="0"/>
              </a:rPr>
              <a:t>of the ADV messages from the cluster heads</a:t>
            </a:r>
          </a:p>
          <a:p>
            <a:pPr>
              <a:lnSpc>
                <a:spcPct val="110000"/>
              </a:lnSpc>
            </a:pPr>
            <a:r>
              <a:rPr lang="en-US" altLang="zh-CN" sz="2400" dirty="0">
                <a:latin typeface="Arial" panose="020B0604020202020204" pitchFamily="34" charset="0"/>
                <a:cs typeface="Arial" panose="020B0604020202020204" pitchFamily="34" charset="0"/>
              </a:rPr>
              <a:t>Joining is achieved by transmitting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a join-request (Join-REQ)  </a:t>
            </a:r>
            <a:r>
              <a:rPr lang="en-US" altLang="zh-CN" sz="2400" dirty="0">
                <a:latin typeface="Arial" panose="020B0604020202020204" pitchFamily="34" charset="0"/>
                <a:cs typeface="Arial" panose="020B0604020202020204" pitchFamily="34" charset="0"/>
              </a:rPr>
              <a:t>message to the chosen cluster head using CSMA </a:t>
            </a:r>
          </a:p>
          <a:p>
            <a:pPr>
              <a:lnSpc>
                <a:spcPct val="110000"/>
              </a:lnSpc>
            </a:pPr>
            <a:r>
              <a:rPr lang="en-US" altLang="zh-CN" sz="2400" dirty="0">
                <a:latin typeface="Arial" panose="020B0604020202020204" pitchFamily="34" charset="0"/>
                <a:cs typeface="Arial" panose="020B0604020202020204" pitchFamily="34" charset="0"/>
              </a:rPr>
              <a:t>The cluster head establishes a transmission schedule for its cluster and transmits this schedule to each node in its cluster </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066432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Low-Energy Adaptive Clustering Hierarchy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4887841"/>
          </a:xfrm>
        </p:spPr>
        <p:txBody>
          <a:bodyPr>
            <a:normAutofit/>
          </a:bodyPr>
          <a:lstStyle/>
          <a:p>
            <a:pPr>
              <a:lnSpc>
                <a:spcPct val="11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Steady-state phase</a:t>
            </a:r>
          </a:p>
          <a:p>
            <a:pPr lvl="1">
              <a:lnSpc>
                <a:spcPct val="110000"/>
              </a:lnSpc>
            </a:pPr>
            <a:r>
              <a:rPr lang="en-US" altLang="zh-CN" sz="2000" dirty="0">
                <a:latin typeface="Arial" panose="020B0604020202020204" pitchFamily="34" charset="0"/>
                <a:cs typeface="Arial" panose="020B0604020202020204" pitchFamily="34" charset="0"/>
              </a:rPr>
              <a:t>a sensor node communicates only with the cluster head  </a:t>
            </a:r>
          </a:p>
          <a:p>
            <a:pPr lvl="2">
              <a:lnSpc>
                <a:spcPct val="110000"/>
              </a:lnSpc>
            </a:pPr>
            <a:r>
              <a:rPr lang="en-US" altLang="zh-CN" sz="1800" dirty="0">
                <a:latin typeface="Arial" panose="020B0604020202020204" pitchFamily="34" charset="0"/>
                <a:cs typeface="Arial" panose="020B0604020202020204" pitchFamily="34" charset="0"/>
              </a:rPr>
              <a:t>it is allowed to transmit data only during its allocated slots (indicated by the schedule received from the cluster head)</a:t>
            </a:r>
          </a:p>
          <a:p>
            <a:pPr lvl="1">
              <a:lnSpc>
                <a:spcPct val="110000"/>
              </a:lnSpc>
            </a:pPr>
            <a:r>
              <a:rPr lang="en-US" altLang="zh-CN" sz="2000" dirty="0">
                <a:latin typeface="Arial" panose="020B0604020202020204" pitchFamily="34" charset="0"/>
                <a:cs typeface="Arial" panose="020B0604020202020204" pitchFamily="34" charset="0"/>
              </a:rPr>
              <a:t>the responsibility of the cluster head is to forward sensor data originating at one of its sensor nodes to the base station </a:t>
            </a:r>
          </a:p>
          <a:p>
            <a:pPr lvl="1">
              <a:lnSpc>
                <a:spcPct val="110000"/>
              </a:lnSpc>
            </a:pPr>
            <a:r>
              <a:rPr lang="en-US" altLang="zh-CN" sz="2000" dirty="0">
                <a:latin typeface="Arial" panose="020B0604020202020204" pitchFamily="34" charset="0"/>
                <a:cs typeface="Arial" panose="020B0604020202020204" pitchFamily="34" charset="0"/>
              </a:rPr>
              <a:t>in order to preserve energy</a:t>
            </a:r>
          </a:p>
          <a:p>
            <a:pPr lvl="2">
              <a:lnSpc>
                <a:spcPct val="110000"/>
              </a:lnSpc>
            </a:pPr>
            <a:r>
              <a:rPr lang="en-US" altLang="zh-CN" sz="1800" dirty="0">
                <a:latin typeface="Arial" panose="020B0604020202020204" pitchFamily="34" charset="0"/>
                <a:cs typeface="Arial" panose="020B0604020202020204" pitchFamily="34" charset="0"/>
              </a:rPr>
              <a:t>each cluster member uses the minimum required transmit power to reach the cluster head </a:t>
            </a:r>
          </a:p>
          <a:p>
            <a:pPr lvl="2">
              <a:lnSpc>
                <a:spcPct val="110000"/>
              </a:lnSpc>
            </a:pPr>
            <a:r>
              <a:rPr lang="en-US" altLang="zh-CN" sz="1800" dirty="0">
                <a:latin typeface="Arial" panose="020B0604020202020204" pitchFamily="34" charset="0"/>
                <a:cs typeface="Arial" panose="020B0604020202020204" pitchFamily="34" charset="0"/>
              </a:rPr>
              <a:t>each cluster member turns off the wireless radio between its designated slots </a:t>
            </a:r>
          </a:p>
          <a:p>
            <a:pPr lvl="1">
              <a:lnSpc>
                <a:spcPct val="110000"/>
              </a:lnSpc>
            </a:pPr>
            <a:r>
              <a:rPr lang="en-US" altLang="zh-CN" sz="2000" dirty="0">
                <a:latin typeface="Arial" panose="020B0604020202020204" pitchFamily="34" charset="0"/>
                <a:cs typeface="Arial" panose="020B0604020202020204" pitchFamily="34" charset="0"/>
              </a:rPr>
              <a:t>the cluster head remains awake at all times</a:t>
            </a:r>
          </a:p>
          <a:p>
            <a:pPr lvl="2">
              <a:lnSpc>
                <a:spcPct val="110000"/>
              </a:lnSpc>
            </a:pPr>
            <a:r>
              <a:rPr lang="en-US" altLang="zh-CN" sz="1800" dirty="0">
                <a:latin typeface="Arial" panose="020B0604020202020204" pitchFamily="34" charset="0"/>
                <a:cs typeface="Arial" panose="020B0604020202020204" pitchFamily="34" charset="0"/>
              </a:rPr>
              <a:t>to receive sensor data from its cluster members </a:t>
            </a:r>
          </a:p>
          <a:p>
            <a:pPr lvl="2">
              <a:lnSpc>
                <a:spcPct val="110000"/>
              </a:lnSpc>
            </a:pPr>
            <a:r>
              <a:rPr lang="en-US" altLang="zh-CN" sz="1800" dirty="0">
                <a:latin typeface="Arial" panose="020B0604020202020204" pitchFamily="34" charset="0"/>
                <a:cs typeface="Arial" panose="020B0604020202020204" pitchFamily="34" charset="0"/>
              </a:rPr>
              <a:t>to communicate with the base station </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0497980"/>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Low-Energy Adaptive Clustering Hierarchy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8800"/>
            <a:ext cx="11031302" cy="5029200"/>
          </a:xfrm>
        </p:spPr>
        <p:txBody>
          <a:bodyPr>
            <a:normAutofit lnSpcReduction="10000"/>
          </a:bodyPr>
          <a:lstStyle/>
          <a:p>
            <a:pPr>
              <a:lnSpc>
                <a:spcPct val="110000"/>
              </a:lnSpc>
            </a:pPr>
            <a:r>
              <a:rPr lang="en-US" altLang="zh-CN" sz="2200" dirty="0">
                <a:latin typeface="Arial" panose="020B0604020202020204" pitchFamily="34" charset="0"/>
                <a:cs typeface="Arial" panose="020B0604020202020204" pitchFamily="34" charset="0"/>
              </a:rPr>
              <a:t>Sensor nodes use the </a:t>
            </a:r>
            <a:r>
              <a:rPr lang="en-US" altLang="zh-CN" sz="2200" dirty="0">
                <a:solidFill>
                  <a:schemeClr val="tx2">
                    <a:lumMod val="75000"/>
                    <a:lumOff val="25000"/>
                  </a:schemeClr>
                </a:solidFill>
                <a:latin typeface="Arial" panose="020B0604020202020204" pitchFamily="34" charset="0"/>
                <a:cs typeface="Arial" panose="020B0604020202020204" pitchFamily="34" charset="0"/>
              </a:rPr>
              <a:t>direct sequence spread spectrum  (DSSS)  </a:t>
            </a:r>
            <a:r>
              <a:rPr lang="zh-CN" altLang="en-US" sz="2200" dirty="0">
                <a:solidFill>
                  <a:schemeClr val="tx2">
                    <a:lumMod val="75000"/>
                    <a:lumOff val="25000"/>
                  </a:schemeClr>
                </a:solidFill>
                <a:latin typeface="Arial" panose="020B0604020202020204" pitchFamily="34" charset="0"/>
                <a:cs typeface="Arial" panose="020B0604020202020204" pitchFamily="34" charset="0"/>
              </a:rPr>
              <a:t>直接序列扩频</a:t>
            </a:r>
            <a:r>
              <a:rPr lang="en-US" altLang="zh-CN" sz="2200" dirty="0">
                <a:latin typeface="Arial" panose="020B0604020202020204" pitchFamily="34" charset="0"/>
                <a:cs typeface="Arial" panose="020B0604020202020204" pitchFamily="34" charset="0"/>
              </a:rPr>
              <a:t>technique to limit the interference among clusters, while intra-cluster communication is contention-free using TDMA-style frames and slots</a:t>
            </a:r>
          </a:p>
          <a:p>
            <a:pPr>
              <a:lnSpc>
                <a:spcPct val="110000"/>
              </a:lnSpc>
            </a:pPr>
            <a:r>
              <a:rPr lang="en-US" altLang="zh-CN" sz="2200" dirty="0">
                <a:latin typeface="Arial" panose="020B0604020202020204" pitchFamily="34" charset="0"/>
                <a:cs typeface="Arial" panose="020B0604020202020204" pitchFamily="34" charset="0"/>
              </a:rPr>
              <a:t>Communication occurring in one cluster can still interfere with communication in another cluster </a:t>
            </a:r>
          </a:p>
          <a:p>
            <a:pPr>
              <a:lnSpc>
                <a:spcPct val="110000"/>
              </a:lnSpc>
            </a:pPr>
            <a:r>
              <a:rPr lang="en-US" altLang="zh-CN" sz="2200" dirty="0">
                <a:latin typeface="Arial" panose="020B0604020202020204" pitchFamily="34" charset="0"/>
                <a:cs typeface="Arial" panose="020B0604020202020204" pitchFamily="34" charset="0"/>
              </a:rPr>
              <a:t>Each cluster uses a spreading sequence that is different from the spreading sequences used in neighboring clusters </a:t>
            </a:r>
          </a:p>
          <a:p>
            <a:pPr>
              <a:lnSpc>
                <a:spcPct val="110000"/>
              </a:lnSpc>
            </a:pPr>
            <a:r>
              <a:rPr lang="en-US" altLang="zh-CN" sz="2200" dirty="0">
                <a:latin typeface="Arial" panose="020B0604020202020204" pitchFamily="34" charset="0"/>
                <a:cs typeface="Arial" panose="020B0604020202020204" pitchFamily="34" charset="0"/>
              </a:rPr>
              <a:t>Another reserved sequence is used for communication between cluster heads and the base station</a:t>
            </a:r>
          </a:p>
          <a:p>
            <a:pPr>
              <a:lnSpc>
                <a:spcPct val="110000"/>
              </a:lnSpc>
            </a:pPr>
            <a:r>
              <a:rPr lang="en-US" altLang="zh-CN" sz="2200" dirty="0">
                <a:latin typeface="Arial" panose="020B0604020202020204" pitchFamily="34" charset="0"/>
                <a:cs typeface="Arial" panose="020B0604020202020204" pitchFamily="34" charset="0"/>
              </a:rPr>
              <a:t>Communication between cluster heads and base station is based on CSMA</a:t>
            </a:r>
          </a:p>
          <a:p>
            <a:pPr>
              <a:lnSpc>
                <a:spcPct val="110000"/>
              </a:lnSpc>
            </a:pPr>
            <a:r>
              <a:rPr lang="en-US" altLang="zh-CN" sz="2200" dirty="0">
                <a:latin typeface="Arial" panose="020B0604020202020204" pitchFamily="34" charset="0"/>
                <a:cs typeface="Arial" panose="020B0604020202020204" pitchFamily="34" charset="0"/>
              </a:rPr>
              <a:t>Before a cluster head transmits data, it first senses the channel to see if there is an ongoing transmission using the same spreading code</a:t>
            </a:r>
            <a:endParaRPr lang="zh-CN" alt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1039620"/>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Low-Energy Adaptive Clustering Hierarchy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293883" cy="4351338"/>
          </a:xfrm>
        </p:spPr>
        <p:txBody>
          <a:bodyPr>
            <a:normAutofit/>
          </a:bodyPr>
          <a:lstStyle/>
          <a:p>
            <a:pPr>
              <a:lnSpc>
                <a:spcPct val="12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LEACH-C</a:t>
            </a:r>
          </a:p>
          <a:p>
            <a:pPr lvl="1">
              <a:lnSpc>
                <a:spcPct val="120000"/>
              </a:lnSpc>
            </a:pPr>
            <a:r>
              <a:rPr lang="en-US" altLang="zh-CN" sz="2000" dirty="0">
                <a:latin typeface="Arial" panose="020B0604020202020204" pitchFamily="34" charset="0"/>
                <a:cs typeface="Arial" panose="020B0604020202020204" pitchFamily="34" charset="0"/>
              </a:rPr>
              <a:t>variation of LEACH protocol</a:t>
            </a:r>
          </a:p>
          <a:p>
            <a:pPr lvl="1">
              <a:lnSpc>
                <a:spcPct val="120000"/>
              </a:lnSpc>
            </a:pPr>
            <a:r>
              <a:rPr lang="en-US" altLang="zh-CN" sz="2000" dirty="0">
                <a:latin typeface="Arial" panose="020B0604020202020204" pitchFamily="34" charset="0"/>
                <a:cs typeface="Arial" panose="020B0604020202020204" pitchFamily="34" charset="0"/>
              </a:rPr>
              <a:t>relies on the base station to determine the cluster heads</a:t>
            </a:r>
          </a:p>
          <a:p>
            <a:pPr lvl="2">
              <a:lnSpc>
                <a:spcPct val="120000"/>
              </a:lnSpc>
            </a:pPr>
            <a:r>
              <a:rPr lang="en-US" altLang="zh-CN" sz="1800" dirty="0">
                <a:latin typeface="Arial" panose="020B0604020202020204" pitchFamily="34" charset="0"/>
                <a:cs typeface="Arial" panose="020B0604020202020204" pitchFamily="34" charset="0"/>
              </a:rPr>
              <a:t>during setup phase, each sensor node transmits its location and energy levels to the base station</a:t>
            </a:r>
          </a:p>
          <a:p>
            <a:pPr lvl="2">
              <a:lnSpc>
                <a:spcPct val="120000"/>
              </a:lnSpc>
            </a:pPr>
            <a:r>
              <a:rPr lang="en-US" altLang="zh-CN" sz="1800" dirty="0">
                <a:latin typeface="Arial" panose="020B0604020202020204" pitchFamily="34" charset="0"/>
                <a:cs typeface="Arial" panose="020B0604020202020204" pitchFamily="34" charset="0"/>
              </a:rPr>
              <a:t>based on this information, the base station determines the cluster heads and informs the cluster heads of their new role</a:t>
            </a:r>
          </a:p>
          <a:p>
            <a:pPr lvl="2">
              <a:lnSpc>
                <a:spcPct val="120000"/>
              </a:lnSpc>
            </a:pPr>
            <a:r>
              <a:rPr lang="en-US" altLang="zh-CN" sz="1800" dirty="0">
                <a:latin typeface="Arial" panose="020B0604020202020204" pitchFamily="34" charset="0"/>
                <a:cs typeface="Arial" panose="020B0604020202020204" pitchFamily="34" charset="0"/>
              </a:rPr>
              <a:t>other sensor nodes can then join clusters using join messages as described in the original LEACH protocol</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1461303"/>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Low-Energy Adaptive Clustering Hierarchy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4"/>
            <a:ext cx="11253187" cy="5032375"/>
          </a:xfrm>
        </p:spPr>
        <p:txBody>
          <a:bodyPr>
            <a:normAutofit/>
          </a:bodyPr>
          <a:lstStyle/>
          <a:p>
            <a:pPr>
              <a:lnSpc>
                <a:spcPct val="110000"/>
              </a:lnSpc>
            </a:pPr>
            <a:r>
              <a:rPr lang="en-US" altLang="zh-CN" sz="2400" dirty="0">
                <a:latin typeface="Arial" panose="020B0604020202020204" pitchFamily="34" charset="0"/>
                <a:cs typeface="Arial" panose="020B0604020202020204" pitchFamily="34" charset="0"/>
              </a:rPr>
              <a:t>Summary</a:t>
            </a:r>
          </a:p>
          <a:p>
            <a:pPr lvl="1">
              <a:lnSpc>
                <a:spcPct val="110000"/>
              </a:lnSpc>
            </a:pPr>
            <a:r>
              <a:rPr lang="en-US" altLang="zh-CN" sz="2000" dirty="0">
                <a:latin typeface="Arial" panose="020B0604020202020204" pitchFamily="34" charset="0"/>
                <a:cs typeface="Arial" panose="020B0604020202020204" pitchFamily="34" charset="0"/>
              </a:rPr>
              <a:t>LEACH relies on a variety of techniques to reduce energy consumption</a:t>
            </a:r>
          </a:p>
          <a:p>
            <a:pPr lvl="2">
              <a:lnSpc>
                <a:spcPct val="110000"/>
              </a:lnSpc>
            </a:pPr>
            <a:r>
              <a:rPr lang="en-US" altLang="zh-CN" sz="1800" dirty="0">
                <a:latin typeface="Arial" panose="020B0604020202020204" pitchFamily="34" charset="0"/>
                <a:cs typeface="Arial" panose="020B0604020202020204" pitchFamily="34" charset="0"/>
              </a:rPr>
              <a:t>minimum transmit energy</a:t>
            </a:r>
          </a:p>
          <a:p>
            <a:pPr lvl="2">
              <a:lnSpc>
                <a:spcPct val="110000"/>
              </a:lnSpc>
            </a:pPr>
            <a:r>
              <a:rPr lang="en-US" altLang="zh-CN" sz="1800" dirty="0">
                <a:latin typeface="Arial" panose="020B0604020202020204" pitchFamily="34" charset="0"/>
                <a:cs typeface="Arial" panose="020B0604020202020204" pitchFamily="34" charset="0"/>
              </a:rPr>
              <a:t>avoiding idle listening of cluster members</a:t>
            </a:r>
          </a:p>
          <a:p>
            <a:pPr lvl="1">
              <a:lnSpc>
                <a:spcPct val="110000"/>
              </a:lnSpc>
            </a:pPr>
            <a:r>
              <a:rPr lang="en-US" altLang="zh-CN" sz="2000" dirty="0">
                <a:latin typeface="Arial" panose="020B0604020202020204" pitchFamily="34" charset="0"/>
                <a:cs typeface="Arial" panose="020B0604020202020204" pitchFamily="34" charset="0"/>
              </a:rPr>
              <a:t>LEACH attempts to obtain contention-free communication </a:t>
            </a:r>
          </a:p>
          <a:p>
            <a:pPr lvl="2">
              <a:lnSpc>
                <a:spcPct val="110000"/>
              </a:lnSpc>
            </a:pPr>
            <a:r>
              <a:rPr lang="en-US" altLang="zh-CN" sz="1800" dirty="0">
                <a:latin typeface="Arial" panose="020B0604020202020204" pitchFamily="34" charset="0"/>
                <a:cs typeface="Arial" panose="020B0604020202020204" pitchFamily="34" charset="0"/>
              </a:rPr>
              <a:t>schedule-based communication</a:t>
            </a:r>
          </a:p>
          <a:p>
            <a:pPr lvl="2">
              <a:lnSpc>
                <a:spcPct val="110000"/>
              </a:lnSpc>
            </a:pPr>
            <a:r>
              <a:rPr lang="en-US" altLang="zh-CN" sz="1800" dirty="0">
                <a:latin typeface="Arial" panose="020B0604020202020204" pitchFamily="34" charset="0"/>
                <a:cs typeface="Arial" panose="020B0604020202020204" pitchFamily="34" charset="0"/>
              </a:rPr>
              <a:t>DSSS </a:t>
            </a:r>
          </a:p>
          <a:p>
            <a:pPr lvl="1">
              <a:lnSpc>
                <a:spcPct val="110000"/>
              </a:lnSpc>
            </a:pPr>
            <a:r>
              <a:rPr lang="en-US" altLang="zh-CN" sz="2000" dirty="0">
                <a:latin typeface="Arial" panose="020B0604020202020204" pitchFamily="34" charset="0"/>
                <a:cs typeface="Arial" panose="020B0604020202020204" pitchFamily="34" charset="0"/>
              </a:rPr>
              <a:t>intra-cluster communication is contention-free and interferences among clusters are avoided</a:t>
            </a:r>
          </a:p>
          <a:p>
            <a:pPr lvl="1">
              <a:lnSpc>
                <a:spcPct val="110000"/>
              </a:lnSpc>
            </a:pPr>
            <a:r>
              <a:rPr lang="en-US" altLang="zh-CN" sz="2000" dirty="0">
                <a:latin typeface="Arial" panose="020B0604020202020204" pitchFamily="34" charset="0"/>
                <a:cs typeface="Arial" panose="020B0604020202020204" pitchFamily="34" charset="0"/>
              </a:rPr>
              <a:t>communication between the cluster heads and the base station is still based on CSMA</a:t>
            </a:r>
          </a:p>
          <a:p>
            <a:pPr lvl="1">
              <a:lnSpc>
                <a:spcPct val="110000"/>
              </a:lnSpc>
            </a:pPr>
            <a:r>
              <a:rPr lang="en-US" altLang="zh-CN" sz="2000" dirty="0">
                <a:latin typeface="Arial" panose="020B0604020202020204" pitchFamily="34" charset="0"/>
                <a:cs typeface="Arial" panose="020B0604020202020204" pitchFamily="34" charset="0"/>
              </a:rPr>
              <a:t>assumes that all nodes are able to reach the base station (affects the scalability of this protocol; can be addressed using multi-hop routing or by implementing a hierarchical clustering approach) </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81043"/>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Y-MAC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351338"/>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Y-MAC uses TDMA-based medium access but for multiple channels</a:t>
            </a:r>
          </a:p>
          <a:p>
            <a:pPr>
              <a:lnSpc>
                <a:spcPct val="120000"/>
              </a:lnSpc>
            </a:pPr>
            <a:r>
              <a:rPr lang="en-US" altLang="zh-CN" sz="2400" dirty="0">
                <a:latin typeface="Arial" panose="020B0604020202020204" pitchFamily="34" charset="0"/>
                <a:cs typeface="Arial" panose="020B0604020202020204" pitchFamily="34" charset="0"/>
              </a:rPr>
              <a:t>Divides time into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frames</a:t>
            </a:r>
            <a:r>
              <a:rPr lang="en-US" altLang="zh-CN" sz="2400" dirty="0">
                <a:latin typeface="Arial" panose="020B0604020202020204" pitchFamily="34" charset="0"/>
                <a:cs typeface="Arial" panose="020B0604020202020204" pitchFamily="34" charset="0"/>
              </a:rPr>
              <a:t> and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slots</a:t>
            </a:r>
            <a:endParaRPr lang="en-US" altLang="zh-CN" sz="2400" dirty="0">
              <a:latin typeface="Arial" panose="020B0604020202020204" pitchFamily="34" charset="0"/>
              <a:cs typeface="Arial" panose="020B0604020202020204" pitchFamily="34" charset="0"/>
            </a:endParaRPr>
          </a:p>
          <a:p>
            <a:pPr lvl="1">
              <a:lnSpc>
                <a:spcPct val="120000"/>
              </a:lnSpc>
            </a:pPr>
            <a:r>
              <a:rPr lang="en-US" altLang="zh-CN" sz="2000" dirty="0">
                <a:latin typeface="Arial" panose="020B0604020202020204" pitchFamily="34" charset="0"/>
                <a:cs typeface="Arial" panose="020B0604020202020204" pitchFamily="34" charset="0"/>
              </a:rPr>
              <a:t>each frame contains a broadcast period and a unicast period </a:t>
            </a:r>
          </a:p>
          <a:p>
            <a:pPr lvl="1">
              <a:lnSpc>
                <a:spcPct val="120000"/>
              </a:lnSpc>
            </a:pPr>
            <a:r>
              <a:rPr lang="en-US" altLang="zh-CN" sz="2000" dirty="0">
                <a:latin typeface="Arial" panose="020B0604020202020204" pitchFamily="34" charset="0"/>
                <a:cs typeface="Arial" panose="020B0604020202020204" pitchFamily="34" charset="0"/>
              </a:rPr>
              <a:t>every node must wake up at the beginning of a broadcast period </a:t>
            </a:r>
          </a:p>
          <a:p>
            <a:pPr lvl="1">
              <a:lnSpc>
                <a:spcPct val="120000"/>
              </a:lnSpc>
            </a:pPr>
            <a:r>
              <a:rPr lang="en-US" altLang="zh-CN" sz="2000" dirty="0">
                <a:latin typeface="Arial" panose="020B0604020202020204" pitchFamily="34" charset="0"/>
                <a:cs typeface="Arial" panose="020B0604020202020204" pitchFamily="34" charset="0"/>
              </a:rPr>
              <a:t>nodes contend for access to the medium during this period </a:t>
            </a:r>
          </a:p>
          <a:p>
            <a:pPr lvl="2">
              <a:lnSpc>
                <a:spcPct val="120000"/>
              </a:lnSpc>
            </a:pPr>
            <a:r>
              <a:rPr lang="en-US" altLang="zh-CN" sz="1800" dirty="0">
                <a:latin typeface="Arial" panose="020B0604020202020204" pitchFamily="34" charset="0"/>
                <a:cs typeface="Arial" panose="020B0604020202020204" pitchFamily="34" charset="0"/>
              </a:rPr>
              <a:t>if there are no incoming broadcast messages, each node turns off its radio awaiting its first assigned slot in the unicast period </a:t>
            </a:r>
          </a:p>
          <a:p>
            <a:pPr lvl="2">
              <a:lnSpc>
                <a:spcPct val="120000"/>
              </a:lnSpc>
            </a:pPr>
            <a:r>
              <a:rPr lang="en-US" altLang="zh-CN" sz="1800" dirty="0">
                <a:latin typeface="Arial" panose="020B0604020202020204" pitchFamily="34" charset="0"/>
                <a:cs typeface="Arial" panose="020B0604020202020204" pitchFamily="34" charset="0"/>
              </a:rPr>
              <a:t>each slot in the unicast period is assigned to only one node for receiving data</a:t>
            </a:r>
          </a:p>
        </p:txBody>
      </p:sp>
    </p:spTree>
    <p:extLst>
      <p:ext uri="{BB962C8B-B14F-4D97-AF65-F5344CB8AC3E}">
        <p14:creationId xmlns:p14="http://schemas.microsoft.com/office/powerpoint/2010/main" val="219837951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Y-MAC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Y-MAC uses a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receiver-driven model </a:t>
            </a:r>
            <a:endParaRPr lang="en-US" altLang="zh-CN" sz="2400" dirty="0">
              <a:latin typeface="Arial" panose="020B0604020202020204" pitchFamily="34" charset="0"/>
              <a:cs typeface="Arial" panose="020B0604020202020204" pitchFamily="34" charset="0"/>
            </a:endParaRPr>
          </a:p>
          <a:p>
            <a:pPr lvl="1">
              <a:lnSpc>
                <a:spcPct val="120000"/>
              </a:lnSpc>
            </a:pPr>
            <a:r>
              <a:rPr lang="en-US" altLang="zh-CN" sz="2000" dirty="0">
                <a:latin typeface="Arial" panose="020B0604020202020204" pitchFamily="34" charset="0"/>
                <a:cs typeface="Arial" panose="020B0604020202020204" pitchFamily="34" charset="0"/>
              </a:rPr>
              <a:t>can be more energy-efficient under light traffic conditions, because each node samples the medium only in its own receive time slots </a:t>
            </a:r>
          </a:p>
          <a:p>
            <a:pPr lvl="1">
              <a:lnSpc>
                <a:spcPct val="120000"/>
              </a:lnSpc>
            </a:pPr>
            <a:r>
              <a:rPr lang="en-US" altLang="zh-CN" sz="2000" dirty="0">
                <a:latin typeface="Arial" panose="020B0604020202020204" pitchFamily="34" charset="0"/>
                <a:cs typeface="Arial" panose="020B0604020202020204" pitchFamily="34" charset="0"/>
              </a:rPr>
              <a:t>particularly important for radio transceivers, where the energy costs for receiving are greater than for transmitting (e.g., due to sophisticated </a:t>
            </a:r>
            <a:r>
              <a:rPr lang="en-US" altLang="zh-CN" sz="2000" dirty="0" err="1">
                <a:latin typeface="Arial" panose="020B0604020202020204" pitchFamily="34" charset="0"/>
                <a:cs typeface="Arial" panose="020B0604020202020204" pitchFamily="34" charset="0"/>
              </a:rPr>
              <a:t>despreading</a:t>
            </a:r>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解扩</a:t>
            </a:r>
            <a:r>
              <a:rPr lang="en-US" altLang="zh-CN" sz="2000" dirty="0">
                <a:latin typeface="Arial" panose="020B0604020202020204" pitchFamily="34" charset="0"/>
                <a:cs typeface="Arial" panose="020B0604020202020204" pitchFamily="34" charset="0"/>
              </a:rPr>
              <a:t>) and error correction techniques)</a:t>
            </a:r>
          </a:p>
          <a:p>
            <a:pPr>
              <a:lnSpc>
                <a:spcPct val="120000"/>
              </a:lnSpc>
            </a:pPr>
            <a:r>
              <a:rPr lang="en-US" altLang="zh-CN" sz="2400" dirty="0">
                <a:latin typeface="Arial" panose="020B0604020202020204" pitchFamily="34" charset="0"/>
                <a:cs typeface="Arial" panose="020B0604020202020204" pitchFamily="34" charset="0"/>
              </a:rPr>
              <a:t>Medium access in Y-MAC is based on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synchronous</a:t>
            </a:r>
            <a:r>
              <a:rPr lang="en-US" altLang="zh-CN" sz="2400" dirty="0">
                <a:latin typeface="Arial" panose="020B0604020202020204" pitchFamily="34" charset="0"/>
                <a:cs typeface="Arial" panose="020B0604020202020204" pitchFamily="34" charset="0"/>
              </a:rPr>
              <a:t>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low power listening</a:t>
            </a:r>
            <a:endParaRPr lang="en-US" altLang="zh-CN" sz="2400" dirty="0">
              <a:latin typeface="Arial" panose="020B0604020202020204" pitchFamily="34" charset="0"/>
              <a:cs typeface="Arial" panose="020B0604020202020204" pitchFamily="34" charset="0"/>
            </a:endParaRPr>
          </a:p>
          <a:p>
            <a:pPr lvl="1">
              <a:lnSpc>
                <a:spcPct val="120000"/>
              </a:lnSpc>
            </a:pP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3138514"/>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Y-MAC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527980"/>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The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contention window </a:t>
            </a:r>
            <a:r>
              <a:rPr lang="en-US" altLang="zh-CN" sz="2400" dirty="0">
                <a:latin typeface="Arial" panose="020B0604020202020204" pitchFamily="34" charset="0"/>
                <a:cs typeface="Arial" panose="020B0604020202020204" pitchFamily="34" charset="0"/>
              </a:rPr>
              <a:t>(at beginning of each slot) resolves contention between multiple senders</a:t>
            </a:r>
          </a:p>
          <a:p>
            <a:pPr lvl="1">
              <a:lnSpc>
                <a:spcPct val="120000"/>
              </a:lnSpc>
            </a:pPr>
            <a:r>
              <a:rPr lang="en-US" altLang="zh-CN" sz="2000" dirty="0">
                <a:latin typeface="Arial" panose="020B0604020202020204" pitchFamily="34" charset="0"/>
                <a:cs typeface="Arial" panose="020B0604020202020204" pitchFamily="34" charset="0"/>
              </a:rPr>
              <a:t>a node wishing to send data sets a random wait time (back-off value) within the contention window </a:t>
            </a:r>
          </a:p>
          <a:p>
            <a:pPr lvl="1">
              <a:lnSpc>
                <a:spcPct val="120000"/>
              </a:lnSpc>
            </a:pPr>
            <a:r>
              <a:rPr lang="en-US" altLang="zh-CN" sz="2000" dirty="0">
                <a:latin typeface="Arial" panose="020B0604020202020204" pitchFamily="34" charset="0"/>
                <a:cs typeface="Arial" panose="020B0604020202020204" pitchFamily="34" charset="0"/>
              </a:rPr>
              <a:t>after this wait time, the node wakes up and senses the medium for activity for a certain amount of time</a:t>
            </a:r>
          </a:p>
          <a:p>
            <a:pPr lvl="2">
              <a:lnSpc>
                <a:spcPct val="120000"/>
              </a:lnSpc>
            </a:pPr>
            <a:r>
              <a:rPr lang="en-US" altLang="zh-CN" sz="1800" dirty="0">
                <a:latin typeface="Arial" panose="020B0604020202020204" pitchFamily="34" charset="0"/>
                <a:cs typeface="Arial" panose="020B0604020202020204" pitchFamily="34" charset="0"/>
              </a:rPr>
              <a:t>if the medium is free, the node sends a  </a:t>
            </a:r>
            <a:r>
              <a:rPr lang="en-US" altLang="zh-CN" sz="1800" dirty="0">
                <a:solidFill>
                  <a:schemeClr val="tx2">
                    <a:lumMod val="75000"/>
                    <a:lumOff val="25000"/>
                  </a:schemeClr>
                </a:solidFill>
                <a:latin typeface="Arial" panose="020B0604020202020204" pitchFamily="34" charset="0"/>
                <a:cs typeface="Arial" panose="020B0604020202020204" pitchFamily="34" charset="0"/>
              </a:rPr>
              <a:t>preamble</a:t>
            </a:r>
            <a:r>
              <a:rPr lang="en-US" altLang="zh-CN" sz="1800" dirty="0">
                <a:latin typeface="Arial" panose="020B0604020202020204" pitchFamily="34" charset="0"/>
                <a:cs typeface="Arial" panose="020B0604020202020204" pitchFamily="34" charset="0"/>
              </a:rPr>
              <a:t> until the end of the contention window to suppress competing transmissions and the receiver wakes up at the end of the contention window to wait for packets in its assigned slot </a:t>
            </a:r>
          </a:p>
          <a:p>
            <a:pPr lvl="2">
              <a:lnSpc>
                <a:spcPct val="120000"/>
              </a:lnSpc>
            </a:pPr>
            <a:r>
              <a:rPr lang="en-US" altLang="zh-CN" sz="1800" dirty="0">
                <a:latin typeface="Arial" panose="020B0604020202020204" pitchFamily="34" charset="0"/>
                <a:cs typeface="Arial" panose="020B0604020202020204" pitchFamily="34" charset="0"/>
              </a:rPr>
              <a:t>if the medium receives no signal from any of its neighboring nodes, it turns off the radio and returns to the sleep mode </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987764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Y-MAC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5"/>
            <a:ext cx="11149289" cy="4545678"/>
          </a:xfrm>
        </p:spPr>
        <p:txBody>
          <a:bodyPr>
            <a:normAutofit/>
          </a:bodyPr>
          <a:lstStyle/>
          <a:p>
            <a:pPr>
              <a:lnSpc>
                <a:spcPct val="12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Unicast period</a:t>
            </a:r>
          </a:p>
          <a:p>
            <a:pPr lvl="1">
              <a:lnSpc>
                <a:spcPct val="120000"/>
              </a:lnSpc>
            </a:pPr>
            <a:r>
              <a:rPr lang="en-US" altLang="zh-CN" sz="2000" dirty="0">
                <a:latin typeface="Arial" panose="020B0604020202020204" pitchFamily="34" charset="0"/>
                <a:cs typeface="Arial" panose="020B0604020202020204" pitchFamily="34" charset="0"/>
              </a:rPr>
              <a:t>messages are initially exchanged on the base channel</a:t>
            </a:r>
          </a:p>
          <a:p>
            <a:pPr lvl="1">
              <a:lnSpc>
                <a:spcPct val="120000"/>
              </a:lnSpc>
            </a:pPr>
            <a:r>
              <a:rPr lang="en-US" altLang="zh-CN" sz="2000" dirty="0">
                <a:latin typeface="Arial" panose="020B0604020202020204" pitchFamily="34" charset="0"/>
                <a:cs typeface="Arial" panose="020B0604020202020204" pitchFamily="34" charset="0"/>
              </a:rPr>
              <a:t>at the beginning of its receive slot </a:t>
            </a:r>
          </a:p>
          <a:p>
            <a:pPr lvl="2">
              <a:lnSpc>
                <a:spcPct val="120000"/>
              </a:lnSpc>
            </a:pPr>
            <a:r>
              <a:rPr lang="en-US" altLang="zh-CN" sz="1800" dirty="0">
                <a:latin typeface="Arial" panose="020B0604020202020204" pitchFamily="34" charset="0"/>
                <a:cs typeface="Arial" panose="020B0604020202020204" pitchFamily="34" charset="0"/>
              </a:rPr>
              <a:t>a receiver switches its frequency to the base channel</a:t>
            </a:r>
          </a:p>
          <a:p>
            <a:pPr lvl="2">
              <a:lnSpc>
                <a:spcPct val="120000"/>
              </a:lnSpc>
            </a:pPr>
            <a:r>
              <a:rPr lang="en-US" altLang="zh-CN" sz="1800" dirty="0">
                <a:latin typeface="Arial" panose="020B0604020202020204" pitchFamily="34" charset="0"/>
                <a:cs typeface="Arial" panose="020B0604020202020204" pitchFamily="34" charset="0"/>
              </a:rPr>
              <a:t>the node that won the medium in the contention window also uses the base channel to transmit its packet</a:t>
            </a:r>
          </a:p>
          <a:p>
            <a:pPr lvl="2">
              <a:lnSpc>
                <a:spcPct val="120000"/>
              </a:lnSpc>
            </a:pPr>
            <a:r>
              <a:rPr lang="en-US" altLang="zh-CN" sz="1800" dirty="0">
                <a:latin typeface="Arial" panose="020B0604020202020204" pitchFamily="34" charset="0"/>
                <a:cs typeface="Arial" panose="020B0604020202020204" pitchFamily="34" charset="0"/>
              </a:rPr>
              <a:t>the receiver acknowledges this packet (if the acknowledgment request flag was set in the packet)</a:t>
            </a:r>
          </a:p>
          <a:p>
            <a:pPr>
              <a:lnSpc>
                <a:spcPct val="12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Broadcast period</a:t>
            </a:r>
          </a:p>
          <a:p>
            <a:pPr lvl="1">
              <a:lnSpc>
                <a:spcPct val="120000"/>
              </a:lnSpc>
            </a:pPr>
            <a:r>
              <a:rPr lang="en-US" altLang="zh-CN" sz="2000" dirty="0">
                <a:latin typeface="Arial" panose="020B0604020202020204" pitchFamily="34" charset="0"/>
                <a:cs typeface="Arial" panose="020B0604020202020204" pitchFamily="34" charset="0"/>
              </a:rPr>
              <a:t>every node tunes to the base channel </a:t>
            </a:r>
          </a:p>
          <a:p>
            <a:pPr lvl="1">
              <a:lnSpc>
                <a:spcPct val="120000"/>
              </a:lnSpc>
            </a:pPr>
            <a:r>
              <a:rPr lang="en-US" altLang="zh-CN" sz="2000" dirty="0">
                <a:latin typeface="Arial" panose="020B0604020202020204" pitchFamily="34" charset="0"/>
                <a:cs typeface="Arial" panose="020B0604020202020204" pitchFamily="34" charset="0"/>
              </a:rPr>
              <a:t>the potential senders take part in the contention process described above </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9884586"/>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Y-MAC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483462"/>
            <a:ext cx="10866120" cy="4351338"/>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Every node polls the medium only during broadcast time slots and its own unicast receive time slots</a:t>
            </a:r>
          </a:p>
          <a:p>
            <a:pPr lvl="1">
              <a:lnSpc>
                <a:spcPct val="120000"/>
              </a:lnSpc>
            </a:pPr>
            <a:r>
              <a:rPr lang="en-US" altLang="zh-CN" sz="2000" dirty="0">
                <a:latin typeface="Arial" panose="020B0604020202020204" pitchFamily="34" charset="0"/>
                <a:cs typeface="Arial" panose="020B0604020202020204" pitchFamily="34" charset="0"/>
              </a:rPr>
              <a:t>makes this approach energy-efficient</a:t>
            </a:r>
          </a:p>
          <a:p>
            <a:pPr lvl="1">
              <a:lnSpc>
                <a:spcPct val="120000"/>
              </a:lnSpc>
            </a:pPr>
            <a:r>
              <a:rPr lang="en-US" altLang="zh-CN" sz="2000" dirty="0">
                <a:latin typeface="Arial" panose="020B0604020202020204" pitchFamily="34" charset="0"/>
                <a:cs typeface="Arial" panose="020B0604020202020204" pitchFamily="34" charset="0"/>
              </a:rPr>
              <a:t>under heavy traffic conditions, many unicast messages may have to wait in the message queue or are dropped due to the limited bandwidth reserved for the receiving node </a:t>
            </a:r>
          </a:p>
          <a:p>
            <a:pPr lvl="1">
              <a:lnSpc>
                <a:spcPct val="120000"/>
              </a:lnSpc>
            </a:pPr>
            <a:r>
              <a:rPr lang="en-US" altLang="zh-CN" sz="2000" dirty="0">
                <a:latin typeface="Arial" panose="020B0604020202020204" pitchFamily="34" charset="0"/>
                <a:cs typeface="Arial" panose="020B0604020202020204" pitchFamily="34" charset="0"/>
              </a:rPr>
              <a:t>as a consequence, Y-MAC uses a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channel hopping mechanism </a:t>
            </a:r>
            <a:r>
              <a:rPr lang="en-US" altLang="zh-CN" sz="2000" dirty="0">
                <a:latin typeface="Arial" panose="020B0604020202020204" pitchFamily="34" charset="0"/>
                <a:cs typeface="Arial" panose="020B0604020202020204" pitchFamily="34" charset="0"/>
              </a:rPr>
              <a:t>to reduce packet delivery latency </a:t>
            </a:r>
            <a:endParaRPr lang="zh-CN" altLang="en-US" sz="2000" dirty="0">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5204" y="4349055"/>
            <a:ext cx="5647650" cy="2244222"/>
          </a:xfrm>
          <a:prstGeom prst="rect">
            <a:avLst/>
          </a:prstGeom>
        </p:spPr>
      </p:pic>
    </p:spTree>
    <p:extLst>
      <p:ext uri="{BB962C8B-B14F-4D97-AF65-F5344CB8AC3E}">
        <p14:creationId xmlns:p14="http://schemas.microsoft.com/office/powerpoint/2010/main" val="105534827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Y-MAC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460500"/>
            <a:ext cx="10515600" cy="5032375"/>
          </a:xfrm>
        </p:spPr>
        <p:txBody>
          <a:bodyPr>
            <a:normAutofit lnSpcReduction="10000"/>
          </a:bodyPr>
          <a:lstStyle/>
          <a:p>
            <a:pPr>
              <a:lnSpc>
                <a:spcPct val="110000"/>
              </a:lnSpc>
            </a:pPr>
            <a:r>
              <a:rPr lang="en-US" altLang="zh-CN" sz="2400" dirty="0">
                <a:latin typeface="Arial" panose="020B0604020202020204" pitchFamily="34" charset="0"/>
                <a:cs typeface="Arial" panose="020B0604020202020204" pitchFamily="34" charset="0"/>
              </a:rPr>
              <a:t>After receiving a packet during its time slot on the base channel, the receiving node hops to the next channel and sends a notification </a:t>
            </a:r>
          </a:p>
          <a:p>
            <a:pPr lvl="1">
              <a:lnSpc>
                <a:spcPct val="110000"/>
              </a:lnSpc>
            </a:pPr>
            <a:r>
              <a:rPr lang="en-US" altLang="zh-CN" sz="2000" dirty="0">
                <a:latin typeface="Arial" panose="020B0604020202020204" pitchFamily="34" charset="0"/>
                <a:cs typeface="Arial" panose="020B0604020202020204" pitchFamily="34" charset="0"/>
              </a:rPr>
              <a:t>it can continue to receive packets on the second channel</a:t>
            </a:r>
          </a:p>
          <a:p>
            <a:pPr lvl="1">
              <a:lnSpc>
                <a:spcPct val="110000"/>
              </a:lnSpc>
            </a:pPr>
            <a:r>
              <a:rPr lang="en-US" altLang="zh-CN" sz="2000" dirty="0">
                <a:latin typeface="Arial" panose="020B0604020202020204" pitchFamily="34" charset="0"/>
                <a:cs typeface="Arial" panose="020B0604020202020204" pitchFamily="34" charset="0"/>
              </a:rPr>
              <a:t>contention for the medium in the second channel is resolved as before</a:t>
            </a:r>
          </a:p>
          <a:p>
            <a:pPr>
              <a:lnSpc>
                <a:spcPct val="110000"/>
              </a:lnSpc>
            </a:pPr>
            <a:r>
              <a:rPr lang="en-US" altLang="zh-CN" sz="2400" dirty="0">
                <a:latin typeface="Arial" panose="020B0604020202020204" pitchFamily="34" charset="0"/>
                <a:cs typeface="Arial" panose="020B0604020202020204" pitchFamily="34" charset="0"/>
              </a:rPr>
              <a:t>At the end of this slot, the receiving node can decide to hop again to another channel </a:t>
            </a:r>
          </a:p>
          <a:p>
            <a:pPr lvl="1">
              <a:lnSpc>
                <a:spcPct val="110000"/>
              </a:lnSpc>
            </a:pPr>
            <a:r>
              <a:rPr lang="en-US" altLang="zh-CN" sz="2000" dirty="0">
                <a:latin typeface="Arial" panose="020B0604020202020204" pitchFamily="34" charset="0"/>
                <a:cs typeface="Arial" panose="020B0604020202020204" pitchFamily="34" charset="0"/>
              </a:rPr>
              <a:t>until reaching the last channel or </a:t>
            </a:r>
          </a:p>
          <a:p>
            <a:pPr lvl="1">
              <a:lnSpc>
                <a:spcPct val="110000"/>
              </a:lnSpc>
            </a:pPr>
            <a:r>
              <a:rPr lang="en-US" altLang="zh-CN" sz="2000" dirty="0">
                <a:latin typeface="Arial" panose="020B0604020202020204" pitchFamily="34" charset="0"/>
                <a:cs typeface="Arial" panose="020B0604020202020204" pitchFamily="34" charset="0"/>
              </a:rPr>
              <a:t>until no more data is being received </a:t>
            </a:r>
          </a:p>
          <a:p>
            <a:pPr>
              <a:lnSpc>
                <a:spcPct val="110000"/>
              </a:lnSpc>
            </a:pPr>
            <a:r>
              <a:rPr lang="en-US" altLang="zh-CN" sz="2400" dirty="0">
                <a:latin typeface="Arial" panose="020B0604020202020204" pitchFamily="34" charset="0"/>
                <a:cs typeface="Arial" panose="020B0604020202020204" pitchFamily="34" charset="0"/>
              </a:rPr>
              <a:t>The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hopping sequence generation algorithm</a:t>
            </a:r>
            <a:endParaRPr lang="en-US" altLang="zh-CN" sz="2400" dirty="0">
              <a:latin typeface="Arial" panose="020B0604020202020204" pitchFamily="34" charset="0"/>
              <a:cs typeface="Arial" panose="020B0604020202020204" pitchFamily="34" charset="0"/>
            </a:endParaRPr>
          </a:p>
          <a:p>
            <a:pPr lvl="1">
              <a:lnSpc>
                <a:spcPct val="110000"/>
              </a:lnSpc>
            </a:pPr>
            <a:r>
              <a:rPr lang="en-US" altLang="zh-CN" sz="2000" dirty="0">
                <a:latin typeface="Arial" panose="020B0604020202020204" pitchFamily="34" charset="0"/>
                <a:cs typeface="Arial" panose="020B0604020202020204" pitchFamily="34" charset="0"/>
              </a:rPr>
              <a:t>determines the actual hopping sequence among the available channels  </a:t>
            </a:r>
          </a:p>
          <a:p>
            <a:pPr lvl="1">
              <a:lnSpc>
                <a:spcPct val="110000"/>
              </a:lnSpc>
            </a:pPr>
            <a:r>
              <a:rPr lang="en-US" altLang="zh-CN" sz="2000" dirty="0">
                <a:latin typeface="Arial" panose="020B0604020202020204" pitchFamily="34" charset="0"/>
                <a:cs typeface="Arial" panose="020B0604020202020204" pitchFamily="34" charset="0"/>
              </a:rPr>
              <a:t>should guarantee that there is only one receiver among one-hop neighbors on any particular channel</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433630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Y-MAC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4557477"/>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Summary</a:t>
            </a:r>
          </a:p>
          <a:p>
            <a:pPr lvl="1">
              <a:lnSpc>
                <a:spcPct val="120000"/>
              </a:lnSpc>
            </a:pPr>
            <a:r>
              <a:rPr lang="en-US" altLang="zh-CN" sz="2000" dirty="0">
                <a:latin typeface="Arial" panose="020B0604020202020204" pitchFamily="34" charset="0"/>
                <a:cs typeface="Arial" panose="020B0604020202020204" pitchFamily="34" charset="0"/>
              </a:rPr>
              <a:t>Y-MAC uses slot assignments (such as TDMA) </a:t>
            </a:r>
          </a:p>
          <a:p>
            <a:pPr lvl="1">
              <a:lnSpc>
                <a:spcPct val="120000"/>
              </a:lnSpc>
            </a:pPr>
            <a:r>
              <a:rPr lang="en-US" altLang="zh-CN" sz="2000" dirty="0">
                <a:latin typeface="Arial" panose="020B0604020202020204" pitchFamily="34" charset="0"/>
                <a:cs typeface="Arial" panose="020B0604020202020204" pitchFamily="34" charset="0"/>
              </a:rPr>
              <a:t>communication is receiver-driven to ensure low-energy consumption</a:t>
            </a:r>
          </a:p>
          <a:p>
            <a:pPr lvl="2">
              <a:lnSpc>
                <a:spcPct val="120000"/>
              </a:lnSpc>
            </a:pPr>
            <a:r>
              <a:rPr lang="en-US" altLang="zh-CN" sz="1800" dirty="0">
                <a:latin typeface="Arial" panose="020B0604020202020204" pitchFamily="34" charset="0"/>
                <a:cs typeface="Arial" panose="020B0604020202020204" pitchFamily="34" charset="0"/>
              </a:rPr>
              <a:t>i.e., a receiver briefly samples the medium during its slot and returns to the sleep mode if no packets arrive </a:t>
            </a:r>
          </a:p>
          <a:p>
            <a:pPr lvl="1">
              <a:lnSpc>
                <a:spcPct val="120000"/>
              </a:lnSpc>
            </a:pPr>
            <a:r>
              <a:rPr lang="en-US" altLang="zh-CN" sz="2000" dirty="0">
                <a:latin typeface="Arial" panose="020B0604020202020204" pitchFamily="34" charset="0"/>
                <a:cs typeface="Arial" panose="020B0604020202020204" pitchFamily="34" charset="0"/>
              </a:rPr>
              <a:t>uses multiple channels</a:t>
            </a:r>
          </a:p>
          <a:p>
            <a:pPr lvl="2">
              <a:lnSpc>
                <a:spcPct val="120000"/>
              </a:lnSpc>
            </a:pPr>
            <a:r>
              <a:rPr lang="en-US" altLang="zh-CN" sz="1800" dirty="0">
                <a:latin typeface="Arial" panose="020B0604020202020204" pitchFamily="34" charset="0"/>
                <a:cs typeface="Arial" panose="020B0604020202020204" pitchFamily="34" charset="0"/>
              </a:rPr>
              <a:t>to increase the achievable throughput</a:t>
            </a:r>
          </a:p>
          <a:p>
            <a:pPr lvl="2">
              <a:lnSpc>
                <a:spcPct val="120000"/>
              </a:lnSpc>
            </a:pPr>
            <a:r>
              <a:rPr lang="en-US" altLang="zh-CN" sz="1800" dirty="0">
                <a:latin typeface="Arial" panose="020B0604020202020204" pitchFamily="34" charset="0"/>
                <a:cs typeface="Arial" panose="020B0604020202020204" pitchFamily="34" charset="0"/>
              </a:rPr>
              <a:t>to reduce delivery latency </a:t>
            </a:r>
          </a:p>
          <a:p>
            <a:pPr lvl="1">
              <a:lnSpc>
                <a:spcPct val="120000"/>
              </a:lnSpc>
            </a:pPr>
            <a:r>
              <a:rPr lang="en-US" altLang="zh-CN" sz="2000" dirty="0">
                <a:latin typeface="Arial" panose="020B0604020202020204" pitchFamily="34" charset="0"/>
                <a:cs typeface="Arial" panose="020B0604020202020204" pitchFamily="34" charset="0"/>
              </a:rPr>
              <a:t>main drawbacks of the Y-MAC approach: </a:t>
            </a:r>
          </a:p>
          <a:p>
            <a:pPr lvl="2">
              <a:lnSpc>
                <a:spcPct val="120000"/>
              </a:lnSpc>
            </a:pPr>
            <a:r>
              <a:rPr lang="en-US" altLang="zh-CN" sz="1800" dirty="0">
                <a:latin typeface="Arial" panose="020B0604020202020204" pitchFamily="34" charset="0"/>
                <a:cs typeface="Arial" panose="020B0604020202020204" pitchFamily="34" charset="0"/>
              </a:rPr>
              <a:t>has the same flexibility and scalability issues as TDMA (i.e., fixed slot allocations) </a:t>
            </a:r>
          </a:p>
          <a:p>
            <a:pPr lvl="2">
              <a:lnSpc>
                <a:spcPct val="120000"/>
              </a:lnSpc>
            </a:pPr>
            <a:r>
              <a:rPr lang="en-US" altLang="zh-CN" sz="1800" dirty="0">
                <a:latin typeface="Arial" panose="020B0604020202020204" pitchFamily="34" charset="0"/>
                <a:cs typeface="Arial" panose="020B0604020202020204" pitchFamily="34" charset="0"/>
              </a:rPr>
              <a:t>requires sensor nodes with multiple radio channels</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063949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Lightweight Medium Access Control</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48355"/>
            <a:ext cx="10515600" cy="4881942"/>
          </a:xfrm>
        </p:spPr>
        <p:txBody>
          <a:bodyPr>
            <a:normAutofit/>
          </a:bodyPr>
          <a:lstStyle/>
          <a:p>
            <a:pPr>
              <a:lnSpc>
                <a:spcPct val="110000"/>
              </a:lnSpc>
            </a:pPr>
            <a:r>
              <a:rPr lang="en-US" altLang="zh-CN" sz="2400" dirty="0">
                <a:latin typeface="Arial" panose="020B0604020202020204" pitchFamily="34" charset="0"/>
                <a:cs typeface="Arial" panose="020B0604020202020204" pitchFamily="34" charset="0"/>
              </a:rPr>
              <a:t>The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LMAC</a:t>
            </a:r>
            <a:r>
              <a:rPr lang="en-US" altLang="zh-CN" sz="2400" dirty="0">
                <a:latin typeface="Arial" panose="020B0604020202020204" pitchFamily="34" charset="0"/>
                <a:cs typeface="Arial" panose="020B0604020202020204" pitchFamily="34" charset="0"/>
              </a:rPr>
              <a:t> protocol is based on TDMA </a:t>
            </a:r>
          </a:p>
          <a:p>
            <a:pPr lvl="1">
              <a:lnSpc>
                <a:spcPct val="110000"/>
              </a:lnSpc>
            </a:pPr>
            <a:r>
              <a:rPr lang="en-US" altLang="zh-CN" sz="2000" dirty="0">
                <a:latin typeface="Arial" panose="020B0604020202020204" pitchFamily="34" charset="0"/>
                <a:cs typeface="Arial" panose="020B0604020202020204" pitchFamily="34" charset="0"/>
              </a:rPr>
              <a:t>each slot is owned by exactly one node</a:t>
            </a:r>
          </a:p>
          <a:p>
            <a:pPr lvl="1">
              <a:lnSpc>
                <a:spcPct val="110000"/>
              </a:lnSpc>
            </a:pPr>
            <a:r>
              <a:rPr lang="en-US" altLang="zh-CN" sz="2000" dirty="0">
                <a:latin typeface="Arial" panose="020B0604020202020204" pitchFamily="34" charset="0"/>
                <a:cs typeface="Arial" panose="020B0604020202020204" pitchFamily="34" charset="0"/>
              </a:rPr>
              <a:t>nodes execute a distributed algorithm to allocate slots instead of relying on a central manager to assign slots to nodes</a:t>
            </a:r>
          </a:p>
          <a:p>
            <a:pPr lvl="1">
              <a:lnSpc>
                <a:spcPct val="110000"/>
              </a:lnSpc>
            </a:pPr>
            <a:r>
              <a:rPr lang="en-US" altLang="zh-CN" sz="2000" dirty="0">
                <a:latin typeface="Arial" panose="020B0604020202020204" pitchFamily="34" charset="0"/>
                <a:cs typeface="Arial" panose="020B0604020202020204" pitchFamily="34" charset="0"/>
              </a:rPr>
              <a:t>each node uses its slots to transmit a message consisting of two parts:</a:t>
            </a:r>
          </a:p>
          <a:p>
            <a:pPr lvl="2">
              <a:lnSpc>
                <a:spcPct val="110000"/>
              </a:lnSpc>
            </a:pPr>
            <a:r>
              <a:rPr lang="en-US" altLang="zh-CN" sz="1800" dirty="0">
                <a:latin typeface="Arial" panose="020B0604020202020204" pitchFamily="34" charset="0"/>
                <a:cs typeface="Arial" panose="020B0604020202020204" pitchFamily="34" charset="0"/>
              </a:rPr>
              <a:t>control message  </a:t>
            </a:r>
          </a:p>
          <a:p>
            <a:pPr marL="1371600" lvl="3" indent="0">
              <a:lnSpc>
                <a:spcPct val="110000"/>
              </a:lnSpc>
              <a:buNone/>
            </a:pPr>
            <a:r>
              <a:rPr lang="en-US" altLang="zh-CN" sz="1600" dirty="0">
                <a:latin typeface="Arial" panose="020B0604020202020204" pitchFamily="34" charset="0"/>
                <a:cs typeface="Arial" panose="020B0604020202020204" pitchFamily="34" charset="0"/>
              </a:rPr>
              <a:t>–  identity of the time slot controller </a:t>
            </a:r>
          </a:p>
          <a:p>
            <a:pPr marL="1371600" lvl="3" indent="0">
              <a:lnSpc>
                <a:spcPct val="110000"/>
              </a:lnSpc>
              <a:buNone/>
            </a:pPr>
            <a:r>
              <a:rPr lang="en-US" altLang="zh-CN" sz="1600" dirty="0">
                <a:latin typeface="Arial" panose="020B0604020202020204" pitchFamily="34" charset="0"/>
                <a:cs typeface="Arial" panose="020B0604020202020204" pitchFamily="34" charset="0"/>
              </a:rPr>
              <a:t>–  distance (in hops) of the node to the gateway (base station)</a:t>
            </a:r>
          </a:p>
          <a:p>
            <a:pPr marL="1371600" lvl="3" indent="0">
              <a:lnSpc>
                <a:spcPct val="110000"/>
              </a:lnSpc>
              <a:buNone/>
            </a:pPr>
            <a:r>
              <a:rPr lang="en-US" altLang="zh-CN" sz="1600" dirty="0">
                <a:latin typeface="Arial" panose="020B0604020202020204" pitchFamily="34" charset="0"/>
                <a:cs typeface="Arial" panose="020B0604020202020204" pitchFamily="34" charset="0"/>
              </a:rPr>
              <a:t>–  address of the intended receiver</a:t>
            </a:r>
          </a:p>
          <a:p>
            <a:pPr marL="1371600" lvl="3" indent="0">
              <a:lnSpc>
                <a:spcPct val="110000"/>
              </a:lnSpc>
              <a:buNone/>
            </a:pPr>
            <a:r>
              <a:rPr lang="en-US" altLang="zh-CN" sz="1600" dirty="0">
                <a:latin typeface="Arial" panose="020B0604020202020204" pitchFamily="34" charset="0"/>
                <a:cs typeface="Arial" panose="020B0604020202020204" pitchFamily="34" charset="0"/>
              </a:rPr>
              <a:t>–  length of the data unit </a:t>
            </a:r>
          </a:p>
          <a:p>
            <a:pPr lvl="2">
              <a:lnSpc>
                <a:spcPct val="110000"/>
              </a:lnSpc>
            </a:pPr>
            <a:r>
              <a:rPr lang="en-US" altLang="zh-CN" sz="1800" dirty="0">
                <a:latin typeface="Arial" panose="020B0604020202020204" pitchFamily="34" charset="0"/>
                <a:cs typeface="Arial" panose="020B0604020202020204" pitchFamily="34" charset="0"/>
              </a:rPr>
              <a:t>data unit </a:t>
            </a:r>
          </a:p>
          <a:p>
            <a:pPr lvl="1">
              <a:lnSpc>
                <a:spcPct val="110000"/>
              </a:lnSpc>
            </a:pPr>
            <a:r>
              <a:rPr lang="en-US" altLang="zh-CN" sz="2000" dirty="0">
                <a:latin typeface="Arial" panose="020B0604020202020204" pitchFamily="34" charset="0"/>
                <a:cs typeface="Arial" panose="020B0604020202020204" pitchFamily="34" charset="0"/>
              </a:rPr>
              <a:t>upon receiving a control message, a node determines if it is the intended receiver and decides whether to stay awake or to turn off the radio until the next slot</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7179811"/>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Lightweight Medium Access Control</a:t>
            </a:r>
            <a:endParaRPr lang="zh-CN" altLang="en-US" b="1" dirty="0">
              <a:latin typeface="Arial" panose="020B0604020202020204" pitchFamily="34" charset="0"/>
              <a:cs typeface="Arial" panose="020B0604020202020204" pitchFamily="34" charset="0"/>
            </a:endParaRP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1200" y="1749001"/>
            <a:ext cx="8229600" cy="4389119"/>
          </a:xfrm>
        </p:spPr>
      </p:pic>
    </p:spTree>
    <p:extLst>
      <p:ext uri="{BB962C8B-B14F-4D97-AF65-F5344CB8AC3E}">
        <p14:creationId xmlns:p14="http://schemas.microsoft.com/office/powerpoint/2010/main" val="2580296810"/>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Lightweight Medium Access Control</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270285" cy="4351338"/>
          </a:xfrm>
        </p:spPr>
        <p:txBody>
          <a:bodyPr>
            <a:normAutofit lnSpcReduction="10000"/>
          </a:bodyPr>
          <a:lstStyle/>
          <a:p>
            <a:pPr>
              <a:lnSpc>
                <a:spcPct val="120000"/>
              </a:lnSpc>
            </a:pPr>
            <a:r>
              <a:rPr lang="en-US" altLang="zh-CN" sz="2400" dirty="0">
                <a:latin typeface="Arial" panose="020B0604020202020204" pitchFamily="34" charset="0"/>
                <a:cs typeface="Arial" panose="020B0604020202020204" pitchFamily="34" charset="0"/>
              </a:rPr>
              <a:t>The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Occupied Slots </a:t>
            </a:r>
            <a:r>
              <a:rPr lang="en-US" altLang="zh-CN" sz="2400" dirty="0">
                <a:latin typeface="Arial" panose="020B0604020202020204" pitchFamily="34" charset="0"/>
                <a:cs typeface="Arial" panose="020B0604020202020204" pitchFamily="34" charset="0"/>
              </a:rPr>
              <a:t>field of the control message is a bit-mask of slots </a:t>
            </a:r>
          </a:p>
          <a:p>
            <a:pPr lvl="1">
              <a:lnSpc>
                <a:spcPct val="120000"/>
              </a:lnSpc>
            </a:pPr>
            <a:r>
              <a:rPr lang="en-US" altLang="zh-CN" sz="2000" dirty="0">
                <a:latin typeface="Arial" panose="020B0604020202020204" pitchFamily="34" charset="0"/>
                <a:cs typeface="Arial" panose="020B0604020202020204" pitchFamily="34" charset="0"/>
              </a:rPr>
              <a:t>where an unoccupied slot is represented by 0 </a:t>
            </a:r>
          </a:p>
          <a:p>
            <a:pPr lvl="1">
              <a:lnSpc>
                <a:spcPct val="120000"/>
              </a:lnSpc>
            </a:pPr>
            <a:r>
              <a:rPr lang="en-US" altLang="zh-CN" sz="2000" dirty="0">
                <a:latin typeface="Arial" panose="020B0604020202020204" pitchFamily="34" charset="0"/>
                <a:cs typeface="Arial" panose="020B0604020202020204" pitchFamily="34" charset="0"/>
              </a:rPr>
              <a:t>an occupied slot is represented by 1</a:t>
            </a:r>
          </a:p>
          <a:p>
            <a:pPr>
              <a:lnSpc>
                <a:spcPct val="120000"/>
              </a:lnSpc>
            </a:pPr>
            <a:r>
              <a:rPr lang="en-US" altLang="zh-CN" sz="2400" dirty="0">
                <a:latin typeface="Arial" panose="020B0604020202020204" pitchFamily="34" charset="0"/>
                <a:cs typeface="Arial" panose="020B0604020202020204" pitchFamily="34" charset="0"/>
              </a:rPr>
              <a:t>A node is able to determine unoccupied slots by combining control messages from all neighbors</a:t>
            </a:r>
          </a:p>
          <a:p>
            <a:pPr>
              <a:lnSpc>
                <a:spcPct val="120000"/>
              </a:lnSpc>
            </a:pPr>
            <a:r>
              <a:rPr lang="en-US" altLang="zh-CN" sz="2400" dirty="0">
                <a:latin typeface="Arial" panose="020B0604020202020204" pitchFamily="34" charset="0"/>
                <a:cs typeface="Arial" panose="020B0604020202020204" pitchFamily="34" charset="0"/>
              </a:rPr>
              <a:t>The process of claiming slots starts at the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gateway device </a:t>
            </a:r>
            <a:r>
              <a:rPr lang="en-US" altLang="zh-CN" sz="2400" dirty="0">
                <a:latin typeface="Arial" panose="020B0604020202020204" pitchFamily="34" charset="0"/>
                <a:cs typeface="Arial" panose="020B0604020202020204" pitchFamily="34" charset="0"/>
              </a:rPr>
              <a:t>, which determines its own slots</a:t>
            </a:r>
          </a:p>
          <a:p>
            <a:pPr>
              <a:lnSpc>
                <a:spcPct val="120000"/>
              </a:lnSpc>
            </a:pPr>
            <a:r>
              <a:rPr lang="en-US" altLang="zh-CN" sz="2400" dirty="0">
                <a:latin typeface="Arial" panose="020B0604020202020204" pitchFamily="34" charset="0"/>
                <a:cs typeface="Arial" panose="020B0604020202020204" pitchFamily="34" charset="0"/>
              </a:rPr>
              <a:t>After one frame, all direct neighbors of the gateway know the gateway ʼ s slots and choose their own slots </a:t>
            </a:r>
          </a:p>
        </p:txBody>
      </p:sp>
    </p:spTree>
    <p:extLst>
      <p:ext uri="{BB962C8B-B14F-4D97-AF65-F5344CB8AC3E}">
        <p14:creationId xmlns:p14="http://schemas.microsoft.com/office/powerpoint/2010/main" val="4244104691"/>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Lightweight Medium Access Control</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199493" cy="4351338"/>
          </a:xfrm>
        </p:spPr>
        <p:txBody>
          <a:bodyPr>
            <a:normAutofit lnSpcReduction="10000"/>
          </a:bodyPr>
          <a:lstStyle/>
          <a:p>
            <a:pPr>
              <a:lnSpc>
                <a:spcPct val="120000"/>
              </a:lnSpc>
            </a:pPr>
            <a:r>
              <a:rPr lang="en-US" altLang="zh-CN" sz="2400" dirty="0">
                <a:latin typeface="Arial" panose="020B0604020202020204" pitchFamily="34" charset="0"/>
                <a:cs typeface="Arial" panose="020B0604020202020204" pitchFamily="34" charset="0"/>
              </a:rPr>
              <a:t>This process continues throughout the network and during each frame, a new set of nodes with a higher hop distance from the gateway determine their slots </a:t>
            </a:r>
          </a:p>
          <a:p>
            <a:pPr>
              <a:lnSpc>
                <a:spcPct val="120000"/>
              </a:lnSpc>
            </a:pPr>
            <a:r>
              <a:rPr lang="en-US" altLang="zh-CN" sz="2400" dirty="0">
                <a:latin typeface="Arial" panose="020B0604020202020204" pitchFamily="34" charset="0"/>
                <a:cs typeface="Arial" panose="020B0604020202020204" pitchFamily="34" charset="0"/>
              </a:rPr>
              <a:t>Each node must select slots that are not in use within a two-hop neighborhood </a:t>
            </a:r>
          </a:p>
          <a:p>
            <a:pPr>
              <a:lnSpc>
                <a:spcPct val="120000"/>
              </a:lnSpc>
            </a:pPr>
            <a:r>
              <a:rPr lang="en-US" altLang="zh-CN" sz="2400" dirty="0">
                <a:latin typeface="Arial" panose="020B0604020202020204" pitchFamily="34" charset="0"/>
                <a:cs typeface="Arial" panose="020B0604020202020204" pitchFamily="34" charset="0"/>
              </a:rPr>
              <a:t>Slots are selected randomly, so it is possible for multiple nodes to select the same slot </a:t>
            </a:r>
          </a:p>
          <a:p>
            <a:pPr lvl="1">
              <a:lnSpc>
                <a:spcPct val="120000"/>
              </a:lnSpc>
            </a:pPr>
            <a:r>
              <a:rPr lang="en-US" altLang="zh-CN" sz="2000" dirty="0">
                <a:latin typeface="Arial" panose="020B0604020202020204" pitchFamily="34" charset="0"/>
                <a:cs typeface="Arial" panose="020B0604020202020204" pitchFamily="34" charset="0"/>
              </a:rPr>
              <a:t>will result in a collision of control messages during the slot</a:t>
            </a:r>
          </a:p>
          <a:p>
            <a:pPr lvl="1">
              <a:lnSpc>
                <a:spcPct val="120000"/>
              </a:lnSpc>
            </a:pPr>
            <a:r>
              <a:rPr lang="en-US" altLang="zh-CN" sz="2000" dirty="0">
                <a:latin typeface="Arial" panose="020B0604020202020204" pitchFamily="34" charset="0"/>
                <a:cs typeface="Arial" panose="020B0604020202020204" pitchFamily="34" charset="0"/>
              </a:rPr>
              <a:t>can be observed by the competing nodes, therefore, they will restart the slot selection process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49471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Mobile LMAC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07060"/>
            <a:ext cx="10736334" cy="5082520"/>
          </a:xfrm>
        </p:spPr>
        <p:txBody>
          <a:bodyPr>
            <a:normAutofit lnSpcReduction="10000"/>
          </a:bodyPr>
          <a:lstStyle/>
          <a:p>
            <a:pPr>
              <a:lnSpc>
                <a:spcPct val="110000"/>
              </a:lnSpc>
            </a:pPr>
            <a:r>
              <a:rPr lang="en-US" altLang="zh-CN" sz="2200" dirty="0">
                <a:latin typeface="Arial" panose="020B0604020202020204" pitchFamily="34" charset="0"/>
                <a:cs typeface="Arial" panose="020B0604020202020204" pitchFamily="34" charset="0"/>
              </a:rPr>
              <a:t>Slot allocations in LMAC are computed only once, therefore, this protocol is not suitable for mobile sensor network, where nodes frequently join and leave other nodes ʼ radio ranges </a:t>
            </a:r>
          </a:p>
          <a:p>
            <a:pPr>
              <a:lnSpc>
                <a:spcPct val="110000"/>
              </a:lnSpc>
            </a:pPr>
            <a:r>
              <a:rPr lang="en-US" altLang="zh-CN" sz="2200" dirty="0">
                <a:solidFill>
                  <a:schemeClr val="tx2">
                    <a:lumMod val="75000"/>
                    <a:lumOff val="25000"/>
                  </a:schemeClr>
                </a:solidFill>
                <a:latin typeface="Arial" panose="020B0604020202020204" pitchFamily="34" charset="0"/>
                <a:cs typeface="Arial" panose="020B0604020202020204" pitchFamily="34" charset="0"/>
              </a:rPr>
              <a:t>Mobile LMAC (MLMAC)  </a:t>
            </a:r>
            <a:r>
              <a:rPr lang="en-US" altLang="zh-CN" sz="2200" dirty="0">
                <a:latin typeface="Arial" panose="020B0604020202020204" pitchFamily="34" charset="0"/>
                <a:cs typeface="Arial" panose="020B0604020202020204" pitchFamily="34" charset="0"/>
              </a:rPr>
              <a:t>uses a distributed slot allocation mechanism, but it is able to adapt to changes in the network topology</a:t>
            </a:r>
          </a:p>
          <a:p>
            <a:pPr lvl="1">
              <a:lnSpc>
                <a:spcPct val="110000"/>
              </a:lnSpc>
            </a:pPr>
            <a:r>
              <a:rPr lang="en-US" altLang="zh-CN" sz="1800" dirty="0">
                <a:latin typeface="Arial" panose="020B0604020202020204" pitchFamily="34" charset="0"/>
                <a:cs typeface="Arial" panose="020B0604020202020204" pitchFamily="34" charset="0"/>
              </a:rPr>
              <a:t>When a node X leaves the radio range of node Y, both nodes will realize that they no longer receive control messages from each other and they will remove each other from their neighbor lists</a:t>
            </a:r>
          </a:p>
          <a:p>
            <a:pPr lvl="1">
              <a:lnSpc>
                <a:spcPct val="110000"/>
              </a:lnSpc>
            </a:pPr>
            <a:r>
              <a:rPr lang="en-US" altLang="zh-CN" sz="1800" dirty="0">
                <a:latin typeface="Arial" panose="020B0604020202020204" pitchFamily="34" charset="0"/>
                <a:cs typeface="Arial" panose="020B0604020202020204" pitchFamily="34" charset="0"/>
              </a:rPr>
              <a:t>Assume that node X moves into the radio range of node Z and that another node in Z </a:t>
            </a:r>
            <a:r>
              <a:rPr lang="en-US" altLang="zh-CN" sz="1800" dirty="0" err="1">
                <a:latin typeface="Arial" panose="020B0604020202020204" pitchFamily="34" charset="0"/>
                <a:cs typeface="Arial" panose="020B0604020202020204" pitchFamily="34" charset="0"/>
              </a:rPr>
              <a:t>ʼs</a:t>
            </a:r>
            <a:r>
              <a:rPr lang="en-US" altLang="zh-CN" sz="1800" dirty="0">
                <a:latin typeface="Arial" panose="020B0604020202020204" pitchFamily="34" charset="0"/>
                <a:cs typeface="Arial" panose="020B0604020202020204" pitchFamily="34" charset="0"/>
              </a:rPr>
              <a:t> range, node W, uses the same slot as X</a:t>
            </a:r>
          </a:p>
          <a:p>
            <a:pPr lvl="1">
              <a:lnSpc>
                <a:spcPct val="110000"/>
              </a:lnSpc>
            </a:pPr>
            <a:r>
              <a:rPr lang="en-US" altLang="zh-CN" sz="1800" dirty="0">
                <a:latin typeface="Arial" panose="020B0604020202020204" pitchFamily="34" charset="0"/>
                <a:cs typeface="Arial" panose="020B0604020202020204" pitchFamily="34" charset="0"/>
              </a:rPr>
              <a:t>Control messages from X and W will collide at Z and node Z will no longer receive any correct control messages during this slot and will therefore mark this slot as unused</a:t>
            </a:r>
          </a:p>
          <a:p>
            <a:pPr lvl="1">
              <a:lnSpc>
                <a:spcPct val="110000"/>
              </a:lnSpc>
            </a:pPr>
            <a:r>
              <a:rPr lang="en-US" altLang="zh-CN" sz="1800" dirty="0">
                <a:latin typeface="Arial" panose="020B0604020202020204" pitchFamily="34" charset="0"/>
                <a:cs typeface="Arial" panose="020B0604020202020204" pitchFamily="34" charset="0"/>
              </a:rPr>
              <a:t>Nodes X and W will receive </a:t>
            </a:r>
            <a:r>
              <a:rPr lang="en-US" altLang="zh-CN" sz="1800" dirty="0" err="1">
                <a:latin typeface="Arial" panose="020B0604020202020204" pitchFamily="34" charset="0"/>
                <a:cs typeface="Arial" panose="020B0604020202020204" pitchFamily="34" charset="0"/>
              </a:rPr>
              <a:t>Zʼ</a:t>
            </a:r>
            <a:r>
              <a:rPr lang="en-US" altLang="zh-CN" sz="1800" dirty="0">
                <a:latin typeface="Arial" panose="020B0604020202020204" pitchFamily="34" charset="0"/>
                <a:cs typeface="Arial" panose="020B0604020202020204" pitchFamily="34" charset="0"/>
              </a:rPr>
              <a:t> s control message, indicating that their slot is unused and meaning that there must have been a collision.</a:t>
            </a:r>
          </a:p>
          <a:p>
            <a:pPr lvl="1">
              <a:lnSpc>
                <a:spcPct val="110000"/>
              </a:lnSpc>
            </a:pPr>
            <a:r>
              <a:rPr lang="en-US" altLang="zh-CN" sz="1800" dirty="0">
                <a:latin typeface="Arial" panose="020B0604020202020204" pitchFamily="34" charset="0"/>
                <a:cs typeface="Arial" panose="020B0604020202020204" pitchFamily="34" charset="0"/>
              </a:rPr>
              <a:t>As a consequence, they give up their current slot and restart the slot selection mechanism</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5147607"/>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LMAC and MLMAC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lnSpcReduction="10000"/>
          </a:bodyPr>
          <a:lstStyle/>
          <a:p>
            <a:pPr>
              <a:lnSpc>
                <a:spcPct val="120000"/>
              </a:lnSpc>
            </a:pPr>
            <a:r>
              <a:rPr lang="en-US" altLang="zh-CN" sz="2400" dirty="0">
                <a:latin typeface="Arial" panose="020B0604020202020204" pitchFamily="34" charset="0"/>
                <a:cs typeface="Arial" panose="020B0604020202020204" pitchFamily="34" charset="0"/>
              </a:rPr>
              <a:t>Both LMAC and MLMAC have the same advantages as TDMA </a:t>
            </a:r>
          </a:p>
          <a:p>
            <a:pPr lvl="1">
              <a:lnSpc>
                <a:spcPct val="120000"/>
              </a:lnSpc>
            </a:pPr>
            <a:r>
              <a:rPr lang="en-US" altLang="zh-CN" sz="2000" dirty="0">
                <a:latin typeface="Arial" panose="020B0604020202020204" pitchFamily="34" charset="0"/>
                <a:cs typeface="Arial" panose="020B0604020202020204" pitchFamily="34" charset="0"/>
              </a:rPr>
              <a:t>collision-free communication </a:t>
            </a:r>
          </a:p>
          <a:p>
            <a:pPr lvl="1">
              <a:lnSpc>
                <a:spcPct val="120000"/>
              </a:lnSpc>
            </a:pPr>
            <a:r>
              <a:rPr lang="en-US" altLang="zh-CN" sz="2000" dirty="0">
                <a:latin typeface="Arial" panose="020B0604020202020204" pitchFamily="34" charset="0"/>
                <a:cs typeface="Arial" panose="020B0604020202020204" pitchFamily="34" charset="0"/>
              </a:rPr>
              <a:t>energy efficiency</a:t>
            </a:r>
          </a:p>
          <a:p>
            <a:pPr>
              <a:lnSpc>
                <a:spcPct val="120000"/>
              </a:lnSpc>
            </a:pPr>
            <a:r>
              <a:rPr lang="en-US" altLang="zh-CN" sz="2400" dirty="0">
                <a:latin typeface="Arial" panose="020B0604020202020204" pitchFamily="34" charset="0"/>
                <a:cs typeface="Arial" panose="020B0604020202020204" pitchFamily="34" charset="0"/>
              </a:rPr>
              <a:t>Additionally, they are able to establish transmission schedules in a distributed fashion</a:t>
            </a:r>
          </a:p>
          <a:p>
            <a:pPr>
              <a:lnSpc>
                <a:spcPct val="120000"/>
              </a:lnSpc>
            </a:pPr>
            <a:r>
              <a:rPr lang="en-US" altLang="zh-CN" sz="2400" dirty="0">
                <a:latin typeface="Arial" panose="020B0604020202020204" pitchFamily="34" charset="0"/>
                <a:cs typeface="Arial" panose="020B0604020202020204" pitchFamily="34" charset="0"/>
              </a:rPr>
              <a:t>However, in both protocols </a:t>
            </a:r>
          </a:p>
          <a:p>
            <a:pPr lvl="1">
              <a:lnSpc>
                <a:spcPct val="120000"/>
              </a:lnSpc>
            </a:pPr>
            <a:r>
              <a:rPr lang="en-US" altLang="zh-CN" sz="2000" dirty="0">
                <a:latin typeface="Arial" panose="020B0604020202020204" pitchFamily="34" charset="0"/>
                <a:cs typeface="Arial" panose="020B0604020202020204" pitchFamily="34" charset="0"/>
              </a:rPr>
              <a:t>slot size is fixed</a:t>
            </a:r>
          </a:p>
          <a:p>
            <a:pPr lvl="1">
              <a:lnSpc>
                <a:spcPct val="120000"/>
              </a:lnSpc>
            </a:pPr>
            <a:r>
              <a:rPr lang="en-US" altLang="zh-CN" sz="2000" dirty="0">
                <a:latin typeface="Arial" panose="020B0604020202020204" pitchFamily="34" charset="0"/>
                <a:cs typeface="Arial" panose="020B0604020202020204" pitchFamily="34" charset="0"/>
              </a:rPr>
              <a:t>slot allocations are also fixed</a:t>
            </a:r>
          </a:p>
          <a:p>
            <a:pPr lvl="2">
              <a:lnSpc>
                <a:spcPct val="120000"/>
              </a:lnSpc>
            </a:pPr>
            <a:r>
              <a:rPr lang="en-US" altLang="zh-CN" sz="1800" dirty="0">
                <a:latin typeface="Arial" panose="020B0604020202020204" pitchFamily="34" charset="0"/>
                <a:cs typeface="Arial" panose="020B0604020202020204" pitchFamily="34" charset="0"/>
              </a:rPr>
              <a:t>except when a node has to restart the slot selection mechanism</a:t>
            </a:r>
          </a:p>
          <a:p>
            <a:pPr lvl="1">
              <a:lnSpc>
                <a:spcPct val="120000"/>
              </a:lnSpc>
            </a:pPr>
            <a:r>
              <a:rPr lang="en-US" altLang="zh-CN" sz="2000" dirty="0">
                <a:latin typeface="Arial" panose="020B0604020202020204" pitchFamily="34" charset="0"/>
                <a:cs typeface="Arial" panose="020B0604020202020204" pitchFamily="34" charset="0"/>
              </a:rPr>
              <a:t>leading to bandwidth inefficiency </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8264140"/>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Contention-Based MAC Protocols</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815498"/>
          </a:xfrm>
        </p:spPr>
        <p:txBody>
          <a:bodyPr>
            <a:normAutofit fontScale="55000" lnSpcReduction="20000"/>
          </a:bodyPr>
          <a:lstStyle/>
          <a:p>
            <a:pPr>
              <a:lnSpc>
                <a:spcPct val="140000"/>
              </a:lnSpc>
            </a:pPr>
            <a:r>
              <a:rPr lang="en-US" altLang="zh-CN" sz="3600" dirty="0">
                <a:latin typeface="Arial" panose="020B0604020202020204" pitchFamily="34" charset="0"/>
                <a:cs typeface="Arial" panose="020B0604020202020204" pitchFamily="34" charset="0"/>
              </a:rPr>
              <a:t>The main advantage is </a:t>
            </a:r>
            <a:r>
              <a:rPr lang="en-US" altLang="zh-CN" sz="3600" dirty="0">
                <a:solidFill>
                  <a:schemeClr val="tx2">
                    <a:lumMod val="75000"/>
                    <a:lumOff val="25000"/>
                  </a:schemeClr>
                </a:solidFill>
                <a:latin typeface="Arial" panose="020B0604020202020204" pitchFamily="34" charset="0"/>
                <a:cs typeface="Arial" panose="020B0604020202020204" pitchFamily="34" charset="0"/>
              </a:rPr>
              <a:t>simplicity </a:t>
            </a:r>
            <a:r>
              <a:rPr lang="en-US" altLang="zh-CN" sz="3600" dirty="0">
                <a:latin typeface="Arial" panose="020B0604020202020204" pitchFamily="34" charset="0"/>
                <a:cs typeface="Arial" panose="020B0604020202020204" pitchFamily="34" charset="0"/>
              </a:rPr>
              <a:t>compared to most schedule-based techniques</a:t>
            </a:r>
          </a:p>
          <a:p>
            <a:pPr lvl="1">
              <a:lnSpc>
                <a:spcPct val="140000"/>
              </a:lnSpc>
            </a:pPr>
            <a:r>
              <a:rPr lang="en-US" altLang="zh-CN" sz="3300" dirty="0">
                <a:latin typeface="Arial" panose="020B0604020202020204" pitchFamily="34" charset="0"/>
                <a:cs typeface="Arial" panose="020B0604020202020204" pitchFamily="34" charset="0"/>
              </a:rPr>
              <a:t>schedule-based MAC protocols must save and maintain schedules or tables indicating the transmission order </a:t>
            </a:r>
          </a:p>
          <a:p>
            <a:pPr lvl="1">
              <a:lnSpc>
                <a:spcPct val="140000"/>
              </a:lnSpc>
            </a:pPr>
            <a:r>
              <a:rPr lang="en-US" altLang="zh-CN" sz="3300" dirty="0">
                <a:latin typeface="Arial" panose="020B0604020202020204" pitchFamily="34" charset="0"/>
                <a:cs typeface="Arial" panose="020B0604020202020204" pitchFamily="34" charset="0"/>
              </a:rPr>
              <a:t>most contention-based protocols do not require to save, maintain, or share state information</a:t>
            </a:r>
          </a:p>
          <a:p>
            <a:pPr lvl="1">
              <a:lnSpc>
                <a:spcPct val="140000"/>
              </a:lnSpc>
            </a:pPr>
            <a:r>
              <a:rPr lang="en-US" altLang="zh-CN" sz="3300" dirty="0">
                <a:latin typeface="Arial" panose="020B0604020202020204" pitchFamily="34" charset="0"/>
                <a:cs typeface="Arial" panose="020B0604020202020204" pitchFamily="34" charset="0"/>
              </a:rPr>
              <a:t>this also allows contention-based protocols to  adapt quickly to changes in network topologies or traffic characteristics </a:t>
            </a:r>
          </a:p>
          <a:p>
            <a:pPr>
              <a:lnSpc>
                <a:spcPct val="140000"/>
              </a:lnSpc>
            </a:pPr>
            <a:r>
              <a:rPr lang="en-US" altLang="zh-CN" sz="3600" dirty="0">
                <a:latin typeface="Arial" panose="020B0604020202020204" pitchFamily="34" charset="0"/>
                <a:cs typeface="Arial" panose="020B0604020202020204" pitchFamily="34" charset="0"/>
              </a:rPr>
              <a:t>However, they typically result in </a:t>
            </a:r>
            <a:r>
              <a:rPr lang="en-US" altLang="zh-CN" sz="3600" dirty="0">
                <a:solidFill>
                  <a:schemeClr val="tx2">
                    <a:lumMod val="75000"/>
                    <a:lumOff val="25000"/>
                  </a:schemeClr>
                </a:solidFill>
                <a:latin typeface="Arial" panose="020B0604020202020204" pitchFamily="34" charset="0"/>
                <a:cs typeface="Arial" panose="020B0604020202020204" pitchFamily="34" charset="0"/>
              </a:rPr>
              <a:t>higher collision rates </a:t>
            </a:r>
            <a:r>
              <a:rPr lang="en-US" altLang="zh-CN" sz="3600" dirty="0">
                <a:latin typeface="Arial" panose="020B0604020202020204" pitchFamily="34" charset="0"/>
                <a:cs typeface="Arial" panose="020B0604020202020204" pitchFamily="34" charset="0"/>
              </a:rPr>
              <a:t>and  </a:t>
            </a:r>
            <a:r>
              <a:rPr lang="en-US" altLang="zh-CN" sz="3600" dirty="0">
                <a:solidFill>
                  <a:schemeClr val="tx2">
                    <a:lumMod val="75000"/>
                    <a:lumOff val="25000"/>
                  </a:schemeClr>
                </a:solidFill>
                <a:latin typeface="Arial" panose="020B0604020202020204" pitchFamily="34" charset="0"/>
                <a:cs typeface="Arial" panose="020B0604020202020204" pitchFamily="34" charset="0"/>
              </a:rPr>
              <a:t>overheads</a:t>
            </a:r>
            <a:r>
              <a:rPr lang="en-US" altLang="zh-CN" sz="3600" dirty="0">
                <a:latin typeface="Arial" panose="020B0604020202020204" pitchFamily="34" charset="0"/>
                <a:cs typeface="Arial" panose="020B0604020202020204" pitchFamily="34" charset="0"/>
              </a:rPr>
              <a:t>  due to idle listening and overhearing (overheads usually refer to additional bits in a packet or additional packets  such as control packets) </a:t>
            </a:r>
          </a:p>
          <a:p>
            <a:pPr>
              <a:lnSpc>
                <a:spcPct val="140000"/>
              </a:lnSpc>
            </a:pPr>
            <a:r>
              <a:rPr lang="en-US" altLang="zh-CN" sz="3600" dirty="0">
                <a:latin typeface="Arial" panose="020B0604020202020204" pitchFamily="34" charset="0"/>
                <a:cs typeface="Arial" panose="020B0604020202020204" pitchFamily="34" charset="0"/>
              </a:rPr>
              <a:t>They may also suffer from  </a:t>
            </a:r>
            <a:r>
              <a:rPr lang="en-US" altLang="zh-CN" sz="3600" dirty="0">
                <a:solidFill>
                  <a:schemeClr val="tx2">
                    <a:lumMod val="75000"/>
                    <a:lumOff val="25000"/>
                  </a:schemeClr>
                </a:solidFill>
                <a:latin typeface="Arial" panose="020B0604020202020204" pitchFamily="34" charset="0"/>
                <a:cs typeface="Arial" panose="020B0604020202020204" pitchFamily="34" charset="0"/>
              </a:rPr>
              <a:t>fairness issues  </a:t>
            </a:r>
            <a:r>
              <a:rPr lang="en-US" altLang="zh-CN" sz="3600" dirty="0">
                <a:latin typeface="Arial" panose="020B0604020202020204" pitchFamily="34" charset="0"/>
                <a:cs typeface="Arial" panose="020B0604020202020204" pitchFamily="34" charset="0"/>
              </a:rPr>
              <a:t>(i.e., some nodes may be able to obtain more frequent channel accesses than others)</a:t>
            </a:r>
            <a:endParaRPr lang="zh-CN" alt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3061676"/>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1230708" cy="1325563"/>
          </a:xfrm>
        </p:spPr>
        <p:txBody>
          <a:bodyPr>
            <a:normAutofit/>
          </a:bodyPr>
          <a:lstStyle/>
          <a:p>
            <a:r>
              <a:rPr lang="en-US" altLang="zh-CN" b="1" dirty="0">
                <a:latin typeface="Arial" panose="020B0604020202020204" pitchFamily="34" charset="0"/>
                <a:cs typeface="Arial" panose="020B0604020202020204" pitchFamily="34" charset="0"/>
              </a:rPr>
              <a:t>Power Aware Multi-Access with Signaling</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460500"/>
            <a:ext cx="11230707" cy="5032375"/>
          </a:xfrm>
        </p:spPr>
        <p:txBody>
          <a:bodyPr>
            <a:normAutofit fontScale="62500" lnSpcReduction="20000"/>
          </a:bodyPr>
          <a:lstStyle/>
          <a:p>
            <a:pPr>
              <a:lnSpc>
                <a:spcPct val="140000"/>
              </a:lnSpc>
            </a:pPr>
            <a:r>
              <a:rPr lang="en-US" altLang="zh-CN" sz="3200" dirty="0">
                <a:latin typeface="Arial" panose="020B0604020202020204" pitchFamily="34" charset="0"/>
                <a:cs typeface="Arial" panose="020B0604020202020204" pitchFamily="34" charset="0"/>
              </a:rPr>
              <a:t>The </a:t>
            </a:r>
            <a:r>
              <a:rPr lang="en-US" altLang="zh-CN" sz="3200" dirty="0">
                <a:solidFill>
                  <a:schemeClr val="tx2">
                    <a:lumMod val="75000"/>
                    <a:lumOff val="25000"/>
                  </a:schemeClr>
                </a:solidFill>
                <a:latin typeface="Arial" panose="020B0604020202020204" pitchFamily="34" charset="0"/>
                <a:cs typeface="Arial" panose="020B0604020202020204" pitchFamily="34" charset="0"/>
              </a:rPr>
              <a:t>PAMAS</a:t>
            </a:r>
            <a:r>
              <a:rPr lang="en-US" altLang="zh-CN" sz="3200" dirty="0">
                <a:latin typeface="Arial" panose="020B0604020202020204" pitchFamily="34" charset="0"/>
                <a:cs typeface="Arial" panose="020B0604020202020204" pitchFamily="34" charset="0"/>
              </a:rPr>
              <a:t>  protocol attempts to avoid unnecessary energy expenditure caused by overhearing</a:t>
            </a:r>
          </a:p>
          <a:p>
            <a:pPr>
              <a:lnSpc>
                <a:spcPct val="140000"/>
              </a:lnSpc>
            </a:pPr>
            <a:endParaRPr lang="en-US" altLang="zh-CN" dirty="0">
              <a:latin typeface="Arial" panose="020B0604020202020204" pitchFamily="34" charset="0"/>
              <a:cs typeface="Arial" panose="020B0604020202020204" pitchFamily="34" charset="0"/>
            </a:endParaRPr>
          </a:p>
          <a:p>
            <a:pPr>
              <a:lnSpc>
                <a:spcPct val="140000"/>
              </a:lnSpc>
            </a:pPr>
            <a:endParaRPr lang="en-US" altLang="zh-CN" dirty="0">
              <a:latin typeface="Arial" panose="020B0604020202020204" pitchFamily="34" charset="0"/>
              <a:cs typeface="Arial" panose="020B0604020202020204" pitchFamily="34" charset="0"/>
            </a:endParaRPr>
          </a:p>
          <a:p>
            <a:pPr>
              <a:lnSpc>
                <a:spcPct val="140000"/>
              </a:lnSpc>
            </a:pPr>
            <a:endParaRPr lang="en-US" altLang="zh-CN" dirty="0">
              <a:latin typeface="Arial" panose="020B0604020202020204" pitchFamily="34" charset="0"/>
              <a:cs typeface="Arial" panose="020B0604020202020204" pitchFamily="34" charset="0"/>
            </a:endParaRPr>
          </a:p>
          <a:p>
            <a:pPr marL="0" indent="0">
              <a:lnSpc>
                <a:spcPct val="140000"/>
              </a:lnSpc>
              <a:buNone/>
            </a:pPr>
            <a:endParaRPr lang="en-US" altLang="zh-CN" dirty="0">
              <a:latin typeface="Arial" panose="020B0604020202020204" pitchFamily="34" charset="0"/>
              <a:cs typeface="Arial" panose="020B0604020202020204" pitchFamily="34" charset="0"/>
            </a:endParaRPr>
          </a:p>
          <a:p>
            <a:pPr>
              <a:lnSpc>
                <a:spcPct val="140000"/>
              </a:lnSpc>
            </a:pPr>
            <a:r>
              <a:rPr lang="en-US" altLang="zh-CN" sz="3200" dirty="0">
                <a:latin typeface="Arial" panose="020B0604020202020204" pitchFamily="34" charset="0"/>
                <a:cs typeface="Arial" panose="020B0604020202020204" pitchFamily="34" charset="0"/>
              </a:rPr>
              <a:t>PAMAS uses </a:t>
            </a:r>
            <a:r>
              <a:rPr lang="en-US" altLang="zh-CN" sz="3200" dirty="0">
                <a:solidFill>
                  <a:schemeClr val="tx2">
                    <a:lumMod val="75000"/>
                    <a:lumOff val="25000"/>
                  </a:schemeClr>
                </a:solidFill>
                <a:latin typeface="Arial" panose="020B0604020202020204" pitchFamily="34" charset="0"/>
                <a:cs typeface="Arial" panose="020B0604020202020204" pitchFamily="34" charset="0"/>
              </a:rPr>
              <a:t>two separate channels </a:t>
            </a:r>
            <a:r>
              <a:rPr lang="en-US" altLang="zh-CN" sz="3200" dirty="0">
                <a:latin typeface="Arial" panose="020B0604020202020204" pitchFamily="34" charset="0"/>
                <a:cs typeface="Arial" panose="020B0604020202020204" pitchFamily="34" charset="0"/>
              </a:rPr>
              <a:t>to prevent collisions among data transmissions: one for </a:t>
            </a:r>
            <a:r>
              <a:rPr lang="en-US" altLang="zh-CN" sz="3200" dirty="0">
                <a:solidFill>
                  <a:schemeClr val="tx2">
                    <a:lumMod val="75000"/>
                    <a:lumOff val="25000"/>
                  </a:schemeClr>
                </a:solidFill>
                <a:latin typeface="Arial" panose="020B0604020202020204" pitchFamily="34" charset="0"/>
                <a:cs typeface="Arial" panose="020B0604020202020204" pitchFamily="34" charset="0"/>
              </a:rPr>
              <a:t>data frames  </a:t>
            </a:r>
            <a:r>
              <a:rPr lang="en-US" altLang="zh-CN" sz="3200" dirty="0">
                <a:latin typeface="Arial" panose="020B0604020202020204" pitchFamily="34" charset="0"/>
                <a:cs typeface="Arial" panose="020B0604020202020204" pitchFamily="34" charset="0"/>
              </a:rPr>
              <a:t>and one for </a:t>
            </a:r>
            <a:r>
              <a:rPr lang="en-US" altLang="zh-CN" sz="3200" dirty="0">
                <a:solidFill>
                  <a:schemeClr val="tx2">
                    <a:lumMod val="75000"/>
                    <a:lumOff val="25000"/>
                  </a:schemeClr>
                </a:solidFill>
                <a:latin typeface="Arial" panose="020B0604020202020204" pitchFamily="34" charset="0"/>
                <a:cs typeface="Arial" panose="020B0604020202020204" pitchFamily="34" charset="0"/>
              </a:rPr>
              <a:t>control frames (ready-to-send </a:t>
            </a:r>
            <a:r>
              <a:rPr lang="en-US" altLang="zh-CN" sz="3200" dirty="0">
                <a:latin typeface="Arial" panose="020B0604020202020204" pitchFamily="34" charset="0"/>
                <a:cs typeface="Arial" panose="020B0604020202020204" pitchFamily="34" charset="0"/>
              </a:rPr>
              <a:t>or</a:t>
            </a:r>
            <a:r>
              <a:rPr lang="en-US" altLang="zh-CN" sz="3200" dirty="0">
                <a:solidFill>
                  <a:schemeClr val="tx2">
                    <a:lumMod val="75000"/>
                    <a:lumOff val="25000"/>
                  </a:schemeClr>
                </a:solidFill>
                <a:latin typeface="Arial" panose="020B0604020202020204" pitchFamily="34" charset="0"/>
                <a:cs typeface="Arial" panose="020B0604020202020204" pitchFamily="34" charset="0"/>
              </a:rPr>
              <a:t> RTS </a:t>
            </a:r>
            <a:r>
              <a:rPr lang="en-US" altLang="zh-CN" sz="3200" dirty="0">
                <a:latin typeface="Arial" panose="020B0604020202020204" pitchFamily="34" charset="0"/>
                <a:cs typeface="Arial" panose="020B0604020202020204" pitchFamily="34" charset="0"/>
              </a:rPr>
              <a:t>and</a:t>
            </a:r>
            <a:r>
              <a:rPr lang="en-US" altLang="zh-CN" sz="3200" dirty="0">
                <a:solidFill>
                  <a:schemeClr val="tx2">
                    <a:lumMod val="75000"/>
                    <a:lumOff val="25000"/>
                  </a:schemeClr>
                </a:solidFill>
                <a:latin typeface="Arial" panose="020B0604020202020204" pitchFamily="34" charset="0"/>
                <a:cs typeface="Arial" panose="020B0604020202020204" pitchFamily="34" charset="0"/>
              </a:rPr>
              <a:t> clear-to-send </a:t>
            </a:r>
            <a:r>
              <a:rPr lang="en-US" altLang="zh-CN" sz="3200" dirty="0">
                <a:latin typeface="Arial" panose="020B0604020202020204" pitchFamily="34" charset="0"/>
                <a:cs typeface="Arial" panose="020B0604020202020204" pitchFamily="34" charset="0"/>
              </a:rPr>
              <a:t>or </a:t>
            </a:r>
            <a:r>
              <a:rPr lang="en-US" altLang="zh-CN" sz="3200" dirty="0">
                <a:solidFill>
                  <a:schemeClr val="tx2">
                    <a:lumMod val="75000"/>
                    <a:lumOff val="25000"/>
                  </a:schemeClr>
                </a:solidFill>
                <a:latin typeface="Arial" panose="020B0604020202020204" pitchFamily="34" charset="0"/>
                <a:cs typeface="Arial" panose="020B0604020202020204" pitchFamily="34" charset="0"/>
              </a:rPr>
              <a:t>CTS)</a:t>
            </a:r>
          </a:p>
          <a:p>
            <a:pPr>
              <a:lnSpc>
                <a:spcPct val="140000"/>
              </a:lnSpc>
            </a:pPr>
            <a:r>
              <a:rPr lang="en-US" altLang="zh-CN" sz="3200" dirty="0">
                <a:latin typeface="Arial" panose="020B0604020202020204" pitchFamily="34" charset="0"/>
                <a:cs typeface="Arial" panose="020B0604020202020204" pitchFamily="34" charset="0"/>
              </a:rPr>
              <a:t>The separate signaling channel allows nodes to determine when and how long to power down their wireless transceivers </a:t>
            </a:r>
          </a:p>
          <a:p>
            <a:pPr lvl="1">
              <a:lnSpc>
                <a:spcPct val="140000"/>
              </a:lnSpc>
            </a:pPr>
            <a:r>
              <a:rPr lang="en-US" altLang="zh-CN" sz="2900" dirty="0">
                <a:latin typeface="Arial" panose="020B0604020202020204" pitchFamily="34" charset="0"/>
                <a:cs typeface="Arial" panose="020B0604020202020204" pitchFamily="34" charset="0"/>
              </a:rPr>
              <a:t>devices transmit </a:t>
            </a:r>
            <a:r>
              <a:rPr lang="en-US" altLang="zh-CN" sz="2900" dirty="0">
                <a:solidFill>
                  <a:schemeClr val="tx2">
                    <a:lumMod val="75000"/>
                    <a:lumOff val="25000"/>
                  </a:schemeClr>
                </a:solidFill>
                <a:latin typeface="Arial" panose="020B0604020202020204" pitchFamily="34" charset="0"/>
                <a:cs typeface="Arial" panose="020B0604020202020204" pitchFamily="34" charset="0"/>
              </a:rPr>
              <a:t>busy tones  </a:t>
            </a:r>
            <a:r>
              <a:rPr lang="en-US" altLang="zh-CN" sz="2900" dirty="0">
                <a:latin typeface="Arial" panose="020B0604020202020204" pitchFamily="34" charset="0"/>
                <a:cs typeface="Arial" panose="020B0604020202020204" pitchFamily="34" charset="0"/>
              </a:rPr>
              <a:t>on the control channel to ensure that devices that did not overhear either RTS or CTS will not access the data channel for transmissions</a:t>
            </a:r>
            <a:endParaRPr lang="zh-CN" altLang="en-US" sz="2900" dirty="0">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4550" y="2034568"/>
            <a:ext cx="4327700" cy="1502989"/>
          </a:xfrm>
          <a:prstGeom prst="rect">
            <a:avLst/>
          </a:prstGeom>
        </p:spPr>
      </p:pic>
    </p:spTree>
    <p:extLst>
      <p:ext uri="{BB962C8B-B14F-4D97-AF65-F5344CB8AC3E}">
        <p14:creationId xmlns:p14="http://schemas.microsoft.com/office/powerpoint/2010/main" val="1497507900"/>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1277600" cy="1325563"/>
          </a:xfrm>
        </p:spPr>
        <p:txBody>
          <a:bodyPr>
            <a:normAutofit/>
          </a:bodyPr>
          <a:lstStyle/>
          <a:p>
            <a:r>
              <a:rPr lang="en-US" altLang="zh-CN" b="1" dirty="0">
                <a:latin typeface="Arial" panose="020B0604020202020204" pitchFamily="34" charset="0"/>
                <a:cs typeface="Arial" panose="020B0604020202020204" pitchFamily="34" charset="0"/>
              </a:rPr>
              <a:t>Power Aware Multi-Access with Signaling</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4903421"/>
          </a:xfrm>
        </p:spPr>
        <p:txBody>
          <a:bodyPr>
            <a:normAutofit fontScale="77500" lnSpcReduction="20000"/>
          </a:bodyPr>
          <a:lstStyle/>
          <a:p>
            <a:pPr>
              <a:lnSpc>
                <a:spcPct val="140000"/>
              </a:lnSpc>
            </a:pPr>
            <a:r>
              <a:rPr lang="en-US" altLang="zh-CN" dirty="0">
                <a:solidFill>
                  <a:schemeClr val="tx2">
                    <a:lumMod val="75000"/>
                    <a:lumOff val="25000"/>
                  </a:schemeClr>
                </a:solidFill>
                <a:latin typeface="Arial" panose="020B0604020202020204" pitchFamily="34" charset="0"/>
                <a:cs typeface="Arial" panose="020B0604020202020204" pitchFamily="34" charset="0"/>
              </a:rPr>
              <a:t>Initiating a data transfer </a:t>
            </a:r>
          </a:p>
          <a:p>
            <a:pPr lvl="1">
              <a:lnSpc>
                <a:spcPct val="140000"/>
              </a:lnSpc>
            </a:pPr>
            <a:r>
              <a:rPr lang="en-US" altLang="zh-CN" dirty="0">
                <a:latin typeface="Arial" panose="020B0604020202020204" pitchFamily="34" charset="0"/>
                <a:cs typeface="Arial" panose="020B0604020202020204" pitchFamily="34" charset="0"/>
              </a:rPr>
              <a:t>a PAMAS device sends an RTS message over the control channel to the receiver</a:t>
            </a:r>
          </a:p>
          <a:p>
            <a:pPr lvl="1">
              <a:lnSpc>
                <a:spcPct val="140000"/>
              </a:lnSpc>
            </a:pPr>
            <a:r>
              <a:rPr lang="en-US" altLang="zh-CN" dirty="0">
                <a:latin typeface="Arial" panose="020B0604020202020204" pitchFamily="34" charset="0"/>
                <a:cs typeface="Arial" panose="020B0604020202020204" pitchFamily="34" charset="0"/>
              </a:rPr>
              <a:t>receiver responds with CTS if it does not detect activity on the data channel and has not overheard other recent RTS or CTS messages </a:t>
            </a:r>
          </a:p>
          <a:p>
            <a:pPr lvl="1">
              <a:lnSpc>
                <a:spcPct val="140000"/>
              </a:lnSpc>
            </a:pPr>
            <a:r>
              <a:rPr lang="en-US" altLang="zh-CN" dirty="0">
                <a:latin typeface="Arial" panose="020B0604020202020204" pitchFamily="34" charset="0"/>
                <a:cs typeface="Arial" panose="020B0604020202020204" pitchFamily="34" charset="0"/>
              </a:rPr>
              <a:t>if the source does not receive a CTS within a specific timeout interval, it will attempt to transmit again after a back-off time </a:t>
            </a:r>
            <a:r>
              <a:rPr lang="en-US" altLang="zh-CN" dirty="0">
                <a:solidFill>
                  <a:schemeClr val="tx2">
                    <a:lumMod val="75000"/>
                    <a:lumOff val="25000"/>
                  </a:schemeClr>
                </a:solidFill>
                <a:latin typeface="Arial" panose="020B0604020202020204" pitchFamily="34" charset="0"/>
                <a:cs typeface="Arial" panose="020B0604020202020204" pitchFamily="34" charset="0"/>
              </a:rPr>
              <a:t>(exponential back-off algorithm)</a:t>
            </a:r>
          </a:p>
          <a:p>
            <a:pPr lvl="1">
              <a:lnSpc>
                <a:spcPct val="140000"/>
              </a:lnSpc>
            </a:pPr>
            <a:r>
              <a:rPr lang="en-US" altLang="zh-CN" dirty="0">
                <a:latin typeface="Arial" panose="020B0604020202020204" pitchFamily="34" charset="0"/>
                <a:cs typeface="Arial" panose="020B0604020202020204" pitchFamily="34" charset="0"/>
              </a:rPr>
              <a:t>otherwise, it begins data transmission and the receiver node issues a busy tone over the control channel (whose length is greater than twice the length of a CTS) </a:t>
            </a:r>
          </a:p>
          <a:p>
            <a:pPr lvl="1">
              <a:lnSpc>
                <a:spcPct val="140000"/>
              </a:lnSpc>
            </a:pPr>
            <a:r>
              <a:rPr lang="en-US" altLang="zh-CN" dirty="0">
                <a:latin typeface="Arial" panose="020B0604020202020204" pitchFamily="34" charset="0"/>
                <a:cs typeface="Arial" panose="020B0604020202020204" pitchFamily="34" charset="0"/>
              </a:rPr>
              <a:t>the receiver device also issues a busy tone over the control channel whenever it receives an RTS message or detects noise on the control channel while it receives a frame</a:t>
            </a:r>
          </a:p>
          <a:p>
            <a:pPr lvl="2">
              <a:lnSpc>
                <a:spcPct val="140000"/>
              </a:lnSpc>
            </a:pPr>
            <a:r>
              <a:rPr lang="en-US" altLang="zh-CN" dirty="0">
                <a:latin typeface="Arial" panose="020B0604020202020204" pitchFamily="34" charset="0"/>
                <a:cs typeface="Arial" panose="020B0604020202020204" pitchFamily="34" charset="0"/>
              </a:rPr>
              <a:t>done to corrupt possible CTS message replies to the detected RTS, thereby blocking any data transmission of the </a:t>
            </a:r>
            <a:r>
              <a:rPr lang="en-US" altLang="zh-CN" dirty="0" err="1">
                <a:latin typeface="Arial" panose="020B0604020202020204" pitchFamily="34" charset="0"/>
                <a:cs typeface="Arial" panose="020B0604020202020204" pitchFamily="34" charset="0"/>
              </a:rPr>
              <a:t>receiverʼs</a:t>
            </a:r>
            <a:r>
              <a:rPr lang="en-US" altLang="zh-CN" dirty="0">
                <a:latin typeface="Arial" panose="020B0604020202020204" pitchFamily="34" charset="0"/>
                <a:cs typeface="Arial" panose="020B0604020202020204" pitchFamily="34" charset="0"/>
              </a:rPr>
              <a:t> neighbors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5561813"/>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1224846" cy="1325563"/>
          </a:xfrm>
        </p:spPr>
        <p:txBody>
          <a:bodyPr>
            <a:normAutofit/>
          </a:bodyPr>
          <a:lstStyle/>
          <a:p>
            <a:r>
              <a:rPr lang="en-US" altLang="zh-CN" b="1" dirty="0">
                <a:latin typeface="Arial" panose="020B0604020202020204" pitchFamily="34" charset="0"/>
                <a:cs typeface="Arial" panose="020B0604020202020204" pitchFamily="34" charset="0"/>
              </a:rPr>
              <a:t>Power Aware Multi-Access with Signaling</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5"/>
            <a:ext cx="10779369" cy="4351338"/>
          </a:xfrm>
        </p:spPr>
        <p:txBody>
          <a:bodyPr>
            <a:normAutofit fontScale="70000" lnSpcReduction="20000"/>
          </a:bodyPr>
          <a:lstStyle/>
          <a:p>
            <a:pPr>
              <a:lnSpc>
                <a:spcPct val="140000"/>
              </a:lnSpc>
            </a:pPr>
            <a:r>
              <a:rPr lang="en-US" altLang="zh-CN" dirty="0">
                <a:latin typeface="Arial" panose="020B0604020202020204" pitchFamily="34" charset="0"/>
                <a:cs typeface="Arial" panose="020B0604020202020204" pitchFamily="34" charset="0"/>
              </a:rPr>
              <a:t>Every node in a PAMAS network independently decides when to power off its transceiver</a:t>
            </a:r>
          </a:p>
          <a:p>
            <a:pPr>
              <a:lnSpc>
                <a:spcPct val="140000"/>
              </a:lnSpc>
            </a:pPr>
            <a:r>
              <a:rPr lang="en-US" altLang="zh-CN" dirty="0">
                <a:latin typeface="Arial" panose="020B0604020202020204" pitchFamily="34" charset="0"/>
                <a:cs typeface="Arial" panose="020B0604020202020204" pitchFamily="34" charset="0"/>
              </a:rPr>
              <a:t>Specifically, a node decides to turn off its transceiver whenever one of </a:t>
            </a:r>
            <a:r>
              <a:rPr lang="en-US" altLang="zh-CN" dirty="0">
                <a:solidFill>
                  <a:schemeClr val="tx2">
                    <a:lumMod val="75000"/>
                    <a:lumOff val="25000"/>
                  </a:schemeClr>
                </a:solidFill>
                <a:latin typeface="Arial" panose="020B0604020202020204" pitchFamily="34" charset="0"/>
                <a:cs typeface="Arial" panose="020B0604020202020204" pitchFamily="34" charset="0"/>
              </a:rPr>
              <a:t>two conditions </a:t>
            </a:r>
            <a:r>
              <a:rPr lang="en-US" altLang="zh-CN" dirty="0">
                <a:latin typeface="Arial" panose="020B0604020202020204" pitchFamily="34" charset="0"/>
                <a:cs typeface="Arial" panose="020B0604020202020204" pitchFamily="34" charset="0"/>
              </a:rPr>
              <a:t>holds: </a:t>
            </a:r>
          </a:p>
          <a:p>
            <a:pPr lvl="1">
              <a:lnSpc>
                <a:spcPct val="140000"/>
              </a:lnSpc>
            </a:pPr>
            <a:r>
              <a:rPr lang="en-US" altLang="zh-CN" dirty="0">
                <a:latin typeface="Arial" panose="020B0604020202020204" pitchFamily="34" charset="0"/>
                <a:cs typeface="Arial" panose="020B0604020202020204" pitchFamily="34" charset="0"/>
              </a:rPr>
              <a:t>a neighbor begins a transmission and the node has no frames to transmit </a:t>
            </a:r>
          </a:p>
          <a:p>
            <a:pPr lvl="1">
              <a:lnSpc>
                <a:spcPct val="140000"/>
              </a:lnSpc>
            </a:pPr>
            <a:r>
              <a:rPr lang="en-US" altLang="zh-CN" dirty="0">
                <a:latin typeface="Arial" panose="020B0604020202020204" pitchFamily="34" charset="0"/>
                <a:cs typeface="Arial" panose="020B0604020202020204" pitchFamily="34" charset="0"/>
              </a:rPr>
              <a:t>a neighbor transmits a frame to another neighbor, even if the node has frames to transmit</a:t>
            </a:r>
          </a:p>
          <a:p>
            <a:pPr>
              <a:lnSpc>
                <a:spcPct val="140000"/>
              </a:lnSpc>
            </a:pPr>
            <a:r>
              <a:rPr lang="en-US" altLang="zh-CN" dirty="0">
                <a:latin typeface="Arial" panose="020B0604020202020204" pitchFamily="34" charset="0"/>
                <a:cs typeface="Arial" panose="020B0604020202020204" pitchFamily="34" charset="0"/>
              </a:rPr>
              <a:t>A node can easily detect either condition by </a:t>
            </a:r>
          </a:p>
          <a:p>
            <a:pPr lvl="1">
              <a:lnSpc>
                <a:spcPct val="140000"/>
              </a:lnSpc>
            </a:pPr>
            <a:r>
              <a:rPr lang="en-US" altLang="zh-CN" dirty="0">
                <a:latin typeface="Arial" panose="020B0604020202020204" pitchFamily="34" charset="0"/>
                <a:cs typeface="Arial" panose="020B0604020202020204" pitchFamily="34" charset="0"/>
              </a:rPr>
              <a:t>overhearing its </a:t>
            </a:r>
            <a:r>
              <a:rPr lang="en-US" altLang="zh-CN" dirty="0" err="1">
                <a:latin typeface="Arial" panose="020B0604020202020204" pitchFamily="34" charset="0"/>
                <a:cs typeface="Arial" panose="020B0604020202020204" pitchFamily="34" charset="0"/>
              </a:rPr>
              <a:t>neighborʼ</a:t>
            </a:r>
            <a:r>
              <a:rPr lang="en-US" altLang="zh-CN" dirty="0">
                <a:latin typeface="Arial" panose="020B0604020202020204" pitchFamily="34" charset="0"/>
                <a:cs typeface="Arial" panose="020B0604020202020204" pitchFamily="34" charset="0"/>
              </a:rPr>
              <a:t> s transmissions (condition 1) or </a:t>
            </a:r>
          </a:p>
          <a:p>
            <a:pPr lvl="1">
              <a:lnSpc>
                <a:spcPct val="140000"/>
              </a:lnSpc>
            </a:pPr>
            <a:r>
              <a:rPr lang="en-US" altLang="zh-CN" dirty="0">
                <a:latin typeface="Arial" panose="020B0604020202020204" pitchFamily="34" charset="0"/>
                <a:cs typeface="Arial" panose="020B0604020202020204" pitchFamily="34" charset="0"/>
              </a:rPr>
              <a:t>overhearing its </a:t>
            </a:r>
            <a:r>
              <a:rPr lang="en-US" altLang="zh-CN" dirty="0" err="1">
                <a:latin typeface="Arial" panose="020B0604020202020204" pitchFamily="34" charset="0"/>
                <a:cs typeface="Arial" panose="020B0604020202020204" pitchFamily="34" charset="0"/>
              </a:rPr>
              <a:t>neighborʼ</a:t>
            </a:r>
            <a:r>
              <a:rPr lang="en-US" altLang="zh-CN" dirty="0">
                <a:latin typeface="Arial" panose="020B0604020202020204" pitchFamily="34" charset="0"/>
                <a:cs typeface="Arial" panose="020B0604020202020204" pitchFamily="34" charset="0"/>
              </a:rPr>
              <a:t> s busy tone (condition 2) </a:t>
            </a:r>
          </a:p>
          <a:p>
            <a:pPr>
              <a:lnSpc>
                <a:spcPct val="140000"/>
              </a:lnSpc>
            </a:pPr>
            <a:r>
              <a:rPr lang="en-US" altLang="zh-CN" dirty="0">
                <a:latin typeface="Arial" panose="020B0604020202020204" pitchFamily="34" charset="0"/>
                <a:cs typeface="Arial" panose="020B0604020202020204" pitchFamily="34" charset="0"/>
              </a:rPr>
              <a:t>A node can identify how long to power down its transceiver by embedding the size or expected transmission duration into messages </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5740609"/>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1224846" cy="1325563"/>
          </a:xfrm>
        </p:spPr>
        <p:txBody>
          <a:bodyPr>
            <a:normAutofit/>
          </a:bodyPr>
          <a:lstStyle/>
          <a:p>
            <a:r>
              <a:rPr lang="en-US" altLang="zh-CN" b="1" dirty="0">
                <a:latin typeface="Arial" panose="020B0604020202020204" pitchFamily="34" charset="0"/>
                <a:cs typeface="Arial" panose="020B0604020202020204" pitchFamily="34" charset="0"/>
              </a:rPr>
              <a:t>Power Aware Multi-Access with Signaling</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4926867"/>
          </a:xfrm>
        </p:spPr>
        <p:txBody>
          <a:bodyPr>
            <a:normAutofit fontScale="70000" lnSpcReduction="20000"/>
          </a:bodyPr>
          <a:lstStyle/>
          <a:p>
            <a:pPr>
              <a:lnSpc>
                <a:spcPct val="140000"/>
              </a:lnSpc>
            </a:pPr>
            <a:r>
              <a:rPr lang="en-US" altLang="zh-CN" dirty="0">
                <a:latin typeface="Arial" panose="020B0604020202020204" pitchFamily="34" charset="0"/>
                <a:cs typeface="Arial" panose="020B0604020202020204" pitchFamily="34" charset="0"/>
              </a:rPr>
              <a:t>However, when a transmission begins while a node is still asleep, it does not know how long this transmission will last and how long it should continue to sleep </a:t>
            </a:r>
          </a:p>
          <a:p>
            <a:pPr>
              <a:lnSpc>
                <a:spcPct val="140000"/>
              </a:lnSpc>
            </a:pPr>
            <a:r>
              <a:rPr lang="en-US" altLang="zh-CN" dirty="0">
                <a:latin typeface="Arial" panose="020B0604020202020204" pitchFamily="34" charset="0"/>
                <a:cs typeface="Arial" panose="020B0604020202020204" pitchFamily="34" charset="0"/>
              </a:rPr>
              <a:t>Therefore, the node issues a </a:t>
            </a:r>
            <a:r>
              <a:rPr lang="en-US" altLang="zh-CN" dirty="0">
                <a:solidFill>
                  <a:schemeClr val="tx2">
                    <a:lumMod val="75000"/>
                    <a:lumOff val="25000"/>
                  </a:schemeClr>
                </a:solidFill>
                <a:latin typeface="Arial" panose="020B0604020202020204" pitchFamily="34" charset="0"/>
                <a:cs typeface="Arial" panose="020B0604020202020204" pitchFamily="34" charset="0"/>
              </a:rPr>
              <a:t>probe frame </a:t>
            </a:r>
            <a:r>
              <a:rPr lang="en-US" altLang="zh-CN" dirty="0">
                <a:latin typeface="Arial" panose="020B0604020202020204" pitchFamily="34" charset="0"/>
                <a:cs typeface="Arial" panose="020B0604020202020204" pitchFamily="34" charset="0"/>
              </a:rPr>
              <a:t>(containing a certain time interval) over the control channel to all transmitting nodes in its neighborhood</a:t>
            </a:r>
          </a:p>
          <a:p>
            <a:pPr lvl="1">
              <a:lnSpc>
                <a:spcPct val="140000"/>
              </a:lnSpc>
            </a:pPr>
            <a:r>
              <a:rPr lang="en-US" altLang="zh-CN" dirty="0">
                <a:latin typeface="Arial" panose="020B0604020202020204" pitchFamily="34" charset="0"/>
                <a:cs typeface="Arial" panose="020B0604020202020204" pitchFamily="34" charset="0"/>
              </a:rPr>
              <a:t>all transmitters that will complete during this interval respond with their predicted completion time</a:t>
            </a:r>
          </a:p>
          <a:p>
            <a:pPr lvl="1">
              <a:lnSpc>
                <a:spcPct val="140000"/>
              </a:lnSpc>
            </a:pPr>
            <a:r>
              <a:rPr lang="en-US" altLang="zh-CN" dirty="0">
                <a:latin typeface="Arial" panose="020B0604020202020204" pitchFamily="34" charset="0"/>
                <a:cs typeface="Arial" panose="020B0604020202020204" pitchFamily="34" charset="0"/>
              </a:rPr>
              <a:t>if such a response is received by the awakening node without collision, it can return to the sleep mode until the completion time indicated by the transmitting node </a:t>
            </a:r>
          </a:p>
          <a:p>
            <a:pPr lvl="1">
              <a:lnSpc>
                <a:spcPct val="140000"/>
              </a:lnSpc>
            </a:pPr>
            <a:r>
              <a:rPr lang="en-US" altLang="zh-CN" dirty="0">
                <a:latin typeface="Arial" panose="020B0604020202020204" pitchFamily="34" charset="0"/>
                <a:cs typeface="Arial" panose="020B0604020202020204" pitchFamily="34" charset="0"/>
              </a:rPr>
              <a:t>if multiple transmitters respond and their responses collide, the node reissues the probe frame with a shorter time interval</a:t>
            </a:r>
          </a:p>
          <a:p>
            <a:pPr lvl="1">
              <a:lnSpc>
                <a:spcPct val="140000"/>
              </a:lnSpc>
            </a:pPr>
            <a:r>
              <a:rPr lang="en-US" altLang="zh-CN" dirty="0">
                <a:latin typeface="Arial" panose="020B0604020202020204" pitchFamily="34" charset="0"/>
                <a:cs typeface="Arial" panose="020B0604020202020204" pitchFamily="34" charset="0"/>
              </a:rPr>
              <a:t>similarly, if the node did not receive a response, it can reissue the probe with a different time interval</a:t>
            </a:r>
          </a:p>
          <a:p>
            <a:pPr lvl="1">
              <a:lnSpc>
                <a:spcPct val="140000"/>
              </a:lnSpc>
            </a:pPr>
            <a:r>
              <a:rPr lang="en-US" altLang="zh-CN" dirty="0">
                <a:latin typeface="Arial" panose="020B0604020202020204" pitchFamily="34" charset="0"/>
                <a:cs typeface="Arial" panose="020B0604020202020204" pitchFamily="34" charset="0"/>
              </a:rPr>
              <a:t>in effect, the node chooses time intervals to perform a binary search to identify when the last ongoing transmission will end </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623364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Sensor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755923" cy="4351338"/>
          </a:xfrm>
        </p:spPr>
        <p:txBody>
          <a:bodyPr>
            <a:normAutofit lnSpcReduction="10000"/>
          </a:bodyPr>
          <a:lstStyle/>
          <a:p>
            <a:pPr>
              <a:lnSpc>
                <a:spcPct val="120000"/>
              </a:lnSpc>
            </a:pPr>
            <a:r>
              <a:rPr lang="en-US" altLang="zh-CN" sz="2600" dirty="0">
                <a:latin typeface="Arial" panose="020B0604020202020204" pitchFamily="34" charset="0"/>
                <a:cs typeface="Arial" panose="020B0604020202020204" pitchFamily="34" charset="0"/>
              </a:rPr>
              <a:t>The goal of the  </a:t>
            </a:r>
            <a:r>
              <a:rPr lang="en-US" altLang="zh-CN" sz="2600" dirty="0">
                <a:solidFill>
                  <a:schemeClr val="tx2">
                    <a:lumMod val="75000"/>
                    <a:lumOff val="25000"/>
                  </a:schemeClr>
                </a:solidFill>
                <a:latin typeface="Arial" panose="020B0604020202020204" pitchFamily="34" charset="0"/>
                <a:cs typeface="Arial" panose="020B0604020202020204" pitchFamily="34" charset="0"/>
              </a:rPr>
              <a:t>S-MAC</a:t>
            </a:r>
            <a:r>
              <a:rPr lang="en-US" altLang="zh-CN" sz="2600" dirty="0">
                <a:latin typeface="Arial" panose="020B0604020202020204" pitchFamily="34" charset="0"/>
                <a:cs typeface="Arial" panose="020B0604020202020204" pitchFamily="34" charset="0"/>
              </a:rPr>
              <a:t> protocol is </a:t>
            </a:r>
          </a:p>
          <a:p>
            <a:pPr lvl="1">
              <a:lnSpc>
                <a:spcPct val="120000"/>
              </a:lnSpc>
            </a:pPr>
            <a:r>
              <a:rPr lang="en-US" altLang="zh-CN" sz="2200" dirty="0">
                <a:latin typeface="Arial" panose="020B0604020202020204" pitchFamily="34" charset="0"/>
                <a:cs typeface="Arial" panose="020B0604020202020204" pitchFamily="34" charset="0"/>
              </a:rPr>
              <a:t>to reduce unnecessary energy consumption </a:t>
            </a:r>
          </a:p>
          <a:p>
            <a:pPr lvl="1">
              <a:lnSpc>
                <a:spcPct val="120000"/>
              </a:lnSpc>
            </a:pPr>
            <a:r>
              <a:rPr lang="en-US" altLang="zh-CN" sz="2200" dirty="0">
                <a:latin typeface="Arial" panose="020B0604020202020204" pitchFamily="34" charset="0"/>
                <a:cs typeface="Arial" panose="020B0604020202020204" pitchFamily="34" charset="0"/>
              </a:rPr>
              <a:t>while providing good scalability and collision avoidance mechanism</a:t>
            </a:r>
          </a:p>
          <a:p>
            <a:pPr>
              <a:lnSpc>
                <a:spcPct val="120000"/>
              </a:lnSpc>
            </a:pPr>
            <a:r>
              <a:rPr lang="en-US" altLang="zh-CN" sz="2400" dirty="0">
                <a:latin typeface="Arial" panose="020B0604020202020204" pitchFamily="34" charset="0"/>
                <a:cs typeface="Arial" panose="020B0604020202020204" pitchFamily="34" charset="0"/>
              </a:rPr>
              <a:t>S-MAC adopts a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duty-cycle approach </a:t>
            </a:r>
          </a:p>
          <a:p>
            <a:pPr lvl="1">
              <a:lnSpc>
                <a:spcPct val="120000"/>
              </a:lnSpc>
            </a:pPr>
            <a:r>
              <a:rPr lang="en-US" altLang="zh-CN" sz="2000" dirty="0">
                <a:latin typeface="Arial" panose="020B0604020202020204" pitchFamily="34" charset="0"/>
                <a:cs typeface="Arial" panose="020B0604020202020204" pitchFamily="34" charset="0"/>
              </a:rPr>
              <a:t>nodes periodically transition between a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listen state</a:t>
            </a:r>
            <a:r>
              <a:rPr lang="en-US" altLang="zh-CN" sz="2000" dirty="0">
                <a:latin typeface="Arial" panose="020B0604020202020204" pitchFamily="34" charset="0"/>
                <a:cs typeface="Arial" panose="020B0604020202020204" pitchFamily="34" charset="0"/>
              </a:rPr>
              <a:t>  and a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sleep state </a:t>
            </a:r>
          </a:p>
          <a:p>
            <a:pPr lvl="1">
              <a:lnSpc>
                <a:spcPct val="120000"/>
              </a:lnSpc>
            </a:pPr>
            <a:r>
              <a:rPr lang="en-US" altLang="zh-CN" sz="2000" dirty="0">
                <a:latin typeface="Arial" panose="020B0604020202020204" pitchFamily="34" charset="0"/>
                <a:cs typeface="Arial" panose="020B0604020202020204" pitchFamily="34" charset="0"/>
              </a:rPr>
              <a:t>each node chooses its own schedule, although it is preferred when nodes synchronize their schedules such that nodes listen or sleep at the same time </a:t>
            </a:r>
          </a:p>
          <a:p>
            <a:pPr lvl="1">
              <a:lnSpc>
                <a:spcPct val="120000"/>
              </a:lnSpc>
            </a:pPr>
            <a:r>
              <a:rPr lang="en-US" altLang="zh-CN" sz="2000" dirty="0">
                <a:latin typeface="Arial" panose="020B0604020202020204" pitchFamily="34" charset="0"/>
                <a:cs typeface="Arial" panose="020B0604020202020204" pitchFamily="34" charset="0"/>
              </a:rPr>
              <a:t>nodes using the same schedule are considered to belong to the same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virtual cluster  </a:t>
            </a:r>
            <a:r>
              <a:rPr lang="en-US" altLang="zh-CN" sz="2000" dirty="0">
                <a:latin typeface="Arial" panose="020B0604020202020204" pitchFamily="34" charset="0"/>
                <a:cs typeface="Arial" panose="020B0604020202020204" pitchFamily="34" charset="0"/>
              </a:rPr>
              <a:t>(but no real clustering takes place) </a:t>
            </a:r>
          </a:p>
          <a:p>
            <a:pPr lvl="2">
              <a:lnSpc>
                <a:spcPct val="120000"/>
              </a:lnSpc>
            </a:pPr>
            <a:r>
              <a:rPr lang="en-US" altLang="zh-CN" sz="1800" dirty="0">
                <a:latin typeface="Arial" panose="020B0604020202020204" pitchFamily="34" charset="0"/>
                <a:cs typeface="Arial" panose="020B0604020202020204" pitchFamily="34" charset="0"/>
              </a:rPr>
              <a:t>all nodes are free to communicate with nodes outside their clusters </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517090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Sensor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4926867"/>
          </a:xfrm>
        </p:spPr>
        <p:txBody>
          <a:bodyPr>
            <a:normAutofit fontScale="77500" lnSpcReduction="20000"/>
          </a:bodyPr>
          <a:lstStyle/>
          <a:p>
            <a:pPr>
              <a:lnSpc>
                <a:spcPct val="140000"/>
              </a:lnSpc>
            </a:pPr>
            <a:r>
              <a:rPr lang="en-US" altLang="zh-CN" dirty="0">
                <a:latin typeface="Arial" panose="020B0604020202020204" pitchFamily="34" charset="0"/>
                <a:cs typeface="Arial" panose="020B0604020202020204" pitchFamily="34" charset="0"/>
              </a:rPr>
              <a:t>Nodes periodically exchange their schedules with their neighbors using SYNC messages (every node knows when any of its neighbors will be awake)</a:t>
            </a:r>
          </a:p>
          <a:p>
            <a:pPr>
              <a:lnSpc>
                <a:spcPct val="140000"/>
              </a:lnSpc>
            </a:pPr>
            <a:r>
              <a:rPr lang="en-US" altLang="zh-CN" dirty="0">
                <a:latin typeface="Arial" panose="020B0604020202020204" pitchFamily="34" charset="0"/>
                <a:cs typeface="Arial" panose="020B0604020202020204" pitchFamily="34" charset="0"/>
              </a:rPr>
              <a:t>If node A wants to communicate with a neighbor B that uses a different schedule, A simply waits until B is listening and then initiates the data transfer </a:t>
            </a:r>
          </a:p>
          <a:p>
            <a:pPr lvl="1">
              <a:lnSpc>
                <a:spcPct val="140000"/>
              </a:lnSpc>
            </a:pPr>
            <a:r>
              <a:rPr lang="en-US" altLang="zh-CN" dirty="0">
                <a:latin typeface="Arial" panose="020B0604020202020204" pitchFamily="34" charset="0"/>
                <a:cs typeface="Arial" panose="020B0604020202020204" pitchFamily="34" charset="0"/>
              </a:rPr>
              <a:t>contention for the medium is resolved using the RTS/CTS scheme</a:t>
            </a:r>
          </a:p>
          <a:p>
            <a:pPr>
              <a:lnSpc>
                <a:spcPct val="140000"/>
              </a:lnSpc>
            </a:pPr>
            <a:r>
              <a:rPr lang="en-US" altLang="zh-CN" dirty="0">
                <a:latin typeface="Arial" panose="020B0604020202020204" pitchFamily="34" charset="0"/>
                <a:cs typeface="Arial" panose="020B0604020202020204" pitchFamily="34" charset="0"/>
              </a:rPr>
              <a:t>In order to choose a schedule, a node initially listens to the medium for a certain amount of time </a:t>
            </a:r>
          </a:p>
          <a:p>
            <a:pPr lvl="1">
              <a:lnSpc>
                <a:spcPct val="140000"/>
              </a:lnSpc>
            </a:pPr>
            <a:r>
              <a:rPr lang="en-US" altLang="zh-CN" dirty="0">
                <a:latin typeface="Arial" panose="020B0604020202020204" pitchFamily="34" charset="0"/>
                <a:cs typeface="Arial" panose="020B0604020202020204" pitchFamily="34" charset="0"/>
              </a:rPr>
              <a:t>if this node receives a schedule from a neighbor, it chooses this schedule as its own and this node becomes a </a:t>
            </a:r>
            <a:r>
              <a:rPr lang="en-US" altLang="zh-CN" dirty="0">
                <a:solidFill>
                  <a:schemeClr val="tx2">
                    <a:lumMod val="75000"/>
                    <a:lumOff val="25000"/>
                  </a:schemeClr>
                </a:solidFill>
                <a:latin typeface="Arial" panose="020B0604020202020204" pitchFamily="34" charset="0"/>
                <a:cs typeface="Arial" panose="020B0604020202020204" pitchFamily="34" charset="0"/>
              </a:rPr>
              <a:t>follower </a:t>
            </a:r>
          </a:p>
          <a:p>
            <a:pPr lvl="1">
              <a:lnSpc>
                <a:spcPct val="140000"/>
              </a:lnSpc>
            </a:pPr>
            <a:r>
              <a:rPr lang="en-US" altLang="zh-CN" dirty="0">
                <a:latin typeface="Arial" panose="020B0604020202020204" pitchFamily="34" charset="0"/>
                <a:cs typeface="Arial" panose="020B0604020202020204" pitchFamily="34" charset="0"/>
              </a:rPr>
              <a:t>the node broadcasts its new schedule after a random delay  t</a:t>
            </a:r>
            <a:r>
              <a:rPr lang="en-US" altLang="zh-CN" baseline="-25000" dirty="0">
                <a:latin typeface="Arial" panose="020B0604020202020204" pitchFamily="34" charset="0"/>
                <a:cs typeface="Arial" panose="020B0604020202020204" pitchFamily="34" charset="0"/>
              </a:rPr>
              <a:t>d</a:t>
            </a:r>
            <a:r>
              <a:rPr lang="en-US" altLang="zh-CN" dirty="0">
                <a:latin typeface="Arial" panose="020B0604020202020204" pitchFamily="34" charset="0"/>
                <a:cs typeface="Arial" panose="020B0604020202020204" pitchFamily="34" charset="0"/>
              </a:rPr>
              <a:t> to minimize the possibility for collisions from multiple new followers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836186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Sensor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lstStyle/>
          <a:p>
            <a:pPr>
              <a:lnSpc>
                <a:spcPct val="120000"/>
              </a:lnSpc>
            </a:pPr>
            <a:r>
              <a:rPr lang="en-US" altLang="zh-CN" sz="2400" dirty="0">
                <a:latin typeface="Arial" panose="020B0604020202020204" pitchFamily="34" charset="0"/>
                <a:cs typeface="Arial" panose="020B0604020202020204" pitchFamily="34" charset="0"/>
              </a:rPr>
              <a:t>Nodes can adopt multiple schedules if a node receives a different schedule after it has broadcast its own schedule</a:t>
            </a:r>
          </a:p>
          <a:p>
            <a:pPr lvl="1">
              <a:lnSpc>
                <a:spcPct val="120000"/>
              </a:lnSpc>
            </a:pPr>
            <a:r>
              <a:rPr lang="en-US" altLang="zh-CN" sz="2000" dirty="0">
                <a:latin typeface="Arial" panose="020B0604020202020204" pitchFamily="34" charset="0"/>
                <a:cs typeface="Arial" panose="020B0604020202020204" pitchFamily="34" charset="0"/>
              </a:rPr>
              <a:t>it then adopts both schedules</a:t>
            </a:r>
          </a:p>
          <a:p>
            <a:pPr>
              <a:lnSpc>
                <a:spcPct val="120000"/>
              </a:lnSpc>
            </a:pPr>
            <a:r>
              <a:rPr lang="en-US" altLang="zh-CN" sz="2400" dirty="0">
                <a:latin typeface="Arial" panose="020B0604020202020204" pitchFamily="34" charset="0"/>
                <a:cs typeface="Arial" panose="020B0604020202020204" pitchFamily="34" charset="0"/>
              </a:rPr>
              <a:t>If a node does not hear a schedule from another node </a:t>
            </a:r>
          </a:p>
          <a:p>
            <a:pPr lvl="1">
              <a:lnSpc>
                <a:spcPct val="120000"/>
              </a:lnSpc>
            </a:pPr>
            <a:r>
              <a:rPr lang="en-US" altLang="zh-CN" sz="2000" dirty="0">
                <a:latin typeface="Arial" panose="020B0604020202020204" pitchFamily="34" charset="0"/>
                <a:cs typeface="Arial" panose="020B0604020202020204" pitchFamily="34" charset="0"/>
              </a:rPr>
              <a:t>it determines its own schedule </a:t>
            </a:r>
          </a:p>
          <a:p>
            <a:pPr lvl="1">
              <a:lnSpc>
                <a:spcPct val="120000"/>
              </a:lnSpc>
            </a:pPr>
            <a:r>
              <a:rPr lang="en-US" altLang="zh-CN" sz="2000" dirty="0">
                <a:latin typeface="Arial" panose="020B0604020202020204" pitchFamily="34" charset="0"/>
                <a:cs typeface="Arial" panose="020B0604020202020204" pitchFamily="34" charset="0"/>
              </a:rPr>
              <a:t>broadcasts this schedule to any potential neighbors </a:t>
            </a:r>
          </a:p>
          <a:p>
            <a:pPr lvl="1">
              <a:lnSpc>
                <a:spcPct val="120000"/>
              </a:lnSpc>
            </a:pPr>
            <a:r>
              <a:rPr lang="en-US" altLang="zh-CN" sz="2000" dirty="0">
                <a:latin typeface="Arial" panose="020B0604020202020204" pitchFamily="34" charset="0"/>
                <a:cs typeface="Arial" panose="020B0604020202020204" pitchFamily="34" charset="0"/>
              </a:rPr>
              <a:t>and this node becomes a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synchronizer</a:t>
            </a:r>
            <a:r>
              <a:rPr lang="en-US" altLang="zh-CN" sz="2000" dirty="0">
                <a:latin typeface="Arial" panose="020B0604020202020204" pitchFamily="34" charset="0"/>
                <a:cs typeface="Arial" panose="020B0604020202020204" pitchFamily="34" charset="0"/>
              </a:rPr>
              <a:t>  (in that other nodes will begin to synchronize themselves with it) </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282174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Sensor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26684"/>
            <a:ext cx="10515600" cy="4351338"/>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S-MAC divides a node ʼ s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listen interval </a:t>
            </a:r>
            <a:r>
              <a:rPr lang="en-US" altLang="zh-CN" sz="2400" dirty="0">
                <a:latin typeface="Arial" panose="020B0604020202020204" pitchFamily="34" charset="0"/>
                <a:cs typeface="Arial" panose="020B0604020202020204" pitchFamily="34" charset="0"/>
              </a:rPr>
              <a:t>further into </a:t>
            </a:r>
          </a:p>
          <a:p>
            <a:pPr lvl="1">
              <a:lnSpc>
                <a:spcPct val="120000"/>
              </a:lnSpc>
            </a:pPr>
            <a:r>
              <a:rPr lang="en-US" altLang="zh-CN" sz="2000" dirty="0">
                <a:latin typeface="Arial" panose="020B0604020202020204" pitchFamily="34" charset="0"/>
                <a:cs typeface="Arial" panose="020B0604020202020204" pitchFamily="34" charset="0"/>
              </a:rPr>
              <a:t>a part for receiving SYNC packets</a:t>
            </a:r>
          </a:p>
          <a:p>
            <a:pPr lvl="1">
              <a:lnSpc>
                <a:spcPct val="120000"/>
              </a:lnSpc>
            </a:pPr>
            <a:r>
              <a:rPr lang="en-US" altLang="zh-CN" sz="2000" dirty="0">
                <a:latin typeface="Arial" panose="020B0604020202020204" pitchFamily="34" charset="0"/>
                <a:cs typeface="Arial" panose="020B0604020202020204" pitchFamily="34" charset="0"/>
              </a:rPr>
              <a:t>a part for receiving RTS messages </a:t>
            </a:r>
          </a:p>
          <a:p>
            <a:pPr>
              <a:lnSpc>
                <a:spcPct val="120000"/>
              </a:lnSpc>
            </a:pPr>
            <a:r>
              <a:rPr lang="en-US" altLang="zh-CN" sz="2400" dirty="0">
                <a:latin typeface="Arial" panose="020B0604020202020204" pitchFamily="34" charset="0"/>
                <a:cs typeface="Arial" panose="020B0604020202020204" pitchFamily="34" charset="0"/>
              </a:rPr>
              <a:t>Each part is further divided into small slots to facilitate carrier sensing</a:t>
            </a:r>
            <a:endParaRPr lang="zh-CN" altLang="en-US" sz="2400" dirty="0">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8471" y="3481754"/>
            <a:ext cx="6392450" cy="3323492"/>
          </a:xfrm>
          <a:prstGeom prst="rect">
            <a:avLst/>
          </a:prstGeom>
        </p:spPr>
      </p:pic>
    </p:spTree>
    <p:extLst>
      <p:ext uri="{BB962C8B-B14F-4D97-AF65-F5344CB8AC3E}">
        <p14:creationId xmlns:p14="http://schemas.microsoft.com/office/powerpoint/2010/main" val="2303249364"/>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Sensor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814538" cy="4351338"/>
          </a:xfrm>
        </p:spPr>
        <p:txBody>
          <a:bodyPr>
            <a:normAutofit fontScale="85000" lnSpcReduction="10000"/>
          </a:bodyPr>
          <a:lstStyle/>
          <a:p>
            <a:pPr>
              <a:lnSpc>
                <a:spcPct val="120000"/>
              </a:lnSpc>
            </a:pPr>
            <a:r>
              <a:rPr lang="en-US" altLang="zh-CN" dirty="0">
                <a:latin typeface="Arial" panose="020B0604020202020204" pitchFamily="34" charset="0"/>
                <a:cs typeface="Arial" panose="020B0604020202020204" pitchFamily="34" charset="0"/>
              </a:rPr>
              <a:t>A node trying to send a SYNC or RTS message randomly selects a time slot within the SYNC or RTS part of the interval, respectively </a:t>
            </a:r>
          </a:p>
          <a:p>
            <a:pPr lvl="1">
              <a:lnSpc>
                <a:spcPct val="120000"/>
              </a:lnSpc>
            </a:pPr>
            <a:r>
              <a:rPr lang="en-US" altLang="zh-CN" dirty="0">
                <a:latin typeface="Arial" panose="020B0604020202020204" pitchFamily="34" charset="0"/>
                <a:cs typeface="Arial" panose="020B0604020202020204" pitchFamily="34" charset="0"/>
              </a:rPr>
              <a:t>senses the carrier for activity from when the receiver begins listening to the selected slot</a:t>
            </a:r>
          </a:p>
          <a:p>
            <a:pPr lvl="1">
              <a:lnSpc>
                <a:spcPct val="120000"/>
              </a:lnSpc>
            </a:pPr>
            <a:r>
              <a:rPr lang="en-US" altLang="zh-CN" dirty="0">
                <a:latin typeface="Arial" panose="020B0604020202020204" pitchFamily="34" charset="0"/>
                <a:cs typeface="Arial" panose="020B0604020202020204" pitchFamily="34" charset="0"/>
              </a:rPr>
              <a:t>if no activity has been detected, it wins the medium and begins transmission </a:t>
            </a:r>
          </a:p>
          <a:p>
            <a:pPr>
              <a:lnSpc>
                <a:spcPct val="120000"/>
              </a:lnSpc>
            </a:pPr>
            <a:r>
              <a:rPr lang="en-US" altLang="zh-CN" dirty="0">
                <a:latin typeface="Arial" panose="020B0604020202020204" pitchFamily="34" charset="0"/>
                <a:cs typeface="Arial" panose="020B0604020202020204" pitchFamily="34" charset="0"/>
              </a:rPr>
              <a:t>Contention for the medium is addressed using collision avoidance based on RTS/CTS handshakes (S-MAC adopts a contention-based approach)</a:t>
            </a:r>
          </a:p>
          <a:p>
            <a:pPr lvl="1">
              <a:lnSpc>
                <a:spcPct val="120000"/>
              </a:lnSpc>
            </a:pPr>
            <a:r>
              <a:rPr lang="en-US" altLang="zh-CN" dirty="0">
                <a:latin typeface="Arial" panose="020B0604020202020204" pitchFamily="34" charset="0"/>
                <a:cs typeface="Arial" panose="020B0604020202020204" pitchFamily="34" charset="0"/>
              </a:rPr>
              <a:t>when a node hears an RTS or CTS and concludes that it cannot transmit or receive at the same time, it can go to sleep to avoid wasting energy caused by overhearing  </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4707803"/>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Sensor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Summary</a:t>
            </a:r>
          </a:p>
          <a:p>
            <a:pPr lvl="1">
              <a:lnSpc>
                <a:spcPct val="120000"/>
              </a:lnSpc>
            </a:pPr>
            <a:r>
              <a:rPr lang="en-US" altLang="zh-CN" sz="2000" dirty="0">
                <a:latin typeface="Arial" panose="020B0604020202020204" pitchFamily="34" charset="0"/>
                <a:cs typeface="Arial" panose="020B0604020202020204" pitchFamily="34" charset="0"/>
              </a:rPr>
              <a:t>S-MAC is a contention-based protocol </a:t>
            </a:r>
          </a:p>
          <a:p>
            <a:pPr lvl="1">
              <a:lnSpc>
                <a:spcPct val="120000"/>
              </a:lnSpc>
            </a:pPr>
            <a:r>
              <a:rPr lang="en-US" altLang="zh-CN" sz="2000" dirty="0">
                <a:latin typeface="Arial" panose="020B0604020202020204" pitchFamily="34" charset="0"/>
                <a:cs typeface="Arial" panose="020B0604020202020204" pitchFamily="34" charset="0"/>
              </a:rPr>
              <a:t>utilizes the sleep mode of wireless radios to trade energy for throughput and latency</a:t>
            </a:r>
          </a:p>
          <a:p>
            <a:pPr lvl="1">
              <a:lnSpc>
                <a:spcPct val="120000"/>
              </a:lnSpc>
            </a:pPr>
            <a:r>
              <a:rPr lang="en-US" altLang="zh-CN" sz="2000" dirty="0">
                <a:latin typeface="Arial" panose="020B0604020202020204" pitchFamily="34" charset="0"/>
                <a:cs typeface="Arial" panose="020B0604020202020204" pitchFamily="34" charset="0"/>
              </a:rPr>
              <a:t>collision avoidance is based on RTS/CTS (which is not used by broadcast packets, thereby increasing the collision probability)</a:t>
            </a:r>
          </a:p>
          <a:p>
            <a:pPr lvl="1">
              <a:lnSpc>
                <a:spcPct val="120000"/>
              </a:lnSpc>
            </a:pPr>
            <a:r>
              <a:rPr lang="en-US" altLang="zh-CN" sz="2000" dirty="0">
                <a:latin typeface="Arial" panose="020B0604020202020204" pitchFamily="34" charset="0"/>
                <a:cs typeface="Arial" panose="020B0604020202020204" pitchFamily="34" charset="0"/>
              </a:rPr>
              <a:t>duty cycle parameters (sleep and listen periods) are decided beforehand and may be inefficient for the actual traffic characteristics in the network</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8985505"/>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Timeout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453662"/>
            <a:ext cx="11119338" cy="4754563"/>
          </a:xfrm>
        </p:spPr>
        <p:txBody>
          <a:bodyPr>
            <a:noAutofit/>
          </a:bodyPr>
          <a:lstStyle/>
          <a:p>
            <a:pPr>
              <a:lnSpc>
                <a:spcPct val="120000"/>
              </a:lnSpc>
            </a:pPr>
            <a:r>
              <a:rPr lang="en-US" altLang="zh-CN" sz="2200" dirty="0">
                <a:latin typeface="Arial" panose="020B0604020202020204" pitchFamily="34" charset="0"/>
                <a:cs typeface="Arial" panose="020B0604020202020204" pitchFamily="34" charset="0"/>
              </a:rPr>
              <a:t>If there is little traffic, S-MAC can actually waste energy because the listening period of S-MAC is of fixed duration; If traffic is heavy, fixed duration may not be large enough</a:t>
            </a:r>
          </a:p>
          <a:p>
            <a:pPr>
              <a:lnSpc>
                <a:spcPct val="120000"/>
              </a:lnSpc>
            </a:pPr>
            <a:r>
              <a:rPr lang="en-US" altLang="zh-CN" sz="2200" dirty="0">
                <a:latin typeface="Arial" panose="020B0604020202020204" pitchFamily="34" charset="0"/>
                <a:cs typeface="Arial" panose="020B0604020202020204" pitchFamily="34" charset="0"/>
              </a:rPr>
              <a:t>Therefore, the </a:t>
            </a:r>
            <a:r>
              <a:rPr lang="en-US" altLang="zh-CN" sz="2200" dirty="0">
                <a:solidFill>
                  <a:schemeClr val="tx2">
                    <a:lumMod val="75000"/>
                    <a:lumOff val="25000"/>
                  </a:schemeClr>
                </a:solidFill>
                <a:latin typeface="Arial" panose="020B0604020202020204" pitchFamily="34" charset="0"/>
                <a:cs typeface="Arial" panose="020B0604020202020204" pitchFamily="34" charset="0"/>
              </a:rPr>
              <a:t>T-MAC</a:t>
            </a:r>
            <a:r>
              <a:rPr lang="en-US" altLang="zh-CN" sz="2200" dirty="0">
                <a:latin typeface="Arial" panose="020B0604020202020204" pitchFamily="34" charset="0"/>
                <a:cs typeface="Arial" panose="020B0604020202020204" pitchFamily="34" charset="0"/>
              </a:rPr>
              <a:t> protocol is a variation of S-MAC that uses an active period that adapts to traffic density</a:t>
            </a:r>
          </a:p>
          <a:p>
            <a:pPr>
              <a:lnSpc>
                <a:spcPct val="120000"/>
              </a:lnSpc>
            </a:pPr>
            <a:r>
              <a:rPr lang="en-US" altLang="zh-CN" sz="2200" dirty="0">
                <a:latin typeface="Arial" panose="020B0604020202020204" pitchFamily="34" charset="0"/>
                <a:cs typeface="Arial" panose="020B0604020202020204" pitchFamily="34" charset="0"/>
              </a:rPr>
              <a:t>Nodes wake up during the beginning of a slot to listen very briefly for activity and return to the sleep mode when no communication has been observed </a:t>
            </a:r>
          </a:p>
          <a:p>
            <a:pPr>
              <a:lnSpc>
                <a:spcPct val="120000"/>
              </a:lnSpc>
            </a:pPr>
            <a:r>
              <a:rPr lang="en-US" altLang="zh-CN" sz="2200" dirty="0">
                <a:latin typeface="Arial" panose="020B0604020202020204" pitchFamily="34" charset="0"/>
                <a:cs typeface="Arial" panose="020B0604020202020204" pitchFamily="34" charset="0"/>
              </a:rPr>
              <a:t>When a node transmits, receives, or overhears a message, it remains awake for a brief period of time after completion of the message transfer to see if more traffic can be observed</a:t>
            </a:r>
          </a:p>
          <a:p>
            <a:pPr lvl="1">
              <a:lnSpc>
                <a:spcPct val="120000"/>
              </a:lnSpc>
            </a:pPr>
            <a:r>
              <a:rPr lang="en-US" altLang="zh-CN" sz="2000" dirty="0">
                <a:latin typeface="Arial" panose="020B0604020202020204" pitchFamily="34" charset="0"/>
                <a:cs typeface="Arial" panose="020B0604020202020204" pitchFamily="34" charset="0"/>
              </a:rPr>
              <a:t>this brief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timeout</a:t>
            </a:r>
            <a:r>
              <a:rPr lang="en-US" altLang="zh-CN" sz="2000" dirty="0">
                <a:latin typeface="Arial" panose="020B0604020202020204" pitchFamily="34" charset="0"/>
                <a:cs typeface="Arial" panose="020B0604020202020204" pitchFamily="34" charset="0"/>
              </a:rPr>
              <a:t>  interval allows a node to return to the sleep mode as quickly as possible</a:t>
            </a:r>
          </a:p>
          <a:p>
            <a:pPr lvl="1">
              <a:lnSpc>
                <a:spcPct val="120000"/>
              </a:lnSpc>
            </a:pPr>
            <a:r>
              <a:rPr lang="en-US" altLang="zh-CN" sz="2000" dirty="0">
                <a:latin typeface="Arial" panose="020B0604020202020204" pitchFamily="34" charset="0"/>
                <a:cs typeface="Arial" panose="020B0604020202020204" pitchFamily="34" charset="0"/>
              </a:rPr>
              <a:t>the end effect is that a node ʼ s awake times will increase with the heavier traffic and will be very brief if traffic is light</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7509637"/>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Timeout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To reduce potential collisions, each node waits for a random period of time within a fixed contention interval before the medium is accessed</a:t>
            </a:r>
            <a:endParaRPr lang="zh-CN" altLang="en-US" sz="2400" dirty="0">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4791" y="2825860"/>
            <a:ext cx="8080612" cy="3486040"/>
          </a:xfrm>
          <a:prstGeom prst="rect">
            <a:avLst/>
          </a:prstGeom>
        </p:spPr>
      </p:pic>
    </p:spTree>
    <p:extLst>
      <p:ext uri="{BB962C8B-B14F-4D97-AF65-F5344CB8AC3E}">
        <p14:creationId xmlns:p14="http://schemas.microsoft.com/office/powerpoint/2010/main" val="2372628597"/>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Timeout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925908" cy="5032375"/>
          </a:xfrm>
        </p:spPr>
        <p:txBody>
          <a:bodyPr>
            <a:normAutofit fontScale="70000" lnSpcReduction="20000"/>
          </a:bodyPr>
          <a:lstStyle/>
          <a:p>
            <a:pPr>
              <a:lnSpc>
                <a:spcPct val="140000"/>
              </a:lnSpc>
            </a:pPr>
            <a:r>
              <a:rPr lang="en-US" altLang="zh-CN" dirty="0">
                <a:latin typeface="Arial" panose="020B0604020202020204" pitchFamily="34" charset="0"/>
                <a:cs typeface="Arial" panose="020B0604020202020204" pitchFamily="34" charset="0"/>
              </a:rPr>
              <a:t>Once a node hears a </a:t>
            </a:r>
            <a:r>
              <a:rPr lang="en-US" altLang="zh-CN" dirty="0">
                <a:solidFill>
                  <a:schemeClr val="tx2">
                    <a:lumMod val="75000"/>
                    <a:lumOff val="25000"/>
                  </a:schemeClr>
                </a:solidFill>
                <a:latin typeface="Arial" panose="020B0604020202020204" pitchFamily="34" charset="0"/>
                <a:cs typeface="Arial" panose="020B0604020202020204" pitchFamily="34" charset="0"/>
              </a:rPr>
              <a:t>CTS</a:t>
            </a:r>
            <a:r>
              <a:rPr lang="en-US" altLang="zh-CN" dirty="0">
                <a:latin typeface="Arial" panose="020B0604020202020204" pitchFamily="34" charset="0"/>
                <a:cs typeface="Arial" panose="020B0604020202020204" pitchFamily="34" charset="0"/>
              </a:rPr>
              <a:t>, it knows that another node won the medium </a:t>
            </a:r>
          </a:p>
          <a:p>
            <a:pPr>
              <a:lnSpc>
                <a:spcPct val="140000"/>
              </a:lnSpc>
            </a:pPr>
            <a:r>
              <a:rPr lang="en-US" altLang="zh-CN" dirty="0">
                <a:latin typeface="Arial" panose="020B0604020202020204" pitchFamily="34" charset="0"/>
                <a:cs typeface="Arial" panose="020B0604020202020204" pitchFamily="34" charset="0"/>
              </a:rPr>
              <a:t>This node then stays awake until the end of the transmission, which can be observed by overhearing the  </a:t>
            </a:r>
            <a:r>
              <a:rPr lang="en-US" altLang="zh-CN" dirty="0">
                <a:solidFill>
                  <a:schemeClr val="tx2">
                    <a:lumMod val="75000"/>
                    <a:lumOff val="25000"/>
                  </a:schemeClr>
                </a:solidFill>
                <a:latin typeface="Arial" panose="020B0604020202020204" pitchFamily="34" charset="0"/>
                <a:cs typeface="Arial" panose="020B0604020202020204" pitchFamily="34" charset="0"/>
              </a:rPr>
              <a:t>acknowledgment (ACK)  </a:t>
            </a:r>
            <a:r>
              <a:rPr lang="en-US" altLang="zh-CN" dirty="0">
                <a:latin typeface="Arial" panose="020B0604020202020204" pitchFamily="34" charset="0"/>
                <a:cs typeface="Arial" panose="020B0604020202020204" pitchFamily="34" charset="0"/>
              </a:rPr>
              <a:t>sent by node B </a:t>
            </a:r>
          </a:p>
          <a:p>
            <a:pPr>
              <a:lnSpc>
                <a:spcPct val="140000"/>
              </a:lnSpc>
            </a:pPr>
            <a:r>
              <a:rPr lang="en-US" altLang="zh-CN" dirty="0">
                <a:latin typeface="Arial" panose="020B0604020202020204" pitchFamily="34" charset="0"/>
                <a:cs typeface="Arial" panose="020B0604020202020204" pitchFamily="34" charset="0"/>
              </a:rPr>
              <a:t>This event initiates the beginning of the next contention interval and node C will have an opportunity to transmit its data if it wins the medium</a:t>
            </a:r>
          </a:p>
          <a:p>
            <a:pPr>
              <a:lnSpc>
                <a:spcPct val="140000"/>
              </a:lnSpc>
            </a:pPr>
            <a:r>
              <a:rPr lang="en-US" altLang="zh-CN" dirty="0">
                <a:latin typeface="Arial" panose="020B0604020202020204" pitchFamily="34" charset="0"/>
                <a:cs typeface="Arial" panose="020B0604020202020204" pitchFamily="34" charset="0"/>
              </a:rPr>
              <a:t>In figure, assume that messages flow from top to bottom </a:t>
            </a:r>
          </a:p>
          <a:p>
            <a:pPr lvl="1">
              <a:lnSpc>
                <a:spcPct val="140000"/>
              </a:lnSpc>
            </a:pPr>
            <a:r>
              <a:rPr lang="en-US" altLang="zh-CN" dirty="0">
                <a:latin typeface="Arial" panose="020B0604020202020204" pitchFamily="34" charset="0"/>
                <a:cs typeface="Arial" panose="020B0604020202020204" pitchFamily="34" charset="0"/>
              </a:rPr>
              <a:t>node A sends only to node B, node B sends to node C</a:t>
            </a:r>
          </a:p>
          <a:p>
            <a:pPr lvl="1">
              <a:lnSpc>
                <a:spcPct val="140000"/>
              </a:lnSpc>
            </a:pPr>
            <a:r>
              <a:rPr lang="en-US" altLang="zh-CN" dirty="0">
                <a:latin typeface="Arial" panose="020B0604020202020204" pitchFamily="34" charset="0"/>
                <a:cs typeface="Arial" panose="020B0604020202020204" pitchFamily="34" charset="0"/>
              </a:rPr>
              <a:t>every time node C wants to send a message to node D, C must contend for the medium </a:t>
            </a:r>
          </a:p>
          <a:p>
            <a:pPr lvl="2">
              <a:lnSpc>
                <a:spcPct val="140000"/>
              </a:lnSpc>
            </a:pPr>
            <a:r>
              <a:rPr lang="en-US" altLang="zh-CN" dirty="0">
                <a:latin typeface="Arial" panose="020B0604020202020204" pitchFamily="34" charset="0"/>
                <a:cs typeface="Arial" panose="020B0604020202020204" pitchFamily="34" charset="0"/>
              </a:rPr>
              <a:t>C may lose to node B (B may transmit an RTS before C does) or</a:t>
            </a:r>
          </a:p>
          <a:p>
            <a:pPr lvl="2">
              <a:lnSpc>
                <a:spcPct val="140000"/>
              </a:lnSpc>
            </a:pPr>
            <a:r>
              <a:rPr lang="en-US" altLang="zh-CN" dirty="0">
                <a:latin typeface="Arial" panose="020B0604020202020204" pitchFamily="34" charset="0"/>
                <a:cs typeface="Arial" panose="020B0604020202020204" pitchFamily="34" charset="0"/>
              </a:rPr>
              <a:t>C may lose to node A (C overhears a CTS transmitted by node B)</a:t>
            </a:r>
          </a:p>
          <a:p>
            <a:pPr lvl="1">
              <a:lnSpc>
                <a:spcPct val="140000"/>
              </a:lnSpc>
            </a:pPr>
            <a:r>
              <a:rPr lang="en-US" altLang="zh-CN" dirty="0">
                <a:latin typeface="Arial" panose="020B0604020202020204" pitchFamily="34" charset="0"/>
                <a:cs typeface="Arial" panose="020B0604020202020204" pitchFamily="34" charset="0"/>
              </a:rPr>
              <a:t>while node C stays awake after overhearing node B ʼ s CTS message, its intended receiver (node D) is not aware of C ʼ s intention to transmit data and therefore returns to the sleep mode after TA has expired </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4347108"/>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Timeout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1353800" cy="4667250"/>
          </a:xfrm>
        </p:spPr>
        <p:txBody>
          <a:bodyPr>
            <a:normAutofit fontScale="85000" lnSpcReduction="10000"/>
          </a:bodyPr>
          <a:lstStyle/>
          <a:p>
            <a:pPr>
              <a:lnSpc>
                <a:spcPct val="130000"/>
              </a:lnSpc>
            </a:pPr>
            <a:r>
              <a:rPr lang="en-US" altLang="zh-CN" dirty="0">
                <a:solidFill>
                  <a:schemeClr val="tx2">
                    <a:lumMod val="75000"/>
                    <a:lumOff val="25000"/>
                  </a:schemeClr>
                </a:solidFill>
                <a:latin typeface="Arial" panose="020B0604020202020204" pitchFamily="34" charset="0"/>
                <a:cs typeface="Arial" panose="020B0604020202020204" pitchFamily="34" charset="0"/>
              </a:rPr>
              <a:t>Early sleeping problem</a:t>
            </a:r>
            <a:r>
              <a:rPr lang="en-US" altLang="zh-CN" dirty="0">
                <a:latin typeface="Arial" panose="020B0604020202020204" pitchFamily="34" charset="0"/>
                <a:cs typeface="Arial" panose="020B0604020202020204" pitchFamily="34" charset="0"/>
              </a:rPr>
              <a:t> </a:t>
            </a:r>
          </a:p>
          <a:p>
            <a:pPr lvl="1">
              <a:lnSpc>
                <a:spcPct val="130000"/>
              </a:lnSpc>
            </a:pPr>
            <a:r>
              <a:rPr lang="en-US" altLang="zh-CN" dirty="0">
                <a:latin typeface="Arial" panose="020B0604020202020204" pitchFamily="34" charset="0"/>
                <a:cs typeface="Arial" panose="020B0604020202020204" pitchFamily="34" charset="0"/>
              </a:rPr>
              <a:t>possible solution:  </a:t>
            </a:r>
            <a:r>
              <a:rPr lang="en-US" altLang="zh-CN" dirty="0">
                <a:solidFill>
                  <a:schemeClr val="tx2">
                    <a:lumMod val="75000"/>
                    <a:lumOff val="25000"/>
                  </a:schemeClr>
                </a:solidFill>
                <a:latin typeface="Arial" panose="020B0604020202020204" pitchFamily="34" charset="0"/>
                <a:cs typeface="Arial" panose="020B0604020202020204" pitchFamily="34" charset="0"/>
              </a:rPr>
              <a:t>future-request-to-send  technique </a:t>
            </a:r>
          </a:p>
          <a:p>
            <a:pPr lvl="2">
              <a:lnSpc>
                <a:spcPct val="130000"/>
              </a:lnSpc>
            </a:pPr>
            <a:r>
              <a:rPr lang="en-US" altLang="zh-CN" dirty="0">
                <a:latin typeface="Arial" panose="020B0604020202020204" pitchFamily="34" charset="0"/>
                <a:cs typeface="Arial" panose="020B0604020202020204" pitchFamily="34" charset="0"/>
              </a:rPr>
              <a:t>a node with pending data can inform its intended receiver by transmitting a  </a:t>
            </a:r>
            <a:r>
              <a:rPr lang="en-US" altLang="zh-CN" dirty="0">
                <a:solidFill>
                  <a:schemeClr val="tx2">
                    <a:lumMod val="75000"/>
                    <a:lumOff val="25000"/>
                  </a:schemeClr>
                </a:solidFill>
                <a:latin typeface="Arial" panose="020B0604020202020204" pitchFamily="34" charset="0"/>
                <a:cs typeface="Arial" panose="020B0604020202020204" pitchFamily="34" charset="0"/>
              </a:rPr>
              <a:t>future-request-to-send (FRTS)  </a:t>
            </a:r>
            <a:r>
              <a:rPr lang="en-US" altLang="zh-CN" dirty="0">
                <a:latin typeface="Arial" panose="020B0604020202020204" pitchFamily="34" charset="0"/>
                <a:cs typeface="Arial" panose="020B0604020202020204" pitchFamily="34" charset="0"/>
              </a:rPr>
              <a:t>packet immediately after overhearing a CTS message</a:t>
            </a:r>
          </a:p>
          <a:p>
            <a:pPr lvl="2">
              <a:lnSpc>
                <a:spcPct val="130000"/>
              </a:lnSpc>
            </a:pPr>
            <a:r>
              <a:rPr lang="en-US" altLang="zh-CN" dirty="0">
                <a:latin typeface="Arial" panose="020B0604020202020204" pitchFamily="34" charset="0"/>
                <a:cs typeface="Arial" panose="020B0604020202020204" pitchFamily="34" charset="0"/>
              </a:rPr>
              <a:t>node D, upon receiving the FRTS message, knows that node C will attempt to send data to it and will therefore remain active</a:t>
            </a:r>
          </a:p>
          <a:p>
            <a:pPr lvl="2">
              <a:lnSpc>
                <a:spcPct val="130000"/>
              </a:lnSpc>
            </a:pPr>
            <a:r>
              <a:rPr lang="en-US" altLang="zh-CN" dirty="0">
                <a:latin typeface="Arial" panose="020B0604020202020204" pitchFamily="34" charset="0"/>
                <a:cs typeface="Arial" panose="020B0604020202020204" pitchFamily="34" charset="0"/>
              </a:rPr>
              <a:t>however, sending an FRTS message immediately after CTS could interfere with node </a:t>
            </a:r>
            <a:r>
              <a:rPr lang="en-US" altLang="zh-CN" dirty="0" err="1">
                <a:latin typeface="Arial" panose="020B0604020202020204" pitchFamily="34" charset="0"/>
                <a:cs typeface="Arial" panose="020B0604020202020204" pitchFamily="34" charset="0"/>
              </a:rPr>
              <a:t>Bʼs</a:t>
            </a:r>
            <a:r>
              <a:rPr lang="en-US" altLang="zh-CN" dirty="0">
                <a:latin typeface="Arial" panose="020B0604020202020204" pitchFamily="34" charset="0"/>
                <a:cs typeface="Arial" panose="020B0604020202020204" pitchFamily="34" charset="0"/>
              </a:rPr>
              <a:t> reception of node </a:t>
            </a:r>
            <a:r>
              <a:rPr lang="en-US" altLang="zh-CN" dirty="0" err="1">
                <a:latin typeface="Arial" panose="020B0604020202020204" pitchFamily="34" charset="0"/>
                <a:cs typeface="Arial" panose="020B0604020202020204" pitchFamily="34" charset="0"/>
              </a:rPr>
              <a:t>Aʼs</a:t>
            </a:r>
            <a:r>
              <a:rPr lang="en-US" altLang="zh-CN" dirty="0">
                <a:latin typeface="Arial" panose="020B0604020202020204" pitchFamily="34" charset="0"/>
                <a:cs typeface="Arial" panose="020B0604020202020204" pitchFamily="34" charset="0"/>
              </a:rPr>
              <a:t> data </a:t>
            </a:r>
          </a:p>
          <a:p>
            <a:pPr lvl="2">
              <a:lnSpc>
                <a:spcPct val="130000"/>
              </a:lnSpc>
            </a:pPr>
            <a:r>
              <a:rPr lang="en-US" altLang="zh-CN" dirty="0">
                <a:latin typeface="Arial" panose="020B0604020202020204" pitchFamily="34" charset="0"/>
                <a:cs typeface="Arial" panose="020B0604020202020204" pitchFamily="34" charset="0"/>
              </a:rPr>
              <a:t>therefore, Node A first sends a dummy message called  </a:t>
            </a:r>
            <a:r>
              <a:rPr lang="en-US" altLang="zh-CN" dirty="0">
                <a:solidFill>
                  <a:schemeClr val="tx2">
                    <a:lumMod val="75000"/>
                    <a:lumOff val="25000"/>
                  </a:schemeClr>
                </a:solidFill>
                <a:latin typeface="Arial" panose="020B0604020202020204" pitchFamily="34" charset="0"/>
                <a:cs typeface="Arial" panose="020B0604020202020204" pitchFamily="34" charset="0"/>
              </a:rPr>
              <a:t>Data-Send (DS)</a:t>
            </a:r>
            <a:r>
              <a:rPr lang="en-US" altLang="zh-CN" dirty="0">
                <a:latin typeface="Arial" panose="020B0604020202020204" pitchFamily="34" charset="0"/>
                <a:cs typeface="Arial" panose="020B0604020202020204" pitchFamily="34" charset="0"/>
              </a:rPr>
              <a:t> to delay the transmission of the actual data  </a:t>
            </a:r>
          </a:p>
          <a:p>
            <a:pPr lvl="3">
              <a:lnSpc>
                <a:spcPct val="130000"/>
              </a:lnSpc>
            </a:pPr>
            <a:r>
              <a:rPr lang="en-US" altLang="zh-CN" dirty="0">
                <a:latin typeface="Arial" panose="020B0604020202020204" pitchFamily="34" charset="0"/>
                <a:cs typeface="Arial" panose="020B0604020202020204" pitchFamily="34" charset="0"/>
              </a:rPr>
              <a:t>DS has the same size as FRTS </a:t>
            </a:r>
          </a:p>
          <a:p>
            <a:pPr lvl="3">
              <a:lnSpc>
                <a:spcPct val="130000"/>
              </a:lnSpc>
            </a:pPr>
            <a:r>
              <a:rPr lang="en-US" altLang="zh-CN" dirty="0">
                <a:latin typeface="Arial" panose="020B0604020202020204" pitchFamily="34" charset="0"/>
                <a:cs typeface="Arial" panose="020B0604020202020204" pitchFamily="34" charset="0"/>
              </a:rPr>
              <a:t>DS can collide with FRTS at node B, which is of no consequence since it does not contain any useful information </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4643178"/>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Timeout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1101754" cy="4351338"/>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Summary</a:t>
            </a:r>
          </a:p>
          <a:p>
            <a:pPr lvl="1">
              <a:lnSpc>
                <a:spcPct val="120000"/>
              </a:lnSpc>
            </a:pPr>
            <a:r>
              <a:rPr lang="en-US" altLang="zh-CN" sz="2000" dirty="0">
                <a:latin typeface="Arial" panose="020B0604020202020204" pitchFamily="34" charset="0"/>
                <a:cs typeface="Arial" panose="020B0604020202020204" pitchFamily="34" charset="0"/>
              </a:rPr>
              <a:t>T-</a:t>
            </a:r>
            <a:r>
              <a:rPr lang="en-US" altLang="zh-CN" sz="2000" dirty="0" err="1">
                <a:latin typeface="Arial" panose="020B0604020202020204" pitchFamily="34" charset="0"/>
                <a:cs typeface="Arial" panose="020B0604020202020204" pitchFamily="34" charset="0"/>
              </a:rPr>
              <a:t>MACʼs</a:t>
            </a:r>
            <a:r>
              <a:rPr lang="en-US" altLang="zh-CN" sz="2000" dirty="0">
                <a:latin typeface="Arial" panose="020B0604020202020204" pitchFamily="34" charset="0"/>
                <a:cs typeface="Arial" panose="020B0604020202020204" pitchFamily="34" charset="0"/>
              </a:rPr>
              <a:t> adaptive approach allows it to adjust a </a:t>
            </a:r>
            <a:r>
              <a:rPr lang="en-US" altLang="zh-CN" sz="2000" dirty="0" err="1">
                <a:latin typeface="Arial" panose="020B0604020202020204" pitchFamily="34" charset="0"/>
                <a:cs typeface="Arial" panose="020B0604020202020204" pitchFamily="34" charset="0"/>
              </a:rPr>
              <a:t>nodeʼ</a:t>
            </a:r>
            <a:r>
              <a:rPr lang="en-US" altLang="zh-CN" sz="2000" dirty="0">
                <a:latin typeface="Arial" panose="020B0604020202020204" pitchFamily="34" charset="0"/>
                <a:cs typeface="Arial" panose="020B0604020202020204" pitchFamily="34" charset="0"/>
              </a:rPr>
              <a:t> s sleep and awake intervals based on the traffic load </a:t>
            </a:r>
          </a:p>
          <a:p>
            <a:pPr lvl="1">
              <a:lnSpc>
                <a:spcPct val="120000"/>
              </a:lnSpc>
            </a:pPr>
            <a:r>
              <a:rPr lang="en-US" altLang="zh-CN" sz="2000" dirty="0">
                <a:latin typeface="Arial" panose="020B0604020202020204" pitchFamily="34" charset="0"/>
                <a:cs typeface="Arial" panose="020B0604020202020204" pitchFamily="34" charset="0"/>
              </a:rPr>
              <a:t>nodes send messages as bursts of variable length and sleep between such bursts to conserve energy</a:t>
            </a:r>
          </a:p>
          <a:p>
            <a:pPr lvl="1">
              <a:lnSpc>
                <a:spcPct val="120000"/>
              </a:lnSpc>
            </a:pPr>
            <a:r>
              <a:rPr lang="en-US" altLang="zh-CN" sz="2000" dirty="0">
                <a:latin typeface="Arial" panose="020B0604020202020204" pitchFamily="34" charset="0"/>
                <a:cs typeface="Arial" panose="020B0604020202020204" pitchFamily="34" charset="0"/>
              </a:rPr>
              <a:t>both S-MAC and T-MAC concentrate message exchanges to small periods of time, resulting in inefficiencies under high traffic loads</a:t>
            </a:r>
          </a:p>
          <a:p>
            <a:pPr lvl="1">
              <a:lnSpc>
                <a:spcPct val="120000"/>
              </a:lnSpc>
            </a:pPr>
            <a:r>
              <a:rPr lang="en-US" altLang="zh-CN" sz="2000" dirty="0">
                <a:latin typeface="Arial" panose="020B0604020202020204" pitchFamily="34" charset="0"/>
                <a:cs typeface="Arial" panose="020B0604020202020204" pitchFamily="34" charset="0"/>
              </a:rPr>
              <a:t>intended receivers are kept awake using messages that indicate future transmissions, which can significantly increase the idle listening times (and energy consumption) of nodes </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8441182"/>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Routing-Enhanced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fontScale="92500" lnSpcReduction="10000"/>
          </a:bodyPr>
          <a:lstStyle/>
          <a:p>
            <a:pPr>
              <a:lnSpc>
                <a:spcPct val="120000"/>
              </a:lnSpc>
            </a:pPr>
            <a:r>
              <a:rPr lang="en-US" altLang="zh-CN" sz="2400" dirty="0">
                <a:latin typeface="Arial" panose="020B0604020202020204" pitchFamily="34" charset="0"/>
                <a:cs typeface="Arial" panose="020B0604020202020204" pitchFamily="34" charset="0"/>
              </a:rPr>
              <a:t>The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RMAC</a:t>
            </a:r>
            <a:r>
              <a:rPr lang="en-US" altLang="zh-CN" sz="2400" dirty="0">
                <a:latin typeface="Arial" panose="020B0604020202020204" pitchFamily="34" charset="0"/>
                <a:cs typeface="Arial" panose="020B0604020202020204" pitchFamily="34" charset="0"/>
              </a:rPr>
              <a:t> protocol is another example of a protocol that exploits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duty</a:t>
            </a:r>
            <a:r>
              <a:rPr lang="en-US" altLang="zh-CN" sz="2400" dirty="0">
                <a:latin typeface="Arial" panose="020B0604020202020204" pitchFamily="34" charset="0"/>
                <a:cs typeface="Arial" panose="020B0604020202020204" pitchFamily="34" charset="0"/>
              </a:rPr>
              <a:t>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cycles</a:t>
            </a:r>
            <a:r>
              <a:rPr lang="en-US" altLang="zh-CN" sz="2400" dirty="0">
                <a:latin typeface="Arial" panose="020B0604020202020204" pitchFamily="34" charset="0"/>
                <a:cs typeface="Arial" panose="020B0604020202020204" pitchFamily="34" charset="0"/>
              </a:rPr>
              <a:t>  to preserve energy </a:t>
            </a:r>
          </a:p>
          <a:p>
            <a:pPr>
              <a:lnSpc>
                <a:spcPct val="120000"/>
              </a:lnSpc>
            </a:pPr>
            <a:r>
              <a:rPr lang="en-US" altLang="zh-CN" sz="2400" dirty="0">
                <a:latin typeface="Arial" panose="020B0604020202020204" pitchFamily="34" charset="0"/>
                <a:cs typeface="Arial" panose="020B0604020202020204" pitchFamily="34" charset="0"/>
              </a:rPr>
              <a:t>Compared to S-MAC, it attempts to improve upon end-to-end latency and contention avoidance</a:t>
            </a:r>
          </a:p>
          <a:p>
            <a:pPr>
              <a:lnSpc>
                <a:spcPct val="120000"/>
              </a:lnSpc>
            </a:pPr>
            <a:r>
              <a:rPr lang="en-US" altLang="zh-CN" sz="2400" dirty="0">
                <a:latin typeface="Arial" panose="020B0604020202020204" pitchFamily="34" charset="0"/>
                <a:cs typeface="Arial" panose="020B0604020202020204" pitchFamily="34" charset="0"/>
              </a:rPr>
              <a:t>They key idea behind RMAC is to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align the sleep/wake periods of nodes along the path of sensor data </a:t>
            </a:r>
            <a:r>
              <a:rPr lang="en-US" altLang="zh-CN" sz="2400" dirty="0">
                <a:latin typeface="Arial" panose="020B0604020202020204" pitchFamily="34" charset="0"/>
                <a:cs typeface="Arial" panose="020B0604020202020204" pitchFamily="34" charset="0"/>
              </a:rPr>
              <a:t>such that a packet can be forwarded to the destination within a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single operational cycle</a:t>
            </a:r>
          </a:p>
          <a:p>
            <a:pPr>
              <a:lnSpc>
                <a:spcPct val="120000"/>
              </a:lnSpc>
            </a:pPr>
            <a:r>
              <a:rPr lang="en-US" altLang="zh-CN" sz="2400" dirty="0">
                <a:latin typeface="Arial" panose="020B0604020202020204" pitchFamily="34" charset="0"/>
                <a:cs typeface="Arial" panose="020B0604020202020204" pitchFamily="34" charset="0"/>
              </a:rPr>
              <a:t>It achieves this by sending a control frame along the route to inform nodes of the upcoming packet, allowing them to learn when to be awake to receive and forward this packet</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5437691"/>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Routing-Enhanced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53307"/>
            <a:ext cx="11177955" cy="5486400"/>
          </a:xfrm>
        </p:spPr>
        <p:txBody>
          <a:bodyPr>
            <a:normAutofit fontScale="62500" lnSpcReduction="20000"/>
          </a:bodyPr>
          <a:lstStyle/>
          <a:p>
            <a:pPr>
              <a:lnSpc>
                <a:spcPct val="130000"/>
              </a:lnSpc>
            </a:pPr>
            <a:r>
              <a:rPr lang="en-US" altLang="zh-CN" sz="3800" dirty="0">
                <a:latin typeface="Arial" panose="020B0604020202020204" pitchFamily="34" charset="0"/>
                <a:cs typeface="Arial" panose="020B0604020202020204" pitchFamily="34" charset="0"/>
              </a:rPr>
              <a:t>RMAC partitions an operational cycle into three components: </a:t>
            </a:r>
          </a:p>
          <a:p>
            <a:pPr lvl="1">
              <a:lnSpc>
                <a:spcPct val="130000"/>
              </a:lnSpc>
            </a:pPr>
            <a:r>
              <a:rPr lang="en-US" altLang="zh-CN" sz="3200" dirty="0">
                <a:solidFill>
                  <a:schemeClr val="tx2">
                    <a:lumMod val="75000"/>
                    <a:lumOff val="25000"/>
                  </a:schemeClr>
                </a:solidFill>
                <a:latin typeface="Arial" panose="020B0604020202020204" pitchFamily="34" charset="0"/>
                <a:cs typeface="Arial" panose="020B0604020202020204" pitchFamily="34" charset="0"/>
              </a:rPr>
              <a:t>SYNC period</a:t>
            </a:r>
          </a:p>
          <a:p>
            <a:pPr lvl="2">
              <a:lnSpc>
                <a:spcPct val="130000"/>
              </a:lnSpc>
            </a:pPr>
            <a:r>
              <a:rPr lang="en-US" altLang="zh-CN" sz="2900" dirty="0">
                <a:latin typeface="Arial" panose="020B0604020202020204" pitchFamily="34" charset="0"/>
                <a:cs typeface="Arial" panose="020B0604020202020204" pitchFamily="34" charset="0"/>
              </a:rPr>
              <a:t>nodes synchronize their clocks (to maintain sufficient precision) </a:t>
            </a:r>
          </a:p>
          <a:p>
            <a:pPr lvl="1">
              <a:lnSpc>
                <a:spcPct val="130000"/>
              </a:lnSpc>
            </a:pPr>
            <a:r>
              <a:rPr lang="en-US" altLang="zh-CN" sz="2900" dirty="0">
                <a:solidFill>
                  <a:schemeClr val="tx2">
                    <a:lumMod val="75000"/>
                    <a:lumOff val="25000"/>
                  </a:schemeClr>
                </a:solidFill>
                <a:latin typeface="Arial" panose="020B0604020202020204" pitchFamily="34" charset="0"/>
                <a:cs typeface="Arial" panose="020B0604020202020204" pitchFamily="34" charset="0"/>
              </a:rPr>
              <a:t>DATA period </a:t>
            </a:r>
          </a:p>
          <a:p>
            <a:pPr lvl="2">
              <a:lnSpc>
                <a:spcPct val="130000"/>
              </a:lnSpc>
            </a:pPr>
            <a:r>
              <a:rPr lang="en-US" altLang="zh-CN" sz="2900" dirty="0">
                <a:latin typeface="Arial" panose="020B0604020202020204" pitchFamily="34" charset="0"/>
                <a:cs typeface="Arial" panose="020B0604020202020204" pitchFamily="34" charset="0"/>
              </a:rPr>
              <a:t>used to announce and initiate the packet transmission process along </a:t>
            </a:r>
            <a:r>
              <a:rPr lang="en-US" altLang="zh-CN" sz="2900" dirty="0" err="1">
                <a:latin typeface="Arial" panose="020B0604020202020204" pitchFamily="34" charset="0"/>
                <a:cs typeface="Arial" panose="020B0604020202020204" pitchFamily="34" charset="0"/>
              </a:rPr>
              <a:t>packetʼs</a:t>
            </a:r>
            <a:r>
              <a:rPr lang="en-US" altLang="zh-CN" sz="2900" dirty="0">
                <a:latin typeface="Arial" panose="020B0604020202020204" pitchFamily="34" charset="0"/>
                <a:cs typeface="Arial" panose="020B0604020202020204" pitchFamily="34" charset="0"/>
              </a:rPr>
              <a:t> route to destination </a:t>
            </a:r>
          </a:p>
          <a:p>
            <a:pPr lvl="2">
              <a:lnSpc>
                <a:spcPct val="130000"/>
              </a:lnSpc>
            </a:pPr>
            <a:r>
              <a:rPr lang="en-US" altLang="zh-CN" sz="2900" dirty="0">
                <a:latin typeface="Arial" panose="020B0604020202020204" pitchFamily="34" charset="0"/>
                <a:cs typeface="Arial" panose="020B0604020202020204" pitchFamily="34" charset="0"/>
              </a:rPr>
              <a:t>contention-based </a:t>
            </a:r>
          </a:p>
          <a:p>
            <a:pPr lvl="3">
              <a:lnSpc>
                <a:spcPct val="130000"/>
              </a:lnSpc>
            </a:pPr>
            <a:r>
              <a:rPr lang="en-US" altLang="zh-CN" sz="2600" dirty="0">
                <a:latin typeface="Arial" panose="020B0604020202020204" pitchFamily="34" charset="0"/>
                <a:cs typeface="Arial" panose="020B0604020202020204" pitchFamily="34" charset="0"/>
              </a:rPr>
              <a:t>sender waits for a randomly chosen period of time plus an additional DIFS period (and senses the medium during this time) </a:t>
            </a:r>
          </a:p>
          <a:p>
            <a:pPr lvl="3">
              <a:lnSpc>
                <a:spcPct val="130000"/>
              </a:lnSpc>
            </a:pPr>
            <a:r>
              <a:rPr lang="en-US" altLang="zh-CN" sz="2600" dirty="0">
                <a:latin typeface="Arial" panose="020B0604020202020204" pitchFamily="34" charset="0"/>
                <a:cs typeface="Arial" panose="020B0604020202020204" pitchFamily="34" charset="0"/>
              </a:rPr>
              <a:t>if no activity is detected, the sender transmits a </a:t>
            </a:r>
            <a:r>
              <a:rPr lang="en-US" altLang="zh-CN" sz="2600" dirty="0">
                <a:solidFill>
                  <a:schemeClr val="tx2">
                    <a:lumMod val="75000"/>
                    <a:lumOff val="25000"/>
                  </a:schemeClr>
                </a:solidFill>
                <a:latin typeface="Arial" panose="020B0604020202020204" pitchFamily="34" charset="0"/>
                <a:cs typeface="Arial" panose="020B0604020202020204" pitchFamily="34" charset="0"/>
              </a:rPr>
              <a:t>Pioneer Control Frame (PION)  </a:t>
            </a:r>
            <a:r>
              <a:rPr lang="en-US" altLang="zh-CN" sz="2600" dirty="0">
                <a:latin typeface="Arial" panose="020B0604020202020204" pitchFamily="34" charset="0"/>
                <a:cs typeface="Arial" panose="020B0604020202020204" pitchFamily="34" charset="0"/>
              </a:rPr>
              <a:t>containing the addresses of the sender, destination, and next hop, the duration of the transmission, and the number of hops travelled so far (0 at sender)</a:t>
            </a:r>
          </a:p>
          <a:p>
            <a:pPr lvl="3">
              <a:lnSpc>
                <a:spcPct val="130000"/>
              </a:lnSpc>
            </a:pPr>
            <a:r>
              <a:rPr lang="en-US" altLang="zh-CN" sz="2600" dirty="0">
                <a:latin typeface="Arial" panose="020B0604020202020204" pitchFamily="34" charset="0"/>
                <a:cs typeface="Arial" panose="020B0604020202020204" pitchFamily="34" charset="0"/>
              </a:rPr>
              <a:t>the next hop along the route looks up the next hop for this route and forwards the PION to the next hop after waiting for a SIFS period </a:t>
            </a:r>
          </a:p>
          <a:p>
            <a:pPr lvl="3">
              <a:lnSpc>
                <a:spcPct val="130000"/>
              </a:lnSpc>
            </a:pPr>
            <a:r>
              <a:rPr lang="en-US" altLang="zh-CN" sz="2600" dirty="0">
                <a:latin typeface="Arial" panose="020B0604020202020204" pitchFamily="34" charset="0"/>
                <a:cs typeface="Arial" panose="020B0604020202020204" pitchFamily="34" charset="0"/>
              </a:rPr>
              <a:t>this process continues until the PION reaches the destination</a:t>
            </a:r>
          </a:p>
          <a:p>
            <a:pPr lvl="1">
              <a:lnSpc>
                <a:spcPct val="130000"/>
              </a:lnSpc>
            </a:pPr>
            <a:r>
              <a:rPr lang="en-US" altLang="zh-CN" sz="2900" dirty="0">
                <a:solidFill>
                  <a:schemeClr val="tx2">
                    <a:lumMod val="75000"/>
                    <a:lumOff val="25000"/>
                  </a:schemeClr>
                </a:solidFill>
                <a:latin typeface="Arial" panose="020B0604020202020204" pitchFamily="34" charset="0"/>
                <a:cs typeface="Arial" panose="020B0604020202020204" pitchFamily="34" charset="0"/>
              </a:rPr>
              <a:t>SLEEP period</a:t>
            </a:r>
            <a:endParaRPr lang="zh-CN" altLang="en-US" sz="2900" dirty="0">
              <a:solidFill>
                <a:schemeClr val="tx2">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6643439"/>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Routing-Enhanced MAC</a:t>
            </a:r>
            <a:endParaRPr lang="zh-CN" altLang="en-US" b="1" dirty="0">
              <a:latin typeface="Arial" panose="020B0604020202020204" pitchFamily="34" charset="0"/>
              <a:cs typeface="Arial" panose="020B0604020202020204" pitchFamily="34" charset="0"/>
            </a:endParaRP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20563" y="2004646"/>
            <a:ext cx="7964012" cy="3679421"/>
          </a:xfrm>
        </p:spPr>
      </p:pic>
    </p:spTree>
    <p:extLst>
      <p:ext uri="{BB962C8B-B14F-4D97-AF65-F5344CB8AC3E}">
        <p14:creationId xmlns:p14="http://schemas.microsoft.com/office/powerpoint/2010/main" val="1786388872"/>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Routing-Enhanced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4979621"/>
          </a:xfrm>
        </p:spPr>
        <p:txBody>
          <a:bodyPr>
            <a:normAutofit lnSpcReduction="10000"/>
          </a:bodyPr>
          <a:lstStyle/>
          <a:p>
            <a:pPr>
              <a:lnSpc>
                <a:spcPct val="120000"/>
              </a:lnSpc>
            </a:pPr>
            <a:r>
              <a:rPr lang="en-US" altLang="zh-CN" sz="2600" dirty="0">
                <a:latin typeface="Arial" panose="020B0604020202020204" pitchFamily="34" charset="0"/>
                <a:cs typeface="Arial" panose="020B0604020202020204" pitchFamily="34" charset="0"/>
              </a:rPr>
              <a:t>Actual data transmission takes place during the </a:t>
            </a:r>
            <a:r>
              <a:rPr lang="en-US" altLang="zh-CN" sz="2600" dirty="0">
                <a:solidFill>
                  <a:schemeClr val="tx2">
                    <a:lumMod val="75000"/>
                    <a:lumOff val="25000"/>
                  </a:schemeClr>
                </a:solidFill>
                <a:latin typeface="Arial" panose="020B0604020202020204" pitchFamily="34" charset="0"/>
                <a:cs typeface="Arial" panose="020B0604020202020204" pitchFamily="34" charset="0"/>
              </a:rPr>
              <a:t>SLEEP period</a:t>
            </a:r>
          </a:p>
          <a:p>
            <a:pPr>
              <a:lnSpc>
                <a:spcPct val="120000"/>
              </a:lnSpc>
            </a:pPr>
            <a:r>
              <a:rPr lang="en-US" altLang="zh-CN" sz="2600" dirty="0">
                <a:latin typeface="Arial" panose="020B0604020202020204" pitchFamily="34" charset="0"/>
                <a:cs typeface="Arial" panose="020B0604020202020204" pitchFamily="34" charset="0"/>
              </a:rPr>
              <a:t>Example in figure:</a:t>
            </a:r>
          </a:p>
          <a:p>
            <a:pPr lvl="1">
              <a:lnSpc>
                <a:spcPct val="120000"/>
              </a:lnSpc>
            </a:pPr>
            <a:r>
              <a:rPr lang="en-US" altLang="zh-CN" sz="2000" dirty="0">
                <a:latin typeface="Arial" panose="020B0604020202020204" pitchFamily="34" charset="0"/>
                <a:cs typeface="Arial" panose="020B0604020202020204" pitchFamily="34" charset="0"/>
              </a:rPr>
              <a:t>node A stays awake to receive the data packet from the sender and after successful transmission A returns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an  acknowledgment (ACK)</a:t>
            </a:r>
          </a:p>
          <a:p>
            <a:pPr lvl="1">
              <a:lnSpc>
                <a:spcPct val="120000"/>
              </a:lnSpc>
            </a:pPr>
            <a:r>
              <a:rPr lang="en-US" altLang="zh-CN" sz="2000" dirty="0">
                <a:latin typeface="Arial" panose="020B0604020202020204" pitchFamily="34" charset="0"/>
                <a:cs typeface="Arial" panose="020B0604020202020204" pitchFamily="34" charset="0"/>
              </a:rPr>
              <a:t>all data and ACK packets are separated by a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SIFS period </a:t>
            </a:r>
            <a:r>
              <a:rPr lang="en-US" altLang="zh-CN" sz="2000" dirty="0">
                <a:latin typeface="Arial" panose="020B0604020202020204" pitchFamily="34" charset="0"/>
                <a:cs typeface="Arial" panose="020B0604020202020204" pitchFamily="34" charset="0"/>
              </a:rPr>
              <a:t>similar to the PION schedule during the DATA period</a:t>
            </a:r>
          </a:p>
          <a:p>
            <a:pPr lvl="1">
              <a:lnSpc>
                <a:spcPct val="120000"/>
              </a:lnSpc>
            </a:pPr>
            <a:r>
              <a:rPr lang="en-US" altLang="zh-CN" sz="2000" dirty="0">
                <a:latin typeface="Arial" panose="020B0604020202020204" pitchFamily="34" charset="0"/>
                <a:cs typeface="Arial" panose="020B0604020202020204" pitchFamily="34" charset="0"/>
              </a:rPr>
              <a:t>after receiving the ACK from node A, the sender has completed its part and it can return its radio into the sleep mode</a:t>
            </a:r>
          </a:p>
          <a:p>
            <a:pPr lvl="1">
              <a:lnSpc>
                <a:spcPct val="120000"/>
              </a:lnSpc>
            </a:pPr>
            <a:r>
              <a:rPr lang="en-US" altLang="zh-CN" sz="2000" dirty="0">
                <a:latin typeface="Arial" panose="020B0604020202020204" pitchFamily="34" charset="0"/>
                <a:cs typeface="Arial" panose="020B0604020202020204" pitchFamily="34" charset="0"/>
              </a:rPr>
              <a:t>node A relays the received packet to the next hop (node B) and also returns its radio to sleep mode once B has acknowledged the data packet </a:t>
            </a:r>
          </a:p>
          <a:p>
            <a:pPr lvl="1">
              <a:lnSpc>
                <a:spcPct val="120000"/>
              </a:lnSpc>
            </a:pPr>
            <a:r>
              <a:rPr lang="en-US" altLang="zh-CN" sz="2000" dirty="0">
                <a:latin typeface="Arial" panose="020B0604020202020204" pitchFamily="34" charset="0"/>
                <a:cs typeface="Arial" panose="020B0604020202020204" pitchFamily="34" charset="0"/>
              </a:rPr>
              <a:t>this process continues until the data packet has been received and acknowledged by the destination</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3319212"/>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Routing-Enhanced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557590"/>
          </a:xfrm>
        </p:spPr>
        <p:txBody>
          <a:bodyPr>
            <a:normAutofit/>
          </a:bodyPr>
          <a:lstStyle/>
          <a:p>
            <a:pPr>
              <a:lnSpc>
                <a:spcPct val="120000"/>
              </a:lnSpc>
            </a:pPr>
            <a:r>
              <a:rPr lang="en-US" altLang="zh-CN" sz="2000" dirty="0">
                <a:latin typeface="Arial" panose="020B0604020202020204" pitchFamily="34" charset="0"/>
                <a:cs typeface="Arial" panose="020B0604020202020204" pitchFamily="34" charset="0"/>
              </a:rPr>
              <a:t>The sender and node A stay awake after the DATA period to immediately begin the transmission of the data packet over the first hop </a:t>
            </a:r>
          </a:p>
          <a:p>
            <a:pPr>
              <a:lnSpc>
                <a:spcPct val="120000"/>
              </a:lnSpc>
            </a:pPr>
            <a:r>
              <a:rPr lang="en-US" altLang="zh-CN" sz="2000" dirty="0">
                <a:latin typeface="Arial" panose="020B0604020202020204" pitchFamily="34" charset="0"/>
                <a:cs typeface="Arial" panose="020B0604020202020204" pitchFamily="34" charset="0"/>
              </a:rPr>
              <a:t>All other nodes along the route can turn off their radios after the DATA period has completed to further preserve energy</a:t>
            </a:r>
          </a:p>
          <a:p>
            <a:pPr>
              <a:lnSpc>
                <a:spcPct val="120000"/>
              </a:lnSpc>
            </a:pPr>
            <a:r>
              <a:rPr lang="en-US" altLang="zh-CN" sz="2000" dirty="0">
                <a:latin typeface="Arial" panose="020B0604020202020204" pitchFamily="34" charset="0"/>
                <a:cs typeface="Arial" panose="020B0604020202020204" pitchFamily="34" charset="0"/>
              </a:rPr>
              <a:t>Each node wakes up at the right time to receive the data packet from the upstream node </a:t>
            </a:r>
          </a:p>
          <a:p>
            <a:pPr>
              <a:lnSpc>
                <a:spcPct val="120000"/>
              </a:lnSpc>
            </a:pPr>
            <a:r>
              <a:rPr lang="en-US" altLang="zh-CN" sz="2000" dirty="0">
                <a:latin typeface="Arial" panose="020B0604020202020204" pitchFamily="34" charset="0"/>
                <a:cs typeface="Arial" panose="020B0604020202020204" pitchFamily="34" charset="0"/>
              </a:rPr>
              <a:t>This time to wake up can be computed by node </a:t>
            </a:r>
            <a:r>
              <a:rPr lang="en-US" altLang="zh-CN" sz="2000" i="1" dirty="0">
                <a:latin typeface="Arial" panose="020B0604020202020204" pitchFamily="34" charset="0"/>
                <a:cs typeface="Arial" panose="020B0604020202020204" pitchFamily="34" charset="0"/>
              </a:rPr>
              <a:t>i</a:t>
            </a:r>
            <a:r>
              <a:rPr lang="en-US" altLang="zh-CN" sz="2000" dirty="0">
                <a:latin typeface="Arial" panose="020B0604020202020204" pitchFamily="34" charset="0"/>
                <a:cs typeface="Arial" panose="020B0604020202020204" pitchFamily="34" charset="0"/>
              </a:rPr>
              <a:t>  as:</a:t>
            </a:r>
          </a:p>
          <a:p>
            <a:pPr marL="0" indent="0">
              <a:lnSpc>
                <a:spcPct val="120000"/>
              </a:lnSpc>
              <a:buNone/>
            </a:pPr>
            <a:endParaRPr lang="en-US" altLang="zh-CN" sz="2000" dirty="0">
              <a:latin typeface="Arial" panose="020B0604020202020204" pitchFamily="34" charset="0"/>
              <a:cs typeface="Arial" panose="020B0604020202020204" pitchFamily="34" charset="0"/>
            </a:endParaRPr>
          </a:p>
          <a:p>
            <a:pPr lvl="1">
              <a:lnSpc>
                <a:spcPct val="120000"/>
              </a:lnSpc>
            </a:pPr>
            <a:endParaRPr lang="en-US" altLang="zh-CN" sz="2000" dirty="0">
              <a:latin typeface="Arial" panose="020B0604020202020204" pitchFamily="34" charset="0"/>
              <a:cs typeface="Arial" panose="020B0604020202020204" pitchFamily="34" charset="0"/>
            </a:endParaRPr>
          </a:p>
          <a:p>
            <a:pPr lvl="1">
              <a:lnSpc>
                <a:spcPct val="120000"/>
              </a:lnSpc>
            </a:pPr>
            <a:r>
              <a:rPr lang="en-US" altLang="zh-CN" sz="2000" dirty="0">
                <a:latin typeface="Arial" panose="020B0604020202020204" pitchFamily="34" charset="0"/>
                <a:cs typeface="Arial" panose="020B0604020202020204" pitchFamily="34" charset="0"/>
              </a:rPr>
              <a:t>where size(DATA) and size(ACK) are the times required to send a single data and ACK frame</a:t>
            </a:r>
            <a:endParaRPr lang="zh-CN" altLang="en-US" sz="2000" dirty="0">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399" y="4595446"/>
            <a:ext cx="5363309" cy="703383"/>
          </a:xfrm>
          <a:prstGeom prst="rect">
            <a:avLst/>
          </a:prstGeom>
        </p:spPr>
      </p:pic>
    </p:spTree>
    <p:extLst>
      <p:ext uri="{BB962C8B-B14F-4D97-AF65-F5344CB8AC3E}">
        <p14:creationId xmlns:p14="http://schemas.microsoft.com/office/powerpoint/2010/main" val="1885541109"/>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Routing-Enhanced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4422775"/>
          </a:xfrm>
        </p:spPr>
        <p:txBody>
          <a:bodyPr>
            <a:normAutofit fontScale="85000" lnSpcReduction="10000"/>
          </a:bodyPr>
          <a:lstStyle/>
          <a:p>
            <a:pPr>
              <a:lnSpc>
                <a:spcPct val="130000"/>
              </a:lnSpc>
            </a:pPr>
            <a:r>
              <a:rPr lang="en-US" altLang="zh-CN" dirty="0">
                <a:latin typeface="Arial" panose="020B0604020202020204" pitchFamily="34" charset="0"/>
                <a:cs typeface="Arial" panose="020B0604020202020204" pitchFamily="34" charset="0"/>
              </a:rPr>
              <a:t>Summary</a:t>
            </a:r>
          </a:p>
          <a:p>
            <a:pPr lvl="1">
              <a:lnSpc>
                <a:spcPct val="130000"/>
              </a:lnSpc>
            </a:pPr>
            <a:r>
              <a:rPr lang="en-US" altLang="zh-CN" dirty="0">
                <a:latin typeface="Arial" panose="020B0604020202020204" pitchFamily="34" charset="0"/>
                <a:cs typeface="Arial" panose="020B0604020202020204" pitchFamily="34" charset="0"/>
              </a:rPr>
              <a:t>RMAC addresses the large latencies often experienced in MAC protocols based on duty cycles </a:t>
            </a:r>
          </a:p>
          <a:p>
            <a:pPr lvl="1">
              <a:lnSpc>
                <a:spcPct val="130000"/>
              </a:lnSpc>
            </a:pPr>
            <a:r>
              <a:rPr lang="en-US" altLang="zh-CN" dirty="0">
                <a:latin typeface="Arial" panose="020B0604020202020204" pitchFamily="34" charset="0"/>
                <a:cs typeface="Arial" panose="020B0604020202020204" pitchFamily="34" charset="0"/>
              </a:rPr>
              <a:t>it is able to perform end-to-end packet delivery within a single operational cycle</a:t>
            </a:r>
          </a:p>
          <a:p>
            <a:pPr lvl="1">
              <a:lnSpc>
                <a:spcPct val="130000"/>
              </a:lnSpc>
            </a:pPr>
            <a:r>
              <a:rPr lang="en-US" altLang="zh-CN" dirty="0">
                <a:latin typeface="Arial" panose="020B0604020202020204" pitchFamily="34" charset="0"/>
                <a:cs typeface="Arial" panose="020B0604020202020204" pitchFamily="34" charset="0"/>
              </a:rPr>
              <a:t> it also alleviates contention by separating medium contention and data transfer into two separate periods </a:t>
            </a:r>
          </a:p>
          <a:p>
            <a:pPr lvl="1">
              <a:lnSpc>
                <a:spcPct val="130000"/>
              </a:lnSpc>
            </a:pPr>
            <a:r>
              <a:rPr lang="en-US" altLang="zh-CN" dirty="0">
                <a:latin typeface="Arial" panose="020B0604020202020204" pitchFamily="34" charset="0"/>
                <a:cs typeface="Arial" panose="020B0604020202020204" pitchFamily="34" charset="0"/>
              </a:rPr>
              <a:t>however, collisions can still occur, even on the data packets during the SLEEP period</a:t>
            </a:r>
          </a:p>
          <a:p>
            <a:pPr lvl="2">
              <a:lnSpc>
                <a:spcPct val="130000"/>
              </a:lnSpc>
            </a:pPr>
            <a:r>
              <a:rPr lang="en-US" altLang="zh-CN" dirty="0">
                <a:latin typeface="Arial" panose="020B0604020202020204" pitchFamily="34" charset="0"/>
                <a:cs typeface="Arial" panose="020B0604020202020204" pitchFamily="34" charset="0"/>
              </a:rPr>
              <a:t>a source always commences transmission at the beginning of the SLEEP period, therefore it is possible that data packets coming from two different sources (which succeeded in the PION scheduling process during the DATA period, but cannot see each other) may still collide </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0299749"/>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Routing-Enhanced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1301046" cy="4844806"/>
          </a:xfrm>
        </p:spPr>
        <p:txBody>
          <a:bodyPr>
            <a:normAutofit fontScale="92500"/>
          </a:bodyPr>
          <a:lstStyle/>
          <a:p>
            <a:pPr>
              <a:lnSpc>
                <a:spcPct val="130000"/>
              </a:lnSpc>
            </a:pPr>
            <a:r>
              <a:rPr lang="en-US" altLang="zh-CN" sz="2200" dirty="0">
                <a:latin typeface="Arial" panose="020B0604020202020204" pitchFamily="34" charset="0"/>
                <a:cs typeface="Arial" panose="020B0604020202020204" pitchFamily="34" charset="0"/>
              </a:rPr>
              <a:t>This problem has been addressed by a similar protocol called Demand-Wakeup (DW-MAC)</a:t>
            </a:r>
          </a:p>
          <a:p>
            <a:pPr lvl="1">
              <a:lnSpc>
                <a:spcPct val="130000"/>
              </a:lnSpc>
            </a:pPr>
            <a:r>
              <a:rPr lang="en-US" altLang="zh-CN" sz="1900" dirty="0">
                <a:latin typeface="Arial" panose="020B0604020202020204" pitchFamily="34" charset="0"/>
                <a:cs typeface="Arial" panose="020B0604020202020204" pitchFamily="34" charset="0"/>
              </a:rPr>
              <a:t>the schedule is a one-to-one mapping between a DATA period and the following SLEEP period: </a:t>
            </a:r>
          </a:p>
          <a:p>
            <a:pPr lvl="1">
              <a:lnSpc>
                <a:spcPct val="130000"/>
              </a:lnSpc>
            </a:pPr>
            <a:endParaRPr lang="en-US" altLang="zh-CN" sz="2000" dirty="0">
              <a:latin typeface="Arial" panose="020B0604020202020204" pitchFamily="34" charset="0"/>
              <a:cs typeface="Arial" panose="020B0604020202020204" pitchFamily="34" charset="0"/>
            </a:endParaRPr>
          </a:p>
          <a:p>
            <a:pPr lvl="1">
              <a:lnSpc>
                <a:spcPct val="130000"/>
              </a:lnSpc>
            </a:pPr>
            <a:endParaRPr lang="en-US" altLang="zh-CN" sz="2000" dirty="0">
              <a:latin typeface="Arial" panose="020B0604020202020204" pitchFamily="34" charset="0"/>
              <a:cs typeface="Arial" panose="020B0604020202020204" pitchFamily="34" charset="0"/>
            </a:endParaRPr>
          </a:p>
          <a:p>
            <a:pPr lvl="2">
              <a:lnSpc>
                <a:spcPct val="130000"/>
              </a:lnSpc>
            </a:pPr>
            <a:r>
              <a:rPr lang="en-US" altLang="zh-CN" sz="1700" i="1" dirty="0" err="1">
                <a:latin typeface="Arial" panose="020B0604020202020204" pitchFamily="34" charset="0"/>
                <a:cs typeface="Arial" panose="020B0604020202020204" pitchFamily="34" charset="0"/>
              </a:rPr>
              <a:t>T</a:t>
            </a:r>
            <a:r>
              <a:rPr lang="en-US" altLang="zh-CN" sz="1700" i="1" baseline="-25000" dirty="0" err="1">
                <a:latin typeface="Arial" panose="020B0604020202020204" pitchFamily="34" charset="0"/>
                <a:cs typeface="Arial" panose="020B0604020202020204" pitchFamily="34" charset="0"/>
              </a:rPr>
              <a:t>i</a:t>
            </a:r>
            <a:r>
              <a:rPr lang="en-US" altLang="zh-CN" sz="1700" i="1" baseline="30000" dirty="0" err="1">
                <a:latin typeface="Arial" panose="020B0604020202020204" pitchFamily="34" charset="0"/>
                <a:cs typeface="Arial" panose="020B0604020202020204" pitchFamily="34" charset="0"/>
              </a:rPr>
              <a:t>S</a:t>
            </a:r>
            <a:r>
              <a:rPr lang="en-US" altLang="zh-CN" sz="1700" baseline="30000" dirty="0">
                <a:latin typeface="Arial" panose="020B0604020202020204" pitchFamily="34" charset="0"/>
                <a:cs typeface="Arial" panose="020B0604020202020204" pitchFamily="34" charset="0"/>
              </a:rPr>
              <a:t> </a:t>
            </a:r>
            <a:r>
              <a:rPr lang="en-US" altLang="zh-CN" sz="1700" dirty="0">
                <a:latin typeface="Arial" panose="020B0604020202020204" pitchFamily="34" charset="0"/>
                <a:cs typeface="Arial" panose="020B0604020202020204" pitchFamily="34" charset="0"/>
              </a:rPr>
              <a:t>is the start time of the </a:t>
            </a:r>
            <a:r>
              <a:rPr lang="en-US" altLang="zh-CN" sz="1700" dirty="0">
                <a:solidFill>
                  <a:schemeClr val="tx2">
                    <a:lumMod val="75000"/>
                    <a:lumOff val="25000"/>
                  </a:schemeClr>
                </a:solidFill>
                <a:latin typeface="Arial" panose="020B0604020202020204" pitchFamily="34" charset="0"/>
                <a:cs typeface="Arial" panose="020B0604020202020204" pitchFamily="34" charset="0"/>
              </a:rPr>
              <a:t>scheduling frame (SCH)  </a:t>
            </a:r>
            <a:r>
              <a:rPr lang="en-US" altLang="zh-CN" sz="1700" dirty="0">
                <a:latin typeface="Arial" panose="020B0604020202020204" pitchFamily="34" charset="0"/>
                <a:cs typeface="Arial" panose="020B0604020202020204" pitchFamily="34" charset="0"/>
              </a:rPr>
              <a:t>(the equivalent of the pioneer frame in RMAC) measured from the start of the DATA period </a:t>
            </a:r>
          </a:p>
          <a:p>
            <a:pPr lvl="2">
              <a:lnSpc>
                <a:spcPct val="130000"/>
              </a:lnSpc>
            </a:pPr>
            <a:r>
              <a:rPr lang="en-US" altLang="zh-CN" sz="1700" i="1" dirty="0" err="1">
                <a:latin typeface="Arial" panose="020B0604020202020204" pitchFamily="34" charset="0"/>
                <a:cs typeface="Arial" panose="020B0604020202020204" pitchFamily="34" charset="0"/>
              </a:rPr>
              <a:t>T</a:t>
            </a:r>
            <a:r>
              <a:rPr lang="en-US" altLang="zh-CN" sz="1700" i="1" baseline="-25000" dirty="0" err="1">
                <a:latin typeface="Arial" panose="020B0604020202020204" pitchFamily="34" charset="0"/>
                <a:cs typeface="Arial" panose="020B0604020202020204" pitchFamily="34" charset="0"/>
              </a:rPr>
              <a:t>i</a:t>
            </a:r>
            <a:r>
              <a:rPr lang="en-US" altLang="zh-CN" sz="1700" i="1" baseline="30000" dirty="0" err="1">
                <a:latin typeface="Arial" panose="020B0604020202020204" pitchFamily="34" charset="0"/>
                <a:cs typeface="Arial" panose="020B0604020202020204" pitchFamily="34" charset="0"/>
              </a:rPr>
              <a:t>D</a:t>
            </a:r>
            <a:r>
              <a:rPr lang="en-US" altLang="zh-CN" sz="1700" baseline="30000" dirty="0">
                <a:latin typeface="Arial" panose="020B0604020202020204" pitchFamily="34" charset="0"/>
                <a:cs typeface="Arial" panose="020B0604020202020204" pitchFamily="34" charset="0"/>
              </a:rPr>
              <a:t> </a:t>
            </a:r>
            <a:r>
              <a:rPr lang="en-US" altLang="zh-CN" sz="1700" dirty="0">
                <a:latin typeface="Arial" panose="020B0604020202020204" pitchFamily="34" charset="0"/>
                <a:cs typeface="Arial" panose="020B0604020202020204" pitchFamily="34" charset="0"/>
              </a:rPr>
              <a:t>is the start time of the data transmission in the SLEEP period (measured from the start of the SLEEP period) </a:t>
            </a:r>
          </a:p>
          <a:p>
            <a:pPr lvl="2">
              <a:lnSpc>
                <a:spcPct val="130000"/>
              </a:lnSpc>
            </a:pPr>
            <a:r>
              <a:rPr lang="en-US" altLang="zh-CN" sz="1700" i="1" dirty="0" err="1">
                <a:latin typeface="Arial" panose="020B0604020202020204" pitchFamily="34" charset="0"/>
                <a:cs typeface="Arial" panose="020B0604020202020204" pitchFamily="34" charset="0"/>
              </a:rPr>
              <a:t>T</a:t>
            </a:r>
            <a:r>
              <a:rPr lang="en-US" altLang="zh-CN" sz="1700" i="1" baseline="-25000" dirty="0" err="1">
                <a:latin typeface="Arial" panose="020B0604020202020204" pitchFamily="34" charset="0"/>
                <a:cs typeface="Arial" panose="020B0604020202020204" pitchFamily="34" charset="0"/>
              </a:rPr>
              <a:t>sleep</a:t>
            </a:r>
            <a:r>
              <a:rPr lang="en-US" altLang="zh-CN" sz="1700" i="1" dirty="0">
                <a:latin typeface="Arial" panose="020B0604020202020204" pitchFamily="34" charset="0"/>
                <a:cs typeface="Arial" panose="020B0604020202020204" pitchFamily="34" charset="0"/>
              </a:rPr>
              <a:t> </a:t>
            </a:r>
            <a:r>
              <a:rPr lang="en-US" altLang="zh-CN" sz="1700" dirty="0">
                <a:latin typeface="Arial" panose="020B0604020202020204" pitchFamily="34" charset="0"/>
                <a:cs typeface="Arial" panose="020B0604020202020204" pitchFamily="34" charset="0"/>
              </a:rPr>
              <a:t>and </a:t>
            </a:r>
            <a:r>
              <a:rPr lang="en-US" altLang="zh-CN" sz="1700" i="1" dirty="0" err="1">
                <a:latin typeface="Arial" panose="020B0604020202020204" pitchFamily="34" charset="0"/>
                <a:cs typeface="Arial" panose="020B0604020202020204" pitchFamily="34" charset="0"/>
              </a:rPr>
              <a:t>T</a:t>
            </a:r>
            <a:r>
              <a:rPr lang="en-US" altLang="zh-CN" sz="1700" i="1" baseline="-25000" dirty="0" err="1">
                <a:latin typeface="Arial" panose="020B0604020202020204" pitchFamily="34" charset="0"/>
                <a:cs typeface="Arial" panose="020B0604020202020204" pitchFamily="34" charset="0"/>
              </a:rPr>
              <a:t>data</a:t>
            </a:r>
            <a:r>
              <a:rPr lang="en-US" altLang="zh-CN" sz="1700" baseline="-25000" dirty="0">
                <a:latin typeface="Arial" panose="020B0604020202020204" pitchFamily="34" charset="0"/>
                <a:cs typeface="Arial" panose="020B0604020202020204" pitchFamily="34" charset="0"/>
              </a:rPr>
              <a:t> </a:t>
            </a:r>
            <a:r>
              <a:rPr lang="en-US" altLang="zh-CN" sz="1700" dirty="0">
                <a:latin typeface="Arial" panose="020B0604020202020204" pitchFamily="34" charset="0"/>
                <a:cs typeface="Arial" panose="020B0604020202020204" pitchFamily="34" charset="0"/>
              </a:rPr>
              <a:t>are the durations of the SLEEP and DATA periods </a:t>
            </a:r>
          </a:p>
          <a:p>
            <a:pPr lvl="1">
              <a:lnSpc>
                <a:spcPct val="130000"/>
              </a:lnSpc>
            </a:pPr>
            <a:r>
              <a:rPr lang="en-US" altLang="zh-CN" sz="1900" dirty="0">
                <a:latin typeface="Arial" panose="020B0604020202020204" pitchFamily="34" charset="0"/>
                <a:cs typeface="Arial" panose="020B0604020202020204" pitchFamily="34" charset="0"/>
              </a:rPr>
              <a:t>data packet transmissions do not necessarily coincide with the start of the SLEEP period, but instead depend on the contention window during the DATA period </a:t>
            </a:r>
          </a:p>
          <a:p>
            <a:pPr lvl="2">
              <a:lnSpc>
                <a:spcPct val="130000"/>
              </a:lnSpc>
            </a:pPr>
            <a:r>
              <a:rPr lang="en-US" altLang="zh-CN" sz="1900" dirty="0">
                <a:latin typeface="Arial" panose="020B0604020202020204" pitchFamily="34" charset="0"/>
                <a:cs typeface="Arial" panose="020B0604020202020204" pitchFamily="34" charset="0"/>
              </a:rPr>
              <a:t>reduces the risk of collisions during the SLEEP period </a:t>
            </a:r>
            <a:endParaRPr lang="zh-CN" altLang="en-US" sz="1900" dirty="0">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67599" y="2761139"/>
            <a:ext cx="1856801" cy="667861"/>
          </a:xfrm>
          <a:prstGeom prst="rect">
            <a:avLst/>
          </a:prstGeom>
        </p:spPr>
      </p:pic>
    </p:spTree>
    <p:extLst>
      <p:ext uri="{BB962C8B-B14F-4D97-AF65-F5344CB8AC3E}">
        <p14:creationId xmlns:p14="http://schemas.microsoft.com/office/powerpoint/2010/main" val="2236984861"/>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Data-Gathering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462210"/>
            <a:ext cx="10515600" cy="4351338"/>
          </a:xfrm>
        </p:spPr>
        <p:txBody>
          <a:bodyPr>
            <a:normAutofit/>
          </a:bodyPr>
          <a:lstStyle/>
          <a:p>
            <a:pPr>
              <a:lnSpc>
                <a:spcPct val="120000"/>
              </a:lnSpc>
            </a:pPr>
            <a:r>
              <a:rPr lang="en-US" altLang="zh-CN" sz="2000" dirty="0">
                <a:latin typeface="Arial" panose="020B0604020202020204" pitchFamily="34" charset="0"/>
                <a:cs typeface="Arial" panose="020B0604020202020204" pitchFamily="34" charset="0"/>
              </a:rPr>
              <a:t>The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DMAC</a:t>
            </a:r>
            <a:r>
              <a:rPr lang="en-US" altLang="zh-CN" sz="2000" dirty="0">
                <a:latin typeface="Arial" panose="020B0604020202020204" pitchFamily="34" charset="0"/>
                <a:cs typeface="Arial" panose="020B0604020202020204" pitchFamily="34" charset="0"/>
              </a:rPr>
              <a:t> protocol exploits the fact that many wireless sensor networks rely on </a:t>
            </a:r>
            <a:r>
              <a:rPr lang="en-US" altLang="zh-CN" sz="2000" dirty="0" err="1">
                <a:solidFill>
                  <a:schemeClr val="tx2">
                    <a:lumMod val="75000"/>
                    <a:lumOff val="25000"/>
                  </a:schemeClr>
                </a:solidFill>
                <a:latin typeface="Arial" panose="020B0604020202020204" pitchFamily="34" charset="0"/>
                <a:cs typeface="Arial" panose="020B0604020202020204" pitchFamily="34" charset="0"/>
              </a:rPr>
              <a:t>convergecast</a:t>
            </a:r>
            <a:r>
              <a:rPr lang="en-US" altLang="zh-CN" sz="2000" dirty="0">
                <a:latin typeface="Arial" panose="020B0604020202020204" pitchFamily="34" charset="0"/>
                <a:cs typeface="Arial" panose="020B0604020202020204" pitchFamily="34" charset="0"/>
              </a:rPr>
              <a:t>  as communication pattern, i.e., data from sensor nodes are collected at a central node (the “sink”) in a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data-gathering tree</a:t>
            </a:r>
          </a:p>
          <a:p>
            <a:pPr>
              <a:lnSpc>
                <a:spcPct val="120000"/>
              </a:lnSpc>
            </a:pPr>
            <a:r>
              <a:rPr lang="en-US" altLang="zh-CN" sz="2000" dirty="0">
                <a:latin typeface="Arial" panose="020B0604020202020204" pitchFamily="34" charset="0"/>
                <a:cs typeface="Arial" panose="020B0604020202020204" pitchFamily="34" charset="0"/>
              </a:rPr>
              <a:t>The goal of DMAC is to deliver data along the data gathering tree with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low latency</a:t>
            </a:r>
            <a:r>
              <a:rPr lang="en-US" altLang="zh-CN" sz="2000" dirty="0">
                <a:latin typeface="Arial" panose="020B0604020202020204" pitchFamily="34" charset="0"/>
                <a:cs typeface="Arial" panose="020B0604020202020204" pitchFamily="34" charset="0"/>
              </a:rPr>
              <a:t> and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high energy efficiency </a:t>
            </a:r>
            <a:endParaRPr lang="en-US" altLang="zh-CN" sz="2000" dirty="0">
              <a:latin typeface="Arial" panose="020B0604020202020204" pitchFamily="34" charset="0"/>
              <a:cs typeface="Arial" panose="020B0604020202020204" pitchFamily="34" charset="0"/>
            </a:endParaRPr>
          </a:p>
          <a:p>
            <a:pPr>
              <a:lnSpc>
                <a:spcPct val="120000"/>
              </a:lnSpc>
            </a:pPr>
            <a:r>
              <a:rPr lang="en-US" altLang="zh-CN" sz="2000" dirty="0">
                <a:latin typeface="Arial" panose="020B0604020202020204" pitchFamily="34" charset="0"/>
                <a:cs typeface="Arial" panose="020B0604020202020204" pitchFamily="34" charset="0"/>
              </a:rPr>
              <a:t>The duty cycles of nodes along the multi-hop path to the sink are “staggered”, i.e., nodes wake up sequentially like a chain reaction </a:t>
            </a:r>
            <a:endParaRPr lang="zh-CN" altLang="en-US" sz="2000" dirty="0">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5308" y="4331678"/>
            <a:ext cx="7305386" cy="2440245"/>
          </a:xfrm>
          <a:prstGeom prst="rect">
            <a:avLst/>
          </a:prstGeom>
        </p:spPr>
      </p:pic>
    </p:spTree>
    <p:extLst>
      <p:ext uri="{BB962C8B-B14F-4D97-AF65-F5344CB8AC3E}">
        <p14:creationId xmlns:p14="http://schemas.microsoft.com/office/powerpoint/2010/main" val="2565005964"/>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Data-Gathering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662137" cy="5032375"/>
          </a:xfrm>
        </p:spPr>
        <p:txBody>
          <a:bodyPr>
            <a:normAutofit lnSpcReduction="10000"/>
          </a:bodyPr>
          <a:lstStyle/>
          <a:p>
            <a:pPr>
              <a:lnSpc>
                <a:spcPct val="120000"/>
              </a:lnSpc>
              <a:spcBef>
                <a:spcPts val="0"/>
              </a:spcBef>
            </a:pPr>
            <a:r>
              <a:rPr lang="en-US" altLang="zh-CN" sz="2000" dirty="0">
                <a:latin typeface="Arial" panose="020B0604020202020204" pitchFamily="34" charset="0"/>
                <a:cs typeface="Arial" panose="020B0604020202020204" pitchFamily="34" charset="0"/>
              </a:rPr>
              <a:t>Nodes switch between sending, receiving, and sleep states</a:t>
            </a:r>
          </a:p>
          <a:p>
            <a:pPr>
              <a:lnSpc>
                <a:spcPct val="120000"/>
              </a:lnSpc>
              <a:spcBef>
                <a:spcPts val="0"/>
              </a:spcBef>
            </a:pPr>
            <a:r>
              <a:rPr lang="en-US" altLang="zh-CN" sz="2000" dirty="0">
                <a:latin typeface="Arial" panose="020B0604020202020204" pitchFamily="34" charset="0"/>
                <a:cs typeface="Arial" panose="020B0604020202020204" pitchFamily="34" charset="0"/>
              </a:rPr>
              <a:t>During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the sending state</a:t>
            </a:r>
            <a:r>
              <a:rPr lang="en-US" altLang="zh-CN" sz="2000" dirty="0">
                <a:latin typeface="Arial" panose="020B0604020202020204" pitchFamily="34" charset="0"/>
                <a:cs typeface="Arial" panose="020B0604020202020204" pitchFamily="34" charset="0"/>
              </a:rPr>
              <a:t>, a node sends a packet to the next hop node on the route and awaits an acknowledgment (ACK)</a:t>
            </a:r>
          </a:p>
          <a:p>
            <a:pPr>
              <a:lnSpc>
                <a:spcPct val="120000"/>
              </a:lnSpc>
              <a:spcBef>
                <a:spcPts val="0"/>
              </a:spcBef>
            </a:pPr>
            <a:r>
              <a:rPr lang="en-US" altLang="zh-CN" sz="2000" dirty="0">
                <a:latin typeface="Arial" panose="020B0604020202020204" pitchFamily="34" charset="0"/>
                <a:cs typeface="Arial" panose="020B0604020202020204" pitchFamily="34" charset="0"/>
              </a:rPr>
              <a:t>At the same time, the next hop node is in the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receiving state</a:t>
            </a:r>
            <a:r>
              <a:rPr lang="en-US" altLang="zh-CN" sz="2000" dirty="0">
                <a:latin typeface="Arial" panose="020B0604020202020204" pitchFamily="34" charset="0"/>
                <a:cs typeface="Arial" panose="020B0604020202020204" pitchFamily="34" charset="0"/>
              </a:rPr>
              <a:t>, immediately followed by a sending state to forward the packet to the next hop (unless the node is the destination of packet)  </a:t>
            </a:r>
          </a:p>
          <a:p>
            <a:pPr>
              <a:lnSpc>
                <a:spcPct val="120000"/>
              </a:lnSpc>
              <a:spcBef>
                <a:spcPts val="0"/>
              </a:spcBef>
            </a:pPr>
            <a:r>
              <a:rPr lang="en-US" altLang="zh-CN" sz="2000" dirty="0">
                <a:latin typeface="Arial" panose="020B0604020202020204" pitchFamily="34" charset="0"/>
                <a:cs typeface="Arial" panose="020B0604020202020204" pitchFamily="34" charset="0"/>
              </a:rPr>
              <a:t>A node enters the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sleep state </a:t>
            </a:r>
            <a:r>
              <a:rPr lang="en-US" altLang="zh-CN" sz="2000" dirty="0">
                <a:latin typeface="Arial" panose="020B0604020202020204" pitchFamily="34" charset="0"/>
                <a:cs typeface="Arial" panose="020B0604020202020204" pitchFamily="34" charset="0"/>
              </a:rPr>
              <a:t>between these intervals of receiving and sending of packets, where it can power down its radio to preserve energy</a:t>
            </a:r>
          </a:p>
          <a:p>
            <a:pPr>
              <a:lnSpc>
                <a:spcPct val="120000"/>
              </a:lnSpc>
              <a:spcBef>
                <a:spcPts val="0"/>
              </a:spcBef>
            </a:pPr>
            <a:r>
              <a:rPr lang="en-US" altLang="zh-CN" sz="2000" dirty="0">
                <a:latin typeface="Arial" panose="020B0604020202020204" pitchFamily="34" charset="0"/>
                <a:cs typeface="Arial" panose="020B0604020202020204" pitchFamily="34" charset="0"/>
              </a:rPr>
              <a:t>The sending and receiving intervals are large enough for exactly one packet</a:t>
            </a:r>
          </a:p>
          <a:p>
            <a:pPr>
              <a:lnSpc>
                <a:spcPct val="120000"/>
              </a:lnSpc>
              <a:spcBef>
                <a:spcPts val="0"/>
              </a:spcBef>
            </a:pPr>
            <a:r>
              <a:rPr lang="en-US" altLang="zh-CN" sz="2000" dirty="0">
                <a:latin typeface="Arial" panose="020B0604020202020204" pitchFamily="34" charset="0"/>
                <a:cs typeface="Arial" panose="020B0604020202020204" pitchFamily="34" charset="0"/>
              </a:rPr>
              <a:t>Since there are no queuing delays, a node at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depth </a:t>
            </a:r>
            <a:r>
              <a:rPr lang="en-US" altLang="zh-CN" sz="2000" i="1" dirty="0">
                <a:solidFill>
                  <a:schemeClr val="tx2">
                    <a:lumMod val="75000"/>
                    <a:lumOff val="25000"/>
                  </a:schemeClr>
                </a:solidFill>
                <a:latin typeface="Arial" panose="020B0604020202020204" pitchFamily="34" charset="0"/>
                <a:cs typeface="Arial" panose="020B0604020202020204" pitchFamily="34" charset="0"/>
              </a:rPr>
              <a:t>d</a:t>
            </a:r>
            <a:r>
              <a:rPr lang="en-US" altLang="zh-CN" sz="2000" dirty="0">
                <a:latin typeface="Arial" panose="020B0604020202020204" pitchFamily="34" charset="0"/>
                <a:cs typeface="Arial" panose="020B0604020202020204" pitchFamily="34" charset="0"/>
              </a:rPr>
              <a:t> in the tree can then deliver a packet to the sink within</a:t>
            </a:r>
            <a:r>
              <a:rPr lang="en-US" altLang="zh-CN" sz="2000" i="1" dirty="0">
                <a:latin typeface="Arial" panose="020B0604020202020204" pitchFamily="34" charset="0"/>
                <a:cs typeface="Arial" panose="020B0604020202020204" pitchFamily="34" charset="0"/>
              </a:rPr>
              <a:t> </a:t>
            </a:r>
            <a:r>
              <a:rPr lang="en-US" altLang="zh-CN" sz="2000" i="1" dirty="0">
                <a:solidFill>
                  <a:schemeClr val="tx2">
                    <a:lumMod val="75000"/>
                    <a:lumOff val="25000"/>
                  </a:schemeClr>
                </a:solidFill>
                <a:latin typeface="Arial" panose="020B0604020202020204" pitchFamily="34" charset="0"/>
                <a:cs typeface="Arial" panose="020B0604020202020204" pitchFamily="34" charset="0"/>
              </a:rPr>
              <a:t>d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intervals </a:t>
            </a:r>
          </a:p>
          <a:p>
            <a:pPr>
              <a:lnSpc>
                <a:spcPct val="120000"/>
              </a:lnSpc>
              <a:spcBef>
                <a:spcPts val="0"/>
              </a:spcBef>
            </a:pPr>
            <a:r>
              <a:rPr lang="en-US" altLang="zh-CN" sz="2000" dirty="0">
                <a:latin typeface="Arial" panose="020B0604020202020204" pitchFamily="34" charset="0"/>
                <a:cs typeface="Arial" panose="020B0604020202020204" pitchFamily="34" charset="0"/>
              </a:rPr>
              <a:t>While limiting a </a:t>
            </a:r>
            <a:r>
              <a:rPr lang="en-US" altLang="zh-CN" sz="2000" dirty="0" err="1">
                <a:latin typeface="Arial" panose="020B0604020202020204" pitchFamily="34" charset="0"/>
                <a:cs typeface="Arial" panose="020B0604020202020204" pitchFamily="34" charset="0"/>
              </a:rPr>
              <a:t>nodeʼ</a:t>
            </a:r>
            <a:r>
              <a:rPr lang="en-US" altLang="zh-CN" sz="2000" dirty="0">
                <a:latin typeface="Arial" panose="020B0604020202020204" pitchFamily="34" charset="0"/>
                <a:cs typeface="Arial" panose="020B0604020202020204" pitchFamily="34" charset="0"/>
              </a:rPr>
              <a:t> s activity to brief intervals for sending and receiving reduces the contention, collisions can still occur</a:t>
            </a:r>
          </a:p>
          <a:p>
            <a:pPr lvl="1">
              <a:lnSpc>
                <a:spcPct val="120000"/>
              </a:lnSpc>
              <a:spcBef>
                <a:spcPts val="0"/>
              </a:spcBef>
            </a:pPr>
            <a:r>
              <a:rPr lang="en-US" altLang="zh-CN" sz="1800" dirty="0">
                <a:latin typeface="Arial" panose="020B0604020202020204" pitchFamily="34" charset="0"/>
                <a:cs typeface="Arial" panose="020B0604020202020204" pitchFamily="34" charset="0"/>
              </a:rPr>
              <a:t>e.g., nodes with the same depth in the tree will have synchronized schedules </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2359575"/>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Data-Gathering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94338"/>
            <a:ext cx="11125200" cy="5181599"/>
          </a:xfrm>
        </p:spPr>
        <p:txBody>
          <a:bodyPr>
            <a:normAutofit fontScale="70000" lnSpcReduction="20000"/>
          </a:bodyPr>
          <a:lstStyle/>
          <a:p>
            <a:pPr>
              <a:lnSpc>
                <a:spcPct val="140000"/>
              </a:lnSpc>
            </a:pPr>
            <a:r>
              <a:rPr lang="en-US" altLang="zh-CN" dirty="0">
                <a:latin typeface="Arial" panose="020B0604020202020204" pitchFamily="34" charset="0"/>
                <a:cs typeface="Arial" panose="020B0604020202020204" pitchFamily="34" charset="0"/>
              </a:rPr>
              <a:t>If a sender does not receive an ACK, it queues the packet until the next sending interval and after three failed retransmissions, the packet will be dropped </a:t>
            </a:r>
          </a:p>
          <a:p>
            <a:pPr>
              <a:lnSpc>
                <a:spcPct val="140000"/>
              </a:lnSpc>
            </a:pPr>
            <a:r>
              <a:rPr lang="en-US" altLang="zh-CN" dirty="0">
                <a:latin typeface="Arial" panose="020B0604020202020204" pitchFamily="34" charset="0"/>
                <a:cs typeface="Arial" panose="020B0604020202020204" pitchFamily="34" charset="0"/>
              </a:rPr>
              <a:t>To reduce collisions, nodes do not transmit immediately at the beginning of the sending slot, but instead have a </a:t>
            </a:r>
            <a:r>
              <a:rPr lang="en-US" altLang="zh-CN" dirty="0">
                <a:solidFill>
                  <a:schemeClr val="tx2">
                    <a:lumMod val="75000"/>
                    <a:lumOff val="25000"/>
                  </a:schemeClr>
                </a:solidFill>
                <a:latin typeface="Arial" panose="020B0604020202020204" pitchFamily="34" charset="0"/>
                <a:cs typeface="Arial" panose="020B0604020202020204" pitchFamily="34" charset="0"/>
              </a:rPr>
              <a:t>back-off period (BP) </a:t>
            </a:r>
            <a:r>
              <a:rPr lang="en-US" altLang="zh-CN" dirty="0">
                <a:latin typeface="Arial" panose="020B0604020202020204" pitchFamily="34" charset="0"/>
                <a:cs typeface="Arial" panose="020B0604020202020204" pitchFamily="34" charset="0"/>
              </a:rPr>
              <a:t>plus a random time within a contention window </a:t>
            </a:r>
          </a:p>
          <a:p>
            <a:pPr>
              <a:lnSpc>
                <a:spcPct val="140000"/>
              </a:lnSpc>
            </a:pPr>
            <a:r>
              <a:rPr lang="en-US" altLang="zh-CN" dirty="0">
                <a:latin typeface="Arial" panose="020B0604020202020204" pitchFamily="34" charset="0"/>
                <a:cs typeface="Arial" panose="020B0604020202020204" pitchFamily="34" charset="0"/>
              </a:rPr>
              <a:t>When a node has multiple packets to send during a sending slot!</a:t>
            </a:r>
          </a:p>
          <a:p>
            <a:pPr lvl="1">
              <a:lnSpc>
                <a:spcPct val="140000"/>
              </a:lnSpc>
            </a:pPr>
            <a:r>
              <a:rPr lang="en-US" altLang="zh-CN" dirty="0">
                <a:latin typeface="Arial" panose="020B0604020202020204" pitchFamily="34" charset="0"/>
                <a:cs typeface="Arial" panose="020B0604020202020204" pitchFamily="34" charset="0"/>
              </a:rPr>
              <a:t>it can increase its own duty cycle and </a:t>
            </a:r>
          </a:p>
          <a:p>
            <a:pPr lvl="1">
              <a:lnSpc>
                <a:spcPct val="140000"/>
              </a:lnSpc>
            </a:pPr>
            <a:r>
              <a:rPr lang="en-US" altLang="zh-CN" dirty="0">
                <a:latin typeface="Arial" panose="020B0604020202020204" pitchFamily="34" charset="0"/>
                <a:cs typeface="Arial" panose="020B0604020202020204" pitchFamily="34" charset="0"/>
              </a:rPr>
              <a:t>it requests other nodes along the route to the sink to do the same !</a:t>
            </a:r>
          </a:p>
          <a:p>
            <a:pPr>
              <a:lnSpc>
                <a:spcPct val="140000"/>
              </a:lnSpc>
            </a:pPr>
            <a:r>
              <a:rPr lang="en-US" altLang="zh-CN" dirty="0">
                <a:latin typeface="Arial" panose="020B0604020202020204" pitchFamily="34" charset="0"/>
                <a:cs typeface="Arial" panose="020B0604020202020204" pitchFamily="34" charset="0"/>
              </a:rPr>
              <a:t>This is implemented through a  </a:t>
            </a:r>
            <a:r>
              <a:rPr lang="en-US" altLang="zh-CN" dirty="0">
                <a:solidFill>
                  <a:schemeClr val="tx2">
                    <a:lumMod val="75000"/>
                    <a:lumOff val="25000"/>
                  </a:schemeClr>
                </a:solidFill>
                <a:latin typeface="Arial" panose="020B0604020202020204" pitchFamily="34" charset="0"/>
                <a:cs typeface="Arial" panose="020B0604020202020204" pitchFamily="34" charset="0"/>
              </a:rPr>
              <a:t>slot-by-slot renewal mechanism </a:t>
            </a:r>
            <a:r>
              <a:rPr lang="en-US" altLang="zh-CN" dirty="0">
                <a:latin typeface="Arial" panose="020B0604020202020204" pitchFamily="34" charset="0"/>
                <a:cs typeface="Arial" panose="020B0604020202020204" pitchFamily="34" charset="0"/>
              </a:rPr>
              <a:t>using a </a:t>
            </a:r>
            <a:r>
              <a:rPr lang="en-US" altLang="zh-CN" dirty="0">
                <a:solidFill>
                  <a:schemeClr val="tx2">
                    <a:lumMod val="75000"/>
                    <a:lumOff val="25000"/>
                  </a:schemeClr>
                </a:solidFill>
                <a:latin typeface="Arial" panose="020B0604020202020204" pitchFamily="34" charset="0"/>
                <a:cs typeface="Arial" panose="020B0604020202020204" pitchFamily="34" charset="0"/>
              </a:rPr>
              <a:t>more data </a:t>
            </a:r>
            <a:r>
              <a:rPr lang="en-US" altLang="zh-CN" dirty="0">
                <a:latin typeface="Arial" panose="020B0604020202020204" pitchFamily="34" charset="0"/>
                <a:cs typeface="Arial" panose="020B0604020202020204" pitchFamily="34" charset="0"/>
              </a:rPr>
              <a:t>flag in the MAC header </a:t>
            </a:r>
          </a:p>
          <a:p>
            <a:pPr>
              <a:lnSpc>
                <a:spcPct val="140000"/>
              </a:lnSpc>
            </a:pPr>
            <a:r>
              <a:rPr lang="en-US" altLang="zh-CN" dirty="0">
                <a:latin typeface="Arial" panose="020B0604020202020204" pitchFamily="34" charset="0"/>
                <a:cs typeface="Arial" panose="020B0604020202020204" pitchFamily="34" charset="0"/>
              </a:rPr>
              <a:t>A receiver checks for this flag and if set</a:t>
            </a:r>
          </a:p>
          <a:p>
            <a:pPr lvl="1">
              <a:lnSpc>
                <a:spcPct val="140000"/>
              </a:lnSpc>
            </a:pPr>
            <a:r>
              <a:rPr lang="en-US" altLang="zh-CN" dirty="0">
                <a:latin typeface="Arial" panose="020B0604020202020204" pitchFamily="34" charset="0"/>
                <a:cs typeface="Arial" panose="020B0604020202020204" pitchFamily="34" charset="0"/>
              </a:rPr>
              <a:t>it returns an acknowledgment that has also the more data flag set </a:t>
            </a:r>
          </a:p>
          <a:p>
            <a:pPr lvl="1">
              <a:lnSpc>
                <a:spcPct val="140000"/>
              </a:lnSpc>
            </a:pPr>
            <a:r>
              <a:rPr lang="en-US" altLang="zh-CN" dirty="0">
                <a:latin typeface="Arial" panose="020B0604020202020204" pitchFamily="34" charset="0"/>
                <a:cs typeface="Arial" panose="020B0604020202020204" pitchFamily="34" charset="0"/>
              </a:rPr>
              <a:t>it then stays awake to receive and forward one additional packet</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902325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Data-Gathering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Summary</a:t>
            </a:r>
          </a:p>
          <a:p>
            <a:pPr lvl="1">
              <a:lnSpc>
                <a:spcPct val="120000"/>
              </a:lnSpc>
            </a:pPr>
            <a:r>
              <a:rPr lang="en-US" altLang="zh-CN" sz="2000" dirty="0">
                <a:latin typeface="Arial" panose="020B0604020202020204" pitchFamily="34" charset="0"/>
                <a:cs typeface="Arial" panose="020B0604020202020204" pitchFamily="34" charset="0"/>
              </a:rPr>
              <a:t>DMAC ʼ s staggering technique achieves very low latency  </a:t>
            </a:r>
          </a:p>
          <a:p>
            <a:pPr lvl="1">
              <a:lnSpc>
                <a:spcPct val="120000"/>
              </a:lnSpc>
            </a:pPr>
            <a:r>
              <a:rPr lang="en-US" altLang="zh-CN" sz="2000" dirty="0">
                <a:latin typeface="Arial" panose="020B0604020202020204" pitchFamily="34" charset="0"/>
                <a:cs typeface="Arial" panose="020B0604020202020204" pitchFamily="34" charset="0"/>
              </a:rPr>
              <a:t>nodes only stay awake for brief receive and send intervals </a:t>
            </a:r>
          </a:p>
          <a:p>
            <a:pPr lvl="1">
              <a:lnSpc>
                <a:spcPct val="120000"/>
              </a:lnSpc>
            </a:pPr>
            <a:r>
              <a:rPr lang="en-US" altLang="zh-CN" sz="2000" dirty="0">
                <a:latin typeface="Arial" panose="020B0604020202020204" pitchFamily="34" charset="0"/>
                <a:cs typeface="Arial" panose="020B0604020202020204" pitchFamily="34" charset="0"/>
              </a:rPr>
              <a:t>since many nodes in the data-gathering tree share the same schedule, collisions will occur and DMAC only employs limited collision avoidance methods</a:t>
            </a:r>
          </a:p>
          <a:p>
            <a:pPr lvl="1">
              <a:lnSpc>
                <a:spcPct val="120000"/>
              </a:lnSpc>
            </a:pPr>
            <a:r>
              <a:rPr lang="en-US" altLang="zh-CN" sz="2000" dirty="0">
                <a:latin typeface="Arial" panose="020B0604020202020204" pitchFamily="34" charset="0"/>
                <a:cs typeface="Arial" panose="020B0604020202020204" pitchFamily="34" charset="0"/>
              </a:rPr>
              <a:t>DMAC works best for networks in which the transmission paths and rates are well known and do not change over time</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0338826"/>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Hybrid MAC Protocols</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Display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characteristics of both categories</a:t>
            </a:r>
          </a:p>
          <a:p>
            <a:pPr lvl="1">
              <a:lnSpc>
                <a:spcPct val="120000"/>
              </a:lnSpc>
            </a:pPr>
            <a:r>
              <a:rPr lang="en-US" altLang="zh-CN" sz="2000" dirty="0">
                <a:latin typeface="Arial" panose="020B0604020202020204" pitchFamily="34" charset="0"/>
                <a:cs typeface="Arial" panose="020B0604020202020204" pitchFamily="34" charset="0"/>
              </a:rPr>
              <a:t>attempt to reduce the number of collisions by relying on features present in contention-free medium access protocols </a:t>
            </a:r>
          </a:p>
          <a:p>
            <a:pPr lvl="1">
              <a:lnSpc>
                <a:spcPct val="120000"/>
              </a:lnSpc>
            </a:pPr>
            <a:r>
              <a:rPr lang="en-US" altLang="zh-CN" sz="2000" dirty="0">
                <a:latin typeface="Arial" panose="020B0604020202020204" pitchFamily="34" charset="0"/>
                <a:cs typeface="Arial" panose="020B0604020202020204" pitchFamily="34" charset="0"/>
              </a:rPr>
              <a:t>take advantage of the flexibility and low complexity of contention-based protocols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0555727"/>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Zebra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The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Z-MAC</a:t>
            </a:r>
            <a:r>
              <a:rPr lang="en-US" altLang="zh-CN" sz="2400" dirty="0">
                <a:latin typeface="Arial" panose="020B0604020202020204" pitchFamily="34" charset="0"/>
                <a:cs typeface="Arial" panose="020B0604020202020204" pitchFamily="34" charset="0"/>
              </a:rPr>
              <a:t> protocol uses frames and slots to provide contention-free access to the wireless medium </a:t>
            </a:r>
          </a:p>
          <a:p>
            <a:pPr lvl="1">
              <a:lnSpc>
                <a:spcPct val="120000"/>
              </a:lnSpc>
            </a:pPr>
            <a:r>
              <a:rPr lang="en-US" altLang="zh-CN" sz="2000" dirty="0">
                <a:solidFill>
                  <a:schemeClr val="tx2">
                    <a:lumMod val="75000"/>
                    <a:lumOff val="25000"/>
                  </a:schemeClr>
                </a:solidFill>
                <a:latin typeface="Arial" panose="020B0604020202020204" pitchFamily="34" charset="0"/>
                <a:cs typeface="Arial" panose="020B0604020202020204" pitchFamily="34" charset="0"/>
              </a:rPr>
              <a:t>similar to TDMA-based </a:t>
            </a:r>
            <a:r>
              <a:rPr lang="en-US" altLang="zh-CN" sz="2000" dirty="0">
                <a:latin typeface="Arial" panose="020B0604020202020204" pitchFamily="34" charset="0"/>
                <a:cs typeface="Arial" panose="020B0604020202020204" pitchFamily="34" charset="0"/>
              </a:rPr>
              <a:t>protocols</a:t>
            </a:r>
          </a:p>
          <a:p>
            <a:pPr>
              <a:lnSpc>
                <a:spcPct val="120000"/>
              </a:lnSpc>
            </a:pPr>
            <a:r>
              <a:rPr lang="en-US" altLang="zh-CN" sz="2400" dirty="0">
                <a:latin typeface="Arial" panose="020B0604020202020204" pitchFamily="34" charset="0"/>
                <a:cs typeface="Arial" panose="020B0604020202020204" pitchFamily="34" charset="0"/>
              </a:rPr>
              <a:t>However, Z-MAC also allows nodes to utilize slots they do not own using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CSMA with prioritized back-off times</a:t>
            </a:r>
          </a:p>
          <a:p>
            <a:pPr>
              <a:lnSpc>
                <a:spcPct val="120000"/>
              </a:lnSpc>
            </a:pPr>
            <a:r>
              <a:rPr lang="en-US" altLang="zh-CN" sz="2400" dirty="0">
                <a:latin typeface="Arial" panose="020B0604020202020204" pitchFamily="34" charset="0"/>
                <a:cs typeface="Arial" panose="020B0604020202020204" pitchFamily="34" charset="0"/>
              </a:rPr>
              <a:t>As a consequence:</a:t>
            </a:r>
          </a:p>
          <a:p>
            <a:pPr lvl="1">
              <a:lnSpc>
                <a:spcPct val="120000"/>
              </a:lnSpc>
            </a:pPr>
            <a:r>
              <a:rPr lang="en-US" altLang="zh-CN" sz="2000" dirty="0">
                <a:latin typeface="Arial" panose="020B0604020202020204" pitchFamily="34" charset="0"/>
                <a:cs typeface="Arial" panose="020B0604020202020204" pitchFamily="34" charset="0"/>
              </a:rPr>
              <a:t>in low-traffic scenarios, Z-MAC emulates a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CSMA-based approach</a:t>
            </a:r>
          </a:p>
          <a:p>
            <a:pPr lvl="1">
              <a:lnSpc>
                <a:spcPct val="120000"/>
              </a:lnSpc>
            </a:pPr>
            <a:r>
              <a:rPr lang="en-US" altLang="zh-CN" sz="2000" dirty="0">
                <a:latin typeface="Arial" panose="020B0604020202020204" pitchFamily="34" charset="0"/>
                <a:cs typeface="Arial" panose="020B0604020202020204" pitchFamily="34" charset="0"/>
              </a:rPr>
              <a:t>when traffic loads are high, Z-MAC emulates a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TDMA-based approach</a:t>
            </a:r>
            <a:endParaRPr lang="zh-CN" altLang="en-US" sz="2000" dirty="0">
              <a:solidFill>
                <a:schemeClr val="tx2">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0114868"/>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Zebra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1095892" cy="4351338"/>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When a node starts up, it enters a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setup phase  </a:t>
            </a:r>
            <a:r>
              <a:rPr lang="en-US" altLang="zh-CN" sz="2400" dirty="0">
                <a:latin typeface="Arial" panose="020B0604020202020204" pitchFamily="34" charset="0"/>
                <a:cs typeface="Arial" panose="020B0604020202020204" pitchFamily="34" charset="0"/>
              </a:rPr>
              <a:t>to allow it  </a:t>
            </a:r>
          </a:p>
          <a:p>
            <a:pPr lvl="1">
              <a:lnSpc>
                <a:spcPct val="120000"/>
              </a:lnSpc>
            </a:pPr>
            <a:r>
              <a:rPr lang="en-US" altLang="zh-CN" sz="2000" dirty="0">
                <a:latin typeface="Arial" panose="020B0604020202020204" pitchFamily="34" charset="0"/>
                <a:cs typeface="Arial" panose="020B0604020202020204" pitchFamily="34" charset="0"/>
              </a:rPr>
              <a:t>to discover its neighbors </a:t>
            </a:r>
          </a:p>
          <a:p>
            <a:pPr lvl="1">
              <a:lnSpc>
                <a:spcPct val="120000"/>
              </a:lnSpc>
            </a:pPr>
            <a:r>
              <a:rPr lang="en-US" altLang="zh-CN" sz="2000" dirty="0">
                <a:latin typeface="Arial" panose="020B0604020202020204" pitchFamily="34" charset="0"/>
                <a:cs typeface="Arial" panose="020B0604020202020204" pitchFamily="34" charset="0"/>
              </a:rPr>
              <a:t>to obtain its slot in the TDMA frame</a:t>
            </a:r>
          </a:p>
          <a:p>
            <a:pPr>
              <a:lnSpc>
                <a:spcPct val="120000"/>
              </a:lnSpc>
            </a:pPr>
            <a:r>
              <a:rPr lang="en-US" altLang="zh-CN" sz="2400" dirty="0">
                <a:latin typeface="Arial" panose="020B0604020202020204" pitchFamily="34" charset="0"/>
                <a:cs typeface="Arial" panose="020B0604020202020204" pitchFamily="34" charset="0"/>
              </a:rPr>
              <a:t>Every node periodically broadcasts a message containing a list of its neighbors</a:t>
            </a:r>
          </a:p>
          <a:p>
            <a:pPr lvl="1">
              <a:lnSpc>
                <a:spcPct val="120000"/>
              </a:lnSpc>
            </a:pPr>
            <a:r>
              <a:rPr lang="en-US" altLang="zh-CN" sz="2000" dirty="0">
                <a:latin typeface="Arial" panose="020B0604020202020204" pitchFamily="34" charset="0"/>
                <a:cs typeface="Arial" panose="020B0604020202020204" pitchFamily="34" charset="0"/>
              </a:rPr>
              <a:t>through this process, a node learns about its 1-hop and 2-hop neighbors</a:t>
            </a:r>
          </a:p>
          <a:p>
            <a:pPr lvl="1">
              <a:lnSpc>
                <a:spcPct val="120000"/>
              </a:lnSpc>
            </a:pPr>
            <a:r>
              <a:rPr lang="en-US" altLang="zh-CN" sz="2000" dirty="0">
                <a:latin typeface="Arial" panose="020B0604020202020204" pitchFamily="34" charset="0"/>
                <a:cs typeface="Arial" panose="020B0604020202020204" pitchFamily="34" charset="0"/>
              </a:rPr>
              <a:t>this information is used as input to a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distributed slot assignment protocol </a:t>
            </a:r>
            <a:r>
              <a:rPr lang="en-US" altLang="zh-CN" sz="2000" dirty="0">
                <a:latin typeface="Arial" panose="020B0604020202020204" pitchFamily="34" charset="0"/>
                <a:cs typeface="Arial" panose="020B0604020202020204" pitchFamily="34" charset="0"/>
              </a:rPr>
              <a:t>(provides each node with time slots) </a:t>
            </a:r>
          </a:p>
          <a:p>
            <a:pPr lvl="1">
              <a:lnSpc>
                <a:spcPct val="120000"/>
              </a:lnSpc>
            </a:pPr>
            <a:r>
              <a:rPr lang="en-US" altLang="zh-CN" sz="2000" dirty="0">
                <a:latin typeface="Arial" panose="020B0604020202020204" pitchFamily="34" charset="0"/>
                <a:cs typeface="Arial" panose="020B0604020202020204" pitchFamily="34" charset="0"/>
              </a:rPr>
              <a:t>ensures a schedule where no two nodes within an 2-hop neighborhood will be assigned the same slot</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0440395"/>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Zebra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697308" cy="4351338"/>
          </a:xfrm>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Z-MAC allows nodes to select the periodicity of their assigned slots where different nodes can have different periods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time frames or  TF</a:t>
            </a:r>
            <a:r>
              <a:rPr lang="en-US" altLang="zh-CN" sz="2400" dirty="0">
                <a:latin typeface="Arial" panose="020B0604020202020204" pitchFamily="34" charset="0"/>
                <a:cs typeface="Arial" panose="020B0604020202020204" pitchFamily="34" charset="0"/>
              </a:rPr>
              <a:t>)</a:t>
            </a:r>
          </a:p>
          <a:p>
            <a:pPr>
              <a:lnSpc>
                <a:spcPct val="120000"/>
              </a:lnSpc>
            </a:pPr>
            <a:r>
              <a:rPr lang="en-US" altLang="zh-CN" sz="2400" dirty="0">
                <a:latin typeface="Arial" panose="020B0604020202020204" pitchFamily="34" charset="0"/>
                <a:cs typeface="Arial" panose="020B0604020202020204" pitchFamily="34" charset="0"/>
              </a:rPr>
              <a:t>The advantage of this approach is that it is not necessary to propagate a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maximum slot number  (MSN) </a:t>
            </a:r>
            <a:r>
              <a:rPr lang="en-US" altLang="zh-CN" sz="2400" dirty="0">
                <a:latin typeface="Arial" panose="020B0604020202020204" pitchFamily="34" charset="0"/>
                <a:cs typeface="Arial" panose="020B0604020202020204" pitchFamily="34" charset="0"/>
              </a:rPr>
              <a:t>to the entire network </a:t>
            </a:r>
          </a:p>
          <a:p>
            <a:pPr>
              <a:lnSpc>
                <a:spcPct val="120000"/>
              </a:lnSpc>
            </a:pPr>
            <a:r>
              <a:rPr lang="en-US" altLang="zh-CN" sz="2400" dirty="0">
                <a:latin typeface="Arial" panose="020B0604020202020204" pitchFamily="34" charset="0"/>
                <a:cs typeface="Arial" panose="020B0604020202020204" pitchFamily="34" charset="0"/>
              </a:rPr>
              <a:t>The protocol can adapt slot allocations locally</a:t>
            </a:r>
          </a:p>
          <a:p>
            <a:pPr lvl="1">
              <a:lnSpc>
                <a:spcPct val="120000"/>
              </a:lnSpc>
            </a:pPr>
            <a:r>
              <a:rPr lang="en-US" altLang="zh-CN" sz="2000" dirty="0">
                <a:latin typeface="Arial" panose="020B0604020202020204" pitchFamily="34" charset="0"/>
                <a:cs typeface="Arial" panose="020B0604020202020204" pitchFamily="34" charset="0"/>
              </a:rPr>
              <a:t>assume that node </a:t>
            </a:r>
            <a:r>
              <a:rPr lang="en-US" altLang="zh-CN" sz="2000" i="1" dirty="0">
                <a:latin typeface="Arial" panose="020B0604020202020204" pitchFamily="34" charset="0"/>
                <a:cs typeface="Arial" panose="020B0604020202020204" pitchFamily="34" charset="0"/>
              </a:rPr>
              <a:t>i </a:t>
            </a:r>
            <a:r>
              <a:rPr lang="en-US" altLang="zh-CN" sz="2000" dirty="0">
                <a:latin typeface="Arial" panose="020B0604020202020204" pitchFamily="34" charset="0"/>
                <a:cs typeface="Arial" panose="020B0604020202020204" pitchFamily="34" charset="0"/>
              </a:rPr>
              <a:t> is assigned slot </a:t>
            </a:r>
            <a:r>
              <a:rPr lang="en-US" altLang="zh-CN" sz="2000" i="1" dirty="0" err="1">
                <a:latin typeface="Arial" panose="020B0604020202020204" pitchFamily="34" charset="0"/>
                <a:cs typeface="Arial" panose="020B0604020202020204" pitchFamily="34" charset="0"/>
              </a:rPr>
              <a:t>s</a:t>
            </a:r>
            <a:r>
              <a:rPr lang="en-US" altLang="zh-CN" sz="2000" i="1" baseline="-25000" dirty="0" err="1">
                <a:latin typeface="Arial" panose="020B0604020202020204" pitchFamily="34" charset="0"/>
                <a:cs typeface="Arial" panose="020B0604020202020204" pitchFamily="34" charset="0"/>
              </a:rPr>
              <a:t>i</a:t>
            </a:r>
            <a:r>
              <a:rPr lang="en-US" altLang="zh-CN" sz="2000" i="1" dirty="0">
                <a:latin typeface="Arial" panose="020B0604020202020204" pitchFamily="34" charset="0"/>
                <a:cs typeface="Arial" panose="020B0604020202020204" pitchFamily="34" charset="0"/>
              </a:rPr>
              <a:t> </a:t>
            </a:r>
          </a:p>
          <a:p>
            <a:pPr lvl="1">
              <a:lnSpc>
                <a:spcPct val="120000"/>
              </a:lnSpc>
            </a:pPr>
            <a:r>
              <a:rPr lang="en-US" altLang="zh-CN" sz="2000" dirty="0">
                <a:latin typeface="Arial" panose="020B0604020202020204" pitchFamily="34" charset="0"/>
                <a:cs typeface="Arial" panose="020B0604020202020204" pitchFamily="34" charset="0"/>
              </a:rPr>
              <a:t>and  </a:t>
            </a:r>
            <a:r>
              <a:rPr lang="en-US" altLang="zh-CN" sz="2000" i="1" dirty="0">
                <a:latin typeface="Arial" panose="020B0604020202020204" pitchFamily="34" charset="0"/>
                <a:cs typeface="Arial" panose="020B0604020202020204" pitchFamily="34" charset="0"/>
              </a:rPr>
              <a:t>F</a:t>
            </a:r>
            <a:r>
              <a:rPr lang="en-US" altLang="zh-CN" sz="2000" i="1" baseline="-25000" dirty="0">
                <a:latin typeface="Arial" panose="020B0604020202020204" pitchFamily="34" charset="0"/>
                <a:cs typeface="Arial" panose="020B0604020202020204" pitchFamily="34" charset="0"/>
              </a:rPr>
              <a:t>i</a:t>
            </a:r>
            <a:r>
              <a:rPr lang="en-US" altLang="zh-CN" sz="2000" baseline="-25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represents the MSN within the </a:t>
            </a:r>
            <a:r>
              <a:rPr lang="en-US" altLang="zh-CN" sz="2000" dirty="0" err="1">
                <a:latin typeface="Arial" panose="020B0604020202020204" pitchFamily="34" charset="0"/>
                <a:cs typeface="Arial" panose="020B0604020202020204" pitchFamily="34" charset="0"/>
              </a:rPr>
              <a:t>nodeʼs</a:t>
            </a:r>
            <a:r>
              <a:rPr lang="en-US" altLang="zh-CN" sz="2000" dirty="0">
                <a:latin typeface="Arial" panose="020B0604020202020204" pitchFamily="34" charset="0"/>
                <a:cs typeface="Arial" panose="020B0604020202020204" pitchFamily="34" charset="0"/>
              </a:rPr>
              <a:t> 2-hop neighborhood </a:t>
            </a:r>
          </a:p>
          <a:p>
            <a:pPr lvl="1">
              <a:lnSpc>
                <a:spcPct val="120000"/>
              </a:lnSpc>
            </a:pPr>
            <a:r>
              <a:rPr lang="en-US" altLang="zh-CN" sz="2000" dirty="0">
                <a:latin typeface="Arial" panose="020B0604020202020204" pitchFamily="34" charset="0"/>
                <a:cs typeface="Arial" panose="020B0604020202020204" pitchFamily="34" charset="0"/>
              </a:rPr>
              <a:t>then:</a:t>
            </a:r>
            <a:r>
              <a:rPr lang="en-US" altLang="zh-CN" sz="2000" i="1" dirty="0">
                <a:latin typeface="Arial" panose="020B0604020202020204" pitchFamily="34" charset="0"/>
                <a:cs typeface="Arial" panose="020B0604020202020204" pitchFamily="34" charset="0"/>
              </a:rPr>
              <a:t> i </a:t>
            </a:r>
            <a:r>
              <a:rPr lang="en-US" altLang="zh-CN" sz="2000" dirty="0" err="1">
                <a:latin typeface="Arial" panose="020B0604020202020204" pitchFamily="34" charset="0"/>
                <a:cs typeface="Arial" panose="020B0604020202020204" pitchFamily="34" charset="0"/>
              </a:rPr>
              <a:t>ʼs</a:t>
            </a:r>
            <a:r>
              <a:rPr lang="en-US" altLang="zh-CN" sz="2000" dirty="0">
                <a:latin typeface="Arial" panose="020B0604020202020204" pitchFamily="34" charset="0"/>
                <a:cs typeface="Arial" panose="020B0604020202020204" pitchFamily="34" charset="0"/>
              </a:rPr>
              <a:t> TF is set to be 2</a:t>
            </a:r>
            <a:r>
              <a:rPr lang="en-US" altLang="zh-CN" sz="2000" i="1" baseline="30000" dirty="0">
                <a:latin typeface="Arial" panose="020B0604020202020204" pitchFamily="34" charset="0"/>
                <a:cs typeface="Arial" panose="020B0604020202020204" pitchFamily="34" charset="0"/>
              </a:rPr>
              <a:t>a</a:t>
            </a:r>
          </a:p>
          <a:p>
            <a:pPr lvl="2">
              <a:lnSpc>
                <a:spcPct val="120000"/>
              </a:lnSpc>
            </a:pPr>
            <a:r>
              <a:rPr lang="en-US" altLang="zh-CN" sz="1800" i="1" dirty="0">
                <a:latin typeface="Arial" panose="020B0604020202020204" pitchFamily="34" charset="0"/>
                <a:cs typeface="Arial" panose="020B0604020202020204" pitchFamily="34" charset="0"/>
              </a:rPr>
              <a:t>a</a:t>
            </a:r>
            <a:r>
              <a:rPr lang="en-US" altLang="zh-CN" sz="1800" dirty="0">
                <a:latin typeface="Arial" panose="020B0604020202020204" pitchFamily="34" charset="0"/>
                <a:cs typeface="Arial" panose="020B0604020202020204" pitchFamily="34" charset="0"/>
              </a:rPr>
              <a:t> is a positive integer that satisfies 2</a:t>
            </a:r>
            <a:r>
              <a:rPr lang="en-US" altLang="zh-CN" sz="1800" i="1" baseline="30000" dirty="0">
                <a:latin typeface="Arial" panose="020B0604020202020204" pitchFamily="34" charset="0"/>
                <a:cs typeface="Arial" panose="020B0604020202020204" pitchFamily="34" charset="0"/>
              </a:rPr>
              <a:t>a</a:t>
            </a:r>
            <a:r>
              <a:rPr lang="en-US" altLang="zh-CN" sz="1800" baseline="30000" dirty="0">
                <a:latin typeface="Arial" panose="020B0604020202020204" pitchFamily="34" charset="0"/>
                <a:cs typeface="Arial" panose="020B0604020202020204" pitchFamily="34" charset="0"/>
              </a:rPr>
              <a:t>-1</a:t>
            </a:r>
            <a:r>
              <a:rPr lang="zh-CN" altLang="en-US" sz="1800" dirty="0">
                <a:latin typeface="Arial" panose="020B0604020202020204" pitchFamily="34" charset="0"/>
                <a:cs typeface="Arial" panose="020B0604020202020204" pitchFamily="34" charset="0"/>
              </a:rPr>
              <a:t>≤</a:t>
            </a:r>
            <a:r>
              <a:rPr lang="en-US" altLang="zh-CN" sz="1800" i="1" dirty="0">
                <a:latin typeface="Arial" panose="020B0604020202020204" pitchFamily="34" charset="0"/>
                <a:cs typeface="Arial" panose="020B0604020202020204" pitchFamily="34" charset="0"/>
              </a:rPr>
              <a:t>F</a:t>
            </a:r>
            <a:r>
              <a:rPr lang="en-US" altLang="zh-CN" sz="1800" i="1" baseline="-25000" dirty="0">
                <a:latin typeface="Arial" panose="020B0604020202020204" pitchFamily="34" charset="0"/>
                <a:cs typeface="Arial" panose="020B0604020202020204" pitchFamily="34" charset="0"/>
              </a:rPr>
              <a:t>i</a:t>
            </a:r>
            <a:r>
              <a:rPr lang="en-US" altLang="zh-CN" sz="1800" dirty="0">
                <a:latin typeface="Arial" panose="020B0604020202020204" pitchFamily="34" charset="0"/>
                <a:cs typeface="Arial" panose="020B0604020202020204" pitchFamily="34" charset="0"/>
              </a:rPr>
              <a:t>&lt;2</a:t>
            </a:r>
            <a:r>
              <a:rPr lang="en-US" altLang="zh-CN" sz="1800" i="1" baseline="30000" dirty="0">
                <a:latin typeface="Arial" panose="020B0604020202020204" pitchFamily="34" charset="0"/>
                <a:cs typeface="Arial" panose="020B0604020202020204" pitchFamily="34" charset="0"/>
              </a:rPr>
              <a:t>a</a:t>
            </a:r>
            <a:r>
              <a:rPr lang="en-US" altLang="zh-CN" sz="1800" dirty="0">
                <a:latin typeface="Arial" panose="020B0604020202020204" pitchFamily="34" charset="0"/>
                <a:cs typeface="Arial" panose="020B0604020202020204" pitchFamily="34" charset="0"/>
              </a:rPr>
              <a:t>-1</a:t>
            </a:r>
            <a:endParaRPr lang="en-US" altLang="zh-CN" sz="1800" baseline="30000" dirty="0">
              <a:latin typeface="Arial" panose="020B0604020202020204" pitchFamily="34" charset="0"/>
              <a:cs typeface="Arial" panose="020B0604020202020204" pitchFamily="34" charset="0"/>
            </a:endParaRPr>
          </a:p>
          <a:p>
            <a:pPr lvl="1">
              <a:lnSpc>
                <a:spcPct val="120000"/>
              </a:lnSpc>
            </a:pPr>
            <a:r>
              <a:rPr lang="en-US" altLang="zh-CN" sz="2000" dirty="0">
                <a:latin typeface="Arial" panose="020B0604020202020204" pitchFamily="34" charset="0"/>
                <a:cs typeface="Arial" panose="020B0604020202020204" pitchFamily="34" charset="0"/>
              </a:rPr>
              <a:t>node </a:t>
            </a:r>
            <a:r>
              <a:rPr lang="en-US" altLang="zh-CN" sz="2000" i="1" dirty="0" err="1">
                <a:latin typeface="Arial" panose="020B0604020202020204" pitchFamily="34" charset="0"/>
                <a:cs typeface="Arial" panose="020B0604020202020204" pitchFamily="34" charset="0"/>
              </a:rPr>
              <a:t>i</a:t>
            </a:r>
            <a:r>
              <a:rPr lang="en-US" altLang="zh-CN" sz="2000" dirty="0">
                <a:latin typeface="Arial" panose="020B0604020202020204" pitchFamily="34" charset="0"/>
                <a:cs typeface="Arial" panose="020B0604020202020204" pitchFamily="34" charset="0"/>
              </a:rPr>
              <a:t> then uses the </a:t>
            </a:r>
            <a:r>
              <a:rPr lang="en-US" altLang="zh-CN" sz="2000" i="1" dirty="0" err="1">
                <a:latin typeface="Arial" panose="020B0604020202020204" pitchFamily="34" charset="0"/>
                <a:cs typeface="Arial" panose="020B0604020202020204" pitchFamily="34" charset="0"/>
              </a:rPr>
              <a:t>s</a:t>
            </a:r>
            <a:r>
              <a:rPr lang="en-US" altLang="zh-CN" sz="2000" i="1" baseline="-25000" dirty="0" err="1">
                <a:latin typeface="Arial" panose="020B0604020202020204" pitchFamily="34" charset="0"/>
                <a:cs typeface="Arial" panose="020B0604020202020204" pitchFamily="34" charset="0"/>
              </a:rPr>
              <a:t>i</a:t>
            </a:r>
            <a:r>
              <a:rPr lang="en-US" altLang="zh-CN" sz="2000" i="1" baseline="-25000" dirty="0">
                <a:latin typeface="Arial" panose="020B0604020202020204" pitchFamily="34" charset="0"/>
                <a:cs typeface="Arial" panose="020B0604020202020204" pitchFamily="34" charset="0"/>
              </a:rPr>
              <a:t> </a:t>
            </a:r>
            <a:r>
              <a:rPr lang="en-US" altLang="zh-CN" sz="2000" dirty="0" err="1">
                <a:latin typeface="Arial" panose="020B0604020202020204" pitchFamily="34" charset="0"/>
                <a:cs typeface="Arial" panose="020B0604020202020204" pitchFamily="34" charset="0"/>
              </a:rPr>
              <a:t>th</a:t>
            </a:r>
            <a:r>
              <a:rPr lang="en-US" altLang="zh-CN" sz="2000" dirty="0">
                <a:latin typeface="Arial" panose="020B0604020202020204" pitchFamily="34" charset="0"/>
                <a:cs typeface="Arial" panose="020B0604020202020204" pitchFamily="34" charset="0"/>
              </a:rPr>
              <a:t> slot in every 2</a:t>
            </a:r>
            <a:r>
              <a:rPr lang="en-US" altLang="zh-CN" sz="2000" i="1" baseline="30000" dirty="0">
                <a:latin typeface="Arial" panose="020B0604020202020204" pitchFamily="34" charset="0"/>
                <a:cs typeface="Arial" panose="020B0604020202020204" pitchFamily="34" charset="0"/>
              </a:rPr>
              <a:t>a</a:t>
            </a:r>
            <a:r>
              <a:rPr lang="en-US" altLang="zh-CN" sz="2000" baseline="30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time frame</a:t>
            </a:r>
          </a:p>
        </p:txBody>
      </p:sp>
    </p:spTree>
    <p:extLst>
      <p:ext uri="{BB962C8B-B14F-4D97-AF65-F5344CB8AC3E}">
        <p14:creationId xmlns:p14="http://schemas.microsoft.com/office/powerpoint/2010/main" val="1556819450"/>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Zebra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515817" y="1690688"/>
            <a:ext cx="7127631" cy="4351338"/>
          </a:xfrm>
        </p:spPr>
        <p:txBody>
          <a:bodyPr>
            <a:noAutofit/>
          </a:bodyPr>
          <a:lstStyle/>
          <a:p>
            <a:pPr>
              <a:lnSpc>
                <a:spcPct val="120000"/>
              </a:lnSpc>
            </a:pPr>
            <a:r>
              <a:rPr lang="en-US" altLang="zh-CN" sz="2400" dirty="0">
                <a:solidFill>
                  <a:schemeClr val="tx2">
                    <a:lumMod val="75000"/>
                    <a:lumOff val="25000"/>
                  </a:schemeClr>
                </a:solidFill>
                <a:latin typeface="Arial" panose="020B0604020202020204" pitchFamily="34" charset="0"/>
                <a:cs typeface="Arial" panose="020B0604020202020204" pitchFamily="34" charset="0"/>
              </a:rPr>
              <a:t>Example</a:t>
            </a:r>
            <a:r>
              <a:rPr lang="en-US" altLang="zh-CN" sz="2400" dirty="0">
                <a:latin typeface="Arial" panose="020B0604020202020204" pitchFamily="34" charset="0"/>
                <a:cs typeface="Arial" panose="020B0604020202020204" pitchFamily="34" charset="0"/>
              </a:rPr>
              <a:t> with eight nodes</a:t>
            </a:r>
          </a:p>
          <a:p>
            <a:pPr lvl="1">
              <a:lnSpc>
                <a:spcPct val="120000"/>
              </a:lnSpc>
            </a:pPr>
            <a:r>
              <a:rPr lang="en-US" altLang="zh-CN" sz="2000" dirty="0">
                <a:latin typeface="Arial" panose="020B0604020202020204" pitchFamily="34" charset="0"/>
                <a:cs typeface="Arial" panose="020B0604020202020204" pitchFamily="34" charset="0"/>
              </a:rPr>
              <a:t>number indicates the assigned slot for each node </a:t>
            </a:r>
          </a:p>
          <a:p>
            <a:pPr lvl="1">
              <a:lnSpc>
                <a:spcPct val="120000"/>
              </a:lnSpc>
            </a:pPr>
            <a:r>
              <a:rPr lang="en-US" altLang="zh-CN" sz="2000" dirty="0">
                <a:latin typeface="Arial" panose="020B0604020202020204" pitchFamily="34" charset="0"/>
                <a:cs typeface="Arial" panose="020B0604020202020204" pitchFamily="34" charset="0"/>
              </a:rPr>
              <a:t>number in parenthesis is </a:t>
            </a:r>
            <a:r>
              <a:rPr lang="en-US" altLang="zh-CN" sz="2000" i="1" dirty="0">
                <a:latin typeface="Arial" panose="020B0604020202020204" pitchFamily="34" charset="0"/>
                <a:cs typeface="Arial" panose="020B0604020202020204" pitchFamily="34" charset="0"/>
              </a:rPr>
              <a:t>F</a:t>
            </a:r>
            <a:r>
              <a:rPr lang="en-US" altLang="zh-CN" sz="2000" i="1" baseline="-25000" dirty="0">
                <a:latin typeface="Arial" panose="020B0604020202020204" pitchFamily="34" charset="0"/>
                <a:cs typeface="Arial" panose="020B0604020202020204" pitchFamily="34" charset="0"/>
              </a:rPr>
              <a:t>i</a:t>
            </a:r>
            <a:r>
              <a:rPr lang="en-US" altLang="zh-CN" sz="2000" dirty="0">
                <a:latin typeface="Arial" panose="020B0604020202020204" pitchFamily="34" charset="0"/>
                <a:cs typeface="Arial" panose="020B0604020202020204" pitchFamily="34" charset="0"/>
              </a:rPr>
              <a:t> </a:t>
            </a:r>
          </a:p>
          <a:p>
            <a:pPr lvl="1">
              <a:lnSpc>
                <a:spcPct val="120000"/>
              </a:lnSpc>
            </a:pPr>
            <a:r>
              <a:rPr lang="en-US" altLang="zh-CN" sz="2000" dirty="0">
                <a:latin typeface="Arial" panose="020B0604020202020204" pitchFamily="34" charset="0"/>
                <a:cs typeface="Arial" panose="020B0604020202020204" pitchFamily="34" charset="0"/>
              </a:rPr>
              <a:t>bottom part of the figure shows the corresponding schedule for all nodes</a:t>
            </a:r>
          </a:p>
          <a:p>
            <a:pPr lvl="2">
              <a:lnSpc>
                <a:spcPct val="120000"/>
              </a:lnSpc>
            </a:pPr>
            <a:r>
              <a:rPr lang="en-US" altLang="zh-CN" sz="1800" dirty="0">
                <a:latin typeface="Arial" panose="020B0604020202020204" pitchFamily="34" charset="0"/>
                <a:cs typeface="Arial" panose="020B0604020202020204" pitchFamily="34" charset="0"/>
              </a:rPr>
              <a:t>light-shaded slots are the ones used for transmissions</a:t>
            </a:r>
          </a:p>
          <a:p>
            <a:pPr lvl="2">
              <a:lnSpc>
                <a:spcPct val="120000"/>
              </a:lnSpc>
            </a:pPr>
            <a:r>
              <a:rPr lang="en-US" altLang="zh-CN" sz="1800" dirty="0">
                <a:latin typeface="Arial" panose="020B0604020202020204" pitchFamily="34" charset="0"/>
                <a:cs typeface="Arial" panose="020B0604020202020204" pitchFamily="34" charset="0"/>
              </a:rPr>
              <a:t>dark-shaded slots are the empty slots that are not used by any 1-hop or 2-hop neighbors</a:t>
            </a:r>
          </a:p>
          <a:p>
            <a:pPr lvl="1">
              <a:lnSpc>
                <a:spcPct val="120000"/>
              </a:lnSpc>
            </a:pPr>
            <a:r>
              <a:rPr lang="en-US" altLang="zh-CN" sz="2000" dirty="0">
                <a:latin typeface="Arial" panose="020B0604020202020204" pitchFamily="34" charset="0"/>
                <a:cs typeface="Arial" panose="020B0604020202020204" pitchFamily="34" charset="0"/>
              </a:rPr>
              <a:t>if a global time frame is used, the chosen time frame size will be 6  </a:t>
            </a:r>
          </a:p>
          <a:p>
            <a:pPr lvl="2">
              <a:lnSpc>
                <a:spcPct val="120000"/>
              </a:lnSpc>
            </a:pPr>
            <a:r>
              <a:rPr lang="en-US" altLang="zh-CN" sz="1800" dirty="0">
                <a:latin typeface="Arial" panose="020B0604020202020204" pitchFamily="34" charset="0"/>
                <a:cs typeface="Arial" panose="020B0604020202020204" pitchFamily="34" charset="0"/>
              </a:rPr>
              <a:t>nodes A and B will be allowed to use their slots only once every 6 slots even though their frame sizes are 2 each</a:t>
            </a:r>
            <a:endParaRPr lang="zh-CN" altLang="en-US" sz="1800" dirty="0">
              <a:latin typeface="Arial" panose="020B0604020202020204" pitchFamily="34" charset="0"/>
              <a:cs typeface="Arial" panose="020B0604020202020204" pitchFamily="34" charset="0"/>
            </a:endParaRPr>
          </a:p>
        </p:txBody>
      </p:sp>
      <p:pic>
        <p:nvPicPr>
          <p:cNvPr id="4" name="内容占位符 3">
            <a:extLst>
              <a:ext uri="{FF2B5EF4-FFF2-40B4-BE49-F238E27FC236}">
                <a16:creationId xmlns:a16="http://schemas.microsoft.com/office/drawing/2014/main" id="{C82DB915-4D05-44FD-B5A8-FA97DB110F8C}"/>
              </a:ext>
            </a:extLst>
          </p:cNvPr>
          <p:cNvPicPr>
            <a:picLocks noChangeAspect="1"/>
          </p:cNvPicPr>
          <p:nvPr/>
        </p:nvPicPr>
        <p:blipFill rotWithShape="1">
          <a:blip r:embed="rId2">
            <a:extLst>
              <a:ext uri="{28A0092B-C50C-407E-A947-70E740481C1C}">
                <a14:useLocalDpi xmlns:a14="http://schemas.microsoft.com/office/drawing/2010/main" val="0"/>
              </a:ext>
            </a:extLst>
          </a:blip>
          <a:srcRect r="7245"/>
          <a:stretch/>
        </p:blipFill>
        <p:spPr>
          <a:xfrm>
            <a:off x="7537941" y="2082433"/>
            <a:ext cx="4654060" cy="4410442"/>
          </a:xfrm>
          <a:prstGeom prst="rect">
            <a:avLst/>
          </a:prstGeom>
        </p:spPr>
      </p:pic>
    </p:spTree>
    <p:extLst>
      <p:ext uri="{BB962C8B-B14F-4D97-AF65-F5344CB8AC3E}">
        <p14:creationId xmlns:p14="http://schemas.microsoft.com/office/powerpoint/2010/main" val="3948445040"/>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Zebra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fontScale="92500"/>
          </a:bodyPr>
          <a:lstStyle/>
          <a:p>
            <a:pPr>
              <a:lnSpc>
                <a:spcPct val="120000"/>
              </a:lnSpc>
            </a:pPr>
            <a:r>
              <a:rPr lang="en-US" altLang="zh-CN" sz="2400" dirty="0">
                <a:latin typeface="Arial" panose="020B0604020202020204" pitchFamily="34" charset="0"/>
                <a:cs typeface="Arial" panose="020B0604020202020204" pitchFamily="34" charset="0"/>
              </a:rPr>
              <a:t>In Z-MAC, these nodes can use frame size 4 </a:t>
            </a:r>
          </a:p>
          <a:p>
            <a:pPr lvl="1">
              <a:lnSpc>
                <a:spcPct val="120000"/>
              </a:lnSpc>
            </a:pPr>
            <a:r>
              <a:rPr lang="en-US" altLang="zh-CN" sz="2000" dirty="0">
                <a:latin typeface="Arial" panose="020B0604020202020204" pitchFamily="34" charset="0"/>
                <a:cs typeface="Arial" panose="020B0604020202020204" pitchFamily="34" charset="0"/>
              </a:rPr>
              <a:t>increases the concurrency in the channel usage</a:t>
            </a:r>
          </a:p>
          <a:p>
            <a:pPr lvl="1">
              <a:lnSpc>
                <a:spcPct val="120000"/>
              </a:lnSpc>
            </a:pPr>
            <a:r>
              <a:rPr lang="en-US" altLang="zh-CN" sz="2000" dirty="0">
                <a:latin typeface="Arial" panose="020B0604020202020204" pitchFamily="34" charset="0"/>
                <a:cs typeface="Arial" panose="020B0604020202020204" pitchFamily="34" charset="0"/>
              </a:rPr>
              <a:t>reduces message delays</a:t>
            </a:r>
          </a:p>
          <a:p>
            <a:pPr>
              <a:lnSpc>
                <a:spcPct val="120000"/>
              </a:lnSpc>
            </a:pPr>
            <a:r>
              <a:rPr lang="en-US" altLang="zh-CN" sz="2400" dirty="0">
                <a:latin typeface="Arial" panose="020B0604020202020204" pitchFamily="34" charset="0"/>
                <a:cs typeface="Arial" panose="020B0604020202020204" pitchFamily="34" charset="0"/>
              </a:rPr>
              <a:t>The resulting schedule shows that some slots are not assigned to any node</a:t>
            </a:r>
          </a:p>
          <a:p>
            <a:pPr lvl="1">
              <a:lnSpc>
                <a:spcPct val="120000"/>
              </a:lnSpc>
            </a:pPr>
            <a:r>
              <a:rPr lang="en-US" altLang="zh-CN" sz="2000" dirty="0">
                <a:latin typeface="Arial" panose="020B0604020202020204" pitchFamily="34" charset="0"/>
                <a:cs typeface="Arial" panose="020B0604020202020204" pitchFamily="34" charset="0"/>
              </a:rPr>
              <a:t>specifically slots 6 and 7 </a:t>
            </a:r>
          </a:p>
          <a:p>
            <a:pPr>
              <a:lnSpc>
                <a:spcPct val="120000"/>
              </a:lnSpc>
            </a:pPr>
            <a:r>
              <a:rPr lang="en-US" altLang="zh-CN" sz="2400" dirty="0">
                <a:latin typeface="Arial" panose="020B0604020202020204" pitchFamily="34" charset="0"/>
                <a:cs typeface="Arial" panose="020B0604020202020204" pitchFamily="34" charset="0"/>
              </a:rPr>
              <a:t>In a global time frame, a frame size could have been chosen that reduces the number of empty slots </a:t>
            </a:r>
          </a:p>
          <a:p>
            <a:pPr>
              <a:lnSpc>
                <a:spcPct val="120000"/>
              </a:lnSpc>
            </a:pPr>
            <a:r>
              <a:rPr lang="en-US" altLang="zh-CN" sz="2400" dirty="0">
                <a:latin typeface="Arial" panose="020B0604020202020204" pitchFamily="34" charset="0"/>
                <a:cs typeface="Arial" panose="020B0604020202020204" pitchFamily="34" charset="0"/>
              </a:rPr>
              <a:t>However, Z-MAC allows nodes to compete for these “extra” slots using CSMA </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1158061"/>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latin typeface="Arial" panose="020B0604020202020204" pitchFamily="34" charset="0"/>
                <a:cs typeface="Arial" panose="020B0604020202020204" pitchFamily="34" charset="0"/>
              </a:rPr>
              <a:t>Zebra MAC</a:t>
            </a:r>
            <a:endParaRPr lang="zh-CN" altLang="en-US" sz="4000"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After the schedule has been determined, every node forwards its frame size and slot number to its 1-hop and 2-hop neighbors</a:t>
            </a:r>
          </a:p>
          <a:p>
            <a:pPr>
              <a:lnSpc>
                <a:spcPct val="120000"/>
              </a:lnSpc>
            </a:pPr>
            <a:r>
              <a:rPr lang="en-US" altLang="zh-CN" sz="2400" dirty="0">
                <a:latin typeface="Arial" panose="020B0604020202020204" pitchFamily="34" charset="0"/>
                <a:cs typeface="Arial" panose="020B0604020202020204" pitchFamily="34" charset="0"/>
              </a:rPr>
              <a:t>Even though slots are owned by nodes, Z-MAC uses CSMA to determine who may transmit </a:t>
            </a:r>
          </a:p>
          <a:p>
            <a:pPr>
              <a:lnSpc>
                <a:spcPct val="120000"/>
              </a:lnSpc>
            </a:pPr>
            <a:r>
              <a:rPr lang="en-US" altLang="zh-CN" sz="2400" dirty="0">
                <a:latin typeface="Arial" panose="020B0604020202020204" pitchFamily="34" charset="0"/>
                <a:cs typeface="Arial" panose="020B0604020202020204" pitchFamily="34" charset="0"/>
              </a:rPr>
              <a:t>However, slot owners are given preference </a:t>
            </a:r>
          </a:p>
          <a:p>
            <a:pPr lvl="1">
              <a:lnSpc>
                <a:spcPct val="120000"/>
              </a:lnSpc>
            </a:pPr>
            <a:r>
              <a:rPr lang="en-US" altLang="zh-CN" sz="2000" dirty="0">
                <a:latin typeface="Arial" panose="020B0604020202020204" pitchFamily="34" charset="0"/>
                <a:cs typeface="Arial" panose="020B0604020202020204" pitchFamily="34" charset="0"/>
              </a:rPr>
              <a:t>by using a random back-off value chosen from the range [0, </a:t>
            </a:r>
            <a:r>
              <a:rPr lang="en-US" altLang="zh-CN" sz="2000" i="1" dirty="0">
                <a:latin typeface="Arial" panose="020B0604020202020204" pitchFamily="34" charset="0"/>
                <a:cs typeface="Arial" panose="020B0604020202020204" pitchFamily="34" charset="0"/>
              </a:rPr>
              <a:t>T</a:t>
            </a:r>
            <a:r>
              <a:rPr lang="en-US" altLang="zh-CN" sz="2000" i="1" baseline="-25000" dirty="0">
                <a:latin typeface="Arial" panose="020B0604020202020204" pitchFamily="34" charset="0"/>
                <a:cs typeface="Arial" panose="020B0604020202020204" pitchFamily="34" charset="0"/>
              </a:rPr>
              <a:t>o</a:t>
            </a:r>
            <a:r>
              <a:rPr lang="en-US" altLang="zh-CN" sz="2000" dirty="0">
                <a:latin typeface="Arial" panose="020B0604020202020204" pitchFamily="34" charset="0"/>
                <a:cs typeface="Arial" panose="020B0604020202020204" pitchFamily="34" charset="0"/>
              </a:rPr>
              <a:t>]</a:t>
            </a:r>
          </a:p>
          <a:p>
            <a:pPr lvl="1">
              <a:lnSpc>
                <a:spcPct val="120000"/>
              </a:lnSpc>
            </a:pPr>
            <a:r>
              <a:rPr lang="en-US" altLang="zh-CN" sz="2000" dirty="0">
                <a:latin typeface="Arial" panose="020B0604020202020204" pitchFamily="34" charset="0"/>
                <a:cs typeface="Arial" panose="020B0604020202020204" pitchFamily="34" charset="0"/>
              </a:rPr>
              <a:t>whereas other nodes choose their back-off values from the range [</a:t>
            </a:r>
            <a:r>
              <a:rPr lang="en-US" altLang="zh-CN" sz="2000" i="1" dirty="0">
                <a:latin typeface="Arial" panose="020B0604020202020204" pitchFamily="34" charset="0"/>
                <a:cs typeface="Arial" panose="020B0604020202020204" pitchFamily="34" charset="0"/>
              </a:rPr>
              <a:t>T</a:t>
            </a:r>
            <a:r>
              <a:rPr lang="en-US" altLang="zh-CN" sz="2000" i="1" baseline="-25000" dirty="0">
                <a:latin typeface="Arial" panose="020B0604020202020204" pitchFamily="34" charset="0"/>
                <a:cs typeface="Arial" panose="020B0604020202020204" pitchFamily="34" charset="0"/>
              </a:rPr>
              <a:t>o</a:t>
            </a:r>
            <a:r>
              <a:rPr lang="en-US" altLang="zh-CN" sz="2000" dirty="0">
                <a:latin typeface="Arial" panose="020B0604020202020204" pitchFamily="34" charset="0"/>
                <a:cs typeface="Arial" panose="020B0604020202020204" pitchFamily="34" charset="0"/>
              </a:rPr>
              <a:t>, </a:t>
            </a:r>
            <a:r>
              <a:rPr lang="en-US" altLang="zh-CN" sz="2000" i="1" dirty="0" err="1">
                <a:latin typeface="Arial" panose="020B0604020202020204" pitchFamily="34" charset="0"/>
                <a:cs typeface="Arial" panose="020B0604020202020204" pitchFamily="34" charset="0"/>
              </a:rPr>
              <a:t>T</a:t>
            </a:r>
            <a:r>
              <a:rPr lang="en-US" altLang="zh-CN" sz="2000" i="1" baseline="-25000" dirty="0" err="1">
                <a:latin typeface="Arial" panose="020B0604020202020204" pitchFamily="34" charset="0"/>
                <a:cs typeface="Arial" panose="020B0604020202020204" pitchFamily="34" charset="0"/>
              </a:rPr>
              <a:t>no</a:t>
            </a:r>
            <a:r>
              <a:rPr lang="en-US" altLang="zh-CN" sz="2000" dirty="0">
                <a:latin typeface="Arial" panose="020B0604020202020204" pitchFamily="34" charset="0"/>
                <a:cs typeface="Arial" panose="020B0604020202020204" pitchFamily="34" charset="0"/>
              </a:rPr>
              <a:t>] </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27259613"/>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Zebra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1" y="1624622"/>
            <a:ext cx="10515600" cy="4868253"/>
          </a:xfrm>
        </p:spPr>
        <p:txBody>
          <a:bodyPr>
            <a:normAutofit lnSpcReduction="10000"/>
          </a:bodyPr>
          <a:lstStyle/>
          <a:p>
            <a:pPr>
              <a:lnSpc>
                <a:spcPct val="120000"/>
              </a:lnSpc>
            </a:pPr>
            <a:r>
              <a:rPr lang="en-US" altLang="zh-CN" sz="2400" dirty="0">
                <a:latin typeface="Arial" panose="020B0604020202020204" pitchFamily="34" charset="0"/>
                <a:cs typeface="Arial" panose="020B0604020202020204" pitchFamily="34" charset="0"/>
              </a:rPr>
              <a:t>Z-MAC also uses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explicit contention notification (ECN) </a:t>
            </a:r>
            <a:r>
              <a:rPr lang="en-US" altLang="zh-CN" sz="2400" dirty="0">
                <a:latin typeface="Arial" panose="020B0604020202020204" pitchFamily="34" charset="0"/>
                <a:cs typeface="Arial" panose="020B0604020202020204" pitchFamily="34" charset="0"/>
              </a:rPr>
              <a:t>to which it has a message</a:t>
            </a:r>
          </a:p>
          <a:p>
            <a:pPr lvl="1">
              <a:lnSpc>
                <a:spcPct val="120000"/>
              </a:lnSpc>
            </a:pPr>
            <a:r>
              <a:rPr lang="en-US" altLang="zh-CN" sz="2000" dirty="0">
                <a:latin typeface="Arial" panose="020B0604020202020204" pitchFamily="34" charset="0"/>
                <a:cs typeface="Arial" panose="020B0604020202020204" pitchFamily="34" charset="0"/>
              </a:rPr>
              <a:t>where each node decides to whether to send an ECN message to a neighbor based on its local estimate of the contention level (e.g., determined using the packet loss rate or channel noise level) </a:t>
            </a:r>
          </a:p>
          <a:p>
            <a:pPr lvl="1">
              <a:lnSpc>
                <a:spcPct val="120000"/>
              </a:lnSpc>
            </a:pPr>
            <a:r>
              <a:rPr lang="en-US" altLang="zh-CN" sz="2000" dirty="0">
                <a:latin typeface="Arial" panose="020B0604020202020204" pitchFamily="34" charset="0"/>
                <a:cs typeface="Arial" panose="020B0604020202020204" pitchFamily="34" charset="0"/>
              </a:rPr>
              <a:t>this neighbor then broadcasts the ECN to its own neighbors, which then enter a </a:t>
            </a:r>
            <a:r>
              <a:rPr lang="en-US" altLang="zh-CN" sz="2000" dirty="0">
                <a:solidFill>
                  <a:schemeClr val="tx2">
                    <a:lumMod val="75000"/>
                    <a:lumOff val="25000"/>
                  </a:schemeClr>
                </a:solidFill>
                <a:latin typeface="Arial" panose="020B0604020202020204" pitchFamily="34" charset="0"/>
                <a:cs typeface="Arial" panose="020B0604020202020204" pitchFamily="34" charset="0"/>
              </a:rPr>
              <a:t>high contention level (HCL) </a:t>
            </a:r>
            <a:r>
              <a:rPr lang="en-US" altLang="zh-CN" sz="2000" dirty="0">
                <a:latin typeface="Arial" panose="020B0604020202020204" pitchFamily="34" charset="0"/>
                <a:cs typeface="Arial" panose="020B0604020202020204" pitchFamily="34" charset="0"/>
              </a:rPr>
              <a:t>mode</a:t>
            </a:r>
          </a:p>
          <a:p>
            <a:pPr lvl="1">
              <a:lnSpc>
                <a:spcPct val="120000"/>
              </a:lnSpc>
            </a:pPr>
            <a:r>
              <a:rPr lang="en-US" altLang="zh-CN" sz="2000" dirty="0">
                <a:latin typeface="Arial" panose="020B0604020202020204" pitchFamily="34" charset="0"/>
                <a:cs typeface="Arial" panose="020B0604020202020204" pitchFamily="34" charset="0"/>
              </a:rPr>
              <a:t>a node in the HCL mode only transmits data in its own slots or slots belonging to its 1-hop neighbors</a:t>
            </a:r>
          </a:p>
          <a:p>
            <a:pPr lvl="2">
              <a:lnSpc>
                <a:spcPct val="120000"/>
              </a:lnSpc>
            </a:pPr>
            <a:r>
              <a:rPr lang="en-US" altLang="zh-CN" sz="1800" dirty="0">
                <a:latin typeface="Arial" panose="020B0604020202020204" pitchFamily="34" charset="0"/>
                <a:cs typeface="Arial" panose="020B0604020202020204" pitchFamily="34" charset="0"/>
              </a:rPr>
              <a:t>thereby reducing the contention between 2-hop neighbors </a:t>
            </a:r>
          </a:p>
          <a:p>
            <a:pPr>
              <a:lnSpc>
                <a:spcPct val="120000"/>
              </a:lnSpc>
            </a:pPr>
            <a:r>
              <a:rPr lang="en-US" altLang="zh-CN" sz="2400" dirty="0">
                <a:latin typeface="Arial" panose="020B0604020202020204" pitchFamily="34" charset="0"/>
                <a:cs typeface="Arial" panose="020B0604020202020204" pitchFamily="34" charset="0"/>
              </a:rPr>
              <a:t>it returns to a </a:t>
            </a:r>
            <a:r>
              <a:rPr lang="en-US" altLang="zh-CN" sz="2400" dirty="0">
                <a:solidFill>
                  <a:schemeClr val="tx2">
                    <a:lumMod val="75000"/>
                    <a:lumOff val="25000"/>
                  </a:schemeClr>
                </a:solidFill>
                <a:latin typeface="Arial" panose="020B0604020202020204" pitchFamily="34" charset="0"/>
                <a:cs typeface="Arial" panose="020B0604020202020204" pitchFamily="34" charset="0"/>
              </a:rPr>
              <a:t>low contention level (LCL) </a:t>
            </a:r>
            <a:r>
              <a:rPr lang="en-US" altLang="zh-CN" sz="2400" dirty="0">
                <a:latin typeface="Arial" panose="020B0604020202020204" pitchFamily="34" charset="0"/>
                <a:cs typeface="Arial" panose="020B0604020202020204" pitchFamily="34" charset="0"/>
              </a:rPr>
              <a:t>mode if it has not received any ECN messages for a certain amount of time</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3983678"/>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Zebra MAC</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Summary</a:t>
            </a:r>
          </a:p>
          <a:p>
            <a:pPr lvl="1">
              <a:lnSpc>
                <a:spcPct val="120000"/>
              </a:lnSpc>
            </a:pPr>
            <a:r>
              <a:rPr lang="en-US" altLang="zh-CN" sz="2000" dirty="0">
                <a:latin typeface="Arial" panose="020B0604020202020204" pitchFamily="34" charset="0"/>
                <a:cs typeface="Arial" panose="020B0604020202020204" pitchFamily="34" charset="0"/>
              </a:rPr>
              <a:t>Z-MAC adopts characteristics found in both TDMA and CSMA protocols </a:t>
            </a:r>
          </a:p>
          <a:p>
            <a:pPr lvl="1">
              <a:lnSpc>
                <a:spcPct val="120000"/>
              </a:lnSpc>
            </a:pPr>
            <a:r>
              <a:rPr lang="en-US" altLang="zh-CN" sz="2000" dirty="0">
                <a:latin typeface="Arial" panose="020B0604020202020204" pitchFamily="34" charset="0"/>
                <a:cs typeface="Arial" panose="020B0604020202020204" pitchFamily="34" charset="0"/>
              </a:rPr>
              <a:t>allowing it to quickly adapt to changing traffic conditions </a:t>
            </a:r>
          </a:p>
          <a:p>
            <a:pPr lvl="1">
              <a:lnSpc>
                <a:spcPct val="120000"/>
              </a:lnSpc>
            </a:pPr>
            <a:r>
              <a:rPr lang="en-US" altLang="zh-CN" sz="2000" dirty="0">
                <a:latin typeface="Arial" panose="020B0604020202020204" pitchFamily="34" charset="0"/>
                <a:cs typeface="Arial" panose="020B0604020202020204" pitchFamily="34" charset="0"/>
              </a:rPr>
              <a:t>under light traffic loads Z-MAC behaves more like CSMA</a:t>
            </a:r>
          </a:p>
          <a:p>
            <a:pPr lvl="1">
              <a:lnSpc>
                <a:spcPct val="120000"/>
              </a:lnSpc>
            </a:pPr>
            <a:r>
              <a:rPr lang="en-US" altLang="zh-CN" sz="2000" dirty="0">
                <a:latin typeface="Arial" panose="020B0604020202020204" pitchFamily="34" charset="0"/>
                <a:cs typeface="Arial" panose="020B0604020202020204" pitchFamily="34" charset="0"/>
              </a:rPr>
              <a:t>under heavy traffic loads contention for slots is reduced</a:t>
            </a:r>
          </a:p>
          <a:p>
            <a:pPr lvl="1">
              <a:lnSpc>
                <a:spcPct val="120000"/>
              </a:lnSpc>
            </a:pPr>
            <a:r>
              <a:rPr lang="en-US" altLang="zh-CN" sz="2000" dirty="0">
                <a:latin typeface="Arial" panose="020B0604020202020204" pitchFamily="34" charset="0"/>
                <a:cs typeface="Arial" panose="020B0604020202020204" pitchFamily="34" charset="0"/>
              </a:rPr>
              <a:t>Z-MAC requires an explicit setup phase (consumes both time and energy)</a:t>
            </a:r>
          </a:p>
          <a:p>
            <a:pPr lvl="1">
              <a:lnSpc>
                <a:spcPct val="120000"/>
              </a:lnSpc>
            </a:pPr>
            <a:r>
              <a:rPr lang="en-US" altLang="zh-CN" sz="2000" dirty="0">
                <a:latin typeface="Arial" panose="020B0604020202020204" pitchFamily="34" charset="0"/>
                <a:cs typeface="Arial" panose="020B0604020202020204" pitchFamily="34" charset="0"/>
              </a:rPr>
              <a:t>while ECN messages be used to reduce the contention locally</a:t>
            </a:r>
          </a:p>
          <a:p>
            <a:pPr lvl="2">
              <a:lnSpc>
                <a:spcPct val="120000"/>
              </a:lnSpc>
            </a:pPr>
            <a:r>
              <a:rPr lang="en-US" altLang="zh-CN" sz="1800" dirty="0">
                <a:latin typeface="Arial" panose="020B0604020202020204" pitchFamily="34" charset="0"/>
                <a:cs typeface="Arial" panose="020B0604020202020204" pitchFamily="34" charset="0"/>
              </a:rPr>
              <a:t>these messages add more traffic to an already busy network and take time to propagate </a:t>
            </a:r>
          </a:p>
          <a:p>
            <a:pPr lvl="2">
              <a:lnSpc>
                <a:spcPct val="120000"/>
              </a:lnSpc>
            </a:pPr>
            <a:r>
              <a:rPr lang="en-US" altLang="zh-CN" sz="1800" dirty="0">
                <a:latin typeface="Arial" panose="020B0604020202020204" pitchFamily="34" charset="0"/>
                <a:cs typeface="Arial" panose="020B0604020202020204" pitchFamily="34" charset="0"/>
              </a:rPr>
              <a:t>thereby causing delays in the adaptation to a more TDMA-like behavior</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16982585"/>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Summary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667250"/>
          </a:xfrm>
        </p:spPr>
        <p:txBody>
          <a:bodyPr>
            <a:normAutofit fontScale="92500" lnSpcReduction="20000"/>
          </a:bodyPr>
          <a:lstStyle/>
          <a:p>
            <a:pPr>
              <a:lnSpc>
                <a:spcPct val="130000"/>
              </a:lnSpc>
            </a:pPr>
            <a:r>
              <a:rPr lang="en-US" altLang="zh-CN" sz="2400" dirty="0">
                <a:latin typeface="Arial" panose="020B0604020202020204" pitchFamily="34" charset="0"/>
                <a:cs typeface="Arial" panose="020B0604020202020204" pitchFamily="34" charset="0"/>
              </a:rPr>
              <a:t>The choice of a medium access protocol has a substantial impact on the performance and energy-efficiency of a WSN </a:t>
            </a:r>
          </a:p>
          <a:p>
            <a:pPr>
              <a:lnSpc>
                <a:spcPct val="130000"/>
              </a:lnSpc>
            </a:pPr>
            <a:r>
              <a:rPr lang="en-US" altLang="zh-CN" sz="2400" dirty="0">
                <a:latin typeface="Arial" panose="020B0604020202020204" pitchFamily="34" charset="0"/>
                <a:cs typeface="Arial" panose="020B0604020202020204" pitchFamily="34" charset="0"/>
              </a:rPr>
              <a:t>MAC protocols should also be designed to accommodate changes in network topology and traffic characteristics </a:t>
            </a:r>
          </a:p>
          <a:p>
            <a:pPr>
              <a:lnSpc>
                <a:spcPct val="130000"/>
              </a:lnSpc>
            </a:pPr>
            <a:r>
              <a:rPr lang="en-US" altLang="zh-CN" sz="2400" dirty="0">
                <a:latin typeface="Arial" panose="020B0604020202020204" pitchFamily="34" charset="0"/>
                <a:cs typeface="Arial" panose="020B0604020202020204" pitchFamily="34" charset="0"/>
              </a:rPr>
              <a:t>Latency, throughput, and fairness among competing nodes determined or affected by the characteristics of the MAC layer </a:t>
            </a:r>
          </a:p>
          <a:p>
            <a:pPr>
              <a:lnSpc>
                <a:spcPct val="130000"/>
              </a:lnSpc>
            </a:pPr>
            <a:r>
              <a:rPr lang="en-US" altLang="zh-CN" sz="2400" dirty="0">
                <a:latin typeface="Arial" panose="020B0604020202020204" pitchFamily="34" charset="0"/>
                <a:cs typeface="Arial" panose="020B0604020202020204" pitchFamily="34" charset="0"/>
              </a:rPr>
              <a:t>Protocols based on transmission schedules</a:t>
            </a:r>
          </a:p>
          <a:p>
            <a:pPr lvl="1">
              <a:lnSpc>
                <a:spcPct val="130000"/>
              </a:lnSpc>
            </a:pPr>
            <a:r>
              <a:rPr lang="en-US" altLang="zh-CN" sz="2000" dirty="0">
                <a:latin typeface="Arial" panose="020B0604020202020204" pitchFamily="34" charset="0"/>
                <a:cs typeface="Arial" panose="020B0604020202020204" pitchFamily="34" charset="0"/>
              </a:rPr>
              <a:t>collision-free </a:t>
            </a:r>
          </a:p>
          <a:p>
            <a:pPr lvl="1">
              <a:lnSpc>
                <a:spcPct val="130000"/>
              </a:lnSpc>
            </a:pPr>
            <a:r>
              <a:rPr lang="en-US" altLang="zh-CN" sz="2000" dirty="0">
                <a:latin typeface="Arial" panose="020B0604020202020204" pitchFamily="34" charset="0"/>
                <a:cs typeface="Arial" panose="020B0604020202020204" pitchFamily="34" charset="0"/>
              </a:rPr>
              <a:t>resource-inefficient </a:t>
            </a:r>
          </a:p>
          <a:p>
            <a:pPr lvl="1">
              <a:lnSpc>
                <a:spcPct val="130000"/>
              </a:lnSpc>
            </a:pPr>
            <a:r>
              <a:rPr lang="en-US" altLang="zh-CN" sz="2000" dirty="0">
                <a:latin typeface="Arial" panose="020B0604020202020204" pitchFamily="34" charset="0"/>
                <a:cs typeface="Arial" panose="020B0604020202020204" pitchFamily="34" charset="0"/>
              </a:rPr>
              <a:t>may require well synchronized nodes throughout the network </a:t>
            </a:r>
          </a:p>
          <a:p>
            <a:pPr lvl="1">
              <a:lnSpc>
                <a:spcPct val="130000"/>
              </a:lnSpc>
            </a:pPr>
            <a:r>
              <a:rPr lang="en-US" altLang="zh-CN" sz="2000" dirty="0">
                <a:latin typeface="Arial" panose="020B0604020202020204" pitchFamily="34" charset="0"/>
                <a:cs typeface="Arial" panose="020B0604020202020204" pitchFamily="34" charset="0"/>
              </a:rPr>
              <a:t>difficult to adapt to changing topologies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9692741"/>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Summary</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Protocols that let nodes compete for access to the medium</a:t>
            </a:r>
          </a:p>
          <a:p>
            <a:pPr>
              <a:lnSpc>
                <a:spcPct val="120000"/>
              </a:lnSpc>
            </a:pPr>
            <a:r>
              <a:rPr lang="en-US" altLang="zh-CN" sz="2400" dirty="0">
                <a:latin typeface="Arial" panose="020B0604020202020204" pitchFamily="34" charset="0"/>
                <a:cs typeface="Arial" panose="020B0604020202020204" pitchFamily="34" charset="0"/>
              </a:rPr>
              <a:t>more flexible (easily accommodate changing network topologies)</a:t>
            </a:r>
          </a:p>
          <a:p>
            <a:pPr>
              <a:lnSpc>
                <a:spcPct val="120000"/>
              </a:lnSpc>
            </a:pPr>
            <a:r>
              <a:rPr lang="en-US" altLang="zh-CN" sz="2400" dirty="0">
                <a:latin typeface="Arial" panose="020B0604020202020204" pitchFamily="34" charset="0"/>
                <a:cs typeface="Arial" panose="020B0604020202020204" pitchFamily="34" charset="0"/>
              </a:rPr>
              <a:t>require less overhead</a:t>
            </a:r>
          </a:p>
          <a:p>
            <a:pPr>
              <a:lnSpc>
                <a:spcPct val="120000"/>
              </a:lnSpc>
            </a:pPr>
            <a:r>
              <a:rPr lang="en-US" altLang="zh-CN" sz="2400" dirty="0">
                <a:latin typeface="Arial" panose="020B0604020202020204" pitchFamily="34" charset="0"/>
                <a:cs typeface="Arial" panose="020B0604020202020204" pitchFamily="34" charset="0"/>
              </a:rPr>
              <a:t>not collision-free</a:t>
            </a:r>
          </a:p>
          <a:p>
            <a:pPr>
              <a:lnSpc>
                <a:spcPct val="120000"/>
              </a:lnSpc>
            </a:pPr>
            <a:r>
              <a:rPr lang="en-US" altLang="zh-CN" sz="2400" dirty="0">
                <a:latin typeface="Arial" panose="020B0604020202020204" pitchFamily="34" charset="0"/>
                <a:cs typeface="Arial" panose="020B0604020202020204" pitchFamily="34" charset="0"/>
              </a:rPr>
              <a:t>must possess features that allow them to recover from collisions </a:t>
            </a:r>
          </a:p>
          <a:p>
            <a:pPr>
              <a:lnSpc>
                <a:spcPct val="120000"/>
              </a:lnSpc>
            </a:pPr>
            <a:r>
              <a:rPr lang="en-US" altLang="zh-CN" sz="2400" dirty="0">
                <a:latin typeface="Arial" panose="020B0604020202020204" pitchFamily="34" charset="0"/>
                <a:cs typeface="Arial" panose="020B0604020202020204" pitchFamily="34" charset="0"/>
              </a:rPr>
              <a:t>network utilization may suffer when collisions occur frequently</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0883725"/>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674624"/>
            <a:ext cx="9144000" cy="2387600"/>
          </a:xfrm>
        </p:spPr>
        <p:txBody>
          <a:bodyPr>
            <a:normAutofit/>
          </a:bodyPr>
          <a:lstStyle/>
          <a:p>
            <a:pPr>
              <a:lnSpc>
                <a:spcPct val="120000"/>
              </a:lnSpc>
            </a:pPr>
            <a:r>
              <a:rPr lang="en-US" altLang="zh-CN" sz="4400" b="1" dirty="0">
                <a:solidFill>
                  <a:schemeClr val="accent1">
                    <a:lumMod val="75000"/>
                  </a:schemeClr>
                </a:solidFill>
                <a:latin typeface="微软雅黑" panose="020B0503020204020204" pitchFamily="34" charset="-122"/>
                <a:ea typeface="微软雅黑" panose="020B0503020204020204" pitchFamily="34" charset="-122"/>
              </a:rPr>
              <a:t>Chapter 6</a:t>
            </a:r>
            <a:br>
              <a:rPr lang="en-US" altLang="zh-CN" sz="4400" b="1" dirty="0">
                <a:solidFill>
                  <a:schemeClr val="accent1">
                    <a:lumMod val="75000"/>
                  </a:schemeClr>
                </a:solidFill>
                <a:latin typeface="微软雅黑" panose="020B0503020204020204" pitchFamily="34" charset="-122"/>
                <a:ea typeface="微软雅黑" panose="020B0503020204020204" pitchFamily="34" charset="-122"/>
              </a:rPr>
            </a:br>
            <a:r>
              <a:rPr lang="en-US" altLang="zh-CN" sz="4400" b="1" dirty="0">
                <a:latin typeface="Arial" panose="020B0604020202020204" pitchFamily="34" charset="0"/>
                <a:cs typeface="Arial" panose="020B0604020202020204" pitchFamily="34" charset="0"/>
              </a:rPr>
              <a:t>Network</a:t>
            </a:r>
            <a:r>
              <a:rPr lang="en-US" altLang="zh-CN" sz="4400" b="1" dirty="0">
                <a:solidFill>
                  <a:schemeClr val="accent1">
                    <a:lumMod val="75000"/>
                  </a:schemeClr>
                </a:solidFill>
                <a:latin typeface="微软雅黑" panose="020B0503020204020204" pitchFamily="34" charset="-122"/>
                <a:ea typeface="微软雅黑" panose="020B0503020204020204" pitchFamily="34" charset="-122"/>
              </a:rPr>
              <a:t> </a:t>
            </a:r>
            <a:r>
              <a:rPr lang="en-US" altLang="zh-CN" sz="4400" b="1" dirty="0">
                <a:latin typeface="Arial" panose="020B0604020202020204" pitchFamily="34" charset="0"/>
                <a:cs typeface="Arial" panose="020B0604020202020204" pitchFamily="34" charset="0"/>
              </a:rPr>
              <a:t>Layer </a:t>
            </a:r>
            <a:endParaRPr lang="zh-CN" altLang="en-US" sz="4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7143259"/>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Roadmap</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667250"/>
          </a:xfrm>
        </p:spPr>
        <p:txBody>
          <a:bodyPr>
            <a:noAutofit/>
          </a:bodyPr>
          <a:lstStyle/>
          <a:p>
            <a:pPr>
              <a:lnSpc>
                <a:spcPct val="120000"/>
              </a:lnSpc>
            </a:pPr>
            <a:r>
              <a:rPr lang="en-US" altLang="zh-CN" dirty="0">
                <a:latin typeface="Arial" panose="020B0604020202020204" pitchFamily="34" charset="0"/>
                <a:cs typeface="Arial" panose="020B0604020202020204" pitchFamily="34" charset="0"/>
              </a:rPr>
              <a:t>Routing basics</a:t>
            </a:r>
          </a:p>
          <a:p>
            <a:pPr>
              <a:lnSpc>
                <a:spcPct val="120000"/>
              </a:lnSpc>
            </a:pPr>
            <a:r>
              <a:rPr lang="en-US" altLang="zh-CN" dirty="0">
                <a:latin typeface="Arial" panose="020B0604020202020204" pitchFamily="34" charset="0"/>
                <a:cs typeface="Arial" panose="020B0604020202020204" pitchFamily="34" charset="0"/>
              </a:rPr>
              <a:t>Data-centric routing </a:t>
            </a:r>
          </a:p>
          <a:p>
            <a:pPr>
              <a:lnSpc>
                <a:spcPct val="120000"/>
              </a:lnSpc>
            </a:pPr>
            <a:r>
              <a:rPr lang="en-US" altLang="zh-CN" dirty="0">
                <a:latin typeface="Arial" panose="020B0604020202020204" pitchFamily="34" charset="0"/>
                <a:cs typeface="Arial" panose="020B0604020202020204" pitchFamily="34" charset="0"/>
              </a:rPr>
              <a:t>Proactive routing</a:t>
            </a:r>
          </a:p>
          <a:p>
            <a:pPr>
              <a:lnSpc>
                <a:spcPct val="120000"/>
              </a:lnSpc>
            </a:pPr>
            <a:r>
              <a:rPr lang="en-US" altLang="zh-CN" dirty="0">
                <a:latin typeface="Arial" panose="020B0604020202020204" pitchFamily="34" charset="0"/>
                <a:cs typeface="Arial" panose="020B0604020202020204" pitchFamily="34" charset="0"/>
              </a:rPr>
              <a:t>On-demand routing</a:t>
            </a:r>
          </a:p>
          <a:p>
            <a:pPr>
              <a:lnSpc>
                <a:spcPct val="120000"/>
              </a:lnSpc>
            </a:pPr>
            <a:r>
              <a:rPr lang="en-US" altLang="zh-CN" dirty="0">
                <a:latin typeface="Arial" panose="020B0604020202020204" pitchFamily="34" charset="0"/>
                <a:cs typeface="Arial" panose="020B0604020202020204" pitchFamily="34" charset="0"/>
              </a:rPr>
              <a:t>Hierarchical routing</a:t>
            </a:r>
          </a:p>
          <a:p>
            <a:pPr>
              <a:lnSpc>
                <a:spcPct val="120000"/>
              </a:lnSpc>
            </a:pPr>
            <a:r>
              <a:rPr lang="en-US" altLang="zh-CN" dirty="0">
                <a:latin typeface="Arial" panose="020B0604020202020204" pitchFamily="34" charset="0"/>
                <a:cs typeface="Arial" panose="020B0604020202020204" pitchFamily="34" charset="0"/>
              </a:rPr>
              <a:t>Location-based routing</a:t>
            </a:r>
          </a:p>
          <a:p>
            <a:pPr>
              <a:lnSpc>
                <a:spcPct val="120000"/>
              </a:lnSpc>
            </a:pPr>
            <a:r>
              <a:rPr lang="en-US" altLang="zh-CN" dirty="0" err="1">
                <a:latin typeface="Arial" panose="020B0604020202020204" pitchFamily="34" charset="0"/>
                <a:cs typeface="Arial" panose="020B0604020202020204" pitchFamily="34" charset="0"/>
              </a:rPr>
              <a:t>QoS</a:t>
            </a:r>
            <a:r>
              <a:rPr lang="en-US" altLang="zh-CN" dirty="0">
                <a:latin typeface="Arial" panose="020B0604020202020204" pitchFamily="34" charset="0"/>
                <a:cs typeface="Arial" panose="020B0604020202020204" pitchFamily="34" charset="0"/>
              </a:rPr>
              <a:t>-based routing</a:t>
            </a:r>
            <a:endParaRPr lang="en-US" altLang="zh-C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0293526"/>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Network Layer Responsibility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310573" y="922450"/>
            <a:ext cx="6041994" cy="3515558"/>
          </a:xfrm>
        </p:spPr>
        <p:txBody>
          <a:bodyPr>
            <a:normAutofit fontScale="85000" lnSpcReduction="10000"/>
          </a:bodyPr>
          <a:lstStyle/>
          <a:p>
            <a:pPr marL="0" indent="0">
              <a:lnSpc>
                <a:spcPct val="140000"/>
              </a:lnSpc>
              <a:buNone/>
            </a:pPr>
            <a:endParaRPr lang="en-US" altLang="zh-CN" dirty="0">
              <a:latin typeface="Arial" panose="020B0604020202020204" pitchFamily="34" charset="0"/>
              <a:cs typeface="Arial" panose="020B0604020202020204" pitchFamily="34" charset="0"/>
            </a:endParaRPr>
          </a:p>
          <a:p>
            <a:pPr>
              <a:lnSpc>
                <a:spcPct val="140000"/>
              </a:lnSpc>
            </a:pPr>
            <a:r>
              <a:rPr lang="en-US" altLang="zh-CN" dirty="0">
                <a:solidFill>
                  <a:srgbClr val="FF0000"/>
                </a:solidFill>
                <a:latin typeface="Arial" panose="020B0604020202020204" pitchFamily="34" charset="0"/>
                <a:cs typeface="Arial" panose="020B0604020202020204" pitchFamily="34" charset="0"/>
              </a:rPr>
              <a:t>Direct communication model: </a:t>
            </a:r>
            <a:r>
              <a:rPr lang="en-US" altLang="zh-CN" dirty="0">
                <a:latin typeface="Arial" panose="020B0604020202020204" pitchFamily="34" charset="0"/>
                <a:cs typeface="Arial" panose="020B0604020202020204" pitchFamily="34" charset="0"/>
              </a:rPr>
              <a:t>every sensors communicates directly (single-hop) with the sink device (base station)</a:t>
            </a:r>
          </a:p>
          <a:p>
            <a:pPr lvl="1">
              <a:lnSpc>
                <a:spcPct val="140000"/>
              </a:lnSpc>
            </a:pPr>
            <a:r>
              <a:rPr lang="en-US" altLang="zh-CN" dirty="0">
                <a:latin typeface="Arial" panose="020B0604020202020204" pitchFamily="34" charset="0"/>
                <a:cs typeface="Arial" panose="020B0604020202020204" pitchFamily="34" charset="0"/>
              </a:rPr>
              <a:t>not feasible due to lack of energy, scale of network, lack of unobstructed communication links between sensors and sink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8156" y="1690688"/>
            <a:ext cx="5993844" cy="2290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a:extLst>
              <a:ext uri="{FF2B5EF4-FFF2-40B4-BE49-F238E27FC236}">
                <a16:creationId xmlns:a16="http://schemas.microsoft.com/office/drawing/2014/main" id="{78DE1256-159A-49DD-8F82-B8BCAF1C0A21}"/>
              </a:ext>
            </a:extLst>
          </p:cNvPr>
          <p:cNvSpPr txBox="1">
            <a:spLocks/>
          </p:cNvSpPr>
          <p:nvPr/>
        </p:nvSpPr>
        <p:spPr>
          <a:xfrm>
            <a:off x="266700" y="4257964"/>
            <a:ext cx="11658600" cy="2600036"/>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pPr>
            <a:r>
              <a:rPr lang="en-US" altLang="zh-CN" dirty="0">
                <a:solidFill>
                  <a:srgbClr val="FF0000"/>
                </a:solidFill>
                <a:latin typeface="Arial" panose="020B0604020202020204" pitchFamily="34" charset="0"/>
                <a:cs typeface="Arial" panose="020B0604020202020204" pitchFamily="34" charset="0"/>
              </a:rPr>
              <a:t>Multi-hop communication model</a:t>
            </a:r>
            <a:r>
              <a:rPr lang="en-US" altLang="zh-CN" dirty="0">
                <a:latin typeface="Arial" panose="020B0604020202020204" pitchFamily="34" charset="0"/>
                <a:cs typeface="Arial" panose="020B0604020202020204" pitchFamily="34" charset="0"/>
              </a:rPr>
              <a:t>: sensors cooperate in propagating sensor data towards the sink</a:t>
            </a:r>
          </a:p>
          <a:p>
            <a:pPr>
              <a:lnSpc>
                <a:spcPct val="140000"/>
              </a:lnSpc>
            </a:pPr>
            <a:r>
              <a:rPr lang="en-US" altLang="zh-CN" dirty="0">
                <a:solidFill>
                  <a:srgbClr val="FF0000"/>
                </a:solidFill>
                <a:latin typeface="Arial" panose="020B0604020202020204" pitchFamily="34" charset="0"/>
                <a:cs typeface="Arial" panose="020B0604020202020204" pitchFamily="34" charset="0"/>
              </a:rPr>
              <a:t>Routing</a:t>
            </a:r>
            <a:r>
              <a:rPr lang="en-US" altLang="zh-CN" dirty="0">
                <a:latin typeface="Arial" panose="020B0604020202020204" pitchFamily="34" charset="0"/>
                <a:cs typeface="Arial" panose="020B0604020202020204" pitchFamily="34" charset="0"/>
              </a:rPr>
              <a:t>  is a key responsibility of the network layer </a:t>
            </a:r>
          </a:p>
          <a:p>
            <a:pPr>
              <a:lnSpc>
                <a:spcPct val="140000"/>
              </a:lnSpc>
            </a:pPr>
            <a:r>
              <a:rPr lang="en-US" altLang="zh-CN" dirty="0">
                <a:solidFill>
                  <a:srgbClr val="FF0000"/>
                </a:solidFill>
                <a:latin typeface="Arial" panose="020B0604020202020204" pitchFamily="34" charset="0"/>
                <a:cs typeface="Arial" panose="020B0604020202020204" pitchFamily="34" charset="0"/>
              </a:rPr>
              <a:t>Routing protocol </a:t>
            </a:r>
            <a:r>
              <a:rPr lang="en-US" altLang="zh-CN" dirty="0">
                <a:latin typeface="Arial" panose="020B0604020202020204" pitchFamily="34" charset="0"/>
                <a:cs typeface="Arial" panose="020B0604020202020204" pitchFamily="34" charset="0"/>
              </a:rPr>
              <a:t>is responsible for finding and maintaining path from sensor to sink </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9612416"/>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Classification of Routing Protocols </a:t>
            </a:r>
            <a:endParaRPr lang="zh-CN" altLang="en-US" b="1" dirty="0">
              <a:latin typeface="Arial" panose="020B0604020202020204" pitchFamily="34" charset="0"/>
              <a:cs typeface="Arial" panose="020B0604020202020204" pitchFamily="34" charset="0"/>
            </a:endParaRP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5756" y="1690688"/>
            <a:ext cx="10100488" cy="4386839"/>
          </a:xfrm>
        </p:spPr>
      </p:pic>
    </p:spTree>
    <p:extLst>
      <p:ext uri="{BB962C8B-B14F-4D97-AF65-F5344CB8AC3E}">
        <p14:creationId xmlns:p14="http://schemas.microsoft.com/office/powerpoint/2010/main" val="3793466134"/>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Classification of Routing Protocols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37855"/>
            <a:ext cx="11169073" cy="5105400"/>
          </a:xfrm>
        </p:spPr>
        <p:txBody>
          <a:bodyPr>
            <a:noAutofit/>
          </a:bodyPr>
          <a:lstStyle/>
          <a:p>
            <a:r>
              <a:rPr lang="en-US" altLang="zh-CN" sz="2400" dirty="0">
                <a:latin typeface="Arial" panose="020B0604020202020204" pitchFamily="34" charset="0"/>
                <a:cs typeface="Arial" panose="020B0604020202020204" pitchFamily="34" charset="0"/>
              </a:rPr>
              <a:t>Network organization</a:t>
            </a:r>
          </a:p>
          <a:p>
            <a:pPr lvl="1"/>
            <a:r>
              <a:rPr lang="en-US" altLang="zh-CN" sz="2000" dirty="0">
                <a:latin typeface="Arial" panose="020B0604020202020204" pitchFamily="34" charset="0"/>
                <a:cs typeface="Arial" panose="020B0604020202020204" pitchFamily="34" charset="0"/>
              </a:rPr>
              <a:t>flat: all nodes are “equal”</a:t>
            </a:r>
          </a:p>
          <a:p>
            <a:pPr lvl="1"/>
            <a:r>
              <a:rPr lang="en-US" altLang="zh-CN" sz="2000" dirty="0">
                <a:latin typeface="Arial" panose="020B0604020202020204" pitchFamily="34" charset="0"/>
                <a:cs typeface="Arial" panose="020B0604020202020204" pitchFamily="34" charset="0"/>
              </a:rPr>
              <a:t>hierarchical: different “roles” for different nodes (e.g., cluster heads versus cluster members) </a:t>
            </a:r>
          </a:p>
          <a:p>
            <a:pPr lvl="1"/>
            <a:r>
              <a:rPr lang="en-US" altLang="zh-CN" sz="2000" dirty="0">
                <a:latin typeface="Arial" panose="020B0604020202020204" pitchFamily="34" charset="0"/>
                <a:cs typeface="Arial" panose="020B0604020202020204" pitchFamily="34" charset="0"/>
              </a:rPr>
              <a:t>location-based: nodes rely on location information </a:t>
            </a:r>
          </a:p>
          <a:p>
            <a:r>
              <a:rPr lang="en-US" altLang="zh-CN" sz="2400" dirty="0">
                <a:latin typeface="Arial" panose="020B0604020202020204" pitchFamily="34" charset="0"/>
                <a:cs typeface="Arial" panose="020B0604020202020204" pitchFamily="34" charset="0"/>
              </a:rPr>
              <a:t>Route discovery</a:t>
            </a:r>
          </a:p>
          <a:p>
            <a:pPr lvl="1"/>
            <a:r>
              <a:rPr lang="en-US" altLang="zh-CN" sz="2000" dirty="0">
                <a:latin typeface="Arial" panose="020B0604020202020204" pitchFamily="34" charset="0"/>
                <a:cs typeface="Arial" panose="020B0604020202020204" pitchFamily="34" charset="0"/>
              </a:rPr>
              <a:t>reactive (on-demand): find route only when needed </a:t>
            </a:r>
          </a:p>
          <a:p>
            <a:pPr lvl="1"/>
            <a:r>
              <a:rPr lang="en-US" altLang="zh-CN" sz="2000" dirty="0">
                <a:latin typeface="Arial" panose="020B0604020202020204" pitchFamily="34" charset="0"/>
                <a:cs typeface="Arial" panose="020B0604020202020204" pitchFamily="34" charset="0"/>
              </a:rPr>
              <a:t>proactive (table-driven): establish routes before they are needed</a:t>
            </a:r>
          </a:p>
          <a:p>
            <a:pPr lvl="1"/>
            <a:r>
              <a:rPr lang="en-US" altLang="zh-CN" sz="2000" dirty="0">
                <a:latin typeface="Arial" panose="020B0604020202020204" pitchFamily="34" charset="0"/>
                <a:cs typeface="Arial" panose="020B0604020202020204" pitchFamily="34" charset="0"/>
              </a:rPr>
              <a:t>hybrid: protocols with reactive and proactive characteristics</a:t>
            </a:r>
          </a:p>
          <a:p>
            <a:r>
              <a:rPr lang="en-US" altLang="zh-CN" sz="2400" dirty="0">
                <a:latin typeface="Arial" panose="020B0604020202020204" pitchFamily="34" charset="0"/>
                <a:cs typeface="Arial" panose="020B0604020202020204" pitchFamily="34" charset="0"/>
              </a:rPr>
              <a:t>Protocol operation</a:t>
            </a:r>
          </a:p>
          <a:p>
            <a:pPr lvl="1"/>
            <a:r>
              <a:rPr lang="en-US" altLang="zh-CN" sz="2000" dirty="0">
                <a:latin typeface="Arial" panose="020B0604020202020204" pitchFamily="34" charset="0"/>
                <a:cs typeface="Arial" panose="020B0604020202020204" pitchFamily="34" charset="0"/>
              </a:rPr>
              <a:t>negotiation-based: negotiate data transfers before they occur</a:t>
            </a:r>
          </a:p>
          <a:p>
            <a:pPr lvl="1"/>
            <a:r>
              <a:rPr lang="en-US" altLang="zh-CN" sz="2000" dirty="0">
                <a:latin typeface="Arial" panose="020B0604020202020204" pitchFamily="34" charset="0"/>
                <a:cs typeface="Arial" panose="020B0604020202020204" pitchFamily="34" charset="0"/>
              </a:rPr>
              <a:t>multi-path: use multiple routes simultaneously</a:t>
            </a:r>
          </a:p>
          <a:p>
            <a:pPr lvl="1"/>
            <a:r>
              <a:rPr lang="en-US" altLang="zh-CN" sz="2000" dirty="0">
                <a:latin typeface="Arial" panose="020B0604020202020204" pitchFamily="34" charset="0"/>
                <a:cs typeface="Arial" panose="020B0604020202020204" pitchFamily="34" charset="0"/>
              </a:rPr>
              <a:t>query-based: receiver-initiated</a:t>
            </a:r>
          </a:p>
          <a:p>
            <a:pPr lvl="1"/>
            <a:r>
              <a:rPr lang="en-US" altLang="zh-CN" sz="2000" dirty="0" err="1">
                <a:latin typeface="Arial" panose="020B0604020202020204" pitchFamily="34" charset="0"/>
                <a:cs typeface="Arial" panose="020B0604020202020204" pitchFamily="34" charset="0"/>
              </a:rPr>
              <a:t>QoS</a:t>
            </a:r>
            <a:r>
              <a:rPr lang="en-US" altLang="zh-CN" sz="2000" dirty="0">
                <a:latin typeface="Arial" panose="020B0604020202020204" pitchFamily="34" charset="0"/>
                <a:cs typeface="Arial" panose="020B0604020202020204" pitchFamily="34" charset="0"/>
              </a:rPr>
              <a:t>-based: satisfy certain </a:t>
            </a:r>
            <a:r>
              <a:rPr lang="en-US" altLang="zh-CN" sz="2000" dirty="0" err="1">
                <a:latin typeface="Arial" panose="020B0604020202020204" pitchFamily="34" charset="0"/>
                <a:cs typeface="Arial" panose="020B0604020202020204" pitchFamily="34" charset="0"/>
              </a:rPr>
              <a:t>QoS</a:t>
            </a:r>
            <a:r>
              <a:rPr lang="en-US" altLang="zh-CN" sz="2000" dirty="0">
                <a:latin typeface="Arial" panose="020B0604020202020204" pitchFamily="34" charset="0"/>
                <a:cs typeface="Arial" panose="020B0604020202020204" pitchFamily="34" charset="0"/>
              </a:rPr>
              <a:t> (Quality-of-Service) constraints</a:t>
            </a:r>
          </a:p>
          <a:p>
            <a:pPr lvl="1"/>
            <a:r>
              <a:rPr lang="en-US" altLang="zh-CN" sz="2000" dirty="0">
                <a:latin typeface="Arial" panose="020B0604020202020204" pitchFamily="34" charset="0"/>
                <a:cs typeface="Arial" panose="020B0604020202020204" pitchFamily="34" charset="0"/>
              </a:rPr>
              <a:t>coherent-based: perform only minimum amount of in-network processing </a:t>
            </a:r>
          </a:p>
        </p:txBody>
      </p:sp>
    </p:spTree>
    <p:extLst>
      <p:ext uri="{BB962C8B-B14F-4D97-AF65-F5344CB8AC3E}">
        <p14:creationId xmlns:p14="http://schemas.microsoft.com/office/powerpoint/2010/main" val="3039281843"/>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Routing Metrics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515600" cy="4965793"/>
          </a:xfrm>
        </p:spPr>
        <p:txBody>
          <a:bodyPr>
            <a:normAutofit fontScale="92500" lnSpcReduction="20000"/>
          </a:bodyPr>
          <a:lstStyle/>
          <a:p>
            <a:pPr>
              <a:lnSpc>
                <a:spcPct val="120000"/>
              </a:lnSpc>
            </a:pPr>
            <a:r>
              <a:rPr lang="en-US" altLang="zh-CN" dirty="0">
                <a:latin typeface="Arial" panose="020B0604020202020204" pitchFamily="34" charset="0"/>
                <a:cs typeface="Arial" panose="020B0604020202020204" pitchFamily="34" charset="0"/>
              </a:rPr>
              <a:t>Minimum hop (shortest hop)</a:t>
            </a:r>
          </a:p>
          <a:p>
            <a:pPr>
              <a:lnSpc>
                <a:spcPct val="120000"/>
              </a:lnSpc>
            </a:pPr>
            <a:r>
              <a:rPr lang="en-US" altLang="zh-CN" dirty="0">
                <a:latin typeface="Arial" panose="020B0604020202020204" pitchFamily="34" charset="0"/>
                <a:cs typeface="Arial" panose="020B0604020202020204" pitchFamily="34" charset="0"/>
              </a:rPr>
              <a:t>Energy</a:t>
            </a:r>
          </a:p>
          <a:p>
            <a:pPr lvl="1">
              <a:lnSpc>
                <a:spcPct val="120000"/>
              </a:lnSpc>
            </a:pPr>
            <a:r>
              <a:rPr lang="en-US" altLang="zh-CN" dirty="0">
                <a:latin typeface="Arial" panose="020B0604020202020204" pitchFamily="34" charset="0"/>
                <a:cs typeface="Arial" panose="020B0604020202020204" pitchFamily="34" charset="0"/>
              </a:rPr>
              <a:t>minimum energy consumed per packet</a:t>
            </a:r>
          </a:p>
          <a:p>
            <a:pPr lvl="1">
              <a:lnSpc>
                <a:spcPct val="120000"/>
              </a:lnSpc>
            </a:pPr>
            <a:r>
              <a:rPr lang="en-US" altLang="zh-CN" dirty="0">
                <a:latin typeface="Arial" panose="020B0604020202020204" pitchFamily="34" charset="0"/>
                <a:cs typeface="Arial" panose="020B0604020202020204" pitchFamily="34" charset="0"/>
              </a:rPr>
              <a:t>maximum time to network partition</a:t>
            </a:r>
          </a:p>
          <a:p>
            <a:pPr lvl="1">
              <a:lnSpc>
                <a:spcPct val="120000"/>
              </a:lnSpc>
            </a:pPr>
            <a:r>
              <a:rPr lang="en-US" altLang="zh-CN" dirty="0">
                <a:latin typeface="Arial" panose="020B0604020202020204" pitchFamily="34" charset="0"/>
                <a:cs typeface="Arial" panose="020B0604020202020204" pitchFamily="34" charset="0"/>
              </a:rPr>
              <a:t>minimize variance in node power levels</a:t>
            </a:r>
          </a:p>
          <a:p>
            <a:pPr lvl="1">
              <a:lnSpc>
                <a:spcPct val="120000"/>
              </a:lnSpc>
            </a:pPr>
            <a:r>
              <a:rPr lang="en-US" altLang="zh-CN" dirty="0">
                <a:latin typeface="Arial" panose="020B0604020202020204" pitchFamily="34" charset="0"/>
                <a:cs typeface="Arial" panose="020B0604020202020204" pitchFamily="34" charset="0"/>
              </a:rPr>
              <a:t>maximum (average) energy capacity</a:t>
            </a:r>
          </a:p>
          <a:p>
            <a:pPr lvl="1">
              <a:lnSpc>
                <a:spcPct val="120000"/>
              </a:lnSpc>
            </a:pPr>
            <a:r>
              <a:rPr lang="en-US" altLang="zh-CN" dirty="0">
                <a:latin typeface="Arial" panose="020B0604020202020204" pitchFamily="34" charset="0"/>
                <a:cs typeface="Arial" panose="020B0604020202020204" pitchFamily="34" charset="0"/>
              </a:rPr>
              <a:t>maximum minimum energy capacity </a:t>
            </a:r>
          </a:p>
          <a:p>
            <a:pPr>
              <a:lnSpc>
                <a:spcPct val="120000"/>
              </a:lnSpc>
            </a:pPr>
            <a:r>
              <a:rPr lang="en-US" altLang="zh-CN" dirty="0">
                <a:latin typeface="Arial" panose="020B0604020202020204" pitchFamily="34" charset="0"/>
                <a:cs typeface="Arial" panose="020B0604020202020204" pitchFamily="34" charset="0"/>
              </a:rPr>
              <a:t>Quality-of-Service </a:t>
            </a:r>
          </a:p>
          <a:p>
            <a:pPr lvl="1">
              <a:lnSpc>
                <a:spcPct val="120000"/>
              </a:lnSpc>
            </a:pPr>
            <a:r>
              <a:rPr lang="en-US" altLang="zh-CN" dirty="0">
                <a:latin typeface="Arial" panose="020B0604020202020204" pitchFamily="34" charset="0"/>
                <a:cs typeface="Arial" panose="020B0604020202020204" pitchFamily="34" charset="0"/>
              </a:rPr>
              <a:t>latency (delay), throughput, jitter, packet loss, error rate </a:t>
            </a:r>
          </a:p>
          <a:p>
            <a:pPr>
              <a:lnSpc>
                <a:spcPct val="120000"/>
              </a:lnSpc>
            </a:pPr>
            <a:r>
              <a:rPr lang="en-US" altLang="zh-CN" dirty="0">
                <a:latin typeface="Arial" panose="020B0604020202020204" pitchFamily="34" charset="0"/>
                <a:cs typeface="Arial" panose="020B0604020202020204" pitchFamily="34" charset="0"/>
              </a:rPr>
              <a:t>Robustness</a:t>
            </a:r>
          </a:p>
          <a:p>
            <a:pPr lvl="1">
              <a:lnSpc>
                <a:spcPct val="120000"/>
              </a:lnSpc>
            </a:pPr>
            <a:r>
              <a:rPr lang="en-US" altLang="zh-CN" dirty="0">
                <a:latin typeface="Arial" panose="020B0604020202020204" pitchFamily="34" charset="0"/>
                <a:cs typeface="Arial" panose="020B0604020202020204" pitchFamily="34" charset="0"/>
              </a:rPr>
              <a:t>link quality, link stability </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2139724"/>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Routing Metrics (Example)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7544295" y="1690688"/>
            <a:ext cx="4075835" cy="3600404"/>
          </a:xfrm>
        </p:spPr>
        <p:txBody>
          <a:bodyPr>
            <a:noAutofit/>
          </a:bodyPr>
          <a:lstStyle/>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r>
              <a:rPr lang="en-US" altLang="zh-CN" sz="2400" b="1" dirty="0">
                <a:latin typeface="Arial" panose="020B0604020202020204" pitchFamily="34" charset="0"/>
                <a:cs typeface="Arial" panose="020B0604020202020204" pitchFamily="34" charset="0"/>
              </a:rPr>
              <a:t>Numbers along links: </a:t>
            </a:r>
            <a:r>
              <a:rPr lang="en-US" altLang="zh-CN" sz="2400" dirty="0">
                <a:latin typeface="Arial" panose="020B0604020202020204" pitchFamily="34" charset="0"/>
                <a:cs typeface="Arial" panose="020B0604020202020204" pitchFamily="34" charset="0"/>
              </a:rPr>
              <a:t>cost for transmission </a:t>
            </a:r>
          </a:p>
          <a:p>
            <a:pPr>
              <a:lnSpc>
                <a:spcPct val="120000"/>
              </a:lnSpc>
            </a:pPr>
            <a:r>
              <a:rPr lang="en-US" altLang="zh-CN" sz="2400" b="1" dirty="0">
                <a:latin typeface="Arial" panose="020B0604020202020204" pitchFamily="34" charset="0"/>
                <a:cs typeface="Arial" panose="020B0604020202020204" pitchFamily="34" charset="0"/>
              </a:rPr>
              <a:t>Numbers in parentheses: </a:t>
            </a:r>
            <a:r>
              <a:rPr lang="en-US" altLang="zh-CN" sz="2400" dirty="0">
                <a:latin typeface="Arial" panose="020B0604020202020204" pitchFamily="34" charset="0"/>
                <a:cs typeface="Arial" panose="020B0604020202020204" pitchFamily="34" charset="0"/>
              </a:rPr>
              <a:t>remaining energy capacity</a:t>
            </a:r>
          </a:p>
          <a:p>
            <a:pPr>
              <a:lnSpc>
                <a:spcPct val="120000"/>
              </a:lnSpc>
            </a:pPr>
            <a:endParaRPr lang="en-US" altLang="zh-CN" sz="2400" dirty="0">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870" y="1970843"/>
            <a:ext cx="6972426" cy="4083727"/>
          </a:xfrm>
          <a:prstGeom prst="rect">
            <a:avLst/>
          </a:prstGeom>
        </p:spPr>
      </p:pic>
    </p:spTree>
    <p:extLst>
      <p:ext uri="{BB962C8B-B14F-4D97-AF65-F5344CB8AC3E}">
        <p14:creationId xmlns:p14="http://schemas.microsoft.com/office/powerpoint/2010/main" val="2340394585"/>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DE34F711-DA65-40FD-8E6C-8276C6FCF7BD}"/>
              </a:ext>
            </a:extLst>
          </p:cNvPr>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New Arch. </a:t>
            </a:r>
            <a:endParaRPr lang="zh-CN" altLang="en-US" b="1" dirty="0">
              <a:latin typeface="Arial" panose="020B0604020202020204" pitchFamily="34" charset="0"/>
              <a:cs typeface="Arial" panose="020B0604020202020204" pitchFamily="34" charset="0"/>
            </a:endParaRPr>
          </a:p>
        </p:txBody>
      </p:sp>
      <p:pic>
        <p:nvPicPr>
          <p:cNvPr id="18435" name="Picture 2" descr="File:Van Jacobson1.jpg">
            <a:extLst>
              <a:ext uri="{FF2B5EF4-FFF2-40B4-BE49-F238E27FC236}">
                <a16:creationId xmlns:a16="http://schemas.microsoft.com/office/drawing/2014/main" id="{2EEA62FC-91D0-4463-A0EB-4324CEBB414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23406" y="2850108"/>
            <a:ext cx="1641774" cy="2084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矩形 5">
            <a:extLst>
              <a:ext uri="{FF2B5EF4-FFF2-40B4-BE49-F238E27FC236}">
                <a16:creationId xmlns:a16="http://schemas.microsoft.com/office/drawing/2014/main" id="{652DCFF4-252A-4DED-BD5F-6751A75FCCC8}"/>
              </a:ext>
            </a:extLst>
          </p:cNvPr>
          <p:cNvSpPr>
            <a:spLocks noChangeArrowheads="1"/>
          </p:cNvSpPr>
          <p:nvPr/>
        </p:nvSpPr>
        <p:spPr bwMode="auto">
          <a:xfrm>
            <a:off x="838199" y="3301163"/>
            <a:ext cx="3121241" cy="105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r>
              <a:rPr lang="en-US" altLang="zh-CN" sz="2585" b="1" dirty="0">
                <a:solidFill>
                  <a:schemeClr val="tx2"/>
                </a:solidFill>
                <a:cs typeface="Arial" panose="020B0604020202020204" pitchFamily="34" charset="0"/>
              </a:rPr>
              <a:t>Van Jacobson</a:t>
            </a:r>
            <a:r>
              <a:rPr lang="zh-CN" altLang="en-US" sz="1846" b="1" dirty="0">
                <a:cs typeface="Arial" panose="020B0604020202020204" pitchFamily="34" charset="0"/>
              </a:rPr>
              <a:t>：</a:t>
            </a:r>
            <a:r>
              <a:rPr lang="en-US" altLang="zh-CN" sz="1846" b="1" dirty="0">
                <a:cs typeface="Arial" panose="020B0604020202020204" pitchFamily="34" charset="0"/>
              </a:rPr>
              <a:t>primary contributors to the TCP/IP protocol stack</a:t>
            </a:r>
            <a:endParaRPr lang="zh-CN" altLang="en-US" sz="1846" b="1" dirty="0">
              <a:cs typeface="Arial" panose="020B0604020202020204" pitchFamily="34" charset="0"/>
            </a:endParaRPr>
          </a:p>
        </p:txBody>
      </p:sp>
      <p:sp>
        <p:nvSpPr>
          <p:cNvPr id="18437" name="矩形 6">
            <a:extLst>
              <a:ext uri="{FF2B5EF4-FFF2-40B4-BE49-F238E27FC236}">
                <a16:creationId xmlns:a16="http://schemas.microsoft.com/office/drawing/2014/main" id="{1B8DC688-438D-431B-9653-CB84255D8D39}"/>
              </a:ext>
            </a:extLst>
          </p:cNvPr>
          <p:cNvSpPr>
            <a:spLocks noChangeArrowheads="1"/>
          </p:cNvSpPr>
          <p:nvPr/>
        </p:nvSpPr>
        <p:spPr bwMode="auto">
          <a:xfrm>
            <a:off x="2706567" y="1982666"/>
            <a:ext cx="7111511" cy="490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SzTx/>
              <a:buFontTx/>
              <a:buNone/>
            </a:pPr>
            <a:r>
              <a:rPr lang="en-US" altLang="zh-CN" sz="2585" dirty="0">
                <a:cs typeface="Arial" panose="020B0604020202020204" pitchFamily="34" charset="0"/>
              </a:rPr>
              <a:t>Networking Named Content</a:t>
            </a:r>
            <a:r>
              <a:rPr lang="zh-CN" altLang="en-US" sz="2585" dirty="0">
                <a:cs typeface="Arial" panose="020B0604020202020204" pitchFamily="34" charset="0"/>
              </a:rPr>
              <a:t>，</a:t>
            </a:r>
            <a:r>
              <a:rPr lang="en-US" altLang="zh-CN" sz="2585" i="1" dirty="0">
                <a:cs typeface="Arial" panose="020B0604020202020204" pitchFamily="34" charset="0"/>
              </a:rPr>
              <a:t>CoNEXT’09</a:t>
            </a:r>
            <a:endParaRPr lang="zh-CN" altLang="en-US" sz="2585" i="1" dirty="0">
              <a:cs typeface="Arial" panose="020B0604020202020204" pitchFamily="34" charset="0"/>
            </a:endParaRPr>
          </a:p>
        </p:txBody>
      </p:sp>
      <p:pic>
        <p:nvPicPr>
          <p:cNvPr id="18438" name="Picture 3">
            <a:extLst>
              <a:ext uri="{FF2B5EF4-FFF2-40B4-BE49-F238E27FC236}">
                <a16:creationId xmlns:a16="http://schemas.microsoft.com/office/drawing/2014/main" id="{88B6C092-DE48-499B-A6BB-43DDEC0ADE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9146" y="2663299"/>
            <a:ext cx="4831373" cy="2458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9D02012E-421D-4DD7-8267-106FDFA65299}"/>
              </a:ext>
            </a:extLst>
          </p:cNvPr>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New Arch. </a:t>
            </a:r>
            <a:endParaRPr lang="zh-CN" altLang="en-US" b="1" dirty="0">
              <a:latin typeface="Arial" panose="020B0604020202020204" pitchFamily="34" charset="0"/>
              <a:cs typeface="Arial" panose="020B0604020202020204" pitchFamily="34" charset="0"/>
            </a:endParaRPr>
          </a:p>
        </p:txBody>
      </p:sp>
      <p:sp>
        <p:nvSpPr>
          <p:cNvPr id="19459" name="矩形 3">
            <a:extLst>
              <a:ext uri="{FF2B5EF4-FFF2-40B4-BE49-F238E27FC236}">
                <a16:creationId xmlns:a16="http://schemas.microsoft.com/office/drawing/2014/main" id="{F9535D75-89F2-4602-A8F4-B1C28D3FF02F}"/>
              </a:ext>
            </a:extLst>
          </p:cNvPr>
          <p:cNvSpPr>
            <a:spLocks noChangeArrowheads="1"/>
          </p:cNvSpPr>
          <p:nvPr/>
        </p:nvSpPr>
        <p:spPr bwMode="auto">
          <a:xfrm>
            <a:off x="3483184" y="1951415"/>
            <a:ext cx="3609100" cy="887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r>
              <a:rPr lang="en-US" altLang="zh-CN" sz="2585" b="1" dirty="0">
                <a:cs typeface="Arial" panose="020B0604020202020204" pitchFamily="34" charset="0"/>
              </a:rPr>
              <a:t>Directed Diffusion</a:t>
            </a:r>
          </a:p>
          <a:p>
            <a:pPr>
              <a:spcBef>
                <a:spcPct val="0"/>
              </a:spcBef>
              <a:buClrTx/>
              <a:buSzTx/>
              <a:buFontTx/>
              <a:buNone/>
            </a:pPr>
            <a:r>
              <a:rPr lang="en-US" altLang="zh-CN" sz="2585" b="1" dirty="0">
                <a:cs typeface="Arial" panose="020B0604020202020204" pitchFamily="34" charset="0"/>
              </a:rPr>
              <a:t>Date-centric Routing</a:t>
            </a:r>
            <a:endParaRPr lang="zh-CN" altLang="en-US" sz="2585" b="1" dirty="0">
              <a:cs typeface="Arial" panose="020B0604020202020204" pitchFamily="34" charset="0"/>
            </a:endParaRPr>
          </a:p>
        </p:txBody>
      </p:sp>
      <p:sp>
        <p:nvSpPr>
          <p:cNvPr id="19460" name="AutoShape 2" descr="data:image/jpeg;base64,/9j/4AAQSkZJRgABAQAAAQABAAD/2wCEAAkGBhQSERQUExQUFBUWFxgYFxUYFhQXFxgYFxcXGhoXGhcXHCYgGBojGRgYHy8gJCcpLCwsFx4xNTAqNSYrLCkBCQoKDgwOGg8PGikkHCQsLCksLCkpLCwpLCksKSwpLCksLCkpLCwsLCwpLCksLCwsKSksLCwpLCwsLCksLCwpLP/AABEIAOgA2QMBIgACEQEDEQH/xAAcAAABBQEBAQAAAAAAAAAAAAAAAwQFBgcCAQj/xAA9EAABAwIDBQYFAwIGAQUAAAABAAIRAyEEMUEFBhJRYRMicYGRoQexwdHwMkLhFCMzUmJysvFDFRaCkqL/xAAZAQADAQEBAAAAAAAAAAAAAAAAAQIDBAX/xAAlEQEBAAICAgIBBAMAAAAAAAAAAQIRAyESMSJBMgRCYfATUXH/2gAMAwEAAhEDEQA/ANNQhC0ZBCEIAQhCAEIQgBCEIAQhCAEIQgBCEIAQhCAEIQgBCEIAQhCAEIQgBCEIAQhCAEIQgBCEIAQhCAEISeIxTKbS57mtaBJJIAA8SgFFH4/eDD0P8Sqxp5TdZpvx8Wr9nhDa81NT4DkqC6tVrHjqEib3JJ98lNyVMW41viVgW/8AlmOQKZu+LWC/aXnyj5rEqzWjMEjxP0TV+LaDZojyS8qfjG5U/i9hCYIeOsD6KawW/WDqkBtZsnnZfNzhJtA8kpTBBGnMT7hHkPF9U08Q136XA+BBXa+YcPtfEUzLKrxGRDrq87r/ABPr03tbiHdqw6n9Q6z91Wy02VCb4DaDKzA+mQ5pThNIQhCAEIQgBCEIAQhCAEIQgBCEIAQhCAFF7w7w08HSNSof9rZzP2T/ABWKbTY57zDWiSV88b972uxtdxk9mDDG6ROZSt0cm1nxnxmrguhjI06BUvbm91fFOJfUdwn9s29PMqGeUmPBZ+2k6PMDh5upCrWDB9DmesJLBVWgSc8vufoEnisW0GGj2knqZSMyxFYuP0n+UlTZKXqAu1nyyR/TkXiyZBrNPzonDW90nUJf+kyP4eScBrek5O+iWxpFuN0pSeQu34eJHLJDWzCYXLcX4gjBu4Ksmm43OcHKQNQtf2NvLh8U2aNRrumR9CvmmpTvF/b6Bd4TaFSg4OpuLCDmDHyTl0Vkr6mQs13I+LDa3DSxUNfkKn7T/u5HqtKBnJaS7RZoIQhBBCEIAQhCAEIQgBCEIAQhM9q7UZh6TqjzAA9UBUPi3tfssM1k/rNxzA08J+XVYW8g8/P7qw78b3PxtYuya2zRyCq5eRqVl7u2vqaKcPKUm5LMxA/c2euvsve4bgO9kB3TbDAeeXhzSdKZtf6pd9yBy0+QTimIi0qbVSOMFTIdI9PslK1QzMDq3mNU9o4UkQAemseR06JQ7Mef2/nNR5xfhTBtaw4f+ui5qNLrjPXzU9s3c99UmAfDn6qXwG41RrgXNtIBtzyS/wAkHhVSw9IkGRofokjQyVix+B4arwAQA4gCOv8ACb1MIQJLDby850VTOF4IinhsyfJRtdjSTmfBT9TAAiXCeXIeH3lRmIw8G3tkqlTZowaIvcfNad8PviM6k3ssQS9gjhP7gOnMdM72Wamn4L2nIP5Ce9F/19S4TFtqsD2EOa4SCEqs0+D23uJlSg7MHiEnnn8lpa1l3GWU1QhCEyCEIQAhC9QHiEIQHNSoGgkmALkrF9/N6HYqo5jD/baSByt81oO/W12MoOaXAG3dmCSdLXWP7TxjeFrWtjha8E6klxMn0AWef+mvHPtCVMPHl5yefyCaVKRUjTdmfIfVR+I4uvRRFUmGfmX8leVGgcl4XHIrg3VJO8O/Uqz7A2P2zpdlaAqlRqXhaZufSimCufmuo34ZurBgd3WgCw9FO4bYlMZtb6Lig/LwUphyCF59rukL4TBMbk0DwTx9AQkqULswqlFxRFXYFLj4i2/3hJY/YFF7Y4Aph9O9klVppW0TGMw3h3WNOSw25TZUXGsIPeB8bFbptCgHAghZDvngOxqS2YMro4eS26c/LhJNqtUI/wA8eRRSdOsoqOBTbIruca7/AA42y3D4xpeYDrE+K3ylVDgHNIIORC+W8I4mAM1r3ws3w42/0tU95t2E6jl4q8b9Jyn20hCEK2YQhCAEICEAJDGYngbOps0dftqfBKV6wa0uOQVW2/vBwU3H9xaeGxtMx5mMvFBybUveKqKjnvdLjxlrWmQCWmCYFzJBz0gaFU3blQccNyAiYDZjOIGUqwYrEMayC4WzvxEmZMnl0GZPIKrV3h5nWCSfsOixyro1qOKTLeYHtP1TTaRgC2c/OFJV+7I1afUtifqmmLodpEaSZ6G6mDW+kTPXyRxLrFUCx0FcUmSQOatGj/Y2ANR4gLVdlYXgY1vgo7dTYQp02vcO8R7KcNThAIEkmAFwcufnXZx4+MWDC0JAUphacaKo9ninAFr2jpFvDqvP/dOKw3+JSDxzmbc5CynHv7b+el/pMAXOIMBV7Zm/NOsLtLHZcxfwy00UzWqSB4hLKePSsb5dlplIudZch/Pqo7aG26VIw9wBjK6iTZ3p7iKmYWYb/EF4b4q4YvfCgDmT0AWfb8Y0PxA4TILZ9bLfiwsy7c/LnLiprzdeNF1yTdL0GzPgvQcB5s+rwVGE5BwJ8NVMcfZcNSmSHseYcOhJn5HzUI42HT6pfD1DwkT3bkjyifdCn0Luht3+qwzKh/VEO8RYqbWe/CGtNGo3kRfxB+y0Jbb2xymqF7C8XvbBBPE12ltAUWcRBcSYa0ZuJTpQO8lYt72QawkG1ufrb0RTntQd9d6qvEWVKwpgftpg2tlI/UdOXXOKUdpNqOsazjOrgZ8BBPJWTdrD0q3a4ivwPqPP9tr7hsl14NrRysB1VkfsyhQHEREAA2ggwYGUDPUc/FZe229M6xVJ7mgAPJiwIIt/8gLfdRYBBINjl53H1Vj2/tc8ZawBkWgCHEgC5J1n0gKs1jDzn1n88/NRpVpxiTJJ8/e/uEbHpF9ZlMfucB5H8BSDqoiRr9bp9uxbFUicmvBPgNfdTl+NPH8o83q2ZwVIsYtbkkt2dkmpVHIG6v20d1u1xLzxC7S4DnFiFHbMoik+BoSPNYY8vx06eTinnta2UoaABbLyRXwjwAQOK2hA+aV2a+YlTlOjIXHlW2OKi18biHPAfUNCnzaL+bot7JntfC1mOPZ1qr2y3hcXucCIPFlmQQLSPdX6vsgi4aHDwj5plW2Cw37EA65D2WuPJJNaFwtvtXtjYaoO84SQAdJ6zGf3zWhbOPG0FRNHC8FODAGgA/LKW2KJYVHur3oy2njOAdTkFQ9r4J7y6pwOcBmeLmQMgD01norxtKnNQgibRGSi8Uyp2bqbOHgNixw9w4XB9Qqw6vZZfKKnsTbWHY8B1EC8cc8UGYuHCwm1pUJv/THbtc0fqEe4Vkdu+4u4S1okgzxT1Ng1ozvN0w372Vw0mEftm/54LfHKecc3JPgzTVPcEJJ/PP6eaZjn6KR2ZTzPJdlccd9nMgfg/gBeYcfqH5C8kyY1/hdUGS4xmfuEjjWfhLjWgVWWBL7DpHVaWvnbYW0X0azS0GSRAvcwRppdbhu9tIupNFQ96NRBMdFrjdxGc72mUnwdEohUzCg97ABRLnGBBB9FOKtb81SaPZtaxxfaX/pFs8jl+ZhFPH2yfZWMoUBUbWBfwuIYBrkbC1yNTZMtqbWe50sDqbCZDC4v9zEmIyaAm1LBPa5r+Z/tum3dJHW9jou6lVxPFUEn/W2/qLn00WDpJUHOIPdzzJH2uozFO7+nkpXaGLa1oDQYAtIu4xmen3UX/Rvc6XWAzJtPRKFSdMQFI7ErtbVg5RB8/smNUQTlAga+S5oCHE+YPNLKbh4XVbTgKHaYenUJiszvB2UgWLSORAuqo1mvifdTO7W9tA4QF72sLSeIE8wXSOYs4+RUfTx9KvxVKX6HOPzuuCSy3btyssmkxsarICt+AbKo2x38Jjqrpsysss/bXD0sFDDCM15i8IwDmuaVcRKbV8RIMaKplNej8bve0LtJ11I7IkMuol9LjEnUz4Dkp7A0TwW0VYq0isSP7spy7Z86T8wucX+seMFSFGyjIa0jzsprbqj/ABEhtAf7vbhctExQWQfFnaMup0QebiPYfVVwzecYc91izbVPqOg/Pz7JvUiRHL6pw0c8l6lebDqrAa2M/p+fVGzrvTR+IkiMvsvadbhB8UqqXtp+wsTADoa4DMgta6Ig91xANhmDeIhTmN2kwsdwn9ImCC11omNCY5Ss42btelwBpaZgTf5D3UpW2rTFNwZYkZQbmLHvE5Am4IzyVb6Tcd1rO7e0XVGEOPFGToiYMfY+amVTvhy5zqT3nImBOcc/BXFay7jLKaugqlvhWPaNZFix0EAm54J8wAramOP2bTrHhqXtYZEdQdD16ooxuqyfDbWwwwLaLh/dFi0iLhz7z4x5jKZVdrYkTYSBMHhifXz5J/vlgRRxdW3d4jEWIJ1PV2agsXtEOs4ERaLfVc+W/Tqmih4SZzPPOIyA06cklUIzcTb8gJg/Exr6JrUrF5geCWk3J0+oajjFhy+S9wpIjkhggwl6ZEzPmqpRI7JxQY4y2Q4cJByuQfcAhPd2sRwl1NuhnPIHl6JrsKiKlTgJuWvg53DHFv8A+gB5pPC1hTxAdlxWPr8wQFllNyxpOtVftnMuSFbNmnuAqrbAIcCOY+is+x6kscw5gELzeR6HGfYSuX5mG8tU9a8RHOyh3Me0f2wCIyLiPoU3bt0s/wASnUZ1gFv/ANmkiEsWvsjtDZGJbHY1GkDpDvOZB9krsrbbmNIqWcLEeHTRSeF2rTdHez109ktUwdF54nBh6z+SrV2iaW03Vn91juGbui3qpxmJ4TBTas9oHdiALR/CbGtIU5XadnuOxMAnovn3fbaHbYyo4GQO606Q3+ZWz7z1HMw9Qj9QY52fJqwbGUIJ169V1/pcf3OD9Vl9E6Akga804sXRy/ITFpulKT4Oq7XG7rU4Nsvyy7ay3ulwA7qlGsuJSPThlEmTa3lefKE5ZUMtkeJ4gZ8UnR4yTwt4/CAcvmpvA4ZtdjQ1sOH6oGV8yYv4IONi3Fvh2uiA4DQDSNPBWRRu7uC7LDU2aht/HVSS3YX2Ao/blFpovJzDSQZIIMZy248lIBRO9FQjDPgEnkM7Xt1sgT2yDH4qk51Rzn1ajySGkuAAtLjN3EnKzdDFgqPjqnE5xjhvkJt0ve3W6suF2dUqOqOaHcEy/hcOLvEwJJuTA15a2EJtHZD6NZzXtIjPzuPmFi3qKalqJv8AmaWfgoMDI5HpzPquasNMDQ6GfG6Np1pycp9Vy2oZT9mFFwTfRIPwwtBmfmltVjvCVuGDnfIfchcurSTaNR0v9kg45eS7DoBPT89/klobXzdvapaWk5GyvRqRFRvmst2S6abfBWvY23f/ABvMHSdV53Jj29HjvS5NxPocl218lMNkYprxwnMKUdhbyFz+m8A2bSd+pomc9fUL2rsZgvL4OQD3fdPMPgyRZ0LvsnDOCtZnftpM7EJidksIF33/ANb7eYKXwOHDLEmBcyZy0nxT17OkKB2htWnRpvq1XQxt458vEnQKbbkyyy+6T3hxIqUMWJAP9LUIBzjjpyRy18gVj+1qIgRl+XTnb28b8RWc5wAaQ3hFjDRLonmZvHJI1KnFTHMT7x/2vS48PGSPMzy8rag6zYKGP813iW5eCSaFuwS2EHdnuoBabEEFM8NiINzHVPHPLtZH5mpVClCuaZMAGek+atXw6c12MDXCzgbaWuJ6ZqsDDvey0zf/AL9Pkp3dAVaNQOElxyb0kGZ0GvkOaMfam+tbAAXqgtiOrvg1HiIyAHzzU6t3MFH7bpONPu2IIvEkDUxrAUgghAZk/Y1MvHYg0yCTBDhcm3CSM7DWDab3VF3o2gXYp/DBhwnUd0hs20sCr3vztvsKhp0XAVXCCSR3OK/EeVjn0HNZrRwpNRzGNdWcbDhk2GZt8zlmemWTohntGh2ZA4uIwPCIGXSflOqaYnDlsH/MJHqbfL1VmxuwSxhdUHf4XOgEkCHNEN5mSZPT1jNsUQ6q1ojhaM+UySOsXSFRba5bp+cig1pMix9kpXqFpIaZb1iPU6ppx3tbojST6lSlms/UpJ7rQRPTJGFqEkDyXtSlcjqkaf2GHdmDFtCZ+10+qNLXAqW3PwzTSDXCRlHL+bp9tzdh1NvG3vM56jx6dVwZZfKu/GfGG+xcY4PDmycpHRXrD7SDhMqhbNEZKwUjDevNY5R0YXpa8PjxoY6JZ2JB1VSGII1XJx7yLFJVyS229shjYBudOnNZPvviX1eCSeBrstASMz10nqtBwew31pcTAm7jcnoEbT3fpmk+mGiCM8z4z4q8MphltjyY3OaYvimmQeg9v4KVpkhpGXP88082ps51F3CRa8HzLSPKPkkgwlh0aMzYX5fnNelLuPOs1UaRIjzXdPCmJ/PzNKMcGkyJzTvDGW/b5DzT2mRGFicUG2vMc4KdNwt3DlE+ZUrhaUNgCZHle1/BK5KmJPZjqgBgmALwR9ir1uXsTuAi5dEuzFtI/dHPKeeRabA2SwgRwhwAiWggmM4NnCc4ylX3d/hY+OEN4rFosA4RcDkR8gtcMftnnl9JjZ+A7MZkk5k5p4hCtkEIQgKRvjsSkcRSqVWB7Hd0yP3CYHhf2VR2bUOGxOIpsA78mAQGhoINyLhvCR4yFrG2NnCtScw2OYPIhZvvBgmMoGrUBFeW2b+ppIyI1ZwCG2gwFGTXG7irb27Yc4tbxtJbkGtyac+8STFhA8VUa9Yk8IsPy5VgwG7z61UiSRm4zqbSfOfHhPkx29s0Ua7mNyEepAkTHtoo/lRk/AN4ZDhYe/RMAL6KU7Ftw42EW0MjnN7JjW4QZa3wMmPdEFe0mwQntBgLze99PX5D1XGEqtc24v8Al/zmpLY2C7Ss0Aa/9n0+SjK6i8JurpuzhjwujNpFvIXV5wpD6REZggqlbvvjEloMl3GCOgDYMaXj3V12PTDgdLrzMvb0MUMzda80yP8AafoUP2XVb+pjvK/yVqZhiE6aCl5L0oFfiyDST4KR2Ru1UfBqy1vLU+StoC64uqWzJmgGtDWiABACicdSjiJ5ewU2GqK2qOIim3Nx9hr4THulJu6TbqKFvBscOw7qhFzJ0gAG5/5Kl1divc2ALDTx+f8AC2Pb2xOOhwCYAi2cRHmqlQf2P9uo2OVjAJ5GPYrow5LPTG4S+2aY/BOZIc0iLTz81xhH29lrRo06rCyGOmY7zD7TZNKm5FACKlKDcktmL5Wny8l1cfJc+rHLyYTDuVnjeYm4jPNOcBiOB7Tr+SFoLNgUHU+FzGSP8vdOXS491D4vcAzNJ5H+l7ef+puXm1a+KJnE7sThewFs8zynQePh05qxbMbOIp6908R6gWnyKqOy6OJww4X03PZzaOKwzMtJMeIV13TxlKqC5jgSLEcjJH0zXRj6c2W9/wALGke2SyT7IJlSiEExmkP6kOy9UjdVsSGzqY/SMysi+IW2O0NMOZdpIzvEt1GkA+vRapXZDepy8Ss5323eNSs43BIlhgwS2JHnf1UW7aY9KXR2/WY2pwuAkibSbCM/X1KrtfEuqvLnEknX86KwYnDtDQbh+T2mB5jK6jcPQa5xETMDOPNZ7XowqNmR1m/QRouQYETPippuyOGpBNh+6LDxVj3a3ZZVaXPAI4iB1AgZ+qzy5Ji1x4rkpuAw1o1dEE9TZWnZuxKbe9UeRY8PCYJI97j5FWmturSBYWsaLwLDkTPsnzN3mNHda0EZGIuOvI5ea5s+bbow4tG+6GxQxjqsQXkxNzAOpKtW7bLuBSGEeC0cNhlHKMwn+zqfBVPIhc9u66ddHtVpC4q1iICUrVwG6W9kxpvJMnJQZ7FkmXwkqtaASTATN9Qu5tHPU/b5+CrSTyrtDRtz7Dx+yj6NXvOdck2nw+Q6L2ozhaABmYA6lPsPhAAFU6iLO+yTa5OiRr4aRdsz9c1KMAGi7fVEWF9E8cdlllIqlfYbaj5NMW6DytqnGBwRDeFxJgnQznbI6D8spxzQBkT9ShlK3/cr0sMPGaebycnldmQwLYyE+c+q6/8AThqB45n00ThvgipiDBg9IjqtGWzahQ4TOaH4NriSO646t7p6SRn5pwWGP40XAd0JTSeYWsQA1xmP3c/FOO3bzCYB2q94+nsq2Bi8TxGBkDfqQu6OR1j5qP2ZBDvT5SnGz63E35qLVyHVZ36Oc+2v0Se0tkMrAB82MiDBB5yh577Rybf1/hOp7wyyspUoe8250tJDuIc3NBcM8iNPVVbA7nu4wC0wLuIIjPQ6StmxNIFtwDPPko6rRaKdhHTpLUK8lDq7BcHljYDIbJgTYZcp6qbwmDbTaGtEABOsZY+nyH1TOq8ledye67uP1HeIr96kP9RPo0/dLNqcRsot89o0cg4/8R9U/pmyys6jfG+zyl3DxZj9w+vj9PBPmVrgi/VRraqYYra3YOYAC7tHhoYASQ48o01I0mfGscLndQZZ44zdWN7pMlDngfl/RN+0PKPOT66eQnqvWvU6kVu0vmZ/Aui0JLteSTr4mB1yHj+X8ke6OpHtI8VSdG2Hicz9FINfCj2d0ABKNcqRro/4rclxTi97kWy/JSbXT4cuf8Ie+eQ/n6rt4ePXdefz8v7Y7bUk38uiH9ITZ55Lum8c11OTZRrpMC0ZwuKrbtHXn0K7dEnVcuNx5n5JHC72xlkuHNgCY9EmaupXNStqkp0DHn9VzP5IXBkQSR6LyXf5QmWiWxSCH3jvn5WXmzHxUqt5EEeBuhCSj6g49q/wHySzqkvjQAA+iEIBTEVwB9LA/dRuLqf24i/n/mahCadoysJ9Fw6hZCF5vL+VelxfjDfsJqCf8rv+VNO6VBCFnl6n9+22PulOyCi6Ris0mS9hdws74znvOP6S24M52galCFfFyXDdieXhx5ZJklXPPjC4816hZtXbGrlrZf0b8/z6oQrxntnle5D0ZIzMDJCFrw4y5dsefO449FHkaZrrPT7+pQheg8snUZreR6pOnOvz+yEJkXvz/n7ribjWx+iEJLjxzSPVeh9vyyEKVOXPtfLQapDtnch6lCE/SLX/2Q==">
            <a:extLst>
              <a:ext uri="{FF2B5EF4-FFF2-40B4-BE49-F238E27FC236}">
                <a16:creationId xmlns:a16="http://schemas.microsoft.com/office/drawing/2014/main" id="{469A6819-65D7-465E-86F1-62E73CAB751E}"/>
              </a:ext>
            </a:extLst>
          </p:cNvPr>
          <p:cNvSpPr>
            <a:spLocks noChangeAspect="1" noChangeArrowheads="1"/>
          </p:cNvSpPr>
          <p:nvPr/>
        </p:nvSpPr>
        <p:spPr bwMode="auto">
          <a:xfrm>
            <a:off x="6065227" y="130420"/>
            <a:ext cx="281354" cy="281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SzTx/>
              <a:buFontTx/>
              <a:buNone/>
            </a:pPr>
            <a:endParaRPr lang="zh-CN" altLang="en-US" sz="1662">
              <a:cs typeface="Arial" panose="020B0604020202020204" pitchFamily="34" charset="0"/>
            </a:endParaRPr>
          </a:p>
        </p:txBody>
      </p:sp>
      <p:sp>
        <p:nvSpPr>
          <p:cNvPr id="19461" name="AutoShape 4" descr="data:image/jpeg;base64,/9j/4AAQSkZJRgABAQAAAQABAAD/2wCEAAkGBhQSERQUExQUFBUWFxgYFxUYFhQXFxgYFxcXGhoXGhcXHCYgGBojGRgYHy8gJCcpLCwsFx4xNTAqNSYrLCkBCQoKDgwOGg8PGikkHCQsLCksLCkpLCwpLCksKSwpLCksLCkpLCwsLCwpLCksLCwsKSksLCwpLCwsLCksLCwpLP/AABEIAOgA2QMBIgACEQEDEQH/xAAcAAABBQEBAQAAAAAAAAAAAAAAAwQFBgcCAQj/xAA9EAABAwIDBQYFAwIGAQUAAAABAAIRAyEEMUEFBhJRYRMicYGRoQexwdHwMkLhFCMzUmJysvFDFRaCkqL/xAAZAQADAQEBAAAAAAAAAAAAAAAAAQIDBAX/xAAlEQEBAAICAgIBBAMAAAAAAAAAAQIRAyESMSJBMgRCYfATUXH/2gAMAwEAAhEDEQA/ANNQhC0ZBCEIAQhCAEIQgBCEIAQhCAEIQgBCEIAQhCAEIQgBCEIAQhCAEIQgBCEIAQhCAEIQgBCEIAQhCAEISeIxTKbS57mtaBJJIAA8SgFFH4/eDD0P8Sqxp5TdZpvx8Wr9nhDa81NT4DkqC6tVrHjqEib3JJ98lNyVMW41viVgW/8AlmOQKZu+LWC/aXnyj5rEqzWjMEjxP0TV+LaDZojyS8qfjG5U/i9hCYIeOsD6KawW/WDqkBtZsnnZfNzhJtA8kpTBBGnMT7hHkPF9U08Q136XA+BBXa+YcPtfEUzLKrxGRDrq87r/ABPr03tbiHdqw6n9Q6z91Wy02VCb4DaDKzA+mQ5pThNIQhCAEIQgBCEIAQhCAEIQgBCEIAQhCAFF7w7w08HSNSof9rZzP2T/ABWKbTY57zDWiSV88b972uxtdxk9mDDG6ROZSt0cm1nxnxmrguhjI06BUvbm91fFOJfUdwn9s29PMqGeUmPBZ+2k6PMDh5upCrWDB9DmesJLBVWgSc8vufoEnisW0GGj2knqZSMyxFYuP0n+UlTZKXqAu1nyyR/TkXiyZBrNPzonDW90nUJf+kyP4eScBrek5O+iWxpFuN0pSeQu34eJHLJDWzCYXLcX4gjBu4Ksmm43OcHKQNQtf2NvLh8U2aNRrumR9CvmmpTvF/b6Bd4TaFSg4OpuLCDmDHyTl0Vkr6mQs13I+LDa3DSxUNfkKn7T/u5HqtKBnJaS7RZoIQhBBCEIAQhCAEIQgBCEIAQhM9q7UZh6TqjzAA9UBUPi3tfssM1k/rNxzA08J+XVYW8g8/P7qw78b3PxtYuya2zRyCq5eRqVl7u2vqaKcPKUm5LMxA/c2euvsve4bgO9kB3TbDAeeXhzSdKZtf6pd9yBy0+QTimIi0qbVSOMFTIdI9PslK1QzMDq3mNU9o4UkQAemseR06JQ7Mef2/nNR5xfhTBtaw4f+ui5qNLrjPXzU9s3c99UmAfDn6qXwG41RrgXNtIBtzyS/wAkHhVSw9IkGRofokjQyVix+B4arwAQA4gCOv8ACb1MIQJLDby850VTOF4IinhsyfJRtdjSTmfBT9TAAiXCeXIeH3lRmIw8G3tkqlTZowaIvcfNad8PviM6k3ssQS9gjhP7gOnMdM72Wamn4L2nIP5Ce9F/19S4TFtqsD2EOa4SCEqs0+D23uJlSg7MHiEnnn8lpa1l3GWU1QhCEyCEIQAhC9QHiEIQHNSoGgkmALkrF9/N6HYqo5jD/baSByt81oO/W12MoOaXAG3dmCSdLXWP7TxjeFrWtjha8E6klxMn0AWef+mvHPtCVMPHl5yefyCaVKRUjTdmfIfVR+I4uvRRFUmGfmX8leVGgcl4XHIrg3VJO8O/Uqz7A2P2zpdlaAqlRqXhaZufSimCufmuo34ZurBgd3WgCw9FO4bYlMZtb6Lig/LwUphyCF59rukL4TBMbk0DwTx9AQkqULswqlFxRFXYFLj4i2/3hJY/YFF7Y4Aph9O9klVppW0TGMw3h3WNOSw25TZUXGsIPeB8bFbptCgHAghZDvngOxqS2YMro4eS26c/LhJNqtUI/wA8eRRSdOsoqOBTbIruca7/AA42y3D4xpeYDrE+K3ylVDgHNIIORC+W8I4mAM1r3ws3w42/0tU95t2E6jl4q8b9Jyn20hCEK2YQhCAEICEAJDGYngbOps0dftqfBKV6wa0uOQVW2/vBwU3H9xaeGxtMx5mMvFBybUveKqKjnvdLjxlrWmQCWmCYFzJBz0gaFU3blQccNyAiYDZjOIGUqwYrEMayC4WzvxEmZMnl0GZPIKrV3h5nWCSfsOixyro1qOKTLeYHtP1TTaRgC2c/OFJV+7I1afUtifqmmLodpEaSZ6G6mDW+kTPXyRxLrFUCx0FcUmSQOatGj/Y2ANR4gLVdlYXgY1vgo7dTYQp02vcO8R7KcNThAIEkmAFwcufnXZx4+MWDC0JAUphacaKo9ninAFr2jpFvDqvP/dOKw3+JSDxzmbc5CynHv7b+el/pMAXOIMBV7Zm/NOsLtLHZcxfwy00UzWqSB4hLKePSsb5dlplIudZch/Pqo7aG26VIw9wBjK6iTZ3p7iKmYWYb/EF4b4q4YvfCgDmT0AWfb8Y0PxA4TILZ9bLfiwsy7c/LnLiprzdeNF1yTdL0GzPgvQcB5s+rwVGE5BwJ8NVMcfZcNSmSHseYcOhJn5HzUI42HT6pfD1DwkT3bkjyifdCn0Luht3+qwzKh/VEO8RYqbWe/CGtNGo3kRfxB+y0Jbb2xymqF7C8XvbBBPE12ltAUWcRBcSYa0ZuJTpQO8lYt72QawkG1ufrb0RTntQd9d6qvEWVKwpgftpg2tlI/UdOXXOKUdpNqOsazjOrgZ8BBPJWTdrD0q3a4ivwPqPP9tr7hsl14NrRysB1VkfsyhQHEREAA2ggwYGUDPUc/FZe229M6xVJ7mgAPJiwIIt/8gLfdRYBBINjl53H1Vj2/tc8ZawBkWgCHEgC5J1n0gKs1jDzn1n88/NRpVpxiTJJ8/e/uEbHpF9ZlMfucB5H8BSDqoiRr9bp9uxbFUicmvBPgNfdTl+NPH8o83q2ZwVIsYtbkkt2dkmpVHIG6v20d1u1xLzxC7S4DnFiFHbMoik+BoSPNYY8vx06eTinnta2UoaABbLyRXwjwAQOK2hA+aV2a+YlTlOjIXHlW2OKi18biHPAfUNCnzaL+bot7JntfC1mOPZ1qr2y3hcXucCIPFlmQQLSPdX6vsgi4aHDwj5plW2Cw37EA65D2WuPJJNaFwtvtXtjYaoO84SQAdJ6zGf3zWhbOPG0FRNHC8FODAGgA/LKW2KJYVHur3oy2njOAdTkFQ9r4J7y6pwOcBmeLmQMgD01norxtKnNQgibRGSi8Uyp2bqbOHgNixw9w4XB9Qqw6vZZfKKnsTbWHY8B1EC8cc8UGYuHCwm1pUJv/THbtc0fqEe4Vkdu+4u4S1okgzxT1Ng1ozvN0w372Vw0mEftm/54LfHKecc3JPgzTVPcEJJ/PP6eaZjn6KR2ZTzPJdlccd9nMgfg/gBeYcfqH5C8kyY1/hdUGS4xmfuEjjWfhLjWgVWWBL7DpHVaWvnbYW0X0azS0GSRAvcwRppdbhu9tIupNFQ96NRBMdFrjdxGc72mUnwdEohUzCg97ABRLnGBBB9FOKtb81SaPZtaxxfaX/pFs8jl+ZhFPH2yfZWMoUBUbWBfwuIYBrkbC1yNTZMtqbWe50sDqbCZDC4v9zEmIyaAm1LBPa5r+Z/tum3dJHW9jou6lVxPFUEn/W2/qLn00WDpJUHOIPdzzJH2uozFO7+nkpXaGLa1oDQYAtIu4xmen3UX/Rvc6XWAzJtPRKFSdMQFI7ErtbVg5RB8/smNUQTlAga+S5oCHE+YPNLKbh4XVbTgKHaYenUJiszvB2UgWLSORAuqo1mvifdTO7W9tA4QF72sLSeIE8wXSOYs4+RUfTx9KvxVKX6HOPzuuCSy3btyssmkxsarICt+AbKo2x38Jjqrpsysss/bXD0sFDDCM15i8IwDmuaVcRKbV8RIMaKplNej8bve0LtJ11I7IkMuol9LjEnUz4Dkp7A0TwW0VYq0isSP7spy7Z86T8wucX+seMFSFGyjIa0jzsprbqj/ABEhtAf7vbhctExQWQfFnaMup0QebiPYfVVwzecYc91izbVPqOg/Pz7JvUiRHL6pw0c8l6lebDqrAa2M/p+fVGzrvTR+IkiMvsvadbhB8UqqXtp+wsTADoa4DMgta6Ig91xANhmDeIhTmN2kwsdwn9ImCC11omNCY5Ss42btelwBpaZgTf5D3UpW2rTFNwZYkZQbmLHvE5Am4IzyVb6Tcd1rO7e0XVGEOPFGToiYMfY+amVTvhy5zqT3nImBOcc/BXFay7jLKaugqlvhWPaNZFix0EAm54J8wAramOP2bTrHhqXtYZEdQdD16ooxuqyfDbWwwwLaLh/dFi0iLhz7z4x5jKZVdrYkTYSBMHhifXz5J/vlgRRxdW3d4jEWIJ1PV2agsXtEOs4ERaLfVc+W/Tqmih4SZzPPOIyA06cklUIzcTb8gJg/Exr6JrUrF5geCWk3J0+oajjFhy+S9wpIjkhggwl6ZEzPmqpRI7JxQY4y2Q4cJByuQfcAhPd2sRwl1NuhnPIHl6JrsKiKlTgJuWvg53DHFv8A+gB5pPC1hTxAdlxWPr8wQFllNyxpOtVftnMuSFbNmnuAqrbAIcCOY+is+x6kscw5gELzeR6HGfYSuX5mG8tU9a8RHOyh3Me0f2wCIyLiPoU3bt0s/wASnUZ1gFv/ANmkiEsWvsjtDZGJbHY1GkDpDvOZB9krsrbbmNIqWcLEeHTRSeF2rTdHez109ktUwdF54nBh6z+SrV2iaW03Vn91juGbui3qpxmJ4TBTas9oHdiALR/CbGtIU5XadnuOxMAnovn3fbaHbYyo4GQO606Q3+ZWz7z1HMw9Qj9QY52fJqwbGUIJ169V1/pcf3OD9Vl9E6Akga804sXRy/ITFpulKT4Oq7XG7rU4Nsvyy7ay3ulwA7qlGsuJSPThlEmTa3lefKE5ZUMtkeJ4gZ8UnR4yTwt4/CAcvmpvA4ZtdjQ1sOH6oGV8yYv4IONi3Fvh2uiA4DQDSNPBWRRu7uC7LDU2aht/HVSS3YX2Ao/blFpovJzDSQZIIMZy248lIBRO9FQjDPgEnkM7Xt1sgT2yDH4qk51Rzn1ajySGkuAAtLjN3EnKzdDFgqPjqnE5xjhvkJt0ve3W6suF2dUqOqOaHcEy/hcOLvEwJJuTA15a2EJtHZD6NZzXtIjPzuPmFi3qKalqJv8AmaWfgoMDI5HpzPquasNMDQ6GfG6Np1pycp9Vy2oZT9mFFwTfRIPwwtBmfmltVjvCVuGDnfIfchcurSTaNR0v9kg45eS7DoBPT89/klobXzdvapaWk5GyvRqRFRvmst2S6abfBWvY23f/ABvMHSdV53Jj29HjvS5NxPocl218lMNkYprxwnMKUdhbyFz+m8A2bSd+pomc9fUL2rsZgvL4OQD3fdPMPgyRZ0LvsnDOCtZnftpM7EJidksIF33/ANb7eYKXwOHDLEmBcyZy0nxT17OkKB2htWnRpvq1XQxt458vEnQKbbkyyy+6T3hxIqUMWJAP9LUIBzjjpyRy18gVj+1qIgRl+XTnb28b8RWc5wAaQ3hFjDRLonmZvHJI1KnFTHMT7x/2vS48PGSPMzy8rag6zYKGP813iW5eCSaFuwS2EHdnuoBabEEFM8NiINzHVPHPLtZH5mpVClCuaZMAGek+atXw6c12MDXCzgbaWuJ6ZqsDDvey0zf/AL9Pkp3dAVaNQOElxyb0kGZ0GvkOaMfam+tbAAXqgtiOrvg1HiIyAHzzU6t3MFH7bpONPu2IIvEkDUxrAUgghAZk/Y1MvHYg0yCTBDhcm3CSM7DWDab3VF3o2gXYp/DBhwnUd0hs20sCr3vztvsKhp0XAVXCCSR3OK/EeVjn0HNZrRwpNRzGNdWcbDhk2GZt8zlmemWTohntGh2ZA4uIwPCIGXSflOqaYnDlsH/MJHqbfL1VmxuwSxhdUHf4XOgEkCHNEN5mSZPT1jNsUQ6q1ojhaM+UySOsXSFRba5bp+cig1pMix9kpXqFpIaZb1iPU6ppx3tbojST6lSlms/UpJ7rQRPTJGFqEkDyXtSlcjqkaf2GHdmDFtCZ+10+qNLXAqW3PwzTSDXCRlHL+bp9tzdh1NvG3vM56jx6dVwZZfKu/GfGG+xcY4PDmycpHRXrD7SDhMqhbNEZKwUjDevNY5R0YXpa8PjxoY6JZ2JB1VSGII1XJx7yLFJVyS229shjYBudOnNZPvviX1eCSeBrstASMz10nqtBwew31pcTAm7jcnoEbT3fpmk+mGiCM8z4z4q8MphltjyY3OaYvimmQeg9v4KVpkhpGXP88082ps51F3CRa8HzLSPKPkkgwlh0aMzYX5fnNelLuPOs1UaRIjzXdPCmJ/PzNKMcGkyJzTvDGW/b5DzT2mRGFicUG2vMc4KdNwt3DlE+ZUrhaUNgCZHle1/BK5KmJPZjqgBgmALwR9ir1uXsTuAi5dEuzFtI/dHPKeeRabA2SwgRwhwAiWggmM4NnCc4ylX3d/hY+OEN4rFosA4RcDkR8gtcMftnnl9JjZ+A7MZkk5k5p4hCtkEIQgKRvjsSkcRSqVWB7Hd0yP3CYHhf2VR2bUOGxOIpsA78mAQGhoINyLhvCR4yFrG2NnCtScw2OYPIhZvvBgmMoGrUBFeW2b+ppIyI1ZwCG2gwFGTXG7irb27Yc4tbxtJbkGtyac+8STFhA8VUa9Yk8IsPy5VgwG7z61UiSRm4zqbSfOfHhPkx29s0Ua7mNyEepAkTHtoo/lRk/AN4ZDhYe/RMAL6KU7Ftw42EW0MjnN7JjW4QZa3wMmPdEFe0mwQntBgLze99PX5D1XGEqtc24v8Al/zmpLY2C7Ss0Aa/9n0+SjK6i8JurpuzhjwujNpFvIXV5wpD6REZggqlbvvjEloMl3GCOgDYMaXj3V12PTDgdLrzMvb0MUMzda80yP8AafoUP2XVb+pjvK/yVqZhiE6aCl5L0oFfiyDST4KR2Ru1UfBqy1vLU+StoC64uqWzJmgGtDWiABACicdSjiJ5ewU2GqK2qOIim3Nx9hr4THulJu6TbqKFvBscOw7qhFzJ0gAG5/5Kl1divc2ALDTx+f8AC2Pb2xOOhwCYAi2cRHmqlQf2P9uo2OVjAJ5GPYrow5LPTG4S+2aY/BOZIc0iLTz81xhH29lrRo06rCyGOmY7zD7TZNKm5FACKlKDcktmL5Wny8l1cfJc+rHLyYTDuVnjeYm4jPNOcBiOB7Tr+SFoLNgUHU+FzGSP8vdOXS491D4vcAzNJ5H+l7ef+puXm1a+KJnE7sThewFs8zynQePh05qxbMbOIp6908R6gWnyKqOy6OJww4X03PZzaOKwzMtJMeIV13TxlKqC5jgSLEcjJH0zXRj6c2W9/wALGke2SyT7IJlSiEExmkP6kOy9UjdVsSGzqY/SMysi+IW2O0NMOZdpIzvEt1GkA+vRapXZDepy8Ss5323eNSs43BIlhgwS2JHnf1UW7aY9KXR2/WY2pwuAkibSbCM/X1KrtfEuqvLnEknX86KwYnDtDQbh+T2mB5jK6jcPQa5xETMDOPNZ7XowqNmR1m/QRouQYETPippuyOGpBNh+6LDxVj3a3ZZVaXPAI4iB1AgZ+qzy5Ji1x4rkpuAw1o1dEE9TZWnZuxKbe9UeRY8PCYJI97j5FWmturSBYWsaLwLDkTPsnzN3mNHda0EZGIuOvI5ea5s+bbow4tG+6GxQxjqsQXkxNzAOpKtW7bLuBSGEeC0cNhlHKMwn+zqfBVPIhc9u66ddHtVpC4q1iICUrVwG6W9kxpvJMnJQZ7FkmXwkqtaASTATN9Qu5tHPU/b5+CrSTyrtDRtz7Dx+yj6NXvOdck2nw+Q6L2ozhaABmYA6lPsPhAAFU6iLO+yTa5OiRr4aRdsz9c1KMAGi7fVEWF9E8cdlllIqlfYbaj5NMW6DytqnGBwRDeFxJgnQznbI6D8spxzQBkT9ShlK3/cr0sMPGaebycnldmQwLYyE+c+q6/8AThqB45n00ThvgipiDBg9IjqtGWzahQ4TOaH4NriSO646t7p6SRn5pwWGP40XAd0JTSeYWsQA1xmP3c/FOO3bzCYB2q94+nsq2Bi8TxGBkDfqQu6OR1j5qP2ZBDvT5SnGz63E35qLVyHVZ36Oc+2v0Se0tkMrAB82MiDBB5yh577Rybf1/hOp7wyyspUoe8250tJDuIc3NBcM8iNPVVbA7nu4wC0wLuIIjPQ6StmxNIFtwDPPko6rRaKdhHTpLUK8lDq7BcHljYDIbJgTYZcp6qbwmDbTaGtEABOsZY+nyH1TOq8ledye67uP1HeIr96kP9RPo0/dLNqcRsot89o0cg4/8R9U/pmyys6jfG+zyl3DxZj9w+vj9PBPmVrgi/VRraqYYra3YOYAC7tHhoYASQ48o01I0mfGscLndQZZ44zdWN7pMlDngfl/RN+0PKPOT66eQnqvWvU6kVu0vmZ/Aui0JLteSTr4mB1yHj+X8ke6OpHtI8VSdG2Hicz9FINfCj2d0ABKNcqRro/4rclxTi97kWy/JSbXT4cuf8Ie+eQ/n6rt4ePXdefz8v7Y7bUk38uiH9ITZ55Lum8c11OTZRrpMC0ZwuKrbtHXn0K7dEnVcuNx5n5JHC72xlkuHNgCY9EmaupXNStqkp0DHn9VzP5IXBkQSR6LyXf5QmWiWxSCH3jvn5WXmzHxUqt5EEeBuhCSj6g49q/wHySzqkvjQAA+iEIBTEVwB9LA/dRuLqf24i/n/mahCadoysJ9Fw6hZCF5vL+VelxfjDfsJqCf8rv+VNO6VBCFnl6n9+22PulOyCi6Ris0mS9hdws74znvOP6S24M52galCFfFyXDdieXhx5ZJklXPPjC4816hZtXbGrlrZf0b8/z6oQrxntnle5D0ZIzMDJCFrw4y5dsefO449FHkaZrrPT7+pQheg8snUZreR6pOnOvz+yEJkXvz/n7ribjWx+iEJLjxzSPVeh9vyyEKVOXPtfLQapDtnch6lCE/SLX/2Q==">
            <a:extLst>
              <a:ext uri="{FF2B5EF4-FFF2-40B4-BE49-F238E27FC236}">
                <a16:creationId xmlns:a16="http://schemas.microsoft.com/office/drawing/2014/main" id="{54A20E9F-7840-4730-A707-5A8FAE1F97BE}"/>
              </a:ext>
            </a:extLst>
          </p:cNvPr>
          <p:cNvSpPr>
            <a:spLocks noChangeAspect="1" noChangeArrowheads="1"/>
          </p:cNvSpPr>
          <p:nvPr/>
        </p:nvSpPr>
        <p:spPr bwMode="auto">
          <a:xfrm>
            <a:off x="6065227" y="130420"/>
            <a:ext cx="281354" cy="281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SzTx/>
              <a:buFontTx/>
              <a:buNone/>
            </a:pPr>
            <a:endParaRPr lang="zh-CN" altLang="en-US" sz="1662">
              <a:cs typeface="Arial" panose="020B0604020202020204" pitchFamily="34" charset="0"/>
            </a:endParaRPr>
          </a:p>
        </p:txBody>
      </p:sp>
      <p:sp>
        <p:nvSpPr>
          <p:cNvPr id="19462" name="AutoShape 6" descr="data:image/jpeg;base64,/9j/4AAQSkZJRgABAQAAAQABAAD/2wCEAAkGBhQSERQUExQUFBUWFxgYFxUYFhQXFxgYFxcXGhoXGhcXHCYgGBojGRgYHy8gJCcpLCwsFx4xNTAqNSYrLCkBCQoKDgwOGg8PGikkHCQsLCksLCkpLCwpLCksKSwpLCksLCkpLCwsLCwpLCksLCwsKSksLCwpLCwsLCksLCwpLP/AABEIAOgA2QMBIgACEQEDEQH/xAAcAAABBQEBAQAAAAAAAAAAAAAAAwQFBgcCAQj/xAA9EAABAwIDBQYFAwIGAQUAAAABAAIRAyEEMUEFBhJRYRMicYGRoQexwdHwMkLhFCMzUmJysvFDFRaCkqL/xAAZAQADAQEBAAAAAAAAAAAAAAAAAQIDBAX/xAAlEQEBAAICAgIBBAMAAAAAAAAAAQIRAyESMSJBMgRCYfATUXH/2gAMAwEAAhEDEQA/ANNQhC0ZBCEIAQhCAEIQgBCEIAQhCAEIQgBCEIAQhCAEIQgBCEIAQhCAEIQgBCEIAQhCAEIQgBCEIAQhCAEISeIxTKbS57mtaBJJIAA8SgFFH4/eDD0P8Sqxp5TdZpvx8Wr9nhDa81NT4DkqC6tVrHjqEib3JJ98lNyVMW41viVgW/8AlmOQKZu+LWC/aXnyj5rEqzWjMEjxP0TV+LaDZojyS8qfjG5U/i9hCYIeOsD6KawW/WDqkBtZsnnZfNzhJtA8kpTBBGnMT7hHkPF9U08Q136XA+BBXa+YcPtfEUzLKrxGRDrq87r/ABPr03tbiHdqw6n9Q6z91Wy02VCb4DaDKzA+mQ5pThNIQhCAEIQgBCEIAQhCAEIQgBCEIAQhCAFF7w7w08HSNSof9rZzP2T/ABWKbTY57zDWiSV88b972uxtdxk9mDDG6ROZSt0cm1nxnxmrguhjI06BUvbm91fFOJfUdwn9s29PMqGeUmPBZ+2k6PMDh5upCrWDB9DmesJLBVWgSc8vufoEnisW0GGj2knqZSMyxFYuP0n+UlTZKXqAu1nyyR/TkXiyZBrNPzonDW90nUJf+kyP4eScBrek5O+iWxpFuN0pSeQu34eJHLJDWzCYXLcX4gjBu4Ksmm43OcHKQNQtf2NvLh8U2aNRrumR9CvmmpTvF/b6Bd4TaFSg4OpuLCDmDHyTl0Vkr6mQs13I+LDa3DSxUNfkKn7T/u5HqtKBnJaS7RZoIQhBBCEIAQhCAEIQgBCEIAQhM9q7UZh6TqjzAA9UBUPi3tfssM1k/rNxzA08J+XVYW8g8/P7qw78b3PxtYuya2zRyCq5eRqVl7u2vqaKcPKUm5LMxA/c2euvsve4bgO9kB3TbDAeeXhzSdKZtf6pd9yBy0+QTimIi0qbVSOMFTIdI9PslK1QzMDq3mNU9o4UkQAemseR06JQ7Mef2/nNR5xfhTBtaw4f+ui5qNLrjPXzU9s3c99UmAfDn6qXwG41RrgXNtIBtzyS/wAkHhVSw9IkGRofokjQyVix+B4arwAQA4gCOv8ACb1MIQJLDby850VTOF4IinhsyfJRtdjSTmfBT9TAAiXCeXIeH3lRmIw8G3tkqlTZowaIvcfNad8PviM6k3ssQS9gjhP7gOnMdM72Wamn4L2nIP5Ce9F/19S4TFtqsD2EOa4SCEqs0+D23uJlSg7MHiEnnn8lpa1l3GWU1QhCEyCEIQAhC9QHiEIQHNSoGgkmALkrF9/N6HYqo5jD/baSByt81oO/W12MoOaXAG3dmCSdLXWP7TxjeFrWtjha8E6klxMn0AWef+mvHPtCVMPHl5yefyCaVKRUjTdmfIfVR+I4uvRRFUmGfmX8leVGgcl4XHIrg3VJO8O/Uqz7A2P2zpdlaAqlRqXhaZufSimCufmuo34ZurBgd3WgCw9FO4bYlMZtb6Lig/LwUphyCF59rukL4TBMbk0DwTx9AQkqULswqlFxRFXYFLj4i2/3hJY/YFF7Y4Aph9O9klVppW0TGMw3h3WNOSw25TZUXGsIPeB8bFbptCgHAghZDvngOxqS2YMro4eS26c/LhJNqtUI/wA8eRRSdOsoqOBTbIruca7/AA42y3D4xpeYDrE+K3ylVDgHNIIORC+W8I4mAM1r3ws3w42/0tU95t2E6jl4q8b9Jyn20hCEK2YQhCAEICEAJDGYngbOps0dftqfBKV6wa0uOQVW2/vBwU3H9xaeGxtMx5mMvFBybUveKqKjnvdLjxlrWmQCWmCYFzJBz0gaFU3blQccNyAiYDZjOIGUqwYrEMayC4WzvxEmZMnl0GZPIKrV3h5nWCSfsOixyro1qOKTLeYHtP1TTaRgC2c/OFJV+7I1afUtifqmmLodpEaSZ6G6mDW+kTPXyRxLrFUCx0FcUmSQOatGj/Y2ANR4gLVdlYXgY1vgo7dTYQp02vcO8R7KcNThAIEkmAFwcufnXZx4+MWDC0JAUphacaKo9ninAFr2jpFvDqvP/dOKw3+JSDxzmbc5CynHv7b+el/pMAXOIMBV7Zm/NOsLtLHZcxfwy00UzWqSB4hLKePSsb5dlplIudZch/Pqo7aG26VIw9wBjK6iTZ3p7iKmYWYb/EF4b4q4YvfCgDmT0AWfb8Y0PxA4TILZ9bLfiwsy7c/LnLiprzdeNF1yTdL0GzPgvQcB5s+rwVGE5BwJ8NVMcfZcNSmSHseYcOhJn5HzUI42HT6pfD1DwkT3bkjyifdCn0Luht3+qwzKh/VEO8RYqbWe/CGtNGo3kRfxB+y0Jbb2xymqF7C8XvbBBPE12ltAUWcRBcSYa0ZuJTpQO8lYt72QawkG1ufrb0RTntQd9d6qvEWVKwpgftpg2tlI/UdOXXOKUdpNqOsazjOrgZ8BBPJWTdrD0q3a4ivwPqPP9tr7hsl14NrRysB1VkfsyhQHEREAA2ggwYGUDPUc/FZe229M6xVJ7mgAPJiwIIt/8gLfdRYBBINjl53H1Vj2/tc8ZawBkWgCHEgC5J1n0gKs1jDzn1n88/NRpVpxiTJJ8/e/uEbHpF9ZlMfucB5H8BSDqoiRr9bp9uxbFUicmvBPgNfdTl+NPH8o83q2ZwVIsYtbkkt2dkmpVHIG6v20d1u1xLzxC7S4DnFiFHbMoik+BoSPNYY8vx06eTinnta2UoaABbLyRXwjwAQOK2hA+aV2a+YlTlOjIXHlW2OKi18biHPAfUNCnzaL+bot7JntfC1mOPZ1qr2y3hcXucCIPFlmQQLSPdX6vsgi4aHDwj5plW2Cw37EA65D2WuPJJNaFwtvtXtjYaoO84SQAdJ6zGf3zWhbOPG0FRNHC8FODAGgA/LKW2KJYVHur3oy2njOAdTkFQ9r4J7y6pwOcBmeLmQMgD01norxtKnNQgibRGSi8Uyp2bqbOHgNixw9w4XB9Qqw6vZZfKKnsTbWHY8B1EC8cc8UGYuHCwm1pUJv/THbtc0fqEe4Vkdu+4u4S1okgzxT1Ng1ozvN0w372Vw0mEftm/54LfHKecc3JPgzTVPcEJJ/PP6eaZjn6KR2ZTzPJdlccd9nMgfg/gBeYcfqH5C8kyY1/hdUGS4xmfuEjjWfhLjWgVWWBL7DpHVaWvnbYW0X0azS0GSRAvcwRppdbhu9tIupNFQ96NRBMdFrjdxGc72mUnwdEohUzCg97ABRLnGBBB9FOKtb81SaPZtaxxfaX/pFs8jl+ZhFPH2yfZWMoUBUbWBfwuIYBrkbC1yNTZMtqbWe50sDqbCZDC4v9zEmIyaAm1LBPa5r+Z/tum3dJHW9jou6lVxPFUEn/W2/qLn00WDpJUHOIPdzzJH2uozFO7+nkpXaGLa1oDQYAtIu4xmen3UX/Rvc6XWAzJtPRKFSdMQFI7ErtbVg5RB8/smNUQTlAga+S5oCHE+YPNLKbh4XVbTgKHaYenUJiszvB2UgWLSORAuqo1mvifdTO7W9tA4QF72sLSeIE8wXSOYs4+RUfTx9KvxVKX6HOPzuuCSy3btyssmkxsarICt+AbKo2x38Jjqrpsysss/bXD0sFDDCM15i8IwDmuaVcRKbV8RIMaKplNej8bve0LtJ11I7IkMuol9LjEnUz4Dkp7A0TwW0VYq0isSP7spy7Z86T8wucX+seMFSFGyjIa0jzsprbqj/ABEhtAf7vbhctExQWQfFnaMup0QebiPYfVVwzecYc91izbVPqOg/Pz7JvUiRHL6pw0c8l6lebDqrAa2M/p+fVGzrvTR+IkiMvsvadbhB8UqqXtp+wsTADoa4DMgta6Ig91xANhmDeIhTmN2kwsdwn9ImCC11omNCY5Ss42btelwBpaZgTf5D3UpW2rTFNwZYkZQbmLHvE5Am4IzyVb6Tcd1rO7e0XVGEOPFGToiYMfY+amVTvhy5zqT3nImBOcc/BXFay7jLKaugqlvhWPaNZFix0EAm54J8wAramOP2bTrHhqXtYZEdQdD16ooxuqyfDbWwwwLaLh/dFi0iLhz7z4x5jKZVdrYkTYSBMHhifXz5J/vlgRRxdW3d4jEWIJ1PV2agsXtEOs4ERaLfVc+W/Tqmih4SZzPPOIyA06cklUIzcTb8gJg/Exr6JrUrF5geCWk3J0+oajjFhy+S9wpIjkhggwl6ZEzPmqpRI7JxQY4y2Q4cJByuQfcAhPd2sRwl1NuhnPIHl6JrsKiKlTgJuWvg53DHFv8A+gB5pPC1hTxAdlxWPr8wQFllNyxpOtVftnMuSFbNmnuAqrbAIcCOY+is+x6kscw5gELzeR6HGfYSuX5mG8tU9a8RHOyh3Me0f2wCIyLiPoU3bt0s/wASnUZ1gFv/ANmkiEsWvsjtDZGJbHY1GkDpDvOZB9krsrbbmNIqWcLEeHTRSeF2rTdHez109ktUwdF54nBh6z+SrV2iaW03Vn91juGbui3qpxmJ4TBTas9oHdiALR/CbGtIU5XadnuOxMAnovn3fbaHbYyo4GQO606Q3+ZWz7z1HMw9Qj9QY52fJqwbGUIJ169V1/pcf3OD9Vl9E6Akga804sXRy/ITFpulKT4Oq7XG7rU4Nsvyy7ay3ulwA7qlGsuJSPThlEmTa3lefKE5ZUMtkeJ4gZ8UnR4yTwt4/CAcvmpvA4ZtdjQ1sOH6oGV8yYv4IONi3Fvh2uiA4DQDSNPBWRRu7uC7LDU2aht/HVSS3YX2Ao/blFpovJzDSQZIIMZy248lIBRO9FQjDPgEnkM7Xt1sgT2yDH4qk51Rzn1ajySGkuAAtLjN3EnKzdDFgqPjqnE5xjhvkJt0ve3W6suF2dUqOqOaHcEy/hcOLvEwJJuTA15a2EJtHZD6NZzXtIjPzuPmFi3qKalqJv8AmaWfgoMDI5HpzPquasNMDQ6GfG6Np1pycp9Vy2oZT9mFFwTfRIPwwtBmfmltVjvCVuGDnfIfchcurSTaNR0v9kg45eS7DoBPT89/klobXzdvapaWk5GyvRqRFRvmst2S6abfBWvY23f/ABvMHSdV53Jj29HjvS5NxPocl218lMNkYprxwnMKUdhbyFz+m8A2bSd+pomc9fUL2rsZgvL4OQD3fdPMPgyRZ0LvsnDOCtZnftpM7EJidksIF33/ANb7eYKXwOHDLEmBcyZy0nxT17OkKB2htWnRpvq1XQxt458vEnQKbbkyyy+6T3hxIqUMWJAP9LUIBzjjpyRy18gVj+1qIgRl+XTnb28b8RWc5wAaQ3hFjDRLonmZvHJI1KnFTHMT7x/2vS48PGSPMzy8rag6zYKGP813iW5eCSaFuwS2EHdnuoBabEEFM8NiINzHVPHPLtZH5mpVClCuaZMAGek+atXw6c12MDXCzgbaWuJ6ZqsDDvey0zf/AL9Pkp3dAVaNQOElxyb0kGZ0GvkOaMfam+tbAAXqgtiOrvg1HiIyAHzzU6t3MFH7bpONPu2IIvEkDUxrAUgghAZk/Y1MvHYg0yCTBDhcm3CSM7DWDab3VF3o2gXYp/DBhwnUd0hs20sCr3vztvsKhp0XAVXCCSR3OK/EeVjn0HNZrRwpNRzGNdWcbDhk2GZt8zlmemWTohntGh2ZA4uIwPCIGXSflOqaYnDlsH/MJHqbfL1VmxuwSxhdUHf4XOgEkCHNEN5mSZPT1jNsUQ6q1ojhaM+UySOsXSFRba5bp+cig1pMix9kpXqFpIaZb1iPU6ppx3tbojST6lSlms/UpJ7rQRPTJGFqEkDyXtSlcjqkaf2GHdmDFtCZ+10+qNLXAqW3PwzTSDXCRlHL+bp9tzdh1NvG3vM56jx6dVwZZfKu/GfGG+xcY4PDmycpHRXrD7SDhMqhbNEZKwUjDevNY5R0YXpa8PjxoY6JZ2JB1VSGII1XJx7yLFJVyS229shjYBudOnNZPvviX1eCSeBrstASMz10nqtBwew31pcTAm7jcnoEbT3fpmk+mGiCM8z4z4q8MphltjyY3OaYvimmQeg9v4KVpkhpGXP88082ps51F3CRa8HzLSPKPkkgwlh0aMzYX5fnNelLuPOs1UaRIjzXdPCmJ/PzNKMcGkyJzTvDGW/b5DzT2mRGFicUG2vMc4KdNwt3DlE+ZUrhaUNgCZHle1/BK5KmJPZjqgBgmALwR9ir1uXsTuAi5dEuzFtI/dHPKeeRabA2SwgRwhwAiWggmM4NnCc4ylX3d/hY+OEN4rFosA4RcDkR8gtcMftnnl9JjZ+A7MZkk5k5p4hCtkEIQgKRvjsSkcRSqVWB7Hd0yP3CYHhf2VR2bUOGxOIpsA78mAQGhoINyLhvCR4yFrG2NnCtScw2OYPIhZvvBgmMoGrUBFeW2b+ppIyI1ZwCG2gwFGTXG7irb27Yc4tbxtJbkGtyac+8STFhA8VUa9Yk8IsPy5VgwG7z61UiSRm4zqbSfOfHhPkx29s0Ua7mNyEepAkTHtoo/lRk/AN4ZDhYe/RMAL6KU7Ftw42EW0MjnN7JjW4QZa3wMmPdEFe0mwQntBgLze99PX5D1XGEqtc24v8Al/zmpLY2C7Ss0Aa/9n0+SjK6i8JurpuzhjwujNpFvIXV5wpD6REZggqlbvvjEloMl3GCOgDYMaXj3V12PTDgdLrzMvb0MUMzda80yP8AafoUP2XVb+pjvK/yVqZhiE6aCl5L0oFfiyDST4KR2Ru1UfBqy1vLU+StoC64uqWzJmgGtDWiABACicdSjiJ5ewU2GqK2qOIim3Nx9hr4THulJu6TbqKFvBscOw7qhFzJ0gAG5/5Kl1divc2ALDTx+f8AC2Pb2xOOhwCYAi2cRHmqlQf2P9uo2OVjAJ5GPYrow5LPTG4S+2aY/BOZIc0iLTz81xhH29lrRo06rCyGOmY7zD7TZNKm5FACKlKDcktmL5Wny8l1cfJc+rHLyYTDuVnjeYm4jPNOcBiOB7Tr+SFoLNgUHU+FzGSP8vdOXS491D4vcAzNJ5H+l7ef+puXm1a+KJnE7sThewFs8zynQePh05qxbMbOIp6908R6gWnyKqOy6OJww4X03PZzaOKwzMtJMeIV13TxlKqC5jgSLEcjJH0zXRj6c2W9/wALGke2SyT7IJlSiEExmkP6kOy9UjdVsSGzqY/SMysi+IW2O0NMOZdpIzvEt1GkA+vRapXZDepy8Ss5323eNSs43BIlhgwS2JHnf1UW7aY9KXR2/WY2pwuAkibSbCM/X1KrtfEuqvLnEknX86KwYnDtDQbh+T2mB5jK6jcPQa5xETMDOPNZ7XowqNmR1m/QRouQYETPippuyOGpBNh+6LDxVj3a3ZZVaXPAI4iB1AgZ+qzy5Ji1x4rkpuAw1o1dEE9TZWnZuxKbe9UeRY8PCYJI97j5FWmturSBYWsaLwLDkTPsnzN3mNHda0EZGIuOvI5ea5s+bbow4tG+6GxQxjqsQXkxNzAOpKtW7bLuBSGEeC0cNhlHKMwn+zqfBVPIhc9u66ddHtVpC4q1iICUrVwG6W9kxpvJMnJQZ7FkmXwkqtaASTATN9Qu5tHPU/b5+CrSTyrtDRtz7Dx+yj6NXvOdck2nw+Q6L2ozhaABmYA6lPsPhAAFU6iLO+yTa5OiRr4aRdsz9c1KMAGi7fVEWF9E8cdlllIqlfYbaj5NMW6DytqnGBwRDeFxJgnQznbI6D8spxzQBkT9ShlK3/cr0sMPGaebycnldmQwLYyE+c+q6/8AThqB45n00ThvgipiDBg9IjqtGWzahQ4TOaH4NriSO646t7p6SRn5pwWGP40XAd0JTSeYWsQA1xmP3c/FOO3bzCYB2q94+nsq2Bi8TxGBkDfqQu6OR1j5qP2ZBDvT5SnGz63E35qLVyHVZ36Oc+2v0Se0tkMrAB82MiDBB5yh577Rybf1/hOp7wyyspUoe8250tJDuIc3NBcM8iNPVVbA7nu4wC0wLuIIjPQ6StmxNIFtwDPPko6rRaKdhHTpLUK8lDq7BcHljYDIbJgTYZcp6qbwmDbTaGtEABOsZY+nyH1TOq8ledye67uP1HeIr96kP9RPo0/dLNqcRsot89o0cg4/8R9U/pmyys6jfG+zyl3DxZj9w+vj9PBPmVrgi/VRraqYYra3YOYAC7tHhoYASQ48o01I0mfGscLndQZZ44zdWN7pMlDngfl/RN+0PKPOT66eQnqvWvU6kVu0vmZ/Aui0JLteSTr4mB1yHj+X8ke6OpHtI8VSdG2Hicz9FINfCj2d0ABKNcqRro/4rclxTi97kWy/JSbXT4cuf8Ie+eQ/n6rt4ePXdefz8v7Y7bUk38uiH9ITZ55Lum8c11OTZRrpMC0ZwuKrbtHXn0K7dEnVcuNx5n5JHC72xlkuHNgCY9EmaupXNStqkp0DHn9VzP5IXBkQSR6LyXf5QmWiWxSCH3jvn5WXmzHxUqt5EEeBuhCSj6g49q/wHySzqkvjQAA+iEIBTEVwB9LA/dRuLqf24i/n/mahCadoysJ9Fw6hZCF5vL+VelxfjDfsJqCf8rv+VNO6VBCFnl6n9+22PulOyCi6Ris0mS9hdws74znvOP6S24M52galCFfFyXDdieXhx5ZJklXPPjC4816hZtXbGrlrZf0b8/z6oQrxntnle5D0ZIzMDJCFrw4y5dsefO449FHkaZrrPT7+pQheg8snUZreR6pOnOvz+yEJkXvz/n7ribjWx+iEJLjxzSPVeh9vyyEKVOXPtfLQapDtnch6lCE/SLX/2Q==">
            <a:extLst>
              <a:ext uri="{FF2B5EF4-FFF2-40B4-BE49-F238E27FC236}">
                <a16:creationId xmlns:a16="http://schemas.microsoft.com/office/drawing/2014/main" id="{A894CAE5-35A5-4763-B58C-69AA7E4F1683}"/>
              </a:ext>
            </a:extLst>
          </p:cNvPr>
          <p:cNvSpPr>
            <a:spLocks noChangeAspect="1" noChangeArrowheads="1"/>
          </p:cNvSpPr>
          <p:nvPr/>
        </p:nvSpPr>
        <p:spPr bwMode="auto">
          <a:xfrm>
            <a:off x="6065227" y="130420"/>
            <a:ext cx="281354" cy="281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SzTx/>
              <a:buFontTx/>
              <a:buNone/>
            </a:pPr>
            <a:endParaRPr lang="zh-CN" altLang="en-US" sz="1662">
              <a:cs typeface="Arial" panose="020B0604020202020204" pitchFamily="34" charset="0"/>
            </a:endParaRPr>
          </a:p>
        </p:txBody>
      </p:sp>
      <p:sp>
        <p:nvSpPr>
          <p:cNvPr id="19463" name="AutoShape 8" descr="data:image/jpeg;base64,/9j/4AAQSkZJRgABAQAAAQABAAD/2wCEAAkGBhQSERQUExQUFBUWFxgYFxUYFhQXFxgYFxcXGhoXGhcXHCYgGBojGRgYHy8gJCcpLCwsFx4xNTAqNSYrLCkBCQoKDgwOGg8PGikkHCQsLCksLCkpLCwpLCksKSwpLCksLCkpLCwsLCwpLCksLCwsKSksLCwpLCwsLCksLCwpLP/AABEIAOgA2QMBIgACEQEDEQH/xAAcAAABBQEBAQAAAAAAAAAAAAAAAwQFBgcCAQj/xAA9EAABAwIDBQYFAwIGAQUAAAABAAIRAyEEMUEFBhJRYRMicYGRoQexwdHwMkLhFCMzUmJysvFDFRaCkqL/xAAZAQADAQEBAAAAAAAAAAAAAAAAAQIDBAX/xAAlEQEBAAICAgIBBAMAAAAAAAAAAQIRAyESMSJBMgRCYfATUXH/2gAMAwEAAhEDEQA/ANNQhC0ZBCEIAQhCAEIQgBCEIAQhCAEIQgBCEIAQhCAEIQgBCEIAQhCAEIQgBCEIAQhCAEIQgBCEIAQhCAEISeIxTKbS57mtaBJJIAA8SgFFH4/eDD0P8Sqxp5TdZpvx8Wr9nhDa81NT4DkqC6tVrHjqEib3JJ98lNyVMW41viVgW/8AlmOQKZu+LWC/aXnyj5rEqzWjMEjxP0TV+LaDZojyS8qfjG5U/i9hCYIeOsD6KawW/WDqkBtZsnnZfNzhJtA8kpTBBGnMT7hHkPF9U08Q136XA+BBXa+YcPtfEUzLKrxGRDrq87r/ABPr03tbiHdqw6n9Q6z91Wy02VCb4DaDKzA+mQ5pThNIQhCAEIQgBCEIAQhCAEIQgBCEIAQhCAFF7w7w08HSNSof9rZzP2T/ABWKbTY57zDWiSV88b972uxtdxk9mDDG6ROZSt0cm1nxnxmrguhjI06BUvbm91fFOJfUdwn9s29PMqGeUmPBZ+2k6PMDh5upCrWDB9DmesJLBVWgSc8vufoEnisW0GGj2knqZSMyxFYuP0n+UlTZKXqAu1nyyR/TkXiyZBrNPzonDW90nUJf+kyP4eScBrek5O+iWxpFuN0pSeQu34eJHLJDWzCYXLcX4gjBu4Ksmm43OcHKQNQtf2NvLh8U2aNRrumR9CvmmpTvF/b6Bd4TaFSg4OpuLCDmDHyTl0Vkr6mQs13I+LDa3DSxUNfkKn7T/u5HqtKBnJaS7RZoIQhBBCEIAQhCAEIQgBCEIAQhM9q7UZh6TqjzAA9UBUPi3tfssM1k/rNxzA08J+XVYW8g8/P7qw78b3PxtYuya2zRyCq5eRqVl7u2vqaKcPKUm5LMxA/c2euvsve4bgO9kB3TbDAeeXhzSdKZtf6pd9yBy0+QTimIi0qbVSOMFTIdI9PslK1QzMDq3mNU9o4UkQAemseR06JQ7Mef2/nNR5xfhTBtaw4f+ui5qNLrjPXzU9s3c99UmAfDn6qXwG41RrgXNtIBtzyS/wAkHhVSw9IkGRofokjQyVix+B4arwAQA4gCOv8ACb1MIQJLDby850VTOF4IinhsyfJRtdjSTmfBT9TAAiXCeXIeH3lRmIw8G3tkqlTZowaIvcfNad8PviM6k3ssQS9gjhP7gOnMdM72Wamn4L2nIP5Ce9F/19S4TFtqsD2EOa4SCEqs0+D23uJlSg7MHiEnnn8lpa1l3GWU1QhCEyCEIQAhC9QHiEIQHNSoGgkmALkrF9/N6HYqo5jD/baSByt81oO/W12MoOaXAG3dmCSdLXWP7TxjeFrWtjha8E6klxMn0AWef+mvHPtCVMPHl5yefyCaVKRUjTdmfIfVR+I4uvRRFUmGfmX8leVGgcl4XHIrg3VJO8O/Uqz7A2P2zpdlaAqlRqXhaZufSimCufmuo34ZurBgd3WgCw9FO4bYlMZtb6Lig/LwUphyCF59rukL4TBMbk0DwTx9AQkqULswqlFxRFXYFLj4i2/3hJY/YFF7Y4Aph9O9klVppW0TGMw3h3WNOSw25TZUXGsIPeB8bFbptCgHAghZDvngOxqS2YMro4eS26c/LhJNqtUI/wA8eRRSdOsoqOBTbIruca7/AA42y3D4xpeYDrE+K3ylVDgHNIIORC+W8I4mAM1r3ws3w42/0tU95t2E6jl4q8b9Jyn20hCEK2YQhCAEICEAJDGYngbOps0dftqfBKV6wa0uOQVW2/vBwU3H9xaeGxtMx5mMvFBybUveKqKjnvdLjxlrWmQCWmCYFzJBz0gaFU3blQccNyAiYDZjOIGUqwYrEMayC4WzvxEmZMnl0GZPIKrV3h5nWCSfsOixyro1qOKTLeYHtP1TTaRgC2c/OFJV+7I1afUtifqmmLodpEaSZ6G6mDW+kTPXyRxLrFUCx0FcUmSQOatGj/Y2ANR4gLVdlYXgY1vgo7dTYQp02vcO8R7KcNThAIEkmAFwcufnXZx4+MWDC0JAUphacaKo9ninAFr2jpFvDqvP/dOKw3+JSDxzmbc5CynHv7b+el/pMAXOIMBV7Zm/NOsLtLHZcxfwy00UzWqSB4hLKePSsb5dlplIudZch/Pqo7aG26VIw9wBjK6iTZ3p7iKmYWYb/EF4b4q4YvfCgDmT0AWfb8Y0PxA4TILZ9bLfiwsy7c/LnLiprzdeNF1yTdL0GzPgvQcB5s+rwVGE5BwJ8NVMcfZcNSmSHseYcOhJn5HzUI42HT6pfD1DwkT3bkjyifdCn0Luht3+qwzKh/VEO8RYqbWe/CGtNGo3kRfxB+y0Jbb2xymqF7C8XvbBBPE12ltAUWcRBcSYa0ZuJTpQO8lYt72QawkG1ufrb0RTntQd9d6qvEWVKwpgftpg2tlI/UdOXXOKUdpNqOsazjOrgZ8BBPJWTdrD0q3a4ivwPqPP9tr7hsl14NrRysB1VkfsyhQHEREAA2ggwYGUDPUc/FZe229M6xVJ7mgAPJiwIIt/8gLfdRYBBINjl53H1Vj2/tc8ZawBkWgCHEgC5J1n0gKs1jDzn1n88/NRpVpxiTJJ8/e/uEbHpF9ZlMfucB5H8BSDqoiRr9bp9uxbFUicmvBPgNfdTl+NPH8o83q2ZwVIsYtbkkt2dkmpVHIG6v20d1u1xLzxC7S4DnFiFHbMoik+BoSPNYY8vx06eTinnta2UoaABbLyRXwjwAQOK2hA+aV2a+YlTlOjIXHlW2OKi18biHPAfUNCnzaL+bot7JntfC1mOPZ1qr2y3hcXucCIPFlmQQLSPdX6vsgi4aHDwj5plW2Cw37EA65D2WuPJJNaFwtvtXtjYaoO84SQAdJ6zGf3zWhbOPG0FRNHC8FODAGgA/LKW2KJYVHur3oy2njOAdTkFQ9r4J7y6pwOcBmeLmQMgD01norxtKnNQgibRGSi8Uyp2bqbOHgNixw9w4XB9Qqw6vZZfKKnsTbWHY8B1EC8cc8UGYuHCwm1pUJv/THbtc0fqEe4Vkdu+4u4S1okgzxT1Ng1ozvN0w372Vw0mEftm/54LfHKecc3JPgzTVPcEJJ/PP6eaZjn6KR2ZTzPJdlccd9nMgfg/gBeYcfqH5C8kyY1/hdUGS4xmfuEjjWfhLjWgVWWBL7DpHVaWvnbYW0X0azS0GSRAvcwRppdbhu9tIupNFQ96NRBMdFrjdxGc72mUnwdEohUzCg97ABRLnGBBB9FOKtb81SaPZtaxxfaX/pFs8jl+ZhFPH2yfZWMoUBUbWBfwuIYBrkbC1yNTZMtqbWe50sDqbCZDC4v9zEmIyaAm1LBPa5r+Z/tum3dJHW9jou6lVxPFUEn/W2/qLn00WDpJUHOIPdzzJH2uozFO7+nkpXaGLa1oDQYAtIu4xmen3UX/Rvc6XWAzJtPRKFSdMQFI7ErtbVg5RB8/smNUQTlAga+S5oCHE+YPNLKbh4XVbTgKHaYenUJiszvB2UgWLSORAuqo1mvifdTO7W9tA4QF72sLSeIE8wXSOYs4+RUfTx9KvxVKX6HOPzuuCSy3btyssmkxsarICt+AbKo2x38Jjqrpsysss/bXD0sFDDCM15i8IwDmuaVcRKbV8RIMaKplNej8bve0LtJ11I7IkMuol9LjEnUz4Dkp7A0TwW0VYq0isSP7spy7Z86T8wucX+seMFSFGyjIa0jzsprbqj/ABEhtAf7vbhctExQWQfFnaMup0QebiPYfVVwzecYc91izbVPqOg/Pz7JvUiRHL6pw0c8l6lebDqrAa2M/p+fVGzrvTR+IkiMvsvadbhB8UqqXtp+wsTADoa4DMgta6Ig91xANhmDeIhTmN2kwsdwn9ImCC11omNCY5Ss42btelwBpaZgTf5D3UpW2rTFNwZYkZQbmLHvE5Am4IzyVb6Tcd1rO7e0XVGEOPFGToiYMfY+amVTvhy5zqT3nImBOcc/BXFay7jLKaugqlvhWPaNZFix0EAm54J8wAramOP2bTrHhqXtYZEdQdD16ooxuqyfDbWwwwLaLh/dFi0iLhz7z4x5jKZVdrYkTYSBMHhifXz5J/vlgRRxdW3d4jEWIJ1PV2agsXtEOs4ERaLfVc+W/Tqmih4SZzPPOIyA06cklUIzcTb8gJg/Exr6JrUrF5geCWk3J0+oajjFhy+S9wpIjkhggwl6ZEzPmqpRI7JxQY4y2Q4cJByuQfcAhPd2sRwl1NuhnPIHl6JrsKiKlTgJuWvg53DHFv8A+gB5pPC1hTxAdlxWPr8wQFllNyxpOtVftnMuSFbNmnuAqrbAIcCOY+is+x6kscw5gELzeR6HGfYSuX5mG8tU9a8RHOyh3Me0f2wCIyLiPoU3bt0s/wASnUZ1gFv/ANmkiEsWvsjtDZGJbHY1GkDpDvOZB9krsrbbmNIqWcLEeHTRSeF2rTdHez109ktUwdF54nBh6z+SrV2iaW03Vn91juGbui3qpxmJ4TBTas9oHdiALR/CbGtIU5XadnuOxMAnovn3fbaHbYyo4GQO606Q3+ZWz7z1HMw9Qj9QY52fJqwbGUIJ169V1/pcf3OD9Vl9E6Akga804sXRy/ITFpulKT4Oq7XG7rU4Nsvyy7ay3ulwA7qlGsuJSPThlEmTa3lefKE5ZUMtkeJ4gZ8UnR4yTwt4/CAcvmpvA4ZtdjQ1sOH6oGV8yYv4IONi3Fvh2uiA4DQDSNPBWRRu7uC7LDU2aht/HVSS3YX2Ao/blFpovJzDSQZIIMZy248lIBRO9FQjDPgEnkM7Xt1sgT2yDH4qk51Rzn1ajySGkuAAtLjN3EnKzdDFgqPjqnE5xjhvkJt0ve3W6suF2dUqOqOaHcEy/hcOLvEwJJuTA15a2EJtHZD6NZzXtIjPzuPmFi3qKalqJv8AmaWfgoMDI5HpzPquasNMDQ6GfG6Np1pycp9Vy2oZT9mFFwTfRIPwwtBmfmltVjvCVuGDnfIfchcurSTaNR0v9kg45eS7DoBPT89/klobXzdvapaWk5GyvRqRFRvmst2S6abfBWvY23f/ABvMHSdV53Jj29HjvS5NxPocl218lMNkYprxwnMKUdhbyFz+m8A2bSd+pomc9fUL2rsZgvL4OQD3fdPMPgyRZ0LvsnDOCtZnftpM7EJidksIF33/ANb7eYKXwOHDLEmBcyZy0nxT17OkKB2htWnRpvq1XQxt458vEnQKbbkyyy+6T3hxIqUMWJAP9LUIBzjjpyRy18gVj+1qIgRl+XTnb28b8RWc5wAaQ3hFjDRLonmZvHJI1KnFTHMT7x/2vS48PGSPMzy8rag6zYKGP813iW5eCSaFuwS2EHdnuoBabEEFM8NiINzHVPHPLtZH5mpVClCuaZMAGek+atXw6c12MDXCzgbaWuJ6ZqsDDvey0zf/AL9Pkp3dAVaNQOElxyb0kGZ0GvkOaMfam+tbAAXqgtiOrvg1HiIyAHzzU6t3MFH7bpONPu2IIvEkDUxrAUgghAZk/Y1MvHYg0yCTBDhcm3CSM7DWDab3VF3o2gXYp/DBhwnUd0hs20sCr3vztvsKhp0XAVXCCSR3OK/EeVjn0HNZrRwpNRzGNdWcbDhk2GZt8zlmemWTohntGh2ZA4uIwPCIGXSflOqaYnDlsH/MJHqbfL1VmxuwSxhdUHf4XOgEkCHNEN5mSZPT1jNsUQ6q1ojhaM+UySOsXSFRba5bp+cig1pMix9kpXqFpIaZb1iPU6ppx3tbojST6lSlms/UpJ7rQRPTJGFqEkDyXtSlcjqkaf2GHdmDFtCZ+10+qNLXAqW3PwzTSDXCRlHL+bp9tzdh1NvG3vM56jx6dVwZZfKu/GfGG+xcY4PDmycpHRXrD7SDhMqhbNEZKwUjDevNY5R0YXpa8PjxoY6JZ2JB1VSGII1XJx7yLFJVyS229shjYBudOnNZPvviX1eCSeBrstASMz10nqtBwew31pcTAm7jcnoEbT3fpmk+mGiCM8z4z4q8MphltjyY3OaYvimmQeg9v4KVpkhpGXP88082ps51F3CRa8HzLSPKPkkgwlh0aMzYX5fnNelLuPOs1UaRIjzXdPCmJ/PzNKMcGkyJzTvDGW/b5DzT2mRGFicUG2vMc4KdNwt3DlE+ZUrhaUNgCZHle1/BK5KmJPZjqgBgmALwR9ir1uXsTuAi5dEuzFtI/dHPKeeRabA2SwgRwhwAiWggmM4NnCc4ylX3d/hY+OEN4rFosA4RcDkR8gtcMftnnl9JjZ+A7MZkk5k5p4hCtkEIQgKRvjsSkcRSqVWB7Hd0yP3CYHhf2VR2bUOGxOIpsA78mAQGhoINyLhvCR4yFrG2NnCtScw2OYPIhZvvBgmMoGrUBFeW2b+ppIyI1ZwCG2gwFGTXG7irb27Yc4tbxtJbkGtyac+8STFhA8VUa9Yk8IsPy5VgwG7z61UiSRm4zqbSfOfHhPkx29s0Ua7mNyEepAkTHtoo/lRk/AN4ZDhYe/RMAL6KU7Ftw42EW0MjnN7JjW4QZa3wMmPdEFe0mwQntBgLze99PX5D1XGEqtc24v8Al/zmpLY2C7Ss0Aa/9n0+SjK6i8JurpuzhjwujNpFvIXV5wpD6REZggqlbvvjEloMl3GCOgDYMaXj3V12PTDgdLrzMvb0MUMzda80yP8AafoUP2XVb+pjvK/yVqZhiE6aCl5L0oFfiyDST4KR2Ru1UfBqy1vLU+StoC64uqWzJmgGtDWiABACicdSjiJ5ewU2GqK2qOIim3Nx9hr4THulJu6TbqKFvBscOw7qhFzJ0gAG5/5Kl1divc2ALDTx+f8AC2Pb2xOOhwCYAi2cRHmqlQf2P9uo2OVjAJ5GPYrow5LPTG4S+2aY/BOZIc0iLTz81xhH29lrRo06rCyGOmY7zD7TZNKm5FACKlKDcktmL5Wny8l1cfJc+rHLyYTDuVnjeYm4jPNOcBiOB7Tr+SFoLNgUHU+FzGSP8vdOXS491D4vcAzNJ5H+l7ef+puXm1a+KJnE7sThewFs8zynQePh05qxbMbOIp6908R6gWnyKqOy6OJww4X03PZzaOKwzMtJMeIV13TxlKqC5jgSLEcjJH0zXRj6c2W9/wALGke2SyT7IJlSiEExmkP6kOy9UjdVsSGzqY/SMysi+IW2O0NMOZdpIzvEt1GkA+vRapXZDepy8Ss5323eNSs43BIlhgwS2JHnf1UW7aY9KXR2/WY2pwuAkibSbCM/X1KrtfEuqvLnEknX86KwYnDtDQbh+T2mB5jK6jcPQa5xETMDOPNZ7XowqNmR1m/QRouQYETPippuyOGpBNh+6LDxVj3a3ZZVaXPAI4iB1AgZ+qzy5Ji1x4rkpuAw1o1dEE9TZWnZuxKbe9UeRY8PCYJI97j5FWmturSBYWsaLwLDkTPsnzN3mNHda0EZGIuOvI5ea5s+bbow4tG+6GxQxjqsQXkxNzAOpKtW7bLuBSGEeC0cNhlHKMwn+zqfBVPIhc9u66ddHtVpC4q1iICUrVwG6W9kxpvJMnJQZ7FkmXwkqtaASTATN9Qu5tHPU/b5+CrSTyrtDRtz7Dx+yj6NXvOdck2nw+Q6L2ozhaABmYA6lPsPhAAFU6iLO+yTa5OiRr4aRdsz9c1KMAGi7fVEWF9E8cdlllIqlfYbaj5NMW6DytqnGBwRDeFxJgnQznbI6D8spxzQBkT9ShlK3/cr0sMPGaebycnldmQwLYyE+c+q6/8AThqB45n00ThvgipiDBg9IjqtGWzahQ4TOaH4NriSO646t7p6SRn5pwWGP40XAd0JTSeYWsQA1xmP3c/FOO3bzCYB2q94+nsq2Bi8TxGBkDfqQu6OR1j5qP2ZBDvT5SnGz63E35qLVyHVZ36Oc+2v0Se0tkMrAB82MiDBB5yh577Rybf1/hOp7wyyspUoe8250tJDuIc3NBcM8iNPVVbA7nu4wC0wLuIIjPQ6StmxNIFtwDPPko6rRaKdhHTpLUK8lDq7BcHljYDIbJgTYZcp6qbwmDbTaGtEABOsZY+nyH1TOq8ledye67uP1HeIr96kP9RPo0/dLNqcRsot89o0cg4/8R9U/pmyys6jfG+zyl3DxZj9w+vj9PBPmVrgi/VRraqYYra3YOYAC7tHhoYASQ48o01I0mfGscLndQZZ44zdWN7pMlDngfl/RN+0PKPOT66eQnqvWvU6kVu0vmZ/Aui0JLteSTr4mB1yHj+X8ke6OpHtI8VSdG2Hicz9FINfCj2d0ABKNcqRro/4rclxTi97kWy/JSbXT4cuf8Ie+eQ/n6rt4ePXdefz8v7Y7bUk38uiH9ITZ55Lum8c11OTZRrpMC0ZwuKrbtHXn0K7dEnVcuNx5n5JHC72xlkuHNgCY9EmaupXNStqkp0DHn9VzP5IXBkQSR6LyXf5QmWiWxSCH3jvn5WXmzHxUqt5EEeBuhCSj6g49q/wHySzqkvjQAA+iEIBTEVwB9LA/dRuLqf24i/n/mahCadoysJ9Fw6hZCF5vL+VelxfjDfsJqCf8rv+VNO6VBCFnl6n9+22PulOyCi6Ris0mS9hdws74znvOP6S24M52galCFfFyXDdieXhx5ZJklXPPjC4816hZtXbGrlrZf0b8/z6oQrxntnle5D0ZIzMDJCFrw4y5dsefO449FHkaZrrPT7+pQheg8snUZreR6pOnOvz+yEJkXvz/n7ribjWx+iEJLjxzSPVeh9vyyEKVOXPtfLQapDtnch6lCE/SLX/2Q==">
            <a:extLst>
              <a:ext uri="{FF2B5EF4-FFF2-40B4-BE49-F238E27FC236}">
                <a16:creationId xmlns:a16="http://schemas.microsoft.com/office/drawing/2014/main" id="{8A118986-A392-4370-9CE8-E478D6466DC7}"/>
              </a:ext>
            </a:extLst>
          </p:cNvPr>
          <p:cNvSpPr>
            <a:spLocks noChangeAspect="1" noChangeArrowheads="1"/>
          </p:cNvSpPr>
          <p:nvPr/>
        </p:nvSpPr>
        <p:spPr bwMode="auto">
          <a:xfrm>
            <a:off x="6065227" y="130420"/>
            <a:ext cx="281354" cy="281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SzTx/>
              <a:buFontTx/>
              <a:buNone/>
            </a:pPr>
            <a:endParaRPr lang="zh-CN" altLang="en-US" sz="1662">
              <a:cs typeface="Arial" panose="020B0604020202020204" pitchFamily="34" charset="0"/>
            </a:endParaRPr>
          </a:p>
        </p:txBody>
      </p:sp>
      <p:pic>
        <p:nvPicPr>
          <p:cNvPr id="19464" name="Picture 9">
            <a:extLst>
              <a:ext uri="{FF2B5EF4-FFF2-40B4-BE49-F238E27FC236}">
                <a16:creationId xmlns:a16="http://schemas.microsoft.com/office/drawing/2014/main" id="{B890FEA4-84DC-4A5F-BC6A-7BB1458252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909" y="2034526"/>
            <a:ext cx="1907931" cy="203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矩形 9">
            <a:extLst>
              <a:ext uri="{FF2B5EF4-FFF2-40B4-BE49-F238E27FC236}">
                <a16:creationId xmlns:a16="http://schemas.microsoft.com/office/drawing/2014/main" id="{1BCDD046-43E5-4A95-A0E6-9D9A338E17C7}"/>
              </a:ext>
            </a:extLst>
          </p:cNvPr>
          <p:cNvSpPr>
            <a:spLocks noChangeArrowheads="1"/>
          </p:cNvSpPr>
          <p:nvPr/>
        </p:nvSpPr>
        <p:spPr bwMode="auto">
          <a:xfrm>
            <a:off x="3702117" y="5788146"/>
            <a:ext cx="6780334" cy="77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r>
              <a:rPr lang="zh-CN" altLang="en-US" sz="2215" dirty="0">
                <a:cs typeface="Arial" panose="020B0604020202020204" pitchFamily="34" charset="0"/>
              </a:rPr>
              <a:t>“</a:t>
            </a:r>
            <a:r>
              <a:rPr lang="en-US" altLang="zh-CN" sz="2215" dirty="0">
                <a:cs typeface="Arial" panose="020B0604020202020204" pitchFamily="34" charset="0"/>
              </a:rPr>
              <a:t>Van </a:t>
            </a:r>
            <a:r>
              <a:rPr lang="en-US" altLang="zh-CN" sz="2215" dirty="0" err="1">
                <a:cs typeface="Arial" panose="020B0604020202020204" pitchFamily="34" charset="0"/>
              </a:rPr>
              <a:t>Jaobson</a:t>
            </a:r>
            <a:r>
              <a:rPr lang="en-US" altLang="zh-CN" sz="2215" dirty="0">
                <a:cs typeface="Arial" panose="020B0604020202020204" pitchFamily="34" charset="0"/>
              </a:rPr>
              <a:t> suggested some of the initial ideas that later led to the design of </a:t>
            </a:r>
            <a:r>
              <a:rPr lang="en-US" altLang="zh-CN" sz="2215" dirty="0" err="1">
                <a:cs typeface="Arial" panose="020B0604020202020204" pitchFamily="34" charset="0"/>
              </a:rPr>
              <a:t>direted</a:t>
            </a:r>
            <a:r>
              <a:rPr lang="en-US" altLang="zh-CN" sz="2215" dirty="0">
                <a:cs typeface="Arial" panose="020B0604020202020204" pitchFamily="34" charset="0"/>
              </a:rPr>
              <a:t> diffusion.</a:t>
            </a:r>
            <a:r>
              <a:rPr lang="zh-CN" altLang="en-US" sz="2215" dirty="0">
                <a:cs typeface="Arial" panose="020B0604020202020204" pitchFamily="34" charset="0"/>
              </a:rPr>
              <a:t>”</a:t>
            </a:r>
          </a:p>
        </p:txBody>
      </p:sp>
      <p:pic>
        <p:nvPicPr>
          <p:cNvPr id="19466" name="Picture 10">
            <a:extLst>
              <a:ext uri="{FF2B5EF4-FFF2-40B4-BE49-F238E27FC236}">
                <a16:creationId xmlns:a16="http://schemas.microsoft.com/office/drawing/2014/main" id="{3C1C2683-D052-48DD-8F21-838EC6673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7004" y="1960561"/>
            <a:ext cx="2894135" cy="3827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2" name="矩形 11">
            <a:extLst>
              <a:ext uri="{FF2B5EF4-FFF2-40B4-BE49-F238E27FC236}">
                <a16:creationId xmlns:a16="http://schemas.microsoft.com/office/drawing/2014/main" id="{9F40D06A-50FC-483C-B81B-E2BBE82EF21D}"/>
              </a:ext>
            </a:extLst>
          </p:cNvPr>
          <p:cNvSpPr>
            <a:spLocks noChangeArrowheads="1"/>
          </p:cNvSpPr>
          <p:nvPr/>
        </p:nvSpPr>
        <p:spPr bwMode="auto">
          <a:xfrm>
            <a:off x="8784072" y="5555150"/>
            <a:ext cx="1330569" cy="133350"/>
          </a:xfrm>
          <a:prstGeom prst="rect">
            <a:avLst/>
          </a:prstGeom>
          <a:noFill/>
          <a:ln w="9525" algn="ctr">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p"/>
              <a:defRPr sz="2800">
                <a:solidFill>
                  <a:schemeClr val="tx1"/>
                </a:solidFill>
                <a:latin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SzTx/>
              <a:buFontTx/>
              <a:buNone/>
            </a:pPr>
            <a:endParaRPr lang="zh-CN" altLang="en-US" sz="1662">
              <a:cs typeface="Arial" panose="020B0604020202020204" pitchFamily="34" charset="0"/>
            </a:endParaRPr>
          </a:p>
        </p:txBody>
      </p:sp>
      <p:sp>
        <p:nvSpPr>
          <p:cNvPr id="19468" name="矩形 12">
            <a:extLst>
              <a:ext uri="{FF2B5EF4-FFF2-40B4-BE49-F238E27FC236}">
                <a16:creationId xmlns:a16="http://schemas.microsoft.com/office/drawing/2014/main" id="{38150E9C-F0AB-4BDF-9155-CC918D2E6378}"/>
              </a:ext>
            </a:extLst>
          </p:cNvPr>
          <p:cNvSpPr>
            <a:spLocks noChangeArrowheads="1"/>
          </p:cNvSpPr>
          <p:nvPr/>
        </p:nvSpPr>
        <p:spPr bwMode="auto">
          <a:xfrm>
            <a:off x="680120" y="4173112"/>
            <a:ext cx="2555508" cy="490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SzTx/>
              <a:buFontTx/>
              <a:buNone/>
            </a:pPr>
            <a:r>
              <a:rPr lang="en-US" altLang="zh-CN" sz="2585" b="1">
                <a:solidFill>
                  <a:schemeClr val="tx2"/>
                </a:solidFill>
                <a:cs typeface="Arial" panose="020B0604020202020204" pitchFamily="34" charset="0"/>
              </a:rPr>
              <a:t>Deborah Estrin</a:t>
            </a:r>
            <a:endParaRPr lang="zh-CN" altLang="en-US" sz="2585" b="1">
              <a:solidFill>
                <a:schemeClr val="tx2"/>
              </a:solidFill>
              <a:cs typeface="Arial" panose="020B0604020202020204" pitchFamily="34" charset="0"/>
            </a:endParaRPr>
          </a:p>
        </p:txBody>
      </p:sp>
      <p:pic>
        <p:nvPicPr>
          <p:cNvPr id="19469" name="Picture 11">
            <a:extLst>
              <a:ext uri="{FF2B5EF4-FFF2-40B4-BE49-F238E27FC236}">
                <a16:creationId xmlns:a16="http://schemas.microsoft.com/office/drawing/2014/main" id="{B369DB4A-4F74-4142-96BC-AE3D83603F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4358" y="2843039"/>
            <a:ext cx="3360127" cy="2357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animBg="1"/>
    </p:bld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a:extLst>
              <a:ext uri="{FF2B5EF4-FFF2-40B4-BE49-F238E27FC236}">
                <a16:creationId xmlns:a16="http://schemas.microsoft.com/office/drawing/2014/main" id="{00A383CD-541D-4D8A-9FD3-6C5D0AA9D1F3}"/>
              </a:ext>
            </a:extLst>
          </p:cNvPr>
          <p:cNvSpPr>
            <a:spLocks noGrp="1"/>
          </p:cNvSpPr>
          <p:nvPr>
            <p:ph type="title"/>
          </p:nvPr>
        </p:nvSpPr>
        <p:spPr>
          <a:xfrm>
            <a:off x="740591" y="363414"/>
            <a:ext cx="11244261" cy="944562"/>
          </a:xfrm>
        </p:spPr>
        <p:txBody>
          <a:bodyPr>
            <a:noAutofit/>
          </a:bodyPr>
          <a:lstStyle/>
          <a:p>
            <a:r>
              <a:rPr lang="en-US" altLang="zh-CN" b="1" dirty="0">
                <a:latin typeface="Arial" panose="020B0604020202020204" pitchFamily="34" charset="0"/>
                <a:cs typeface="Arial" panose="020B0604020202020204" pitchFamily="34" charset="0"/>
              </a:rPr>
              <a:t>Evolution of Communication Abstraction</a:t>
            </a:r>
            <a:endParaRPr lang="zh-CN" altLang="en-US" b="1" dirty="0">
              <a:latin typeface="Arial" panose="020B0604020202020204" pitchFamily="34" charset="0"/>
              <a:cs typeface="Arial" panose="020B0604020202020204" pitchFamily="34" charset="0"/>
            </a:endParaRPr>
          </a:p>
        </p:txBody>
      </p:sp>
      <p:pic>
        <p:nvPicPr>
          <p:cNvPr id="79876" name="Picture 2">
            <a:extLst>
              <a:ext uri="{FF2B5EF4-FFF2-40B4-BE49-F238E27FC236}">
                <a16:creationId xmlns:a16="http://schemas.microsoft.com/office/drawing/2014/main" id="{B3097C21-5015-4884-BE80-5EB688FC33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4129" y="1653466"/>
            <a:ext cx="7577186" cy="4530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Flooding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3198231"/>
            <a:ext cx="6938639" cy="3294644"/>
          </a:xfrm>
        </p:spPr>
        <p:txBody>
          <a:bodyPr>
            <a:normAutofit/>
          </a:bodyPr>
          <a:lstStyle/>
          <a:p>
            <a:pPr marL="0" indent="0">
              <a:lnSpc>
                <a:spcPct val="120000"/>
              </a:lnSpc>
              <a:buNone/>
            </a:pPr>
            <a:endParaRPr lang="en-US" altLang="zh-CN" sz="2400" dirty="0">
              <a:latin typeface="Arial" panose="020B0604020202020204" pitchFamily="34" charset="0"/>
              <a:cs typeface="Arial" panose="020B0604020202020204" pitchFamily="34" charset="0"/>
            </a:endParaRPr>
          </a:p>
          <a:p>
            <a:pPr>
              <a:lnSpc>
                <a:spcPct val="120000"/>
              </a:lnSpc>
            </a:pPr>
            <a:r>
              <a:rPr lang="en-US" altLang="zh-CN" sz="2400" dirty="0">
                <a:latin typeface="Arial" panose="020B0604020202020204" pitchFamily="34" charset="0"/>
                <a:cs typeface="Arial" panose="020B0604020202020204" pitchFamily="34" charset="0"/>
              </a:rPr>
              <a:t>flooding faces three more challenges:</a:t>
            </a:r>
          </a:p>
          <a:p>
            <a:pPr lvl="1">
              <a:lnSpc>
                <a:spcPct val="120000"/>
              </a:lnSpc>
            </a:pPr>
            <a:r>
              <a:rPr lang="en-US" altLang="zh-CN" sz="2000" dirty="0">
                <a:solidFill>
                  <a:srgbClr val="FF0000"/>
                </a:solidFill>
                <a:latin typeface="Arial" panose="020B0604020202020204" pitchFamily="34" charset="0"/>
                <a:cs typeface="Arial" panose="020B0604020202020204" pitchFamily="34" charset="0"/>
              </a:rPr>
              <a:t>Implosion</a:t>
            </a:r>
            <a:r>
              <a:rPr lang="en-US" altLang="zh-CN" sz="2000" dirty="0">
                <a:latin typeface="Arial" panose="020B0604020202020204" pitchFamily="34" charset="0"/>
                <a:cs typeface="Arial" panose="020B0604020202020204" pitchFamily="34" charset="0"/>
              </a:rPr>
              <a:t>:  nodes will re-broadcast even when neighbors already have a copy</a:t>
            </a:r>
          </a:p>
          <a:p>
            <a:pPr lvl="1">
              <a:lnSpc>
                <a:spcPct val="120000"/>
              </a:lnSpc>
            </a:pPr>
            <a:r>
              <a:rPr lang="en-US" altLang="zh-CN" sz="2000" dirty="0">
                <a:solidFill>
                  <a:srgbClr val="FF0000"/>
                </a:solidFill>
                <a:latin typeface="Arial" panose="020B0604020202020204" pitchFamily="34" charset="0"/>
                <a:cs typeface="Arial" panose="020B0604020202020204" pitchFamily="34" charset="0"/>
              </a:rPr>
              <a:t>Overlap</a:t>
            </a:r>
            <a:r>
              <a:rPr lang="en-US" altLang="zh-CN" sz="2000" dirty="0">
                <a:latin typeface="Arial" panose="020B0604020202020204" pitchFamily="34" charset="0"/>
                <a:cs typeface="Arial" panose="020B0604020202020204" pitchFamily="34" charset="0"/>
              </a:rPr>
              <a:t>:  sensor data contains redundant information</a:t>
            </a:r>
          </a:p>
          <a:p>
            <a:pPr lvl="1">
              <a:lnSpc>
                <a:spcPct val="120000"/>
              </a:lnSpc>
            </a:pPr>
            <a:r>
              <a:rPr lang="en-US" altLang="zh-CN" sz="2000" dirty="0">
                <a:solidFill>
                  <a:srgbClr val="FF0000"/>
                </a:solidFill>
                <a:latin typeface="Arial" panose="020B0604020202020204" pitchFamily="34" charset="0"/>
                <a:cs typeface="Arial" panose="020B0604020202020204" pitchFamily="34" charset="0"/>
              </a:rPr>
              <a:t>Resource blindness</a:t>
            </a:r>
            <a:r>
              <a:rPr lang="en-US" altLang="zh-CN" sz="2000" dirty="0">
                <a:latin typeface="Arial" panose="020B0604020202020204" pitchFamily="34" charset="0"/>
                <a:cs typeface="Arial" panose="020B0604020202020204" pitchFamily="34" charset="0"/>
              </a:rPr>
              <a:t>: resource constraints are ignored</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43675" y="3944792"/>
            <a:ext cx="4414088" cy="1801522"/>
          </a:xfrm>
          <a:prstGeom prst="rect">
            <a:avLst/>
          </a:prstGeom>
        </p:spPr>
      </p:pic>
      <p:sp>
        <p:nvSpPr>
          <p:cNvPr id="5" name="内容占位符 2">
            <a:extLst>
              <a:ext uri="{FF2B5EF4-FFF2-40B4-BE49-F238E27FC236}">
                <a16:creationId xmlns:a16="http://schemas.microsoft.com/office/drawing/2014/main" id="{36CD9726-23FC-4D5E-9116-13B85CC1730B}"/>
              </a:ext>
            </a:extLst>
          </p:cNvPr>
          <p:cNvSpPr txBox="1">
            <a:spLocks/>
          </p:cNvSpPr>
          <p:nvPr/>
        </p:nvSpPr>
        <p:spPr>
          <a:xfrm>
            <a:off x="838200" y="1584444"/>
            <a:ext cx="10782670" cy="23394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zh-CN" sz="2400" dirty="0">
                <a:latin typeface="Arial" panose="020B0604020202020204" pitchFamily="34" charset="0"/>
                <a:cs typeface="Arial" panose="020B0604020202020204" pitchFamily="34" charset="0"/>
              </a:rPr>
              <a:t>Every sensor node (re-)broadcasts sensor data to all of its neighbors</a:t>
            </a:r>
          </a:p>
          <a:p>
            <a:pPr>
              <a:lnSpc>
                <a:spcPct val="120000"/>
              </a:lnSpc>
            </a:pPr>
            <a:r>
              <a:rPr lang="en-US" altLang="zh-CN" sz="2400" dirty="0">
                <a:latin typeface="Arial" panose="020B0604020202020204" pitchFamily="34" charset="0"/>
                <a:cs typeface="Arial" panose="020B0604020202020204" pitchFamily="34" charset="0"/>
              </a:rPr>
              <a:t>Simple and reliable technique</a:t>
            </a:r>
          </a:p>
          <a:p>
            <a:pPr>
              <a:lnSpc>
                <a:spcPct val="120000"/>
              </a:lnSpc>
            </a:pPr>
            <a:r>
              <a:rPr lang="en-US" altLang="zh-CN" sz="2400" dirty="0">
                <a:latin typeface="Arial" panose="020B0604020202020204" pitchFamily="34" charset="0"/>
                <a:cs typeface="Arial" panose="020B0604020202020204" pitchFamily="34" charset="0"/>
              </a:rPr>
              <a:t>Incurs large traffic overhead (maximum-hop counts and sequence numbers can be used to limit broadcasts and eliminate duplicates)</a:t>
            </a:r>
          </a:p>
        </p:txBody>
      </p:sp>
    </p:spTree>
    <p:extLst>
      <p:ext uri="{BB962C8B-B14F-4D97-AF65-F5344CB8AC3E}">
        <p14:creationId xmlns:p14="http://schemas.microsoft.com/office/powerpoint/2010/main" val="1138284821"/>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Roadmap</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667250"/>
          </a:xfrm>
        </p:spPr>
        <p:txBody>
          <a:bodyPr>
            <a:noAutofit/>
          </a:bodyPr>
          <a:lstStyle/>
          <a:p>
            <a:pPr>
              <a:lnSpc>
                <a:spcPct val="120000"/>
              </a:lnSpc>
            </a:pPr>
            <a:r>
              <a:rPr lang="en-US" altLang="zh-CN" dirty="0">
                <a:latin typeface="Arial" panose="020B0604020202020204" pitchFamily="34" charset="0"/>
                <a:cs typeface="Arial" panose="020B0604020202020204" pitchFamily="34" charset="0"/>
              </a:rPr>
              <a:t>Routing basics</a:t>
            </a:r>
          </a:p>
          <a:p>
            <a:pPr>
              <a:lnSpc>
                <a:spcPct val="120000"/>
              </a:lnSpc>
            </a:pPr>
            <a:r>
              <a:rPr lang="en-US" altLang="zh-CN" dirty="0">
                <a:latin typeface="Arial" panose="020B0604020202020204" pitchFamily="34" charset="0"/>
                <a:cs typeface="Arial" panose="020B0604020202020204" pitchFamily="34" charset="0"/>
              </a:rPr>
              <a:t>Data-centric routing </a:t>
            </a:r>
          </a:p>
          <a:p>
            <a:pPr>
              <a:lnSpc>
                <a:spcPct val="120000"/>
              </a:lnSpc>
            </a:pPr>
            <a:r>
              <a:rPr lang="en-US" altLang="zh-CN" dirty="0">
                <a:latin typeface="Arial" panose="020B0604020202020204" pitchFamily="34" charset="0"/>
                <a:cs typeface="Arial" panose="020B0604020202020204" pitchFamily="34" charset="0"/>
              </a:rPr>
              <a:t>Proactive routing</a:t>
            </a:r>
          </a:p>
          <a:p>
            <a:pPr>
              <a:lnSpc>
                <a:spcPct val="120000"/>
              </a:lnSpc>
            </a:pPr>
            <a:r>
              <a:rPr lang="en-US" altLang="zh-CN" dirty="0">
                <a:latin typeface="Arial" panose="020B0604020202020204" pitchFamily="34" charset="0"/>
                <a:cs typeface="Arial" panose="020B0604020202020204" pitchFamily="34" charset="0"/>
              </a:rPr>
              <a:t>On-demand routing</a:t>
            </a:r>
          </a:p>
          <a:p>
            <a:pPr>
              <a:lnSpc>
                <a:spcPct val="120000"/>
              </a:lnSpc>
            </a:pPr>
            <a:r>
              <a:rPr lang="en-US" altLang="zh-CN" dirty="0">
                <a:latin typeface="Arial" panose="020B0604020202020204" pitchFamily="34" charset="0"/>
                <a:cs typeface="Arial" panose="020B0604020202020204" pitchFamily="34" charset="0"/>
              </a:rPr>
              <a:t>Hierarchical routing</a:t>
            </a:r>
          </a:p>
          <a:p>
            <a:pPr>
              <a:lnSpc>
                <a:spcPct val="120000"/>
              </a:lnSpc>
            </a:pPr>
            <a:r>
              <a:rPr lang="en-US" altLang="zh-CN" dirty="0">
                <a:latin typeface="Arial" panose="020B0604020202020204" pitchFamily="34" charset="0"/>
                <a:cs typeface="Arial" panose="020B0604020202020204" pitchFamily="34" charset="0"/>
              </a:rPr>
              <a:t>Location-based routing</a:t>
            </a:r>
          </a:p>
          <a:p>
            <a:pPr>
              <a:lnSpc>
                <a:spcPct val="120000"/>
              </a:lnSpc>
            </a:pPr>
            <a:r>
              <a:rPr lang="en-US" altLang="zh-CN" dirty="0" err="1">
                <a:latin typeface="Arial" panose="020B0604020202020204" pitchFamily="34" charset="0"/>
                <a:cs typeface="Arial" panose="020B0604020202020204" pitchFamily="34" charset="0"/>
              </a:rPr>
              <a:t>QoS</a:t>
            </a:r>
            <a:r>
              <a:rPr lang="en-US" altLang="zh-CN" dirty="0">
                <a:latin typeface="Arial" panose="020B0604020202020204" pitchFamily="34" charset="0"/>
                <a:cs typeface="Arial" panose="020B0604020202020204" pitchFamily="34" charset="0"/>
              </a:rPr>
              <a:t>-based routing</a:t>
            </a:r>
            <a:endParaRPr lang="en-US" altLang="zh-C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1355965"/>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SPIN Family of Protocols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7"/>
            <a:ext cx="11430740" cy="5065219"/>
          </a:xfrm>
        </p:spPr>
        <p:txBody>
          <a:bodyPr>
            <a:normAutofit fontScale="70000" lnSpcReduction="20000"/>
          </a:bodyPr>
          <a:lstStyle/>
          <a:p>
            <a:pPr>
              <a:lnSpc>
                <a:spcPct val="140000"/>
              </a:lnSpc>
            </a:pPr>
            <a:r>
              <a:rPr lang="en-US" altLang="zh-CN" dirty="0">
                <a:latin typeface="Arial" panose="020B0604020202020204" pitchFamily="34" charset="0"/>
                <a:cs typeface="Arial" panose="020B0604020202020204" pitchFamily="34" charset="0"/>
              </a:rPr>
              <a:t>Sensor Protocols for Information via Negotiation (SPIN)</a:t>
            </a:r>
          </a:p>
          <a:p>
            <a:pPr>
              <a:lnSpc>
                <a:spcPct val="140000"/>
              </a:lnSpc>
            </a:pPr>
            <a:r>
              <a:rPr lang="en-US" altLang="zh-CN" dirty="0">
                <a:latin typeface="Arial" panose="020B0604020202020204" pitchFamily="34" charset="0"/>
                <a:cs typeface="Arial" panose="020B0604020202020204" pitchFamily="34" charset="0"/>
              </a:rPr>
              <a:t>Example of </a:t>
            </a:r>
            <a:r>
              <a:rPr lang="en-US" altLang="zh-CN" dirty="0">
                <a:solidFill>
                  <a:srgbClr val="FF0000"/>
                </a:solidFill>
                <a:latin typeface="Arial" panose="020B0604020202020204" pitchFamily="34" charset="0"/>
                <a:cs typeface="Arial" panose="020B0604020202020204" pitchFamily="34" charset="0"/>
              </a:rPr>
              <a:t>data-centric</a:t>
            </a:r>
            <a:r>
              <a:rPr lang="en-US" altLang="zh-CN" dirty="0">
                <a:latin typeface="Arial" panose="020B0604020202020204" pitchFamily="34" charset="0"/>
                <a:cs typeface="Arial" panose="020B0604020202020204" pitchFamily="34" charset="0"/>
              </a:rPr>
              <a:t> routing</a:t>
            </a:r>
          </a:p>
          <a:p>
            <a:pPr>
              <a:lnSpc>
                <a:spcPct val="140000"/>
              </a:lnSpc>
            </a:pPr>
            <a:r>
              <a:rPr lang="en-US" altLang="zh-CN" dirty="0">
                <a:latin typeface="Arial" panose="020B0604020202020204" pitchFamily="34" charset="0"/>
                <a:cs typeface="Arial" panose="020B0604020202020204" pitchFamily="34" charset="0"/>
              </a:rPr>
              <a:t>Uses </a:t>
            </a:r>
            <a:r>
              <a:rPr lang="en-US" altLang="zh-CN" dirty="0">
                <a:solidFill>
                  <a:srgbClr val="FF0000"/>
                </a:solidFill>
                <a:latin typeface="Arial" panose="020B0604020202020204" pitchFamily="34" charset="0"/>
                <a:cs typeface="Arial" panose="020B0604020202020204" pitchFamily="34" charset="0"/>
              </a:rPr>
              <a:t>negotiations</a:t>
            </a:r>
            <a:r>
              <a:rPr lang="en-US" altLang="zh-CN" dirty="0">
                <a:latin typeface="Arial" panose="020B0604020202020204" pitchFamily="34" charset="0"/>
                <a:cs typeface="Arial" panose="020B0604020202020204" pitchFamily="34" charset="0"/>
              </a:rPr>
              <a:t>  to address all problems of flooding</a:t>
            </a:r>
          </a:p>
          <a:p>
            <a:pPr lvl="1">
              <a:lnSpc>
                <a:spcPct val="140000"/>
              </a:lnSpc>
            </a:pPr>
            <a:r>
              <a:rPr lang="en-US" altLang="zh-CN" dirty="0">
                <a:latin typeface="Arial" panose="020B0604020202020204" pitchFamily="34" charset="0"/>
                <a:cs typeface="Arial" panose="020B0604020202020204" pitchFamily="34" charset="0"/>
              </a:rPr>
              <a:t>implosion: nodes negotiate before data transmission</a:t>
            </a:r>
          </a:p>
          <a:p>
            <a:pPr lvl="1">
              <a:lnSpc>
                <a:spcPct val="140000"/>
              </a:lnSpc>
            </a:pPr>
            <a:r>
              <a:rPr lang="en-US" altLang="zh-CN" dirty="0">
                <a:latin typeface="Arial" panose="020B0604020202020204" pitchFamily="34" charset="0"/>
                <a:cs typeface="Arial" panose="020B0604020202020204" pitchFamily="34" charset="0"/>
              </a:rPr>
              <a:t>overlap: nodes negotiate before data transmission</a:t>
            </a:r>
          </a:p>
          <a:p>
            <a:pPr lvl="1">
              <a:lnSpc>
                <a:spcPct val="140000"/>
              </a:lnSpc>
            </a:pPr>
            <a:r>
              <a:rPr lang="en-US" altLang="zh-CN" dirty="0">
                <a:latin typeface="Arial" panose="020B0604020202020204" pitchFamily="34" charset="0"/>
                <a:cs typeface="Arial" panose="020B0604020202020204" pitchFamily="34" charset="0"/>
              </a:rPr>
              <a:t>resource blindness: resource manager keeps track of actual resource consumption and adapts routing and communication behavior</a:t>
            </a:r>
          </a:p>
          <a:p>
            <a:pPr>
              <a:lnSpc>
                <a:spcPct val="140000"/>
              </a:lnSpc>
            </a:pPr>
            <a:r>
              <a:rPr lang="en-US" altLang="zh-CN" dirty="0">
                <a:latin typeface="Arial" panose="020B0604020202020204" pitchFamily="34" charset="0"/>
                <a:cs typeface="Arial" panose="020B0604020202020204" pitchFamily="34" charset="0"/>
              </a:rPr>
              <a:t>SPIN uses </a:t>
            </a:r>
            <a:r>
              <a:rPr lang="en-US" altLang="zh-CN" dirty="0">
                <a:solidFill>
                  <a:srgbClr val="FF0000"/>
                </a:solidFill>
                <a:latin typeface="Arial" panose="020B0604020202020204" pitchFamily="34" charset="0"/>
                <a:cs typeface="Arial" panose="020B0604020202020204" pitchFamily="34" charset="0"/>
              </a:rPr>
              <a:t>meta-data</a:t>
            </a:r>
            <a:r>
              <a:rPr lang="en-US" altLang="zh-CN" dirty="0">
                <a:latin typeface="Arial" panose="020B0604020202020204" pitchFamily="34" charset="0"/>
                <a:cs typeface="Arial" panose="020B0604020202020204" pitchFamily="34" charset="0"/>
              </a:rPr>
              <a:t> to succinctly and completely describe sensor data</a:t>
            </a:r>
          </a:p>
          <a:p>
            <a:pPr>
              <a:lnSpc>
                <a:spcPct val="140000"/>
              </a:lnSpc>
            </a:pPr>
            <a:r>
              <a:rPr lang="en-US" altLang="zh-CN" dirty="0">
                <a:latin typeface="Arial" panose="020B0604020202020204" pitchFamily="34" charset="0"/>
                <a:cs typeface="Arial" panose="020B0604020202020204" pitchFamily="34" charset="0"/>
              </a:rPr>
              <a:t>Requirements:</a:t>
            </a:r>
          </a:p>
          <a:p>
            <a:pPr lvl="1">
              <a:lnSpc>
                <a:spcPct val="140000"/>
              </a:lnSpc>
            </a:pPr>
            <a:r>
              <a:rPr lang="en-US" altLang="zh-CN" dirty="0">
                <a:latin typeface="Arial" panose="020B0604020202020204" pitchFamily="34" charset="0"/>
                <a:cs typeface="Arial" panose="020B0604020202020204" pitchFamily="34" charset="0"/>
              </a:rPr>
              <a:t>if </a:t>
            </a:r>
            <a:r>
              <a:rPr lang="en-US" altLang="zh-CN" i="1" dirty="0">
                <a:latin typeface="Arial" panose="020B0604020202020204" pitchFamily="34" charset="0"/>
                <a:cs typeface="Arial" panose="020B0604020202020204" pitchFamily="34" charset="0"/>
              </a:rPr>
              <a:t>x</a:t>
            </a:r>
            <a:r>
              <a:rPr lang="en-US" altLang="zh-CN" dirty="0">
                <a:latin typeface="Arial" panose="020B0604020202020204" pitchFamily="34" charset="0"/>
                <a:cs typeface="Arial" panose="020B0604020202020204" pitchFamily="34" charset="0"/>
              </a:rPr>
              <a:t> describes the meta-data for some sensor data </a:t>
            </a:r>
            <a:r>
              <a:rPr lang="en-US" altLang="zh-CN" i="1" dirty="0">
                <a:latin typeface="Arial" panose="020B0604020202020204" pitchFamily="34" charset="0"/>
                <a:cs typeface="Arial" panose="020B0604020202020204" pitchFamily="34" charset="0"/>
              </a:rPr>
              <a:t>X</a:t>
            </a:r>
            <a:r>
              <a:rPr lang="en-US" altLang="zh-CN" dirty="0">
                <a:latin typeface="Arial" panose="020B0604020202020204" pitchFamily="34" charset="0"/>
                <a:cs typeface="Arial" panose="020B0604020202020204" pitchFamily="34" charset="0"/>
              </a:rPr>
              <a:t>, the size of  </a:t>
            </a:r>
            <a:r>
              <a:rPr lang="en-US" altLang="zh-CN" i="1" dirty="0">
                <a:latin typeface="Arial" panose="020B0604020202020204" pitchFamily="34" charset="0"/>
                <a:cs typeface="Arial" panose="020B0604020202020204" pitchFamily="34" charset="0"/>
              </a:rPr>
              <a:t>x</a:t>
            </a:r>
            <a:r>
              <a:rPr lang="en-US" altLang="zh-CN" dirty="0">
                <a:latin typeface="Arial" panose="020B0604020202020204" pitchFamily="34" charset="0"/>
                <a:cs typeface="Arial" panose="020B0604020202020204" pitchFamily="34" charset="0"/>
              </a:rPr>
              <a:t>  (in bytes) must be less than the size of </a:t>
            </a:r>
            <a:r>
              <a:rPr lang="en-US" altLang="zh-CN" i="1" dirty="0">
                <a:latin typeface="Arial" panose="020B0604020202020204" pitchFamily="34" charset="0"/>
                <a:cs typeface="Arial" panose="020B0604020202020204" pitchFamily="34" charset="0"/>
              </a:rPr>
              <a:t>X</a:t>
            </a:r>
          </a:p>
          <a:p>
            <a:pPr lvl="1">
              <a:lnSpc>
                <a:spcPct val="140000"/>
              </a:lnSpc>
            </a:pPr>
            <a:r>
              <a:rPr lang="en-US" altLang="zh-CN" dirty="0">
                <a:latin typeface="Arial" panose="020B0604020202020204" pitchFamily="34" charset="0"/>
                <a:cs typeface="Arial" panose="020B0604020202020204" pitchFamily="34" charset="0"/>
              </a:rPr>
              <a:t>if two pieces of sensor data differ, their meta-data representations should differ too</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0336642"/>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SPIN-PP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41539"/>
            <a:ext cx="10515600" cy="4351338"/>
          </a:xfrm>
        </p:spPr>
        <p:txBody>
          <a:bodyPr>
            <a:normAutofit/>
          </a:bodyPr>
          <a:lstStyle/>
          <a:p>
            <a:pPr>
              <a:lnSpc>
                <a:spcPct val="120000"/>
              </a:lnSpc>
            </a:pPr>
            <a:r>
              <a:rPr lang="en-US" altLang="zh-CN" sz="2000" dirty="0">
                <a:latin typeface="Arial" panose="020B0604020202020204" pitchFamily="34" charset="0"/>
                <a:cs typeface="Arial" panose="020B0604020202020204" pitchFamily="34" charset="0"/>
              </a:rPr>
              <a:t>Optimized for networks using point-to-point transmission media (two nodes communicate exclusively with each other without interference)</a:t>
            </a:r>
          </a:p>
          <a:p>
            <a:pPr>
              <a:lnSpc>
                <a:spcPct val="120000"/>
              </a:lnSpc>
            </a:pPr>
            <a:r>
              <a:rPr lang="en-US" altLang="zh-CN" sz="2000" dirty="0">
                <a:latin typeface="Arial" panose="020B0604020202020204" pitchFamily="34" charset="0"/>
                <a:cs typeface="Arial" panose="020B0604020202020204" pitchFamily="34" charset="0"/>
              </a:rPr>
              <a:t>Flooding occurs using a  </a:t>
            </a:r>
            <a:r>
              <a:rPr lang="en-US" altLang="zh-CN" sz="2000" dirty="0">
                <a:solidFill>
                  <a:srgbClr val="FF0000"/>
                </a:solidFill>
                <a:latin typeface="Arial" panose="020B0604020202020204" pitchFamily="34" charset="0"/>
                <a:cs typeface="Arial" panose="020B0604020202020204" pitchFamily="34" charset="0"/>
              </a:rPr>
              <a:t>3-way handshake </a:t>
            </a:r>
            <a:r>
              <a:rPr lang="en-US" altLang="zh-CN" sz="2000" dirty="0">
                <a:latin typeface="Arial" panose="020B0604020202020204" pitchFamily="34" charset="0"/>
                <a:cs typeface="Arial" panose="020B0604020202020204" pitchFamily="34" charset="0"/>
              </a:rPr>
              <a:t>:</a:t>
            </a:r>
          </a:p>
          <a:p>
            <a:pPr lvl="1">
              <a:lnSpc>
                <a:spcPct val="120000"/>
              </a:lnSpc>
            </a:pPr>
            <a:r>
              <a:rPr lang="en-US" altLang="zh-CN" sz="2000" dirty="0">
                <a:latin typeface="Arial" panose="020B0604020202020204" pitchFamily="34" charset="0"/>
                <a:cs typeface="Arial" panose="020B0604020202020204" pitchFamily="34" charset="0"/>
              </a:rPr>
              <a:t>node A advertises newly available data using </a:t>
            </a:r>
            <a:r>
              <a:rPr lang="en-US" altLang="zh-CN" sz="2000" dirty="0">
                <a:solidFill>
                  <a:srgbClr val="FF0000"/>
                </a:solidFill>
                <a:latin typeface="Arial" panose="020B0604020202020204" pitchFamily="34" charset="0"/>
                <a:cs typeface="Arial" panose="020B0604020202020204" pitchFamily="34" charset="0"/>
              </a:rPr>
              <a:t>ADV</a:t>
            </a:r>
            <a:r>
              <a:rPr lang="en-US" altLang="zh-CN" sz="2000" dirty="0">
                <a:latin typeface="Arial" panose="020B0604020202020204" pitchFamily="34" charset="0"/>
                <a:cs typeface="Arial" panose="020B0604020202020204" pitchFamily="34" charset="0"/>
              </a:rPr>
              <a:t> (advertisement) message (containing </a:t>
            </a:r>
            <a:r>
              <a:rPr lang="en-US" altLang="zh-CN" sz="2000" dirty="0" err="1">
                <a:latin typeface="Arial" panose="020B0604020202020204" pitchFamily="34" charset="0"/>
                <a:cs typeface="Arial" panose="020B0604020202020204" pitchFamily="34" charset="0"/>
              </a:rPr>
              <a:t>dataʼ</a:t>
            </a:r>
            <a:r>
              <a:rPr lang="en-US" altLang="zh-CN" sz="2000" dirty="0">
                <a:latin typeface="Arial" panose="020B0604020202020204" pitchFamily="34" charset="0"/>
                <a:cs typeface="Arial" panose="020B0604020202020204" pitchFamily="34" charset="0"/>
              </a:rPr>
              <a:t> s meta-data) </a:t>
            </a:r>
          </a:p>
          <a:p>
            <a:pPr lvl="1">
              <a:lnSpc>
                <a:spcPct val="120000"/>
              </a:lnSpc>
            </a:pPr>
            <a:r>
              <a:rPr lang="en-US" altLang="zh-CN" sz="2000" dirty="0">
                <a:latin typeface="Arial" panose="020B0604020202020204" pitchFamily="34" charset="0"/>
                <a:cs typeface="Arial" panose="020B0604020202020204" pitchFamily="34" charset="0"/>
              </a:rPr>
              <a:t>neighbor nodes (B, C, D, E) check if advertised data needed and if so, respond with  </a:t>
            </a:r>
            <a:r>
              <a:rPr lang="en-US" altLang="zh-CN" sz="2000" dirty="0">
                <a:solidFill>
                  <a:srgbClr val="FF0000"/>
                </a:solidFill>
                <a:latin typeface="Arial" panose="020B0604020202020204" pitchFamily="34" charset="0"/>
                <a:cs typeface="Arial" panose="020B0604020202020204" pitchFamily="34" charset="0"/>
              </a:rPr>
              <a:t>REQ</a:t>
            </a:r>
            <a:r>
              <a:rPr lang="en-US" altLang="zh-CN" sz="2000" dirty="0">
                <a:latin typeface="Arial" panose="020B0604020202020204" pitchFamily="34" charset="0"/>
                <a:cs typeface="Arial" panose="020B0604020202020204" pitchFamily="34" charset="0"/>
              </a:rPr>
              <a:t> (request for data) message</a:t>
            </a:r>
          </a:p>
          <a:p>
            <a:pPr lvl="1">
              <a:lnSpc>
                <a:spcPct val="120000"/>
              </a:lnSpc>
            </a:pPr>
            <a:r>
              <a:rPr lang="en-US" altLang="zh-CN" sz="2000" dirty="0">
                <a:latin typeface="Arial" panose="020B0604020202020204" pitchFamily="34" charset="0"/>
                <a:cs typeface="Arial" panose="020B0604020202020204" pitchFamily="34" charset="0"/>
              </a:rPr>
              <a:t>A sends  </a:t>
            </a:r>
            <a:r>
              <a:rPr lang="en-US" altLang="zh-CN" sz="2000" dirty="0">
                <a:solidFill>
                  <a:srgbClr val="FF0000"/>
                </a:solidFill>
                <a:latin typeface="Arial" panose="020B0604020202020204" pitchFamily="34" charset="0"/>
                <a:cs typeface="Arial" panose="020B0604020202020204" pitchFamily="34" charset="0"/>
              </a:rPr>
              <a:t>DATA</a:t>
            </a:r>
            <a:r>
              <a:rPr lang="en-US" altLang="zh-CN" sz="2000" dirty="0">
                <a:latin typeface="Arial" panose="020B0604020202020204" pitchFamily="34" charset="0"/>
                <a:cs typeface="Arial" panose="020B0604020202020204" pitchFamily="34" charset="0"/>
              </a:rPr>
              <a:t>  message to nodes that responded (i.e., B and D)</a:t>
            </a:r>
          </a:p>
          <a:p>
            <a:pPr lvl="1">
              <a:lnSpc>
                <a:spcPct val="120000"/>
              </a:lnSpc>
            </a:pPr>
            <a:endParaRPr lang="zh-CN" altLang="en-US" sz="2000" dirty="0">
              <a:latin typeface="Arial" panose="020B0604020202020204" pitchFamily="34" charset="0"/>
              <a:cs typeface="Arial" panose="020B0604020202020204" pitchFamily="34" charset="0"/>
            </a:endParaRPr>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t="13723" b="18780"/>
          <a:stretch/>
        </p:blipFill>
        <p:spPr>
          <a:xfrm>
            <a:off x="1819912" y="5033014"/>
            <a:ext cx="8552175" cy="1719726"/>
          </a:xfrm>
          <a:prstGeom prst="rect">
            <a:avLst/>
          </a:prstGeom>
        </p:spPr>
      </p:pic>
    </p:spTree>
    <p:extLst>
      <p:ext uri="{BB962C8B-B14F-4D97-AF65-F5344CB8AC3E}">
        <p14:creationId xmlns:p14="http://schemas.microsoft.com/office/powerpoint/2010/main" val="547674717"/>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SPIN-PP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4"/>
            <a:ext cx="10515600" cy="4956915"/>
          </a:xfrm>
        </p:spPr>
        <p:txBody>
          <a:bodyPr>
            <a:normAutofit/>
          </a:bodyPr>
          <a:lstStyle/>
          <a:p>
            <a:pPr>
              <a:lnSpc>
                <a:spcPct val="120000"/>
              </a:lnSpc>
            </a:pPr>
            <a:r>
              <a:rPr lang="en-US" altLang="zh-CN" sz="2000" dirty="0">
                <a:latin typeface="Arial" panose="020B0604020202020204" pitchFamily="34" charset="0"/>
                <a:cs typeface="Arial" panose="020B0604020202020204" pitchFamily="34" charset="0"/>
              </a:rPr>
              <a:t>Only nodes needed the advertised data respond</a:t>
            </a:r>
          </a:p>
          <a:p>
            <a:pPr>
              <a:lnSpc>
                <a:spcPct val="120000"/>
              </a:lnSpc>
            </a:pPr>
            <a:r>
              <a:rPr lang="en-US" altLang="zh-CN" sz="2000" dirty="0">
                <a:latin typeface="Arial" panose="020B0604020202020204" pitchFamily="34" charset="0"/>
                <a:cs typeface="Arial" panose="020B0604020202020204" pitchFamily="34" charset="0"/>
              </a:rPr>
              <a:t>Nodes can aggregate received data with their own and advertise aggregate</a:t>
            </a:r>
          </a:p>
          <a:p>
            <a:pPr>
              <a:lnSpc>
                <a:spcPct val="120000"/>
              </a:lnSpc>
            </a:pPr>
            <a:r>
              <a:rPr lang="en-US" altLang="zh-CN" sz="2000" dirty="0">
                <a:latin typeface="Arial" panose="020B0604020202020204" pitchFamily="34" charset="0"/>
                <a:cs typeface="Arial" panose="020B0604020202020204" pitchFamily="34" charset="0"/>
              </a:rPr>
              <a:t>Simple protocol </a:t>
            </a:r>
          </a:p>
          <a:p>
            <a:pPr>
              <a:lnSpc>
                <a:spcPct val="120000"/>
              </a:lnSpc>
            </a:pPr>
            <a:r>
              <a:rPr lang="en-US" altLang="zh-CN" sz="2000" dirty="0">
                <a:latin typeface="Arial" panose="020B0604020202020204" pitchFamily="34" charset="0"/>
                <a:cs typeface="Arial" panose="020B0604020202020204" pitchFamily="34" charset="0"/>
              </a:rPr>
              <a:t>Nodes need to know their single-hop neighbors only</a:t>
            </a:r>
          </a:p>
          <a:p>
            <a:pPr>
              <a:lnSpc>
                <a:spcPct val="120000"/>
              </a:lnSpc>
            </a:pPr>
            <a:r>
              <a:rPr lang="en-US" altLang="zh-CN" sz="2000" dirty="0">
                <a:latin typeface="Arial" panose="020B0604020202020204" pitchFamily="34" charset="0"/>
                <a:cs typeface="Arial" panose="020B0604020202020204" pitchFamily="34" charset="0"/>
              </a:rPr>
              <a:t>Lost ADV messages: periodically re-advertise</a:t>
            </a:r>
          </a:p>
          <a:p>
            <a:pPr>
              <a:lnSpc>
                <a:spcPct val="120000"/>
              </a:lnSpc>
            </a:pPr>
            <a:r>
              <a:rPr lang="en-US" altLang="zh-CN" sz="2000" dirty="0">
                <a:latin typeface="Arial" panose="020B0604020202020204" pitchFamily="34" charset="0"/>
                <a:cs typeface="Arial" panose="020B0604020202020204" pitchFamily="34" charset="0"/>
              </a:rPr>
              <a:t>Lost REQ/DATA messages: re-request data of interest if data does not arrive within certain timeout interval</a:t>
            </a:r>
          </a:p>
          <a:p>
            <a:pPr>
              <a:lnSpc>
                <a:spcPct val="120000"/>
              </a:lnSpc>
            </a:pPr>
            <a:r>
              <a:rPr lang="en-US" altLang="zh-CN" sz="2000" dirty="0">
                <a:latin typeface="Arial" panose="020B0604020202020204" pitchFamily="34" charset="0"/>
                <a:cs typeface="Arial" panose="020B0604020202020204" pitchFamily="34" charset="0"/>
              </a:rPr>
              <a:t>Protocol could also use explicit acknowledgments (e.g., REQ can contain list of data a node wants or does not want and using this list, a node can identify whether previous advertisements were received successfully) </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6334969"/>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SPIN-EC and SPIN-BC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515600" cy="5032375"/>
          </a:xfrm>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SPIN-EC:</a:t>
            </a:r>
          </a:p>
          <a:p>
            <a:pPr lvl="1">
              <a:lnSpc>
                <a:spcPct val="120000"/>
              </a:lnSpc>
            </a:pPr>
            <a:r>
              <a:rPr lang="en-US" altLang="zh-CN" sz="1800" dirty="0">
                <a:latin typeface="Arial" panose="020B0604020202020204" pitchFamily="34" charset="0"/>
                <a:cs typeface="Arial" panose="020B0604020202020204" pitchFamily="34" charset="0"/>
              </a:rPr>
              <a:t>adds simple heuristic to protocol to add energy conservation </a:t>
            </a:r>
          </a:p>
          <a:p>
            <a:pPr lvl="1">
              <a:lnSpc>
                <a:spcPct val="120000"/>
              </a:lnSpc>
            </a:pPr>
            <a:r>
              <a:rPr lang="en-US" altLang="zh-CN" sz="1800" dirty="0">
                <a:latin typeface="Arial" panose="020B0604020202020204" pitchFamily="34" charset="0"/>
                <a:cs typeface="Arial" panose="020B0604020202020204" pitchFamily="34" charset="0"/>
              </a:rPr>
              <a:t>as long as energy sufficient, node participates in 3-way handshake</a:t>
            </a:r>
          </a:p>
          <a:p>
            <a:pPr lvl="1">
              <a:lnSpc>
                <a:spcPct val="120000"/>
              </a:lnSpc>
            </a:pPr>
            <a:r>
              <a:rPr lang="en-US" altLang="zh-CN" sz="1800" dirty="0">
                <a:latin typeface="Arial" panose="020B0604020202020204" pitchFamily="34" charset="0"/>
                <a:cs typeface="Arial" panose="020B0604020202020204" pitchFamily="34" charset="0"/>
              </a:rPr>
              <a:t>nodes does not participate if it believes that this will reduce its energy below a certain </a:t>
            </a:r>
            <a:r>
              <a:rPr lang="en-US" altLang="zh-CN" sz="1800" dirty="0">
                <a:solidFill>
                  <a:srgbClr val="FF0000"/>
                </a:solidFill>
                <a:latin typeface="Arial" panose="020B0604020202020204" pitchFamily="34" charset="0"/>
                <a:cs typeface="Arial" panose="020B0604020202020204" pitchFamily="34" charset="0"/>
              </a:rPr>
              <a:t>low-energy threshold </a:t>
            </a:r>
          </a:p>
          <a:p>
            <a:pPr lvl="2">
              <a:lnSpc>
                <a:spcPct val="120000"/>
              </a:lnSpc>
            </a:pPr>
            <a:r>
              <a:rPr lang="en-US" altLang="zh-CN" sz="1800" dirty="0">
                <a:latin typeface="Arial" panose="020B0604020202020204" pitchFamily="34" charset="0"/>
                <a:cs typeface="Arial" panose="020B0604020202020204" pitchFamily="34" charset="0"/>
              </a:rPr>
              <a:t>node replies to ADV only if sufficient energy for transmitting REQ and receiving DATA </a:t>
            </a:r>
          </a:p>
          <a:p>
            <a:pPr lvl="2">
              <a:lnSpc>
                <a:spcPct val="120000"/>
              </a:lnSpc>
            </a:pPr>
            <a:r>
              <a:rPr lang="en-US" altLang="zh-CN" sz="1800" dirty="0">
                <a:latin typeface="Arial" panose="020B0604020202020204" pitchFamily="34" charset="0"/>
                <a:cs typeface="Arial" panose="020B0604020202020204" pitchFamily="34" charset="0"/>
              </a:rPr>
              <a:t>node initiates handshake only if it has sufficient energy to send DATA to all neighbors </a:t>
            </a:r>
          </a:p>
          <a:p>
            <a:pPr>
              <a:lnSpc>
                <a:spcPct val="120000"/>
              </a:lnSpc>
            </a:pPr>
            <a:r>
              <a:rPr lang="en-US" altLang="zh-CN" sz="2400" dirty="0">
                <a:latin typeface="Arial" panose="020B0604020202020204" pitchFamily="34" charset="0"/>
                <a:cs typeface="Arial" panose="020B0604020202020204" pitchFamily="34" charset="0"/>
              </a:rPr>
              <a:t>SPIN-BB:</a:t>
            </a:r>
          </a:p>
          <a:p>
            <a:pPr lvl="1">
              <a:lnSpc>
                <a:spcPct val="120000"/>
              </a:lnSpc>
            </a:pPr>
            <a:r>
              <a:rPr lang="en-US" altLang="zh-CN" sz="1800" dirty="0">
                <a:latin typeface="Arial" panose="020B0604020202020204" pitchFamily="34" charset="0"/>
                <a:cs typeface="Arial" panose="020B0604020202020204" pitchFamily="34" charset="0"/>
              </a:rPr>
              <a:t>uses one-to-many communications (broadcast) </a:t>
            </a:r>
          </a:p>
          <a:p>
            <a:pPr lvl="1">
              <a:lnSpc>
                <a:spcPct val="120000"/>
              </a:lnSpc>
            </a:pPr>
            <a:r>
              <a:rPr lang="en-US" altLang="zh-CN" sz="1800" dirty="0">
                <a:latin typeface="Arial" panose="020B0604020202020204" pitchFamily="34" charset="0"/>
                <a:cs typeface="Arial" panose="020B0604020202020204" pitchFamily="34" charset="0"/>
              </a:rPr>
              <a:t>receiver node waits for a random time interval before issuing REQ; if other node ʼ s REQ overheard, the receiver node cancels timer and does not send its own REQ </a:t>
            </a:r>
          </a:p>
          <a:p>
            <a:pPr lvl="1">
              <a:lnSpc>
                <a:spcPct val="120000"/>
              </a:lnSpc>
            </a:pPr>
            <a:r>
              <a:rPr lang="en-US" altLang="zh-CN" sz="1800" dirty="0">
                <a:latin typeface="Arial" panose="020B0604020202020204" pitchFamily="34" charset="0"/>
                <a:cs typeface="Arial" panose="020B0604020202020204" pitchFamily="34" charset="0"/>
              </a:rPr>
              <a:t>advertiser broadcasts DATA only once (ignore duplicate REQs)</a:t>
            </a:r>
          </a:p>
        </p:txBody>
      </p:sp>
    </p:spTree>
    <p:extLst>
      <p:ext uri="{BB962C8B-B14F-4D97-AF65-F5344CB8AC3E}">
        <p14:creationId xmlns:p14="http://schemas.microsoft.com/office/powerpoint/2010/main" val="2305791157"/>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SPIN-RL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915879" y="1690688"/>
            <a:ext cx="10580704" cy="4754563"/>
          </a:xfrm>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Reliable version of SPIN-BC</a:t>
            </a:r>
          </a:p>
          <a:p>
            <a:pPr lvl="1">
              <a:lnSpc>
                <a:spcPct val="120000"/>
              </a:lnSpc>
            </a:pPr>
            <a:r>
              <a:rPr lang="en-US" altLang="zh-CN" sz="2000" dirty="0">
                <a:latin typeface="Arial" panose="020B0604020202020204" pitchFamily="34" charset="0"/>
                <a:cs typeface="Arial" panose="020B0604020202020204" pitchFamily="34" charset="0"/>
              </a:rPr>
              <a:t>nodes keep track of overheard REQ messages </a:t>
            </a:r>
          </a:p>
          <a:p>
            <a:pPr lvl="1">
              <a:lnSpc>
                <a:spcPct val="120000"/>
              </a:lnSpc>
            </a:pPr>
            <a:r>
              <a:rPr lang="en-US" altLang="zh-CN" sz="2000" dirty="0">
                <a:latin typeface="Arial" panose="020B0604020202020204" pitchFamily="34" charset="0"/>
                <a:cs typeface="Arial" panose="020B0604020202020204" pitchFamily="34" charset="0"/>
              </a:rPr>
              <a:t>if DATA message does not arrive within certain timeout interval, it assumes that either REQ or DATA did not arrive</a:t>
            </a:r>
          </a:p>
          <a:p>
            <a:pPr lvl="1">
              <a:lnSpc>
                <a:spcPct val="120000"/>
              </a:lnSpc>
            </a:pPr>
            <a:r>
              <a:rPr lang="en-US" altLang="zh-CN" sz="2000" dirty="0">
                <a:latin typeface="Arial" panose="020B0604020202020204" pitchFamily="34" charset="0"/>
                <a:cs typeface="Arial" panose="020B0604020202020204" pitchFamily="34" charset="0"/>
              </a:rPr>
              <a:t>node broadcasts REQ to re-request data </a:t>
            </a:r>
          </a:p>
          <a:p>
            <a:pPr lvl="2">
              <a:lnSpc>
                <a:spcPct val="120000"/>
              </a:lnSpc>
            </a:pPr>
            <a:r>
              <a:rPr lang="en-US" altLang="zh-CN" dirty="0">
                <a:latin typeface="Arial" panose="020B0604020202020204" pitchFamily="34" charset="0"/>
                <a:cs typeface="Arial" panose="020B0604020202020204" pitchFamily="34" charset="0"/>
              </a:rPr>
              <a:t>in message header, node specifies identity of randomly selected node among nodes that previously sent ADV for missing DATA </a:t>
            </a:r>
          </a:p>
          <a:p>
            <a:pPr lvl="1">
              <a:lnSpc>
                <a:spcPct val="120000"/>
              </a:lnSpc>
            </a:pPr>
            <a:r>
              <a:rPr lang="en-US" altLang="zh-CN" sz="2000" dirty="0">
                <a:latin typeface="Arial" panose="020B0604020202020204" pitchFamily="34" charset="0"/>
                <a:cs typeface="Arial" panose="020B0604020202020204" pitchFamily="34" charset="0"/>
              </a:rPr>
              <a:t>SPIN-RL limits frequency with which DATA messages are sent </a:t>
            </a:r>
          </a:p>
          <a:p>
            <a:pPr lvl="2">
              <a:lnSpc>
                <a:spcPct val="120000"/>
              </a:lnSpc>
            </a:pPr>
            <a:r>
              <a:rPr lang="en-US" altLang="zh-CN" dirty="0">
                <a:latin typeface="Arial" panose="020B0604020202020204" pitchFamily="34" charset="0"/>
                <a:cs typeface="Arial" panose="020B0604020202020204" pitchFamily="34" charset="0"/>
              </a:rPr>
              <a:t>once a node sends a DATA message, it will wait for certain amount of time before responding to other requests for the same data</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8929875"/>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Directed Diffusion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4"/>
            <a:ext cx="10915835" cy="4743851"/>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Data-centric and application-aware dissemination protocol</a:t>
            </a:r>
          </a:p>
          <a:p>
            <a:pPr>
              <a:lnSpc>
                <a:spcPct val="120000"/>
              </a:lnSpc>
            </a:pPr>
            <a:r>
              <a:rPr lang="en-US" altLang="zh-CN" sz="2400" dirty="0">
                <a:latin typeface="Arial" panose="020B0604020202020204" pitchFamily="34" charset="0"/>
                <a:cs typeface="Arial" panose="020B0604020202020204" pitchFamily="34" charset="0"/>
              </a:rPr>
              <a:t>Nodes request data by sending </a:t>
            </a:r>
            <a:r>
              <a:rPr lang="en-US" altLang="zh-CN" sz="2400" dirty="0">
                <a:solidFill>
                  <a:srgbClr val="FF0000"/>
                </a:solidFill>
                <a:latin typeface="Arial" panose="020B0604020202020204" pitchFamily="34" charset="0"/>
                <a:cs typeface="Arial" panose="020B0604020202020204" pitchFamily="34" charset="0"/>
              </a:rPr>
              <a:t>interests</a:t>
            </a:r>
            <a:r>
              <a:rPr lang="en-US" altLang="zh-CN" sz="2400" dirty="0">
                <a:latin typeface="Arial" panose="020B0604020202020204" pitchFamily="34" charset="0"/>
                <a:cs typeface="Arial" panose="020B0604020202020204" pitchFamily="34" charset="0"/>
              </a:rPr>
              <a:t> for named data </a:t>
            </a:r>
          </a:p>
          <a:p>
            <a:pPr lvl="1">
              <a:lnSpc>
                <a:spcPct val="120000"/>
              </a:lnSpc>
            </a:pPr>
            <a:r>
              <a:rPr lang="en-US" altLang="zh-CN" sz="2000" dirty="0">
                <a:latin typeface="Arial" panose="020B0604020202020204" pitchFamily="34" charset="0"/>
                <a:cs typeface="Arial" panose="020B0604020202020204" pitchFamily="34" charset="0"/>
              </a:rPr>
              <a:t>data is named by attribute-value pairs</a:t>
            </a:r>
          </a:p>
          <a:p>
            <a:pPr>
              <a:lnSpc>
                <a:spcPct val="120000"/>
              </a:lnSpc>
            </a:pPr>
            <a:r>
              <a:rPr lang="en-US" altLang="zh-CN" sz="2400" dirty="0">
                <a:latin typeface="Arial" panose="020B0604020202020204" pitchFamily="34" charset="0"/>
                <a:cs typeface="Arial" panose="020B0604020202020204" pitchFamily="34" charset="0"/>
              </a:rPr>
              <a:t>Interest dissemination sets up  </a:t>
            </a:r>
            <a:r>
              <a:rPr lang="en-US" altLang="zh-CN" sz="2400" dirty="0">
                <a:solidFill>
                  <a:srgbClr val="FF0000"/>
                </a:solidFill>
                <a:latin typeface="Arial" panose="020B0604020202020204" pitchFamily="34" charset="0"/>
                <a:cs typeface="Arial" panose="020B0604020202020204" pitchFamily="34" charset="0"/>
              </a:rPr>
              <a:t>gradients</a:t>
            </a:r>
            <a:r>
              <a:rPr lang="en-US" altLang="zh-CN" sz="2400" dirty="0">
                <a:latin typeface="Arial" panose="020B0604020202020204" pitchFamily="34" charset="0"/>
                <a:cs typeface="Arial" panose="020B0604020202020204" pitchFamily="34" charset="0"/>
              </a:rPr>
              <a:t> within network to direct sensor data toward recipient</a:t>
            </a:r>
          </a:p>
          <a:p>
            <a:pPr>
              <a:lnSpc>
                <a:spcPct val="120000"/>
              </a:lnSpc>
            </a:pPr>
            <a:r>
              <a:rPr lang="en-US" altLang="zh-CN" sz="2400" dirty="0">
                <a:latin typeface="Arial" panose="020B0604020202020204" pitchFamily="34" charset="0"/>
                <a:cs typeface="Arial" panose="020B0604020202020204" pitchFamily="34" charset="0"/>
              </a:rPr>
              <a:t>Intermediate nodes along the paths can combine data from different sources </a:t>
            </a:r>
          </a:p>
          <a:p>
            <a:pPr lvl="1">
              <a:lnSpc>
                <a:spcPct val="120000"/>
              </a:lnSpc>
            </a:pPr>
            <a:r>
              <a:rPr lang="en-US" altLang="zh-CN" sz="2000" dirty="0">
                <a:latin typeface="Arial" panose="020B0604020202020204" pitchFamily="34" charset="0"/>
                <a:cs typeface="Arial" panose="020B0604020202020204" pitchFamily="34" charset="0"/>
              </a:rPr>
              <a:t>eliminates redundancy </a:t>
            </a:r>
          </a:p>
          <a:p>
            <a:pPr lvl="1">
              <a:lnSpc>
                <a:spcPct val="120000"/>
              </a:lnSpc>
            </a:pPr>
            <a:r>
              <a:rPr lang="en-US" altLang="zh-CN" sz="2000" dirty="0">
                <a:latin typeface="Arial" panose="020B0604020202020204" pitchFamily="34" charset="0"/>
                <a:cs typeface="Arial" panose="020B0604020202020204" pitchFamily="34" charset="0"/>
              </a:rPr>
              <a:t>reduce number of transmissions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6543794"/>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199" y="365125"/>
            <a:ext cx="10871447" cy="1325563"/>
          </a:xfrm>
        </p:spPr>
        <p:txBody>
          <a:bodyPr>
            <a:normAutofit/>
          </a:bodyPr>
          <a:lstStyle/>
          <a:p>
            <a:r>
              <a:rPr lang="en-US" altLang="zh-CN" b="1" dirty="0">
                <a:latin typeface="Arial" panose="020B0604020202020204" pitchFamily="34" charset="0"/>
                <a:cs typeface="Arial" panose="020B0604020202020204" pitchFamily="34" charset="0"/>
              </a:rPr>
              <a:t>Directed Diffusion: Attribute-Value Pairs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1040122" cy="4351338"/>
          </a:xfrm>
        </p:spPr>
        <p:txBody>
          <a:bodyPr/>
          <a:lstStyle/>
          <a:p>
            <a:pPr>
              <a:lnSpc>
                <a:spcPct val="120000"/>
              </a:lnSpc>
            </a:pPr>
            <a:r>
              <a:rPr lang="en-US" altLang="zh-CN" sz="2400" dirty="0">
                <a:latin typeface="Arial" panose="020B0604020202020204" pitchFamily="34" charset="0"/>
                <a:cs typeface="Arial" panose="020B0604020202020204" pitchFamily="34" charset="0"/>
              </a:rPr>
              <a:t>Simple vehicle-tracking application</a:t>
            </a:r>
          </a:p>
          <a:p>
            <a:pPr lvl="1">
              <a:lnSpc>
                <a:spcPct val="120000"/>
              </a:lnSpc>
            </a:pPr>
            <a:r>
              <a:rPr lang="en-US" altLang="zh-CN" sz="2000" i="1" dirty="0">
                <a:latin typeface="Arial" panose="020B0604020202020204" pitchFamily="34" charset="0"/>
                <a:cs typeface="Arial" panose="020B0604020202020204" pitchFamily="34" charset="0"/>
              </a:rPr>
              <a:t>type = vehicle 			// detect vehicle location </a:t>
            </a:r>
          </a:p>
          <a:p>
            <a:pPr lvl="1">
              <a:lnSpc>
                <a:spcPct val="120000"/>
              </a:lnSpc>
            </a:pPr>
            <a:r>
              <a:rPr lang="en-US" altLang="zh-CN" sz="2000" i="1" dirty="0">
                <a:latin typeface="Arial" panose="020B0604020202020204" pitchFamily="34" charset="0"/>
                <a:cs typeface="Arial" panose="020B0604020202020204" pitchFamily="34" charset="0"/>
              </a:rPr>
              <a:t>interval = 20 </a:t>
            </a:r>
            <a:r>
              <a:rPr lang="en-US" altLang="zh-CN" sz="2000" i="1" dirty="0" err="1">
                <a:latin typeface="Arial" panose="020B0604020202020204" pitchFamily="34" charset="0"/>
                <a:cs typeface="Arial" panose="020B0604020202020204" pitchFamily="34" charset="0"/>
              </a:rPr>
              <a:t>ms</a:t>
            </a:r>
            <a:r>
              <a:rPr lang="en-US" altLang="zh-CN" sz="2000" i="1" dirty="0">
                <a:latin typeface="Arial" panose="020B0604020202020204" pitchFamily="34" charset="0"/>
                <a:cs typeface="Arial" panose="020B0604020202020204" pitchFamily="34" charset="0"/>
              </a:rPr>
              <a:t> 		             // send data every 20 </a:t>
            </a:r>
            <a:r>
              <a:rPr lang="en-US" altLang="zh-CN" sz="2000" i="1" dirty="0" err="1">
                <a:latin typeface="Arial" panose="020B0604020202020204" pitchFamily="34" charset="0"/>
                <a:cs typeface="Arial" panose="020B0604020202020204" pitchFamily="34" charset="0"/>
              </a:rPr>
              <a:t>ms</a:t>
            </a:r>
            <a:r>
              <a:rPr lang="en-US" altLang="zh-CN" sz="2000" i="1" dirty="0">
                <a:latin typeface="Arial" panose="020B0604020202020204" pitchFamily="34" charset="0"/>
                <a:cs typeface="Arial" panose="020B0604020202020204" pitchFamily="34" charset="0"/>
              </a:rPr>
              <a:t> </a:t>
            </a:r>
          </a:p>
          <a:p>
            <a:pPr lvl="1">
              <a:lnSpc>
                <a:spcPct val="120000"/>
              </a:lnSpc>
            </a:pPr>
            <a:r>
              <a:rPr lang="en-US" altLang="zh-CN" sz="2000" i="1" dirty="0">
                <a:latin typeface="Arial" panose="020B0604020202020204" pitchFamily="34" charset="0"/>
                <a:cs typeface="Arial" panose="020B0604020202020204" pitchFamily="34" charset="0"/>
              </a:rPr>
              <a:t>duration = 10 s 		             // perform task for 10 s</a:t>
            </a:r>
          </a:p>
          <a:p>
            <a:pPr lvl="1">
              <a:lnSpc>
                <a:spcPct val="120000"/>
              </a:lnSpc>
            </a:pPr>
            <a:r>
              <a:rPr lang="en-US" altLang="zh-CN" sz="2000" i="1" dirty="0" err="1">
                <a:latin typeface="Arial" panose="020B0604020202020204" pitchFamily="34" charset="0"/>
                <a:cs typeface="Arial" panose="020B0604020202020204" pitchFamily="34" charset="0"/>
              </a:rPr>
              <a:t>rect</a:t>
            </a:r>
            <a:r>
              <a:rPr lang="en-US" altLang="zh-CN" sz="2000" i="1" dirty="0">
                <a:latin typeface="Arial" panose="020B0604020202020204" pitchFamily="34" charset="0"/>
                <a:cs typeface="Arial" panose="020B0604020202020204" pitchFamily="34" charset="0"/>
              </a:rPr>
              <a:t> = [-100,-100,200,200] 	// from sensors within rectangle </a:t>
            </a:r>
          </a:p>
          <a:p>
            <a:pPr marL="0" indent="0">
              <a:lnSpc>
                <a:spcPct val="120000"/>
              </a:lnSpc>
              <a:buNone/>
            </a:pPr>
            <a:endParaRPr lang="en-US" altLang="zh-CN" dirty="0">
              <a:latin typeface="Arial" panose="020B0604020202020204" pitchFamily="34" charset="0"/>
              <a:cs typeface="Arial" panose="020B0604020202020204" pitchFamily="34" charset="0"/>
            </a:endParaRPr>
          </a:p>
          <a:p>
            <a:pPr>
              <a:lnSpc>
                <a:spcPct val="120000"/>
              </a:lnSpc>
            </a:pPr>
            <a:endParaRPr lang="en-US" altLang="zh-CN" dirty="0">
              <a:latin typeface="Arial" panose="020B0604020202020204" pitchFamily="34" charset="0"/>
              <a:cs typeface="Arial" panose="020B0604020202020204" pitchFamily="34" charset="0"/>
            </a:endParaRPr>
          </a:p>
          <a:p>
            <a:pPr marL="0" indent="0" algn="ctr">
              <a:lnSpc>
                <a:spcPct val="120000"/>
              </a:lnSpc>
              <a:buNone/>
            </a:pPr>
            <a:endParaRPr lang="en-US" altLang="zh-CN"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9961497"/>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Directed Diffusion </a:t>
            </a:r>
            <a:endParaRPr lang="zh-CN" altLang="en-US" dirty="0">
              <a:latin typeface="Arial" panose="020B0604020202020204" pitchFamily="34" charset="0"/>
              <a:cs typeface="Arial" panose="020B0604020202020204" pitchFamily="34" charset="0"/>
            </a:endParaRPr>
          </a:p>
        </p:txBody>
      </p:sp>
      <p:sp>
        <p:nvSpPr>
          <p:cNvPr id="7" name="内容占位符 6"/>
          <p:cNvSpPr>
            <a:spLocks noGrp="1"/>
          </p:cNvSpPr>
          <p:nvPr>
            <p:ph idx="1"/>
          </p:nvPr>
        </p:nvSpPr>
        <p:spPr>
          <a:xfrm>
            <a:off x="838200" y="1976545"/>
            <a:ext cx="10773792" cy="4351338"/>
          </a:xfrm>
        </p:spPr>
        <p:txBody>
          <a:bodyPr>
            <a:noAutofit/>
          </a:bodyPr>
          <a:lstStyle/>
          <a:p>
            <a:pPr>
              <a:lnSpc>
                <a:spcPct val="120000"/>
              </a:lnSpc>
            </a:pPr>
            <a:endParaRPr lang="en-US" altLang="zh-CN" sz="2000" dirty="0">
              <a:latin typeface="Arial" panose="020B0604020202020204" pitchFamily="34" charset="0"/>
              <a:cs typeface="Arial" panose="020B0604020202020204" pitchFamily="34" charset="0"/>
            </a:endParaRPr>
          </a:p>
          <a:p>
            <a:pPr>
              <a:lnSpc>
                <a:spcPct val="120000"/>
              </a:lnSpc>
            </a:pPr>
            <a:endParaRPr lang="en-US" altLang="zh-CN" sz="2000" dirty="0">
              <a:latin typeface="Arial" panose="020B0604020202020204" pitchFamily="34" charset="0"/>
              <a:cs typeface="Arial" panose="020B0604020202020204" pitchFamily="34" charset="0"/>
            </a:endParaRPr>
          </a:p>
          <a:p>
            <a:pPr>
              <a:lnSpc>
                <a:spcPct val="120000"/>
              </a:lnSpc>
            </a:pPr>
            <a:endParaRPr lang="en-US" altLang="zh-CN" sz="2000" dirty="0">
              <a:latin typeface="Arial" panose="020B0604020202020204" pitchFamily="34" charset="0"/>
              <a:cs typeface="Arial" panose="020B0604020202020204" pitchFamily="34" charset="0"/>
            </a:endParaRPr>
          </a:p>
          <a:p>
            <a:pPr>
              <a:lnSpc>
                <a:spcPct val="120000"/>
              </a:lnSpc>
            </a:pPr>
            <a:endParaRPr lang="en-US" altLang="zh-CN" sz="2000" dirty="0">
              <a:latin typeface="Arial" panose="020B0604020202020204" pitchFamily="34" charset="0"/>
              <a:cs typeface="Arial" panose="020B0604020202020204" pitchFamily="34" charset="0"/>
            </a:endParaRPr>
          </a:p>
          <a:p>
            <a:pPr marL="0" indent="0">
              <a:lnSpc>
                <a:spcPct val="120000"/>
              </a:lnSpc>
              <a:buNone/>
            </a:pPr>
            <a:endParaRPr lang="en-US" altLang="zh-CN" sz="2000" dirty="0">
              <a:latin typeface="Arial" panose="020B0604020202020204" pitchFamily="34" charset="0"/>
              <a:cs typeface="Arial" panose="020B0604020202020204" pitchFamily="34" charset="0"/>
            </a:endParaRPr>
          </a:p>
          <a:p>
            <a:pPr>
              <a:lnSpc>
                <a:spcPct val="120000"/>
              </a:lnSpc>
            </a:pPr>
            <a:r>
              <a:rPr lang="en-US" altLang="zh-CN" sz="2000" dirty="0">
                <a:latin typeface="Arial" panose="020B0604020202020204" pitchFamily="34" charset="0"/>
                <a:cs typeface="Arial" panose="020B0604020202020204" pitchFamily="34" charset="0"/>
              </a:rPr>
              <a:t>Interested node (sink) periodically sends interest to neighbors, which re-broadcast these messages (a)</a:t>
            </a:r>
          </a:p>
          <a:p>
            <a:pPr>
              <a:lnSpc>
                <a:spcPct val="120000"/>
              </a:lnSpc>
            </a:pPr>
            <a:r>
              <a:rPr lang="en-US" altLang="zh-CN" sz="2000" dirty="0">
                <a:latin typeface="Arial" panose="020B0604020202020204" pitchFamily="34" charset="0"/>
                <a:cs typeface="Arial" panose="020B0604020202020204" pitchFamily="34" charset="0"/>
              </a:rPr>
              <a:t>Each node establishes a gradient towards the sink, which is a reply link toward the neighbor from which the interest was received (b) </a:t>
            </a:r>
          </a:p>
          <a:p>
            <a:pPr>
              <a:lnSpc>
                <a:spcPct val="120000"/>
              </a:lnSpc>
            </a:pPr>
            <a:r>
              <a:rPr lang="en-US" altLang="zh-CN" sz="2000" dirty="0">
                <a:latin typeface="Arial" panose="020B0604020202020204" pitchFamily="34" charset="0"/>
                <a:cs typeface="Arial" panose="020B0604020202020204" pitchFamily="34" charset="0"/>
              </a:rPr>
              <a:t>Source can send data towards sink using these gradients (c) </a:t>
            </a:r>
            <a:endParaRPr lang="zh-CN" altLang="en-US" sz="2000" dirty="0">
              <a:latin typeface="Arial" panose="020B0604020202020204" pitchFamily="34" charset="0"/>
              <a:cs typeface="Arial" panose="020B0604020202020204" pitchFamily="34" charset="0"/>
            </a:endParaRP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0767" y="1452083"/>
            <a:ext cx="6410466" cy="2972511"/>
          </a:xfrm>
          <a:prstGeom prst="rect">
            <a:avLst/>
          </a:prstGeom>
        </p:spPr>
      </p:pic>
    </p:spTree>
    <p:extLst>
      <p:ext uri="{BB962C8B-B14F-4D97-AF65-F5344CB8AC3E}">
        <p14:creationId xmlns:p14="http://schemas.microsoft.com/office/powerpoint/2010/main" val="257603977"/>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Directed Diffusion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50417"/>
            <a:ext cx="10720526" cy="4351338"/>
          </a:xfrm>
        </p:spPr>
        <p:txBody>
          <a:bodyPr>
            <a:noAutofit/>
          </a:bodyPr>
          <a:lstStyle/>
          <a:p>
            <a:pPr>
              <a:lnSpc>
                <a:spcPct val="120000"/>
              </a:lnSpc>
            </a:pPr>
            <a:r>
              <a:rPr lang="en-US" altLang="zh-CN" sz="2400" dirty="0">
                <a:solidFill>
                  <a:srgbClr val="FF0000"/>
                </a:solidFill>
                <a:latin typeface="Arial" panose="020B0604020202020204" pitchFamily="34" charset="0"/>
                <a:cs typeface="Arial" panose="020B0604020202020204" pitchFamily="34" charset="0"/>
              </a:rPr>
              <a:t>Reinforcement: </a:t>
            </a:r>
          </a:p>
          <a:p>
            <a:pPr lvl="1">
              <a:lnSpc>
                <a:spcPct val="120000"/>
              </a:lnSpc>
            </a:pPr>
            <a:r>
              <a:rPr lang="en-US" altLang="zh-CN" sz="2000" dirty="0">
                <a:latin typeface="Arial" panose="020B0604020202020204" pitchFamily="34" charset="0"/>
                <a:cs typeface="Arial" panose="020B0604020202020204" pitchFamily="34" charset="0"/>
              </a:rPr>
              <a:t>multiple paths from source to sink may exist</a:t>
            </a:r>
          </a:p>
          <a:p>
            <a:pPr lvl="1">
              <a:lnSpc>
                <a:spcPct val="120000"/>
              </a:lnSpc>
            </a:pPr>
            <a:r>
              <a:rPr lang="en-US" altLang="zh-CN" sz="2000" dirty="0">
                <a:latin typeface="Arial" panose="020B0604020202020204" pitchFamily="34" charset="0"/>
                <a:cs typeface="Arial" panose="020B0604020202020204" pitchFamily="34" charset="0"/>
              </a:rPr>
              <a:t>sink can reinforce one particular neighbor based on some data-driven local rule</a:t>
            </a:r>
          </a:p>
          <a:p>
            <a:pPr lvl="2">
              <a:lnSpc>
                <a:spcPct val="120000"/>
              </a:lnSpc>
            </a:pPr>
            <a:r>
              <a:rPr lang="en-US" altLang="zh-CN" sz="1800" dirty="0">
                <a:latin typeface="Arial" panose="020B0604020202020204" pitchFamily="34" charset="0"/>
                <a:cs typeface="Arial" panose="020B0604020202020204" pitchFamily="34" charset="0"/>
              </a:rPr>
              <a:t>example: sink could reinforce neighbor from which it has received a previously unseen event </a:t>
            </a:r>
          </a:p>
          <a:p>
            <a:pPr lvl="2">
              <a:lnSpc>
                <a:spcPct val="120000"/>
              </a:lnSpc>
            </a:pPr>
            <a:r>
              <a:rPr lang="en-US" altLang="zh-CN" sz="1800" dirty="0">
                <a:latin typeface="Arial" panose="020B0604020202020204" pitchFamily="34" charset="0"/>
                <a:cs typeface="Arial" panose="020B0604020202020204" pitchFamily="34" charset="0"/>
              </a:rPr>
              <a:t>sink resends original interest message to that neighbor, which in turn reinforces one or more of its neighbors based on its own local rule</a:t>
            </a:r>
          </a:p>
          <a:p>
            <a:pPr>
              <a:lnSpc>
                <a:spcPct val="120000"/>
              </a:lnSpc>
            </a:pPr>
            <a:r>
              <a:rPr lang="en-US" altLang="zh-CN" sz="2400" dirty="0">
                <a:solidFill>
                  <a:srgbClr val="FF0000"/>
                </a:solidFill>
                <a:latin typeface="Arial" panose="020B0604020202020204" pitchFamily="34" charset="0"/>
                <a:cs typeface="Arial" panose="020B0604020202020204" pitchFamily="34" charset="0"/>
              </a:rPr>
              <a:t>Comparison to SPIN:</a:t>
            </a:r>
          </a:p>
          <a:p>
            <a:pPr lvl="1">
              <a:lnSpc>
                <a:spcPct val="120000"/>
              </a:lnSpc>
            </a:pPr>
            <a:r>
              <a:rPr lang="en-US" altLang="zh-CN" sz="2000" dirty="0">
                <a:latin typeface="Arial" panose="020B0604020202020204" pitchFamily="34" charset="0"/>
                <a:cs typeface="Arial" panose="020B0604020202020204" pitchFamily="34" charset="0"/>
              </a:rPr>
              <a:t>interests (queries) are issued on demand by the sink (instead of source advertisements)</a:t>
            </a:r>
          </a:p>
          <a:p>
            <a:pPr lvl="2">
              <a:lnSpc>
                <a:spcPct val="120000"/>
              </a:lnSpc>
            </a:pPr>
            <a:r>
              <a:rPr lang="en-US" altLang="zh-CN" sz="1800" dirty="0">
                <a:latin typeface="Arial" panose="020B0604020202020204" pitchFamily="34" charset="0"/>
                <a:cs typeface="Arial" panose="020B0604020202020204" pitchFamily="34" charset="0"/>
              </a:rPr>
              <a:t>query-based approach may not be best solutions for networks with need for continuous data transfers (e.g., environmental monitoring) </a:t>
            </a:r>
          </a:p>
          <a:p>
            <a:pPr lvl="1">
              <a:lnSpc>
                <a:spcPct val="120000"/>
              </a:lnSpc>
            </a:pPr>
            <a:r>
              <a:rPr lang="en-US" altLang="zh-CN" sz="2000" dirty="0">
                <a:latin typeface="Arial" panose="020B0604020202020204" pitchFamily="34" charset="0"/>
                <a:cs typeface="Arial" panose="020B0604020202020204" pitchFamily="34" charset="0"/>
              </a:rPr>
              <a:t>communication is all neighbor-to-neighbor (removing the need for addressing schemes and allowing nodes to perform aggregation and caching)</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5731655"/>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Rumor Routing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69125"/>
            <a:ext cx="10515600" cy="4823750"/>
          </a:xfrm>
        </p:spPr>
        <p:txBody>
          <a:bodyPr>
            <a:normAutofit/>
          </a:bodyPr>
          <a:lstStyle/>
          <a:p>
            <a:pPr>
              <a:lnSpc>
                <a:spcPct val="120000"/>
              </a:lnSpc>
            </a:pPr>
            <a:r>
              <a:rPr lang="en-US" altLang="zh-CN" dirty="0">
                <a:latin typeface="Arial" panose="020B0604020202020204" pitchFamily="34" charset="0"/>
                <a:cs typeface="Arial" panose="020B0604020202020204" pitchFamily="34" charset="0"/>
              </a:rPr>
              <a:t>Attempt to combine characteristics of  </a:t>
            </a:r>
            <a:r>
              <a:rPr lang="en-US" altLang="zh-CN" dirty="0">
                <a:solidFill>
                  <a:srgbClr val="FF0000"/>
                </a:solidFill>
                <a:latin typeface="Arial" panose="020B0604020202020204" pitchFamily="34" charset="0"/>
                <a:cs typeface="Arial" panose="020B0604020202020204" pitchFamily="34" charset="0"/>
              </a:rPr>
              <a:t>event flooding </a:t>
            </a:r>
            <a:r>
              <a:rPr lang="en-US" altLang="zh-CN" dirty="0">
                <a:latin typeface="Arial" panose="020B0604020202020204" pitchFamily="34" charset="0"/>
                <a:cs typeface="Arial" panose="020B0604020202020204" pitchFamily="34" charset="0"/>
              </a:rPr>
              <a:t>(classic flooding) and </a:t>
            </a:r>
            <a:r>
              <a:rPr lang="en-US" altLang="zh-CN" dirty="0">
                <a:solidFill>
                  <a:srgbClr val="FF0000"/>
                </a:solidFill>
                <a:latin typeface="Arial" panose="020B0604020202020204" pitchFamily="34" charset="0"/>
                <a:cs typeface="Arial" panose="020B0604020202020204" pitchFamily="34" charset="0"/>
              </a:rPr>
              <a:t>query flooding  </a:t>
            </a:r>
            <a:r>
              <a:rPr lang="en-US" altLang="zh-CN" dirty="0">
                <a:latin typeface="Arial" panose="020B0604020202020204" pitchFamily="34" charset="0"/>
                <a:cs typeface="Arial" panose="020B0604020202020204" pitchFamily="34" charset="0"/>
              </a:rPr>
              <a:t>(directed diffusion)</a:t>
            </a:r>
          </a:p>
          <a:p>
            <a:pPr>
              <a:lnSpc>
                <a:spcPct val="120000"/>
              </a:lnSpc>
            </a:pPr>
            <a:r>
              <a:rPr lang="en-US" altLang="zh-CN" dirty="0">
                <a:latin typeface="Arial" panose="020B0604020202020204" pitchFamily="34" charset="0"/>
                <a:cs typeface="Arial" panose="020B0604020202020204" pitchFamily="34" charset="0"/>
              </a:rPr>
              <a:t>Nodes maintain two data structures: </a:t>
            </a:r>
          </a:p>
          <a:p>
            <a:pPr lvl="1">
              <a:lnSpc>
                <a:spcPct val="120000"/>
              </a:lnSpc>
            </a:pPr>
            <a:r>
              <a:rPr lang="en-US" altLang="zh-CN" dirty="0">
                <a:solidFill>
                  <a:srgbClr val="FF0000"/>
                </a:solidFill>
                <a:latin typeface="Arial" panose="020B0604020202020204" pitchFamily="34" charset="0"/>
                <a:cs typeface="Arial" panose="020B0604020202020204" pitchFamily="34" charset="0"/>
              </a:rPr>
              <a:t>list of neighbors</a:t>
            </a:r>
          </a:p>
          <a:p>
            <a:pPr lvl="1">
              <a:lnSpc>
                <a:spcPct val="120000"/>
              </a:lnSpc>
            </a:pPr>
            <a:r>
              <a:rPr lang="en-US" altLang="zh-CN" dirty="0">
                <a:solidFill>
                  <a:srgbClr val="FF0000"/>
                </a:solidFill>
                <a:latin typeface="Arial" panose="020B0604020202020204" pitchFamily="34" charset="0"/>
                <a:cs typeface="Arial" panose="020B0604020202020204" pitchFamily="34" charset="0"/>
              </a:rPr>
              <a:t>event table </a:t>
            </a:r>
            <a:r>
              <a:rPr lang="en-US" altLang="zh-CN" dirty="0">
                <a:latin typeface="Arial" panose="020B0604020202020204" pitchFamily="34" charset="0"/>
                <a:cs typeface="Arial" panose="020B0604020202020204" pitchFamily="34" charset="0"/>
              </a:rPr>
              <a:t>that contains forwarding information to all known events </a:t>
            </a:r>
          </a:p>
          <a:p>
            <a:pPr lvl="2">
              <a:lnSpc>
                <a:spcPct val="120000"/>
              </a:lnSpc>
            </a:pPr>
            <a:r>
              <a:rPr lang="en-US" altLang="zh-CN" dirty="0">
                <a:latin typeface="Arial" panose="020B0604020202020204" pitchFamily="34" charset="0"/>
                <a:cs typeface="Arial" panose="020B0604020202020204" pitchFamily="34" charset="0"/>
              </a:rPr>
              <a:t>once an event is witnessed, it is added to the table (including a distance of 0) and an  </a:t>
            </a:r>
            <a:r>
              <a:rPr lang="en-US" altLang="zh-CN" dirty="0">
                <a:solidFill>
                  <a:srgbClr val="FF0000"/>
                </a:solidFill>
                <a:latin typeface="Arial" panose="020B0604020202020204" pitchFamily="34" charset="0"/>
                <a:cs typeface="Arial" panose="020B0604020202020204" pitchFamily="34" charset="0"/>
              </a:rPr>
              <a:t>agent</a:t>
            </a:r>
            <a:r>
              <a:rPr lang="en-US" altLang="zh-CN" dirty="0">
                <a:latin typeface="Arial" panose="020B0604020202020204" pitchFamily="34" charset="0"/>
                <a:cs typeface="Arial" panose="020B0604020202020204" pitchFamily="34" charset="0"/>
              </a:rPr>
              <a:t>  is generated with certain probability </a:t>
            </a:r>
          </a:p>
          <a:p>
            <a:pPr lvl="2">
              <a:lnSpc>
                <a:spcPct val="120000"/>
              </a:lnSpc>
            </a:pPr>
            <a:r>
              <a:rPr lang="en-US" altLang="zh-CN" dirty="0">
                <a:latin typeface="Arial" panose="020B0604020202020204" pitchFamily="34" charset="0"/>
                <a:cs typeface="Arial" panose="020B0604020202020204" pitchFamily="34" charset="0"/>
              </a:rPr>
              <a:t>agent is a long-lived packet traveling the network to propagate information about this new event (and other events encountered along its route) </a:t>
            </a:r>
          </a:p>
          <a:p>
            <a:pPr lvl="2">
              <a:lnSpc>
                <a:spcPct val="120000"/>
              </a:lnSpc>
            </a:pPr>
            <a:r>
              <a:rPr lang="en-US" altLang="zh-CN" dirty="0">
                <a:latin typeface="Arial" panose="020B0604020202020204" pitchFamily="34" charset="0"/>
                <a:cs typeface="Arial" panose="020B0604020202020204" pitchFamily="34" charset="0"/>
              </a:rPr>
              <a:t>once agent arrives at a node, the node can update its table</a:t>
            </a:r>
          </a:p>
          <a:p>
            <a:pPr>
              <a:lnSpc>
                <a:spcPct val="120000"/>
              </a:lnSpc>
            </a:pPr>
            <a:endParaRPr lang="en-US" altLang="zh-CN" dirty="0">
              <a:latin typeface="Arial" panose="020B0604020202020204" pitchFamily="34" charset="0"/>
              <a:cs typeface="Arial" panose="020B0604020202020204" pitchFamily="34" charset="0"/>
            </a:endParaRPr>
          </a:p>
          <a:p>
            <a:pPr>
              <a:lnSpc>
                <a:spcPct val="120000"/>
              </a:lnSpc>
            </a:pPr>
            <a:endParaRPr lang="en-US" altLang="zh-CN" dirty="0">
              <a:latin typeface="Arial" panose="020B0604020202020204" pitchFamily="34" charset="0"/>
              <a:cs typeface="Arial" panose="020B0604020202020204" pitchFamily="34" charset="0"/>
            </a:endParaRPr>
          </a:p>
          <a:p>
            <a:pPr>
              <a:lnSpc>
                <a:spcPct val="120000"/>
              </a:lnSpc>
            </a:pPr>
            <a:endParaRPr lang="en-US" altLang="zh-CN" dirty="0">
              <a:latin typeface="Arial" panose="020B0604020202020204" pitchFamily="34" charset="0"/>
              <a:cs typeface="Arial" panose="020B0604020202020204" pitchFamily="34" charset="0"/>
            </a:endParaRPr>
          </a:p>
          <a:p>
            <a:pPr>
              <a:lnSpc>
                <a:spcPct val="120000"/>
              </a:lnSpc>
            </a:pPr>
            <a:endParaRPr lang="en-US" altLang="zh-CN" dirty="0">
              <a:latin typeface="Arial" panose="020B0604020202020204" pitchFamily="34" charset="0"/>
              <a:cs typeface="Arial" panose="020B0604020202020204" pitchFamily="34" charset="0"/>
            </a:endParaRPr>
          </a:p>
          <a:p>
            <a:pPr>
              <a:lnSpc>
                <a:spcPct val="120000"/>
              </a:lnSpc>
            </a:pPr>
            <a:endParaRPr lang="en-US" altLang="zh-CN" dirty="0">
              <a:latin typeface="Arial" panose="020B0604020202020204" pitchFamily="34" charset="0"/>
              <a:cs typeface="Arial" panose="020B0604020202020204" pitchFamily="34" charset="0"/>
            </a:endParaRPr>
          </a:p>
          <a:p>
            <a:pPr>
              <a:lnSpc>
                <a:spcPct val="120000"/>
              </a:lnSpc>
            </a:pPr>
            <a:endParaRPr lang="en-US" altLang="zh-CN" dirty="0">
              <a:latin typeface="Arial" panose="020B0604020202020204" pitchFamily="34" charset="0"/>
              <a:cs typeface="Arial" panose="020B0604020202020204" pitchFamily="34" charset="0"/>
            </a:endParaRPr>
          </a:p>
          <a:p>
            <a:pPr marL="0" indent="0">
              <a:lnSpc>
                <a:spcPct val="120000"/>
              </a:lnSpc>
              <a:buNone/>
            </a:pP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3434566"/>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Rumor Routing: Example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03683"/>
            <a:ext cx="10515600" cy="4351338"/>
          </a:xfrm>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Node E reports new event E1 using agent</a:t>
            </a:r>
          </a:p>
          <a:p>
            <a:pPr>
              <a:lnSpc>
                <a:spcPct val="120000"/>
              </a:lnSpc>
            </a:pPr>
            <a:r>
              <a:rPr lang="en-US" altLang="zh-CN" sz="2400" dirty="0">
                <a:latin typeface="Arial" panose="020B0604020202020204" pitchFamily="34" charset="0"/>
                <a:cs typeface="Arial" panose="020B0604020202020204" pitchFamily="34" charset="0"/>
              </a:rPr>
              <a:t>A receives agent via G and updates its table reflecting shorter distance to E1 via G </a:t>
            </a:r>
            <a:endParaRPr lang="en-US" altLang="zh-CN" sz="2000" dirty="0">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3203580"/>
            <a:ext cx="7162800" cy="3530132"/>
          </a:xfrm>
          <a:prstGeom prst="rect">
            <a:avLst/>
          </a:prstGeom>
        </p:spPr>
      </p:pic>
    </p:spTree>
    <p:extLst>
      <p:ext uri="{BB962C8B-B14F-4D97-AF65-F5344CB8AC3E}">
        <p14:creationId xmlns:p14="http://schemas.microsoft.com/office/powerpoint/2010/main" val="2518398695"/>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Rumor Routing: Queries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53592"/>
            <a:ext cx="10515600" cy="5291091"/>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When node wants to issue query for certain event:</a:t>
            </a:r>
          </a:p>
          <a:p>
            <a:pPr lvl="1">
              <a:lnSpc>
                <a:spcPct val="120000"/>
              </a:lnSpc>
            </a:pPr>
            <a:r>
              <a:rPr lang="en-US" altLang="zh-CN" sz="2000" dirty="0">
                <a:latin typeface="Arial" panose="020B0604020202020204" pitchFamily="34" charset="0"/>
                <a:cs typeface="Arial" panose="020B0604020202020204" pitchFamily="34" charset="0"/>
              </a:rPr>
              <a:t>check if route towards event is in table </a:t>
            </a:r>
          </a:p>
          <a:p>
            <a:pPr lvl="2">
              <a:lnSpc>
                <a:spcPct val="120000"/>
              </a:lnSpc>
            </a:pPr>
            <a:r>
              <a:rPr lang="en-US" altLang="zh-CN" dirty="0">
                <a:latin typeface="Arial" panose="020B0604020202020204" pitchFamily="34" charset="0"/>
                <a:cs typeface="Arial" panose="020B0604020202020204" pitchFamily="34" charset="0"/>
              </a:rPr>
              <a:t>if yes, forward query to next-hop neighbor indicated in table </a:t>
            </a:r>
          </a:p>
          <a:p>
            <a:pPr lvl="2">
              <a:lnSpc>
                <a:spcPct val="120000"/>
              </a:lnSpc>
            </a:pPr>
            <a:r>
              <a:rPr lang="en-US" altLang="zh-CN" dirty="0">
                <a:latin typeface="Arial" panose="020B0604020202020204" pitchFamily="34" charset="0"/>
                <a:cs typeface="Arial" panose="020B0604020202020204" pitchFamily="34" charset="0"/>
              </a:rPr>
              <a:t>if no, pass query to randomly selected neighbor</a:t>
            </a:r>
          </a:p>
          <a:p>
            <a:pPr lvl="1">
              <a:lnSpc>
                <a:spcPct val="120000"/>
              </a:lnSpc>
            </a:pPr>
            <a:r>
              <a:rPr lang="en-US" altLang="zh-CN" sz="2000" dirty="0">
                <a:latin typeface="Arial" panose="020B0604020202020204" pitchFamily="34" charset="0"/>
                <a:cs typeface="Arial" panose="020B0604020202020204" pitchFamily="34" charset="0"/>
              </a:rPr>
              <a:t>process is continued on each forwarding node and query collects list of recently seen nodes (to avoid revisiting them)</a:t>
            </a:r>
          </a:p>
          <a:p>
            <a:pPr lvl="1">
              <a:lnSpc>
                <a:spcPct val="120000"/>
              </a:lnSpc>
            </a:pPr>
            <a:r>
              <a:rPr lang="en-US" altLang="zh-CN" sz="2000" dirty="0">
                <a:latin typeface="Arial" panose="020B0604020202020204" pitchFamily="34" charset="0"/>
                <a:cs typeface="Arial" panose="020B0604020202020204" pitchFamily="34" charset="0"/>
              </a:rPr>
              <a:t>TTL (time-to-live) counter is used to limit traveled distance </a:t>
            </a:r>
          </a:p>
          <a:p>
            <a:pPr lvl="1">
              <a:lnSpc>
                <a:spcPct val="120000"/>
              </a:lnSpc>
            </a:pPr>
            <a:r>
              <a:rPr lang="en-US" altLang="zh-CN" sz="2000" dirty="0">
                <a:latin typeface="Arial" panose="020B0604020202020204" pitchFamily="34" charset="0"/>
                <a:cs typeface="Arial" panose="020B0604020202020204" pitchFamily="34" charset="0"/>
              </a:rPr>
              <a:t>if no response received after certain timeout value (i.e., the query did not reach the target), a different technique (classic flooding of the query) can be used</a:t>
            </a:r>
          </a:p>
          <a:p>
            <a:pPr>
              <a:lnSpc>
                <a:spcPct val="120000"/>
              </a:lnSpc>
            </a:pP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4839835"/>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Rumor Routing: Queries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53592"/>
            <a:ext cx="10515600" cy="5291091"/>
          </a:xfrm>
        </p:spPr>
        <p:txBody>
          <a:bodyPr>
            <a:normAutofit/>
          </a:bodyPr>
          <a:lstStyle/>
          <a:p>
            <a:pPr>
              <a:lnSpc>
                <a:spcPct val="140000"/>
              </a:lnSpc>
            </a:pPr>
            <a:r>
              <a:rPr lang="en-US" altLang="zh-CN" sz="2400" dirty="0">
                <a:latin typeface="Arial" panose="020B0604020202020204" pitchFamily="34" charset="0"/>
                <a:cs typeface="Arial" panose="020B0604020202020204" pitchFamily="34" charset="0"/>
              </a:rPr>
              <a:t>Summary: strikes balance between query and event flooding </a:t>
            </a:r>
          </a:p>
          <a:p>
            <a:pPr lvl="1">
              <a:lnSpc>
                <a:spcPct val="140000"/>
              </a:lnSpc>
            </a:pPr>
            <a:r>
              <a:rPr lang="en-US" altLang="zh-CN" sz="2000" dirty="0">
                <a:latin typeface="Arial" panose="020B0604020202020204" pitchFamily="34" charset="0"/>
                <a:cs typeface="Arial" panose="020B0604020202020204" pitchFamily="34" charset="0"/>
              </a:rPr>
              <a:t>query flooding may be too expensive with large query/event ratio </a:t>
            </a:r>
          </a:p>
          <a:p>
            <a:pPr lvl="1">
              <a:lnSpc>
                <a:spcPct val="140000"/>
              </a:lnSpc>
            </a:pPr>
            <a:r>
              <a:rPr lang="en-US" altLang="zh-CN" sz="2000" dirty="0">
                <a:latin typeface="Arial" panose="020B0604020202020204" pitchFamily="34" charset="0"/>
                <a:cs typeface="Arial" panose="020B0604020202020204" pitchFamily="34" charset="0"/>
              </a:rPr>
              <a:t>event flooding may be too expensive when number of events large</a:t>
            </a:r>
          </a:p>
          <a:p>
            <a:pPr lvl="1">
              <a:lnSpc>
                <a:spcPct val="140000"/>
              </a:lnSpc>
            </a:pPr>
            <a:r>
              <a:rPr lang="en-US" altLang="zh-CN" sz="2000" dirty="0">
                <a:latin typeface="Arial" panose="020B0604020202020204" pitchFamily="34" charset="0"/>
                <a:cs typeface="Arial" panose="020B0604020202020204" pitchFamily="34" charset="0"/>
              </a:rPr>
              <a:t>rumor routing propagates queries directly to nodes that seen event of interest</a:t>
            </a:r>
          </a:p>
          <a:p>
            <a:pPr lvl="1">
              <a:lnSpc>
                <a:spcPct val="140000"/>
              </a:lnSpc>
            </a:pPr>
            <a:r>
              <a:rPr lang="en-US" altLang="zh-CN" sz="2000" dirty="0">
                <a:latin typeface="Arial" panose="020B0604020202020204" pitchFamily="34" charset="0"/>
                <a:cs typeface="Arial" panose="020B0604020202020204" pitchFamily="34" charset="0"/>
              </a:rPr>
              <a:t>latency secondary concern in rumor routing</a:t>
            </a:r>
          </a:p>
          <a:p>
            <a:pPr lvl="1">
              <a:lnSpc>
                <a:spcPct val="140000"/>
              </a:lnSpc>
            </a:pPr>
            <a:r>
              <a:rPr lang="en-US" altLang="zh-CN" sz="2000" dirty="0">
                <a:latin typeface="Arial" panose="020B0604020202020204" pitchFamily="34" charset="0"/>
                <a:cs typeface="Arial" panose="020B0604020202020204" pitchFamily="34" charset="0"/>
              </a:rPr>
              <a:t>table can grow large with large number of events </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056391"/>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Gradient-Based Routing (GBR)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480874" y="1690688"/>
            <a:ext cx="11407806" cy="5486399"/>
          </a:xfrm>
        </p:spPr>
        <p:txBody>
          <a:bodyPr>
            <a:normAutofit/>
          </a:bodyPr>
          <a:lstStyle/>
          <a:p>
            <a:pPr lvl="1">
              <a:lnSpc>
                <a:spcPct val="120000"/>
              </a:lnSpc>
            </a:pPr>
            <a:r>
              <a:rPr lang="en-US" altLang="zh-CN" dirty="0">
                <a:latin typeface="Arial" panose="020B0604020202020204" pitchFamily="34" charset="0"/>
                <a:cs typeface="Arial" panose="020B0604020202020204" pitchFamily="34" charset="0"/>
              </a:rPr>
              <a:t>Another variant of directed diffusion </a:t>
            </a:r>
          </a:p>
          <a:p>
            <a:pPr lvl="1">
              <a:lnSpc>
                <a:spcPct val="120000"/>
              </a:lnSpc>
            </a:pPr>
            <a:r>
              <a:rPr lang="en-US" altLang="zh-CN" dirty="0">
                <a:latin typeface="Arial" panose="020B0604020202020204" pitchFamily="34" charset="0"/>
                <a:cs typeface="Arial" panose="020B0604020202020204" pitchFamily="34" charset="0"/>
              </a:rPr>
              <a:t>Gradient is determined on the basis of the number of hops to the sink</a:t>
            </a:r>
          </a:p>
          <a:p>
            <a:pPr lvl="2">
              <a:lnSpc>
                <a:spcPct val="120000"/>
              </a:lnSpc>
            </a:pPr>
            <a:r>
              <a:rPr lang="en-US" altLang="zh-CN" dirty="0">
                <a:latin typeface="Arial" panose="020B0604020202020204" pitchFamily="34" charset="0"/>
                <a:cs typeface="Arial" panose="020B0604020202020204" pitchFamily="34" charset="0"/>
              </a:rPr>
              <a:t>a sink floods interest message</a:t>
            </a:r>
          </a:p>
          <a:p>
            <a:pPr lvl="2">
              <a:lnSpc>
                <a:spcPct val="120000"/>
              </a:lnSpc>
            </a:pPr>
            <a:r>
              <a:rPr lang="en-US" altLang="zh-CN" dirty="0">
                <a:latin typeface="Arial" panose="020B0604020202020204" pitchFamily="34" charset="0"/>
                <a:cs typeface="Arial" panose="020B0604020202020204" pitchFamily="34" charset="0"/>
              </a:rPr>
              <a:t>each interest message records number of hops traveled </a:t>
            </a:r>
          </a:p>
          <a:p>
            <a:pPr lvl="2">
              <a:lnSpc>
                <a:spcPct val="120000"/>
              </a:lnSpc>
            </a:pPr>
            <a:r>
              <a:rPr lang="en-US" altLang="zh-CN" dirty="0">
                <a:latin typeface="Arial" panose="020B0604020202020204" pitchFamily="34" charset="0"/>
                <a:cs typeface="Arial" panose="020B0604020202020204" pitchFamily="34" charset="0"/>
              </a:rPr>
              <a:t>therefore, a node can determine its distance (called </a:t>
            </a:r>
            <a:r>
              <a:rPr lang="en-US" altLang="zh-CN" dirty="0">
                <a:solidFill>
                  <a:srgbClr val="FF0000"/>
                </a:solidFill>
                <a:latin typeface="Arial" panose="020B0604020202020204" pitchFamily="34" charset="0"/>
                <a:cs typeface="Arial" panose="020B0604020202020204" pitchFamily="34" charset="0"/>
              </a:rPr>
              <a:t>height</a:t>
            </a:r>
            <a:r>
              <a:rPr lang="en-US" altLang="zh-CN" dirty="0">
                <a:latin typeface="Arial" panose="020B0604020202020204" pitchFamily="34" charset="0"/>
                <a:cs typeface="Arial" panose="020B0604020202020204" pitchFamily="34" charset="0"/>
              </a:rPr>
              <a:t> ) to sink </a:t>
            </a:r>
          </a:p>
          <a:p>
            <a:pPr lvl="2">
              <a:lnSpc>
                <a:spcPct val="120000"/>
              </a:lnSpc>
            </a:pPr>
            <a:r>
              <a:rPr lang="en-US" altLang="zh-CN" dirty="0">
                <a:latin typeface="Arial" panose="020B0604020202020204" pitchFamily="34" charset="0"/>
                <a:cs typeface="Arial" panose="020B0604020202020204" pitchFamily="34" charset="0"/>
              </a:rPr>
              <a:t>gradient is difference between a node ʼ s height and height of neighbor </a:t>
            </a:r>
          </a:p>
          <a:p>
            <a:pPr lvl="2">
              <a:lnSpc>
                <a:spcPct val="120000"/>
              </a:lnSpc>
            </a:pPr>
            <a:r>
              <a:rPr lang="en-US" altLang="zh-CN" dirty="0">
                <a:latin typeface="Arial" panose="020B0604020202020204" pitchFamily="34" charset="0"/>
                <a:cs typeface="Arial" panose="020B0604020202020204" pitchFamily="34" charset="0"/>
              </a:rPr>
              <a:t>packet is forwarded on the link with the largest gradient</a:t>
            </a:r>
          </a:p>
        </p:txBody>
      </p:sp>
    </p:spTree>
    <p:extLst>
      <p:ext uri="{BB962C8B-B14F-4D97-AF65-F5344CB8AC3E}">
        <p14:creationId xmlns:p14="http://schemas.microsoft.com/office/powerpoint/2010/main" val="3263120008"/>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Gradient-Based Routing (GBR)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392097" y="1690688"/>
            <a:ext cx="11219895" cy="5486399"/>
          </a:xfrm>
        </p:spPr>
        <p:txBody>
          <a:bodyPr>
            <a:normAutofit/>
          </a:bodyPr>
          <a:lstStyle/>
          <a:p>
            <a:pPr lvl="1">
              <a:lnSpc>
                <a:spcPct val="120000"/>
              </a:lnSpc>
            </a:pPr>
            <a:r>
              <a:rPr lang="en-US" altLang="zh-CN" dirty="0">
                <a:latin typeface="Arial" panose="020B0604020202020204" pitchFamily="34" charset="0"/>
                <a:cs typeface="Arial" panose="020B0604020202020204" pitchFamily="34" charset="0"/>
              </a:rPr>
              <a:t>Nodes can establish a </a:t>
            </a:r>
            <a:r>
              <a:rPr lang="en-US" altLang="zh-CN" dirty="0">
                <a:solidFill>
                  <a:srgbClr val="FF0000"/>
                </a:solidFill>
                <a:latin typeface="Arial" panose="020B0604020202020204" pitchFamily="34" charset="0"/>
                <a:cs typeface="Arial" panose="020B0604020202020204" pitchFamily="34" charset="0"/>
              </a:rPr>
              <a:t>Data Combining Entity (DCE),</a:t>
            </a:r>
            <a:r>
              <a:rPr lang="en-US" altLang="zh-CN" dirty="0">
                <a:latin typeface="Arial" panose="020B0604020202020204" pitchFamily="34" charset="0"/>
                <a:cs typeface="Arial" panose="020B0604020202020204" pitchFamily="34" charset="0"/>
              </a:rPr>
              <a:t> which is responsible for data compaction</a:t>
            </a:r>
          </a:p>
          <a:p>
            <a:pPr lvl="1">
              <a:lnSpc>
                <a:spcPct val="120000"/>
              </a:lnSpc>
            </a:pPr>
            <a:r>
              <a:rPr lang="en-US" altLang="zh-CN" dirty="0">
                <a:latin typeface="Arial" panose="020B0604020202020204" pitchFamily="34" charset="0"/>
                <a:cs typeface="Arial" panose="020B0604020202020204" pitchFamily="34" charset="0"/>
              </a:rPr>
              <a:t>Nodes can use a </a:t>
            </a:r>
            <a:r>
              <a:rPr lang="en-US" altLang="zh-CN" dirty="0">
                <a:solidFill>
                  <a:srgbClr val="FF0000"/>
                </a:solidFill>
                <a:latin typeface="Arial" panose="020B0604020202020204" pitchFamily="34" charset="0"/>
                <a:cs typeface="Arial" panose="020B0604020202020204" pitchFamily="34" charset="0"/>
              </a:rPr>
              <a:t>traffic spreading </a:t>
            </a:r>
            <a:r>
              <a:rPr lang="en-US" altLang="zh-CN" dirty="0">
                <a:latin typeface="Arial" panose="020B0604020202020204" pitchFamily="34" charset="0"/>
                <a:cs typeface="Arial" panose="020B0604020202020204" pitchFamily="34" charset="0"/>
              </a:rPr>
              <a:t>technique to balance traffic over network </a:t>
            </a:r>
          </a:p>
          <a:p>
            <a:pPr lvl="2">
              <a:lnSpc>
                <a:spcPct val="120000"/>
              </a:lnSpc>
            </a:pPr>
            <a:r>
              <a:rPr lang="en-US" altLang="zh-CN" dirty="0">
                <a:solidFill>
                  <a:srgbClr val="0070C0"/>
                </a:solidFill>
                <a:latin typeface="Arial" panose="020B0604020202020204" pitchFamily="34" charset="0"/>
                <a:cs typeface="Arial" panose="020B0604020202020204" pitchFamily="34" charset="0"/>
              </a:rPr>
              <a:t>stochastic scheme: </a:t>
            </a:r>
            <a:r>
              <a:rPr lang="en-US" altLang="zh-CN" dirty="0">
                <a:latin typeface="Arial" panose="020B0604020202020204" pitchFamily="34" charset="0"/>
                <a:cs typeface="Arial" panose="020B0604020202020204" pitchFamily="34" charset="0"/>
              </a:rPr>
              <a:t>node selects next hop randomly when there are two or more with same gradient</a:t>
            </a:r>
          </a:p>
          <a:p>
            <a:pPr lvl="2">
              <a:lnSpc>
                <a:spcPct val="120000"/>
              </a:lnSpc>
            </a:pPr>
            <a:r>
              <a:rPr lang="en-US" altLang="zh-CN" dirty="0">
                <a:solidFill>
                  <a:srgbClr val="0070C0"/>
                </a:solidFill>
                <a:latin typeface="Arial" panose="020B0604020202020204" pitchFamily="34" charset="0"/>
                <a:cs typeface="Arial" panose="020B0604020202020204" pitchFamily="34" charset="0"/>
              </a:rPr>
              <a:t>energy-based scheme: </a:t>
            </a:r>
            <a:r>
              <a:rPr lang="en-US" altLang="zh-CN" dirty="0">
                <a:latin typeface="Arial" panose="020B0604020202020204" pitchFamily="34" charset="0"/>
                <a:cs typeface="Arial" panose="020B0604020202020204" pitchFamily="34" charset="0"/>
              </a:rPr>
              <a:t>node increases its height when its energy level is low </a:t>
            </a:r>
          </a:p>
          <a:p>
            <a:pPr lvl="2">
              <a:lnSpc>
                <a:spcPct val="120000"/>
              </a:lnSpc>
            </a:pPr>
            <a:r>
              <a:rPr lang="en-US" altLang="zh-CN" dirty="0">
                <a:solidFill>
                  <a:srgbClr val="0070C0"/>
                </a:solidFill>
                <a:latin typeface="Arial" panose="020B0604020202020204" pitchFamily="34" charset="0"/>
                <a:cs typeface="Arial" panose="020B0604020202020204" pitchFamily="34" charset="0"/>
              </a:rPr>
              <a:t>stream-based scheme: </a:t>
            </a:r>
            <a:r>
              <a:rPr lang="en-US" altLang="zh-CN" dirty="0">
                <a:latin typeface="Arial" panose="020B0604020202020204" pitchFamily="34" charset="0"/>
                <a:cs typeface="Arial" panose="020B0604020202020204" pitchFamily="34" charset="0"/>
              </a:rPr>
              <a:t>new streams are diverted away from nodes that already serve other streams (e.g., by reporting increased heights)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2097487"/>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Roadmap</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667250"/>
          </a:xfrm>
        </p:spPr>
        <p:txBody>
          <a:bodyPr>
            <a:noAutofit/>
          </a:bodyPr>
          <a:lstStyle/>
          <a:p>
            <a:pPr>
              <a:lnSpc>
                <a:spcPct val="120000"/>
              </a:lnSpc>
            </a:pPr>
            <a:r>
              <a:rPr lang="en-US" altLang="zh-CN" dirty="0">
                <a:latin typeface="Arial" panose="020B0604020202020204" pitchFamily="34" charset="0"/>
                <a:cs typeface="Arial" panose="020B0604020202020204" pitchFamily="34" charset="0"/>
              </a:rPr>
              <a:t>Routing basics</a:t>
            </a:r>
          </a:p>
          <a:p>
            <a:pPr>
              <a:lnSpc>
                <a:spcPct val="120000"/>
              </a:lnSpc>
            </a:pPr>
            <a:r>
              <a:rPr lang="en-US" altLang="zh-CN" dirty="0">
                <a:latin typeface="Arial" panose="020B0604020202020204" pitchFamily="34" charset="0"/>
                <a:cs typeface="Arial" panose="020B0604020202020204" pitchFamily="34" charset="0"/>
              </a:rPr>
              <a:t>Data-centric routing </a:t>
            </a:r>
          </a:p>
          <a:p>
            <a:pPr>
              <a:lnSpc>
                <a:spcPct val="120000"/>
              </a:lnSpc>
            </a:pPr>
            <a:r>
              <a:rPr lang="en-US" altLang="zh-CN" b="1" dirty="0">
                <a:latin typeface="Arial" panose="020B0604020202020204" pitchFamily="34" charset="0"/>
                <a:cs typeface="Arial" panose="020B0604020202020204" pitchFamily="34" charset="0"/>
              </a:rPr>
              <a:t>Proactive routing</a:t>
            </a:r>
          </a:p>
          <a:p>
            <a:pPr>
              <a:lnSpc>
                <a:spcPct val="120000"/>
              </a:lnSpc>
            </a:pPr>
            <a:r>
              <a:rPr lang="en-US" altLang="zh-CN" dirty="0">
                <a:latin typeface="Arial" panose="020B0604020202020204" pitchFamily="34" charset="0"/>
                <a:cs typeface="Arial" panose="020B0604020202020204" pitchFamily="34" charset="0"/>
              </a:rPr>
              <a:t>On-demand routing</a:t>
            </a:r>
          </a:p>
          <a:p>
            <a:pPr>
              <a:lnSpc>
                <a:spcPct val="120000"/>
              </a:lnSpc>
            </a:pPr>
            <a:r>
              <a:rPr lang="en-US" altLang="zh-CN" dirty="0">
                <a:latin typeface="Arial" panose="020B0604020202020204" pitchFamily="34" charset="0"/>
                <a:cs typeface="Arial" panose="020B0604020202020204" pitchFamily="34" charset="0"/>
              </a:rPr>
              <a:t>Hierarchical routing</a:t>
            </a:r>
          </a:p>
          <a:p>
            <a:pPr>
              <a:lnSpc>
                <a:spcPct val="120000"/>
              </a:lnSpc>
            </a:pPr>
            <a:r>
              <a:rPr lang="en-US" altLang="zh-CN" dirty="0">
                <a:latin typeface="Arial" panose="020B0604020202020204" pitchFamily="34" charset="0"/>
                <a:cs typeface="Arial" panose="020B0604020202020204" pitchFamily="34" charset="0"/>
              </a:rPr>
              <a:t>Location-based routing</a:t>
            </a:r>
          </a:p>
          <a:p>
            <a:pPr>
              <a:lnSpc>
                <a:spcPct val="120000"/>
              </a:lnSpc>
            </a:pPr>
            <a:r>
              <a:rPr lang="en-US" altLang="zh-CN" dirty="0" err="1">
                <a:latin typeface="Arial" panose="020B0604020202020204" pitchFamily="34" charset="0"/>
                <a:cs typeface="Arial" panose="020B0604020202020204" pitchFamily="34" charset="0"/>
              </a:rPr>
              <a:t>QoS</a:t>
            </a:r>
            <a:r>
              <a:rPr lang="en-US" altLang="zh-CN" dirty="0">
                <a:latin typeface="Arial" panose="020B0604020202020204" pitchFamily="34" charset="0"/>
                <a:cs typeface="Arial" panose="020B0604020202020204" pitchFamily="34" charset="0"/>
              </a:rPr>
              <a:t>-based routing</a:t>
            </a:r>
            <a:endParaRPr lang="en-US" altLang="zh-C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5641701"/>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Proactive Routing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Routes are established before they are actually needed</a:t>
            </a:r>
          </a:p>
          <a:p>
            <a:pPr>
              <a:lnSpc>
                <a:spcPct val="120000"/>
              </a:lnSpc>
            </a:pPr>
            <a:r>
              <a:rPr lang="en-US" altLang="zh-CN" sz="2400" dirty="0">
                <a:latin typeface="Arial" panose="020B0604020202020204" pitchFamily="34" charset="0"/>
                <a:cs typeface="Arial" panose="020B0604020202020204" pitchFamily="34" charset="0"/>
              </a:rPr>
              <a:t>Also called </a:t>
            </a:r>
            <a:r>
              <a:rPr lang="en-US" altLang="zh-CN" sz="2400" dirty="0">
                <a:solidFill>
                  <a:srgbClr val="FF0000"/>
                </a:solidFill>
                <a:latin typeface="Arial" panose="020B0604020202020204" pitchFamily="34" charset="0"/>
                <a:cs typeface="Arial" panose="020B0604020202020204" pitchFamily="34" charset="0"/>
              </a:rPr>
              <a:t>table-driven</a:t>
            </a:r>
            <a:r>
              <a:rPr lang="en-US" altLang="zh-CN" sz="2400" dirty="0">
                <a:latin typeface="Arial" panose="020B0604020202020204" pitchFamily="34" charset="0"/>
                <a:cs typeface="Arial" panose="020B0604020202020204" pitchFamily="34" charset="0"/>
              </a:rPr>
              <a:t>  routing</a:t>
            </a:r>
          </a:p>
          <a:p>
            <a:pPr>
              <a:lnSpc>
                <a:spcPct val="120000"/>
              </a:lnSpc>
            </a:pPr>
            <a:r>
              <a:rPr lang="en-US" altLang="zh-CN" sz="2400" dirty="0">
                <a:latin typeface="Arial" panose="020B0604020202020204" pitchFamily="34" charset="0"/>
                <a:cs typeface="Arial" panose="020B0604020202020204" pitchFamily="34" charset="0"/>
              </a:rPr>
              <a:t>Main advantage: routes can be used immediately when needed (table look up for next-hop neighbor)</a:t>
            </a:r>
          </a:p>
          <a:p>
            <a:pPr>
              <a:lnSpc>
                <a:spcPct val="120000"/>
              </a:lnSpc>
            </a:pPr>
            <a:r>
              <a:rPr lang="en-US" altLang="zh-CN" sz="2400" dirty="0">
                <a:latin typeface="Arial" panose="020B0604020202020204" pitchFamily="34" charset="0"/>
                <a:cs typeface="Arial" panose="020B0604020202020204" pitchFamily="34" charset="0"/>
              </a:rPr>
              <a:t>Main disadvantages:</a:t>
            </a:r>
          </a:p>
          <a:p>
            <a:pPr lvl="1">
              <a:lnSpc>
                <a:spcPct val="120000"/>
              </a:lnSpc>
            </a:pPr>
            <a:r>
              <a:rPr lang="en-US" altLang="zh-CN" sz="2000" dirty="0">
                <a:latin typeface="Arial" panose="020B0604020202020204" pitchFamily="34" charset="0"/>
                <a:cs typeface="Arial" panose="020B0604020202020204" pitchFamily="34" charset="0"/>
              </a:rPr>
              <a:t>establishing and maintaining routes that are infrequently (or never) needed</a:t>
            </a:r>
          </a:p>
          <a:p>
            <a:pPr lvl="1">
              <a:lnSpc>
                <a:spcPct val="120000"/>
              </a:lnSpc>
            </a:pPr>
            <a:r>
              <a:rPr lang="en-US" altLang="zh-CN" sz="2000" dirty="0">
                <a:latin typeface="Arial" panose="020B0604020202020204" pitchFamily="34" charset="0"/>
                <a:cs typeface="Arial" panose="020B0604020202020204" pitchFamily="34" charset="0"/>
              </a:rPr>
              <a:t>routing tables can become very large </a:t>
            </a:r>
          </a:p>
          <a:p>
            <a:pPr lvl="1">
              <a:lnSpc>
                <a:spcPct val="120000"/>
              </a:lnSpc>
            </a:pPr>
            <a:r>
              <a:rPr lang="en-US" altLang="zh-CN" sz="2000" dirty="0">
                <a:latin typeface="Arial" panose="020B0604020202020204" pitchFamily="34" charset="0"/>
                <a:cs typeface="Arial" panose="020B0604020202020204" pitchFamily="34" charset="0"/>
              </a:rPr>
              <a:t>stale information in tables can lead to routing errors</a:t>
            </a: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72685951"/>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942468" cy="1325563"/>
          </a:xfrm>
        </p:spPr>
        <p:txBody>
          <a:bodyPr>
            <a:normAutofit/>
          </a:bodyPr>
          <a:lstStyle/>
          <a:p>
            <a:r>
              <a:rPr lang="en-US" altLang="zh-CN" b="1" dirty="0">
                <a:latin typeface="Arial" panose="020B0604020202020204" pitchFamily="34" charset="0"/>
                <a:cs typeface="Arial" panose="020B0604020202020204" pitchFamily="34" charset="0"/>
              </a:rPr>
              <a:t>Destination-Sequenced Distance Vector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01910"/>
            <a:ext cx="10764915" cy="4621335"/>
          </a:xfrm>
        </p:spPr>
        <p:txBody>
          <a:bodyPr>
            <a:noAutofit/>
          </a:bodyPr>
          <a:lstStyle/>
          <a:p>
            <a:pPr>
              <a:lnSpc>
                <a:spcPct val="110000"/>
              </a:lnSpc>
            </a:pPr>
            <a:r>
              <a:rPr lang="en-US" altLang="zh-CN" sz="2000" dirty="0">
                <a:latin typeface="Arial" panose="020B0604020202020204" pitchFamily="34" charset="0"/>
                <a:cs typeface="Arial" panose="020B0604020202020204" pitchFamily="34" charset="0"/>
              </a:rPr>
              <a:t>DSDV is a modified version of class Distributed Bellman-Ford algorithm</a:t>
            </a:r>
          </a:p>
          <a:p>
            <a:pPr>
              <a:lnSpc>
                <a:spcPct val="110000"/>
              </a:lnSpc>
            </a:pPr>
            <a:r>
              <a:rPr lang="en-US" altLang="zh-CN" sz="2000" dirty="0">
                <a:latin typeface="Arial" panose="020B0604020202020204" pitchFamily="34" charset="0"/>
                <a:cs typeface="Arial" panose="020B0604020202020204" pitchFamily="34" charset="0"/>
              </a:rPr>
              <a:t>Concept of </a:t>
            </a:r>
            <a:r>
              <a:rPr lang="en-US" altLang="zh-CN" sz="2000" dirty="0">
                <a:solidFill>
                  <a:srgbClr val="FF0000"/>
                </a:solidFill>
                <a:latin typeface="Arial" panose="020B0604020202020204" pitchFamily="34" charset="0"/>
                <a:cs typeface="Arial" panose="020B0604020202020204" pitchFamily="34" charset="0"/>
              </a:rPr>
              <a:t>distance-vector algorithms </a:t>
            </a:r>
            <a:r>
              <a:rPr lang="en-US" altLang="zh-CN" sz="2000" dirty="0">
                <a:latin typeface="Arial" panose="020B0604020202020204" pitchFamily="34" charset="0"/>
                <a:cs typeface="Arial" panose="020B0604020202020204" pitchFamily="34" charset="0"/>
              </a:rPr>
              <a:t>:</a:t>
            </a:r>
          </a:p>
          <a:p>
            <a:pPr lvl="1">
              <a:lnSpc>
                <a:spcPct val="110000"/>
              </a:lnSpc>
            </a:pPr>
            <a:r>
              <a:rPr lang="en-US" altLang="zh-CN" sz="1800" dirty="0">
                <a:latin typeface="Arial" panose="020B0604020202020204" pitchFamily="34" charset="0"/>
                <a:cs typeface="Arial" panose="020B0604020202020204" pitchFamily="34" charset="0"/>
              </a:rPr>
              <a:t>node </a:t>
            </a:r>
            <a:r>
              <a:rPr lang="en-US" altLang="zh-CN" sz="1800" i="1" dirty="0">
                <a:latin typeface="Arial" panose="020B0604020202020204" pitchFamily="34" charset="0"/>
                <a:cs typeface="Arial" panose="020B0604020202020204" pitchFamily="34" charset="0"/>
              </a:rPr>
              <a:t>i</a:t>
            </a:r>
            <a:r>
              <a:rPr lang="en-US" altLang="zh-CN" sz="1800" dirty="0">
                <a:latin typeface="Arial" panose="020B0604020202020204" pitchFamily="34" charset="0"/>
                <a:cs typeface="Arial" panose="020B0604020202020204" pitchFamily="34" charset="0"/>
              </a:rPr>
              <a:t>  maintains a list of distances  </a:t>
            </a:r>
            <a:r>
              <a:rPr lang="en-US" altLang="zh-CN" sz="1800" i="1" dirty="0">
                <a:latin typeface="Arial" panose="020B0604020202020204" pitchFamily="34" charset="0"/>
                <a:cs typeface="Arial" panose="020B0604020202020204" pitchFamily="34" charset="0"/>
              </a:rPr>
              <a:t>{</a:t>
            </a:r>
            <a:r>
              <a:rPr lang="en-US" altLang="zh-CN" sz="1800" i="1" dirty="0" err="1">
                <a:latin typeface="Arial" panose="020B0604020202020204" pitchFamily="34" charset="0"/>
                <a:cs typeface="Arial" panose="020B0604020202020204" pitchFamily="34" charset="0"/>
              </a:rPr>
              <a:t>d</a:t>
            </a:r>
            <a:r>
              <a:rPr lang="en-US" altLang="zh-CN" sz="1800" i="1" baseline="-25000" dirty="0" err="1">
                <a:latin typeface="Arial" panose="020B0604020202020204" pitchFamily="34" charset="0"/>
                <a:cs typeface="Arial" panose="020B0604020202020204" pitchFamily="34" charset="0"/>
              </a:rPr>
              <a:t>ij</a:t>
            </a:r>
            <a:r>
              <a:rPr lang="en-US" altLang="zh-CN" sz="1800" i="1" baseline="30000" dirty="0" err="1">
                <a:latin typeface="Arial" panose="020B0604020202020204" pitchFamily="34" charset="0"/>
                <a:cs typeface="Arial" panose="020B0604020202020204" pitchFamily="34" charset="0"/>
              </a:rPr>
              <a:t>x</a:t>
            </a:r>
            <a:r>
              <a:rPr lang="en-US" altLang="zh-CN" sz="1800" i="1"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for each destination</a:t>
            </a:r>
            <a:r>
              <a:rPr lang="en-US" altLang="zh-CN" sz="1800" i="1" dirty="0">
                <a:latin typeface="Arial" panose="020B0604020202020204" pitchFamily="34" charset="0"/>
                <a:cs typeface="Arial" panose="020B0604020202020204" pitchFamily="34" charset="0"/>
              </a:rPr>
              <a:t> x  </a:t>
            </a:r>
            <a:r>
              <a:rPr lang="en-US" altLang="zh-CN" sz="1800" dirty="0">
                <a:latin typeface="Arial" panose="020B0604020202020204" pitchFamily="34" charset="0"/>
                <a:cs typeface="Arial" panose="020B0604020202020204" pitchFamily="34" charset="0"/>
              </a:rPr>
              <a:t>via node </a:t>
            </a:r>
            <a:r>
              <a:rPr lang="en-US" altLang="zh-CN" sz="1800" i="1" dirty="0">
                <a:latin typeface="Arial" panose="020B0604020202020204" pitchFamily="34" charset="0"/>
                <a:cs typeface="Arial" panose="020B0604020202020204" pitchFamily="34" charset="0"/>
              </a:rPr>
              <a:t>j</a:t>
            </a:r>
          </a:p>
          <a:p>
            <a:pPr lvl="1">
              <a:lnSpc>
                <a:spcPct val="110000"/>
              </a:lnSpc>
            </a:pPr>
            <a:r>
              <a:rPr lang="en-US" altLang="zh-CN" sz="1800" dirty="0">
                <a:latin typeface="Arial" panose="020B0604020202020204" pitchFamily="34" charset="0"/>
                <a:cs typeface="Arial" panose="020B0604020202020204" pitchFamily="34" charset="0"/>
              </a:rPr>
              <a:t>node</a:t>
            </a:r>
            <a:r>
              <a:rPr lang="en-US" altLang="zh-CN" sz="1800" i="1" dirty="0">
                <a:latin typeface="Arial" panose="020B0604020202020204" pitchFamily="34" charset="0"/>
                <a:cs typeface="Arial" panose="020B0604020202020204" pitchFamily="34" charset="0"/>
              </a:rPr>
              <a:t> i  </a:t>
            </a:r>
            <a:r>
              <a:rPr lang="en-US" altLang="zh-CN" sz="1800" dirty="0">
                <a:latin typeface="Arial" panose="020B0604020202020204" pitchFamily="34" charset="0"/>
                <a:cs typeface="Arial" panose="020B0604020202020204" pitchFamily="34" charset="0"/>
              </a:rPr>
              <a:t>selects</a:t>
            </a:r>
            <a:r>
              <a:rPr lang="en-US" altLang="zh-CN" sz="1800" i="1" dirty="0">
                <a:latin typeface="Arial" panose="020B0604020202020204" pitchFamily="34" charset="0"/>
                <a:cs typeface="Arial" panose="020B0604020202020204" pitchFamily="34" charset="0"/>
              </a:rPr>
              <a:t> k  </a:t>
            </a:r>
            <a:r>
              <a:rPr lang="en-US" altLang="zh-CN" sz="1800" dirty="0">
                <a:latin typeface="Arial" panose="020B0604020202020204" pitchFamily="34" charset="0"/>
                <a:cs typeface="Arial" panose="020B0604020202020204" pitchFamily="34" charset="0"/>
              </a:rPr>
              <a:t>as next-hop if </a:t>
            </a:r>
            <a:r>
              <a:rPr lang="nl-NL" altLang="zh-CN" sz="1800" i="1" dirty="0">
                <a:latin typeface="Arial" panose="020B0604020202020204" pitchFamily="34" charset="0"/>
                <a:cs typeface="Arial" panose="020B0604020202020204" pitchFamily="34" charset="0"/>
              </a:rPr>
              <a:t>d</a:t>
            </a:r>
            <a:r>
              <a:rPr lang="nl-NL" altLang="zh-CN" sz="1800" i="1" baseline="-25000" dirty="0">
                <a:latin typeface="Arial" panose="020B0604020202020204" pitchFamily="34" charset="0"/>
                <a:cs typeface="Arial" panose="020B0604020202020204" pitchFamily="34" charset="0"/>
              </a:rPr>
              <a:t>ik</a:t>
            </a:r>
            <a:r>
              <a:rPr lang="nl-NL" altLang="zh-CN" sz="1800" i="1" baseline="30000" dirty="0">
                <a:latin typeface="Arial" panose="020B0604020202020204" pitchFamily="34" charset="0"/>
                <a:cs typeface="Arial" panose="020B0604020202020204" pitchFamily="34" charset="0"/>
              </a:rPr>
              <a:t>x</a:t>
            </a:r>
            <a:r>
              <a:rPr lang="nl-NL" altLang="zh-CN" sz="1800" i="1" dirty="0">
                <a:latin typeface="Arial" panose="020B0604020202020204" pitchFamily="34" charset="0"/>
                <a:cs typeface="Arial" panose="020B0604020202020204" pitchFamily="34" charset="0"/>
              </a:rPr>
              <a:t> = min {d</a:t>
            </a:r>
            <a:r>
              <a:rPr lang="nl-NL" altLang="zh-CN" sz="1800" i="1" baseline="-25000" dirty="0">
                <a:latin typeface="Arial" panose="020B0604020202020204" pitchFamily="34" charset="0"/>
                <a:cs typeface="Arial" panose="020B0604020202020204" pitchFamily="34" charset="0"/>
              </a:rPr>
              <a:t>ij</a:t>
            </a:r>
            <a:r>
              <a:rPr lang="nl-NL" altLang="zh-CN" sz="1800" i="1" baseline="30000" dirty="0">
                <a:latin typeface="Arial" panose="020B0604020202020204" pitchFamily="34" charset="0"/>
                <a:cs typeface="Arial" panose="020B0604020202020204" pitchFamily="34" charset="0"/>
              </a:rPr>
              <a:t>x</a:t>
            </a:r>
            <a:r>
              <a:rPr lang="nl-NL" altLang="zh-CN" sz="1800" i="1" dirty="0">
                <a:latin typeface="Arial" panose="020B0604020202020204" pitchFamily="34" charset="0"/>
                <a:cs typeface="Arial" panose="020B0604020202020204" pitchFamily="34" charset="0"/>
              </a:rPr>
              <a:t>}</a:t>
            </a:r>
          </a:p>
          <a:p>
            <a:pPr lvl="1">
              <a:lnSpc>
                <a:spcPct val="110000"/>
              </a:lnSpc>
            </a:pPr>
            <a:r>
              <a:rPr lang="en-US" altLang="zh-CN" sz="1800" dirty="0">
                <a:latin typeface="Arial" panose="020B0604020202020204" pitchFamily="34" charset="0"/>
                <a:cs typeface="Arial" panose="020B0604020202020204" pitchFamily="34" charset="0"/>
              </a:rPr>
              <a:t>distances stored in  </a:t>
            </a:r>
            <a:r>
              <a:rPr lang="en-US" altLang="zh-CN" sz="1800" dirty="0">
                <a:solidFill>
                  <a:srgbClr val="FF0000"/>
                </a:solidFill>
                <a:latin typeface="Arial" panose="020B0604020202020204" pitchFamily="34" charset="0"/>
                <a:cs typeface="Arial" panose="020B0604020202020204" pitchFamily="34" charset="0"/>
              </a:rPr>
              <a:t>routing table </a:t>
            </a:r>
            <a:r>
              <a:rPr lang="en-US" altLang="zh-CN" sz="1800" dirty="0">
                <a:latin typeface="Arial" panose="020B0604020202020204" pitchFamily="34" charset="0"/>
                <a:cs typeface="Arial" panose="020B0604020202020204" pitchFamily="34" charset="0"/>
              </a:rPr>
              <a:t>, along with  </a:t>
            </a:r>
            <a:r>
              <a:rPr lang="en-US" altLang="zh-CN" sz="1800" dirty="0">
                <a:solidFill>
                  <a:srgbClr val="FF0000"/>
                </a:solidFill>
                <a:latin typeface="Arial" panose="020B0604020202020204" pitchFamily="34" charset="0"/>
                <a:cs typeface="Arial" panose="020B0604020202020204" pitchFamily="34" charset="0"/>
              </a:rPr>
              <a:t>sequence number </a:t>
            </a:r>
            <a:r>
              <a:rPr lang="en-US" altLang="zh-CN" sz="1800" dirty="0">
                <a:latin typeface="Arial" panose="020B0604020202020204" pitchFamily="34" charset="0"/>
                <a:cs typeface="Arial" panose="020B0604020202020204" pitchFamily="34" charset="0"/>
              </a:rPr>
              <a:t>for each entry (assigned by destination node)</a:t>
            </a:r>
          </a:p>
          <a:p>
            <a:pPr lvl="2">
              <a:lnSpc>
                <a:spcPct val="110000"/>
              </a:lnSpc>
            </a:pPr>
            <a:r>
              <a:rPr lang="en-US" altLang="zh-CN" sz="1800" dirty="0">
                <a:latin typeface="Arial" panose="020B0604020202020204" pitchFamily="34" charset="0"/>
                <a:cs typeface="Arial" panose="020B0604020202020204" pitchFamily="34" charset="0"/>
              </a:rPr>
              <a:t>purpose of sequence number is to identify stale routes</a:t>
            </a:r>
          </a:p>
          <a:p>
            <a:pPr lvl="1">
              <a:lnSpc>
                <a:spcPct val="110000"/>
              </a:lnSpc>
            </a:pPr>
            <a:r>
              <a:rPr lang="en-US" altLang="zh-CN" sz="1800" dirty="0">
                <a:latin typeface="Arial" panose="020B0604020202020204" pitchFamily="34" charset="0"/>
                <a:cs typeface="Arial" panose="020B0604020202020204" pitchFamily="34" charset="0"/>
              </a:rPr>
              <a:t>nodes broadcast their routing tables to their neighbors periodically and whenever significant information is available</a:t>
            </a:r>
          </a:p>
          <a:p>
            <a:pPr lvl="2">
              <a:lnSpc>
                <a:spcPct val="110000"/>
              </a:lnSpc>
            </a:pPr>
            <a:r>
              <a:rPr lang="en-US" altLang="zh-CN" sz="1800" dirty="0">
                <a:solidFill>
                  <a:srgbClr val="FF0000"/>
                </a:solidFill>
                <a:latin typeface="Arial" panose="020B0604020202020204" pitchFamily="34" charset="0"/>
                <a:cs typeface="Arial" panose="020B0604020202020204" pitchFamily="34" charset="0"/>
              </a:rPr>
              <a:t>full dump </a:t>
            </a:r>
            <a:r>
              <a:rPr lang="en-US" altLang="zh-CN" sz="1800" dirty="0">
                <a:latin typeface="Arial" panose="020B0604020202020204" pitchFamily="34" charset="0"/>
                <a:cs typeface="Arial" panose="020B0604020202020204" pitchFamily="34" charset="0"/>
              </a:rPr>
              <a:t>packet: contains entire routing table</a:t>
            </a:r>
          </a:p>
          <a:p>
            <a:pPr lvl="2">
              <a:lnSpc>
                <a:spcPct val="110000"/>
              </a:lnSpc>
            </a:pPr>
            <a:r>
              <a:rPr lang="en-US" altLang="zh-CN" sz="1800" dirty="0">
                <a:solidFill>
                  <a:srgbClr val="FF0000"/>
                </a:solidFill>
                <a:latin typeface="Arial" panose="020B0604020202020204" pitchFamily="34" charset="0"/>
                <a:cs typeface="Arial" panose="020B0604020202020204" pitchFamily="34" charset="0"/>
              </a:rPr>
              <a:t>incremental </a:t>
            </a:r>
            <a:r>
              <a:rPr lang="en-US" altLang="zh-CN" sz="1800" dirty="0">
                <a:latin typeface="Arial" panose="020B0604020202020204" pitchFamily="34" charset="0"/>
                <a:cs typeface="Arial" panose="020B0604020202020204" pitchFamily="34" charset="0"/>
              </a:rPr>
              <a:t>packet: contains only changed table entries </a:t>
            </a:r>
          </a:p>
          <a:p>
            <a:pPr lvl="2">
              <a:lnSpc>
                <a:spcPct val="110000"/>
              </a:lnSpc>
            </a:pPr>
            <a:r>
              <a:rPr lang="en-US" altLang="zh-CN" sz="1800" dirty="0">
                <a:latin typeface="Arial" panose="020B0604020202020204" pitchFamily="34" charset="0"/>
                <a:cs typeface="Arial" panose="020B0604020202020204" pitchFamily="34" charset="0"/>
              </a:rPr>
              <a:t>a receiving node updates its table if the received information has a more recent sequence number or if sequence number is identical, but new route is shorter</a:t>
            </a:r>
          </a:p>
        </p:txBody>
      </p:sp>
    </p:spTree>
    <p:extLst>
      <p:ext uri="{BB962C8B-B14F-4D97-AF65-F5344CB8AC3E}">
        <p14:creationId xmlns:p14="http://schemas.microsoft.com/office/powerpoint/2010/main" val="3973825981"/>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DSDV: Example </a:t>
            </a:r>
            <a:endParaRPr lang="zh-CN" altLang="en-US" dirty="0">
              <a:latin typeface="Arial" panose="020B0604020202020204" pitchFamily="34" charset="0"/>
              <a:cs typeface="Arial" panose="020B0604020202020204"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129" y="2003217"/>
            <a:ext cx="10541741" cy="3776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2199871"/>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Optimized Link State Routing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702771" cy="4948037"/>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OLSR is a protocol based on the </a:t>
            </a:r>
            <a:r>
              <a:rPr lang="en-US" altLang="zh-CN" sz="2400" dirty="0">
                <a:solidFill>
                  <a:srgbClr val="FF0000"/>
                </a:solidFill>
                <a:latin typeface="Arial" panose="020B0604020202020204" pitchFamily="34" charset="0"/>
                <a:cs typeface="Arial" panose="020B0604020202020204" pitchFamily="34" charset="0"/>
              </a:rPr>
              <a:t>link state algorithm </a:t>
            </a:r>
          </a:p>
          <a:p>
            <a:pPr lvl="1">
              <a:lnSpc>
                <a:spcPct val="120000"/>
              </a:lnSpc>
            </a:pPr>
            <a:r>
              <a:rPr lang="en-US" altLang="zh-CN" sz="2000" dirty="0">
                <a:latin typeface="Arial" panose="020B0604020202020204" pitchFamily="34" charset="0"/>
                <a:cs typeface="Arial" panose="020B0604020202020204" pitchFamily="34" charset="0"/>
              </a:rPr>
              <a:t>nodes periodically broadcast topological information updates to all other nodes in the network</a:t>
            </a:r>
          </a:p>
          <a:p>
            <a:pPr lvl="1">
              <a:lnSpc>
                <a:spcPct val="120000"/>
              </a:lnSpc>
            </a:pPr>
            <a:r>
              <a:rPr lang="en-US" altLang="zh-CN" sz="2000" dirty="0">
                <a:latin typeface="Arial" panose="020B0604020202020204" pitchFamily="34" charset="0"/>
                <a:cs typeface="Arial" panose="020B0604020202020204" pitchFamily="34" charset="0"/>
              </a:rPr>
              <a:t>allows nodes to obtain complete topological map and to compute paths</a:t>
            </a:r>
          </a:p>
          <a:p>
            <a:pPr>
              <a:lnSpc>
                <a:spcPct val="120000"/>
              </a:lnSpc>
            </a:pPr>
            <a:r>
              <a:rPr lang="en-US" altLang="zh-CN" sz="2400" dirty="0">
                <a:latin typeface="Arial" panose="020B0604020202020204" pitchFamily="34" charset="0"/>
                <a:cs typeface="Arial" panose="020B0604020202020204" pitchFamily="34" charset="0"/>
              </a:rPr>
              <a:t>Nodes use </a:t>
            </a:r>
            <a:r>
              <a:rPr lang="en-US" altLang="zh-CN" sz="2400" dirty="0">
                <a:solidFill>
                  <a:srgbClr val="FF0000"/>
                </a:solidFill>
                <a:latin typeface="Arial" panose="020B0604020202020204" pitchFamily="34" charset="0"/>
                <a:cs typeface="Arial" panose="020B0604020202020204" pitchFamily="34" charset="0"/>
              </a:rPr>
              <a:t>neighbor sensing  </a:t>
            </a:r>
            <a:r>
              <a:rPr lang="en-US" altLang="zh-CN" sz="2400" dirty="0">
                <a:latin typeface="Arial" panose="020B0604020202020204" pitchFamily="34" charset="0"/>
                <a:cs typeface="Arial" panose="020B0604020202020204" pitchFamily="34" charset="0"/>
              </a:rPr>
              <a:t>using  </a:t>
            </a:r>
            <a:r>
              <a:rPr lang="en-US" altLang="zh-CN" sz="2400" dirty="0">
                <a:solidFill>
                  <a:srgbClr val="FF0000"/>
                </a:solidFill>
                <a:latin typeface="Arial" panose="020B0604020202020204" pitchFamily="34" charset="0"/>
                <a:cs typeface="Arial" panose="020B0604020202020204" pitchFamily="34" charset="0"/>
              </a:rPr>
              <a:t>HELLO</a:t>
            </a:r>
            <a:r>
              <a:rPr lang="en-US" altLang="zh-CN" sz="2400" dirty="0">
                <a:latin typeface="Arial" panose="020B0604020202020204" pitchFamily="34" charset="0"/>
                <a:cs typeface="Arial" panose="020B0604020202020204" pitchFamily="34" charset="0"/>
              </a:rPr>
              <a:t> messages: </a:t>
            </a:r>
          </a:p>
          <a:p>
            <a:pPr lvl="1">
              <a:lnSpc>
                <a:spcPct val="120000"/>
              </a:lnSpc>
            </a:pPr>
            <a:r>
              <a:rPr lang="en-US" altLang="zh-CN" sz="2000" dirty="0">
                <a:latin typeface="Arial" panose="020B0604020202020204" pitchFamily="34" charset="0"/>
                <a:cs typeface="Arial" panose="020B0604020202020204" pitchFamily="34" charset="0"/>
              </a:rPr>
              <a:t>allows nodes to identify neighbors and to detect changes in neighborhood</a:t>
            </a:r>
          </a:p>
          <a:p>
            <a:pPr lvl="1">
              <a:lnSpc>
                <a:spcPct val="120000"/>
              </a:lnSpc>
            </a:pPr>
            <a:r>
              <a:rPr lang="en-US" altLang="zh-CN" sz="2000" dirty="0">
                <a:latin typeface="Arial" panose="020B0604020202020204" pitchFamily="34" charset="0"/>
                <a:cs typeface="Arial" panose="020B0604020202020204" pitchFamily="34" charset="0"/>
              </a:rPr>
              <a:t>HELLO message contains </a:t>
            </a:r>
            <a:r>
              <a:rPr lang="en-US" altLang="zh-CN" sz="2000" dirty="0" err="1">
                <a:latin typeface="Arial" panose="020B0604020202020204" pitchFamily="34" charset="0"/>
                <a:cs typeface="Arial" panose="020B0604020202020204" pitchFamily="34" charset="0"/>
              </a:rPr>
              <a:t>nodeʼ</a:t>
            </a:r>
            <a:r>
              <a:rPr lang="en-US" altLang="zh-CN" sz="2000" dirty="0">
                <a:latin typeface="Arial" panose="020B0604020202020204" pitchFamily="34" charset="0"/>
                <a:cs typeface="Arial" panose="020B0604020202020204" pitchFamily="34" charset="0"/>
              </a:rPr>
              <a:t> s identity (address) and list of all known neighbors</a:t>
            </a:r>
          </a:p>
          <a:p>
            <a:pPr lvl="1">
              <a:lnSpc>
                <a:spcPct val="120000"/>
              </a:lnSpc>
            </a:pPr>
            <a:r>
              <a:rPr lang="en-US" altLang="zh-CN" sz="2000" dirty="0">
                <a:latin typeface="Arial" panose="020B0604020202020204" pitchFamily="34" charset="0"/>
                <a:cs typeface="Arial" panose="020B0604020202020204" pitchFamily="34" charset="0"/>
              </a:rPr>
              <a:t>if node A can receive node B </a:t>
            </a:r>
            <a:r>
              <a:rPr lang="en-US" altLang="zh-CN" sz="2000" dirty="0" err="1">
                <a:latin typeface="Arial" panose="020B0604020202020204" pitchFamily="34" charset="0"/>
                <a:cs typeface="Arial" panose="020B0604020202020204" pitchFamily="34" charset="0"/>
              </a:rPr>
              <a:t>ʼs</a:t>
            </a:r>
            <a:r>
              <a:rPr lang="en-US" altLang="zh-CN" sz="2000" dirty="0">
                <a:latin typeface="Arial" panose="020B0604020202020204" pitchFamily="34" charset="0"/>
                <a:cs typeface="Arial" panose="020B0604020202020204" pitchFamily="34" charset="0"/>
              </a:rPr>
              <a:t> HELLO messages, but is not in node </a:t>
            </a:r>
            <a:r>
              <a:rPr lang="en-US" altLang="zh-CN" sz="2000" dirty="0" err="1">
                <a:latin typeface="Arial" panose="020B0604020202020204" pitchFamily="34" charset="0"/>
                <a:cs typeface="Arial" panose="020B0604020202020204" pitchFamily="34" charset="0"/>
              </a:rPr>
              <a:t>Bʼ</a:t>
            </a:r>
            <a:r>
              <a:rPr lang="en-US" altLang="zh-CN" sz="2000" dirty="0">
                <a:latin typeface="Arial" panose="020B0604020202020204" pitchFamily="34" charset="0"/>
                <a:cs typeface="Arial" panose="020B0604020202020204" pitchFamily="34" charset="0"/>
              </a:rPr>
              <a:t> s list of known neighbors, the link B   A is </a:t>
            </a:r>
            <a:r>
              <a:rPr lang="en-US" altLang="zh-CN" sz="2000" dirty="0">
                <a:solidFill>
                  <a:srgbClr val="FF0000"/>
                </a:solidFill>
                <a:latin typeface="Arial" panose="020B0604020202020204" pitchFamily="34" charset="0"/>
                <a:cs typeface="Arial" panose="020B0604020202020204" pitchFamily="34" charset="0"/>
              </a:rPr>
              <a:t>asymmetric</a:t>
            </a:r>
            <a:r>
              <a:rPr lang="en-US" altLang="zh-CN" sz="2000" dirty="0">
                <a:latin typeface="Arial" panose="020B0604020202020204" pitchFamily="34" charset="0"/>
                <a:cs typeface="Arial" panose="020B0604020202020204" pitchFamily="34" charset="0"/>
              </a:rPr>
              <a:t> (otherwise </a:t>
            </a:r>
            <a:r>
              <a:rPr lang="en-US" altLang="zh-CN" sz="2000" dirty="0">
                <a:solidFill>
                  <a:srgbClr val="FF0000"/>
                </a:solidFill>
                <a:latin typeface="Arial" panose="020B0604020202020204" pitchFamily="34" charset="0"/>
                <a:cs typeface="Arial" panose="020B0604020202020204" pitchFamily="34" charset="0"/>
              </a:rPr>
              <a:t>symmetric</a:t>
            </a:r>
            <a:r>
              <a:rPr lang="en-US" altLang="zh-CN" sz="2000" dirty="0">
                <a:latin typeface="Arial" panose="020B0604020202020204" pitchFamily="34" charset="0"/>
                <a:cs typeface="Arial" panose="020B0604020202020204" pitchFamily="34" charset="0"/>
              </a:rPr>
              <a:t> )</a:t>
            </a:r>
          </a:p>
          <a:p>
            <a:pPr lvl="1">
              <a:lnSpc>
                <a:spcPct val="120000"/>
              </a:lnSpc>
            </a:pPr>
            <a:r>
              <a:rPr lang="en-US" altLang="zh-CN" sz="2000" dirty="0">
                <a:latin typeface="Arial" panose="020B0604020202020204" pitchFamily="34" charset="0"/>
                <a:cs typeface="Arial" panose="020B0604020202020204" pitchFamily="34" charset="0"/>
              </a:rPr>
              <a:t> instead of flooding HELLO messages to all nodes in network, OLSR uses </a:t>
            </a:r>
            <a:r>
              <a:rPr lang="en-US" altLang="zh-CN" sz="2000" dirty="0">
                <a:solidFill>
                  <a:srgbClr val="FF0000"/>
                </a:solidFill>
                <a:latin typeface="Arial" panose="020B0604020202020204" pitchFamily="34" charset="0"/>
                <a:cs typeface="Arial" panose="020B0604020202020204" pitchFamily="34" charset="0"/>
              </a:rPr>
              <a:t>multipoint relays (MPRs) </a:t>
            </a:r>
            <a:endParaRPr lang="zh-CN" altLang="en-US" sz="2000" dirty="0">
              <a:solidFill>
                <a:srgbClr val="FF0000"/>
              </a:solidFill>
              <a:latin typeface="Arial" panose="020B0604020202020204" pitchFamily="34" charset="0"/>
              <a:cs typeface="Arial" panose="020B0604020202020204" pitchFamily="34" charset="0"/>
            </a:endParaRPr>
          </a:p>
        </p:txBody>
      </p:sp>
      <p:sp>
        <p:nvSpPr>
          <p:cNvPr id="5" name="右箭头 4"/>
          <p:cNvSpPr/>
          <p:nvPr/>
        </p:nvSpPr>
        <p:spPr>
          <a:xfrm>
            <a:off x="3942415" y="5409464"/>
            <a:ext cx="1524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9371290"/>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Optimized Link State Routing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932895" y="3057467"/>
            <a:ext cx="6001305" cy="3016651"/>
          </a:xfrm>
        </p:spPr>
        <p:txBody>
          <a:bodyPr>
            <a:normAutofit/>
          </a:bodyPr>
          <a:lstStyle/>
          <a:p>
            <a:pPr lvl="2">
              <a:lnSpc>
                <a:spcPct val="120000"/>
              </a:lnSpc>
            </a:pPr>
            <a:r>
              <a:rPr lang="en-US" altLang="zh-CN" sz="1800" dirty="0">
                <a:latin typeface="Arial" panose="020B0604020202020204" pitchFamily="34" charset="0"/>
                <a:cs typeface="Arial" panose="020B0604020202020204" pitchFamily="34" charset="0"/>
              </a:rPr>
              <a:t>example: node determines its 2-hop neighbors (using HELLO messages) and selects minimum set of 1-hop neighbors to reach all 2-hop neighbors</a:t>
            </a:r>
          </a:p>
          <a:p>
            <a:pPr lvl="1">
              <a:lnSpc>
                <a:spcPct val="120000"/>
              </a:lnSpc>
            </a:pPr>
            <a:r>
              <a:rPr lang="en-US" altLang="zh-CN" sz="2000" dirty="0">
                <a:latin typeface="Arial" panose="020B0604020202020204" pitchFamily="34" charset="0"/>
                <a:cs typeface="Arial" panose="020B0604020202020204" pitchFamily="34" charset="0"/>
              </a:rPr>
              <a:t>only MPRs forward messages to other nodes </a:t>
            </a:r>
          </a:p>
          <a:p>
            <a:pPr lvl="1">
              <a:lnSpc>
                <a:spcPct val="120000"/>
              </a:lnSpc>
            </a:pPr>
            <a:r>
              <a:rPr lang="en-US" altLang="zh-CN" sz="2000" dirty="0">
                <a:latin typeface="Arial" panose="020B0604020202020204" pitchFamily="34" charset="0"/>
                <a:cs typeface="Arial" panose="020B0604020202020204" pitchFamily="34" charset="0"/>
              </a:rPr>
              <a:t>HELLO messages contain addresses of MPRs, i.e., a node advertises its reachability via MPRs only instead of all neighbors</a:t>
            </a:r>
          </a:p>
          <a:p>
            <a:pPr lvl="1">
              <a:lnSpc>
                <a:spcPct val="120000"/>
              </a:lnSpc>
            </a:pPr>
            <a:endParaRPr lang="zh-CN" altLang="en-US" sz="2000" dirty="0">
              <a:latin typeface="Arial" panose="020B0604020202020204" pitchFamily="34" charset="0"/>
              <a:cs typeface="Arial" panose="020B0604020202020204" pitchFamily="34"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3197400"/>
            <a:ext cx="5041777" cy="2647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a:extLst>
              <a:ext uri="{FF2B5EF4-FFF2-40B4-BE49-F238E27FC236}">
                <a16:creationId xmlns:a16="http://schemas.microsoft.com/office/drawing/2014/main" id="{925FB3D6-1BDB-436E-8BFB-6AAB7A13D0F1}"/>
              </a:ext>
            </a:extLst>
          </p:cNvPr>
          <p:cNvSpPr txBox="1">
            <a:spLocks/>
          </p:cNvSpPr>
          <p:nvPr/>
        </p:nvSpPr>
        <p:spPr>
          <a:xfrm>
            <a:off x="838200" y="1690688"/>
            <a:ext cx="10637668" cy="41544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zh-CN" sz="2400" dirty="0">
                <a:latin typeface="Arial" panose="020B0604020202020204" pitchFamily="34" charset="0"/>
                <a:cs typeface="Arial" panose="020B0604020202020204" pitchFamily="34" charset="0"/>
              </a:rPr>
              <a:t>Multipoint relays:</a:t>
            </a:r>
          </a:p>
          <a:p>
            <a:pPr lvl="1">
              <a:lnSpc>
                <a:spcPct val="120000"/>
              </a:lnSpc>
            </a:pPr>
            <a:r>
              <a:rPr lang="en-US" altLang="zh-CN" sz="2000" dirty="0">
                <a:latin typeface="Arial" panose="020B0604020202020204" pitchFamily="34" charset="0"/>
                <a:cs typeface="Arial" panose="020B0604020202020204" pitchFamily="34" charset="0"/>
              </a:rPr>
              <a:t>a node selects a set of symmetric neighbors as MPRs (MPR selector set); each node can use different algorithm/heuristic for the selection process</a:t>
            </a:r>
          </a:p>
        </p:txBody>
      </p:sp>
    </p:spTree>
    <p:extLst>
      <p:ext uri="{BB962C8B-B14F-4D97-AF65-F5344CB8AC3E}">
        <p14:creationId xmlns:p14="http://schemas.microsoft.com/office/powerpoint/2010/main" val="788275615"/>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Roadmap</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667250"/>
          </a:xfrm>
        </p:spPr>
        <p:txBody>
          <a:bodyPr>
            <a:noAutofit/>
          </a:bodyPr>
          <a:lstStyle/>
          <a:p>
            <a:pPr>
              <a:lnSpc>
                <a:spcPct val="120000"/>
              </a:lnSpc>
            </a:pPr>
            <a:r>
              <a:rPr lang="en-US" altLang="zh-CN" dirty="0">
                <a:latin typeface="Arial" panose="020B0604020202020204" pitchFamily="34" charset="0"/>
                <a:cs typeface="Arial" panose="020B0604020202020204" pitchFamily="34" charset="0"/>
              </a:rPr>
              <a:t>Routing basics</a:t>
            </a:r>
          </a:p>
          <a:p>
            <a:pPr>
              <a:lnSpc>
                <a:spcPct val="120000"/>
              </a:lnSpc>
            </a:pPr>
            <a:r>
              <a:rPr lang="en-US" altLang="zh-CN" dirty="0">
                <a:latin typeface="Arial" panose="020B0604020202020204" pitchFamily="34" charset="0"/>
                <a:cs typeface="Arial" panose="020B0604020202020204" pitchFamily="34" charset="0"/>
              </a:rPr>
              <a:t>Data-centric routing </a:t>
            </a:r>
          </a:p>
          <a:p>
            <a:pPr>
              <a:lnSpc>
                <a:spcPct val="120000"/>
              </a:lnSpc>
            </a:pPr>
            <a:r>
              <a:rPr lang="en-US" altLang="zh-CN" dirty="0">
                <a:latin typeface="Arial" panose="020B0604020202020204" pitchFamily="34" charset="0"/>
                <a:cs typeface="Arial" panose="020B0604020202020204" pitchFamily="34" charset="0"/>
              </a:rPr>
              <a:t>Proactive routing</a:t>
            </a:r>
          </a:p>
          <a:p>
            <a:pPr>
              <a:lnSpc>
                <a:spcPct val="120000"/>
              </a:lnSpc>
            </a:pPr>
            <a:r>
              <a:rPr lang="en-US" altLang="zh-CN" b="1" dirty="0">
                <a:latin typeface="Arial" panose="020B0604020202020204" pitchFamily="34" charset="0"/>
                <a:cs typeface="Arial" panose="020B0604020202020204" pitchFamily="34" charset="0"/>
              </a:rPr>
              <a:t>On-demand routing</a:t>
            </a:r>
          </a:p>
          <a:p>
            <a:pPr>
              <a:lnSpc>
                <a:spcPct val="120000"/>
              </a:lnSpc>
            </a:pPr>
            <a:r>
              <a:rPr lang="en-US" altLang="zh-CN" dirty="0">
                <a:latin typeface="Arial" panose="020B0604020202020204" pitchFamily="34" charset="0"/>
                <a:cs typeface="Arial" panose="020B0604020202020204" pitchFamily="34" charset="0"/>
              </a:rPr>
              <a:t>Hierarchical routing</a:t>
            </a:r>
          </a:p>
          <a:p>
            <a:pPr>
              <a:lnSpc>
                <a:spcPct val="120000"/>
              </a:lnSpc>
            </a:pPr>
            <a:r>
              <a:rPr lang="en-US" altLang="zh-CN" dirty="0">
                <a:latin typeface="Arial" panose="020B0604020202020204" pitchFamily="34" charset="0"/>
                <a:cs typeface="Arial" panose="020B0604020202020204" pitchFamily="34" charset="0"/>
              </a:rPr>
              <a:t>Location-based routing</a:t>
            </a:r>
          </a:p>
          <a:p>
            <a:pPr>
              <a:lnSpc>
                <a:spcPct val="120000"/>
              </a:lnSpc>
            </a:pPr>
            <a:r>
              <a:rPr lang="en-US" altLang="zh-CN" dirty="0" err="1">
                <a:latin typeface="Arial" panose="020B0604020202020204" pitchFamily="34" charset="0"/>
                <a:cs typeface="Arial" panose="020B0604020202020204" pitchFamily="34" charset="0"/>
              </a:rPr>
              <a:t>QoS</a:t>
            </a:r>
            <a:r>
              <a:rPr lang="en-US" altLang="zh-CN" dirty="0">
                <a:latin typeface="Arial" panose="020B0604020202020204" pitchFamily="34" charset="0"/>
                <a:cs typeface="Arial" panose="020B0604020202020204" pitchFamily="34" charset="0"/>
              </a:rPr>
              <a:t>-based routing</a:t>
            </a:r>
            <a:endParaRPr lang="en-US" altLang="zh-C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710037"/>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On-Demand (Reactive) Routing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Routes are not established until actually needed</a:t>
            </a:r>
          </a:p>
          <a:p>
            <a:pPr>
              <a:lnSpc>
                <a:spcPct val="120000"/>
              </a:lnSpc>
            </a:pPr>
            <a:r>
              <a:rPr lang="en-US" altLang="zh-CN" sz="2400" dirty="0">
                <a:latin typeface="Arial" panose="020B0604020202020204" pitchFamily="34" charset="0"/>
                <a:cs typeface="Arial" panose="020B0604020202020204" pitchFamily="34" charset="0"/>
              </a:rPr>
              <a:t>Instead, a source node (knowing the identity/address of a destination node) initiates a route discovery process which completes when at least one route has been found or all possible paths have been examined </a:t>
            </a:r>
          </a:p>
          <a:p>
            <a:pPr>
              <a:lnSpc>
                <a:spcPct val="120000"/>
              </a:lnSpc>
            </a:pPr>
            <a:r>
              <a:rPr lang="en-US" altLang="zh-CN" sz="2400" dirty="0">
                <a:latin typeface="Arial" panose="020B0604020202020204" pitchFamily="34" charset="0"/>
                <a:cs typeface="Arial" panose="020B0604020202020204" pitchFamily="34" charset="0"/>
              </a:rPr>
              <a:t>A newly discovered route is then maintained until it either breaks or is no longer needed by the source </a:t>
            </a:r>
            <a:endParaRPr lang="en-US" altLang="zh-C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6758267"/>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Ad Hoc On-Demand Distance Vector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515600" cy="5542841"/>
          </a:xfrm>
        </p:spPr>
        <p:txBody>
          <a:bodyPr>
            <a:normAutofit/>
          </a:bodyPr>
          <a:lstStyle/>
          <a:p>
            <a:pPr>
              <a:lnSpc>
                <a:spcPct val="110000"/>
              </a:lnSpc>
            </a:pPr>
            <a:r>
              <a:rPr lang="en-US" altLang="zh-CN" sz="2000" dirty="0">
                <a:latin typeface="Arial" panose="020B0604020202020204" pitchFamily="34" charset="0"/>
                <a:cs typeface="Arial" panose="020B0604020202020204" pitchFamily="34" charset="0"/>
              </a:rPr>
              <a:t>AODV relies on broadcast route discovery mechanism, which is used to dynamically establish route table entries at intermediate nodes </a:t>
            </a:r>
          </a:p>
          <a:p>
            <a:pPr>
              <a:lnSpc>
                <a:spcPct val="110000"/>
              </a:lnSpc>
            </a:pPr>
            <a:r>
              <a:rPr lang="en-US" altLang="zh-CN" sz="2000" dirty="0">
                <a:solidFill>
                  <a:srgbClr val="FF0000"/>
                </a:solidFill>
                <a:latin typeface="Arial" panose="020B0604020202020204" pitchFamily="34" charset="0"/>
                <a:cs typeface="Arial" panose="020B0604020202020204" pitchFamily="34" charset="0"/>
              </a:rPr>
              <a:t>Path discovery  </a:t>
            </a:r>
            <a:r>
              <a:rPr lang="en-US" altLang="zh-CN" sz="2000" dirty="0">
                <a:latin typeface="Arial" panose="020B0604020202020204" pitchFamily="34" charset="0"/>
                <a:cs typeface="Arial" panose="020B0604020202020204" pitchFamily="34" charset="0"/>
              </a:rPr>
              <a:t>process: </a:t>
            </a:r>
          </a:p>
          <a:p>
            <a:pPr lvl="1">
              <a:lnSpc>
                <a:spcPct val="110000"/>
              </a:lnSpc>
            </a:pPr>
            <a:r>
              <a:rPr lang="en-US" altLang="zh-CN" sz="1800" dirty="0">
                <a:latin typeface="Arial" panose="020B0604020202020204" pitchFamily="34" charset="0"/>
                <a:cs typeface="Arial" panose="020B0604020202020204" pitchFamily="34" charset="0"/>
              </a:rPr>
              <a:t>initiated whenever a source needs to transmit data to a sink and the source does not have an entry for the sink in its routing table </a:t>
            </a:r>
          </a:p>
          <a:p>
            <a:pPr lvl="1">
              <a:lnSpc>
                <a:spcPct val="110000"/>
              </a:lnSpc>
            </a:pPr>
            <a:r>
              <a:rPr lang="en-US" altLang="zh-CN" sz="1800" dirty="0">
                <a:latin typeface="Arial" panose="020B0604020202020204" pitchFamily="34" charset="0"/>
                <a:cs typeface="Arial" panose="020B0604020202020204" pitchFamily="34" charset="0"/>
              </a:rPr>
              <a:t>source broadcasts </a:t>
            </a:r>
            <a:r>
              <a:rPr lang="en-US" altLang="zh-CN" sz="1800" dirty="0">
                <a:solidFill>
                  <a:srgbClr val="FF0000"/>
                </a:solidFill>
                <a:latin typeface="Arial" panose="020B0604020202020204" pitchFamily="34" charset="0"/>
                <a:cs typeface="Arial" panose="020B0604020202020204" pitchFamily="34" charset="0"/>
              </a:rPr>
              <a:t>route request (RREQ) </a:t>
            </a:r>
            <a:r>
              <a:rPr lang="en-US" altLang="zh-CN" sz="1800" dirty="0">
                <a:latin typeface="Arial" panose="020B0604020202020204" pitchFamily="34" charset="0"/>
                <a:cs typeface="Arial" panose="020B0604020202020204" pitchFamily="34" charset="0"/>
              </a:rPr>
              <a:t>packet containing:</a:t>
            </a:r>
          </a:p>
          <a:p>
            <a:pPr lvl="2">
              <a:lnSpc>
                <a:spcPct val="110000"/>
              </a:lnSpc>
            </a:pPr>
            <a:r>
              <a:rPr lang="en-US" altLang="zh-CN" sz="1800" dirty="0">
                <a:latin typeface="Arial" panose="020B0604020202020204" pitchFamily="34" charset="0"/>
                <a:cs typeface="Arial" panose="020B0604020202020204" pitchFamily="34" charset="0"/>
              </a:rPr>
              <a:t>addresses of source and sink</a:t>
            </a:r>
          </a:p>
          <a:p>
            <a:pPr lvl="2">
              <a:lnSpc>
                <a:spcPct val="110000"/>
              </a:lnSpc>
            </a:pPr>
            <a:r>
              <a:rPr lang="en-US" altLang="zh-CN" sz="1800" dirty="0">
                <a:latin typeface="Arial" panose="020B0604020202020204" pitchFamily="34" charset="0"/>
                <a:cs typeface="Arial" panose="020B0604020202020204" pitchFamily="34" charset="0"/>
              </a:rPr>
              <a:t>hop count value</a:t>
            </a:r>
          </a:p>
          <a:p>
            <a:pPr lvl="2">
              <a:lnSpc>
                <a:spcPct val="110000"/>
              </a:lnSpc>
            </a:pPr>
            <a:r>
              <a:rPr lang="en-US" altLang="zh-CN" sz="1800" dirty="0">
                <a:latin typeface="Arial" panose="020B0604020202020204" pitchFamily="34" charset="0"/>
                <a:cs typeface="Arial" panose="020B0604020202020204" pitchFamily="34" charset="0"/>
              </a:rPr>
              <a:t>broadcast ID (incremented whenever source issues a new RREQ)</a:t>
            </a:r>
          </a:p>
          <a:p>
            <a:pPr lvl="2">
              <a:lnSpc>
                <a:spcPct val="110000"/>
              </a:lnSpc>
            </a:pPr>
            <a:r>
              <a:rPr lang="en-US" altLang="zh-CN" sz="1800" dirty="0">
                <a:latin typeface="Arial" panose="020B0604020202020204" pitchFamily="34" charset="0"/>
                <a:cs typeface="Arial" panose="020B0604020202020204" pitchFamily="34" charset="0"/>
              </a:rPr>
              <a:t>two sequence numbers </a:t>
            </a:r>
          </a:p>
          <a:p>
            <a:pPr lvl="1">
              <a:lnSpc>
                <a:spcPct val="110000"/>
              </a:lnSpc>
            </a:pPr>
            <a:r>
              <a:rPr lang="en-US" altLang="zh-CN" sz="1800" dirty="0">
                <a:latin typeface="Arial" panose="020B0604020202020204" pitchFamily="34" charset="0"/>
                <a:cs typeface="Arial" panose="020B0604020202020204" pitchFamily="34" charset="0"/>
              </a:rPr>
              <a:t>upon receiving RREQ, if a node knows a route to the destination, responds by sending a unicast </a:t>
            </a:r>
            <a:r>
              <a:rPr lang="en-US" altLang="zh-CN" sz="1800" dirty="0">
                <a:solidFill>
                  <a:srgbClr val="FF0000"/>
                </a:solidFill>
                <a:latin typeface="Arial" panose="020B0604020202020204" pitchFamily="34" charset="0"/>
                <a:cs typeface="Arial" panose="020B0604020202020204" pitchFamily="34" charset="0"/>
              </a:rPr>
              <a:t>route reply (RREP)  </a:t>
            </a:r>
            <a:r>
              <a:rPr lang="en-US" altLang="zh-CN" sz="1800" dirty="0">
                <a:latin typeface="Arial" panose="020B0604020202020204" pitchFamily="34" charset="0"/>
                <a:cs typeface="Arial" panose="020B0604020202020204" pitchFamily="34" charset="0"/>
              </a:rPr>
              <a:t>message back to source</a:t>
            </a:r>
          </a:p>
          <a:p>
            <a:pPr lvl="1">
              <a:lnSpc>
                <a:spcPct val="110000"/>
              </a:lnSpc>
            </a:pPr>
            <a:r>
              <a:rPr lang="en-US" altLang="zh-CN" sz="1800" dirty="0">
                <a:latin typeface="Arial" panose="020B0604020202020204" pitchFamily="34" charset="0"/>
                <a:cs typeface="Arial" panose="020B0604020202020204" pitchFamily="34" charset="0"/>
              </a:rPr>
              <a:t>otherwise RREQs are re-broadcast or duplicate RREQs (identified by source address and broadcast ID) are discarded</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581756"/>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Ad Hoc On-Demand Distance Vector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515600" cy="4351338"/>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Use of sequence numbers: </a:t>
            </a:r>
          </a:p>
          <a:p>
            <a:pPr lvl="1">
              <a:lnSpc>
                <a:spcPct val="120000"/>
              </a:lnSpc>
            </a:pPr>
            <a:r>
              <a:rPr lang="en-US" altLang="zh-CN" sz="2000" dirty="0">
                <a:latin typeface="Arial" panose="020B0604020202020204" pitchFamily="34" charset="0"/>
                <a:cs typeface="Arial" panose="020B0604020202020204" pitchFamily="34" charset="0"/>
              </a:rPr>
              <a:t>every node maintains own sequence numbers</a:t>
            </a:r>
          </a:p>
          <a:p>
            <a:pPr lvl="1">
              <a:lnSpc>
                <a:spcPct val="120000"/>
              </a:lnSpc>
            </a:pPr>
            <a:r>
              <a:rPr lang="en-US" altLang="zh-CN" sz="2000" dirty="0" err="1">
                <a:latin typeface="Arial" panose="020B0604020202020204" pitchFamily="34" charset="0"/>
                <a:cs typeface="Arial" panose="020B0604020202020204" pitchFamily="34" charset="0"/>
              </a:rPr>
              <a:t>sourceʼ</a:t>
            </a:r>
            <a:r>
              <a:rPr lang="en-US" altLang="zh-CN" sz="2000" dirty="0">
                <a:latin typeface="Arial" panose="020B0604020202020204" pitchFamily="34" charset="0"/>
                <a:cs typeface="Arial" panose="020B0604020202020204" pitchFamily="34" charset="0"/>
              </a:rPr>
              <a:t> s RREQ includes its own sequence number and the most recent sequence number (if known) from the destination </a:t>
            </a:r>
          </a:p>
          <a:p>
            <a:pPr lvl="1">
              <a:lnSpc>
                <a:spcPct val="120000"/>
              </a:lnSpc>
            </a:pPr>
            <a:r>
              <a:rPr lang="en-US" altLang="zh-CN" sz="2000" dirty="0">
                <a:latin typeface="Arial" panose="020B0604020202020204" pitchFamily="34" charset="0"/>
                <a:cs typeface="Arial" panose="020B0604020202020204" pitchFamily="34" charset="0"/>
              </a:rPr>
              <a:t>intermediate nodes only reply to RREQ if the sequence number of their route to the destination is greater than or equal to the destination sequence number in the RREQ </a:t>
            </a:r>
          </a:p>
          <a:p>
            <a:pPr lvl="1">
              <a:lnSpc>
                <a:spcPct val="120000"/>
              </a:lnSpc>
            </a:pPr>
            <a:r>
              <a:rPr lang="en-US" altLang="zh-CN" sz="2000" dirty="0">
                <a:latin typeface="Arial" panose="020B0604020202020204" pitchFamily="34" charset="0"/>
                <a:cs typeface="Arial" panose="020B0604020202020204" pitchFamily="34" charset="0"/>
              </a:rPr>
              <a:t>when RREQ is re-broadcast, node records the address of neighbor from which RREQ came (establishing a </a:t>
            </a:r>
            <a:r>
              <a:rPr lang="en-US" altLang="zh-CN" sz="2000" dirty="0">
                <a:solidFill>
                  <a:srgbClr val="FF0000"/>
                </a:solidFill>
                <a:latin typeface="Arial" panose="020B0604020202020204" pitchFamily="34" charset="0"/>
                <a:cs typeface="Arial" panose="020B0604020202020204" pitchFamily="34" charset="0"/>
              </a:rPr>
              <a:t>reverse path </a:t>
            </a:r>
            <a:r>
              <a:rPr lang="en-US" altLang="zh-CN" sz="2000" dirty="0">
                <a:latin typeface="Arial" panose="020B0604020202020204" pitchFamily="34" charset="0"/>
                <a:cs typeface="Arial" panose="020B0604020202020204" pitchFamily="34" charset="0"/>
              </a:rPr>
              <a:t>towards source)</a:t>
            </a:r>
          </a:p>
          <a:p>
            <a:pPr lvl="1">
              <a:lnSpc>
                <a:spcPct val="120000"/>
              </a:lnSpc>
            </a:pPr>
            <a:r>
              <a:rPr lang="en-US" altLang="zh-CN" sz="2000" dirty="0">
                <a:latin typeface="Arial" panose="020B0604020202020204" pitchFamily="34" charset="0"/>
                <a:cs typeface="Arial" panose="020B0604020202020204" pitchFamily="34" charset="0"/>
              </a:rPr>
              <a:t>as RREP travels towards source, intermediate nodes set up forward pointers to the node from which the RREP came and records latest destination sequence number</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7287281"/>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Ad Hoc On-Demand Distance Vector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986856" cy="5486400"/>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Use of RREPs: </a:t>
            </a:r>
          </a:p>
          <a:p>
            <a:pPr lvl="1">
              <a:lnSpc>
                <a:spcPct val="120000"/>
              </a:lnSpc>
            </a:pPr>
            <a:r>
              <a:rPr lang="en-US" altLang="zh-CN" sz="2000" dirty="0">
                <a:latin typeface="Arial" panose="020B0604020202020204" pitchFamily="34" charset="0"/>
                <a:cs typeface="Arial" panose="020B0604020202020204" pitchFamily="34" charset="0"/>
              </a:rPr>
              <a:t>RREP contains:</a:t>
            </a:r>
          </a:p>
          <a:p>
            <a:pPr lvl="2">
              <a:lnSpc>
                <a:spcPct val="120000"/>
              </a:lnSpc>
            </a:pPr>
            <a:r>
              <a:rPr lang="en-US" altLang="zh-CN" sz="1800" dirty="0">
                <a:latin typeface="Arial" panose="020B0604020202020204" pitchFamily="34" charset="0"/>
                <a:cs typeface="Arial" panose="020B0604020202020204" pitchFamily="34" charset="0"/>
              </a:rPr>
              <a:t>addresses of source and destination</a:t>
            </a:r>
          </a:p>
          <a:p>
            <a:pPr lvl="2">
              <a:lnSpc>
                <a:spcPct val="120000"/>
              </a:lnSpc>
            </a:pPr>
            <a:r>
              <a:rPr lang="en-US" altLang="zh-CN" sz="1800" dirty="0">
                <a:latin typeface="Arial" panose="020B0604020202020204" pitchFamily="34" charset="0"/>
                <a:cs typeface="Arial" panose="020B0604020202020204" pitchFamily="34" charset="0"/>
              </a:rPr>
              <a:t>destination sequence number</a:t>
            </a:r>
          </a:p>
          <a:p>
            <a:pPr lvl="2">
              <a:lnSpc>
                <a:spcPct val="120000"/>
              </a:lnSpc>
            </a:pPr>
            <a:r>
              <a:rPr lang="en-US" altLang="zh-CN" sz="1800" dirty="0">
                <a:latin typeface="Arial" panose="020B0604020202020204" pitchFamily="34" charset="0"/>
                <a:cs typeface="Arial" panose="020B0604020202020204" pitchFamily="34" charset="0"/>
              </a:rPr>
              <a:t>hop count</a:t>
            </a:r>
          </a:p>
          <a:p>
            <a:pPr lvl="1">
              <a:lnSpc>
                <a:spcPct val="120000"/>
              </a:lnSpc>
            </a:pPr>
            <a:r>
              <a:rPr lang="en-US" altLang="zh-CN" sz="2000" dirty="0">
                <a:latin typeface="Arial" panose="020B0604020202020204" pitchFamily="34" charset="0"/>
                <a:cs typeface="Arial" panose="020B0604020202020204" pitchFamily="34" charset="0"/>
              </a:rPr>
              <a:t>intermediate node propagates RREP only if </a:t>
            </a:r>
          </a:p>
          <a:p>
            <a:pPr lvl="2">
              <a:lnSpc>
                <a:spcPct val="120000"/>
              </a:lnSpc>
            </a:pPr>
            <a:r>
              <a:rPr lang="en-US" altLang="zh-CN" sz="1800" dirty="0">
                <a:latin typeface="Arial" panose="020B0604020202020204" pitchFamily="34" charset="0"/>
                <a:cs typeface="Arial" panose="020B0604020202020204" pitchFamily="34" charset="0"/>
              </a:rPr>
              <a:t>this is the first copy of this RREP the node sees</a:t>
            </a:r>
          </a:p>
          <a:p>
            <a:pPr lvl="2">
              <a:lnSpc>
                <a:spcPct val="120000"/>
              </a:lnSpc>
            </a:pPr>
            <a:r>
              <a:rPr lang="en-US" altLang="zh-CN" sz="1800" dirty="0">
                <a:latin typeface="Arial" panose="020B0604020202020204" pitchFamily="34" charset="0"/>
                <a:cs typeface="Arial" panose="020B0604020202020204" pitchFamily="34" charset="0"/>
              </a:rPr>
              <a:t>or destination sequence number in RREP is greater than that of previous RREP </a:t>
            </a:r>
          </a:p>
          <a:p>
            <a:pPr lvl="2">
              <a:lnSpc>
                <a:spcPct val="120000"/>
              </a:lnSpc>
            </a:pPr>
            <a:r>
              <a:rPr lang="en-US" altLang="zh-CN" sz="1800" dirty="0">
                <a:latin typeface="Arial" panose="020B0604020202020204" pitchFamily="34" charset="0"/>
                <a:cs typeface="Arial" panose="020B0604020202020204" pitchFamily="34" charset="0"/>
              </a:rPr>
              <a:t>or destination sequence number is the same as in previous RREP, but the hop count is smaller</a:t>
            </a:r>
          </a:p>
          <a:p>
            <a:pPr lvl="1">
              <a:lnSpc>
                <a:spcPct val="120000"/>
              </a:lnSpc>
            </a:pPr>
            <a:r>
              <a:rPr lang="en-US" altLang="zh-CN" sz="2000" dirty="0">
                <a:latin typeface="Arial" panose="020B0604020202020204" pitchFamily="34" charset="0"/>
                <a:cs typeface="Arial" panose="020B0604020202020204" pitchFamily="34" charset="0"/>
              </a:rPr>
              <a:t>limits the number of RREPs in network and ensures that the RREP over the </a:t>
            </a:r>
            <a:r>
              <a:rPr lang="en-US" altLang="zh-CN" sz="2000" dirty="0">
                <a:solidFill>
                  <a:srgbClr val="FF0000"/>
                </a:solidFill>
                <a:latin typeface="Arial" panose="020B0604020202020204" pitchFamily="34" charset="0"/>
                <a:cs typeface="Arial" panose="020B0604020202020204" pitchFamily="34" charset="0"/>
              </a:rPr>
              <a:t>shortest route </a:t>
            </a:r>
            <a:r>
              <a:rPr lang="en-US" altLang="zh-CN" sz="2000" dirty="0">
                <a:latin typeface="Arial" panose="020B0604020202020204" pitchFamily="34" charset="0"/>
                <a:cs typeface="Arial" panose="020B0604020202020204" pitchFamily="34" charset="0"/>
              </a:rPr>
              <a:t>reaches the source </a:t>
            </a:r>
          </a:p>
        </p:txBody>
      </p:sp>
    </p:spTree>
    <p:extLst>
      <p:ext uri="{BB962C8B-B14F-4D97-AF65-F5344CB8AC3E}">
        <p14:creationId xmlns:p14="http://schemas.microsoft.com/office/powerpoint/2010/main" val="1913544856"/>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Ad Hoc On-Demand Distance Vector </a:t>
            </a:r>
            <a:endParaRPr lang="zh-CN" altLang="en-US" b="1" dirty="0">
              <a:latin typeface="Arial" panose="020B0604020202020204" pitchFamily="34" charset="0"/>
              <a:cs typeface="Arial" panose="020B0604020202020204" pitchFamily="34"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232132"/>
            <a:ext cx="10376398" cy="3449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8946636"/>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Ad Hoc On-Demand Distance Vector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823750"/>
          </a:xfrm>
        </p:spPr>
        <p:txBody>
          <a:bodyPr>
            <a:normAutofit lnSpcReduction="10000"/>
          </a:bodyPr>
          <a:lstStyle/>
          <a:p>
            <a:pPr>
              <a:lnSpc>
                <a:spcPct val="120000"/>
              </a:lnSpc>
            </a:pPr>
            <a:r>
              <a:rPr lang="en-US" altLang="zh-CN" sz="2400" dirty="0">
                <a:latin typeface="Arial" panose="020B0604020202020204" pitchFamily="34" charset="0"/>
                <a:cs typeface="Arial" panose="020B0604020202020204" pitchFamily="34" charset="0"/>
              </a:rPr>
              <a:t>Routes expire after certain amount of time</a:t>
            </a:r>
          </a:p>
          <a:p>
            <a:pPr>
              <a:lnSpc>
                <a:spcPct val="120000"/>
              </a:lnSpc>
            </a:pPr>
            <a:r>
              <a:rPr lang="en-US" altLang="zh-CN" sz="2400" dirty="0">
                <a:latin typeface="Arial" panose="020B0604020202020204" pitchFamily="34" charset="0"/>
                <a:cs typeface="Arial" panose="020B0604020202020204" pitchFamily="34" charset="0"/>
              </a:rPr>
              <a:t>Link state monitored using HELLO messages among neighbors</a:t>
            </a:r>
          </a:p>
          <a:p>
            <a:pPr lvl="1">
              <a:lnSpc>
                <a:spcPct val="120000"/>
              </a:lnSpc>
            </a:pPr>
            <a:r>
              <a:rPr lang="en-US" altLang="zh-CN" sz="2000" dirty="0">
                <a:latin typeface="Arial" panose="020B0604020202020204" pitchFamily="34" charset="0"/>
                <a:cs typeface="Arial" panose="020B0604020202020204" pitchFamily="34" charset="0"/>
              </a:rPr>
              <a:t>when a link/route breaks, the node noticing this issues a </a:t>
            </a:r>
            <a:r>
              <a:rPr lang="en-US" altLang="zh-CN" sz="2000" dirty="0">
                <a:solidFill>
                  <a:srgbClr val="FF0000"/>
                </a:solidFill>
                <a:latin typeface="Arial" panose="020B0604020202020204" pitchFamily="34" charset="0"/>
                <a:cs typeface="Arial" panose="020B0604020202020204" pitchFamily="34" charset="0"/>
              </a:rPr>
              <a:t>route error (RRER) </a:t>
            </a:r>
            <a:r>
              <a:rPr lang="en-US" altLang="zh-CN" sz="2000" dirty="0">
                <a:latin typeface="Arial" panose="020B0604020202020204" pitchFamily="34" charset="0"/>
                <a:cs typeface="Arial" panose="020B0604020202020204" pitchFamily="34" charset="0"/>
              </a:rPr>
              <a:t> packet towards the source (which can re-initiate route discovery) </a:t>
            </a:r>
          </a:p>
          <a:p>
            <a:pPr lvl="1">
              <a:lnSpc>
                <a:spcPct val="120000"/>
              </a:lnSpc>
            </a:pPr>
            <a:endParaRPr lang="en-US" altLang="zh-CN" sz="2000" dirty="0">
              <a:latin typeface="Arial" panose="020B0604020202020204" pitchFamily="34" charset="0"/>
              <a:cs typeface="Arial" panose="020B0604020202020204" pitchFamily="34" charset="0"/>
            </a:endParaRPr>
          </a:p>
          <a:p>
            <a:pPr>
              <a:lnSpc>
                <a:spcPct val="120000"/>
              </a:lnSpc>
            </a:pPr>
            <a:r>
              <a:rPr lang="en-US" altLang="zh-CN" sz="2400" dirty="0">
                <a:latin typeface="Arial" panose="020B0604020202020204" pitchFamily="34" charset="0"/>
                <a:cs typeface="Arial" panose="020B0604020202020204" pitchFamily="34" charset="0"/>
              </a:rPr>
              <a:t>Summary:</a:t>
            </a:r>
          </a:p>
          <a:p>
            <a:pPr lvl="1">
              <a:lnSpc>
                <a:spcPct val="120000"/>
              </a:lnSpc>
            </a:pPr>
            <a:r>
              <a:rPr lang="en-US" altLang="zh-CN" sz="2000" dirty="0">
                <a:latin typeface="Arial" panose="020B0604020202020204" pitchFamily="34" charset="0"/>
                <a:cs typeface="Arial" panose="020B0604020202020204" pitchFamily="34" charset="0"/>
              </a:rPr>
              <a:t>routes are established only when needed</a:t>
            </a:r>
          </a:p>
          <a:p>
            <a:pPr lvl="1">
              <a:lnSpc>
                <a:spcPct val="120000"/>
              </a:lnSpc>
            </a:pPr>
            <a:r>
              <a:rPr lang="en-US" altLang="zh-CN" sz="2000" dirty="0">
                <a:latin typeface="Arial" panose="020B0604020202020204" pitchFamily="34" charset="0"/>
                <a:cs typeface="Arial" panose="020B0604020202020204" pitchFamily="34" charset="0"/>
              </a:rPr>
              <a:t>no need for route table updates and exchanges for unused routes</a:t>
            </a:r>
          </a:p>
          <a:p>
            <a:pPr lvl="1">
              <a:lnSpc>
                <a:spcPct val="120000"/>
              </a:lnSpc>
            </a:pPr>
            <a:r>
              <a:rPr lang="en-US" altLang="zh-CN" sz="2000" dirty="0">
                <a:latin typeface="Arial" panose="020B0604020202020204" pitchFamily="34" charset="0"/>
                <a:cs typeface="Arial" panose="020B0604020202020204" pitchFamily="34" charset="0"/>
              </a:rPr>
              <a:t>periodic HELLO messages </a:t>
            </a:r>
          </a:p>
          <a:p>
            <a:pPr lvl="1">
              <a:lnSpc>
                <a:spcPct val="120000"/>
              </a:lnSpc>
            </a:pPr>
            <a:r>
              <a:rPr lang="en-US" altLang="zh-CN" sz="2000" dirty="0">
                <a:latin typeface="Arial" panose="020B0604020202020204" pitchFamily="34" charset="0"/>
                <a:cs typeface="Arial" panose="020B0604020202020204" pitchFamily="34" charset="0"/>
              </a:rPr>
              <a:t>initial transmission delay if route must be discovered first</a:t>
            </a:r>
          </a:p>
          <a:p>
            <a:pPr lvl="1">
              <a:lnSpc>
                <a:spcPct val="120000"/>
              </a:lnSpc>
            </a:pPr>
            <a:r>
              <a:rPr lang="en-US" altLang="zh-CN" sz="2000" dirty="0">
                <a:latin typeface="Arial" panose="020B0604020202020204" pitchFamily="34" charset="0"/>
                <a:cs typeface="Arial" panose="020B0604020202020204" pitchFamily="34" charset="0"/>
              </a:rPr>
              <a:t>RREP uses reverse path of RREQ, i.e., AODV assumes symmetric links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0971102"/>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Roadmap</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667250"/>
          </a:xfrm>
        </p:spPr>
        <p:txBody>
          <a:bodyPr>
            <a:noAutofit/>
          </a:bodyPr>
          <a:lstStyle/>
          <a:p>
            <a:pPr>
              <a:lnSpc>
                <a:spcPct val="120000"/>
              </a:lnSpc>
            </a:pPr>
            <a:r>
              <a:rPr lang="en-US" altLang="zh-CN" dirty="0">
                <a:latin typeface="Arial" panose="020B0604020202020204" pitchFamily="34" charset="0"/>
                <a:cs typeface="Arial" panose="020B0604020202020204" pitchFamily="34" charset="0"/>
              </a:rPr>
              <a:t>Routing basics</a:t>
            </a:r>
          </a:p>
          <a:p>
            <a:pPr>
              <a:lnSpc>
                <a:spcPct val="120000"/>
              </a:lnSpc>
            </a:pPr>
            <a:r>
              <a:rPr lang="en-US" altLang="zh-CN" dirty="0">
                <a:latin typeface="Arial" panose="020B0604020202020204" pitchFamily="34" charset="0"/>
                <a:cs typeface="Arial" panose="020B0604020202020204" pitchFamily="34" charset="0"/>
              </a:rPr>
              <a:t>Data-centric routing </a:t>
            </a:r>
          </a:p>
          <a:p>
            <a:pPr>
              <a:lnSpc>
                <a:spcPct val="120000"/>
              </a:lnSpc>
            </a:pPr>
            <a:r>
              <a:rPr lang="en-US" altLang="zh-CN" dirty="0">
                <a:latin typeface="Arial" panose="020B0604020202020204" pitchFamily="34" charset="0"/>
                <a:cs typeface="Arial" panose="020B0604020202020204" pitchFamily="34" charset="0"/>
              </a:rPr>
              <a:t>Proactive routing</a:t>
            </a:r>
          </a:p>
          <a:p>
            <a:pPr>
              <a:lnSpc>
                <a:spcPct val="120000"/>
              </a:lnSpc>
            </a:pPr>
            <a:r>
              <a:rPr lang="en-US" altLang="zh-CN" dirty="0">
                <a:latin typeface="Arial" panose="020B0604020202020204" pitchFamily="34" charset="0"/>
                <a:cs typeface="Arial" panose="020B0604020202020204" pitchFamily="34" charset="0"/>
              </a:rPr>
              <a:t>On-demand routing</a:t>
            </a:r>
          </a:p>
          <a:p>
            <a:pPr>
              <a:lnSpc>
                <a:spcPct val="120000"/>
              </a:lnSpc>
            </a:pPr>
            <a:r>
              <a:rPr lang="en-US" altLang="zh-CN" b="1" dirty="0">
                <a:latin typeface="Arial" panose="020B0604020202020204" pitchFamily="34" charset="0"/>
                <a:cs typeface="Arial" panose="020B0604020202020204" pitchFamily="34" charset="0"/>
              </a:rPr>
              <a:t>Hierarchical routing</a:t>
            </a:r>
          </a:p>
          <a:p>
            <a:pPr>
              <a:lnSpc>
                <a:spcPct val="120000"/>
              </a:lnSpc>
            </a:pPr>
            <a:r>
              <a:rPr lang="en-US" altLang="zh-CN" dirty="0">
                <a:latin typeface="Arial" panose="020B0604020202020204" pitchFamily="34" charset="0"/>
                <a:cs typeface="Arial" panose="020B0604020202020204" pitchFamily="34" charset="0"/>
              </a:rPr>
              <a:t>Location-based routing</a:t>
            </a:r>
          </a:p>
          <a:p>
            <a:pPr>
              <a:lnSpc>
                <a:spcPct val="120000"/>
              </a:lnSpc>
            </a:pPr>
            <a:r>
              <a:rPr lang="en-US" altLang="zh-CN" dirty="0" err="1">
                <a:latin typeface="Arial" panose="020B0604020202020204" pitchFamily="34" charset="0"/>
                <a:cs typeface="Arial" panose="020B0604020202020204" pitchFamily="34" charset="0"/>
              </a:rPr>
              <a:t>QoS</a:t>
            </a:r>
            <a:r>
              <a:rPr lang="en-US" altLang="zh-CN" dirty="0">
                <a:latin typeface="Arial" panose="020B0604020202020204" pitchFamily="34" charset="0"/>
                <a:cs typeface="Arial" panose="020B0604020202020204" pitchFamily="34" charset="0"/>
              </a:rPr>
              <a:t>-based routing</a:t>
            </a:r>
            <a:endParaRPr lang="en-US" altLang="zh-C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7002843"/>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Hierarchical Routing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83647"/>
            <a:ext cx="10649505" cy="5260528"/>
          </a:xfrm>
        </p:spPr>
        <p:txBody>
          <a:bodyPr>
            <a:normAutofit/>
          </a:bodyPr>
          <a:lstStyle/>
          <a:p>
            <a:pPr>
              <a:lnSpc>
                <a:spcPct val="130000"/>
              </a:lnSpc>
              <a:spcBef>
                <a:spcPts val="0"/>
              </a:spcBef>
            </a:pPr>
            <a:r>
              <a:rPr lang="en-US" altLang="zh-CN" sz="2400" dirty="0">
                <a:solidFill>
                  <a:srgbClr val="FF0000"/>
                </a:solidFill>
                <a:latin typeface="Arial" panose="020B0604020202020204" pitchFamily="34" charset="0"/>
                <a:cs typeface="Arial" panose="020B0604020202020204" pitchFamily="34" charset="0"/>
              </a:rPr>
              <a:t>Cluster head: </a:t>
            </a:r>
          </a:p>
          <a:p>
            <a:pPr lvl="1">
              <a:lnSpc>
                <a:spcPct val="130000"/>
              </a:lnSpc>
              <a:spcBef>
                <a:spcPts val="0"/>
              </a:spcBef>
            </a:pPr>
            <a:r>
              <a:rPr lang="en-US" altLang="zh-CN" sz="1800" dirty="0">
                <a:latin typeface="Arial" panose="020B0604020202020204" pitchFamily="34" charset="0"/>
                <a:cs typeface="Arial" panose="020B0604020202020204" pitchFamily="34" charset="0"/>
              </a:rPr>
              <a:t>responsible for propagating sensor data to sink </a:t>
            </a:r>
          </a:p>
          <a:p>
            <a:pPr lvl="1">
              <a:lnSpc>
                <a:spcPct val="130000"/>
              </a:lnSpc>
              <a:spcBef>
                <a:spcPts val="0"/>
              </a:spcBef>
            </a:pPr>
            <a:r>
              <a:rPr lang="en-US" altLang="zh-CN" sz="1800" dirty="0">
                <a:latin typeface="Arial" panose="020B0604020202020204" pitchFamily="34" charset="0"/>
                <a:cs typeface="Arial" panose="020B0604020202020204" pitchFamily="34" charset="0"/>
              </a:rPr>
              <a:t>sometimes more powerful than “regular” nodes </a:t>
            </a:r>
          </a:p>
          <a:p>
            <a:pPr lvl="1">
              <a:lnSpc>
                <a:spcPct val="130000"/>
              </a:lnSpc>
              <a:spcBef>
                <a:spcPts val="0"/>
              </a:spcBef>
            </a:pPr>
            <a:r>
              <a:rPr lang="en-US" altLang="zh-CN" sz="1800" dirty="0">
                <a:latin typeface="Arial" panose="020B0604020202020204" pitchFamily="34" charset="0"/>
                <a:cs typeface="Arial" panose="020B0604020202020204" pitchFamily="34" charset="0"/>
              </a:rPr>
              <a:t>experiences more traffic than “regular” nodes </a:t>
            </a:r>
          </a:p>
          <a:p>
            <a:pPr>
              <a:lnSpc>
                <a:spcPct val="130000"/>
              </a:lnSpc>
              <a:spcBef>
                <a:spcPts val="0"/>
              </a:spcBef>
            </a:pPr>
            <a:r>
              <a:rPr lang="en-US" altLang="zh-CN" sz="2400" dirty="0">
                <a:latin typeface="Arial" panose="020B0604020202020204" pitchFamily="34" charset="0"/>
                <a:cs typeface="Arial" panose="020B0604020202020204" pitchFamily="34" charset="0"/>
              </a:rPr>
              <a:t>Challenges in cluster formation:</a:t>
            </a:r>
          </a:p>
          <a:p>
            <a:pPr lvl="1">
              <a:lnSpc>
                <a:spcPct val="130000"/>
              </a:lnSpc>
              <a:spcBef>
                <a:spcPts val="0"/>
              </a:spcBef>
            </a:pPr>
            <a:r>
              <a:rPr lang="en-US" altLang="zh-CN" sz="1800" dirty="0">
                <a:latin typeface="Arial" panose="020B0604020202020204" pitchFamily="34" charset="0"/>
                <a:cs typeface="Arial" panose="020B0604020202020204" pitchFamily="34" charset="0"/>
              </a:rPr>
              <a:t>selection (election) of cluster heads </a:t>
            </a:r>
          </a:p>
          <a:p>
            <a:pPr lvl="1">
              <a:lnSpc>
                <a:spcPct val="130000"/>
              </a:lnSpc>
              <a:spcBef>
                <a:spcPts val="0"/>
              </a:spcBef>
            </a:pPr>
            <a:r>
              <a:rPr lang="en-US" altLang="zh-CN" sz="1800" dirty="0">
                <a:latin typeface="Arial" panose="020B0604020202020204" pitchFamily="34" charset="0"/>
                <a:cs typeface="Arial" panose="020B0604020202020204" pitchFamily="34" charset="0"/>
              </a:rPr>
              <a:t>selection of cluster to join</a:t>
            </a:r>
          </a:p>
          <a:p>
            <a:pPr lvl="1">
              <a:lnSpc>
                <a:spcPct val="130000"/>
              </a:lnSpc>
              <a:spcBef>
                <a:spcPts val="0"/>
              </a:spcBef>
            </a:pPr>
            <a:r>
              <a:rPr lang="en-US" altLang="zh-CN" sz="1800" dirty="0">
                <a:latin typeface="Arial" panose="020B0604020202020204" pitchFamily="34" charset="0"/>
                <a:cs typeface="Arial" panose="020B0604020202020204" pitchFamily="34" charset="0"/>
              </a:rPr>
              <a:t>adaptation of clusters in response to topology changes, failures, etc.</a:t>
            </a:r>
          </a:p>
          <a:p>
            <a:pPr>
              <a:lnSpc>
                <a:spcPct val="130000"/>
              </a:lnSpc>
              <a:spcBef>
                <a:spcPts val="0"/>
              </a:spcBef>
            </a:pPr>
            <a:r>
              <a:rPr lang="en-US" altLang="zh-CN" sz="2400" dirty="0">
                <a:latin typeface="Arial" panose="020B0604020202020204" pitchFamily="34" charset="0"/>
                <a:cs typeface="Arial" panose="020B0604020202020204" pitchFamily="34" charset="0"/>
              </a:rPr>
              <a:t>Advantages:</a:t>
            </a:r>
          </a:p>
          <a:p>
            <a:pPr lvl="1">
              <a:lnSpc>
                <a:spcPct val="130000"/>
              </a:lnSpc>
              <a:spcBef>
                <a:spcPts val="0"/>
              </a:spcBef>
            </a:pPr>
            <a:r>
              <a:rPr lang="en-US" altLang="zh-CN" sz="1800" dirty="0">
                <a:latin typeface="Arial" panose="020B0604020202020204" pitchFamily="34" charset="0"/>
                <a:cs typeface="Arial" panose="020B0604020202020204" pitchFamily="34" charset="0"/>
              </a:rPr>
              <a:t>potentially fewer collisions (compared to flat routing)</a:t>
            </a:r>
          </a:p>
          <a:p>
            <a:pPr lvl="1">
              <a:lnSpc>
                <a:spcPct val="130000"/>
              </a:lnSpc>
              <a:spcBef>
                <a:spcPts val="0"/>
              </a:spcBef>
            </a:pPr>
            <a:r>
              <a:rPr lang="en-US" altLang="zh-CN" sz="1800" dirty="0">
                <a:latin typeface="Arial" panose="020B0604020202020204" pitchFamily="34" charset="0"/>
                <a:cs typeface="Arial" panose="020B0604020202020204" pitchFamily="34" charset="0"/>
              </a:rPr>
              <a:t>easier duty cycling (energy efficiency) </a:t>
            </a:r>
          </a:p>
          <a:p>
            <a:pPr lvl="1">
              <a:lnSpc>
                <a:spcPct val="130000"/>
              </a:lnSpc>
              <a:spcBef>
                <a:spcPts val="0"/>
              </a:spcBef>
            </a:pPr>
            <a:r>
              <a:rPr lang="en-US" altLang="zh-CN" sz="1800" dirty="0">
                <a:latin typeface="Arial" panose="020B0604020202020204" pitchFamily="34" charset="0"/>
                <a:cs typeface="Arial" panose="020B0604020202020204" pitchFamily="34" charset="0"/>
              </a:rPr>
              <a:t>easier routing process (though routes may be longer)</a:t>
            </a:r>
          </a:p>
          <a:p>
            <a:pPr lvl="1">
              <a:lnSpc>
                <a:spcPct val="130000"/>
              </a:lnSpc>
              <a:spcBef>
                <a:spcPts val="0"/>
              </a:spcBef>
            </a:pPr>
            <a:r>
              <a:rPr lang="en-US" altLang="zh-CN" sz="1800" dirty="0">
                <a:latin typeface="Arial" panose="020B0604020202020204" pitchFamily="34" charset="0"/>
                <a:cs typeface="Arial" panose="020B0604020202020204" pitchFamily="34" charset="0"/>
              </a:rPr>
              <a:t>easier in-network data aggregation</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6162078"/>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Variations of Hierarchical Routing </a:t>
            </a:r>
            <a:endParaRPr lang="zh-CN" altLang="en-US" dirty="0">
              <a:latin typeface="Arial" panose="020B0604020202020204" pitchFamily="34" charset="0"/>
              <a:cs typeface="Arial" panose="020B0604020202020204" pitchFamily="34"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939" y="1867046"/>
            <a:ext cx="9584121" cy="4187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7841605"/>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Landmark Routing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5"/>
            <a:ext cx="7098437" cy="4667250"/>
          </a:xfrm>
        </p:spPr>
        <p:txBody>
          <a:bodyPr>
            <a:normAutofit/>
          </a:bodyPr>
          <a:lstStyle/>
          <a:p>
            <a:pPr>
              <a:lnSpc>
                <a:spcPct val="140000"/>
              </a:lnSpc>
              <a:spcBef>
                <a:spcPts val="0"/>
              </a:spcBef>
            </a:pPr>
            <a:r>
              <a:rPr lang="en-US" altLang="zh-CN" sz="2400" dirty="0">
                <a:solidFill>
                  <a:srgbClr val="FF0000"/>
                </a:solidFill>
                <a:latin typeface="Arial" panose="020B0604020202020204" pitchFamily="34" charset="0"/>
                <a:cs typeface="Arial" panose="020B0604020202020204" pitchFamily="34" charset="0"/>
              </a:rPr>
              <a:t>Landmark</a:t>
            </a:r>
            <a:r>
              <a:rPr lang="en-US" altLang="zh-CN" sz="2400" dirty="0">
                <a:latin typeface="Arial" panose="020B0604020202020204" pitchFamily="34" charset="0"/>
                <a:cs typeface="Arial" panose="020B0604020202020204" pitchFamily="34" charset="0"/>
              </a:rPr>
              <a:t>: node to which its neighbors within certain number of hops know a route to that node </a:t>
            </a:r>
          </a:p>
          <a:p>
            <a:pPr>
              <a:lnSpc>
                <a:spcPct val="140000"/>
              </a:lnSpc>
              <a:spcBef>
                <a:spcPts val="0"/>
              </a:spcBef>
            </a:pPr>
            <a:r>
              <a:rPr lang="en-US" altLang="zh-CN" sz="2400" dirty="0">
                <a:latin typeface="Arial" panose="020B0604020202020204" pitchFamily="34" charset="0"/>
                <a:cs typeface="Arial" panose="020B0604020202020204" pitchFamily="34" charset="0"/>
              </a:rPr>
              <a:t>Example:</a:t>
            </a:r>
          </a:p>
          <a:p>
            <a:pPr lvl="1">
              <a:lnSpc>
                <a:spcPct val="140000"/>
              </a:lnSpc>
              <a:spcBef>
                <a:spcPts val="0"/>
              </a:spcBef>
            </a:pPr>
            <a:r>
              <a:rPr lang="en-US" altLang="zh-CN" sz="2000" dirty="0">
                <a:latin typeface="Arial" panose="020B0604020202020204" pitchFamily="34" charset="0"/>
                <a:cs typeface="Arial" panose="020B0604020202020204" pitchFamily="34" charset="0"/>
              </a:rPr>
              <a:t>nodes 2…6 have routes to node 1 </a:t>
            </a:r>
          </a:p>
          <a:p>
            <a:pPr lvl="1">
              <a:lnSpc>
                <a:spcPct val="140000"/>
              </a:lnSpc>
              <a:spcBef>
                <a:spcPts val="0"/>
              </a:spcBef>
            </a:pPr>
            <a:r>
              <a:rPr lang="en-US" altLang="zh-CN" sz="2000" dirty="0">
                <a:latin typeface="Arial" panose="020B0604020202020204" pitchFamily="34" charset="0"/>
                <a:cs typeface="Arial" panose="020B0604020202020204" pitchFamily="34" charset="0"/>
              </a:rPr>
              <a:t>node 1 is a landmark “visible” to all nodes within 2-hop distance, i.e., node 1 is a </a:t>
            </a:r>
            <a:r>
              <a:rPr lang="en-US" altLang="zh-CN" sz="2000" dirty="0">
                <a:solidFill>
                  <a:srgbClr val="FF0000"/>
                </a:solidFill>
                <a:latin typeface="Arial" panose="020B0604020202020204" pitchFamily="34" charset="0"/>
                <a:cs typeface="Arial" panose="020B0604020202020204" pitchFamily="34" charset="0"/>
              </a:rPr>
              <a:t>landmark of radius 2 </a:t>
            </a:r>
            <a:endParaRPr lang="en-US" altLang="zh-CN" sz="2000" dirty="0">
              <a:latin typeface="Arial" panose="020B0604020202020204" pitchFamily="34" charset="0"/>
              <a:cs typeface="Arial" panose="020B0604020202020204" pitchFamily="34" charset="0"/>
            </a:endParaRPr>
          </a:p>
          <a:p>
            <a:pPr>
              <a:lnSpc>
                <a:spcPct val="140000"/>
              </a:lnSpc>
              <a:spcBef>
                <a:spcPts val="0"/>
              </a:spcBef>
            </a:pPr>
            <a:r>
              <a:rPr lang="en-US" altLang="zh-CN" sz="2400" dirty="0">
                <a:latin typeface="Arial" panose="020B0604020202020204" pitchFamily="34" charset="0"/>
                <a:cs typeface="Arial" panose="020B0604020202020204" pitchFamily="34" charset="0"/>
              </a:rPr>
              <a:t>Node</a:t>
            </a:r>
            <a:r>
              <a:rPr lang="en-US" altLang="zh-CN" sz="2400" i="1" dirty="0">
                <a:latin typeface="Arial" panose="020B0604020202020204" pitchFamily="34" charset="0"/>
                <a:cs typeface="Arial" panose="020B0604020202020204" pitchFamily="34" charset="0"/>
              </a:rPr>
              <a:t> i  </a:t>
            </a:r>
            <a:r>
              <a:rPr lang="en-US" altLang="zh-CN" sz="2400" dirty="0">
                <a:latin typeface="Arial" panose="020B0604020202020204" pitchFamily="34" charset="0"/>
                <a:cs typeface="Arial" panose="020B0604020202020204" pitchFamily="34" charset="0"/>
              </a:rPr>
              <a:t>for which nodes within  </a:t>
            </a:r>
            <a:r>
              <a:rPr lang="en-US" altLang="zh-CN" sz="2400" i="1" dirty="0">
                <a:latin typeface="Arial" panose="020B0604020202020204" pitchFamily="34" charset="0"/>
                <a:cs typeface="Arial" panose="020B0604020202020204" pitchFamily="34" charset="0"/>
              </a:rPr>
              <a:t>n</a:t>
            </a:r>
            <a:r>
              <a:rPr lang="en-US" altLang="zh-CN" sz="2400" dirty="0">
                <a:latin typeface="Arial" panose="020B0604020202020204" pitchFamily="34" charset="0"/>
                <a:cs typeface="Arial" panose="020B0604020202020204" pitchFamily="34" charset="0"/>
              </a:rPr>
              <a:t>  hops have routes toward is a </a:t>
            </a:r>
            <a:r>
              <a:rPr lang="en-US" altLang="zh-CN" sz="2400" dirty="0">
                <a:solidFill>
                  <a:srgbClr val="FF0000"/>
                </a:solidFill>
                <a:latin typeface="Arial" panose="020B0604020202020204" pitchFamily="34" charset="0"/>
                <a:cs typeface="Arial" panose="020B0604020202020204" pitchFamily="34" charset="0"/>
              </a:rPr>
              <a:t>landmark of radius </a:t>
            </a:r>
            <a:r>
              <a:rPr lang="en-US" altLang="zh-CN" sz="2400" i="1" dirty="0">
                <a:solidFill>
                  <a:srgbClr val="FF0000"/>
                </a:solidFill>
                <a:latin typeface="Arial" panose="020B0604020202020204" pitchFamily="34" charset="0"/>
                <a:cs typeface="Arial" panose="020B0604020202020204" pitchFamily="34" charset="0"/>
              </a:rPr>
              <a:t>n</a:t>
            </a:r>
            <a:endParaRPr lang="en-US" altLang="zh-CN" sz="2400" dirty="0">
              <a:solidFill>
                <a:srgbClr val="FF0000"/>
              </a:solidFill>
              <a:latin typeface="Arial" panose="020B0604020202020204" pitchFamily="34" charset="0"/>
              <a:cs typeface="Arial" panose="020B0604020202020204" pitchFamily="34" charset="0"/>
            </a:endParaRPr>
          </a:p>
        </p:txBody>
      </p:sp>
      <p:pic>
        <p:nvPicPr>
          <p:cNvPr id="4" name="Picture 2">
            <a:extLst>
              <a:ext uri="{FF2B5EF4-FFF2-40B4-BE49-F238E27FC236}">
                <a16:creationId xmlns:a16="http://schemas.microsoft.com/office/drawing/2014/main" id="{F01BC89B-5062-45DA-85C6-CCF313C07D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5483"/>
          <a:stretch/>
        </p:blipFill>
        <p:spPr bwMode="auto">
          <a:xfrm>
            <a:off x="7936636" y="2015448"/>
            <a:ext cx="3666815" cy="3688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506668"/>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Landmark Routing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7169458" cy="5827050"/>
          </a:xfrm>
        </p:spPr>
        <p:txBody>
          <a:bodyPr>
            <a:normAutofit/>
          </a:bodyPr>
          <a:lstStyle/>
          <a:p>
            <a:pPr>
              <a:lnSpc>
                <a:spcPct val="120000"/>
              </a:lnSpc>
            </a:pPr>
            <a:r>
              <a:rPr lang="en-US" altLang="zh-CN" sz="2400" dirty="0">
                <a:solidFill>
                  <a:srgbClr val="0070C0"/>
                </a:solidFill>
                <a:latin typeface="Arial" panose="020B0604020202020204" pitchFamily="34" charset="0"/>
                <a:cs typeface="Arial" panose="020B0604020202020204" pitchFamily="34" charset="0"/>
              </a:rPr>
              <a:t>Hierarchy of landmarks: </a:t>
            </a:r>
            <a:r>
              <a:rPr lang="en-US" altLang="zh-CN" sz="2400" dirty="0">
                <a:latin typeface="Arial" panose="020B0604020202020204" pitchFamily="34" charset="0"/>
                <a:cs typeface="Arial" panose="020B0604020202020204" pitchFamily="34" charset="0"/>
              </a:rPr>
              <a:t>packet can be forwarded toward a destination by choosing an appropriate sequence of landmarks</a:t>
            </a:r>
          </a:p>
          <a:p>
            <a:pPr>
              <a:lnSpc>
                <a:spcPct val="120000"/>
              </a:lnSpc>
            </a:pPr>
            <a:r>
              <a:rPr lang="en-US" altLang="zh-CN" sz="2400" dirty="0">
                <a:latin typeface="Arial" panose="020B0604020202020204" pitchFamily="34" charset="0"/>
                <a:cs typeface="Arial" panose="020B0604020202020204" pitchFamily="34" charset="0"/>
              </a:rPr>
              <a:t>Example:</a:t>
            </a:r>
          </a:p>
          <a:p>
            <a:pPr lvl="1">
              <a:lnSpc>
                <a:spcPct val="120000"/>
              </a:lnSpc>
            </a:pPr>
            <a:r>
              <a:rPr lang="en-US" altLang="zh-CN" sz="2000" dirty="0">
                <a:latin typeface="Arial" panose="020B0604020202020204" pitchFamily="34" charset="0"/>
                <a:cs typeface="Arial" panose="020B0604020202020204" pitchFamily="34" charset="0"/>
              </a:rPr>
              <a:t>landmark address of node LM0: LM2.LM1.LM0 </a:t>
            </a:r>
          </a:p>
          <a:p>
            <a:pPr lvl="1">
              <a:lnSpc>
                <a:spcPct val="120000"/>
              </a:lnSpc>
            </a:pPr>
            <a:r>
              <a:rPr lang="en-US" altLang="zh-CN" sz="2000" dirty="0">
                <a:latin typeface="Arial" panose="020B0604020202020204" pitchFamily="34" charset="0"/>
                <a:cs typeface="Arial" panose="020B0604020202020204" pitchFamily="34" charset="0"/>
              </a:rPr>
              <a:t>source has entry for LM2: packet travels towards LM2 </a:t>
            </a:r>
          </a:p>
          <a:p>
            <a:pPr lvl="1">
              <a:lnSpc>
                <a:spcPct val="120000"/>
              </a:lnSpc>
            </a:pPr>
            <a:r>
              <a:rPr lang="en-US" altLang="zh-CN" sz="2000" dirty="0">
                <a:latin typeface="Arial" panose="020B0604020202020204" pitchFamily="34" charset="0"/>
                <a:cs typeface="Arial" panose="020B0604020202020204" pitchFamily="34" charset="0"/>
              </a:rPr>
              <a:t>once packet reaches node within range of LM1: packet travels towards LM1 </a:t>
            </a:r>
          </a:p>
          <a:p>
            <a:pPr lvl="1">
              <a:lnSpc>
                <a:spcPct val="120000"/>
              </a:lnSpc>
            </a:pPr>
            <a:r>
              <a:rPr lang="en-US" altLang="zh-CN" sz="2000" dirty="0">
                <a:latin typeface="Arial" panose="020B0604020202020204" pitchFamily="34" charset="0"/>
                <a:cs typeface="Arial" panose="020B0604020202020204" pitchFamily="34" charset="0"/>
              </a:rPr>
              <a:t>once packet reaches node within range of LM0: packet travels to LM0 </a:t>
            </a: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endParaRPr lang="zh-CN" altLang="en-US" sz="2400" dirty="0">
              <a:latin typeface="Arial" panose="020B0604020202020204" pitchFamily="34" charset="0"/>
              <a:cs typeface="Arial" panose="020B0604020202020204" pitchFamily="34" charset="0"/>
            </a:endParaRPr>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7740"/>
          <a:stretch/>
        </p:blipFill>
        <p:spPr bwMode="auto">
          <a:xfrm>
            <a:off x="8017670" y="1859635"/>
            <a:ext cx="3857849" cy="4088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1866429"/>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LEACH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sz="2400" dirty="0">
                <a:latin typeface="Arial" panose="020B0604020202020204" pitchFamily="34" charset="0"/>
                <a:cs typeface="Arial" panose="020B0604020202020204" pitchFamily="34" charset="0"/>
              </a:rPr>
              <a:t>Low-Energy Adaptive Clustering Hierarchy </a:t>
            </a:r>
          </a:p>
          <a:p>
            <a:pPr>
              <a:lnSpc>
                <a:spcPct val="120000"/>
              </a:lnSpc>
            </a:pPr>
            <a:r>
              <a:rPr lang="en-US" altLang="zh-CN" sz="2400" dirty="0">
                <a:latin typeface="Arial" panose="020B0604020202020204" pitchFamily="34" charset="0"/>
                <a:cs typeface="Arial" panose="020B0604020202020204" pitchFamily="34" charset="0"/>
              </a:rPr>
              <a:t>Combines clustering with MAC-layer techniques (see previous discussion on LEACH MAC layer)</a:t>
            </a:r>
          </a:p>
          <a:p>
            <a:pPr>
              <a:lnSpc>
                <a:spcPct val="120000"/>
              </a:lnSpc>
            </a:pPr>
            <a:r>
              <a:rPr lang="en-US" altLang="zh-CN" sz="2400" dirty="0">
                <a:latin typeface="Arial" panose="020B0604020202020204" pitchFamily="34" charset="0"/>
                <a:cs typeface="Arial" panose="020B0604020202020204" pitchFamily="34" charset="0"/>
              </a:rPr>
              <a:t>Assumes that cluster heads can communicate directly with base station</a:t>
            </a:r>
          </a:p>
          <a:p>
            <a:pPr>
              <a:lnSpc>
                <a:spcPct val="120000"/>
              </a:lnSpc>
            </a:pPr>
            <a:r>
              <a:rPr lang="en-US" altLang="zh-CN" sz="2400" dirty="0">
                <a:latin typeface="Arial" panose="020B0604020202020204" pitchFamily="34" charset="0"/>
                <a:cs typeface="Arial" panose="020B0604020202020204" pitchFamily="34" charset="0"/>
              </a:rPr>
              <a:t>Cluster heads are responsible for forwarding sensor data to base station </a:t>
            </a:r>
          </a:p>
          <a:p>
            <a:pPr>
              <a:lnSpc>
                <a:spcPct val="120000"/>
              </a:lnSpc>
            </a:pPr>
            <a:r>
              <a:rPr lang="en-US" altLang="zh-CN" sz="2400" dirty="0">
                <a:latin typeface="Arial" panose="020B0604020202020204" pitchFamily="34" charset="0"/>
                <a:cs typeface="Arial" panose="020B0604020202020204" pitchFamily="34" charset="0"/>
              </a:rPr>
              <a:t>Cluster heads are responsible for data aggregation to eliminate redundancy</a:t>
            </a:r>
            <a:endParaRPr lang="en-US" altLang="zh-C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92821794"/>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Roadmap</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667250"/>
          </a:xfrm>
        </p:spPr>
        <p:txBody>
          <a:bodyPr>
            <a:noAutofit/>
          </a:bodyPr>
          <a:lstStyle/>
          <a:p>
            <a:pPr>
              <a:lnSpc>
                <a:spcPct val="120000"/>
              </a:lnSpc>
            </a:pPr>
            <a:r>
              <a:rPr lang="en-US" altLang="zh-CN" dirty="0">
                <a:latin typeface="Arial" panose="020B0604020202020204" pitchFamily="34" charset="0"/>
                <a:cs typeface="Arial" panose="020B0604020202020204" pitchFamily="34" charset="0"/>
              </a:rPr>
              <a:t>Routing basics</a:t>
            </a:r>
          </a:p>
          <a:p>
            <a:pPr>
              <a:lnSpc>
                <a:spcPct val="120000"/>
              </a:lnSpc>
            </a:pPr>
            <a:r>
              <a:rPr lang="en-US" altLang="zh-CN" dirty="0">
                <a:latin typeface="Arial" panose="020B0604020202020204" pitchFamily="34" charset="0"/>
                <a:cs typeface="Arial" panose="020B0604020202020204" pitchFamily="34" charset="0"/>
              </a:rPr>
              <a:t>Data-centric routing </a:t>
            </a:r>
          </a:p>
          <a:p>
            <a:pPr>
              <a:lnSpc>
                <a:spcPct val="120000"/>
              </a:lnSpc>
            </a:pPr>
            <a:r>
              <a:rPr lang="en-US" altLang="zh-CN" dirty="0">
                <a:latin typeface="Arial" panose="020B0604020202020204" pitchFamily="34" charset="0"/>
                <a:cs typeface="Arial" panose="020B0604020202020204" pitchFamily="34" charset="0"/>
              </a:rPr>
              <a:t>Proactive routing</a:t>
            </a:r>
          </a:p>
          <a:p>
            <a:pPr>
              <a:lnSpc>
                <a:spcPct val="120000"/>
              </a:lnSpc>
            </a:pPr>
            <a:r>
              <a:rPr lang="en-US" altLang="zh-CN" dirty="0">
                <a:latin typeface="Arial" panose="020B0604020202020204" pitchFamily="34" charset="0"/>
                <a:cs typeface="Arial" panose="020B0604020202020204" pitchFamily="34" charset="0"/>
              </a:rPr>
              <a:t>On-demand routing</a:t>
            </a:r>
          </a:p>
          <a:p>
            <a:pPr>
              <a:lnSpc>
                <a:spcPct val="120000"/>
              </a:lnSpc>
            </a:pPr>
            <a:r>
              <a:rPr lang="en-US" altLang="zh-CN" dirty="0">
                <a:latin typeface="Arial" panose="020B0604020202020204" pitchFamily="34" charset="0"/>
                <a:cs typeface="Arial" panose="020B0604020202020204" pitchFamily="34" charset="0"/>
              </a:rPr>
              <a:t>Hierarchical routing</a:t>
            </a:r>
          </a:p>
          <a:p>
            <a:pPr>
              <a:lnSpc>
                <a:spcPct val="120000"/>
              </a:lnSpc>
            </a:pPr>
            <a:r>
              <a:rPr lang="en-US" altLang="zh-CN" b="1" dirty="0">
                <a:latin typeface="Arial" panose="020B0604020202020204" pitchFamily="34" charset="0"/>
                <a:cs typeface="Arial" panose="020B0604020202020204" pitchFamily="34" charset="0"/>
              </a:rPr>
              <a:t>Location-based routing</a:t>
            </a:r>
          </a:p>
          <a:p>
            <a:pPr>
              <a:lnSpc>
                <a:spcPct val="120000"/>
              </a:lnSpc>
            </a:pPr>
            <a:r>
              <a:rPr lang="en-US" altLang="zh-CN" dirty="0" err="1">
                <a:latin typeface="Arial" panose="020B0604020202020204" pitchFamily="34" charset="0"/>
                <a:cs typeface="Arial" panose="020B0604020202020204" pitchFamily="34" charset="0"/>
              </a:rPr>
              <a:t>QoS</a:t>
            </a:r>
            <a:r>
              <a:rPr lang="en-US" altLang="zh-CN" dirty="0">
                <a:latin typeface="Arial" panose="020B0604020202020204" pitchFamily="34" charset="0"/>
                <a:cs typeface="Arial" panose="020B0604020202020204" pitchFamily="34" charset="0"/>
              </a:rPr>
              <a:t>-based routing</a:t>
            </a:r>
            <a:endParaRPr lang="en-US" altLang="zh-C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5059364"/>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ea typeface="微软雅黑" panose="020B0503020204020204" pitchFamily="34" charset="-122"/>
                <a:cs typeface="Arial" panose="020B0604020202020204" pitchFamily="34" charset="0"/>
              </a:rPr>
              <a:t>Location-Based Routing </a:t>
            </a:r>
            <a:endParaRPr lang="zh-CN" altLang="en-US" b="1" dirty="0">
              <a:latin typeface="Arial" panose="020B0604020202020204" pitchFamily="34" charset="0"/>
              <a:ea typeface="微软雅黑" panose="020B0503020204020204" pitchFamily="34" charset="-122"/>
              <a:cs typeface="Arial" panose="020B0604020202020204" pitchFamily="34" charset="0"/>
            </a:endParaRPr>
          </a:p>
        </p:txBody>
      </p:sp>
      <p:sp>
        <p:nvSpPr>
          <p:cNvPr id="3" name="内容占位符 2"/>
          <p:cNvSpPr>
            <a:spLocks noGrp="1"/>
          </p:cNvSpPr>
          <p:nvPr>
            <p:ph idx="1"/>
          </p:nvPr>
        </p:nvSpPr>
        <p:spPr>
          <a:xfrm>
            <a:off x="838200" y="1825625"/>
            <a:ext cx="10515600" cy="4667250"/>
          </a:xfrm>
        </p:spPr>
        <p:txBody>
          <a:bodyPr>
            <a:normAutofit/>
          </a:bodyPr>
          <a:lstStyle/>
          <a:p>
            <a:pPr>
              <a:lnSpc>
                <a:spcPct val="120000"/>
              </a:lnSpc>
            </a:pPr>
            <a:r>
              <a:rPr lang="en-US" altLang="zh-CN" sz="2400" dirty="0">
                <a:latin typeface="Arial" panose="020B0604020202020204" pitchFamily="34" charset="0"/>
                <a:ea typeface="微软雅黑" panose="020B0503020204020204" pitchFamily="34" charset="-122"/>
                <a:cs typeface="Arial" panose="020B0604020202020204" pitchFamily="34" charset="0"/>
              </a:rPr>
              <a:t>Also referred to as </a:t>
            </a:r>
            <a:r>
              <a:rPr lang="en-US" altLang="zh-CN" sz="2400" dirty="0">
                <a:solidFill>
                  <a:srgbClr val="FF0000"/>
                </a:solidFill>
                <a:latin typeface="Arial" panose="020B0604020202020204" pitchFamily="34" charset="0"/>
                <a:ea typeface="微软雅黑" panose="020B0503020204020204" pitchFamily="34" charset="-122"/>
                <a:cs typeface="Arial" panose="020B0604020202020204" pitchFamily="34" charset="0"/>
              </a:rPr>
              <a:t>geographic routing</a:t>
            </a:r>
          </a:p>
          <a:p>
            <a:pPr>
              <a:lnSpc>
                <a:spcPct val="120000"/>
              </a:lnSpc>
            </a:pPr>
            <a:r>
              <a:rPr lang="en-US" altLang="zh-CN" sz="2400" dirty="0">
                <a:latin typeface="Arial" panose="020B0604020202020204" pitchFamily="34" charset="0"/>
                <a:ea typeface="微软雅黑" panose="020B0503020204020204" pitchFamily="34" charset="-122"/>
                <a:cs typeface="Arial" panose="020B0604020202020204" pitchFamily="34" charset="0"/>
              </a:rPr>
              <a:t>Used when nodes are able to determine their (approximate) positions</a:t>
            </a:r>
          </a:p>
          <a:p>
            <a:pPr>
              <a:lnSpc>
                <a:spcPct val="120000"/>
              </a:lnSpc>
            </a:pPr>
            <a:r>
              <a:rPr lang="en-US" altLang="zh-CN" sz="2400" dirty="0">
                <a:latin typeface="Arial" panose="020B0604020202020204" pitchFamily="34" charset="0"/>
                <a:ea typeface="微软雅黑" panose="020B0503020204020204" pitchFamily="34" charset="-122"/>
                <a:cs typeface="Arial" panose="020B0604020202020204" pitchFamily="34" charset="0"/>
              </a:rPr>
              <a:t>Nodes use location information to make routing decisions</a:t>
            </a:r>
          </a:p>
          <a:p>
            <a:pPr lvl="1">
              <a:lnSpc>
                <a:spcPct val="120000"/>
              </a:lnSpc>
            </a:pPr>
            <a:r>
              <a:rPr lang="en-US" altLang="zh-CN" sz="2000" dirty="0">
                <a:latin typeface="Arial" panose="020B0604020202020204" pitchFamily="34" charset="0"/>
                <a:ea typeface="微软雅黑" panose="020B0503020204020204" pitchFamily="34" charset="-122"/>
                <a:cs typeface="Arial" panose="020B0604020202020204" pitchFamily="34" charset="0"/>
              </a:rPr>
              <a:t>sender must know the locations of itself, the destination, and its neighbors</a:t>
            </a:r>
          </a:p>
          <a:p>
            <a:pPr lvl="1">
              <a:lnSpc>
                <a:spcPct val="120000"/>
              </a:lnSpc>
            </a:pPr>
            <a:r>
              <a:rPr lang="en-US" altLang="zh-CN" sz="2000" dirty="0">
                <a:latin typeface="Arial" panose="020B0604020202020204" pitchFamily="34" charset="0"/>
                <a:ea typeface="微软雅黑" panose="020B0503020204020204" pitchFamily="34" charset="-122"/>
                <a:cs typeface="Arial" panose="020B0604020202020204" pitchFamily="34" charset="0"/>
              </a:rPr>
              <a:t>location information can be queried or obtained from a  </a:t>
            </a:r>
            <a:r>
              <a:rPr lang="en-US" altLang="zh-CN" sz="2000" dirty="0">
                <a:solidFill>
                  <a:srgbClr val="FF0000"/>
                </a:solidFill>
                <a:latin typeface="Arial" panose="020B0604020202020204" pitchFamily="34" charset="0"/>
                <a:ea typeface="微软雅黑" panose="020B0503020204020204" pitchFamily="34" charset="-122"/>
                <a:cs typeface="Arial" panose="020B0604020202020204" pitchFamily="34" charset="0"/>
              </a:rPr>
              <a:t>location broker </a:t>
            </a:r>
          </a:p>
          <a:p>
            <a:pPr>
              <a:lnSpc>
                <a:spcPct val="120000"/>
              </a:lnSpc>
            </a:pPr>
            <a:r>
              <a:rPr lang="en-US" altLang="zh-CN" sz="2400" dirty="0">
                <a:latin typeface="Arial" panose="020B0604020202020204" pitchFamily="34" charset="0"/>
                <a:ea typeface="微软雅黑" panose="020B0503020204020204" pitchFamily="34" charset="-122"/>
                <a:cs typeface="Arial" panose="020B0604020202020204" pitchFamily="34" charset="0"/>
              </a:rPr>
              <a:t>Types of geographic routing: </a:t>
            </a:r>
          </a:p>
          <a:p>
            <a:pPr lvl="1">
              <a:lnSpc>
                <a:spcPct val="120000"/>
              </a:lnSpc>
            </a:pPr>
            <a:r>
              <a:rPr lang="en-US" altLang="zh-CN" sz="2000" dirty="0">
                <a:latin typeface="Arial" panose="020B0604020202020204" pitchFamily="34" charset="0"/>
                <a:ea typeface="微软雅黑" panose="020B0503020204020204" pitchFamily="34" charset="-122"/>
                <a:cs typeface="Arial" panose="020B0604020202020204" pitchFamily="34" charset="0"/>
              </a:rPr>
              <a:t>unicast: single destination</a:t>
            </a:r>
          </a:p>
          <a:p>
            <a:pPr lvl="1">
              <a:lnSpc>
                <a:spcPct val="120000"/>
              </a:lnSpc>
            </a:pPr>
            <a:r>
              <a:rPr lang="en-US" altLang="zh-CN" sz="2000" dirty="0">
                <a:latin typeface="Arial" panose="020B0604020202020204" pitchFamily="34" charset="0"/>
                <a:ea typeface="微软雅黑" panose="020B0503020204020204" pitchFamily="34" charset="-122"/>
                <a:cs typeface="Arial" panose="020B0604020202020204" pitchFamily="34" charset="0"/>
              </a:rPr>
              <a:t>multicast: multiple destinations</a:t>
            </a:r>
          </a:p>
          <a:p>
            <a:pPr lvl="1">
              <a:lnSpc>
                <a:spcPct val="120000"/>
              </a:lnSpc>
            </a:pPr>
            <a:r>
              <a:rPr lang="en-US" altLang="zh-CN" sz="2000" dirty="0" err="1">
                <a:latin typeface="Arial" panose="020B0604020202020204" pitchFamily="34" charset="0"/>
                <a:ea typeface="微软雅黑" panose="020B0503020204020204" pitchFamily="34" charset="-122"/>
                <a:cs typeface="Arial" panose="020B0604020202020204" pitchFamily="34" charset="0"/>
              </a:rPr>
              <a:t>geocast</a:t>
            </a:r>
            <a:r>
              <a:rPr lang="en-US" altLang="zh-CN" sz="2000" dirty="0">
                <a:latin typeface="Arial" panose="020B0604020202020204" pitchFamily="34" charset="0"/>
                <a:ea typeface="微软雅黑" panose="020B0503020204020204" pitchFamily="34" charset="-122"/>
                <a:cs typeface="Arial" panose="020B0604020202020204" pitchFamily="34" charset="0"/>
              </a:rPr>
              <a:t>: data is propagated to nodes within certain geographic area</a:t>
            </a:r>
            <a:endParaRPr lang="zh-CN" altLang="en-US" sz="2000"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125002739"/>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Unicast Location-Based Routing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515600" cy="4351338"/>
          </a:xfrm>
        </p:spPr>
        <p:txBody>
          <a:bodyPr>
            <a:normAutofit/>
          </a:bodyPr>
          <a:lstStyle/>
          <a:p>
            <a:pPr>
              <a:lnSpc>
                <a:spcPct val="120000"/>
              </a:lnSpc>
            </a:pPr>
            <a:r>
              <a:rPr lang="en-US" altLang="zh-CN" sz="2000" dirty="0">
                <a:latin typeface="Arial" panose="020B0604020202020204" pitchFamily="34" charset="0"/>
                <a:cs typeface="Arial" panose="020B0604020202020204" pitchFamily="34" charset="0"/>
              </a:rPr>
              <a:t>One single destination </a:t>
            </a:r>
          </a:p>
          <a:p>
            <a:pPr>
              <a:lnSpc>
                <a:spcPct val="120000"/>
              </a:lnSpc>
            </a:pPr>
            <a:r>
              <a:rPr lang="en-US" altLang="zh-CN" sz="2000" dirty="0">
                <a:latin typeface="Arial" panose="020B0604020202020204" pitchFamily="34" charset="0"/>
                <a:cs typeface="Arial" panose="020B0604020202020204" pitchFamily="34" charset="0"/>
              </a:rPr>
              <a:t>Each forwarding node makes localized decision based on the location of the destination and the node ʼ s neighbors ( </a:t>
            </a:r>
            <a:r>
              <a:rPr lang="en-US" altLang="zh-CN" sz="2000" dirty="0">
                <a:solidFill>
                  <a:srgbClr val="FF0000"/>
                </a:solidFill>
                <a:latin typeface="Arial" panose="020B0604020202020204" pitchFamily="34" charset="0"/>
                <a:cs typeface="Arial" panose="020B0604020202020204" pitchFamily="34" charset="0"/>
              </a:rPr>
              <a:t>greedy forwarding</a:t>
            </a:r>
            <a:r>
              <a:rPr lang="en-US" altLang="zh-CN" sz="2000" dirty="0">
                <a:latin typeface="Arial" panose="020B0604020202020204" pitchFamily="34" charset="0"/>
                <a:cs typeface="Arial" panose="020B0604020202020204" pitchFamily="34" charset="0"/>
              </a:rPr>
              <a:t>)</a:t>
            </a:r>
          </a:p>
          <a:p>
            <a:pPr>
              <a:lnSpc>
                <a:spcPct val="120000"/>
              </a:lnSpc>
            </a:pPr>
            <a:r>
              <a:rPr lang="en-US" altLang="zh-CN" sz="2000" dirty="0">
                <a:latin typeface="Arial" panose="020B0604020202020204" pitchFamily="34" charset="0"/>
                <a:cs typeface="Arial" panose="020B0604020202020204" pitchFamily="34" charset="0"/>
              </a:rPr>
              <a:t>Challenge: packet may arrive at a node without neighbors that could bring packet closer to the destination (</a:t>
            </a:r>
            <a:r>
              <a:rPr lang="en-US" altLang="zh-CN" sz="2000" dirty="0">
                <a:solidFill>
                  <a:srgbClr val="FF0000"/>
                </a:solidFill>
                <a:latin typeface="Arial" panose="020B0604020202020204" pitchFamily="34" charset="0"/>
                <a:cs typeface="Arial" panose="020B0604020202020204" pitchFamily="34" charset="0"/>
              </a:rPr>
              <a:t>voids</a:t>
            </a:r>
            <a:r>
              <a:rPr lang="en-US" altLang="zh-CN" sz="2000" dirty="0">
                <a:latin typeface="Arial" panose="020B0604020202020204" pitchFamily="34" charset="0"/>
                <a:cs typeface="Arial" panose="020B0604020202020204" pitchFamily="34" charset="0"/>
              </a:rPr>
              <a:t>  or </a:t>
            </a:r>
            <a:r>
              <a:rPr lang="en-US" altLang="zh-CN" sz="2000" dirty="0">
                <a:solidFill>
                  <a:srgbClr val="FF0000"/>
                </a:solidFill>
                <a:latin typeface="Arial" panose="020B0604020202020204" pitchFamily="34" charset="0"/>
                <a:cs typeface="Arial" panose="020B0604020202020204" pitchFamily="34" charset="0"/>
              </a:rPr>
              <a:t>holes</a:t>
            </a:r>
            <a:r>
              <a:rPr lang="en-US" altLang="zh-CN" sz="2000" dirty="0">
                <a:latin typeface="Arial" panose="020B0604020202020204" pitchFamily="34" charset="0"/>
                <a:cs typeface="Arial" panose="020B0604020202020204" pitchFamily="34" charset="0"/>
              </a:rPr>
              <a:t>)</a:t>
            </a:r>
            <a:endParaRPr lang="zh-CN" altLang="en-US" sz="2000" dirty="0">
              <a:latin typeface="Arial" panose="020B0604020202020204" pitchFamily="34" charset="0"/>
              <a:cs typeface="Arial" panose="020B0604020202020204" pitchFamily="34"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5700" y="3808521"/>
            <a:ext cx="6053910" cy="2912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4642261"/>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Greedy Perimeter Stateless Routing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85741"/>
            <a:ext cx="10977978" cy="4351338"/>
          </a:xfrm>
        </p:spPr>
        <p:txBody>
          <a:bodyPr>
            <a:normAutofit/>
          </a:bodyPr>
          <a:lstStyle/>
          <a:p>
            <a:pPr>
              <a:lnSpc>
                <a:spcPct val="120000"/>
              </a:lnSpc>
              <a:spcBef>
                <a:spcPts val="0"/>
              </a:spcBef>
            </a:pPr>
            <a:r>
              <a:rPr lang="en-US" altLang="zh-CN" sz="2000" dirty="0">
                <a:latin typeface="Arial" panose="020B0604020202020204" pitchFamily="34" charset="0"/>
                <a:cs typeface="Arial" panose="020B0604020202020204" pitchFamily="34" charset="0"/>
              </a:rPr>
              <a:t>In GPRS, a node forwards packet to neighbor that is geographically closest to the destination </a:t>
            </a:r>
          </a:p>
          <a:p>
            <a:pPr>
              <a:lnSpc>
                <a:spcPct val="120000"/>
              </a:lnSpc>
              <a:spcBef>
                <a:spcPts val="0"/>
              </a:spcBef>
            </a:pPr>
            <a:r>
              <a:rPr lang="en-US" altLang="zh-CN" sz="2000" dirty="0">
                <a:latin typeface="Arial" panose="020B0604020202020204" pitchFamily="34" charset="0"/>
                <a:cs typeface="Arial" panose="020B0604020202020204" pitchFamily="34" charset="0"/>
              </a:rPr>
              <a:t>Challenge of voids/holes (example:  </a:t>
            </a:r>
            <a:r>
              <a:rPr lang="en-US" altLang="zh-CN" sz="2000" i="1" dirty="0">
                <a:latin typeface="Arial" panose="020B0604020202020204" pitchFamily="34" charset="0"/>
                <a:cs typeface="Arial" panose="020B0604020202020204" pitchFamily="34" charset="0"/>
              </a:rPr>
              <a:t>x</a:t>
            </a:r>
            <a:r>
              <a:rPr lang="en-US" altLang="zh-CN" sz="2000" dirty="0">
                <a:latin typeface="Arial" panose="020B0604020202020204" pitchFamily="34" charset="0"/>
                <a:cs typeface="Arial" panose="020B0604020202020204" pitchFamily="34" charset="0"/>
              </a:rPr>
              <a:t>  is closer to the destination its neighbors  </a:t>
            </a:r>
            <a:r>
              <a:rPr lang="en-US" altLang="zh-CN" sz="2000" i="1" dirty="0">
                <a:latin typeface="Arial" panose="020B0604020202020204" pitchFamily="34" charset="0"/>
                <a:cs typeface="Arial" panose="020B0604020202020204" pitchFamily="34" charset="0"/>
              </a:rPr>
              <a:t>w</a:t>
            </a:r>
            <a:r>
              <a:rPr lang="en-US" altLang="zh-CN" sz="2000" dirty="0">
                <a:latin typeface="Arial" panose="020B0604020202020204" pitchFamily="34" charset="0"/>
                <a:cs typeface="Arial" panose="020B0604020202020204" pitchFamily="34" charset="0"/>
              </a:rPr>
              <a:t> and  </a:t>
            </a:r>
            <a:r>
              <a:rPr lang="en-US" altLang="zh-CN" sz="2000" i="1" dirty="0">
                <a:latin typeface="Arial" panose="020B0604020202020204" pitchFamily="34" charset="0"/>
                <a:cs typeface="Arial" panose="020B0604020202020204" pitchFamily="34" charset="0"/>
              </a:rPr>
              <a:t>y</a:t>
            </a:r>
            <a:r>
              <a:rPr lang="en-US" altLang="zh-CN" sz="2000" dirty="0">
                <a:latin typeface="Arial" panose="020B0604020202020204" pitchFamily="34" charset="0"/>
                <a:cs typeface="Arial" panose="020B0604020202020204" pitchFamily="34" charset="0"/>
              </a:rPr>
              <a:t>)</a:t>
            </a:r>
          </a:p>
          <a:p>
            <a:pPr>
              <a:lnSpc>
                <a:spcPct val="120000"/>
              </a:lnSpc>
              <a:spcBef>
                <a:spcPts val="0"/>
              </a:spcBef>
            </a:pPr>
            <a:r>
              <a:rPr lang="en-US" altLang="zh-CN" sz="2000" dirty="0">
                <a:latin typeface="Arial" panose="020B0604020202020204" pitchFamily="34" charset="0"/>
                <a:cs typeface="Arial" panose="020B0604020202020204" pitchFamily="34" charset="0"/>
              </a:rPr>
              <a:t>GPRS uses </a:t>
            </a:r>
            <a:r>
              <a:rPr lang="en-US" altLang="zh-CN" sz="2000" dirty="0">
                <a:solidFill>
                  <a:srgbClr val="FF0000"/>
                </a:solidFill>
                <a:latin typeface="Arial" panose="020B0604020202020204" pitchFamily="34" charset="0"/>
                <a:cs typeface="Arial" panose="020B0604020202020204" pitchFamily="34" charset="0"/>
              </a:rPr>
              <a:t>right-hand rule </a:t>
            </a:r>
            <a:r>
              <a:rPr lang="en-US" altLang="zh-CN" sz="2000" dirty="0">
                <a:latin typeface="Arial" panose="020B0604020202020204" pitchFamily="34" charset="0"/>
                <a:cs typeface="Arial" panose="020B0604020202020204" pitchFamily="34" charset="0"/>
              </a:rPr>
              <a:t>to traverse graph </a:t>
            </a:r>
          </a:p>
          <a:p>
            <a:pPr lvl="1">
              <a:lnSpc>
                <a:spcPct val="120000"/>
              </a:lnSpc>
              <a:spcBef>
                <a:spcPts val="0"/>
              </a:spcBef>
            </a:pPr>
            <a:r>
              <a:rPr lang="en-US" altLang="zh-CN" sz="2000" dirty="0">
                <a:latin typeface="Arial" panose="020B0604020202020204" pitchFamily="34" charset="0"/>
                <a:cs typeface="Arial" panose="020B0604020202020204" pitchFamily="34" charset="0"/>
              </a:rPr>
              <a:t>when a packet arrives at node </a:t>
            </a:r>
            <a:r>
              <a:rPr lang="en-US" altLang="zh-CN" sz="2000" i="1" dirty="0">
                <a:latin typeface="Arial" panose="020B0604020202020204" pitchFamily="34" charset="0"/>
                <a:cs typeface="Arial" panose="020B0604020202020204" pitchFamily="34" charset="0"/>
              </a:rPr>
              <a:t>x</a:t>
            </a:r>
            <a:r>
              <a:rPr lang="en-US" altLang="zh-CN" sz="2000" dirty="0">
                <a:latin typeface="Arial" panose="020B0604020202020204" pitchFamily="34" charset="0"/>
                <a:cs typeface="Arial" panose="020B0604020202020204" pitchFamily="34" charset="0"/>
              </a:rPr>
              <a:t>  from node </a:t>
            </a:r>
            <a:r>
              <a:rPr lang="en-US" altLang="zh-CN" sz="2000" i="1" dirty="0">
                <a:latin typeface="Arial" panose="020B0604020202020204" pitchFamily="34" charset="0"/>
                <a:cs typeface="Arial" panose="020B0604020202020204" pitchFamily="34" charset="0"/>
              </a:rPr>
              <a:t>y</a:t>
            </a:r>
            <a:r>
              <a:rPr lang="en-US" altLang="zh-CN" sz="2000" dirty="0">
                <a:latin typeface="Arial" panose="020B0604020202020204" pitchFamily="34" charset="0"/>
                <a:cs typeface="Arial" panose="020B0604020202020204" pitchFamily="34" charset="0"/>
              </a:rPr>
              <a:t>, the next edge traversed is the next one sequentially counterclockwise (</a:t>
            </a:r>
            <a:r>
              <a:rPr lang="zh-CN" altLang="en-US" sz="2000" dirty="0">
                <a:latin typeface="Arial" panose="020B0604020202020204" pitchFamily="34" charset="0"/>
                <a:cs typeface="Arial" panose="020B0604020202020204" pitchFamily="34" charset="0"/>
              </a:rPr>
              <a:t>反时针方向</a:t>
            </a:r>
            <a:r>
              <a:rPr lang="en-US" altLang="zh-CN" sz="2000" dirty="0">
                <a:latin typeface="Arial" panose="020B0604020202020204" pitchFamily="34" charset="0"/>
                <a:cs typeface="Arial" panose="020B0604020202020204" pitchFamily="34" charset="0"/>
              </a:rPr>
              <a:t>) about </a:t>
            </a:r>
            <a:r>
              <a:rPr lang="en-US" altLang="zh-CN" sz="2000" i="1" dirty="0">
                <a:latin typeface="Arial" panose="020B0604020202020204" pitchFamily="34" charset="0"/>
                <a:cs typeface="Arial" panose="020B0604020202020204" pitchFamily="34" charset="0"/>
              </a:rPr>
              <a:t>x</a:t>
            </a:r>
            <a:r>
              <a:rPr lang="en-US" altLang="zh-CN" sz="2000" dirty="0">
                <a:latin typeface="Arial" panose="020B0604020202020204" pitchFamily="34" charset="0"/>
                <a:cs typeface="Arial" panose="020B0604020202020204" pitchFamily="34" charset="0"/>
              </a:rPr>
              <a:t> from edge (</a:t>
            </a:r>
            <a:r>
              <a:rPr lang="en-US" altLang="zh-CN" sz="2000" i="1" dirty="0" err="1">
                <a:latin typeface="Arial" panose="020B0604020202020204" pitchFamily="34" charset="0"/>
                <a:cs typeface="Arial" panose="020B0604020202020204" pitchFamily="34" charset="0"/>
              </a:rPr>
              <a:t>x,y</a:t>
            </a:r>
            <a:r>
              <a:rPr lang="en-US" altLang="zh-CN" sz="2000" dirty="0">
                <a:latin typeface="Arial" panose="020B0604020202020204" pitchFamily="34" charset="0"/>
                <a:cs typeface="Arial" panose="020B0604020202020204" pitchFamily="34" charset="0"/>
              </a:rPr>
              <a:t>)</a:t>
            </a:r>
            <a:r>
              <a:rPr lang="en-US" altLang="zh-CN" sz="2000" i="1" dirty="0">
                <a:latin typeface="Arial" panose="020B0604020202020204" pitchFamily="34" charset="0"/>
                <a:cs typeface="Arial" panose="020B0604020202020204" pitchFamily="34" charset="0"/>
              </a:rPr>
              <a:t> </a:t>
            </a:r>
          </a:p>
          <a:p>
            <a:pPr lvl="1">
              <a:lnSpc>
                <a:spcPct val="120000"/>
              </a:lnSpc>
              <a:spcBef>
                <a:spcPts val="0"/>
              </a:spcBef>
            </a:pPr>
            <a:r>
              <a:rPr lang="en-US" altLang="zh-CN" sz="2000" dirty="0">
                <a:latin typeface="Arial" panose="020B0604020202020204" pitchFamily="34" charset="0"/>
                <a:cs typeface="Arial" panose="020B0604020202020204" pitchFamily="34" charset="0"/>
              </a:rPr>
              <a:t>right-hand rule traverses interior of a polygon in clockwise edge order and exterior region in counterclockwise edge order</a:t>
            </a:r>
            <a:endParaRPr lang="zh-CN" altLang="en-US" sz="2000" dirty="0">
              <a:latin typeface="Arial" panose="020B0604020202020204" pitchFamily="34" charset="0"/>
              <a:cs typeface="Arial" panose="020B0604020202020204" pitchFamily="34" charset="0"/>
            </a:endParaRPr>
          </a:p>
        </p:txBody>
      </p:sp>
      <p:pic>
        <p:nvPicPr>
          <p:cNvPr id="81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20444"/>
          <a:stretch/>
        </p:blipFill>
        <p:spPr bwMode="auto">
          <a:xfrm>
            <a:off x="2468827" y="4389114"/>
            <a:ext cx="7254346" cy="2340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3104539"/>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Greedy Perimeter Stateless Routing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515600" cy="4967564"/>
          </a:xfrm>
        </p:spPr>
        <p:txBody>
          <a:bodyPr>
            <a:normAutofit lnSpcReduction="10000"/>
          </a:bodyPr>
          <a:lstStyle/>
          <a:p>
            <a:pPr>
              <a:lnSpc>
                <a:spcPct val="120000"/>
              </a:lnSpc>
            </a:pPr>
            <a:r>
              <a:rPr lang="en-US" altLang="zh-CN" sz="2400" dirty="0">
                <a:latin typeface="Arial" panose="020B0604020202020204" pitchFamily="34" charset="0"/>
                <a:cs typeface="Arial" panose="020B0604020202020204" pitchFamily="34" charset="0"/>
              </a:rPr>
              <a:t>Sequence of edges traversed according to rule is called </a:t>
            </a:r>
            <a:r>
              <a:rPr lang="en-US" altLang="zh-CN" sz="2400" dirty="0">
                <a:solidFill>
                  <a:srgbClr val="FF0000"/>
                </a:solidFill>
                <a:latin typeface="Arial" panose="020B0604020202020204" pitchFamily="34" charset="0"/>
                <a:cs typeface="Arial" panose="020B0604020202020204" pitchFamily="34" charset="0"/>
              </a:rPr>
              <a:t>perimeter</a:t>
            </a:r>
          </a:p>
          <a:p>
            <a:pPr>
              <a:lnSpc>
                <a:spcPct val="120000"/>
              </a:lnSpc>
            </a:pPr>
            <a:r>
              <a:rPr lang="en-US" altLang="zh-CN" sz="2400" dirty="0">
                <a:latin typeface="Arial" panose="020B0604020202020204" pitchFamily="34" charset="0"/>
                <a:cs typeface="Arial" panose="020B0604020202020204" pitchFamily="34" charset="0"/>
              </a:rPr>
              <a:t>In non-planar graphs, right-hand rule may take tour of edges that does not trace the boundary of a closed polygon</a:t>
            </a:r>
          </a:p>
          <a:p>
            <a:pPr>
              <a:lnSpc>
                <a:spcPct val="120000"/>
              </a:lnSpc>
            </a:pPr>
            <a:r>
              <a:rPr lang="en-US" altLang="zh-CN" sz="2400" dirty="0">
                <a:latin typeface="Arial" panose="020B0604020202020204" pitchFamily="34" charset="0"/>
                <a:cs typeface="Arial" panose="020B0604020202020204" pitchFamily="34" charset="0"/>
              </a:rPr>
              <a:t>To obtain planar graphs, crossing edges must be removed (without partitioning the network) </a:t>
            </a:r>
          </a:p>
          <a:p>
            <a:pPr lvl="1">
              <a:lnSpc>
                <a:spcPct val="120000"/>
              </a:lnSpc>
            </a:pPr>
            <a:r>
              <a:rPr lang="en-US" altLang="zh-CN" sz="2000" dirty="0">
                <a:solidFill>
                  <a:srgbClr val="FF0000"/>
                </a:solidFill>
                <a:latin typeface="Arial" panose="020B0604020202020204" pitchFamily="34" charset="0"/>
                <a:cs typeface="Arial" panose="020B0604020202020204" pitchFamily="34" charset="0"/>
              </a:rPr>
              <a:t>Relative Neighborhood Graph (RNG)</a:t>
            </a:r>
          </a:p>
          <a:p>
            <a:pPr lvl="1">
              <a:lnSpc>
                <a:spcPct val="120000"/>
              </a:lnSpc>
            </a:pPr>
            <a:r>
              <a:rPr lang="en-US" altLang="zh-CN" sz="2000" dirty="0">
                <a:solidFill>
                  <a:srgbClr val="FF0000"/>
                </a:solidFill>
                <a:latin typeface="Arial" panose="020B0604020202020204" pitchFamily="34" charset="0"/>
                <a:cs typeface="Arial" panose="020B0604020202020204" pitchFamily="34" charset="0"/>
              </a:rPr>
              <a:t>Gabriel Graph (GG) </a:t>
            </a:r>
          </a:p>
          <a:p>
            <a:pPr>
              <a:lnSpc>
                <a:spcPct val="120000"/>
              </a:lnSpc>
            </a:pPr>
            <a:r>
              <a:rPr lang="en-US" altLang="zh-CN" sz="2400" dirty="0">
                <a:latin typeface="Arial" panose="020B0604020202020204" pitchFamily="34" charset="0"/>
                <a:cs typeface="Arial" panose="020B0604020202020204" pitchFamily="34" charset="0"/>
              </a:rPr>
              <a:t>Example: RNG </a:t>
            </a:r>
          </a:p>
          <a:p>
            <a:pPr lvl="1">
              <a:lnSpc>
                <a:spcPct val="120000"/>
              </a:lnSpc>
            </a:pPr>
            <a:r>
              <a:rPr lang="en-US" altLang="zh-CN" sz="2000" dirty="0">
                <a:solidFill>
                  <a:srgbClr val="FF0000"/>
                </a:solidFill>
                <a:latin typeface="Arial" panose="020B0604020202020204" pitchFamily="34" charset="0"/>
                <a:cs typeface="Arial" panose="020B0604020202020204" pitchFamily="34" charset="0"/>
              </a:rPr>
              <a:t>lune</a:t>
            </a:r>
            <a:r>
              <a:rPr lang="en-US" altLang="zh-CN" sz="2000" dirty="0">
                <a:latin typeface="Arial" panose="020B0604020202020204" pitchFamily="34" charset="0"/>
                <a:cs typeface="Arial" panose="020B0604020202020204" pitchFamily="34" charset="0"/>
              </a:rPr>
              <a:t> between </a:t>
            </a:r>
            <a:r>
              <a:rPr lang="en-US" altLang="zh-CN" sz="2000" i="1" dirty="0">
                <a:latin typeface="Arial" panose="020B0604020202020204" pitchFamily="34" charset="0"/>
                <a:cs typeface="Arial" panose="020B0604020202020204" pitchFamily="34" charset="0"/>
              </a:rPr>
              <a:t>u </a:t>
            </a:r>
            <a:r>
              <a:rPr lang="en-US" altLang="zh-CN" sz="2000" dirty="0">
                <a:latin typeface="Arial" panose="020B0604020202020204" pitchFamily="34" charset="0"/>
                <a:cs typeface="Arial" panose="020B0604020202020204" pitchFamily="34" charset="0"/>
              </a:rPr>
              <a:t>and </a:t>
            </a:r>
            <a:r>
              <a:rPr lang="en-US" altLang="zh-CN" sz="2000" i="1" dirty="0">
                <a:latin typeface="Arial" panose="020B0604020202020204" pitchFamily="34" charset="0"/>
                <a:cs typeface="Arial" panose="020B0604020202020204" pitchFamily="34" charset="0"/>
              </a:rPr>
              <a:t>v</a:t>
            </a:r>
            <a:r>
              <a:rPr lang="en-US" altLang="zh-CN" sz="2000" dirty="0">
                <a:latin typeface="Arial" panose="020B0604020202020204" pitchFamily="34" charset="0"/>
                <a:cs typeface="Arial" panose="020B0604020202020204" pitchFamily="34" charset="0"/>
              </a:rPr>
              <a:t> (intersection of radio ranges) must be empty of any </a:t>
            </a:r>
            <a:r>
              <a:rPr lang="en-US" altLang="zh-CN" sz="2000" dirty="0">
                <a:solidFill>
                  <a:srgbClr val="FF0000"/>
                </a:solidFill>
                <a:latin typeface="Arial" panose="020B0604020202020204" pitchFamily="34" charset="0"/>
                <a:cs typeface="Arial" panose="020B0604020202020204" pitchFamily="34" charset="0"/>
              </a:rPr>
              <a:t>witness node </a:t>
            </a:r>
            <a:r>
              <a:rPr lang="en-US" altLang="zh-CN" sz="2000" dirty="0">
                <a:latin typeface="Arial" panose="020B0604020202020204" pitchFamily="34" charset="0"/>
                <a:cs typeface="Arial" panose="020B0604020202020204" pitchFamily="34" charset="0"/>
              </a:rPr>
              <a:t>w such that edge  </a:t>
            </a:r>
            <a:r>
              <a:rPr lang="en-US" altLang="zh-CN" sz="2000" i="1" dirty="0">
                <a:latin typeface="Arial" panose="020B0604020202020204" pitchFamily="34" charset="0"/>
                <a:cs typeface="Arial" panose="020B0604020202020204" pitchFamily="34" charset="0"/>
              </a:rPr>
              <a:t>(</a:t>
            </a:r>
            <a:r>
              <a:rPr lang="en-US" altLang="zh-CN" sz="2000" i="1" dirty="0" err="1">
                <a:latin typeface="Arial" panose="020B0604020202020204" pitchFamily="34" charset="0"/>
                <a:cs typeface="Arial" panose="020B0604020202020204" pitchFamily="34" charset="0"/>
              </a:rPr>
              <a:t>u,v</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can be included in the RNG (i.e., if this region is nonempty, the link </a:t>
            </a:r>
            <a:r>
              <a:rPr lang="en-US" altLang="zh-CN" sz="2000" i="1" dirty="0">
                <a:latin typeface="Arial" panose="020B0604020202020204" pitchFamily="34" charset="0"/>
                <a:cs typeface="Arial" panose="020B0604020202020204" pitchFamily="34" charset="0"/>
              </a:rPr>
              <a:t>(</a:t>
            </a:r>
            <a:r>
              <a:rPr lang="en-US" altLang="zh-CN" sz="2000" i="1" dirty="0" err="1">
                <a:latin typeface="Arial" panose="020B0604020202020204" pitchFamily="34" charset="0"/>
                <a:cs typeface="Arial" panose="020B0604020202020204" pitchFamily="34" charset="0"/>
              </a:rPr>
              <a:t>u,v</a:t>
            </a:r>
            <a:r>
              <a:rPr lang="en-US" altLang="zh-CN" sz="2000" i="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will be removed) </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1887412"/>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Forwarding Strategies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6440055" cy="5032375"/>
          </a:xfrm>
        </p:spPr>
        <p:txBody>
          <a:bodyPr>
            <a:normAutofit/>
          </a:bodyPr>
          <a:lstStyle/>
          <a:p>
            <a:pPr>
              <a:lnSpc>
                <a:spcPct val="120000"/>
              </a:lnSpc>
            </a:pPr>
            <a:r>
              <a:rPr lang="en-US" altLang="zh-CN" sz="2000" dirty="0">
                <a:solidFill>
                  <a:srgbClr val="FF0000"/>
                </a:solidFill>
                <a:latin typeface="Arial" panose="020B0604020202020204" pitchFamily="34" charset="0"/>
                <a:cs typeface="Arial" panose="020B0604020202020204" pitchFamily="34" charset="0"/>
              </a:rPr>
              <a:t>Greedy</a:t>
            </a:r>
            <a:r>
              <a:rPr lang="en-US" altLang="zh-CN" sz="2000" dirty="0">
                <a:latin typeface="Arial" panose="020B0604020202020204" pitchFamily="34" charset="0"/>
                <a:cs typeface="Arial" panose="020B0604020202020204" pitchFamily="34" charset="0"/>
              </a:rPr>
              <a:t>: minimize distance to destination in each hop </a:t>
            </a:r>
          </a:p>
          <a:p>
            <a:pPr>
              <a:lnSpc>
                <a:spcPct val="120000"/>
              </a:lnSpc>
            </a:pPr>
            <a:r>
              <a:rPr lang="en-US" altLang="zh-CN" sz="2000" dirty="0">
                <a:solidFill>
                  <a:srgbClr val="FF0000"/>
                </a:solidFill>
                <a:latin typeface="Arial" panose="020B0604020202020204" pitchFamily="34" charset="0"/>
                <a:cs typeface="Arial" panose="020B0604020202020204" pitchFamily="34" charset="0"/>
              </a:rPr>
              <a:t>Nearest with Forwarding Progress (NFP): </a:t>
            </a:r>
            <a:r>
              <a:rPr lang="en-US" altLang="zh-CN" sz="2000" dirty="0">
                <a:latin typeface="Arial" panose="020B0604020202020204" pitchFamily="34" charset="0"/>
                <a:cs typeface="Arial" panose="020B0604020202020204" pitchFamily="34" charset="0"/>
              </a:rPr>
              <a:t>nearest of all neighbors that make positive progress (in terms of geographic distance) toward destination </a:t>
            </a:r>
          </a:p>
          <a:p>
            <a:pPr>
              <a:lnSpc>
                <a:spcPct val="120000"/>
              </a:lnSpc>
            </a:pPr>
            <a:r>
              <a:rPr lang="en-US" altLang="zh-CN" sz="2000" dirty="0">
                <a:solidFill>
                  <a:srgbClr val="FF0000"/>
                </a:solidFill>
                <a:latin typeface="Arial" panose="020B0604020202020204" pitchFamily="34" charset="0"/>
                <a:cs typeface="Arial" panose="020B0604020202020204" pitchFamily="34" charset="0"/>
              </a:rPr>
              <a:t>Most Forwarding Progress within Radius (MFR): </a:t>
            </a:r>
            <a:r>
              <a:rPr lang="en-US" altLang="zh-CN" sz="2000" dirty="0">
                <a:latin typeface="Arial" panose="020B0604020202020204" pitchFamily="34" charset="0"/>
                <a:cs typeface="Arial" panose="020B0604020202020204" pitchFamily="34" charset="0"/>
              </a:rPr>
              <a:t>neighbor that makes greatest positive progress (progress is distance between source and its neighbor node projected onto a line drawn from source to destination) </a:t>
            </a:r>
          </a:p>
          <a:p>
            <a:pPr>
              <a:lnSpc>
                <a:spcPct val="120000"/>
              </a:lnSpc>
            </a:pPr>
            <a:r>
              <a:rPr lang="en-US" altLang="zh-CN" sz="2000" dirty="0">
                <a:solidFill>
                  <a:srgbClr val="FF0000"/>
                </a:solidFill>
                <a:latin typeface="Arial" panose="020B0604020202020204" pitchFamily="34" charset="0"/>
                <a:cs typeface="Arial" panose="020B0604020202020204" pitchFamily="34" charset="0"/>
              </a:rPr>
              <a:t>Compass Routing: </a:t>
            </a:r>
            <a:r>
              <a:rPr lang="en-US" altLang="zh-CN" sz="2000" dirty="0">
                <a:latin typeface="Arial" panose="020B0604020202020204" pitchFamily="34" charset="0"/>
                <a:cs typeface="Arial" panose="020B0604020202020204" pitchFamily="34" charset="0"/>
              </a:rPr>
              <a:t>neighbor with smallest angle between a line drawn from source to the neighbor and the line connecting source and destination </a:t>
            </a:r>
            <a:endParaRPr lang="zh-CN" altLang="en-US" sz="2000" dirty="0">
              <a:latin typeface="Arial" panose="020B0604020202020204" pitchFamily="34" charset="0"/>
              <a:cs typeface="Arial" panose="020B0604020202020204" pitchFamily="34"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7753" y="3016251"/>
            <a:ext cx="5008563" cy="2905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9925431"/>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Geographic Adaptive Fidelity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764915" cy="4351338"/>
          </a:xfrm>
        </p:spPr>
        <p:txBody>
          <a:bodyPr>
            <a:normAutofit/>
          </a:bodyPr>
          <a:lstStyle/>
          <a:p>
            <a:r>
              <a:rPr lang="en-US" altLang="zh-CN" sz="2000" dirty="0">
                <a:latin typeface="Arial" panose="020B0604020202020204" pitchFamily="34" charset="0"/>
                <a:cs typeface="Arial" panose="020B0604020202020204" pitchFamily="34" charset="0"/>
              </a:rPr>
              <a:t>GAF was primarily designed for networks with mobile nodes</a:t>
            </a:r>
          </a:p>
          <a:p>
            <a:r>
              <a:rPr lang="en-US" altLang="zh-CN" sz="2000" dirty="0">
                <a:latin typeface="Arial" panose="020B0604020202020204" pitchFamily="34" charset="0"/>
                <a:cs typeface="Arial" panose="020B0604020202020204" pitchFamily="34" charset="0"/>
              </a:rPr>
              <a:t>Network region is divided into </a:t>
            </a:r>
            <a:r>
              <a:rPr lang="en-US" altLang="zh-CN" sz="2000" dirty="0">
                <a:solidFill>
                  <a:srgbClr val="FF0000"/>
                </a:solidFill>
                <a:latin typeface="Arial" panose="020B0604020202020204" pitchFamily="34" charset="0"/>
                <a:cs typeface="Arial" panose="020B0604020202020204" pitchFamily="34" charset="0"/>
              </a:rPr>
              <a:t>virtual grid</a:t>
            </a:r>
          </a:p>
          <a:p>
            <a:r>
              <a:rPr lang="en-US" altLang="zh-CN" sz="2000" dirty="0">
                <a:latin typeface="Arial" panose="020B0604020202020204" pitchFamily="34" charset="0"/>
                <a:cs typeface="Arial" panose="020B0604020202020204" pitchFamily="34" charset="0"/>
              </a:rPr>
              <a:t>In each cell, only one node is a forwarder at any given time (all other nodes can sleep) </a:t>
            </a:r>
          </a:p>
          <a:p>
            <a:r>
              <a:rPr lang="en-US" altLang="zh-CN" sz="2000" dirty="0">
                <a:latin typeface="Arial" panose="020B0604020202020204" pitchFamily="34" charset="0"/>
                <a:cs typeface="Arial" panose="020B0604020202020204" pitchFamily="34" charset="0"/>
              </a:rPr>
              <a:t>Assumption: all nodes within a cell can communicate with all nodes within all adjacent cells </a:t>
            </a:r>
            <a:endParaRPr lang="zh-CN" altLang="en-US" sz="2000" dirty="0">
              <a:latin typeface="Arial" panose="020B0604020202020204" pitchFamily="34" charset="0"/>
              <a:cs typeface="Arial" panose="020B0604020202020204" pitchFamily="34"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7398" y="3559981"/>
            <a:ext cx="6457203" cy="3045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7806869"/>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Geographic Adaptive Fidelity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415480"/>
            <a:ext cx="11353800" cy="5442520"/>
          </a:xfrm>
        </p:spPr>
        <p:txBody>
          <a:bodyPr>
            <a:normAutofit lnSpcReduction="10000"/>
          </a:bodyPr>
          <a:lstStyle/>
          <a:p>
            <a:pPr>
              <a:lnSpc>
                <a:spcPct val="130000"/>
              </a:lnSpc>
              <a:spcBef>
                <a:spcPts val="0"/>
              </a:spcBef>
            </a:pPr>
            <a:r>
              <a:rPr lang="en-US" altLang="zh-CN" sz="2400" dirty="0">
                <a:solidFill>
                  <a:srgbClr val="FF0000"/>
                </a:solidFill>
                <a:latin typeface="Arial" panose="020B0604020202020204" pitchFamily="34" charset="0"/>
                <a:cs typeface="Arial" panose="020B0604020202020204" pitchFamily="34" charset="0"/>
              </a:rPr>
              <a:t>Discovery state:</a:t>
            </a:r>
          </a:p>
          <a:p>
            <a:pPr lvl="1">
              <a:lnSpc>
                <a:spcPct val="130000"/>
              </a:lnSpc>
              <a:spcBef>
                <a:spcPts val="0"/>
              </a:spcBef>
            </a:pPr>
            <a:r>
              <a:rPr lang="en-US" altLang="zh-CN" sz="2000" dirty="0">
                <a:latin typeface="Arial" panose="020B0604020202020204" pitchFamily="34" charset="0"/>
                <a:cs typeface="Arial" panose="020B0604020202020204" pitchFamily="34" charset="0"/>
              </a:rPr>
              <a:t>nodes are initially in the discovery state, listen for messages from other nodes within cell </a:t>
            </a:r>
          </a:p>
          <a:p>
            <a:pPr lvl="1">
              <a:lnSpc>
                <a:spcPct val="130000"/>
              </a:lnSpc>
              <a:spcBef>
                <a:spcPts val="0"/>
              </a:spcBef>
            </a:pPr>
            <a:r>
              <a:rPr lang="en-US" altLang="zh-CN" sz="2000" dirty="0">
                <a:latin typeface="Arial" panose="020B0604020202020204" pitchFamily="34" charset="0"/>
                <a:cs typeface="Arial" panose="020B0604020202020204" pitchFamily="34" charset="0"/>
              </a:rPr>
              <a:t>when timer expires, node broadcasts </a:t>
            </a:r>
            <a:r>
              <a:rPr lang="en-US" altLang="zh-CN" sz="2000" dirty="0">
                <a:solidFill>
                  <a:srgbClr val="FF0000"/>
                </a:solidFill>
                <a:latin typeface="Arial" panose="020B0604020202020204" pitchFamily="34" charset="0"/>
                <a:cs typeface="Arial" panose="020B0604020202020204" pitchFamily="34" charset="0"/>
              </a:rPr>
              <a:t>discovery message</a:t>
            </a:r>
            <a:r>
              <a:rPr lang="en-US" altLang="zh-CN" sz="2000" dirty="0">
                <a:latin typeface="Arial" panose="020B0604020202020204" pitchFamily="34" charset="0"/>
                <a:cs typeface="Arial" panose="020B0604020202020204" pitchFamily="34" charset="0"/>
              </a:rPr>
              <a:t> and enters active state</a:t>
            </a:r>
          </a:p>
          <a:p>
            <a:pPr>
              <a:lnSpc>
                <a:spcPct val="130000"/>
              </a:lnSpc>
              <a:spcBef>
                <a:spcPts val="0"/>
              </a:spcBef>
            </a:pPr>
            <a:r>
              <a:rPr lang="en-US" altLang="zh-CN" sz="2400" dirty="0">
                <a:solidFill>
                  <a:srgbClr val="FF0000"/>
                </a:solidFill>
                <a:latin typeface="Arial" panose="020B0604020202020204" pitchFamily="34" charset="0"/>
                <a:cs typeface="Arial" panose="020B0604020202020204" pitchFamily="34" charset="0"/>
              </a:rPr>
              <a:t>Active state:</a:t>
            </a:r>
          </a:p>
          <a:p>
            <a:pPr lvl="1">
              <a:lnSpc>
                <a:spcPct val="130000"/>
              </a:lnSpc>
              <a:spcBef>
                <a:spcPts val="0"/>
              </a:spcBef>
            </a:pPr>
            <a:r>
              <a:rPr lang="en-US" altLang="zh-CN" sz="2000" dirty="0">
                <a:latin typeface="Arial" panose="020B0604020202020204" pitchFamily="34" charset="0"/>
                <a:cs typeface="Arial" panose="020B0604020202020204" pitchFamily="34" charset="0"/>
              </a:rPr>
              <a:t>node periodically re-broadcasts discovery messages</a:t>
            </a:r>
          </a:p>
          <a:p>
            <a:pPr lvl="1">
              <a:lnSpc>
                <a:spcPct val="130000"/>
              </a:lnSpc>
              <a:spcBef>
                <a:spcPts val="0"/>
              </a:spcBef>
            </a:pPr>
            <a:r>
              <a:rPr lang="en-US" altLang="zh-CN" sz="2000" dirty="0">
                <a:latin typeface="Arial" panose="020B0604020202020204" pitchFamily="34" charset="0"/>
                <a:cs typeface="Arial" panose="020B0604020202020204" pitchFamily="34" charset="0"/>
              </a:rPr>
              <a:t>node sets another timer to re-enter discovery state after timer expiration </a:t>
            </a:r>
          </a:p>
          <a:p>
            <a:pPr>
              <a:lnSpc>
                <a:spcPct val="130000"/>
              </a:lnSpc>
              <a:spcBef>
                <a:spcPts val="0"/>
              </a:spcBef>
            </a:pPr>
            <a:r>
              <a:rPr lang="en-US" altLang="zh-CN" sz="2400" dirty="0">
                <a:solidFill>
                  <a:srgbClr val="FF0000"/>
                </a:solidFill>
                <a:latin typeface="Arial" panose="020B0604020202020204" pitchFamily="34" charset="0"/>
                <a:cs typeface="Arial" panose="020B0604020202020204" pitchFamily="34" charset="0"/>
              </a:rPr>
              <a:t>Sleep state:</a:t>
            </a:r>
          </a:p>
          <a:p>
            <a:pPr lvl="1">
              <a:lnSpc>
                <a:spcPct val="130000"/>
              </a:lnSpc>
              <a:spcBef>
                <a:spcPts val="0"/>
              </a:spcBef>
            </a:pPr>
            <a:r>
              <a:rPr lang="en-US" altLang="zh-CN" sz="2000" dirty="0">
                <a:latin typeface="Arial" panose="020B0604020202020204" pitchFamily="34" charset="0"/>
                <a:cs typeface="Arial" panose="020B0604020202020204" pitchFamily="34" charset="0"/>
              </a:rPr>
              <a:t>entered whenever node determines that some other node is forwarder</a:t>
            </a:r>
          </a:p>
          <a:p>
            <a:pPr lvl="1">
              <a:lnSpc>
                <a:spcPct val="130000"/>
              </a:lnSpc>
              <a:spcBef>
                <a:spcPts val="0"/>
              </a:spcBef>
            </a:pPr>
            <a:r>
              <a:rPr lang="en-US" altLang="zh-CN" sz="2000" dirty="0">
                <a:latin typeface="Arial" panose="020B0604020202020204" pitchFamily="34" charset="0"/>
                <a:cs typeface="Arial" panose="020B0604020202020204" pitchFamily="34" charset="0"/>
              </a:rPr>
              <a:t>nodes periodically re-enter discovery state </a:t>
            </a:r>
          </a:p>
          <a:p>
            <a:pPr>
              <a:lnSpc>
                <a:spcPct val="130000"/>
              </a:lnSpc>
              <a:spcBef>
                <a:spcPts val="0"/>
              </a:spcBef>
            </a:pPr>
            <a:r>
              <a:rPr lang="en-US" altLang="zh-CN" sz="2400" dirty="0">
                <a:latin typeface="Arial" panose="020B0604020202020204" pitchFamily="34" charset="0"/>
                <a:cs typeface="Arial" panose="020B0604020202020204" pitchFamily="34" charset="0"/>
              </a:rPr>
              <a:t>Forwarder node:</a:t>
            </a:r>
          </a:p>
          <a:p>
            <a:pPr lvl="1">
              <a:lnSpc>
                <a:spcPct val="130000"/>
              </a:lnSpc>
              <a:spcBef>
                <a:spcPts val="0"/>
              </a:spcBef>
            </a:pPr>
            <a:r>
              <a:rPr lang="en-US" altLang="zh-CN" sz="2000" dirty="0">
                <a:latin typeface="Arial" panose="020B0604020202020204" pitchFamily="34" charset="0"/>
                <a:cs typeface="Arial" panose="020B0604020202020204" pitchFamily="34" charset="0"/>
              </a:rPr>
              <a:t>determined using negotiation process </a:t>
            </a:r>
          </a:p>
          <a:p>
            <a:pPr lvl="1">
              <a:lnSpc>
                <a:spcPct val="130000"/>
              </a:lnSpc>
              <a:spcBef>
                <a:spcPts val="0"/>
              </a:spcBef>
            </a:pPr>
            <a:r>
              <a:rPr lang="en-US" altLang="zh-CN" sz="2000" dirty="0">
                <a:latin typeface="Arial" panose="020B0604020202020204" pitchFamily="34" charset="0"/>
                <a:cs typeface="Arial" panose="020B0604020202020204" pitchFamily="34" charset="0"/>
              </a:rPr>
              <a:t>nodes in active state win over nodes in discovery state</a:t>
            </a:r>
          </a:p>
          <a:p>
            <a:pPr lvl="1">
              <a:lnSpc>
                <a:spcPct val="130000"/>
              </a:lnSpc>
              <a:spcBef>
                <a:spcPts val="0"/>
              </a:spcBef>
            </a:pPr>
            <a:r>
              <a:rPr lang="en-US" altLang="zh-CN" sz="2000" dirty="0">
                <a:latin typeface="Arial" panose="020B0604020202020204" pitchFamily="34" charset="0"/>
                <a:cs typeface="Arial" panose="020B0604020202020204" pitchFamily="34" charset="0"/>
              </a:rPr>
              <a:t>node IDs used to break ties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7897475"/>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Multicast Location-Based Routing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772359"/>
            <a:ext cx="11679315" cy="4486398"/>
          </a:xfrm>
        </p:spPr>
        <p:txBody>
          <a:bodyPr>
            <a:normAutofit lnSpcReduction="10000"/>
          </a:bodyPr>
          <a:lstStyle/>
          <a:p>
            <a:pPr>
              <a:lnSpc>
                <a:spcPct val="120000"/>
              </a:lnSpc>
            </a:pPr>
            <a:r>
              <a:rPr lang="en-US" altLang="zh-CN" sz="2400" dirty="0">
                <a:solidFill>
                  <a:srgbClr val="FF0000"/>
                </a:solidFill>
                <a:latin typeface="Arial" panose="020B0604020202020204" pitchFamily="34" charset="0"/>
                <a:cs typeface="Arial" panose="020B0604020202020204" pitchFamily="34" charset="0"/>
              </a:rPr>
              <a:t>Multicast</a:t>
            </a:r>
            <a:r>
              <a:rPr lang="en-US" altLang="zh-CN" sz="2400" dirty="0">
                <a:latin typeface="Arial" panose="020B0604020202020204" pitchFamily="34" charset="0"/>
                <a:cs typeface="Arial" panose="020B0604020202020204" pitchFamily="34" charset="0"/>
              </a:rPr>
              <a:t>: deliver the same packet to multiple receivers</a:t>
            </a:r>
          </a:p>
          <a:p>
            <a:pPr>
              <a:lnSpc>
                <a:spcPct val="120000"/>
              </a:lnSpc>
            </a:pPr>
            <a:r>
              <a:rPr lang="en-US" altLang="zh-CN" sz="2400" dirty="0">
                <a:solidFill>
                  <a:srgbClr val="FF0000"/>
                </a:solidFill>
                <a:latin typeface="Arial" panose="020B0604020202020204" pitchFamily="34" charset="0"/>
                <a:cs typeface="Arial" panose="020B0604020202020204" pitchFamily="34" charset="0"/>
              </a:rPr>
              <a:t>Simple solution 1: </a:t>
            </a:r>
            <a:r>
              <a:rPr lang="en-US" altLang="zh-CN" sz="2400" dirty="0">
                <a:latin typeface="Arial" panose="020B0604020202020204" pitchFamily="34" charset="0"/>
                <a:cs typeface="Arial" panose="020B0604020202020204" pitchFamily="34" charset="0"/>
              </a:rPr>
              <a:t>deliver copies of same packet to each individual receiver via unicast routing</a:t>
            </a:r>
          </a:p>
          <a:p>
            <a:pPr lvl="1">
              <a:lnSpc>
                <a:spcPct val="120000"/>
              </a:lnSpc>
            </a:pPr>
            <a:r>
              <a:rPr lang="en-US" altLang="zh-CN" sz="2000" dirty="0">
                <a:latin typeface="Arial" panose="020B0604020202020204" pitchFamily="34" charset="0"/>
                <a:cs typeface="Arial" panose="020B0604020202020204" pitchFamily="34" charset="0"/>
              </a:rPr>
              <a:t>resource-inefficient </a:t>
            </a:r>
          </a:p>
          <a:p>
            <a:pPr>
              <a:lnSpc>
                <a:spcPct val="120000"/>
              </a:lnSpc>
            </a:pPr>
            <a:r>
              <a:rPr lang="en-US" altLang="zh-CN" sz="2400" dirty="0">
                <a:solidFill>
                  <a:srgbClr val="FF0000"/>
                </a:solidFill>
                <a:latin typeface="Arial" panose="020B0604020202020204" pitchFamily="34" charset="0"/>
                <a:cs typeface="Arial" panose="020B0604020202020204" pitchFamily="34" charset="0"/>
              </a:rPr>
              <a:t>Simple solution 2: </a:t>
            </a:r>
            <a:r>
              <a:rPr lang="en-US" altLang="zh-CN" sz="2400" dirty="0">
                <a:latin typeface="Arial" panose="020B0604020202020204" pitchFamily="34" charset="0"/>
                <a:cs typeface="Arial" panose="020B0604020202020204" pitchFamily="34" charset="0"/>
              </a:rPr>
              <a:t>flood the entire network</a:t>
            </a:r>
          </a:p>
          <a:p>
            <a:pPr lvl="1">
              <a:lnSpc>
                <a:spcPct val="120000"/>
              </a:lnSpc>
            </a:pPr>
            <a:r>
              <a:rPr lang="en-US" altLang="zh-CN" sz="2000" dirty="0">
                <a:latin typeface="Arial" panose="020B0604020202020204" pitchFamily="34" charset="0"/>
                <a:cs typeface="Arial" panose="020B0604020202020204" pitchFamily="34" charset="0"/>
              </a:rPr>
              <a:t>resource-inefficient </a:t>
            </a:r>
          </a:p>
          <a:p>
            <a:pPr>
              <a:lnSpc>
                <a:spcPct val="120000"/>
              </a:lnSpc>
            </a:pPr>
            <a:r>
              <a:rPr lang="en-US" altLang="zh-CN" sz="2400" dirty="0">
                <a:latin typeface="Arial" panose="020B0604020202020204" pitchFamily="34" charset="0"/>
                <a:cs typeface="Arial" panose="020B0604020202020204" pitchFamily="34" charset="0"/>
              </a:rPr>
              <a:t>Concerned with efficiently delivering the same packet to receivers, i.e., </a:t>
            </a:r>
            <a:r>
              <a:rPr lang="en-US" altLang="zh-CN" sz="2400" dirty="0">
                <a:solidFill>
                  <a:srgbClr val="FF0000"/>
                </a:solidFill>
                <a:latin typeface="Arial" panose="020B0604020202020204" pitchFamily="34" charset="0"/>
                <a:cs typeface="Arial" panose="020B0604020202020204" pitchFamily="34" charset="0"/>
              </a:rPr>
              <a:t>minimize the number of links the packet has to travel</a:t>
            </a:r>
          </a:p>
          <a:p>
            <a:pPr>
              <a:lnSpc>
                <a:spcPct val="120000"/>
              </a:lnSpc>
            </a:pPr>
            <a:r>
              <a:rPr lang="en-US" altLang="zh-CN" sz="2400" dirty="0">
                <a:latin typeface="Arial" panose="020B0604020202020204" pitchFamily="34" charset="0"/>
                <a:cs typeface="Arial" panose="020B0604020202020204" pitchFamily="34" charset="0"/>
              </a:rPr>
              <a:t>Common approach: </a:t>
            </a:r>
            <a:r>
              <a:rPr lang="en-US" altLang="zh-CN" sz="2400" dirty="0">
                <a:solidFill>
                  <a:srgbClr val="FF0000"/>
                </a:solidFill>
                <a:latin typeface="Arial" panose="020B0604020202020204" pitchFamily="34" charset="0"/>
                <a:cs typeface="Arial" panose="020B0604020202020204" pitchFamily="34" charset="0"/>
              </a:rPr>
              <a:t>multicast tree </a:t>
            </a:r>
            <a:r>
              <a:rPr lang="en-US" altLang="zh-CN" sz="2400" dirty="0">
                <a:latin typeface="Arial" panose="020B0604020202020204" pitchFamily="34" charset="0"/>
                <a:cs typeface="Arial" panose="020B0604020202020204" pitchFamily="34" charset="0"/>
              </a:rPr>
              <a:t>rooted at source and destinations are leaf</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591496"/>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err="1">
                <a:latin typeface="Arial" panose="020B0604020202020204" pitchFamily="34" charset="0"/>
                <a:cs typeface="Arial" panose="020B0604020202020204" pitchFamily="34" charset="0"/>
              </a:rPr>
              <a:t>Geocasting</a:t>
            </a:r>
            <a:r>
              <a:rPr lang="en-US" altLang="zh-CN" b="1" dirty="0">
                <a:latin typeface="Arial" panose="020B0604020202020204" pitchFamily="34" charset="0"/>
                <a:cs typeface="Arial" panose="020B0604020202020204" pitchFamily="34" charset="0"/>
              </a:rPr>
              <a:t>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Packet is sent to all or some nodes within specific geographic region</a:t>
            </a:r>
          </a:p>
          <a:p>
            <a:pPr>
              <a:lnSpc>
                <a:spcPct val="120000"/>
              </a:lnSpc>
            </a:pPr>
            <a:r>
              <a:rPr lang="en-US" altLang="zh-CN" sz="2400" dirty="0">
                <a:latin typeface="Arial" panose="020B0604020202020204" pitchFamily="34" charset="0"/>
                <a:cs typeface="Arial" panose="020B0604020202020204" pitchFamily="34" charset="0"/>
              </a:rPr>
              <a:t>Example: query sent to all sensors within geographic area of interest</a:t>
            </a:r>
          </a:p>
          <a:p>
            <a:pPr>
              <a:lnSpc>
                <a:spcPct val="120000"/>
              </a:lnSpc>
            </a:pPr>
            <a:endParaRPr lang="en-US" altLang="zh-CN" sz="2400" dirty="0">
              <a:latin typeface="Arial" panose="020B0604020202020204" pitchFamily="34" charset="0"/>
              <a:cs typeface="Arial" panose="020B0604020202020204" pitchFamily="34" charset="0"/>
            </a:endParaRPr>
          </a:p>
          <a:p>
            <a:pPr>
              <a:lnSpc>
                <a:spcPct val="120000"/>
              </a:lnSpc>
            </a:pPr>
            <a:r>
              <a:rPr lang="en-US" altLang="zh-CN" sz="2400" dirty="0">
                <a:latin typeface="Arial" panose="020B0604020202020204" pitchFamily="34" charset="0"/>
                <a:cs typeface="Arial" panose="020B0604020202020204" pitchFamily="34" charset="0"/>
              </a:rPr>
              <a:t>Routing challenge:</a:t>
            </a:r>
          </a:p>
          <a:p>
            <a:pPr lvl="1">
              <a:lnSpc>
                <a:spcPct val="120000"/>
              </a:lnSpc>
            </a:pPr>
            <a:r>
              <a:rPr lang="en-US" altLang="zh-CN" sz="2000" dirty="0">
                <a:latin typeface="Arial" panose="020B0604020202020204" pitchFamily="34" charset="0"/>
                <a:cs typeface="Arial" panose="020B0604020202020204" pitchFamily="34" charset="0"/>
              </a:rPr>
              <a:t>propagate a packet near the target region (similar to unicast routing)</a:t>
            </a:r>
          </a:p>
          <a:p>
            <a:pPr lvl="1">
              <a:lnSpc>
                <a:spcPct val="120000"/>
              </a:lnSpc>
            </a:pPr>
            <a:r>
              <a:rPr lang="en-US" altLang="zh-CN" sz="2000" dirty="0">
                <a:latin typeface="Arial" panose="020B0604020202020204" pitchFamily="34" charset="0"/>
                <a:cs typeface="Arial" panose="020B0604020202020204" pitchFamily="34" charset="0"/>
              </a:rPr>
              <a:t>distribute packet within the target region (similar to multicast routing)</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7000352"/>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Roadmap</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515600" cy="4667250"/>
          </a:xfrm>
        </p:spPr>
        <p:txBody>
          <a:bodyPr>
            <a:noAutofit/>
          </a:bodyPr>
          <a:lstStyle/>
          <a:p>
            <a:pPr>
              <a:lnSpc>
                <a:spcPct val="120000"/>
              </a:lnSpc>
            </a:pPr>
            <a:r>
              <a:rPr lang="en-US" altLang="zh-CN" dirty="0">
                <a:latin typeface="Arial" panose="020B0604020202020204" pitchFamily="34" charset="0"/>
                <a:cs typeface="Arial" panose="020B0604020202020204" pitchFamily="34" charset="0"/>
              </a:rPr>
              <a:t>Routing basics</a:t>
            </a:r>
          </a:p>
          <a:p>
            <a:pPr>
              <a:lnSpc>
                <a:spcPct val="120000"/>
              </a:lnSpc>
            </a:pPr>
            <a:r>
              <a:rPr lang="en-US" altLang="zh-CN" dirty="0">
                <a:latin typeface="Arial" panose="020B0604020202020204" pitchFamily="34" charset="0"/>
                <a:cs typeface="Arial" panose="020B0604020202020204" pitchFamily="34" charset="0"/>
              </a:rPr>
              <a:t>Data-centric routing </a:t>
            </a:r>
          </a:p>
          <a:p>
            <a:pPr>
              <a:lnSpc>
                <a:spcPct val="120000"/>
              </a:lnSpc>
            </a:pPr>
            <a:r>
              <a:rPr lang="en-US" altLang="zh-CN" dirty="0">
                <a:latin typeface="Arial" panose="020B0604020202020204" pitchFamily="34" charset="0"/>
                <a:cs typeface="Arial" panose="020B0604020202020204" pitchFamily="34" charset="0"/>
              </a:rPr>
              <a:t>Proactive routing</a:t>
            </a:r>
          </a:p>
          <a:p>
            <a:pPr>
              <a:lnSpc>
                <a:spcPct val="120000"/>
              </a:lnSpc>
            </a:pPr>
            <a:r>
              <a:rPr lang="en-US" altLang="zh-CN" dirty="0">
                <a:latin typeface="Arial" panose="020B0604020202020204" pitchFamily="34" charset="0"/>
                <a:cs typeface="Arial" panose="020B0604020202020204" pitchFamily="34" charset="0"/>
              </a:rPr>
              <a:t>On-demand routing</a:t>
            </a:r>
          </a:p>
          <a:p>
            <a:pPr>
              <a:lnSpc>
                <a:spcPct val="120000"/>
              </a:lnSpc>
            </a:pPr>
            <a:r>
              <a:rPr lang="en-US" altLang="zh-CN" dirty="0">
                <a:latin typeface="Arial" panose="020B0604020202020204" pitchFamily="34" charset="0"/>
                <a:cs typeface="Arial" panose="020B0604020202020204" pitchFamily="34" charset="0"/>
              </a:rPr>
              <a:t>Hierarchical routing</a:t>
            </a:r>
          </a:p>
          <a:p>
            <a:pPr>
              <a:lnSpc>
                <a:spcPct val="120000"/>
              </a:lnSpc>
            </a:pPr>
            <a:r>
              <a:rPr lang="en-US" altLang="zh-CN" dirty="0">
                <a:latin typeface="Arial" panose="020B0604020202020204" pitchFamily="34" charset="0"/>
                <a:cs typeface="Arial" panose="020B0604020202020204" pitchFamily="34" charset="0"/>
              </a:rPr>
              <a:t>Location-based routing</a:t>
            </a:r>
          </a:p>
          <a:p>
            <a:pPr>
              <a:lnSpc>
                <a:spcPct val="120000"/>
              </a:lnSpc>
            </a:pPr>
            <a:r>
              <a:rPr lang="en-US" altLang="zh-CN" b="1" dirty="0" err="1">
                <a:latin typeface="Arial" panose="020B0604020202020204" pitchFamily="34" charset="0"/>
                <a:cs typeface="Arial" panose="020B0604020202020204" pitchFamily="34" charset="0"/>
              </a:rPr>
              <a:t>QoS</a:t>
            </a:r>
            <a:r>
              <a:rPr lang="en-US" altLang="zh-CN" b="1" dirty="0">
                <a:latin typeface="Arial" panose="020B0604020202020204" pitchFamily="34" charset="0"/>
                <a:cs typeface="Arial" panose="020B0604020202020204" pitchFamily="34" charset="0"/>
              </a:rPr>
              <a:t>-based routing</a:t>
            </a:r>
            <a:endParaRPr lang="en-US" altLang="zh-CN"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67639"/>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err="1">
                <a:latin typeface="Arial" panose="020B0604020202020204" pitchFamily="34" charset="0"/>
                <a:cs typeface="Arial" panose="020B0604020202020204" pitchFamily="34" charset="0"/>
              </a:rPr>
              <a:t>QoS</a:t>
            </a:r>
            <a:r>
              <a:rPr lang="en-US" altLang="zh-CN" b="1" dirty="0">
                <a:latin typeface="Arial" panose="020B0604020202020204" pitchFamily="34" charset="0"/>
                <a:cs typeface="Arial" panose="020B0604020202020204" pitchFamily="34" charset="0"/>
              </a:rPr>
              <a:t>-Based Routing Protocols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825625"/>
            <a:ext cx="11084511" cy="4667250"/>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Protocols that explicitly address one or more Quality-of-Service (</a:t>
            </a:r>
            <a:r>
              <a:rPr lang="en-US" altLang="zh-CN" sz="2400" dirty="0" err="1">
                <a:latin typeface="Arial" panose="020B0604020202020204" pitchFamily="34" charset="0"/>
                <a:cs typeface="Arial" panose="020B0604020202020204" pitchFamily="34" charset="0"/>
              </a:rPr>
              <a:t>QoS</a:t>
            </a:r>
            <a:r>
              <a:rPr lang="en-US" altLang="zh-CN" sz="2400" dirty="0">
                <a:latin typeface="Arial" panose="020B0604020202020204" pitchFamily="34" charset="0"/>
                <a:cs typeface="Arial" panose="020B0604020202020204" pitchFamily="34" charset="0"/>
              </a:rPr>
              <a:t>) metrics</a:t>
            </a:r>
          </a:p>
          <a:p>
            <a:pPr>
              <a:lnSpc>
                <a:spcPct val="120000"/>
              </a:lnSpc>
            </a:pPr>
            <a:r>
              <a:rPr lang="en-US" altLang="zh-CN" sz="2400" dirty="0">
                <a:latin typeface="Arial" panose="020B0604020202020204" pitchFamily="34" charset="0"/>
                <a:cs typeface="Arial" panose="020B0604020202020204" pitchFamily="34" charset="0"/>
              </a:rPr>
              <a:t>Examples of </a:t>
            </a:r>
            <a:r>
              <a:rPr lang="en-US" altLang="zh-CN" sz="2400" dirty="0" err="1">
                <a:latin typeface="Arial" panose="020B0604020202020204" pitchFamily="34" charset="0"/>
                <a:cs typeface="Arial" panose="020B0604020202020204" pitchFamily="34" charset="0"/>
              </a:rPr>
              <a:t>QoS</a:t>
            </a:r>
            <a:r>
              <a:rPr lang="en-US" altLang="zh-CN" sz="2400" dirty="0">
                <a:latin typeface="Arial" panose="020B0604020202020204" pitchFamily="34" charset="0"/>
                <a:cs typeface="Arial" panose="020B0604020202020204" pitchFamily="34" charset="0"/>
              </a:rPr>
              <a:t> metrics:</a:t>
            </a:r>
          </a:p>
          <a:p>
            <a:pPr lvl="1">
              <a:lnSpc>
                <a:spcPct val="120000"/>
              </a:lnSpc>
            </a:pPr>
            <a:r>
              <a:rPr lang="en-US" altLang="zh-CN" sz="2000" dirty="0">
                <a:latin typeface="Arial" panose="020B0604020202020204" pitchFamily="34" charset="0"/>
                <a:cs typeface="Arial" panose="020B0604020202020204" pitchFamily="34" charset="0"/>
              </a:rPr>
              <a:t>low (end-to-end) latency/delay </a:t>
            </a:r>
          </a:p>
          <a:p>
            <a:pPr lvl="1">
              <a:lnSpc>
                <a:spcPct val="120000"/>
              </a:lnSpc>
            </a:pPr>
            <a:r>
              <a:rPr lang="en-US" altLang="zh-CN" sz="2000" dirty="0">
                <a:latin typeface="Arial" panose="020B0604020202020204" pitchFamily="34" charset="0"/>
                <a:cs typeface="Arial" panose="020B0604020202020204" pitchFamily="34" charset="0"/>
              </a:rPr>
              <a:t>low jitter </a:t>
            </a:r>
          </a:p>
          <a:p>
            <a:pPr lvl="1">
              <a:lnSpc>
                <a:spcPct val="120000"/>
              </a:lnSpc>
            </a:pPr>
            <a:r>
              <a:rPr lang="en-US" altLang="zh-CN" sz="2000" dirty="0">
                <a:latin typeface="Arial" panose="020B0604020202020204" pitchFamily="34" charset="0"/>
                <a:cs typeface="Arial" panose="020B0604020202020204" pitchFamily="34" charset="0"/>
              </a:rPr>
              <a:t>low energy consumption </a:t>
            </a:r>
          </a:p>
          <a:p>
            <a:pPr lvl="1">
              <a:lnSpc>
                <a:spcPct val="120000"/>
              </a:lnSpc>
            </a:pPr>
            <a:r>
              <a:rPr lang="en-US" altLang="zh-CN" sz="2000" dirty="0">
                <a:latin typeface="Arial" panose="020B0604020202020204" pitchFamily="34" charset="0"/>
                <a:cs typeface="Arial" panose="020B0604020202020204" pitchFamily="34" charset="0"/>
              </a:rPr>
              <a:t>low bandwidth requirements </a:t>
            </a:r>
          </a:p>
          <a:p>
            <a:pPr lvl="1">
              <a:lnSpc>
                <a:spcPct val="120000"/>
              </a:lnSpc>
            </a:pPr>
            <a:r>
              <a:rPr lang="en-US" altLang="zh-CN" sz="2000" dirty="0">
                <a:latin typeface="Arial" panose="020B0604020202020204" pitchFamily="34" charset="0"/>
                <a:cs typeface="Arial" panose="020B0604020202020204" pitchFamily="34" charset="0"/>
              </a:rPr>
              <a:t>high reliability</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1807088"/>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SPEED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616260" y="1539768"/>
            <a:ext cx="11466250" cy="5464714"/>
          </a:xfrm>
        </p:spPr>
        <p:txBody>
          <a:bodyPr>
            <a:normAutofit/>
          </a:bodyPr>
          <a:lstStyle/>
          <a:p>
            <a:pPr>
              <a:lnSpc>
                <a:spcPct val="120000"/>
              </a:lnSpc>
              <a:spcBef>
                <a:spcPts val="0"/>
              </a:spcBef>
            </a:pPr>
            <a:r>
              <a:rPr lang="en-US" altLang="zh-CN" sz="2000" dirty="0">
                <a:latin typeface="Arial" panose="020B0604020202020204" pitchFamily="34" charset="0"/>
                <a:cs typeface="Arial" panose="020B0604020202020204" pitchFamily="34" charset="0"/>
              </a:rPr>
              <a:t>Support for soft real-time applications, providing real-time unicast, real-time area-multicast, real-time area-</a:t>
            </a:r>
            <a:r>
              <a:rPr lang="en-US" altLang="zh-CN" sz="2000" dirty="0" err="1">
                <a:latin typeface="Arial" panose="020B0604020202020204" pitchFamily="34" charset="0"/>
                <a:cs typeface="Arial" panose="020B0604020202020204" pitchFamily="34" charset="0"/>
              </a:rPr>
              <a:t>anycast</a:t>
            </a:r>
            <a:endParaRPr lang="en-US" altLang="zh-CN" sz="2000" dirty="0">
              <a:latin typeface="Arial" panose="020B0604020202020204" pitchFamily="34" charset="0"/>
              <a:cs typeface="Arial" panose="020B0604020202020204" pitchFamily="34" charset="0"/>
            </a:endParaRPr>
          </a:p>
          <a:p>
            <a:pPr>
              <a:lnSpc>
                <a:spcPct val="120000"/>
              </a:lnSpc>
              <a:spcBef>
                <a:spcPts val="0"/>
              </a:spcBef>
            </a:pPr>
            <a:r>
              <a:rPr lang="en-US" altLang="zh-CN" sz="2000" dirty="0">
                <a:latin typeface="Arial" panose="020B0604020202020204" pitchFamily="34" charset="0"/>
                <a:cs typeface="Arial" panose="020B0604020202020204" pitchFamily="34" charset="0"/>
              </a:rPr>
              <a:t>Location-based routing</a:t>
            </a:r>
          </a:p>
          <a:p>
            <a:pPr>
              <a:lnSpc>
                <a:spcPct val="120000"/>
              </a:lnSpc>
              <a:spcBef>
                <a:spcPts val="0"/>
              </a:spcBef>
            </a:pPr>
            <a:r>
              <a:rPr lang="en-US" altLang="zh-CN" sz="2000" dirty="0">
                <a:latin typeface="Arial" panose="020B0604020202020204" pitchFamily="34" charset="0"/>
                <a:cs typeface="Arial" panose="020B0604020202020204" pitchFamily="34" charset="0"/>
              </a:rPr>
              <a:t>Periodic HELLO (beacon) messages</a:t>
            </a:r>
          </a:p>
          <a:p>
            <a:pPr lvl="1">
              <a:lnSpc>
                <a:spcPct val="120000"/>
              </a:lnSpc>
              <a:spcBef>
                <a:spcPts val="0"/>
              </a:spcBef>
            </a:pPr>
            <a:r>
              <a:rPr lang="en-US" altLang="zh-CN" sz="1800" dirty="0">
                <a:latin typeface="Arial" panose="020B0604020202020204" pitchFamily="34" charset="0"/>
                <a:cs typeface="Arial" panose="020B0604020202020204" pitchFamily="34" charset="0"/>
              </a:rPr>
              <a:t>node ID</a:t>
            </a:r>
          </a:p>
          <a:p>
            <a:pPr lvl="1">
              <a:lnSpc>
                <a:spcPct val="120000"/>
              </a:lnSpc>
              <a:spcBef>
                <a:spcPts val="0"/>
              </a:spcBef>
            </a:pPr>
            <a:r>
              <a:rPr lang="en-US" altLang="zh-CN" sz="1800" dirty="0">
                <a:latin typeface="Arial" panose="020B0604020202020204" pitchFamily="34" charset="0"/>
                <a:cs typeface="Arial" panose="020B0604020202020204" pitchFamily="34" charset="0"/>
              </a:rPr>
              <a:t>position</a:t>
            </a:r>
          </a:p>
          <a:p>
            <a:pPr lvl="1">
              <a:lnSpc>
                <a:spcPct val="120000"/>
              </a:lnSpc>
              <a:spcBef>
                <a:spcPts val="0"/>
              </a:spcBef>
            </a:pPr>
            <a:r>
              <a:rPr lang="en-US" altLang="zh-CN" sz="1800" dirty="0">
                <a:latin typeface="Arial" panose="020B0604020202020204" pitchFamily="34" charset="0"/>
                <a:cs typeface="Arial" panose="020B0604020202020204" pitchFamily="34" charset="0"/>
              </a:rPr>
              <a:t>average receive delay </a:t>
            </a:r>
          </a:p>
          <a:p>
            <a:pPr>
              <a:lnSpc>
                <a:spcPct val="120000"/>
              </a:lnSpc>
              <a:spcBef>
                <a:spcPts val="0"/>
              </a:spcBef>
            </a:pPr>
            <a:r>
              <a:rPr lang="en-US" altLang="zh-CN" sz="2000" dirty="0">
                <a:latin typeface="Arial" panose="020B0604020202020204" pitchFamily="34" charset="0"/>
                <a:cs typeface="Arial" panose="020B0604020202020204" pitchFamily="34" charset="0"/>
              </a:rPr>
              <a:t>Each node maintains neighbor table with the following entries for each neighbor:</a:t>
            </a:r>
          </a:p>
          <a:p>
            <a:pPr lvl="1">
              <a:lnSpc>
                <a:spcPct val="120000"/>
              </a:lnSpc>
              <a:spcBef>
                <a:spcPts val="0"/>
              </a:spcBef>
            </a:pPr>
            <a:r>
              <a:rPr lang="en-US" altLang="zh-CN" sz="1800" dirty="0">
                <a:latin typeface="Arial" panose="020B0604020202020204" pitchFamily="34" charset="0"/>
                <a:cs typeface="Arial" panose="020B0604020202020204" pitchFamily="34" charset="0"/>
              </a:rPr>
              <a:t>node ID  </a:t>
            </a:r>
          </a:p>
          <a:p>
            <a:pPr lvl="1">
              <a:lnSpc>
                <a:spcPct val="120000"/>
              </a:lnSpc>
              <a:spcBef>
                <a:spcPts val="0"/>
              </a:spcBef>
            </a:pPr>
            <a:r>
              <a:rPr lang="en-US" altLang="zh-CN" sz="1800" dirty="0">
                <a:latin typeface="Arial" panose="020B0604020202020204" pitchFamily="34" charset="0"/>
                <a:cs typeface="Arial" panose="020B0604020202020204" pitchFamily="34" charset="0"/>
              </a:rPr>
              <a:t>position</a:t>
            </a:r>
          </a:p>
          <a:p>
            <a:pPr lvl="1">
              <a:lnSpc>
                <a:spcPct val="120000"/>
              </a:lnSpc>
              <a:spcBef>
                <a:spcPts val="0"/>
              </a:spcBef>
            </a:pPr>
            <a:r>
              <a:rPr lang="en-US" altLang="zh-CN" sz="1800" dirty="0">
                <a:latin typeface="Arial" panose="020B0604020202020204" pitchFamily="34" charset="0"/>
                <a:cs typeface="Arial" panose="020B0604020202020204" pitchFamily="34" charset="0"/>
              </a:rPr>
              <a:t>expiration time (</a:t>
            </a:r>
            <a:r>
              <a:rPr lang="en-US" altLang="zh-CN" sz="1800" dirty="0" err="1">
                <a:latin typeface="Arial" panose="020B0604020202020204" pitchFamily="34" charset="0"/>
                <a:cs typeface="Arial" panose="020B0604020202020204" pitchFamily="34" charset="0"/>
              </a:rPr>
              <a:t>ExpireTime</a:t>
            </a:r>
            <a:r>
              <a:rPr lang="en-US" altLang="zh-CN" sz="1800" dirty="0">
                <a:latin typeface="Arial" panose="020B0604020202020204" pitchFamily="34" charset="0"/>
                <a:cs typeface="Arial" panose="020B0604020202020204" pitchFamily="34" charset="0"/>
              </a:rPr>
              <a:t>)</a:t>
            </a:r>
          </a:p>
          <a:p>
            <a:pPr lvl="1">
              <a:lnSpc>
                <a:spcPct val="120000"/>
              </a:lnSpc>
              <a:spcBef>
                <a:spcPts val="0"/>
              </a:spcBef>
            </a:pPr>
            <a:r>
              <a:rPr lang="en-US" altLang="zh-CN" sz="1800" dirty="0" err="1">
                <a:latin typeface="Arial" panose="020B0604020202020204" pitchFamily="34" charset="0"/>
                <a:cs typeface="Arial" panose="020B0604020202020204" pitchFamily="34" charset="0"/>
              </a:rPr>
              <a:t>ReceiveFromDelay</a:t>
            </a:r>
            <a:r>
              <a:rPr lang="en-US" altLang="zh-CN" sz="1800" dirty="0">
                <a:latin typeface="Arial" panose="020B0604020202020204" pitchFamily="34" charset="0"/>
                <a:cs typeface="Arial" panose="020B0604020202020204" pitchFamily="34" charset="0"/>
              </a:rPr>
              <a:t> </a:t>
            </a:r>
          </a:p>
          <a:p>
            <a:pPr lvl="1">
              <a:lnSpc>
                <a:spcPct val="120000"/>
              </a:lnSpc>
              <a:spcBef>
                <a:spcPts val="0"/>
              </a:spcBef>
            </a:pPr>
            <a:r>
              <a:rPr lang="en-US" altLang="zh-CN" sz="1800" dirty="0" err="1">
                <a:latin typeface="Arial" panose="020B0604020202020204" pitchFamily="34" charset="0"/>
                <a:cs typeface="Arial" panose="020B0604020202020204" pitchFamily="34" charset="0"/>
              </a:rPr>
              <a:t>SendToDelay</a:t>
            </a:r>
            <a:r>
              <a:rPr lang="en-US" altLang="zh-CN" sz="1800" dirty="0">
                <a:latin typeface="Arial" panose="020B0604020202020204" pitchFamily="34" charset="0"/>
                <a:cs typeface="Arial" panose="020B0604020202020204" pitchFamily="34" charset="0"/>
              </a:rPr>
              <a:t> (delay received from beacon message)</a:t>
            </a:r>
          </a:p>
          <a:p>
            <a:pPr>
              <a:lnSpc>
                <a:spcPct val="120000"/>
              </a:lnSpc>
              <a:spcBef>
                <a:spcPts val="0"/>
              </a:spcBef>
            </a:pPr>
            <a:r>
              <a:rPr lang="en-US" altLang="zh-CN" sz="2000" dirty="0" err="1">
                <a:latin typeface="Arial" panose="020B0604020202020204" pitchFamily="34" charset="0"/>
                <a:cs typeface="Arial" panose="020B0604020202020204" pitchFamily="34" charset="0"/>
              </a:rPr>
              <a:t>ReceiveFromDelay</a:t>
            </a:r>
            <a:r>
              <a:rPr lang="en-US" altLang="zh-CN" sz="2000" dirty="0">
                <a:latin typeface="Arial" panose="020B0604020202020204" pitchFamily="34" charset="0"/>
                <a:cs typeface="Arial" panose="020B0604020202020204" pitchFamily="34" charset="0"/>
              </a:rPr>
              <a:t> values of all neighbors are averaged periodically to obtain single receive delay</a:t>
            </a:r>
          </a:p>
        </p:txBody>
      </p:sp>
    </p:spTree>
    <p:extLst>
      <p:ext uri="{BB962C8B-B14F-4D97-AF65-F5344CB8AC3E}">
        <p14:creationId xmlns:p14="http://schemas.microsoft.com/office/powerpoint/2010/main" val="1491306376"/>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SPEED</a:t>
            </a:r>
            <a:r>
              <a:rPr lang="en-US" altLang="zh-CN" dirty="0">
                <a:latin typeface="Arial" panose="020B0604020202020204" pitchFamily="34" charset="0"/>
                <a:cs typeface="Arial" panose="020B0604020202020204" pitchFamily="34" charset="0"/>
              </a:rPr>
              <a:t>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01912"/>
            <a:ext cx="10515600" cy="5152224"/>
          </a:xfrm>
        </p:spPr>
        <p:txBody>
          <a:bodyPr>
            <a:normAutofit fontScale="85000" lnSpcReduction="20000"/>
          </a:bodyPr>
          <a:lstStyle/>
          <a:p>
            <a:pPr>
              <a:lnSpc>
                <a:spcPct val="140000"/>
              </a:lnSpc>
              <a:spcBef>
                <a:spcPts val="0"/>
              </a:spcBef>
            </a:pPr>
            <a:r>
              <a:rPr lang="en-US" altLang="zh-CN" dirty="0">
                <a:latin typeface="Arial" panose="020B0604020202020204" pitchFamily="34" charset="0"/>
                <a:cs typeface="Arial" panose="020B0604020202020204" pitchFamily="34" charset="0"/>
              </a:rPr>
              <a:t>Routing component: </a:t>
            </a:r>
            <a:r>
              <a:rPr lang="en-US" altLang="zh-CN" dirty="0">
                <a:solidFill>
                  <a:srgbClr val="FF0000"/>
                </a:solidFill>
                <a:latin typeface="Arial" panose="020B0604020202020204" pitchFamily="34" charset="0"/>
                <a:cs typeface="Arial" panose="020B0604020202020204" pitchFamily="34" charset="0"/>
              </a:rPr>
              <a:t>Stateless Nondeterministic Geographic Forwarding </a:t>
            </a:r>
            <a:r>
              <a:rPr lang="en-US" altLang="zh-CN" dirty="0">
                <a:latin typeface="Arial" panose="020B0604020202020204" pitchFamily="34" charset="0"/>
                <a:cs typeface="Arial" panose="020B0604020202020204" pitchFamily="34" charset="0"/>
              </a:rPr>
              <a:t>(SGNF) </a:t>
            </a:r>
          </a:p>
          <a:p>
            <a:pPr>
              <a:lnSpc>
                <a:spcPct val="140000"/>
              </a:lnSpc>
              <a:spcBef>
                <a:spcPts val="0"/>
              </a:spcBef>
            </a:pPr>
            <a:r>
              <a:rPr lang="en-US" altLang="zh-CN" dirty="0">
                <a:solidFill>
                  <a:srgbClr val="FF0000"/>
                </a:solidFill>
                <a:latin typeface="Arial" panose="020B0604020202020204" pitchFamily="34" charset="0"/>
                <a:cs typeface="Arial" panose="020B0604020202020204" pitchFamily="34" charset="0"/>
              </a:rPr>
              <a:t>Neighbor set </a:t>
            </a:r>
            <a:r>
              <a:rPr lang="en-US" altLang="zh-CN" dirty="0">
                <a:latin typeface="Arial" panose="020B0604020202020204" pitchFamily="34" charset="0"/>
                <a:cs typeface="Arial" panose="020B0604020202020204" pitchFamily="34" charset="0"/>
              </a:rPr>
              <a:t>of </a:t>
            </a:r>
            <a:r>
              <a:rPr lang="en-US" altLang="zh-CN" i="1" dirty="0">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 : neighbors of</a:t>
            </a:r>
            <a:r>
              <a:rPr lang="en-US" altLang="zh-CN" i="1" dirty="0">
                <a:latin typeface="Arial" panose="020B0604020202020204" pitchFamily="34" charset="0"/>
                <a:cs typeface="Arial" panose="020B0604020202020204" pitchFamily="34" charset="0"/>
              </a:rPr>
              <a:t> </a:t>
            </a:r>
            <a:r>
              <a:rPr lang="en-US" altLang="zh-CN" i="1" dirty="0" err="1">
                <a:latin typeface="Arial" panose="020B0604020202020204" pitchFamily="34" charset="0"/>
                <a:cs typeface="Arial" panose="020B0604020202020204" pitchFamily="34" charset="0"/>
              </a:rPr>
              <a:t>i</a:t>
            </a:r>
            <a:r>
              <a:rPr lang="en-US" altLang="zh-CN" i="1"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at least distance </a:t>
            </a:r>
            <a:r>
              <a:rPr lang="en-US" altLang="zh-CN" i="1" dirty="0">
                <a:latin typeface="Arial" panose="020B0604020202020204" pitchFamily="34" charset="0"/>
                <a:cs typeface="Arial" panose="020B0604020202020204" pitchFamily="34" charset="0"/>
              </a:rPr>
              <a:t>K </a:t>
            </a:r>
            <a:r>
              <a:rPr lang="en-US" altLang="zh-CN" dirty="0">
                <a:latin typeface="Arial" panose="020B0604020202020204" pitchFamily="34" charset="0"/>
                <a:cs typeface="Arial" panose="020B0604020202020204" pitchFamily="34" charset="0"/>
              </a:rPr>
              <a:t>away from </a:t>
            </a:r>
            <a:r>
              <a:rPr lang="en-US" altLang="zh-CN" i="1" dirty="0">
                <a:latin typeface="Arial" panose="020B0604020202020204" pitchFamily="34" charset="0"/>
                <a:cs typeface="Arial" panose="020B0604020202020204" pitchFamily="34" charset="0"/>
              </a:rPr>
              <a:t>i </a:t>
            </a:r>
          </a:p>
          <a:p>
            <a:pPr>
              <a:lnSpc>
                <a:spcPct val="140000"/>
              </a:lnSpc>
              <a:spcBef>
                <a:spcPts val="0"/>
              </a:spcBef>
            </a:pPr>
            <a:r>
              <a:rPr lang="en-US" altLang="zh-CN" dirty="0">
                <a:latin typeface="Arial" panose="020B0604020202020204" pitchFamily="34" charset="0"/>
                <a:cs typeface="Arial" panose="020B0604020202020204" pitchFamily="34" charset="0"/>
              </a:rPr>
              <a:t>Forwarding candidate set </a:t>
            </a:r>
            <a:r>
              <a:rPr lang="en-US" altLang="zh-CN" i="1" dirty="0" err="1">
                <a:latin typeface="Arial" panose="020B0604020202020204" pitchFamily="34" charset="0"/>
                <a:cs typeface="Arial" panose="020B0604020202020204" pitchFamily="34" charset="0"/>
              </a:rPr>
              <a:t>FS</a:t>
            </a:r>
            <a:r>
              <a:rPr lang="en-US" altLang="zh-CN" i="1" baseline="-25000" dirty="0" err="1">
                <a:latin typeface="Arial" panose="020B0604020202020204" pitchFamily="34" charset="0"/>
                <a:cs typeface="Arial" panose="020B0604020202020204" pitchFamily="34" charset="0"/>
              </a:rPr>
              <a:t>i</a:t>
            </a:r>
            <a:r>
              <a:rPr lang="en-US" altLang="zh-CN" i="1" baseline="30000" dirty="0" err="1">
                <a:latin typeface="Arial" panose="020B0604020202020204" pitchFamily="34" charset="0"/>
                <a:cs typeface="Arial" panose="020B0604020202020204" pitchFamily="34" charset="0"/>
              </a:rPr>
              <a:t>Dest</a:t>
            </a:r>
            <a:r>
              <a:rPr lang="en-US" altLang="zh-CN" dirty="0">
                <a:latin typeface="Arial" panose="020B0604020202020204" pitchFamily="34" charset="0"/>
                <a:cs typeface="Arial" panose="020B0604020202020204" pitchFamily="34" charset="0"/>
              </a:rPr>
              <a:t>:</a:t>
            </a:r>
            <a:r>
              <a:rPr lang="en-US" altLang="zh-CN" i="1"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all neighbors that are at least distance</a:t>
            </a:r>
            <a:r>
              <a:rPr lang="en-US" altLang="zh-CN" i="1" dirty="0">
                <a:latin typeface="Arial" panose="020B0604020202020204" pitchFamily="34" charset="0"/>
                <a:cs typeface="Arial" panose="020B0604020202020204" pitchFamily="34" charset="0"/>
              </a:rPr>
              <a:t> K </a:t>
            </a:r>
            <a:r>
              <a:rPr lang="en-US" altLang="zh-CN" dirty="0">
                <a:latin typeface="Arial" panose="020B0604020202020204" pitchFamily="34" charset="0"/>
                <a:cs typeface="Arial" panose="020B0604020202020204" pitchFamily="34" charset="0"/>
              </a:rPr>
              <a:t>closer to destination </a:t>
            </a:r>
          </a:p>
          <a:p>
            <a:pPr lvl="1">
              <a:lnSpc>
                <a:spcPct val="140000"/>
              </a:lnSpc>
              <a:spcBef>
                <a:spcPts val="0"/>
              </a:spcBef>
            </a:pPr>
            <a:r>
              <a:rPr lang="en-US" altLang="zh-CN" dirty="0">
                <a:latin typeface="Arial" panose="020B0604020202020204" pitchFamily="34" charset="0"/>
                <a:cs typeface="Arial" panose="020B0604020202020204" pitchFamily="34" charset="0"/>
              </a:rPr>
              <a:t>neighbor </a:t>
            </a:r>
            <a:r>
              <a:rPr lang="en-US" altLang="zh-CN" i="1" dirty="0">
                <a:latin typeface="Arial" panose="020B0604020202020204" pitchFamily="34" charset="0"/>
                <a:cs typeface="Arial" panose="020B0604020202020204" pitchFamily="34" charset="0"/>
              </a:rPr>
              <a:t>j</a:t>
            </a:r>
            <a:r>
              <a:rPr lang="en-US" altLang="zh-CN" dirty="0">
                <a:latin typeface="Arial" panose="020B0604020202020204" pitchFamily="34" charset="0"/>
                <a:cs typeface="Arial" panose="020B0604020202020204" pitchFamily="34" charset="0"/>
              </a:rPr>
              <a:t>  is in set if  </a:t>
            </a:r>
            <a:r>
              <a:rPr lang="en-US" altLang="zh-CN" i="1" dirty="0">
                <a:latin typeface="Arial" panose="020B0604020202020204" pitchFamily="34" charset="0"/>
                <a:cs typeface="Arial" panose="020B0604020202020204" pitchFamily="34" charset="0"/>
              </a:rPr>
              <a:t>L-</a:t>
            </a:r>
            <a:r>
              <a:rPr lang="en-US" altLang="zh-CN" i="1" dirty="0" err="1">
                <a:latin typeface="Arial" panose="020B0604020202020204" pitchFamily="34" charset="0"/>
                <a:cs typeface="Arial" panose="020B0604020202020204" pitchFamily="34" charset="0"/>
              </a:rPr>
              <a:t>L</a:t>
            </a:r>
            <a:r>
              <a:rPr lang="en-US" altLang="zh-CN" i="1" baseline="-25000" dirty="0" err="1">
                <a:latin typeface="Arial" panose="020B0604020202020204" pitchFamily="34" charset="0"/>
                <a:cs typeface="Arial" panose="020B0604020202020204" pitchFamily="34" charset="0"/>
              </a:rPr>
              <a:t>next</a:t>
            </a:r>
            <a:r>
              <a:rPr lang="en-US" altLang="zh-CN" dirty="0">
                <a:latin typeface="Arial" panose="020B0604020202020204" pitchFamily="34" charset="0"/>
                <a:cs typeface="Arial" panose="020B0604020202020204" pitchFamily="34" charset="0"/>
              </a:rPr>
              <a:t>≥ </a:t>
            </a:r>
            <a:r>
              <a:rPr lang="en-US" altLang="zh-CN" i="1" dirty="0">
                <a:latin typeface="Arial" panose="020B0604020202020204" pitchFamily="34" charset="0"/>
                <a:cs typeface="Arial" panose="020B0604020202020204" pitchFamily="34" charset="0"/>
              </a:rPr>
              <a:t>K</a:t>
            </a:r>
            <a:r>
              <a:rPr lang="en-US" altLang="zh-CN" dirty="0">
                <a:latin typeface="Arial" panose="020B0604020202020204" pitchFamily="34" charset="0"/>
                <a:cs typeface="Arial" panose="020B0604020202020204" pitchFamily="34" charset="0"/>
              </a:rPr>
              <a:t> </a:t>
            </a:r>
          </a:p>
          <a:p>
            <a:pPr lvl="2">
              <a:lnSpc>
                <a:spcPct val="140000"/>
              </a:lnSpc>
              <a:spcBef>
                <a:spcPts val="0"/>
              </a:spcBef>
            </a:pPr>
            <a:r>
              <a:rPr lang="en-US" altLang="zh-CN" i="1" dirty="0">
                <a:latin typeface="Arial" panose="020B0604020202020204" pitchFamily="34" charset="0"/>
                <a:cs typeface="Arial" panose="020B0604020202020204" pitchFamily="34" charset="0"/>
              </a:rPr>
              <a:t>L </a:t>
            </a:r>
            <a:r>
              <a:rPr lang="en-US" altLang="zh-CN" dirty="0">
                <a:latin typeface="Arial" panose="020B0604020202020204" pitchFamily="34" charset="0"/>
                <a:cs typeface="Arial" panose="020B0604020202020204" pitchFamily="34" charset="0"/>
              </a:rPr>
              <a:t>= </a:t>
            </a:r>
            <a:r>
              <a:rPr lang="en-US" altLang="zh-CN" i="1" dirty="0">
                <a:latin typeface="Arial" panose="020B0604020202020204" pitchFamily="34" charset="0"/>
                <a:cs typeface="Arial" panose="020B0604020202020204" pitchFamily="34" charset="0"/>
              </a:rPr>
              <a:t>d(</a:t>
            </a:r>
            <a:r>
              <a:rPr lang="en-US" altLang="zh-CN" i="1" dirty="0" err="1">
                <a:latin typeface="Arial" panose="020B0604020202020204" pitchFamily="34" charset="0"/>
                <a:cs typeface="Arial" panose="020B0604020202020204" pitchFamily="34" charset="0"/>
              </a:rPr>
              <a:t>i,dest</a:t>
            </a:r>
            <a:r>
              <a:rPr lang="en-US" altLang="zh-CN" i="1" dirty="0">
                <a:latin typeface="Arial" panose="020B0604020202020204" pitchFamily="34" charset="0"/>
                <a:cs typeface="Arial" panose="020B0604020202020204" pitchFamily="34" charset="0"/>
              </a:rPr>
              <a:t>)</a:t>
            </a:r>
          </a:p>
          <a:p>
            <a:pPr lvl="2">
              <a:lnSpc>
                <a:spcPct val="140000"/>
              </a:lnSpc>
              <a:spcBef>
                <a:spcPts val="0"/>
              </a:spcBef>
            </a:pPr>
            <a:r>
              <a:rPr lang="en-US" altLang="zh-CN" i="1" dirty="0" err="1">
                <a:latin typeface="Arial" panose="020B0604020202020204" pitchFamily="34" charset="0"/>
                <a:cs typeface="Arial" panose="020B0604020202020204" pitchFamily="34" charset="0"/>
              </a:rPr>
              <a:t>L</a:t>
            </a:r>
            <a:r>
              <a:rPr lang="en-US" altLang="zh-CN" i="1" baseline="-25000" dirty="0" err="1">
                <a:latin typeface="Arial" panose="020B0604020202020204" pitchFamily="34" charset="0"/>
                <a:cs typeface="Arial" panose="020B0604020202020204" pitchFamily="34" charset="0"/>
              </a:rPr>
              <a:t>next</a:t>
            </a:r>
            <a:r>
              <a:rPr lang="en-US" altLang="zh-CN" i="1" dirty="0">
                <a:latin typeface="Arial" panose="020B0604020202020204" pitchFamily="34" charset="0"/>
                <a:cs typeface="Arial" panose="020B0604020202020204" pitchFamily="34" charset="0"/>
              </a:rPr>
              <a:t> = d(</a:t>
            </a:r>
            <a:r>
              <a:rPr lang="en-US" altLang="zh-CN" i="1" dirty="0" err="1">
                <a:latin typeface="Arial" panose="020B0604020202020204" pitchFamily="34" charset="0"/>
                <a:cs typeface="Arial" panose="020B0604020202020204" pitchFamily="34" charset="0"/>
              </a:rPr>
              <a:t>j,dest</a:t>
            </a:r>
            <a:r>
              <a:rPr lang="en-US" altLang="zh-CN" i="1" dirty="0">
                <a:latin typeface="Arial" panose="020B0604020202020204" pitchFamily="34" charset="0"/>
                <a:cs typeface="Arial" panose="020B0604020202020204" pitchFamily="34" charset="0"/>
              </a:rPr>
              <a:t>) </a:t>
            </a:r>
          </a:p>
          <a:p>
            <a:pPr>
              <a:lnSpc>
                <a:spcPct val="140000"/>
              </a:lnSpc>
              <a:spcBef>
                <a:spcPts val="0"/>
              </a:spcBef>
            </a:pPr>
            <a:r>
              <a:rPr lang="en-US" altLang="zh-CN" dirty="0">
                <a:latin typeface="Arial" panose="020B0604020202020204" pitchFamily="34" charset="0"/>
                <a:cs typeface="Arial" panose="020B0604020202020204" pitchFamily="34" charset="0"/>
              </a:rPr>
              <a:t>Packets are forwarded to nodes in </a:t>
            </a:r>
            <a:r>
              <a:rPr lang="en-US" altLang="zh-CN" i="1" dirty="0" err="1">
                <a:latin typeface="Arial" panose="020B0604020202020204" pitchFamily="34" charset="0"/>
                <a:cs typeface="Arial" panose="020B0604020202020204" pitchFamily="34" charset="0"/>
              </a:rPr>
              <a:t>FS</a:t>
            </a:r>
            <a:r>
              <a:rPr lang="en-US" altLang="zh-CN" i="1" baseline="-25000" dirty="0" err="1">
                <a:latin typeface="Arial" panose="020B0604020202020204" pitchFamily="34" charset="0"/>
                <a:cs typeface="Arial" panose="020B0604020202020204" pitchFamily="34" charset="0"/>
              </a:rPr>
              <a:t>i</a:t>
            </a:r>
            <a:r>
              <a:rPr lang="en-US" altLang="zh-CN" i="1" baseline="30000" dirty="0" err="1">
                <a:latin typeface="Arial" panose="020B0604020202020204" pitchFamily="34" charset="0"/>
                <a:cs typeface="Arial" panose="020B0604020202020204" pitchFamily="34" charset="0"/>
              </a:rPr>
              <a:t>Dest</a:t>
            </a:r>
            <a:r>
              <a:rPr lang="en-US" altLang="zh-CN" i="1" baseline="30000"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only; if empty, packet is dropped </a:t>
            </a:r>
          </a:p>
          <a:p>
            <a:pPr>
              <a:lnSpc>
                <a:spcPct val="140000"/>
              </a:lnSpc>
              <a:spcBef>
                <a:spcPts val="0"/>
              </a:spcBef>
            </a:pPr>
            <a:r>
              <a:rPr lang="en-US" altLang="zh-CN" i="1" dirty="0" err="1">
                <a:latin typeface="Arial" panose="020B0604020202020204" pitchFamily="34" charset="0"/>
                <a:cs typeface="Arial" panose="020B0604020202020204" pitchFamily="34" charset="0"/>
              </a:rPr>
              <a:t>FS</a:t>
            </a:r>
            <a:r>
              <a:rPr lang="en-US" altLang="zh-CN" i="1" baseline="-25000" dirty="0" err="1">
                <a:latin typeface="Arial" panose="020B0604020202020204" pitchFamily="34" charset="0"/>
                <a:cs typeface="Arial" panose="020B0604020202020204" pitchFamily="34" charset="0"/>
              </a:rPr>
              <a:t>i</a:t>
            </a:r>
            <a:r>
              <a:rPr lang="en-US" altLang="zh-CN" i="1" baseline="30000" dirty="0" err="1">
                <a:latin typeface="Arial" panose="020B0604020202020204" pitchFamily="34" charset="0"/>
                <a:cs typeface="Arial" panose="020B0604020202020204" pitchFamily="34" charset="0"/>
              </a:rPr>
              <a:t>Dest</a:t>
            </a:r>
            <a:r>
              <a:rPr lang="en-US" altLang="zh-CN" i="1"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further subdivided:</a:t>
            </a:r>
          </a:p>
          <a:p>
            <a:pPr lvl="1">
              <a:lnSpc>
                <a:spcPct val="140000"/>
              </a:lnSpc>
              <a:spcBef>
                <a:spcPts val="0"/>
              </a:spcBef>
            </a:pPr>
            <a:r>
              <a:rPr lang="en-US" altLang="zh-CN" dirty="0">
                <a:latin typeface="Arial" panose="020B0604020202020204" pitchFamily="34" charset="0"/>
                <a:cs typeface="Arial" panose="020B0604020202020204" pitchFamily="34" charset="0"/>
              </a:rPr>
              <a:t>set of nodes with </a:t>
            </a:r>
            <a:r>
              <a:rPr lang="en-US" altLang="zh-CN" dirty="0" err="1">
                <a:latin typeface="Arial" panose="020B0604020202020204" pitchFamily="34" charset="0"/>
                <a:cs typeface="Arial" panose="020B0604020202020204" pitchFamily="34" charset="0"/>
              </a:rPr>
              <a:t>SendToDelay</a:t>
            </a:r>
            <a:r>
              <a:rPr lang="en-US" altLang="zh-CN" dirty="0">
                <a:latin typeface="Arial" panose="020B0604020202020204" pitchFamily="34" charset="0"/>
                <a:cs typeface="Arial" panose="020B0604020202020204" pitchFamily="34" charset="0"/>
              </a:rPr>
              <a:t> less than certain single hop delay D</a:t>
            </a:r>
          </a:p>
          <a:p>
            <a:pPr lvl="1">
              <a:lnSpc>
                <a:spcPct val="140000"/>
              </a:lnSpc>
              <a:spcBef>
                <a:spcPts val="0"/>
              </a:spcBef>
            </a:pPr>
            <a:r>
              <a:rPr lang="en-US" altLang="zh-CN" dirty="0">
                <a:latin typeface="Arial" panose="020B0604020202020204" pitchFamily="34" charset="0"/>
                <a:cs typeface="Arial" panose="020B0604020202020204" pitchFamily="34" charset="0"/>
              </a:rPr>
              <a:t>set of all other nodes</a:t>
            </a:r>
          </a:p>
        </p:txBody>
      </p:sp>
    </p:spTree>
    <p:extLst>
      <p:ext uri="{BB962C8B-B14F-4D97-AF65-F5344CB8AC3E}">
        <p14:creationId xmlns:p14="http://schemas.microsoft.com/office/powerpoint/2010/main" val="1787607453"/>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SPEED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741286"/>
            <a:ext cx="10827058" cy="5116714"/>
          </a:xfrm>
        </p:spPr>
        <p:txBody>
          <a:bodyPr>
            <a:normAutofit fontScale="92500" lnSpcReduction="20000"/>
          </a:bodyPr>
          <a:lstStyle/>
          <a:p>
            <a:pPr>
              <a:lnSpc>
                <a:spcPct val="140000"/>
              </a:lnSpc>
            </a:pPr>
            <a:r>
              <a:rPr lang="en-US" altLang="zh-CN" sz="2400" dirty="0">
                <a:latin typeface="Arial" panose="020B0604020202020204" pitchFamily="34" charset="0"/>
                <a:cs typeface="Arial" panose="020B0604020202020204" pitchFamily="34" charset="0"/>
              </a:rPr>
              <a:t>Forwarding candidate is selected from first group where nodes with higher relay speed have a greater chance of being selected. </a:t>
            </a:r>
          </a:p>
          <a:p>
            <a:pPr>
              <a:lnSpc>
                <a:spcPct val="140000"/>
              </a:lnSpc>
            </a:pPr>
            <a:r>
              <a:rPr lang="en-US" altLang="zh-CN" sz="2400" dirty="0">
                <a:latin typeface="Arial" panose="020B0604020202020204" pitchFamily="34" charset="0"/>
                <a:cs typeface="Arial" panose="020B0604020202020204" pitchFamily="34" charset="0"/>
              </a:rPr>
              <a:t>Relay speed considers both distance and delays: </a:t>
            </a:r>
          </a:p>
          <a:p>
            <a:pPr>
              <a:lnSpc>
                <a:spcPct val="140000"/>
              </a:lnSpc>
            </a:pPr>
            <a:endParaRPr lang="en-US" altLang="zh-CN" sz="2400" dirty="0">
              <a:latin typeface="Arial" panose="020B0604020202020204" pitchFamily="34" charset="0"/>
              <a:cs typeface="Arial" panose="020B0604020202020204" pitchFamily="34" charset="0"/>
            </a:endParaRPr>
          </a:p>
          <a:p>
            <a:pPr marL="0" indent="0">
              <a:lnSpc>
                <a:spcPct val="140000"/>
              </a:lnSpc>
              <a:buNone/>
            </a:pPr>
            <a:endParaRPr lang="en-US" altLang="zh-CN" sz="2400" dirty="0">
              <a:latin typeface="Arial" panose="020B0604020202020204" pitchFamily="34" charset="0"/>
              <a:cs typeface="Arial" panose="020B0604020202020204" pitchFamily="34" charset="0"/>
            </a:endParaRPr>
          </a:p>
          <a:p>
            <a:pPr>
              <a:lnSpc>
                <a:spcPct val="140000"/>
              </a:lnSpc>
            </a:pPr>
            <a:r>
              <a:rPr lang="en-US" altLang="zh-CN" sz="2400" dirty="0">
                <a:latin typeface="Arial" panose="020B0604020202020204" pitchFamily="34" charset="0"/>
                <a:cs typeface="Arial" panose="020B0604020202020204" pitchFamily="34" charset="0"/>
              </a:rPr>
              <a:t>If there are no nodes in the first set, a relay ratio can be calculated, based on </a:t>
            </a:r>
            <a:r>
              <a:rPr lang="en-US" altLang="zh-CN" sz="2400" dirty="0" err="1">
                <a:latin typeface="Arial" panose="020B0604020202020204" pitchFamily="34" charset="0"/>
                <a:cs typeface="Arial" panose="020B0604020202020204" pitchFamily="34" charset="0"/>
              </a:rPr>
              <a:t>SPEEDʼs</a:t>
            </a:r>
            <a:r>
              <a:rPr lang="en-US" altLang="zh-CN" sz="2400" dirty="0">
                <a:latin typeface="Arial" panose="020B0604020202020204" pitchFamily="34" charset="0"/>
                <a:cs typeface="Arial" panose="020B0604020202020204" pitchFamily="34" charset="0"/>
              </a:rPr>
              <a:t> neighborhood feedback loop</a:t>
            </a:r>
          </a:p>
          <a:p>
            <a:pPr lvl="1">
              <a:lnSpc>
                <a:spcPct val="140000"/>
              </a:lnSpc>
            </a:pPr>
            <a:r>
              <a:rPr lang="en-US" altLang="zh-CN" sz="2000" dirty="0">
                <a:latin typeface="Arial" panose="020B0604020202020204" pitchFamily="34" charset="0"/>
                <a:cs typeface="Arial" panose="020B0604020202020204" pitchFamily="34" charset="0"/>
              </a:rPr>
              <a:t>responsible for determining relay ratio by looking at miss ratios of neighbors</a:t>
            </a:r>
          </a:p>
          <a:p>
            <a:pPr lvl="1">
              <a:lnSpc>
                <a:spcPct val="140000"/>
              </a:lnSpc>
            </a:pPr>
            <a:r>
              <a:rPr lang="en-US" altLang="zh-CN" sz="2000" dirty="0">
                <a:latin typeface="Arial" panose="020B0604020202020204" pitchFamily="34" charset="0"/>
                <a:cs typeface="Arial" panose="020B0604020202020204" pitchFamily="34" charset="0"/>
              </a:rPr>
              <a:t>if relay ratio is less than randomly selected number between 0 and 1, packet is dropped </a:t>
            </a:r>
          </a:p>
          <a:p>
            <a:pPr lvl="1">
              <a:lnSpc>
                <a:spcPct val="140000"/>
              </a:lnSpc>
            </a:pPr>
            <a:r>
              <a:rPr lang="en-US" altLang="zh-CN" sz="2000" dirty="0">
                <a:latin typeface="Arial" panose="020B0604020202020204" pitchFamily="34" charset="0"/>
                <a:cs typeface="Arial" panose="020B0604020202020204" pitchFamily="34" charset="0"/>
              </a:rPr>
              <a:t>goal is to keep system performance at desired value, attempting to keep single hop delay below D</a:t>
            </a:r>
            <a:endParaRPr lang="zh-CN" altLang="en-US" sz="2000" dirty="0">
              <a:latin typeface="Arial" panose="020B0604020202020204" pitchFamily="34" charset="0"/>
              <a:cs typeface="Arial" panose="020B0604020202020204" pitchFamily="34" charset="0"/>
            </a:endParaRP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2950" y="3245713"/>
            <a:ext cx="308610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6371324"/>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SPEED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754604"/>
            <a:ext cx="11244309" cy="4351338"/>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Back-pressure rerouting protocol of SPEED is responsible for</a:t>
            </a:r>
          </a:p>
          <a:p>
            <a:pPr lvl="1">
              <a:lnSpc>
                <a:spcPct val="120000"/>
              </a:lnSpc>
            </a:pPr>
            <a:r>
              <a:rPr lang="en-US" altLang="zh-CN" sz="2000" dirty="0">
                <a:latin typeface="Arial" panose="020B0604020202020204" pitchFamily="34" charset="0"/>
                <a:cs typeface="Arial" panose="020B0604020202020204" pitchFamily="34" charset="0"/>
              </a:rPr>
              <a:t>preventing voids that occur when nodes fail to find next hop node </a:t>
            </a:r>
          </a:p>
          <a:p>
            <a:pPr lvl="1">
              <a:lnSpc>
                <a:spcPct val="120000"/>
              </a:lnSpc>
            </a:pPr>
            <a:r>
              <a:rPr lang="en-US" altLang="zh-CN" sz="2000" dirty="0">
                <a:latin typeface="Arial" panose="020B0604020202020204" pitchFamily="34" charset="0"/>
                <a:cs typeface="Arial" panose="020B0604020202020204" pitchFamily="34" charset="0"/>
              </a:rPr>
              <a:t>reducing congestion using a feedback approach</a:t>
            </a:r>
            <a:endParaRPr lang="zh-CN" altLang="en-US" sz="2000" dirty="0">
              <a:latin typeface="Arial" panose="020B0604020202020204" pitchFamily="34" charset="0"/>
              <a:cs typeface="Arial" panose="020B0604020202020204" pitchFamily="34" charset="0"/>
            </a:endParaRPr>
          </a:p>
        </p:txBody>
      </p:sp>
      <p:pic>
        <p:nvPicPr>
          <p:cNvPr id="1536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19173"/>
          <a:stretch/>
        </p:blipFill>
        <p:spPr bwMode="auto">
          <a:xfrm>
            <a:off x="1986795" y="3177661"/>
            <a:ext cx="8218410" cy="3199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9078359"/>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Summary </a:t>
            </a:r>
            <a:endParaRPr lang="zh-CN" altLang="en-US" b="1" dirty="0">
              <a:latin typeface="Arial" panose="020B0604020202020204" pitchFamily="34" charset="0"/>
              <a:cs typeface="Arial" panose="020B0604020202020204" pitchFamily="34" charset="0"/>
            </a:endParaRP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6474" y="800591"/>
            <a:ext cx="6868524" cy="5768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391165"/>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943100" y="2693987"/>
            <a:ext cx="8305800" cy="1470025"/>
          </a:xfrm>
        </p:spPr>
        <p:txBody>
          <a:bodyPr>
            <a:normAutofit fontScale="90000"/>
          </a:bodyPr>
          <a:lstStyle/>
          <a:p>
            <a:pPr>
              <a:lnSpc>
                <a:spcPct val="120000"/>
              </a:lnSpc>
            </a:pPr>
            <a:r>
              <a:rPr lang="en-US" altLang="zh-CN" sz="4900" b="1" dirty="0">
                <a:solidFill>
                  <a:schemeClr val="accent1">
                    <a:lumMod val="75000"/>
                  </a:schemeClr>
                </a:solidFill>
                <a:latin typeface="微软雅黑" panose="020B0503020204020204" pitchFamily="34" charset="-122"/>
                <a:ea typeface="微软雅黑" panose="020B0503020204020204" pitchFamily="34" charset="-122"/>
              </a:rPr>
              <a:t>Chapter</a:t>
            </a:r>
            <a:r>
              <a:rPr lang="en-US" altLang="zh-CN" b="1" dirty="0"/>
              <a:t> </a:t>
            </a:r>
            <a:r>
              <a:rPr lang="en-US" altLang="zh-CN" sz="4900" b="1" dirty="0">
                <a:solidFill>
                  <a:schemeClr val="accent1">
                    <a:lumMod val="75000"/>
                  </a:schemeClr>
                </a:solidFill>
                <a:latin typeface="微软雅黑" panose="020B0503020204020204" pitchFamily="34" charset="-122"/>
                <a:ea typeface="微软雅黑" panose="020B0503020204020204" pitchFamily="34" charset="-122"/>
              </a:rPr>
              <a:t>7</a:t>
            </a:r>
            <a:br>
              <a:rPr lang="en-US" altLang="zh-CN" b="1" dirty="0"/>
            </a:br>
            <a:r>
              <a:rPr lang="en-US" altLang="zh-CN" sz="4900" b="1" dirty="0">
                <a:latin typeface="微软雅黑" panose="020B0503020204020204" pitchFamily="34" charset="-122"/>
                <a:ea typeface="微软雅黑" panose="020B0503020204020204" pitchFamily="34" charset="-122"/>
              </a:rPr>
              <a:t>Time Synchronization </a:t>
            </a:r>
            <a:endParaRPr lang="zh-CN" altLang="en-US" sz="49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91632668"/>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Roadmap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dirty="0">
                <a:latin typeface="Arial" panose="020B0604020202020204" pitchFamily="34" charset="0"/>
                <a:cs typeface="Arial" panose="020B0604020202020204" pitchFamily="34" charset="0"/>
              </a:rPr>
              <a:t>The time synchronization problem</a:t>
            </a:r>
          </a:p>
          <a:p>
            <a:pPr>
              <a:lnSpc>
                <a:spcPct val="120000"/>
              </a:lnSpc>
            </a:pPr>
            <a:r>
              <a:rPr lang="en-US" altLang="zh-CN" dirty="0">
                <a:latin typeface="Arial" panose="020B0604020202020204" pitchFamily="34" charset="0"/>
                <a:cs typeface="Arial" panose="020B0604020202020204" pitchFamily="34" charset="0"/>
              </a:rPr>
              <a:t>Time synchronization in wireless sensor networks</a:t>
            </a:r>
          </a:p>
          <a:p>
            <a:pPr>
              <a:lnSpc>
                <a:spcPct val="120000"/>
              </a:lnSpc>
            </a:pPr>
            <a:r>
              <a:rPr lang="en-US" altLang="zh-CN" dirty="0">
                <a:latin typeface="Arial" panose="020B0604020202020204" pitchFamily="34" charset="0"/>
                <a:cs typeface="Arial" panose="020B0604020202020204" pitchFamily="34" charset="0"/>
              </a:rPr>
              <a:t>Basic techniques for time synchronization</a:t>
            </a:r>
          </a:p>
          <a:p>
            <a:pPr>
              <a:lnSpc>
                <a:spcPct val="120000"/>
              </a:lnSpc>
            </a:pPr>
            <a:r>
              <a:rPr lang="en-US" altLang="zh-CN" dirty="0">
                <a:latin typeface="Arial" panose="020B0604020202020204" pitchFamily="34" charset="0"/>
                <a:cs typeface="Arial" panose="020B0604020202020204" pitchFamily="34" charset="0"/>
              </a:rPr>
              <a:t>Time synchronization protocols</a:t>
            </a:r>
            <a:endParaRPr lang="en-US" altLang="zh-C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4866000"/>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7153" y="350836"/>
            <a:ext cx="10621109" cy="944562"/>
          </a:xfrm>
        </p:spPr>
        <p:txBody>
          <a:bodyPr>
            <a:normAutofit fontScale="90000"/>
          </a:bodyPr>
          <a:lstStyle/>
          <a:p>
            <a:r>
              <a:rPr lang="en-US" altLang="zh-CN" b="1" dirty="0">
                <a:latin typeface="Arial" panose="020B0604020202020204" pitchFamily="34" charset="0"/>
                <a:cs typeface="Arial" panose="020B0604020202020204" pitchFamily="34" charset="0"/>
              </a:rPr>
              <a:t>Clocks and the Synchronization Problem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1078523" y="1447801"/>
            <a:ext cx="10873154" cy="5059363"/>
          </a:xfrm>
        </p:spPr>
        <p:txBody>
          <a:bodyPr>
            <a:normAutofit/>
          </a:bodyPr>
          <a:lstStyle/>
          <a:p>
            <a:pPr>
              <a:lnSpc>
                <a:spcPct val="120000"/>
              </a:lnSpc>
            </a:pPr>
            <a:r>
              <a:rPr lang="en-US" altLang="zh-CN" dirty="0">
                <a:latin typeface="Arial" panose="020B0604020202020204" pitchFamily="34" charset="0"/>
                <a:cs typeface="Arial" panose="020B0604020202020204" pitchFamily="34" charset="0"/>
              </a:rPr>
              <a:t>Common time scale among sensor nodes is important for a variety of reasons   </a:t>
            </a:r>
          </a:p>
          <a:p>
            <a:pPr lvl="1">
              <a:lnSpc>
                <a:spcPct val="120000"/>
              </a:lnSpc>
            </a:pPr>
            <a:r>
              <a:rPr lang="en-US" altLang="zh-CN" dirty="0">
                <a:latin typeface="Arial" panose="020B0604020202020204" pitchFamily="34" charset="0"/>
                <a:cs typeface="Arial" panose="020B0604020202020204" pitchFamily="34" charset="0"/>
              </a:rPr>
              <a:t>identify causal relationships between events in the physical world</a:t>
            </a:r>
          </a:p>
          <a:p>
            <a:pPr lvl="1">
              <a:lnSpc>
                <a:spcPct val="120000"/>
              </a:lnSpc>
            </a:pPr>
            <a:r>
              <a:rPr lang="en-US" altLang="zh-CN" dirty="0">
                <a:latin typeface="Arial" panose="020B0604020202020204" pitchFamily="34" charset="0"/>
                <a:cs typeface="Arial" panose="020B0604020202020204" pitchFamily="34" charset="0"/>
              </a:rPr>
              <a:t>support the elimination of redundant data</a:t>
            </a:r>
          </a:p>
          <a:p>
            <a:pPr lvl="1">
              <a:lnSpc>
                <a:spcPct val="120000"/>
              </a:lnSpc>
            </a:pPr>
            <a:r>
              <a:rPr lang="en-US" altLang="zh-CN" dirty="0">
                <a:latin typeface="Arial" panose="020B0604020202020204" pitchFamily="34" charset="0"/>
                <a:cs typeface="Arial" panose="020B0604020202020204" pitchFamily="34" charset="0"/>
              </a:rPr>
              <a:t>facilitate sensor network operation and protocols</a:t>
            </a:r>
          </a:p>
          <a:p>
            <a:pPr>
              <a:lnSpc>
                <a:spcPct val="120000"/>
              </a:lnSpc>
            </a:pPr>
            <a:r>
              <a:rPr lang="en-US" altLang="zh-CN" dirty="0">
                <a:latin typeface="Arial" panose="020B0604020202020204" pitchFamily="34" charset="0"/>
                <a:cs typeface="Arial" panose="020B0604020202020204" pitchFamily="34" charset="0"/>
              </a:rPr>
              <a:t>Typical clocks consist of quartz-stabilized oscillator (</a:t>
            </a:r>
            <a:r>
              <a:rPr lang="zh-CN" altLang="en-US" dirty="0">
                <a:latin typeface="Arial" panose="020B0604020202020204" pitchFamily="34" charset="0"/>
                <a:cs typeface="Arial" panose="020B0604020202020204" pitchFamily="34" charset="0"/>
              </a:rPr>
              <a:t>石英震荡器</a:t>
            </a:r>
            <a:r>
              <a:rPr lang="en-US" altLang="zh-CN" dirty="0">
                <a:latin typeface="Arial" panose="020B0604020202020204" pitchFamily="34" charset="0"/>
                <a:cs typeface="Arial" panose="020B0604020202020204" pitchFamily="34" charset="0"/>
              </a:rPr>
              <a:t>) and a counter that is decremented with every oscillation of the quartz crystal</a:t>
            </a:r>
          </a:p>
        </p:txBody>
      </p:sp>
    </p:spTree>
    <p:extLst>
      <p:ext uri="{BB962C8B-B14F-4D97-AF65-F5344CB8AC3E}">
        <p14:creationId xmlns:p14="http://schemas.microsoft.com/office/powerpoint/2010/main" val="3927057264"/>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7153" y="350836"/>
            <a:ext cx="10099431" cy="944562"/>
          </a:xfrm>
        </p:spPr>
        <p:txBody>
          <a:bodyPr>
            <a:normAutofit fontScale="90000"/>
          </a:bodyPr>
          <a:lstStyle/>
          <a:p>
            <a:r>
              <a:rPr lang="en-US" altLang="zh-CN" b="1" dirty="0">
                <a:latin typeface="Arial" panose="020B0604020202020204" pitchFamily="34" charset="0"/>
                <a:cs typeface="Arial" panose="020B0604020202020204" pitchFamily="34" charset="0"/>
              </a:rPr>
              <a:t>Clocks and the Synchronization Problem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1078523" y="1447801"/>
            <a:ext cx="10292862" cy="5059363"/>
          </a:xfrm>
        </p:spPr>
        <p:txBody>
          <a:bodyPr>
            <a:normAutofit lnSpcReduction="10000"/>
          </a:bodyPr>
          <a:lstStyle/>
          <a:p>
            <a:pPr>
              <a:lnSpc>
                <a:spcPct val="120000"/>
              </a:lnSpc>
            </a:pPr>
            <a:r>
              <a:rPr lang="en-US" altLang="zh-CN" dirty="0">
                <a:latin typeface="Arial" panose="020B0604020202020204" pitchFamily="34" charset="0"/>
                <a:cs typeface="Arial" panose="020B0604020202020204" pitchFamily="34" charset="0"/>
              </a:rPr>
              <a:t>When counter reaches 0, it is reset to original value and interrupt is generated</a:t>
            </a:r>
          </a:p>
          <a:p>
            <a:pPr>
              <a:lnSpc>
                <a:spcPct val="120000"/>
              </a:lnSpc>
            </a:pPr>
            <a:r>
              <a:rPr lang="en-US" altLang="zh-CN" dirty="0">
                <a:latin typeface="Arial" panose="020B0604020202020204" pitchFamily="34" charset="0"/>
                <a:cs typeface="Arial" panose="020B0604020202020204" pitchFamily="34" charset="0"/>
              </a:rPr>
              <a:t>Each interrupt (</a:t>
            </a:r>
            <a:r>
              <a:rPr lang="en-US" altLang="zh-CN" dirty="0">
                <a:solidFill>
                  <a:schemeClr val="accent1"/>
                </a:solidFill>
                <a:latin typeface="Arial" panose="020B0604020202020204" pitchFamily="34" charset="0"/>
                <a:cs typeface="Arial" panose="020B0604020202020204" pitchFamily="34" charset="0"/>
              </a:rPr>
              <a:t>clock tick</a:t>
            </a:r>
            <a:r>
              <a:rPr lang="en-US" altLang="zh-CN" dirty="0">
                <a:latin typeface="Arial" panose="020B0604020202020204" pitchFamily="34" charset="0"/>
                <a:cs typeface="Arial" panose="020B0604020202020204" pitchFamily="34" charset="0"/>
              </a:rPr>
              <a:t>) increments software clock (another counter)</a:t>
            </a:r>
          </a:p>
          <a:p>
            <a:pPr>
              <a:lnSpc>
                <a:spcPct val="120000"/>
              </a:lnSpc>
            </a:pPr>
            <a:r>
              <a:rPr lang="en-US" altLang="zh-CN" dirty="0">
                <a:latin typeface="Arial" panose="020B0604020202020204" pitchFamily="34" charset="0"/>
                <a:cs typeface="Arial" panose="020B0604020202020204" pitchFamily="34" charset="0"/>
              </a:rPr>
              <a:t>Software clock can be read by applications using API</a:t>
            </a:r>
          </a:p>
          <a:p>
            <a:pPr>
              <a:lnSpc>
                <a:spcPct val="120000"/>
              </a:lnSpc>
            </a:pPr>
            <a:r>
              <a:rPr lang="en-US" altLang="zh-CN" dirty="0">
                <a:latin typeface="Arial" panose="020B0604020202020204" pitchFamily="34" charset="0"/>
                <a:cs typeface="Arial" panose="020B0604020202020204" pitchFamily="34" charset="0"/>
              </a:rPr>
              <a:t>Software clock provides </a:t>
            </a:r>
            <a:r>
              <a:rPr lang="en-US" altLang="zh-CN" dirty="0">
                <a:solidFill>
                  <a:schemeClr val="accent1"/>
                </a:solidFill>
                <a:latin typeface="Arial" panose="020B0604020202020204" pitchFamily="34" charset="0"/>
                <a:cs typeface="Arial" panose="020B0604020202020204" pitchFamily="34" charset="0"/>
              </a:rPr>
              <a:t>local time </a:t>
            </a:r>
            <a:r>
              <a:rPr lang="en-US" altLang="zh-CN" dirty="0">
                <a:latin typeface="Arial" panose="020B0604020202020204" pitchFamily="34" charset="0"/>
                <a:cs typeface="Arial" panose="020B0604020202020204" pitchFamily="34" charset="0"/>
              </a:rPr>
              <a:t>with C(t) being the clock reading at real time t</a:t>
            </a:r>
          </a:p>
          <a:p>
            <a:pPr>
              <a:lnSpc>
                <a:spcPct val="120000"/>
              </a:lnSpc>
            </a:pPr>
            <a:r>
              <a:rPr lang="en-US" altLang="zh-CN" dirty="0">
                <a:latin typeface="Arial" panose="020B0604020202020204" pitchFamily="34" charset="0"/>
                <a:cs typeface="Arial" panose="020B0604020202020204" pitchFamily="34" charset="0"/>
              </a:rPr>
              <a:t>Time </a:t>
            </a:r>
            <a:r>
              <a:rPr lang="en-US" altLang="zh-CN" dirty="0">
                <a:solidFill>
                  <a:schemeClr val="accent1"/>
                </a:solidFill>
                <a:latin typeface="Arial" panose="020B0604020202020204" pitchFamily="34" charset="0"/>
                <a:cs typeface="Arial" panose="020B0604020202020204" pitchFamily="34" charset="0"/>
              </a:rPr>
              <a:t>resolution</a:t>
            </a:r>
            <a:r>
              <a:rPr lang="en-US" altLang="zh-CN" dirty="0">
                <a:latin typeface="Arial" panose="020B0604020202020204" pitchFamily="34" charset="0"/>
                <a:cs typeface="Arial" panose="020B0604020202020204" pitchFamily="34" charset="0"/>
              </a:rPr>
              <a:t> is the distance between two increments (ticks) of software clock</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884961"/>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66446" y="304800"/>
            <a:ext cx="9044354" cy="944562"/>
          </a:xfrm>
        </p:spPr>
        <p:txBody>
          <a:bodyPr/>
          <a:lstStyle/>
          <a:p>
            <a:r>
              <a:rPr lang="en-US" altLang="zh-CN" b="1" dirty="0">
                <a:latin typeface="Arial" panose="020B0604020202020204" pitchFamily="34" charset="0"/>
                <a:cs typeface="Arial" panose="020B0604020202020204" pitchFamily="34" charset="0"/>
              </a:rPr>
              <a:t>Clock Parameters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1166447" y="1431069"/>
            <a:ext cx="5456295" cy="5307082"/>
          </a:xfrm>
        </p:spPr>
        <p:txBody>
          <a:bodyPr>
            <a:normAutofit lnSpcReduction="10000"/>
          </a:bodyPr>
          <a:lstStyle/>
          <a:p>
            <a:pPr>
              <a:lnSpc>
                <a:spcPct val="120000"/>
              </a:lnSpc>
              <a:spcBef>
                <a:spcPts val="0"/>
              </a:spcBef>
            </a:pPr>
            <a:r>
              <a:rPr lang="en-US" altLang="zh-CN" sz="2400" dirty="0">
                <a:solidFill>
                  <a:schemeClr val="accent1"/>
                </a:solidFill>
                <a:latin typeface="Arial" panose="020B0604020202020204" pitchFamily="34" charset="0"/>
                <a:cs typeface="Arial" panose="020B0604020202020204" pitchFamily="34" charset="0"/>
              </a:rPr>
              <a:t>Clock offset</a:t>
            </a:r>
            <a:r>
              <a:rPr lang="en-US" altLang="zh-CN" sz="2400" dirty="0">
                <a:latin typeface="Arial" panose="020B0604020202020204" pitchFamily="34" charset="0"/>
                <a:cs typeface="Arial" panose="020B0604020202020204" pitchFamily="34" charset="0"/>
              </a:rPr>
              <a:t>: difference between the local times of two nodes</a:t>
            </a:r>
          </a:p>
          <a:p>
            <a:pPr>
              <a:lnSpc>
                <a:spcPct val="120000"/>
              </a:lnSpc>
              <a:spcBef>
                <a:spcPts val="0"/>
              </a:spcBef>
            </a:pPr>
            <a:r>
              <a:rPr lang="en-US" altLang="zh-CN" sz="2400" dirty="0">
                <a:solidFill>
                  <a:schemeClr val="accent1"/>
                </a:solidFill>
                <a:latin typeface="Arial" panose="020B0604020202020204" pitchFamily="34" charset="0"/>
                <a:cs typeface="Arial" panose="020B0604020202020204" pitchFamily="34" charset="0"/>
              </a:rPr>
              <a:t>Synchronization</a:t>
            </a:r>
            <a:r>
              <a:rPr lang="en-US" altLang="zh-CN" sz="2400" dirty="0">
                <a:latin typeface="Arial" panose="020B0604020202020204" pitchFamily="34" charset="0"/>
                <a:cs typeface="Arial" panose="020B0604020202020204" pitchFamily="34" charset="0"/>
              </a:rPr>
              <a:t> is required to adjust clock readings such that they match</a:t>
            </a:r>
          </a:p>
          <a:p>
            <a:pPr>
              <a:lnSpc>
                <a:spcPct val="120000"/>
              </a:lnSpc>
              <a:spcBef>
                <a:spcPts val="0"/>
              </a:spcBef>
            </a:pPr>
            <a:r>
              <a:rPr lang="en-US" altLang="zh-CN" sz="2400" dirty="0">
                <a:solidFill>
                  <a:schemeClr val="accent1"/>
                </a:solidFill>
                <a:latin typeface="Arial" panose="020B0604020202020204" pitchFamily="34" charset="0"/>
                <a:cs typeface="Arial" panose="020B0604020202020204" pitchFamily="34" charset="0"/>
              </a:rPr>
              <a:t>Clock rate</a:t>
            </a:r>
            <a:r>
              <a:rPr lang="en-US" altLang="zh-CN" sz="2400" dirty="0">
                <a:latin typeface="Arial" panose="020B0604020202020204" pitchFamily="34" charset="0"/>
                <a:cs typeface="Arial" panose="020B0604020202020204" pitchFamily="34" charset="0"/>
              </a:rPr>
              <a:t>: frequency at which a clock progresses</a:t>
            </a:r>
          </a:p>
          <a:p>
            <a:pPr>
              <a:lnSpc>
                <a:spcPct val="120000"/>
              </a:lnSpc>
              <a:spcBef>
                <a:spcPts val="0"/>
              </a:spcBef>
            </a:pPr>
            <a:r>
              <a:rPr lang="en-US" altLang="zh-CN" sz="2400" dirty="0">
                <a:solidFill>
                  <a:schemeClr val="accent1"/>
                </a:solidFill>
                <a:latin typeface="Arial" panose="020B0604020202020204" pitchFamily="34" charset="0"/>
                <a:cs typeface="Arial" panose="020B0604020202020204" pitchFamily="34" charset="0"/>
              </a:rPr>
              <a:t>Clock skew</a:t>
            </a:r>
            <a:r>
              <a:rPr lang="en-US" altLang="zh-CN" sz="2400" dirty="0">
                <a:latin typeface="Arial" panose="020B0604020202020204" pitchFamily="34" charset="0"/>
                <a:cs typeface="Arial" panose="020B0604020202020204" pitchFamily="34" charset="0"/>
              </a:rPr>
              <a:t>: difference in frequencies of two clocks</a:t>
            </a:r>
          </a:p>
          <a:p>
            <a:pPr>
              <a:lnSpc>
                <a:spcPct val="120000"/>
              </a:lnSpc>
              <a:spcBef>
                <a:spcPts val="0"/>
              </a:spcBef>
            </a:pPr>
            <a:r>
              <a:rPr lang="en-US" altLang="zh-CN" sz="2400" dirty="0">
                <a:latin typeface="Arial" panose="020B0604020202020204" pitchFamily="34" charset="0"/>
                <a:cs typeface="Arial" panose="020B0604020202020204" pitchFamily="34" charset="0"/>
              </a:rPr>
              <a:t>Clock rate </a:t>
            </a:r>
            <a:r>
              <a:rPr lang="en-US" altLang="zh-CN" sz="2400" dirty="0" err="1">
                <a:latin typeface="Arial" panose="020B0604020202020204" pitchFamily="34" charset="0"/>
                <a:cs typeface="Arial" panose="020B0604020202020204" pitchFamily="34" charset="0"/>
              </a:rPr>
              <a:t>dC</a:t>
            </a:r>
            <a:r>
              <a:rPr lang="en-US" altLang="zh-CN" sz="2400" dirty="0">
                <a:latin typeface="Arial" panose="020B0604020202020204" pitchFamily="34" charset="0"/>
                <a:cs typeface="Arial" panose="020B0604020202020204" pitchFamily="34" charset="0"/>
              </a:rPr>
              <a:t>/</a:t>
            </a:r>
            <a:r>
              <a:rPr lang="en-US" altLang="zh-CN" sz="2400" dirty="0" err="1">
                <a:latin typeface="Arial" panose="020B0604020202020204" pitchFamily="34" charset="0"/>
                <a:cs typeface="Arial" panose="020B0604020202020204" pitchFamily="34" charset="0"/>
              </a:rPr>
              <a:t>dt</a:t>
            </a:r>
            <a:r>
              <a:rPr lang="en-US" altLang="zh-CN" sz="2400" dirty="0">
                <a:latin typeface="Arial" panose="020B0604020202020204" pitchFamily="34" charset="0"/>
                <a:cs typeface="Arial" panose="020B0604020202020204" pitchFamily="34" charset="0"/>
              </a:rPr>
              <a:t> depends on temperature, humidity, supply voltage, age of  quartz, etc., resulting in </a:t>
            </a:r>
            <a:r>
              <a:rPr lang="en-US" altLang="zh-CN" sz="2400" dirty="0">
                <a:solidFill>
                  <a:schemeClr val="accent1"/>
                </a:solidFill>
                <a:latin typeface="Arial" panose="020B0604020202020204" pitchFamily="34" charset="0"/>
                <a:cs typeface="Arial" panose="020B0604020202020204" pitchFamily="34" charset="0"/>
              </a:rPr>
              <a:t>drift rate </a:t>
            </a:r>
            <a:r>
              <a:rPr lang="en-US" altLang="zh-CN" sz="2400" dirty="0">
                <a:latin typeface="Arial" panose="020B0604020202020204" pitchFamily="34" charset="0"/>
                <a:cs typeface="Arial" panose="020B0604020202020204" pitchFamily="34" charset="0"/>
              </a:rPr>
              <a:t>(</a:t>
            </a:r>
            <a:r>
              <a:rPr lang="en-US" altLang="zh-CN" sz="2400" dirty="0" err="1">
                <a:latin typeface="Arial" panose="020B0604020202020204" pitchFamily="34" charset="0"/>
                <a:cs typeface="Arial" panose="020B0604020202020204" pitchFamily="34" charset="0"/>
              </a:rPr>
              <a:t>dC</a:t>
            </a:r>
            <a:r>
              <a:rPr lang="en-US" altLang="zh-CN" sz="2400" dirty="0">
                <a:latin typeface="Arial" panose="020B0604020202020204" pitchFamily="34" charset="0"/>
                <a:cs typeface="Arial" panose="020B0604020202020204" pitchFamily="34" charset="0"/>
              </a:rPr>
              <a:t>/dt-1)</a:t>
            </a:r>
            <a:endParaRPr lang="zh-CN" altLang="en-US" sz="2400" dirty="0">
              <a:latin typeface="Arial" panose="020B0604020202020204" pitchFamily="34" charset="0"/>
              <a:cs typeface="Arial" panose="020B0604020202020204" pitchFamily="34" charset="0"/>
            </a:endParaRPr>
          </a:p>
        </p:txBody>
      </p:sp>
      <p:pic>
        <p:nvPicPr>
          <p:cNvPr id="5" name="Picture 2">
            <a:extLst>
              <a:ext uri="{FF2B5EF4-FFF2-40B4-BE49-F238E27FC236}">
                <a16:creationId xmlns:a16="http://schemas.microsoft.com/office/drawing/2014/main" id="{0C344FEF-56DB-495A-BA2F-5E236EF242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2742" y="2098430"/>
            <a:ext cx="5326932" cy="3417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58571"/>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Clock Parameters </a:t>
            </a:r>
            <a:endParaRPr lang="zh-CN" altLang="en-US"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199" y="1825624"/>
                <a:ext cx="10837985" cy="4774467"/>
              </a:xfrm>
            </p:spPr>
            <p:txBody>
              <a:bodyPr>
                <a:normAutofit fontScale="77500" lnSpcReduction="20000"/>
              </a:bodyPr>
              <a:lstStyle/>
              <a:p>
                <a:pPr>
                  <a:lnSpc>
                    <a:spcPct val="130000"/>
                  </a:lnSpc>
                  <a:spcBef>
                    <a:spcPts val="0"/>
                  </a:spcBef>
                </a:pPr>
                <a:r>
                  <a:rPr lang="en-US" altLang="zh-CN" dirty="0">
                    <a:latin typeface="Arial" panose="020B0604020202020204" pitchFamily="34" charset="0"/>
                    <a:cs typeface="Arial" panose="020B0604020202020204" pitchFamily="34" charset="0"/>
                  </a:rPr>
                  <a:t>Maximum drift rate </a:t>
                </a:r>
                <a:r>
                  <a:rPr lang="el-GR" altLang="zh-CN" dirty="0">
                    <a:latin typeface="Arial" panose="020B0604020202020204" pitchFamily="34" charset="0"/>
                    <a:cs typeface="Arial" panose="020B0604020202020204" pitchFamily="34" charset="0"/>
                  </a:rPr>
                  <a:t>ρ </a:t>
                </a:r>
                <a:r>
                  <a:rPr lang="en-US" altLang="zh-CN" dirty="0">
                    <a:latin typeface="Arial" panose="020B0604020202020204" pitchFamily="34" charset="0"/>
                    <a:cs typeface="Arial" panose="020B0604020202020204" pitchFamily="34" charset="0"/>
                  </a:rPr>
                  <a:t>given by manufacturer (typical 1ppm to 100ppm)</a:t>
                </a:r>
              </a:p>
              <a:p>
                <a:pPr>
                  <a:lnSpc>
                    <a:spcPct val="130000"/>
                  </a:lnSpc>
                  <a:spcBef>
                    <a:spcPts val="0"/>
                  </a:spcBef>
                </a:pPr>
                <a:r>
                  <a:rPr lang="en-US" altLang="zh-CN" dirty="0">
                    <a:latin typeface="Arial" panose="020B0604020202020204" pitchFamily="34" charset="0"/>
                    <a:cs typeface="Arial" panose="020B0604020202020204" pitchFamily="34" charset="0"/>
                  </a:rPr>
                  <a:t>Guarantees that:</a:t>
                </a:r>
              </a:p>
              <a:p>
                <a:pPr marL="0" indent="0">
                  <a:lnSpc>
                    <a:spcPct val="130000"/>
                  </a:lnSpc>
                  <a:spcBef>
                    <a:spcPts val="0"/>
                  </a:spcBef>
                  <a:buNone/>
                </a:pPr>
                <a14:m>
                  <m:oMathPara xmlns:m="http://schemas.openxmlformats.org/officeDocument/2006/math">
                    <m:oMathParaPr>
                      <m:jc m:val="centerGroup"/>
                    </m:oMathParaPr>
                    <m:oMath xmlns:m="http://schemas.openxmlformats.org/officeDocument/2006/math">
                      <m:r>
                        <a:rPr lang="en-US" altLang="zh-CN" b="0" i="1" smtClean="0">
                          <a:latin typeface="Cambria Math"/>
                        </a:rPr>
                        <m:t>1</m:t>
                      </m:r>
                      <m:r>
                        <a:rPr lang="en-US" altLang="zh-CN" b="0" i="1" smtClean="0">
                          <a:latin typeface="Cambria Math"/>
                        </a:rPr>
                        <m:t>−</m:t>
                      </m:r>
                      <m:r>
                        <m:rPr>
                          <m:nor/>
                        </m:rPr>
                        <a:rPr lang="el-GR" altLang="zh-CN" dirty="0">
                          <a:latin typeface="Arial" panose="020B0604020202020204" pitchFamily="34" charset="0"/>
                          <a:cs typeface="Arial" panose="020B0604020202020204" pitchFamily="34" charset="0"/>
                        </a:rPr>
                        <m:t>ρ</m:t>
                      </m:r>
                      <m:r>
                        <m:rPr>
                          <m:nor/>
                        </m:rPr>
                        <a:rPr lang="en-US" altLang="zh-CN" b="0" i="0" dirty="0" smtClean="0">
                          <a:latin typeface="Arial" panose="020B0604020202020204" pitchFamily="34" charset="0"/>
                          <a:cs typeface="Arial" panose="020B0604020202020204" pitchFamily="34" charset="0"/>
                        </a:rPr>
                        <m:t> </m:t>
                      </m:r>
                      <m:r>
                        <m:rPr>
                          <m:nor/>
                        </m:rPr>
                        <a:rPr lang="en-US" altLang="zh-CN" b="0" smtClean="0">
                          <a:latin typeface="Arial" panose="020B0604020202020204" pitchFamily="34" charset="0"/>
                          <a:ea typeface="Cambria Math"/>
                          <a:cs typeface="Arial" panose="020B0604020202020204" pitchFamily="34" charset="0"/>
                        </a:rPr>
                        <m:t>≤</m:t>
                      </m:r>
                      <m:r>
                        <a:rPr lang="en-US" altLang="zh-CN" b="0" i="1" smtClean="0">
                          <a:latin typeface="Cambria Math"/>
                          <a:ea typeface="Cambria Math"/>
                        </a:rPr>
                        <m:t> </m:t>
                      </m:r>
                      <m:f>
                        <m:fPr>
                          <m:ctrlPr>
                            <a:rPr lang="en-US" altLang="zh-CN" b="0" i="1" smtClean="0">
                              <a:latin typeface="Cambria Math" panose="02040503050406030204" pitchFamily="18" charset="0"/>
                              <a:ea typeface="Cambria Math"/>
                            </a:rPr>
                          </m:ctrlPr>
                        </m:fPr>
                        <m:num>
                          <m:r>
                            <m:rPr>
                              <m:sty m:val="p"/>
                            </m:rPr>
                            <a:rPr lang="en-US" altLang="zh-CN" i="1">
                              <a:latin typeface="Cambria Math"/>
                              <a:ea typeface="Cambria Math"/>
                            </a:rPr>
                            <m:t>dC</m:t>
                          </m:r>
                        </m:num>
                        <m:den>
                          <m:r>
                            <m:rPr>
                              <m:sty m:val="p"/>
                            </m:rPr>
                            <a:rPr lang="en-US" altLang="zh-CN" i="1">
                              <a:latin typeface="Cambria Math"/>
                              <a:ea typeface="Cambria Math"/>
                            </a:rPr>
                            <m:t>dt</m:t>
                          </m:r>
                        </m:den>
                      </m:f>
                      <m:r>
                        <a:rPr lang="en-US" altLang="zh-CN" b="0" i="1" smtClean="0">
                          <a:latin typeface="Cambria Math"/>
                          <a:ea typeface="Cambria Math"/>
                        </a:rPr>
                        <m:t> ≤ </m:t>
                      </m:r>
                      <m:r>
                        <a:rPr lang="en-US" altLang="zh-CN" b="0" i="1" smtClean="0">
                          <a:latin typeface="Cambria Math"/>
                          <a:ea typeface="Cambria Math"/>
                        </a:rPr>
                        <m:t>1</m:t>
                      </m:r>
                      <m:r>
                        <a:rPr lang="en-US" altLang="zh-CN" b="0" i="1" smtClean="0">
                          <a:latin typeface="Cambria Math"/>
                          <a:ea typeface="Cambria Math"/>
                        </a:rPr>
                        <m:t>+</m:t>
                      </m:r>
                      <m:r>
                        <m:rPr>
                          <m:nor/>
                        </m:rPr>
                        <a:rPr lang="el-GR" altLang="zh-CN" dirty="0">
                          <a:latin typeface="Arial" panose="020B0604020202020204" pitchFamily="34" charset="0"/>
                          <a:cs typeface="Arial" panose="020B0604020202020204" pitchFamily="34" charset="0"/>
                        </a:rPr>
                        <m:t>ρ</m:t>
                      </m:r>
                    </m:oMath>
                  </m:oMathPara>
                </a14:m>
                <a:endParaRPr lang="en-US" altLang="zh-CN" dirty="0">
                  <a:latin typeface="Arial" panose="020B0604020202020204" pitchFamily="34" charset="0"/>
                  <a:cs typeface="Arial" panose="020B0604020202020204" pitchFamily="34" charset="0"/>
                </a:endParaRPr>
              </a:p>
              <a:p>
                <a:pPr>
                  <a:lnSpc>
                    <a:spcPct val="130000"/>
                  </a:lnSpc>
                  <a:spcBef>
                    <a:spcPts val="0"/>
                  </a:spcBef>
                </a:pPr>
                <a:r>
                  <a:rPr lang="en-US" altLang="zh-CN" dirty="0">
                    <a:latin typeface="Arial" panose="020B0604020202020204" pitchFamily="34" charset="0"/>
                    <a:cs typeface="Arial" panose="020B0604020202020204" pitchFamily="34" charset="0"/>
                  </a:rPr>
                  <a:t>Drift rate causes clocks to differ even after synchronization</a:t>
                </a:r>
              </a:p>
              <a:p>
                <a:pPr>
                  <a:lnSpc>
                    <a:spcPct val="130000"/>
                  </a:lnSpc>
                  <a:spcBef>
                    <a:spcPts val="0"/>
                  </a:spcBef>
                </a:pPr>
                <a:r>
                  <a:rPr lang="en-US" altLang="zh-CN" dirty="0">
                    <a:latin typeface="Arial" panose="020B0604020202020204" pitchFamily="34" charset="0"/>
                    <a:cs typeface="Arial" panose="020B0604020202020204" pitchFamily="34" charset="0"/>
                  </a:rPr>
                  <a:t>Two synchronized identical clocks can drift from each other at rate of at most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a:rPr>
                          <m:t>2</m:t>
                        </m:r>
                        <m:r>
                          <m:rPr>
                            <m:nor/>
                          </m:rPr>
                          <a:rPr lang="el-GR" altLang="zh-CN" dirty="0">
                            <a:latin typeface="Arial" panose="020B0604020202020204" pitchFamily="34" charset="0"/>
                            <a:cs typeface="Arial" panose="020B0604020202020204" pitchFamily="34" charset="0"/>
                          </a:rPr>
                          <m:t>ρ</m:t>
                        </m:r>
                      </m:e>
                      <m:sub>
                        <m:r>
                          <m:rPr>
                            <m:sty m:val="p"/>
                          </m:rPr>
                          <a:rPr lang="en-US" altLang="zh-CN" i="1">
                            <a:latin typeface="Cambria Math"/>
                          </a:rPr>
                          <m:t>max</m:t>
                        </m:r>
                      </m:sub>
                    </m:sSub>
                  </m:oMath>
                </a14:m>
                <a:endParaRPr lang="en-US" altLang="zh-CN" dirty="0">
                  <a:latin typeface="Arial" panose="020B0604020202020204" pitchFamily="34" charset="0"/>
                  <a:cs typeface="Arial" panose="020B0604020202020204" pitchFamily="34" charset="0"/>
                </a:endParaRPr>
              </a:p>
              <a:p>
                <a:pPr>
                  <a:lnSpc>
                    <a:spcPct val="130000"/>
                  </a:lnSpc>
                  <a:spcBef>
                    <a:spcPts val="0"/>
                  </a:spcBef>
                </a:pPr>
                <a:r>
                  <a:rPr lang="en-US" altLang="zh-CN" dirty="0">
                    <a:latin typeface="Arial" panose="020B0604020202020204" pitchFamily="34" charset="0"/>
                    <a:cs typeface="Arial" panose="020B0604020202020204" pitchFamily="34" charset="0"/>
                  </a:rPr>
                  <a:t>To limit relative offset to </a:t>
                </a:r>
                <a:r>
                  <a:rPr lang="el-GR" altLang="zh-CN" dirty="0">
                    <a:latin typeface="Arial" panose="020B0604020202020204" pitchFamily="34" charset="0"/>
                    <a:cs typeface="Arial" panose="020B0604020202020204" pitchFamily="34" charset="0"/>
                  </a:rPr>
                  <a:t>δ</a:t>
                </a:r>
                <a:r>
                  <a:rPr lang="en-US" altLang="zh-CN" dirty="0">
                    <a:latin typeface="Arial" panose="020B0604020202020204" pitchFamily="34" charset="0"/>
                    <a:cs typeface="Arial" panose="020B0604020202020204" pitchFamily="34" charset="0"/>
                  </a:rPr>
                  <a:t> seconds, the resynchronization interval </a:t>
                </a:r>
                <a14:m>
                  <m:oMath xmlns:m="http://schemas.openxmlformats.org/officeDocument/2006/math">
                    <m:sSub>
                      <m:sSubPr>
                        <m:ctrlPr>
                          <a:rPr lang="el-GR" altLang="zh-CN" i="1" dirty="0" smtClean="0">
                            <a:latin typeface="Cambria Math" panose="02040503050406030204" pitchFamily="18" charset="0"/>
                          </a:rPr>
                        </m:ctrlPr>
                      </m:sSubPr>
                      <m:e>
                        <m:r>
                          <m:rPr>
                            <m:nor/>
                          </m:rPr>
                          <a:rPr lang="el-GR" altLang="zh-CN" dirty="0">
                            <a:latin typeface="Arial" panose="020B0604020202020204" pitchFamily="34" charset="0"/>
                            <a:cs typeface="Arial" panose="020B0604020202020204" pitchFamily="34" charset="0"/>
                          </a:rPr>
                          <m:t>τ</m:t>
                        </m:r>
                      </m:e>
                      <m:sub>
                        <m:r>
                          <m:rPr>
                            <m:sty m:val="p"/>
                          </m:rPr>
                          <a:rPr lang="en-US" altLang="zh-CN" i="1" dirty="0">
                            <a:latin typeface="Cambria Math"/>
                          </a:rPr>
                          <m:t>sync</m:t>
                        </m:r>
                      </m:sub>
                    </m:sSub>
                    <m:r>
                      <a:rPr lang="en-US" altLang="zh-CN" b="0" i="1" dirty="0" smtClean="0">
                        <a:latin typeface="Cambria Math"/>
                      </a:rPr>
                      <m:t> </m:t>
                    </m:r>
                  </m:oMath>
                </a14:m>
                <a:r>
                  <a:rPr lang="en-US" altLang="zh-CN" dirty="0">
                    <a:latin typeface="Arial" panose="020B0604020202020204" pitchFamily="34" charset="0"/>
                    <a:cs typeface="Arial" panose="020B0604020202020204" pitchFamily="34" charset="0"/>
                  </a:rPr>
                  <a:t>must meet the requirement:</a:t>
                </a:r>
              </a:p>
              <a:p>
                <a:pPr marL="0" indent="0">
                  <a:lnSpc>
                    <a:spcPct val="130000"/>
                  </a:lnSpc>
                  <a:spcBef>
                    <a:spcPts val="0"/>
                  </a:spcBef>
                  <a:buNone/>
                </a:pPr>
                <a14:m>
                  <m:oMathPara xmlns:m="http://schemas.openxmlformats.org/officeDocument/2006/math">
                    <m:oMathParaPr>
                      <m:jc m:val="centerGroup"/>
                    </m:oMathParaPr>
                    <m:oMath xmlns:m="http://schemas.openxmlformats.org/officeDocument/2006/math">
                      <m:sSub>
                        <m:sSubPr>
                          <m:ctrlPr>
                            <a:rPr lang="el-GR" altLang="zh-CN" i="1" dirty="0">
                              <a:latin typeface="Cambria Math" panose="02040503050406030204" pitchFamily="18" charset="0"/>
                            </a:rPr>
                          </m:ctrlPr>
                        </m:sSubPr>
                        <m:e>
                          <m:r>
                            <m:rPr>
                              <m:nor/>
                            </m:rPr>
                            <a:rPr lang="el-GR" altLang="zh-CN" dirty="0">
                              <a:latin typeface="Arial" panose="020B0604020202020204" pitchFamily="34" charset="0"/>
                              <a:cs typeface="Arial" panose="020B0604020202020204" pitchFamily="34" charset="0"/>
                            </a:rPr>
                            <m:t>τ</m:t>
                          </m:r>
                        </m:e>
                        <m:sub>
                          <m:r>
                            <m:rPr>
                              <m:sty m:val="p"/>
                            </m:rPr>
                            <a:rPr lang="en-US" altLang="zh-CN" i="1" dirty="0">
                              <a:latin typeface="Cambria Math"/>
                            </a:rPr>
                            <m:t>sync</m:t>
                          </m:r>
                        </m:sub>
                      </m:sSub>
                      <m:r>
                        <a:rPr lang="en-US" altLang="zh-CN" i="1" dirty="0">
                          <a:latin typeface="Cambria Math"/>
                        </a:rPr>
                        <m:t> </m:t>
                      </m:r>
                      <m:r>
                        <a:rPr lang="en-US" altLang="zh-CN" i="1" smtClean="0">
                          <a:latin typeface="Cambria Math"/>
                          <a:ea typeface="Cambria Math"/>
                        </a:rPr>
                        <m:t>≤</m:t>
                      </m:r>
                      <m:f>
                        <m:fPr>
                          <m:ctrlPr>
                            <a:rPr lang="en-US" altLang="zh-CN" i="1" smtClean="0">
                              <a:latin typeface="Cambria Math" panose="02040503050406030204" pitchFamily="18" charset="0"/>
                              <a:ea typeface="Cambria Math"/>
                            </a:rPr>
                          </m:ctrlPr>
                        </m:fPr>
                        <m:num>
                          <m:r>
                            <m:rPr>
                              <m:nor/>
                            </m:rPr>
                            <a:rPr lang="el-GR" altLang="zh-CN" dirty="0">
                              <a:latin typeface="Arial" panose="020B0604020202020204" pitchFamily="34" charset="0"/>
                              <a:cs typeface="Arial" panose="020B0604020202020204" pitchFamily="34" charset="0"/>
                            </a:rPr>
                            <m:t>δ</m:t>
                          </m:r>
                        </m:num>
                        <m:den>
                          <m:sSub>
                            <m:sSubPr>
                              <m:ctrlPr>
                                <a:rPr lang="en-US" altLang="zh-CN" i="1">
                                  <a:latin typeface="Cambria Math" panose="02040503050406030204" pitchFamily="18" charset="0"/>
                                </a:rPr>
                              </m:ctrlPr>
                            </m:sSubPr>
                            <m:e>
                              <m:r>
                                <a:rPr lang="en-US" altLang="zh-CN" i="1">
                                  <a:latin typeface="Cambria Math"/>
                                </a:rPr>
                                <m:t>2</m:t>
                              </m:r>
                              <m:r>
                                <m:rPr>
                                  <m:nor/>
                                </m:rPr>
                                <a:rPr lang="el-GR" altLang="zh-CN" dirty="0">
                                  <a:latin typeface="Arial" panose="020B0604020202020204" pitchFamily="34" charset="0"/>
                                  <a:cs typeface="Arial" panose="020B0604020202020204" pitchFamily="34" charset="0"/>
                                </a:rPr>
                                <m:t>ρ</m:t>
                              </m:r>
                            </m:e>
                            <m:sub>
                              <m:r>
                                <m:rPr>
                                  <m:sty m:val="p"/>
                                </m:rPr>
                                <a:rPr lang="en-US" altLang="zh-CN" i="1">
                                  <a:latin typeface="Cambria Math"/>
                                </a:rPr>
                                <m:t>max</m:t>
                              </m:r>
                            </m:sub>
                          </m:sSub>
                        </m:den>
                      </m:f>
                    </m:oMath>
                  </m:oMathPara>
                </a14:m>
                <a:endParaRPr lang="en-US" altLang="zh-CN" dirty="0">
                  <a:latin typeface="Arial" panose="020B0604020202020204" pitchFamily="34" charset="0"/>
                  <a:cs typeface="Arial" panose="020B0604020202020204" pitchFamily="34" charset="0"/>
                </a:endParaRPr>
              </a:p>
              <a:p>
                <a:pPr>
                  <a:lnSpc>
                    <a:spcPct val="130000"/>
                  </a:lnSpc>
                  <a:spcBef>
                    <a:spcPts val="0"/>
                  </a:spcBef>
                </a:pPr>
                <a:endParaRPr lang="en-US" altLang="zh-CN" dirty="0">
                  <a:latin typeface="Arial" panose="020B0604020202020204" pitchFamily="34" charset="0"/>
                  <a:cs typeface="Arial" panose="020B0604020202020204" pitchFamily="34"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199" y="1825624"/>
                <a:ext cx="10837985" cy="4774467"/>
              </a:xfrm>
              <a:blipFill>
                <a:blip r:embed="rId2"/>
                <a:stretch>
                  <a:fillRect l="-619" t="-6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1795069"/>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Clock Parameters</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825625"/>
            <a:ext cx="10421815" cy="4351338"/>
          </a:xfrm>
        </p:spPr>
        <p:txBody>
          <a:bodyPr/>
          <a:lstStyle/>
          <a:p>
            <a:pPr>
              <a:lnSpc>
                <a:spcPct val="120000"/>
              </a:lnSpc>
            </a:pPr>
            <a:r>
              <a:rPr lang="en-US" altLang="zh-CN" dirty="0">
                <a:latin typeface="Arial" panose="020B0604020202020204" pitchFamily="34" charset="0"/>
                <a:cs typeface="Arial" panose="020B0604020202020204" pitchFamily="34" charset="0"/>
              </a:rPr>
              <a:t>C(t) must be piecewise continuous (strictly monotone function of time)</a:t>
            </a:r>
          </a:p>
          <a:p>
            <a:pPr lvl="1">
              <a:lnSpc>
                <a:spcPct val="120000"/>
              </a:lnSpc>
            </a:pPr>
            <a:r>
              <a:rPr lang="en-US" altLang="zh-CN" dirty="0">
                <a:latin typeface="Arial" panose="020B0604020202020204" pitchFamily="34" charset="0"/>
                <a:cs typeface="Arial" panose="020B0604020202020204" pitchFamily="34" charset="0"/>
              </a:rPr>
              <a:t>clock adjustments should occur gradually, e.g., using a linear compensation function that changes the slope of the local time</a:t>
            </a:r>
          </a:p>
          <a:p>
            <a:pPr lvl="1">
              <a:lnSpc>
                <a:spcPct val="120000"/>
              </a:lnSpc>
            </a:pPr>
            <a:r>
              <a:rPr lang="en-US" altLang="zh-CN" dirty="0">
                <a:latin typeface="Arial" panose="020B0604020202020204" pitchFamily="34" charset="0"/>
                <a:cs typeface="Arial" panose="020B0604020202020204" pitchFamily="34" charset="0"/>
              </a:rPr>
              <a:t>simply jumping forward/backward in time can have unintended consequences</a:t>
            </a:r>
          </a:p>
          <a:p>
            <a:pPr lvl="2">
              <a:lnSpc>
                <a:spcPct val="120000"/>
              </a:lnSpc>
            </a:pPr>
            <a:r>
              <a:rPr lang="en-US" altLang="zh-CN" dirty="0">
                <a:latin typeface="Arial" panose="020B0604020202020204" pitchFamily="34" charset="0"/>
                <a:cs typeface="Arial" panose="020B0604020202020204" pitchFamily="34" charset="0"/>
              </a:rPr>
              <a:t>time-triggered events may be repeated or skipped</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883627"/>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Time Synchronization</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00200"/>
            <a:ext cx="11095892" cy="5257800"/>
          </a:xfrm>
        </p:spPr>
        <p:txBody>
          <a:bodyPr>
            <a:normAutofit/>
          </a:bodyPr>
          <a:lstStyle/>
          <a:p>
            <a:pPr>
              <a:lnSpc>
                <a:spcPct val="120000"/>
              </a:lnSpc>
            </a:pPr>
            <a:r>
              <a:rPr lang="en-US" altLang="zh-CN" dirty="0">
                <a:solidFill>
                  <a:schemeClr val="accent1"/>
                </a:solidFill>
                <a:latin typeface="Arial" panose="020B0604020202020204" pitchFamily="34" charset="0"/>
                <a:cs typeface="Arial" panose="020B0604020202020204" pitchFamily="34" charset="0"/>
              </a:rPr>
              <a:t>External</a:t>
            </a:r>
            <a:r>
              <a:rPr lang="en-US" altLang="zh-CN" dirty="0">
                <a:latin typeface="Arial" panose="020B0604020202020204" pitchFamily="34" charset="0"/>
                <a:cs typeface="Arial" panose="020B0604020202020204" pitchFamily="34" charset="0"/>
              </a:rPr>
              <a:t> synchronization</a:t>
            </a:r>
          </a:p>
          <a:p>
            <a:pPr lvl="1">
              <a:lnSpc>
                <a:spcPct val="120000"/>
              </a:lnSpc>
            </a:pPr>
            <a:r>
              <a:rPr lang="en-US" altLang="zh-CN" dirty="0">
                <a:latin typeface="Arial" panose="020B0604020202020204" pitchFamily="34" charset="0"/>
                <a:cs typeface="Arial" panose="020B0604020202020204" pitchFamily="34" charset="0"/>
              </a:rPr>
              <a:t>clocks are synchronized with external source of time (reference clock)</a:t>
            </a:r>
          </a:p>
          <a:p>
            <a:pPr lvl="1">
              <a:lnSpc>
                <a:spcPct val="120000"/>
              </a:lnSpc>
            </a:pPr>
            <a:r>
              <a:rPr lang="en-US" altLang="zh-CN" dirty="0">
                <a:latin typeface="Arial" panose="020B0604020202020204" pitchFamily="34" charset="0"/>
                <a:cs typeface="Arial" panose="020B0604020202020204" pitchFamily="34" charset="0"/>
              </a:rPr>
              <a:t>reference clock is accurate real-time standard (e.g., UTC)</a:t>
            </a:r>
          </a:p>
          <a:p>
            <a:pPr>
              <a:lnSpc>
                <a:spcPct val="120000"/>
              </a:lnSpc>
            </a:pPr>
            <a:r>
              <a:rPr lang="en-US" altLang="zh-CN" dirty="0">
                <a:solidFill>
                  <a:schemeClr val="accent1"/>
                </a:solidFill>
                <a:latin typeface="Arial" panose="020B0604020202020204" pitchFamily="34" charset="0"/>
                <a:cs typeface="Arial" panose="020B0604020202020204" pitchFamily="34" charset="0"/>
              </a:rPr>
              <a:t>Internal</a:t>
            </a:r>
            <a:r>
              <a:rPr lang="en-US" altLang="zh-CN" dirty="0">
                <a:latin typeface="Arial" panose="020B0604020202020204" pitchFamily="34" charset="0"/>
                <a:cs typeface="Arial" panose="020B0604020202020204" pitchFamily="34" charset="0"/>
              </a:rPr>
              <a:t> synchronization</a:t>
            </a:r>
          </a:p>
          <a:p>
            <a:pPr lvl="1">
              <a:lnSpc>
                <a:spcPct val="120000"/>
              </a:lnSpc>
            </a:pPr>
            <a:r>
              <a:rPr lang="en-US" altLang="zh-CN" dirty="0">
                <a:latin typeface="Arial" panose="020B0604020202020204" pitchFamily="34" charset="0"/>
                <a:cs typeface="Arial" panose="020B0604020202020204" pitchFamily="34" charset="0"/>
              </a:rPr>
              <a:t>clocks are synchronized with each other (no support of reference clock)</a:t>
            </a:r>
          </a:p>
          <a:p>
            <a:pPr lvl="1">
              <a:lnSpc>
                <a:spcPct val="120000"/>
              </a:lnSpc>
            </a:pPr>
            <a:r>
              <a:rPr lang="en-US" altLang="zh-CN" dirty="0">
                <a:latin typeface="Arial" panose="020B0604020202020204" pitchFamily="34" charset="0"/>
                <a:cs typeface="Arial" panose="020B0604020202020204" pitchFamily="34" charset="0"/>
              </a:rPr>
              <a:t>goal is to obtain consistent view of time across all nodes in network</a:t>
            </a:r>
          </a:p>
          <a:p>
            <a:pPr lvl="1">
              <a:lnSpc>
                <a:spcPct val="120000"/>
              </a:lnSpc>
            </a:pPr>
            <a:r>
              <a:rPr lang="en-US" altLang="zh-CN" dirty="0">
                <a:latin typeface="Arial" panose="020B0604020202020204" pitchFamily="34" charset="0"/>
                <a:cs typeface="Arial" panose="020B0604020202020204" pitchFamily="34" charset="0"/>
              </a:rPr>
              <a:t>network-wide time may differ from external real-time standards</a:t>
            </a:r>
          </a:p>
        </p:txBody>
      </p:sp>
    </p:spTree>
    <p:extLst>
      <p:ext uri="{BB962C8B-B14F-4D97-AF65-F5344CB8AC3E}">
        <p14:creationId xmlns:p14="http://schemas.microsoft.com/office/powerpoint/2010/main" val="130147831"/>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Time Synchronization</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00200"/>
            <a:ext cx="10515600" cy="5257800"/>
          </a:xfrm>
        </p:spPr>
        <p:txBody>
          <a:bodyPr>
            <a:normAutofit/>
          </a:bodyPr>
          <a:lstStyle/>
          <a:p>
            <a:pPr>
              <a:lnSpc>
                <a:spcPct val="120000"/>
              </a:lnSpc>
            </a:pPr>
            <a:r>
              <a:rPr lang="en-US" altLang="zh-CN" dirty="0">
                <a:latin typeface="Arial" panose="020B0604020202020204" pitchFamily="34" charset="0"/>
                <a:cs typeface="Arial" panose="020B0604020202020204" pitchFamily="34" charset="0"/>
              </a:rPr>
              <a:t>External synchronization also provides internal synchronization</a:t>
            </a:r>
          </a:p>
          <a:p>
            <a:pPr>
              <a:lnSpc>
                <a:spcPct val="120000"/>
              </a:lnSpc>
            </a:pPr>
            <a:r>
              <a:rPr lang="en-US" altLang="zh-CN" dirty="0">
                <a:solidFill>
                  <a:schemeClr val="accent1"/>
                </a:solidFill>
                <a:latin typeface="Arial" panose="020B0604020202020204" pitchFamily="34" charset="0"/>
                <a:cs typeface="Arial" panose="020B0604020202020204" pitchFamily="34" charset="0"/>
              </a:rPr>
              <a:t>Accuracy (</a:t>
            </a:r>
            <a:r>
              <a:rPr lang="zh-CN" altLang="en-US" dirty="0">
                <a:solidFill>
                  <a:schemeClr val="accent1"/>
                </a:solidFill>
                <a:latin typeface="Arial" panose="020B0604020202020204" pitchFamily="34" charset="0"/>
                <a:cs typeface="Arial" panose="020B0604020202020204" pitchFamily="34" charset="0"/>
              </a:rPr>
              <a:t>准确度</a:t>
            </a:r>
            <a:r>
              <a:rPr lang="en-US" altLang="zh-CN" dirty="0">
                <a:solidFill>
                  <a:schemeClr val="accent1"/>
                </a:solidFill>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 maximum offset of a clock with respect to reference clock</a:t>
            </a:r>
          </a:p>
          <a:p>
            <a:pPr>
              <a:lnSpc>
                <a:spcPct val="120000"/>
              </a:lnSpc>
            </a:pPr>
            <a:r>
              <a:rPr lang="en-US" altLang="zh-CN" dirty="0">
                <a:solidFill>
                  <a:schemeClr val="accent1"/>
                </a:solidFill>
                <a:latin typeface="Arial" panose="020B0604020202020204" pitchFamily="34" charset="0"/>
                <a:cs typeface="Arial" panose="020B0604020202020204" pitchFamily="34" charset="0"/>
              </a:rPr>
              <a:t>Precision (</a:t>
            </a:r>
            <a:r>
              <a:rPr lang="zh-CN" altLang="en-US" dirty="0">
                <a:solidFill>
                  <a:schemeClr val="accent1"/>
                </a:solidFill>
                <a:latin typeface="Arial" panose="020B0604020202020204" pitchFamily="34" charset="0"/>
                <a:cs typeface="Arial" panose="020B0604020202020204" pitchFamily="34" charset="0"/>
              </a:rPr>
              <a:t>精度</a:t>
            </a:r>
            <a:r>
              <a:rPr lang="en-US" altLang="zh-CN" dirty="0">
                <a:solidFill>
                  <a:schemeClr val="accent1"/>
                </a:solidFill>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 maximum offset between any two clocks</a:t>
            </a:r>
          </a:p>
          <a:p>
            <a:pPr>
              <a:lnSpc>
                <a:spcPct val="120000"/>
              </a:lnSpc>
            </a:pPr>
            <a:r>
              <a:rPr lang="en-US" altLang="zh-CN" dirty="0">
                <a:latin typeface="Arial" panose="020B0604020202020204" pitchFamily="34" charset="0"/>
                <a:cs typeface="Arial" panose="020B0604020202020204" pitchFamily="34" charset="0"/>
              </a:rPr>
              <a:t>If two nodes synchronized externally with accuracy of Δ, also synchronized internally with precision 2Δ</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2950447"/>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Why Time Synchronization in WSNs?</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55519"/>
            <a:ext cx="10204938" cy="2514599"/>
          </a:xfrm>
        </p:spPr>
        <p:txBody>
          <a:bodyPr>
            <a:normAutofit fontScale="85000" lnSpcReduction="10000"/>
          </a:bodyPr>
          <a:lstStyle/>
          <a:p>
            <a:pPr>
              <a:lnSpc>
                <a:spcPct val="130000"/>
              </a:lnSpc>
            </a:pPr>
            <a:r>
              <a:rPr lang="en-US" altLang="zh-CN" dirty="0">
                <a:latin typeface="Arial" panose="020B0604020202020204" pitchFamily="34" charset="0"/>
                <a:cs typeface="Arial" panose="020B0604020202020204" pitchFamily="34" charset="0"/>
              </a:rPr>
              <a:t>Sensors in WSNs monitor objects and events in the physical world</a:t>
            </a:r>
          </a:p>
          <a:p>
            <a:pPr>
              <a:lnSpc>
                <a:spcPct val="130000"/>
              </a:lnSpc>
            </a:pPr>
            <a:r>
              <a:rPr lang="en-US" altLang="zh-CN" dirty="0">
                <a:latin typeface="Arial" panose="020B0604020202020204" pitchFamily="34" charset="0"/>
                <a:cs typeface="Arial" panose="020B0604020202020204" pitchFamily="34" charset="0"/>
              </a:rPr>
              <a:t>Accurate temporal correlation is crucial to answer questions such as</a:t>
            </a:r>
          </a:p>
          <a:p>
            <a:pPr lvl="1">
              <a:lnSpc>
                <a:spcPct val="130000"/>
              </a:lnSpc>
            </a:pPr>
            <a:r>
              <a:rPr lang="en-US" altLang="zh-CN" dirty="0">
                <a:latin typeface="Arial" panose="020B0604020202020204" pitchFamily="34" charset="0"/>
                <a:cs typeface="Arial" panose="020B0604020202020204" pitchFamily="34" charset="0"/>
              </a:rPr>
              <a:t>how many moving objects have been detected?</a:t>
            </a:r>
          </a:p>
          <a:p>
            <a:pPr lvl="1">
              <a:lnSpc>
                <a:spcPct val="130000"/>
              </a:lnSpc>
            </a:pPr>
            <a:r>
              <a:rPr lang="en-US" altLang="zh-CN" dirty="0">
                <a:latin typeface="Arial" panose="020B0604020202020204" pitchFamily="34" charset="0"/>
                <a:cs typeface="Arial" panose="020B0604020202020204" pitchFamily="34" charset="0"/>
              </a:rPr>
              <a:t>what is the direction of the moving object?</a:t>
            </a:r>
          </a:p>
          <a:p>
            <a:pPr lvl="1">
              <a:lnSpc>
                <a:spcPct val="130000"/>
              </a:lnSpc>
            </a:pPr>
            <a:r>
              <a:rPr lang="en-US" altLang="zh-CN" dirty="0">
                <a:latin typeface="Arial" panose="020B0604020202020204" pitchFamily="34" charset="0"/>
                <a:cs typeface="Arial" panose="020B0604020202020204" pitchFamily="34" charset="0"/>
              </a:rPr>
              <a:t>what is the speed of the moving object?</a:t>
            </a:r>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8A761F34-3E63-45B0-A74E-EE6A09F94B26}"/>
                  </a:ext>
                </a:extLst>
              </p:cNvPr>
              <p:cNvSpPr txBox="1">
                <a:spLocks/>
              </p:cNvSpPr>
              <p:nvPr/>
            </p:nvSpPr>
            <p:spPr>
              <a:xfrm>
                <a:off x="838200" y="4170118"/>
                <a:ext cx="5105400" cy="21955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en-US" altLang="zh-CN" sz="2400" dirty="0">
                    <a:latin typeface="Arial" panose="020B0604020202020204" pitchFamily="34" charset="0"/>
                    <a:cs typeface="Arial" panose="020B0604020202020204" pitchFamily="34" charset="0"/>
                  </a:rPr>
                  <a:t>If real-time ordering of events is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i="1" smtClean="0">
                            <a:latin typeface="Cambria Math"/>
                          </a:rPr>
                          <m:t>𝑡</m:t>
                        </m:r>
                      </m:e>
                      <m:sub>
                        <m:r>
                          <a:rPr lang="en-US" altLang="zh-CN" sz="2400" i="1" smtClean="0">
                            <a:latin typeface="Cambria Math"/>
                          </a:rPr>
                          <m:t>1</m:t>
                        </m:r>
                      </m:sub>
                    </m:sSub>
                  </m:oMath>
                </a14:m>
                <a:r>
                  <a:rPr lang="en-US" altLang="zh-CN" sz="2400" dirty="0">
                    <a:latin typeface="Arial" panose="020B0604020202020204" pitchFamily="34" charset="0"/>
                    <a:cs typeface="Arial" panose="020B0604020202020204" pitchFamily="34" charset="0"/>
                  </a:rPr>
                  <a:t>&lt;</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𝑡</m:t>
                        </m:r>
                      </m:e>
                      <m:sub>
                        <m:r>
                          <a:rPr lang="en-US" altLang="zh-CN" sz="2400" i="1" smtClean="0">
                            <a:latin typeface="Cambria Math"/>
                          </a:rPr>
                          <m:t>2</m:t>
                        </m:r>
                      </m:sub>
                    </m:sSub>
                  </m:oMath>
                </a14:m>
                <a:r>
                  <a:rPr lang="en-US" altLang="zh-CN" sz="2400" dirty="0">
                    <a:latin typeface="Arial" panose="020B0604020202020204" pitchFamily="34" charset="0"/>
                    <a:cs typeface="Arial" panose="020B0604020202020204" pitchFamily="34" charset="0"/>
                  </a:rPr>
                  <a:t>&lt;</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𝑡</m:t>
                        </m:r>
                      </m:e>
                      <m:sub>
                        <m:r>
                          <a:rPr lang="en-US" altLang="zh-CN" sz="2400" i="1" smtClean="0">
                            <a:latin typeface="Cambria Math"/>
                          </a:rPr>
                          <m:t>3</m:t>
                        </m:r>
                      </m:sub>
                    </m:sSub>
                  </m:oMath>
                </a14:m>
                <a:r>
                  <a:rPr lang="en-US" altLang="zh-CN" sz="2400" dirty="0">
                    <a:latin typeface="Arial" panose="020B0604020202020204" pitchFamily="34" charset="0"/>
                    <a:cs typeface="Arial" panose="020B0604020202020204" pitchFamily="34" charset="0"/>
                  </a:rPr>
                  <a:t>, then sensor times should reflect this ordering: </a:t>
                </a:r>
                <a14:m>
                  <m:oMath xmlns:m="http://schemas.openxmlformats.org/officeDocument/2006/math">
                    <m:sSub>
                      <m:sSubPr>
                        <m:ctrlPr>
                          <a:rPr lang="en-US" altLang="zh-CN" sz="2400" i="1">
                            <a:latin typeface="Cambria Math" panose="02040503050406030204" pitchFamily="18" charset="0"/>
                          </a:rPr>
                        </m:ctrlPr>
                      </m:sSubPr>
                      <m:e>
                        <m:r>
                          <a:rPr lang="en-US" altLang="zh-CN" sz="2400" i="1" smtClean="0">
                            <a:latin typeface="Cambria Math"/>
                          </a:rPr>
                          <m:t>𝐶</m:t>
                        </m:r>
                      </m:e>
                      <m:sub>
                        <m:r>
                          <a:rPr lang="en-US" altLang="zh-CN" sz="2400" i="1">
                            <a:latin typeface="Cambria Math"/>
                          </a:rPr>
                          <m:t>1</m:t>
                        </m:r>
                      </m:sub>
                    </m:sSub>
                    <m:r>
                      <a:rPr lang="en-US" altLang="zh-CN" sz="2400" i="1">
                        <a:latin typeface="Cambria Math"/>
                      </a:rPr>
                      <m:t> </m:t>
                    </m:r>
                  </m:oMath>
                </a14:m>
                <a:r>
                  <a:rPr lang="en-US" altLang="zh-CN" sz="2400" dirty="0">
                    <a:latin typeface="Arial" panose="020B0604020202020204" pitchFamily="34" charset="0"/>
                    <a:cs typeface="Arial" panose="020B0604020202020204" pitchFamily="34" charset="0"/>
                  </a:rPr>
                  <a:t>(</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𝑡</m:t>
                        </m:r>
                      </m:e>
                      <m:sub>
                        <m:r>
                          <a:rPr lang="en-US" altLang="zh-CN" sz="2400" i="1">
                            <a:latin typeface="Cambria Math"/>
                          </a:rPr>
                          <m:t>1</m:t>
                        </m:r>
                      </m:sub>
                    </m:sSub>
                  </m:oMath>
                </a14:m>
                <a:r>
                  <a:rPr lang="en-US" altLang="zh-CN" sz="2400" dirty="0">
                    <a:latin typeface="Arial" panose="020B0604020202020204" pitchFamily="34" charset="0"/>
                    <a:cs typeface="Arial" panose="020B0604020202020204" pitchFamily="34" charset="0"/>
                  </a:rPr>
                  <a:t>)&lt;</a:t>
                </a:r>
                <a14:m>
                  <m:oMath xmlns:m="http://schemas.openxmlformats.org/officeDocument/2006/math">
                    <m:sSub>
                      <m:sSubPr>
                        <m:ctrlPr>
                          <a:rPr lang="en-US" altLang="zh-CN" sz="2400" i="1">
                            <a:latin typeface="Cambria Math" panose="02040503050406030204" pitchFamily="18" charset="0"/>
                          </a:rPr>
                        </m:ctrlPr>
                      </m:sSubPr>
                      <m:e>
                        <m:r>
                          <a:rPr lang="en-US" altLang="zh-CN" sz="2400" i="1" smtClean="0">
                            <a:latin typeface="Cambria Math"/>
                          </a:rPr>
                          <m:t>𝐶</m:t>
                        </m:r>
                      </m:e>
                      <m:sub>
                        <m:r>
                          <a:rPr lang="en-US" altLang="zh-CN" sz="2400" i="1" smtClean="0">
                            <a:latin typeface="Cambria Math"/>
                          </a:rPr>
                          <m:t>2</m:t>
                        </m:r>
                      </m:sub>
                    </m:sSub>
                    <m:r>
                      <a:rPr lang="en-US" altLang="zh-CN" sz="2400" i="1">
                        <a:latin typeface="Cambria Math"/>
                      </a:rPr>
                      <m:t> </m:t>
                    </m:r>
                  </m:oMath>
                </a14:m>
                <a:r>
                  <a:rPr lang="en-US" altLang="zh-CN" sz="2400" dirty="0">
                    <a:latin typeface="Arial" panose="020B0604020202020204" pitchFamily="34" charset="0"/>
                    <a:cs typeface="Arial" panose="020B0604020202020204" pitchFamily="34" charset="0"/>
                  </a:rPr>
                  <a:t>(</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𝑡</m:t>
                        </m:r>
                      </m:e>
                      <m:sub>
                        <m:r>
                          <a:rPr lang="en-US" altLang="zh-CN" sz="2400" i="1" smtClean="0">
                            <a:latin typeface="Cambria Math"/>
                          </a:rPr>
                          <m:t>2</m:t>
                        </m:r>
                      </m:sub>
                    </m:sSub>
                  </m:oMath>
                </a14:m>
                <a:r>
                  <a:rPr lang="en-US" altLang="zh-CN" sz="2400" dirty="0">
                    <a:latin typeface="Arial" panose="020B0604020202020204" pitchFamily="34" charset="0"/>
                    <a:cs typeface="Arial" panose="020B0604020202020204" pitchFamily="34" charset="0"/>
                  </a:rPr>
                  <a:t>)&lt;</a:t>
                </a:r>
                <a14:m>
                  <m:oMath xmlns:m="http://schemas.openxmlformats.org/officeDocument/2006/math">
                    <m:sSub>
                      <m:sSubPr>
                        <m:ctrlPr>
                          <a:rPr lang="en-US" altLang="zh-CN" sz="2400" i="1">
                            <a:latin typeface="Cambria Math" panose="02040503050406030204" pitchFamily="18" charset="0"/>
                          </a:rPr>
                        </m:ctrlPr>
                      </m:sSubPr>
                      <m:e>
                        <m:r>
                          <a:rPr lang="en-US" altLang="zh-CN" sz="2400" i="1" smtClean="0">
                            <a:latin typeface="Cambria Math"/>
                          </a:rPr>
                          <m:t>𝐶</m:t>
                        </m:r>
                      </m:e>
                      <m:sub>
                        <m:r>
                          <a:rPr lang="en-US" altLang="zh-CN" sz="2400" i="1" smtClean="0">
                            <a:latin typeface="Cambria Math"/>
                          </a:rPr>
                          <m:t>3</m:t>
                        </m:r>
                      </m:sub>
                    </m:sSub>
                    <m:r>
                      <a:rPr lang="en-US" altLang="zh-CN" sz="2400" i="1">
                        <a:latin typeface="Cambria Math"/>
                      </a:rPr>
                      <m:t> </m:t>
                    </m:r>
                  </m:oMath>
                </a14:m>
                <a:r>
                  <a:rPr lang="en-US" altLang="zh-CN" sz="2400" dirty="0">
                    <a:latin typeface="Arial" panose="020B0604020202020204" pitchFamily="34" charset="0"/>
                    <a:cs typeface="Arial" panose="020B0604020202020204" pitchFamily="34" charset="0"/>
                  </a:rPr>
                  <a:t>(</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𝑡</m:t>
                        </m:r>
                      </m:e>
                      <m:sub>
                        <m:r>
                          <a:rPr lang="en-US" altLang="zh-CN" sz="2400" i="1" smtClean="0">
                            <a:latin typeface="Cambria Math"/>
                          </a:rPr>
                          <m:t>3</m:t>
                        </m:r>
                      </m:sub>
                    </m:sSub>
                  </m:oMath>
                </a14:m>
                <a:r>
                  <a:rPr lang="en-US" altLang="zh-CN" sz="2400" dirty="0">
                    <a:latin typeface="Arial" panose="020B0604020202020204" pitchFamily="34" charset="0"/>
                    <a:cs typeface="Arial" panose="020B0604020202020204" pitchFamily="34" charset="0"/>
                  </a:rPr>
                  <a:t>)</a:t>
                </a:r>
              </a:p>
              <a:p>
                <a:pPr>
                  <a:lnSpc>
                    <a:spcPct val="130000"/>
                  </a:lnSpc>
                </a:pPr>
                <a:endParaRPr lang="zh-CN" altLang="en-US" sz="2400" dirty="0">
                  <a:latin typeface="Arial" panose="020B0604020202020204" pitchFamily="34" charset="0"/>
                  <a:cs typeface="Arial" panose="020B0604020202020204" pitchFamily="34" charset="0"/>
                </a:endParaRPr>
              </a:p>
            </p:txBody>
          </p:sp>
        </mc:Choice>
        <mc:Fallback xmlns="">
          <p:sp>
            <p:nvSpPr>
              <p:cNvPr id="5" name="内容占位符 2">
                <a:extLst>
                  <a:ext uri="{FF2B5EF4-FFF2-40B4-BE49-F238E27FC236}">
                    <a16:creationId xmlns:a16="http://schemas.microsoft.com/office/drawing/2014/main" id="{8A761F34-3E63-45B0-A74E-EE6A09F94B26}"/>
                  </a:ext>
                </a:extLst>
              </p:cNvPr>
              <p:cNvSpPr txBox="1">
                <a:spLocks noRot="1" noChangeAspect="1" noMove="1" noResize="1" noEditPoints="1" noAdjustHandles="1" noChangeArrowheads="1" noChangeShapeType="1" noTextEdit="1"/>
              </p:cNvSpPr>
              <p:nvPr/>
            </p:nvSpPr>
            <p:spPr>
              <a:xfrm>
                <a:off x="838200" y="4170118"/>
                <a:ext cx="5105400" cy="2195512"/>
              </a:xfrm>
              <a:prstGeom prst="rect">
                <a:avLst/>
              </a:prstGeom>
              <a:blipFill>
                <a:blip r:embed="rId3"/>
                <a:stretch>
                  <a:fillRect l="-1673" r="-3226"/>
                </a:stretch>
              </a:blipFill>
            </p:spPr>
            <p:txBody>
              <a:bodyPr/>
              <a:lstStyle/>
              <a:p>
                <a:r>
                  <a:rPr lang="zh-CN" altLang="en-US">
                    <a:noFill/>
                  </a:rPr>
                  <a:t> </a:t>
                </a:r>
              </a:p>
            </p:txBody>
          </p:sp>
        </mc:Fallback>
      </mc:AlternateContent>
      <p:pic>
        <p:nvPicPr>
          <p:cNvPr id="6" name="Picture 2">
            <a:extLst>
              <a:ext uri="{FF2B5EF4-FFF2-40B4-BE49-F238E27FC236}">
                <a16:creationId xmlns:a16="http://schemas.microsoft.com/office/drawing/2014/main" id="{E09174F4-0D08-4738-A6F4-7FE3E05833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9946" y="4174058"/>
            <a:ext cx="4888523" cy="2572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1006276"/>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Why Time Synchronization in WSNs? </a:t>
            </a:r>
            <a:endParaRPr lang="zh-CN" altLang="en-US"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596903"/>
                <a:ext cx="10673862" cy="5055943"/>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Time difference between sensor time stamps should correspond to real-time differences: Δ=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𝐶</m:t>
                        </m:r>
                      </m:e>
                      <m:sub>
                        <m:r>
                          <a:rPr lang="en-US" altLang="zh-CN" sz="2400" b="0" i="1" smtClean="0">
                            <a:latin typeface="Cambria Math"/>
                          </a:rPr>
                          <m:t>2</m:t>
                        </m:r>
                      </m:sub>
                    </m:sSub>
                  </m:oMath>
                </a14:m>
                <a:r>
                  <a:rPr lang="en-US" altLang="zh-CN" sz="2400" dirty="0">
                    <a:latin typeface="Arial" panose="020B0604020202020204" pitchFamily="34" charset="0"/>
                    <a:cs typeface="Arial" panose="020B0604020202020204" pitchFamily="34" charset="0"/>
                  </a:rPr>
                  <a:t>(</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a:rPr>
                          <m:t>𝑡</m:t>
                        </m:r>
                      </m:e>
                      <m:sub>
                        <m:r>
                          <a:rPr lang="en-US" altLang="zh-CN" sz="2400" b="0" i="1" smtClean="0">
                            <a:latin typeface="Cambria Math"/>
                          </a:rPr>
                          <m:t>2</m:t>
                        </m:r>
                      </m:sub>
                    </m:sSub>
                  </m:oMath>
                </a14:m>
                <a:r>
                  <a:rPr lang="en-US" altLang="zh-CN" sz="2400" dirty="0">
                    <a:latin typeface="Arial" panose="020B0604020202020204" pitchFamily="34" charset="0"/>
                    <a:cs typeface="Arial" panose="020B0604020202020204" pitchFamily="34" charset="0"/>
                  </a:rPr>
                  <a:t>) -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𝐶</m:t>
                        </m:r>
                      </m:e>
                      <m:sub>
                        <m:r>
                          <a:rPr lang="en-US" altLang="zh-CN" sz="2400" i="1">
                            <a:latin typeface="Cambria Math"/>
                          </a:rPr>
                          <m:t>1</m:t>
                        </m:r>
                      </m:sub>
                    </m:sSub>
                  </m:oMath>
                </a14:m>
                <a:r>
                  <a:rPr lang="en-US" altLang="zh-CN" sz="2400" dirty="0">
                    <a:latin typeface="Arial" panose="020B0604020202020204" pitchFamily="34" charset="0"/>
                    <a:cs typeface="Arial" panose="020B0604020202020204" pitchFamily="34" charset="0"/>
                  </a:rPr>
                  <a:t>(</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a:rPr>
                          <m:t>𝑡</m:t>
                        </m:r>
                      </m:e>
                      <m:sub>
                        <m:r>
                          <a:rPr lang="en-US" altLang="zh-CN" sz="2400" i="1">
                            <a:latin typeface="Cambria Math"/>
                          </a:rPr>
                          <m:t>1</m:t>
                        </m:r>
                      </m:sub>
                    </m:sSub>
                  </m:oMath>
                </a14:m>
                <a:r>
                  <a:rPr lang="en-US" altLang="zh-CN" sz="2400" dirty="0">
                    <a:latin typeface="Arial" panose="020B0604020202020204" pitchFamily="34" charset="0"/>
                    <a:cs typeface="Arial" panose="020B0604020202020204" pitchFamily="34" charset="0"/>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a:rPr>
                          <m:t>𝑡</m:t>
                        </m:r>
                      </m:e>
                      <m:sub>
                        <m:r>
                          <a:rPr lang="en-US" altLang="zh-CN" sz="2400" b="0" i="1" smtClean="0">
                            <a:latin typeface="Cambria Math"/>
                          </a:rPr>
                          <m:t>2</m:t>
                        </m:r>
                      </m:sub>
                    </m:sSub>
                  </m:oMath>
                </a14:m>
                <a:r>
                  <a:rPr lang="en-US" altLang="zh-CN" sz="2400" dirty="0">
                    <a:latin typeface="Arial" panose="020B0604020202020204" pitchFamily="34" charset="0"/>
                    <a:cs typeface="Arial" panose="020B0604020202020204" pitchFamily="34" charset="0"/>
                  </a:rPr>
                  <a:t> - </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a:rPr>
                          <m:t>𝑡</m:t>
                        </m:r>
                      </m:e>
                      <m:sub>
                        <m:r>
                          <a:rPr lang="en-US" altLang="zh-CN" sz="2400" i="1">
                            <a:latin typeface="Cambria Math"/>
                          </a:rPr>
                          <m:t>1</m:t>
                        </m:r>
                      </m:sub>
                    </m:sSub>
                  </m:oMath>
                </a14:m>
                <a:endParaRPr lang="en-US" altLang="zh-CN" sz="2400" dirty="0">
                  <a:latin typeface="Arial" panose="020B0604020202020204" pitchFamily="34" charset="0"/>
                  <a:cs typeface="Arial" panose="020B0604020202020204" pitchFamily="34" charset="0"/>
                </a:endParaRPr>
              </a:p>
              <a:p>
                <a:pPr lvl="1">
                  <a:lnSpc>
                    <a:spcPct val="120000"/>
                  </a:lnSpc>
                </a:pPr>
                <a:r>
                  <a:rPr lang="en-US" altLang="zh-CN" sz="2000" dirty="0">
                    <a:latin typeface="Arial" panose="020B0604020202020204" pitchFamily="34" charset="0"/>
                    <a:cs typeface="Arial" panose="020B0604020202020204" pitchFamily="34" charset="0"/>
                  </a:rPr>
                  <a:t>important for data fusion (aggregation of data from multiple sensors)</a:t>
                </a:r>
              </a:p>
              <a:p>
                <a:pPr>
                  <a:lnSpc>
                    <a:spcPct val="120000"/>
                  </a:lnSpc>
                </a:pPr>
                <a:r>
                  <a:rPr lang="en-US" altLang="zh-CN" sz="2400" dirty="0">
                    <a:latin typeface="Arial" panose="020B0604020202020204" pitchFamily="34" charset="0"/>
                    <a:cs typeface="Arial" panose="020B0604020202020204" pitchFamily="34" charset="0"/>
                  </a:rPr>
                  <a:t>Synchronization needed by variety of applications and algorithms</a:t>
                </a:r>
              </a:p>
              <a:p>
                <a:pPr lvl="1">
                  <a:lnSpc>
                    <a:spcPct val="120000"/>
                  </a:lnSpc>
                </a:pPr>
                <a:r>
                  <a:rPr lang="en-US" altLang="zh-CN" sz="2000" dirty="0">
                    <a:latin typeface="Arial" panose="020B0604020202020204" pitchFamily="34" charset="0"/>
                    <a:cs typeface="Arial" panose="020B0604020202020204" pitchFamily="34" charset="0"/>
                  </a:rPr>
                  <a:t>communication protocols (at-most-once message delivery)</a:t>
                </a:r>
              </a:p>
              <a:p>
                <a:pPr lvl="1">
                  <a:lnSpc>
                    <a:spcPct val="120000"/>
                  </a:lnSpc>
                </a:pPr>
                <a:r>
                  <a:rPr lang="en-US" altLang="zh-CN" sz="2000" dirty="0">
                    <a:latin typeface="Arial" panose="020B0604020202020204" pitchFamily="34" charset="0"/>
                    <a:cs typeface="Arial" panose="020B0604020202020204" pitchFamily="34" charset="0"/>
                  </a:rPr>
                  <a:t>security (limit use of keys, detect replay attacks)</a:t>
                </a:r>
              </a:p>
              <a:p>
                <a:pPr lvl="1">
                  <a:lnSpc>
                    <a:spcPct val="120000"/>
                  </a:lnSpc>
                </a:pPr>
                <a:r>
                  <a:rPr lang="en-US" altLang="zh-CN" sz="2000" dirty="0">
                    <a:latin typeface="Arial" panose="020B0604020202020204" pitchFamily="34" charset="0"/>
                    <a:cs typeface="Arial" panose="020B0604020202020204" pitchFamily="34" charset="0"/>
                  </a:rPr>
                  <a:t>data consistency (caches, replicated data)</a:t>
                </a:r>
              </a:p>
              <a:p>
                <a:pPr lvl="1">
                  <a:lnSpc>
                    <a:spcPct val="120000"/>
                  </a:lnSpc>
                </a:pPr>
                <a:r>
                  <a:rPr lang="en-US" altLang="zh-CN" sz="2000" dirty="0">
                    <a:latin typeface="Arial" panose="020B0604020202020204" pitchFamily="34" charset="0"/>
                    <a:cs typeface="Arial" panose="020B0604020202020204" pitchFamily="34" charset="0"/>
                  </a:rPr>
                  <a:t>concurrency control (atomicity and mutual exclusion)</a:t>
                </a:r>
              </a:p>
              <a:p>
                <a:pPr lvl="1">
                  <a:lnSpc>
                    <a:spcPct val="120000"/>
                  </a:lnSpc>
                </a:pPr>
                <a:r>
                  <a:rPr lang="en-US" altLang="zh-CN" sz="2000" dirty="0">
                    <a:latin typeface="Arial" panose="020B0604020202020204" pitchFamily="34" charset="0"/>
                    <a:cs typeface="Arial" panose="020B0604020202020204" pitchFamily="34" charset="0"/>
                  </a:rPr>
                  <a:t>medium access control (accurate timing of channel access)</a:t>
                </a:r>
              </a:p>
              <a:p>
                <a:pPr lvl="1">
                  <a:lnSpc>
                    <a:spcPct val="120000"/>
                  </a:lnSpc>
                </a:pPr>
                <a:r>
                  <a:rPr lang="en-US" altLang="zh-CN" sz="2000" dirty="0">
                    <a:latin typeface="Arial" panose="020B0604020202020204" pitchFamily="34" charset="0"/>
                    <a:cs typeface="Arial" panose="020B0604020202020204" pitchFamily="34" charset="0"/>
                  </a:rPr>
                  <a:t>duty cycling (know when to sleep or wake up)</a:t>
                </a:r>
              </a:p>
              <a:p>
                <a:pPr lvl="1">
                  <a:lnSpc>
                    <a:spcPct val="120000"/>
                  </a:lnSpc>
                </a:pPr>
                <a:r>
                  <a:rPr lang="en-US" altLang="zh-CN" sz="2000" dirty="0">
                    <a:latin typeface="Arial" panose="020B0604020202020204" pitchFamily="34" charset="0"/>
                    <a:cs typeface="Arial" panose="020B0604020202020204" pitchFamily="34" charset="0"/>
                  </a:rPr>
                  <a:t>localization (based on techniques such as time-of-flight measurements)</a:t>
                </a:r>
                <a:endParaRPr lang="zh-CN" altLang="en-US" sz="2000" dirty="0">
                  <a:latin typeface="Arial" panose="020B0604020202020204" pitchFamily="34" charset="0"/>
                  <a:cs typeface="Arial" panose="020B0604020202020204" pitchFamily="34"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596903"/>
                <a:ext cx="10673862" cy="5055943"/>
              </a:xfrm>
              <a:blipFill>
                <a:blip r:embed="rId2"/>
                <a:stretch>
                  <a:fillRect l="-800" t="-241" r="-16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33093325"/>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199" y="457200"/>
            <a:ext cx="10269415" cy="944562"/>
          </a:xfrm>
        </p:spPr>
        <p:txBody>
          <a:bodyPr>
            <a:normAutofit/>
          </a:bodyPr>
          <a:lstStyle/>
          <a:p>
            <a:r>
              <a:rPr lang="en-US" altLang="zh-CN" b="1" dirty="0">
                <a:latin typeface="Arial" panose="020B0604020202020204" pitchFamily="34" charset="0"/>
                <a:cs typeface="Arial" panose="020B0604020202020204" pitchFamily="34" charset="0"/>
              </a:rPr>
              <a:t>Challenges for Time Synchronization</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401762"/>
            <a:ext cx="11550399" cy="5456238"/>
          </a:xfrm>
        </p:spPr>
        <p:txBody>
          <a:bodyPr>
            <a:normAutofit fontScale="77500" lnSpcReduction="20000"/>
          </a:bodyPr>
          <a:lstStyle/>
          <a:p>
            <a:pPr>
              <a:lnSpc>
                <a:spcPct val="140000"/>
              </a:lnSpc>
              <a:spcBef>
                <a:spcPts val="0"/>
              </a:spcBef>
            </a:pPr>
            <a:r>
              <a:rPr lang="en-US" altLang="zh-CN" dirty="0">
                <a:latin typeface="Arial" panose="020B0604020202020204" pitchFamily="34" charset="0"/>
                <a:cs typeface="Arial" panose="020B0604020202020204" pitchFamily="34" charset="0"/>
              </a:rPr>
              <a:t>Traditional protocols (e.g., NTP) are designed for wired networks</a:t>
            </a:r>
          </a:p>
          <a:p>
            <a:pPr>
              <a:lnSpc>
                <a:spcPct val="140000"/>
              </a:lnSpc>
              <a:spcBef>
                <a:spcPts val="0"/>
              </a:spcBef>
            </a:pPr>
            <a:r>
              <a:rPr lang="en-US" altLang="zh-CN" dirty="0">
                <a:latin typeface="Arial" panose="020B0604020202020204" pitchFamily="34" charset="0"/>
                <a:cs typeface="Arial" panose="020B0604020202020204" pitchFamily="34" charset="0"/>
              </a:rPr>
              <a:t>Environmental effects</a:t>
            </a:r>
          </a:p>
          <a:p>
            <a:pPr lvl="1">
              <a:lnSpc>
                <a:spcPct val="140000"/>
              </a:lnSpc>
              <a:spcBef>
                <a:spcPts val="0"/>
              </a:spcBef>
            </a:pPr>
            <a:r>
              <a:rPr lang="en-US" altLang="zh-CN" dirty="0">
                <a:latin typeface="Arial" panose="020B0604020202020204" pitchFamily="34" charset="0"/>
                <a:cs typeface="Arial" panose="020B0604020202020204" pitchFamily="34" charset="0"/>
              </a:rPr>
              <a:t>sensors often placed in harsh environments</a:t>
            </a:r>
          </a:p>
          <a:p>
            <a:pPr lvl="1">
              <a:lnSpc>
                <a:spcPct val="140000"/>
              </a:lnSpc>
              <a:spcBef>
                <a:spcPts val="0"/>
              </a:spcBef>
            </a:pPr>
            <a:r>
              <a:rPr lang="en-US" altLang="zh-CN" dirty="0">
                <a:latin typeface="Arial" panose="020B0604020202020204" pitchFamily="34" charset="0"/>
                <a:cs typeface="Arial" panose="020B0604020202020204" pitchFamily="34" charset="0"/>
              </a:rPr>
              <a:t>fluctuations in temperature, pressure, humidity</a:t>
            </a:r>
          </a:p>
          <a:p>
            <a:pPr>
              <a:lnSpc>
                <a:spcPct val="140000"/>
              </a:lnSpc>
              <a:spcBef>
                <a:spcPts val="0"/>
              </a:spcBef>
            </a:pPr>
            <a:r>
              <a:rPr lang="en-US" altLang="zh-CN" dirty="0">
                <a:latin typeface="Arial" panose="020B0604020202020204" pitchFamily="34" charset="0"/>
                <a:cs typeface="Arial" panose="020B0604020202020204" pitchFamily="34" charset="0"/>
              </a:rPr>
              <a:t>Energy constraints</a:t>
            </a:r>
          </a:p>
          <a:p>
            <a:pPr lvl="1">
              <a:lnSpc>
                <a:spcPct val="140000"/>
              </a:lnSpc>
              <a:spcBef>
                <a:spcPts val="0"/>
              </a:spcBef>
            </a:pPr>
            <a:r>
              <a:rPr lang="en-US" altLang="zh-CN" dirty="0">
                <a:latin typeface="Arial" panose="020B0604020202020204" pitchFamily="34" charset="0"/>
                <a:cs typeface="Arial" panose="020B0604020202020204" pitchFamily="34" charset="0"/>
              </a:rPr>
              <a:t>finite power sources (batteries)!</a:t>
            </a:r>
          </a:p>
          <a:p>
            <a:pPr lvl="1">
              <a:lnSpc>
                <a:spcPct val="140000"/>
              </a:lnSpc>
              <a:spcBef>
                <a:spcPts val="0"/>
              </a:spcBef>
            </a:pPr>
            <a:r>
              <a:rPr lang="en-US" altLang="zh-CN" dirty="0">
                <a:latin typeface="Arial" panose="020B0604020202020204" pitchFamily="34" charset="0"/>
                <a:cs typeface="Arial" panose="020B0604020202020204" pitchFamily="34" charset="0"/>
              </a:rPr>
              <a:t>time synchronization solutions should be energy-efficient</a:t>
            </a:r>
          </a:p>
          <a:p>
            <a:pPr>
              <a:lnSpc>
                <a:spcPct val="140000"/>
              </a:lnSpc>
              <a:spcBef>
                <a:spcPts val="0"/>
              </a:spcBef>
            </a:pPr>
            <a:r>
              <a:rPr lang="en-US" altLang="zh-CN" dirty="0">
                <a:latin typeface="Arial" panose="020B0604020202020204" pitchFamily="34" charset="0"/>
                <a:cs typeface="Arial" panose="020B0604020202020204" pitchFamily="34" charset="0"/>
              </a:rPr>
              <a:t>Wireless medium and mobility</a:t>
            </a:r>
          </a:p>
          <a:p>
            <a:pPr lvl="1">
              <a:lnSpc>
                <a:spcPct val="140000"/>
              </a:lnSpc>
              <a:spcBef>
                <a:spcPts val="0"/>
              </a:spcBef>
            </a:pPr>
            <a:r>
              <a:rPr lang="en-US" altLang="zh-CN" dirty="0">
                <a:latin typeface="Arial" panose="020B0604020202020204" pitchFamily="34" charset="0"/>
                <a:cs typeface="Arial" panose="020B0604020202020204" pitchFamily="34" charset="0"/>
              </a:rPr>
              <a:t>throughput variations, error rates, radio interferences, asymmetric links</a:t>
            </a:r>
          </a:p>
          <a:p>
            <a:pPr lvl="1">
              <a:lnSpc>
                <a:spcPct val="140000"/>
              </a:lnSpc>
              <a:spcBef>
                <a:spcPts val="0"/>
              </a:spcBef>
            </a:pPr>
            <a:r>
              <a:rPr lang="en-US" altLang="zh-CN" dirty="0">
                <a:latin typeface="Arial" panose="020B0604020202020204" pitchFamily="34" charset="0"/>
                <a:cs typeface="Arial" panose="020B0604020202020204" pitchFamily="34" charset="0"/>
              </a:rPr>
              <a:t>topology changes, density changes</a:t>
            </a:r>
          </a:p>
          <a:p>
            <a:pPr lvl="1">
              <a:lnSpc>
                <a:spcPct val="140000"/>
              </a:lnSpc>
              <a:spcBef>
                <a:spcPts val="0"/>
              </a:spcBef>
            </a:pPr>
            <a:r>
              <a:rPr lang="en-US" altLang="zh-CN" dirty="0">
                <a:latin typeface="Arial" panose="020B0604020202020204" pitchFamily="34" charset="0"/>
                <a:cs typeface="Arial" panose="020B0604020202020204" pitchFamily="34" charset="0"/>
              </a:rPr>
              <a:t>node failure (battery depletion)</a:t>
            </a:r>
          </a:p>
          <a:p>
            <a:pPr>
              <a:lnSpc>
                <a:spcPct val="140000"/>
              </a:lnSpc>
              <a:spcBef>
                <a:spcPts val="0"/>
              </a:spcBef>
            </a:pPr>
            <a:r>
              <a:rPr lang="en-US" altLang="zh-CN" dirty="0">
                <a:latin typeface="Arial" panose="020B0604020202020204" pitchFamily="34" charset="0"/>
                <a:cs typeface="Arial" panose="020B0604020202020204" pitchFamily="34" charset="0"/>
              </a:rPr>
              <a:t>Other challenges</a:t>
            </a:r>
          </a:p>
          <a:p>
            <a:pPr lvl="1">
              <a:lnSpc>
                <a:spcPct val="140000"/>
              </a:lnSpc>
              <a:spcBef>
                <a:spcPts val="0"/>
              </a:spcBef>
            </a:pPr>
            <a:r>
              <a:rPr lang="en-US" altLang="zh-CN" dirty="0">
                <a:latin typeface="Arial" panose="020B0604020202020204" pitchFamily="34" charset="0"/>
                <a:cs typeface="Arial" panose="020B0604020202020204" pitchFamily="34" charset="0"/>
              </a:rPr>
              <a:t>limited processor speeds or memory (lightweight algorithms)</a:t>
            </a:r>
          </a:p>
          <a:p>
            <a:pPr lvl="1">
              <a:lnSpc>
                <a:spcPct val="140000"/>
              </a:lnSpc>
              <a:spcBef>
                <a:spcPts val="0"/>
              </a:spcBef>
            </a:pPr>
            <a:r>
              <a:rPr lang="en-US" altLang="zh-CN" dirty="0">
                <a:latin typeface="Arial" panose="020B0604020202020204" pitchFamily="34" charset="0"/>
                <a:cs typeface="Arial" panose="020B0604020202020204" pitchFamily="34" charset="0"/>
              </a:rPr>
              <a:t>cost and size of synchronization hardware (GPS)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5572627"/>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Synchronization Messages</a:t>
            </a:r>
            <a:endParaRPr lang="zh-CN" altLang="en-US"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573458"/>
                <a:ext cx="10861431" cy="2590799"/>
              </a:xfrm>
            </p:spPr>
            <p:txBody>
              <a:bodyPr>
                <a:normAutofit/>
              </a:bodyPr>
              <a:lstStyle/>
              <a:p>
                <a:pPr>
                  <a:lnSpc>
                    <a:spcPct val="120000"/>
                  </a:lnSpc>
                  <a:spcBef>
                    <a:spcPts val="0"/>
                  </a:spcBef>
                </a:pPr>
                <a:r>
                  <a:rPr lang="en-US" altLang="zh-CN" sz="2400" dirty="0">
                    <a:solidFill>
                      <a:schemeClr val="accent1"/>
                    </a:solidFill>
                    <a:latin typeface="Arial" panose="020B0604020202020204" pitchFamily="34" charset="0"/>
                    <a:cs typeface="Arial" panose="020B0604020202020204" pitchFamily="34" charset="0"/>
                  </a:rPr>
                  <a:t>Pairwise synchronization</a:t>
                </a:r>
                <a:r>
                  <a:rPr lang="en-US" altLang="zh-CN" sz="2400" dirty="0">
                    <a:latin typeface="Arial" panose="020B0604020202020204" pitchFamily="34" charset="0"/>
                    <a:cs typeface="Arial" panose="020B0604020202020204" pitchFamily="34" charset="0"/>
                  </a:rPr>
                  <a:t>: two nodes synchronize using at least one message</a:t>
                </a:r>
              </a:p>
              <a:p>
                <a:pPr>
                  <a:lnSpc>
                    <a:spcPct val="120000"/>
                  </a:lnSpc>
                  <a:spcBef>
                    <a:spcPts val="0"/>
                  </a:spcBef>
                </a:pPr>
                <a:r>
                  <a:rPr lang="en-US" altLang="zh-CN" sz="2400" dirty="0">
                    <a:solidFill>
                      <a:schemeClr val="accent1"/>
                    </a:solidFill>
                    <a:latin typeface="Arial" panose="020B0604020202020204" pitchFamily="34" charset="0"/>
                    <a:cs typeface="Arial" panose="020B0604020202020204" pitchFamily="34" charset="0"/>
                  </a:rPr>
                  <a:t>Network-wide synchronization</a:t>
                </a:r>
                <a:r>
                  <a:rPr lang="en-US" altLang="zh-CN" sz="2400" dirty="0">
                    <a:latin typeface="Arial" panose="020B0604020202020204" pitchFamily="34" charset="0"/>
                    <a:cs typeface="Arial" panose="020B0604020202020204" pitchFamily="34" charset="0"/>
                  </a:rPr>
                  <a:t>: repeat pairwise synchronization throughout network</a:t>
                </a:r>
              </a:p>
              <a:p>
                <a:pPr>
                  <a:lnSpc>
                    <a:spcPct val="120000"/>
                  </a:lnSpc>
                  <a:spcBef>
                    <a:spcPts val="0"/>
                  </a:spcBef>
                </a:pPr>
                <a:r>
                  <a:rPr lang="en-US" altLang="zh-CN" sz="2400" dirty="0">
                    <a:solidFill>
                      <a:schemeClr val="accent1"/>
                    </a:solidFill>
                    <a:latin typeface="Arial" panose="020B0604020202020204" pitchFamily="34" charset="0"/>
                    <a:cs typeface="Arial" panose="020B0604020202020204" pitchFamily="34" charset="0"/>
                  </a:rPr>
                  <a:t>One-way message exchange</a:t>
                </a:r>
                <a:r>
                  <a:rPr lang="en-US" altLang="zh-CN" sz="2400" dirty="0">
                    <a:latin typeface="Arial" panose="020B0604020202020204" pitchFamily="34" charset="0"/>
                    <a:cs typeface="Arial" panose="020B0604020202020204" pitchFamily="34" charset="0"/>
                  </a:rPr>
                  <a:t>:</a:t>
                </a:r>
              </a:p>
              <a:p>
                <a:pPr lvl="1">
                  <a:lnSpc>
                    <a:spcPct val="120000"/>
                  </a:lnSpc>
                  <a:spcBef>
                    <a:spcPts val="0"/>
                  </a:spcBef>
                </a:pPr>
                <a:r>
                  <a:rPr lang="en-US" altLang="zh-CN" sz="2000" dirty="0">
                    <a:latin typeface="Arial" panose="020B0604020202020204" pitchFamily="34" charset="0"/>
                    <a:cs typeface="Arial" panose="020B0604020202020204" pitchFamily="34" charset="0"/>
                  </a:rPr>
                  <a:t>single message containing a time stamp</a:t>
                </a:r>
              </a:p>
              <a:p>
                <a:pPr lvl="1">
                  <a:lnSpc>
                    <a:spcPct val="120000"/>
                  </a:lnSpc>
                  <a:spcBef>
                    <a:spcPts val="0"/>
                  </a:spcBef>
                </a:pPr>
                <a:r>
                  <a:rPr lang="en-US" altLang="zh-CN" sz="2000" dirty="0">
                    <a:latin typeface="Arial" panose="020B0604020202020204" pitchFamily="34" charset="0"/>
                    <a:cs typeface="Arial" panose="020B0604020202020204" pitchFamily="34" charset="0"/>
                  </a:rPr>
                  <a:t>difference can be obtained from (</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a:rPr>
                          <m:t>𝑡</m:t>
                        </m:r>
                      </m:e>
                      <m:sub>
                        <m:r>
                          <a:rPr lang="en-US" altLang="zh-CN" sz="2000" b="0" i="1" smtClean="0">
                            <a:latin typeface="Cambria Math"/>
                          </a:rPr>
                          <m:t>2</m:t>
                        </m:r>
                      </m:sub>
                    </m:sSub>
                  </m:oMath>
                </a14:m>
                <a:r>
                  <a:rPr lang="en-US" altLang="zh-CN" sz="2000" dirty="0">
                    <a:latin typeface="Arial" panose="020B0604020202020204" pitchFamily="34" charset="0"/>
                    <a:cs typeface="Arial" panose="020B0604020202020204" pitchFamily="34" charset="0"/>
                  </a:rPr>
                  <a:t>-</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a:rPr>
                          <m:t>𝑡</m:t>
                        </m:r>
                      </m:e>
                      <m:sub>
                        <m:r>
                          <a:rPr lang="en-US" altLang="zh-CN" sz="2000" b="0" i="1" smtClean="0">
                            <a:latin typeface="Cambria Math"/>
                          </a:rPr>
                          <m:t>1</m:t>
                        </m:r>
                      </m:sub>
                    </m:sSub>
                  </m:oMath>
                </a14:m>
                <a:r>
                  <a:rPr lang="en-US" altLang="zh-CN" sz="2000" dirty="0">
                    <a:latin typeface="Arial" panose="020B0604020202020204" pitchFamily="34" charset="0"/>
                    <a:cs typeface="Arial" panose="020B0604020202020204" pitchFamily="34" charset="0"/>
                  </a:rPr>
                  <a:t>)=D+</a:t>
                </a:r>
                <a:r>
                  <a:rPr lang="el-GR" altLang="zh-CN" sz="2000" dirty="0">
                    <a:latin typeface="Arial" panose="020B0604020202020204" pitchFamily="34" charset="0"/>
                    <a:cs typeface="Arial" panose="020B0604020202020204" pitchFamily="34" charset="0"/>
                  </a:rPr>
                  <a:t>δ(</a:t>
                </a:r>
                <a:r>
                  <a:rPr lang="en-US" altLang="zh-CN" sz="2000" dirty="0">
                    <a:latin typeface="Arial" panose="020B0604020202020204" pitchFamily="34" charset="0"/>
                    <a:cs typeface="Arial" panose="020B0604020202020204" pitchFamily="34" charset="0"/>
                  </a:rPr>
                  <a:t>D=propagation delay)</a:t>
                </a:r>
                <a:endParaRPr lang="zh-CN" altLang="en-US" sz="2000" dirty="0">
                  <a:latin typeface="Arial" panose="020B0604020202020204" pitchFamily="34" charset="0"/>
                  <a:cs typeface="Arial" panose="020B0604020202020204" pitchFamily="34"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573458"/>
                <a:ext cx="10861431" cy="2590799"/>
              </a:xfrm>
              <a:blipFill>
                <a:blip r:embed="rId2"/>
                <a:stretch>
                  <a:fillRect l="-786" t="-471" r="-674" b="-2588"/>
                </a:stretch>
              </a:blipFill>
            </p:spPr>
            <p:txBody>
              <a:bodyPr/>
              <a:lstStyle/>
              <a:p>
                <a:r>
                  <a:rPr lang="zh-CN" altLang="en-US">
                    <a:noFill/>
                  </a:rPr>
                  <a:t> </a:t>
                </a:r>
              </a:p>
            </p:txBody>
          </p:sp>
        </mc:Fallback>
      </mc:AlternateContent>
      <p:pic>
        <p:nvPicPr>
          <p:cNvPr id="5" name="Picture 2">
            <a:extLst>
              <a:ext uri="{FF2B5EF4-FFF2-40B4-BE49-F238E27FC236}">
                <a16:creationId xmlns:a16="http://schemas.microsoft.com/office/drawing/2014/main" id="{5CCF61B3-8390-4ACD-9B8D-4101087BD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2138" y="4234245"/>
            <a:ext cx="6227724" cy="2590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7640657"/>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Synchronization Messages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24002"/>
            <a:ext cx="9525000" cy="1828798"/>
          </a:xfrm>
        </p:spPr>
        <p:txBody>
          <a:bodyPr>
            <a:normAutofit/>
          </a:bodyPr>
          <a:lstStyle/>
          <a:p>
            <a:pPr>
              <a:lnSpc>
                <a:spcPct val="120000"/>
              </a:lnSpc>
            </a:pPr>
            <a:r>
              <a:rPr lang="en-US" altLang="zh-CN" sz="2400" dirty="0">
                <a:latin typeface="Arial" panose="020B0604020202020204" pitchFamily="34" charset="0"/>
                <a:cs typeface="Arial" panose="020B0604020202020204" pitchFamily="34" charset="0"/>
              </a:rPr>
              <a:t>Two-way message exchange:</a:t>
            </a:r>
          </a:p>
          <a:p>
            <a:pPr lvl="1">
              <a:lnSpc>
                <a:spcPct val="120000"/>
              </a:lnSpc>
            </a:pPr>
            <a:r>
              <a:rPr lang="en-US" altLang="zh-CN" sz="2000" dirty="0">
                <a:latin typeface="Arial" panose="020B0604020202020204" pitchFamily="34" charset="0"/>
                <a:cs typeface="Arial" panose="020B0604020202020204" pitchFamily="34" charset="0"/>
              </a:rPr>
              <a:t>receiver node responds with message containing three time stamps</a:t>
            </a:r>
          </a:p>
          <a:p>
            <a:pPr lvl="1">
              <a:lnSpc>
                <a:spcPct val="120000"/>
              </a:lnSpc>
            </a:pPr>
            <a:r>
              <a:rPr lang="en-US" altLang="zh-CN" sz="2000" dirty="0">
                <a:latin typeface="Arial" panose="020B0604020202020204" pitchFamily="34" charset="0"/>
                <a:cs typeface="Arial" panose="020B0604020202020204" pitchFamily="34" charset="0"/>
              </a:rPr>
              <a:t>assumption: propagation delay is identical in both directions and clock drift does not change between measurements</a:t>
            </a:r>
            <a:endParaRPr lang="zh-CN" altLang="en-US" sz="2000" dirty="0">
              <a:latin typeface="Arial" panose="020B0604020202020204" pitchFamily="34" charset="0"/>
              <a:cs typeface="Arial" panose="020B0604020202020204" pitchFamily="34" charset="0"/>
            </a:endParaRPr>
          </a:p>
        </p:txBody>
      </p:sp>
      <p:pic>
        <p:nvPicPr>
          <p:cNvPr id="6" name="Picture 2">
            <a:extLst>
              <a:ext uri="{FF2B5EF4-FFF2-40B4-BE49-F238E27FC236}">
                <a16:creationId xmlns:a16="http://schemas.microsoft.com/office/drawing/2014/main" id="{FEEFCBC7-2A3B-4494-BCCB-76DC315DAB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1942"/>
          <a:stretch/>
        </p:blipFill>
        <p:spPr bwMode="auto">
          <a:xfrm>
            <a:off x="2649414" y="3352801"/>
            <a:ext cx="6629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a:extLst>
              <a:ext uri="{FF2B5EF4-FFF2-40B4-BE49-F238E27FC236}">
                <a16:creationId xmlns:a16="http://schemas.microsoft.com/office/drawing/2014/main" id="{1CC7089C-39A6-47EC-A80F-714556719E9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935"/>
          <a:stretch/>
        </p:blipFill>
        <p:spPr bwMode="auto">
          <a:xfrm>
            <a:off x="2286000" y="4038601"/>
            <a:ext cx="6629400" cy="2736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2311117"/>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Receiver-Receiver Synchronization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488832"/>
            <a:ext cx="10978662" cy="2590800"/>
          </a:xfrm>
        </p:spPr>
        <p:txBody>
          <a:bodyPr>
            <a:normAutofit/>
          </a:bodyPr>
          <a:lstStyle/>
          <a:p>
            <a:pPr>
              <a:lnSpc>
                <a:spcPct val="120000"/>
              </a:lnSpc>
              <a:spcBef>
                <a:spcPts val="0"/>
              </a:spcBef>
            </a:pPr>
            <a:r>
              <a:rPr lang="en-US" altLang="zh-CN" sz="2400" dirty="0">
                <a:latin typeface="Arial" panose="020B0604020202020204" pitchFamily="34" charset="0"/>
                <a:cs typeface="Arial" panose="020B0604020202020204" pitchFamily="34" charset="0"/>
              </a:rPr>
              <a:t>So far: sender-receiver approaches</a:t>
            </a:r>
          </a:p>
          <a:p>
            <a:pPr>
              <a:lnSpc>
                <a:spcPct val="120000"/>
              </a:lnSpc>
              <a:spcBef>
                <a:spcPts val="0"/>
              </a:spcBef>
            </a:pPr>
            <a:r>
              <a:rPr lang="en-US" altLang="zh-CN" sz="2400" dirty="0">
                <a:latin typeface="Arial" panose="020B0604020202020204" pitchFamily="34" charset="0"/>
                <a:cs typeface="Arial" panose="020B0604020202020204" pitchFamily="34" charset="0"/>
              </a:rPr>
              <a:t>Receiver-receiver: multiple receivers of broadcast messages exchange their message arrival times to compute offsets among them</a:t>
            </a:r>
          </a:p>
          <a:p>
            <a:pPr>
              <a:lnSpc>
                <a:spcPct val="120000"/>
              </a:lnSpc>
              <a:spcBef>
                <a:spcPts val="0"/>
              </a:spcBef>
            </a:pPr>
            <a:r>
              <a:rPr lang="en-US" altLang="zh-CN" sz="2400" dirty="0">
                <a:latin typeface="Arial" panose="020B0604020202020204" pitchFamily="34" charset="0"/>
                <a:cs typeface="Arial" panose="020B0604020202020204" pitchFamily="34" charset="0"/>
              </a:rPr>
              <a:t>Example: 2 receivers; 3 messages (1 broadcast, 2 exchange messages)</a:t>
            </a:r>
          </a:p>
          <a:p>
            <a:pPr>
              <a:lnSpc>
                <a:spcPct val="120000"/>
              </a:lnSpc>
              <a:spcBef>
                <a:spcPts val="0"/>
              </a:spcBef>
            </a:pPr>
            <a:r>
              <a:rPr lang="en-US" altLang="zh-CN" sz="2400" dirty="0">
                <a:latin typeface="Arial" panose="020B0604020202020204" pitchFamily="34" charset="0"/>
                <a:cs typeface="Arial" panose="020B0604020202020204" pitchFamily="34" charset="0"/>
              </a:rPr>
              <a:t>No time stamp in broadcast message required</a:t>
            </a:r>
            <a:endParaRPr lang="zh-CN" altLang="en-US" sz="2400" dirty="0">
              <a:latin typeface="Arial" panose="020B0604020202020204" pitchFamily="34" charset="0"/>
              <a:cs typeface="Arial" panose="020B0604020202020204" pitchFamily="34" charset="0"/>
            </a:endParaRPr>
          </a:p>
        </p:txBody>
      </p:sp>
      <p:pic>
        <p:nvPicPr>
          <p:cNvPr id="5" name="Picture 2">
            <a:extLst>
              <a:ext uri="{FF2B5EF4-FFF2-40B4-BE49-F238E27FC236}">
                <a16:creationId xmlns:a16="http://schemas.microsoft.com/office/drawing/2014/main" id="{84DD6AE3-1D68-4871-9F19-643C6879C8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0785" y="3767222"/>
            <a:ext cx="6025661" cy="3026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72194"/>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39311" y="621323"/>
            <a:ext cx="11152689" cy="762000"/>
          </a:xfrm>
        </p:spPr>
        <p:txBody>
          <a:bodyPr>
            <a:noAutofit/>
          </a:bodyPr>
          <a:lstStyle/>
          <a:p>
            <a:r>
              <a:rPr lang="en-US" altLang="zh-CN" sz="4000" b="1" dirty="0" err="1">
                <a:latin typeface="Arial" panose="020B0604020202020204" pitchFamily="34" charset="0"/>
                <a:cs typeface="Arial" panose="020B0604020202020204" pitchFamily="34" charset="0"/>
              </a:rPr>
              <a:t>Nondeterminism</a:t>
            </a:r>
            <a:r>
              <a:rPr lang="en-US" altLang="zh-CN" sz="4000" b="1" dirty="0">
                <a:latin typeface="Arial" panose="020B0604020202020204" pitchFamily="34" charset="0"/>
                <a:cs typeface="Arial" panose="020B0604020202020204" pitchFamily="34" charset="0"/>
              </a:rPr>
              <a:t> of Communication Latency </a:t>
            </a:r>
            <a:endParaRPr lang="zh-CN" altLang="en-US" sz="4000"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1039311" y="1564175"/>
            <a:ext cx="10302766" cy="4936271"/>
          </a:xfrm>
        </p:spPr>
        <p:txBody>
          <a:bodyPr>
            <a:normAutofit lnSpcReduction="10000"/>
          </a:bodyPr>
          <a:lstStyle/>
          <a:p>
            <a:pPr>
              <a:lnSpc>
                <a:spcPct val="130000"/>
              </a:lnSpc>
              <a:spcBef>
                <a:spcPts val="0"/>
              </a:spcBef>
            </a:pPr>
            <a:r>
              <a:rPr lang="en-US" altLang="zh-CN" sz="2400" dirty="0">
                <a:latin typeface="Arial" panose="020B0604020202020204" pitchFamily="34" charset="0"/>
                <a:cs typeface="Arial" panose="020B0604020202020204" pitchFamily="34" charset="0"/>
              </a:rPr>
              <a:t>Several components contribute to total communication latency</a:t>
            </a:r>
          </a:p>
          <a:p>
            <a:r>
              <a:rPr lang="en-US" altLang="zh-CN" sz="2400" dirty="0">
                <a:solidFill>
                  <a:schemeClr val="accent1"/>
                </a:solidFill>
                <a:latin typeface="Arial" panose="020B0604020202020204" pitchFamily="34" charset="0"/>
                <a:cs typeface="Arial" panose="020B0604020202020204" pitchFamily="34" charset="0"/>
              </a:rPr>
              <a:t>Send delay</a:t>
            </a:r>
            <a:r>
              <a:rPr lang="en-US" altLang="zh-CN" sz="2400" dirty="0">
                <a:latin typeface="Arial" panose="020B0604020202020204" pitchFamily="34" charset="0"/>
                <a:cs typeface="Arial" panose="020B0604020202020204" pitchFamily="34" charset="0"/>
              </a:rPr>
              <a:t>: </a:t>
            </a:r>
          </a:p>
          <a:p>
            <a:pPr lvl="1"/>
            <a:r>
              <a:rPr lang="en-US" altLang="zh-CN" sz="2000" dirty="0">
                <a:latin typeface="Arial" panose="020B0604020202020204" pitchFamily="34" charset="0"/>
                <a:cs typeface="Arial" panose="020B0604020202020204" pitchFamily="34" charset="0"/>
              </a:rPr>
              <a:t>generation of synchronization message</a:t>
            </a:r>
          </a:p>
          <a:p>
            <a:pPr lvl="1"/>
            <a:r>
              <a:rPr lang="en-US" altLang="zh-CN" sz="2000" dirty="0">
                <a:latin typeface="Arial" panose="020B0604020202020204" pitchFamily="34" charset="0"/>
                <a:cs typeface="Arial" panose="020B0604020202020204" pitchFamily="34" charset="0"/>
              </a:rPr>
              <a:t>passing message to network interface</a:t>
            </a:r>
          </a:p>
          <a:p>
            <a:pPr lvl="1"/>
            <a:r>
              <a:rPr lang="en-US" altLang="zh-CN" sz="2000" dirty="0">
                <a:latin typeface="Arial" panose="020B0604020202020204" pitchFamily="34" charset="0"/>
                <a:cs typeface="Arial" panose="020B0604020202020204" pitchFamily="34" charset="0"/>
              </a:rPr>
              <a:t>includes delays caused by OS, network protocol stack, device driver</a:t>
            </a:r>
          </a:p>
          <a:p>
            <a:r>
              <a:rPr lang="en-US" altLang="zh-CN" sz="2400" dirty="0">
                <a:solidFill>
                  <a:schemeClr val="accent1"/>
                </a:solidFill>
                <a:latin typeface="Arial" panose="020B0604020202020204" pitchFamily="34" charset="0"/>
                <a:cs typeface="Arial" panose="020B0604020202020204" pitchFamily="34" charset="0"/>
              </a:rPr>
              <a:t>Access delay</a:t>
            </a:r>
            <a:r>
              <a:rPr lang="en-US" altLang="zh-CN" sz="2400" dirty="0">
                <a:latin typeface="Arial" panose="020B0604020202020204" pitchFamily="34" charset="0"/>
                <a:cs typeface="Arial" panose="020B0604020202020204" pitchFamily="34" charset="0"/>
              </a:rPr>
              <a:t>:</a:t>
            </a:r>
          </a:p>
          <a:p>
            <a:pPr lvl="1"/>
            <a:r>
              <a:rPr lang="en-US" altLang="zh-CN" sz="2000" dirty="0">
                <a:latin typeface="Arial" panose="020B0604020202020204" pitchFamily="34" charset="0"/>
                <a:cs typeface="Arial" panose="020B0604020202020204" pitchFamily="34" charset="0"/>
              </a:rPr>
              <a:t>accessing the physical channel</a:t>
            </a:r>
          </a:p>
          <a:p>
            <a:pPr lvl="1"/>
            <a:r>
              <a:rPr lang="en-US" altLang="zh-CN" sz="2000" dirty="0">
                <a:latin typeface="Arial" panose="020B0604020202020204" pitchFamily="34" charset="0"/>
                <a:cs typeface="Arial" panose="020B0604020202020204" pitchFamily="34" charset="0"/>
              </a:rPr>
              <a:t>mostly determined by medium access control (MAC) protocol</a:t>
            </a:r>
          </a:p>
          <a:p>
            <a:r>
              <a:rPr lang="en-US" altLang="zh-CN" sz="2400" dirty="0">
                <a:solidFill>
                  <a:schemeClr val="accent1"/>
                </a:solidFill>
                <a:latin typeface="Arial" panose="020B0604020202020204" pitchFamily="34" charset="0"/>
                <a:cs typeface="Arial" panose="020B0604020202020204" pitchFamily="34" charset="0"/>
              </a:rPr>
              <a:t>Propagation delay</a:t>
            </a:r>
            <a:r>
              <a:rPr lang="en-US" altLang="zh-CN" sz="2400" dirty="0">
                <a:latin typeface="Arial" panose="020B0604020202020204" pitchFamily="34" charset="0"/>
                <a:cs typeface="Arial" panose="020B0604020202020204" pitchFamily="34" charset="0"/>
              </a:rPr>
              <a:t>:</a:t>
            </a:r>
          </a:p>
          <a:p>
            <a:pPr lvl="1"/>
            <a:r>
              <a:rPr lang="en-US" altLang="zh-CN" sz="2000" dirty="0">
                <a:latin typeface="Arial" panose="020B0604020202020204" pitchFamily="34" charset="0"/>
                <a:cs typeface="Arial" panose="020B0604020202020204" pitchFamily="34" charset="0"/>
              </a:rPr>
              <a:t>actual time for message to travel to sender (typically small)</a:t>
            </a:r>
          </a:p>
          <a:p>
            <a:r>
              <a:rPr lang="en-US" altLang="zh-CN" sz="2400" dirty="0">
                <a:solidFill>
                  <a:schemeClr val="accent1"/>
                </a:solidFill>
                <a:latin typeface="Arial" panose="020B0604020202020204" pitchFamily="34" charset="0"/>
                <a:cs typeface="Arial" panose="020B0604020202020204" pitchFamily="34" charset="0"/>
              </a:rPr>
              <a:t>Receive delay</a:t>
            </a:r>
            <a:r>
              <a:rPr lang="en-US" altLang="zh-CN" sz="2400" dirty="0">
                <a:latin typeface="Arial" panose="020B0604020202020204" pitchFamily="34" charset="0"/>
                <a:cs typeface="Arial" panose="020B0604020202020204" pitchFamily="34" charset="0"/>
              </a:rPr>
              <a:t>:</a:t>
            </a:r>
          </a:p>
          <a:p>
            <a:pPr lvl="1"/>
            <a:r>
              <a:rPr lang="en-US" altLang="zh-CN" sz="2000" dirty="0">
                <a:latin typeface="Arial" panose="020B0604020202020204" pitchFamily="34" charset="0"/>
                <a:cs typeface="Arial" panose="020B0604020202020204" pitchFamily="34" charset="0"/>
              </a:rPr>
              <a:t>receiving and processing the message</a:t>
            </a:r>
          </a:p>
          <a:p>
            <a:pPr lvl="1"/>
            <a:r>
              <a:rPr lang="en-US" altLang="zh-CN" sz="2000" dirty="0">
                <a:latin typeface="Arial" panose="020B0604020202020204" pitchFamily="34" charset="0"/>
                <a:cs typeface="Arial" panose="020B0604020202020204" pitchFamily="34" charset="0"/>
              </a:rPr>
              <a:t>notifying the host (e.g., interrupt)</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1250913"/>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8469EBA9-69F2-47C0-B624-53FA4BE9C40C}"/>
              </a:ext>
            </a:extLst>
          </p:cNvPr>
          <p:cNvSpPr>
            <a:spLocks noGrp="1"/>
          </p:cNvSpPr>
          <p:nvPr>
            <p:ph type="title"/>
          </p:nvPr>
        </p:nvSpPr>
        <p:spPr>
          <a:xfrm>
            <a:off x="1039311" y="621323"/>
            <a:ext cx="11152689" cy="762000"/>
          </a:xfrm>
        </p:spPr>
        <p:txBody>
          <a:bodyPr>
            <a:noAutofit/>
          </a:bodyPr>
          <a:lstStyle/>
          <a:p>
            <a:r>
              <a:rPr lang="en-US" altLang="zh-CN" sz="4000" b="1" dirty="0" err="1">
                <a:latin typeface="Arial" panose="020B0604020202020204" pitchFamily="34" charset="0"/>
                <a:cs typeface="Arial" panose="020B0604020202020204" pitchFamily="34" charset="0"/>
              </a:rPr>
              <a:t>Nondeterminism</a:t>
            </a:r>
            <a:r>
              <a:rPr lang="en-US" altLang="zh-CN" sz="4000" b="1" dirty="0">
                <a:latin typeface="Arial" panose="020B0604020202020204" pitchFamily="34" charset="0"/>
                <a:cs typeface="Arial" panose="020B0604020202020204" pitchFamily="34" charset="0"/>
              </a:rPr>
              <a:t> of Communication Latency </a:t>
            </a:r>
            <a:endParaRPr lang="zh-CN" altLang="en-US" sz="4000" b="1" dirty="0">
              <a:latin typeface="Arial" panose="020B0604020202020204" pitchFamily="34" charset="0"/>
              <a:cs typeface="Arial" panose="020B0604020202020204" pitchFamily="34" charset="0"/>
            </a:endParaRPr>
          </a:p>
        </p:txBody>
      </p:sp>
      <p:pic>
        <p:nvPicPr>
          <p:cNvPr id="4" name="Picture 2">
            <a:extLst>
              <a:ext uri="{FF2B5EF4-FFF2-40B4-BE49-F238E27FC236}">
                <a16:creationId xmlns:a16="http://schemas.microsoft.com/office/drawing/2014/main" id="{A1E5E0CB-0E89-4AD2-AE34-AC16A9F5BA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896943"/>
            <a:ext cx="8763000" cy="370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5943941"/>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Reference Broadcasts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931985" y="1539875"/>
            <a:ext cx="10421815" cy="4953000"/>
          </a:xfrm>
        </p:spPr>
        <p:txBody>
          <a:bodyPr>
            <a:normAutofit fontScale="92500" lnSpcReduction="10000"/>
          </a:bodyPr>
          <a:lstStyle/>
          <a:p>
            <a:pPr>
              <a:lnSpc>
                <a:spcPct val="120000"/>
              </a:lnSpc>
            </a:pPr>
            <a:r>
              <a:rPr lang="en-US" altLang="zh-CN" sz="2400" dirty="0">
                <a:solidFill>
                  <a:schemeClr val="accent1"/>
                </a:solidFill>
                <a:latin typeface="Arial" panose="020B0604020202020204" pitchFamily="34" charset="0"/>
                <a:cs typeface="Arial" panose="020B0604020202020204" pitchFamily="34" charset="0"/>
              </a:rPr>
              <a:t>Global Positioning System (GPS)</a:t>
            </a:r>
            <a:r>
              <a:rPr lang="en-US" altLang="zh-CN" sz="2400" dirty="0">
                <a:latin typeface="Arial" panose="020B0604020202020204" pitchFamily="34" charset="0"/>
                <a:cs typeface="Arial" panose="020B0604020202020204" pitchFamily="34" charset="0"/>
              </a:rPr>
              <a:t> is a well-known global source of time</a:t>
            </a:r>
          </a:p>
          <a:p>
            <a:pPr lvl="1">
              <a:lnSpc>
                <a:spcPct val="120000"/>
              </a:lnSpc>
            </a:pPr>
            <a:r>
              <a:rPr lang="en-US" altLang="zh-CN" sz="2000" dirty="0">
                <a:latin typeface="Arial" panose="020B0604020202020204" pitchFamily="34" charset="0"/>
                <a:cs typeface="Arial" panose="020B0604020202020204" pitchFamily="34" charset="0"/>
              </a:rPr>
              <a:t>time measured from </a:t>
            </a:r>
            <a:r>
              <a:rPr lang="en-US" altLang="zh-CN" sz="2000" dirty="0">
                <a:solidFill>
                  <a:schemeClr val="accent1"/>
                </a:solidFill>
                <a:latin typeface="Arial" panose="020B0604020202020204" pitchFamily="34" charset="0"/>
                <a:cs typeface="Arial" panose="020B0604020202020204" pitchFamily="34" charset="0"/>
              </a:rPr>
              <a:t>epoch</a:t>
            </a:r>
            <a:r>
              <a:rPr lang="en-US" altLang="zh-CN" sz="2000" dirty="0">
                <a:latin typeface="Arial" panose="020B0604020202020204" pitchFamily="34" charset="0"/>
                <a:cs typeface="Arial" panose="020B0604020202020204" pitchFamily="34" charset="0"/>
              </a:rPr>
              <a:t> started at 0h January 6, 1980 UTC</a:t>
            </a:r>
          </a:p>
          <a:p>
            <a:pPr lvl="1">
              <a:lnSpc>
                <a:spcPct val="120000"/>
              </a:lnSpc>
            </a:pPr>
            <a:r>
              <a:rPr lang="en-US" altLang="zh-CN" sz="2000" dirty="0">
                <a:latin typeface="Arial" panose="020B0604020202020204" pitchFamily="34" charset="0"/>
                <a:cs typeface="Arial" panose="020B0604020202020204" pitchFamily="34" charset="0"/>
              </a:rPr>
              <a:t>unlike UTC, GPS not perturbed by leap seconds</a:t>
            </a:r>
          </a:p>
          <a:p>
            <a:pPr lvl="2">
              <a:lnSpc>
                <a:spcPct val="120000"/>
              </a:lnSpc>
            </a:pPr>
            <a:r>
              <a:rPr lang="en-US" altLang="zh-CN" sz="1800" dirty="0">
                <a:latin typeface="Arial" panose="020B0604020202020204" pitchFamily="34" charset="0"/>
                <a:cs typeface="Arial" panose="020B0604020202020204" pitchFamily="34" charset="0"/>
              </a:rPr>
              <a:t>GPS is ahead by 15 seconds (and increasing)</a:t>
            </a:r>
          </a:p>
          <a:p>
            <a:pPr>
              <a:lnSpc>
                <a:spcPct val="120000"/>
              </a:lnSpc>
            </a:pPr>
            <a:r>
              <a:rPr lang="en-US" altLang="zh-CN" sz="2400" dirty="0">
                <a:solidFill>
                  <a:schemeClr val="accent1"/>
                </a:solidFill>
                <a:latin typeface="Arial" panose="020B0604020202020204" pitchFamily="34" charset="0"/>
                <a:cs typeface="Arial" panose="020B0604020202020204" pitchFamily="34" charset="0"/>
              </a:rPr>
              <a:t>Terrestrial radio stations</a:t>
            </a:r>
          </a:p>
          <a:p>
            <a:pPr lvl="1">
              <a:lnSpc>
                <a:spcPct val="120000"/>
              </a:lnSpc>
            </a:pPr>
            <a:r>
              <a:rPr lang="en-US" altLang="zh-CN" sz="2000" dirty="0">
                <a:latin typeface="Arial" panose="020B0604020202020204" pitchFamily="34" charset="0"/>
                <a:cs typeface="Arial" panose="020B0604020202020204" pitchFamily="34" charset="0"/>
              </a:rPr>
              <a:t>WWV/WWVH &amp; WWVB (National Institute of Standards &amp;Technology)</a:t>
            </a:r>
          </a:p>
          <a:p>
            <a:pPr lvl="1">
              <a:lnSpc>
                <a:spcPct val="120000"/>
              </a:lnSpc>
            </a:pPr>
            <a:r>
              <a:rPr lang="en-US" altLang="zh-CN" sz="2000" dirty="0">
                <a:latin typeface="Arial" panose="020B0604020202020204" pitchFamily="34" charset="0"/>
                <a:cs typeface="Arial" panose="020B0604020202020204" pitchFamily="34" charset="0"/>
              </a:rPr>
              <a:t>continuously broadcast time based on atomic clocks</a:t>
            </a:r>
          </a:p>
          <a:p>
            <a:pPr>
              <a:lnSpc>
                <a:spcPct val="120000"/>
              </a:lnSpc>
            </a:pPr>
            <a:r>
              <a:rPr lang="en-US" altLang="zh-CN" sz="2400" dirty="0">
                <a:latin typeface="Arial" panose="020B0604020202020204" pitchFamily="34" charset="0"/>
                <a:cs typeface="Arial" panose="020B0604020202020204" pitchFamily="34" charset="0"/>
              </a:rPr>
              <a:t>Problems with these techniques:</a:t>
            </a:r>
          </a:p>
          <a:p>
            <a:pPr lvl="1">
              <a:lnSpc>
                <a:spcPct val="120000"/>
              </a:lnSpc>
            </a:pPr>
            <a:r>
              <a:rPr lang="en-US" altLang="zh-CN" sz="2000" dirty="0">
                <a:latin typeface="Arial" panose="020B0604020202020204" pitchFamily="34" charset="0"/>
                <a:cs typeface="Arial" panose="020B0604020202020204" pitchFamily="34" charset="0"/>
              </a:rPr>
              <a:t>not universally available (underwater, indoors, outer space)</a:t>
            </a:r>
          </a:p>
          <a:p>
            <a:pPr lvl="1">
              <a:lnSpc>
                <a:spcPct val="120000"/>
              </a:lnSpc>
            </a:pPr>
            <a:r>
              <a:rPr lang="en-US" altLang="zh-CN" sz="2000" dirty="0">
                <a:latin typeface="Arial" panose="020B0604020202020204" pitchFamily="34" charset="0"/>
                <a:cs typeface="Arial" panose="020B0604020202020204" pitchFamily="34" charset="0"/>
              </a:rPr>
              <a:t>need for high-power receivers</a:t>
            </a:r>
          </a:p>
          <a:p>
            <a:pPr lvl="1">
              <a:lnSpc>
                <a:spcPct val="120000"/>
              </a:lnSpc>
            </a:pPr>
            <a:r>
              <a:rPr lang="en-US" altLang="zh-CN" sz="2000" dirty="0">
                <a:latin typeface="Arial" panose="020B0604020202020204" pitchFamily="34" charset="0"/>
                <a:cs typeface="Arial" panose="020B0604020202020204" pitchFamily="34" charset="0"/>
              </a:rPr>
              <a:t>size</a:t>
            </a:r>
          </a:p>
          <a:p>
            <a:pPr lvl="1">
              <a:lnSpc>
                <a:spcPct val="120000"/>
              </a:lnSpc>
            </a:pPr>
            <a:r>
              <a:rPr lang="en-US" altLang="zh-CN" sz="2000" dirty="0">
                <a:latin typeface="Arial" panose="020B0604020202020204" pitchFamily="34" charset="0"/>
                <a:cs typeface="Arial" panose="020B0604020202020204" pitchFamily="34" charset="0"/>
              </a:rPr>
              <a:t>cost</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0861137"/>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1172092" cy="1325563"/>
          </a:xfrm>
        </p:spPr>
        <p:txBody>
          <a:bodyPr>
            <a:normAutofit/>
          </a:bodyPr>
          <a:lstStyle/>
          <a:p>
            <a:r>
              <a:rPr lang="en-US" altLang="zh-CN" b="1" dirty="0">
                <a:latin typeface="Arial" panose="020B0604020202020204" pitchFamily="34" charset="0"/>
                <a:cs typeface="Arial" panose="020B0604020202020204" pitchFamily="34" charset="0"/>
              </a:rPr>
              <a:t>Lightweight Tree-Based Synchronization </a:t>
            </a:r>
            <a:endParaRPr lang="zh-CN" altLang="en-US"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560910"/>
                <a:ext cx="10228385" cy="1828800"/>
              </a:xfrm>
            </p:spPr>
            <p:txBody>
              <a:bodyPr>
                <a:normAutofit/>
              </a:bodyPr>
              <a:lstStyle/>
              <a:p>
                <a:r>
                  <a:rPr lang="en-US" altLang="zh-CN" sz="2400" dirty="0">
                    <a:latin typeface="Arial" panose="020B0604020202020204" pitchFamily="34" charset="0"/>
                    <a:cs typeface="Arial" panose="020B0604020202020204" pitchFamily="34" charset="0"/>
                  </a:rPr>
                  <a:t>Goal of LTS is to provide specified precision with little overhead</a:t>
                </a:r>
              </a:p>
              <a:p>
                <a:r>
                  <a:rPr lang="en-US" altLang="zh-CN" sz="2400" dirty="0">
                    <a:latin typeface="Arial" panose="020B0604020202020204" pitchFamily="34" charset="0"/>
                    <a:cs typeface="Arial" panose="020B0604020202020204" pitchFamily="34" charset="0"/>
                  </a:rPr>
                  <a:t>Based on </a:t>
                </a:r>
                <a:r>
                  <a:rPr lang="en-US" altLang="zh-CN" sz="2400" dirty="0">
                    <a:solidFill>
                      <a:schemeClr val="accent1"/>
                    </a:solidFill>
                    <a:latin typeface="Arial" panose="020B0604020202020204" pitchFamily="34" charset="0"/>
                    <a:cs typeface="Arial" panose="020B0604020202020204" pitchFamily="34" charset="0"/>
                  </a:rPr>
                  <a:t>pairwise synchronization</a:t>
                </a:r>
                <a:r>
                  <a:rPr lang="en-US" altLang="zh-CN" sz="2400" dirty="0">
                    <a:latin typeface="Arial" panose="020B0604020202020204" pitchFamily="34" charset="0"/>
                    <a:cs typeface="Arial" panose="020B0604020202020204" pitchFamily="34" charset="0"/>
                  </a:rPr>
                  <a:t>:</a:t>
                </a:r>
              </a:p>
              <a:p>
                <a:r>
                  <a:rPr lang="en-US" altLang="zh-CN" sz="2400" dirty="0">
                    <a:latin typeface="Arial" panose="020B0604020202020204" pitchFamily="34" charset="0"/>
                    <a:cs typeface="Arial" panose="020B0604020202020204" pitchFamily="34" charset="0"/>
                  </a:rPr>
                  <a:t>message from j to k, containing time stamp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a:rPr>
                          <m:t>𝑡</m:t>
                        </m:r>
                      </m:e>
                      <m:sub>
                        <m:r>
                          <a:rPr lang="en-US" altLang="zh-CN" sz="2400" b="0" i="1" smtClean="0">
                            <a:latin typeface="Cambria Math"/>
                          </a:rPr>
                          <m:t>1</m:t>
                        </m:r>
                      </m:sub>
                    </m:sSub>
                  </m:oMath>
                </a14:m>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jʼs</a:t>
                </a:r>
                <a:r>
                  <a:rPr lang="en-US" altLang="zh-CN" sz="2400" dirty="0">
                    <a:latin typeface="Arial" panose="020B0604020202020204" pitchFamily="34" charset="0"/>
                    <a:cs typeface="Arial" panose="020B0604020202020204" pitchFamily="34" charset="0"/>
                  </a:rPr>
                  <a:t> clock)</a:t>
                </a:r>
              </a:p>
              <a:p>
                <a:r>
                  <a:rPr lang="en-US" altLang="zh-CN" sz="2400" dirty="0">
                    <a:latin typeface="Arial" panose="020B0604020202020204" pitchFamily="34" charset="0"/>
                    <a:cs typeface="Arial" panose="020B0604020202020204" pitchFamily="34" charset="0"/>
                  </a:rPr>
                  <a:t>message from k to j, containing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𝑡</m:t>
                        </m:r>
                      </m:e>
                      <m:sub>
                        <m:r>
                          <a:rPr lang="en-US" altLang="zh-CN" sz="2400" i="1">
                            <a:latin typeface="Cambria Math"/>
                          </a:rPr>
                          <m:t>1</m:t>
                        </m:r>
                      </m:sub>
                    </m:sSub>
                  </m:oMath>
                </a14:m>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jʼs</a:t>
                </a:r>
                <a:r>
                  <a:rPr lang="en-US" altLang="zh-CN" sz="2400" dirty="0">
                    <a:latin typeface="Arial" panose="020B0604020202020204" pitchFamily="34" charset="0"/>
                    <a:cs typeface="Arial" panose="020B0604020202020204" pitchFamily="34" charset="0"/>
                  </a:rPr>
                  <a:t> clock) and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𝑡</m:t>
                        </m:r>
                      </m:e>
                      <m:sub>
                        <m:r>
                          <a:rPr lang="en-US" altLang="zh-CN" sz="2400" b="0" i="1" smtClean="0">
                            <a:latin typeface="Cambria Math"/>
                          </a:rPr>
                          <m:t>2</m:t>
                        </m:r>
                      </m:sub>
                    </m:sSub>
                  </m:oMath>
                </a14:m>
                <a:r>
                  <a:rPr lang="en-US" altLang="zh-CN" sz="2400" dirty="0">
                    <a:latin typeface="Arial" panose="020B0604020202020204" pitchFamily="34" charset="0"/>
                    <a:cs typeface="Arial" panose="020B0604020202020204" pitchFamily="34" charset="0"/>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𝑡</m:t>
                        </m:r>
                      </m:e>
                      <m:sub>
                        <m:r>
                          <a:rPr lang="en-US" altLang="zh-CN" sz="2400" b="0" i="1" smtClean="0">
                            <a:latin typeface="Cambria Math"/>
                          </a:rPr>
                          <m:t>3</m:t>
                        </m:r>
                      </m:sub>
                    </m:sSub>
                  </m:oMath>
                </a14:m>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kʼs</a:t>
                </a:r>
                <a:r>
                  <a:rPr lang="en-US" altLang="zh-CN" sz="2400" dirty="0">
                    <a:latin typeface="Arial" panose="020B0604020202020204" pitchFamily="34" charset="0"/>
                    <a:cs typeface="Arial" panose="020B0604020202020204" pitchFamily="34" charset="0"/>
                  </a:rPr>
                  <a:t> clock)</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560910"/>
                <a:ext cx="10228385" cy="1828800"/>
              </a:xfrm>
              <a:blipFill>
                <a:blip r:embed="rId2"/>
                <a:stretch>
                  <a:fillRect l="-835" t="-4333" b="-5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内容占位符 2"/>
              <p:cNvSpPr txBox="1">
                <a:spLocks/>
              </p:cNvSpPr>
              <p:nvPr/>
            </p:nvSpPr>
            <p:spPr>
              <a:xfrm>
                <a:off x="791307" y="5539154"/>
                <a:ext cx="10011508" cy="1143000"/>
              </a:xfrm>
              <a:prstGeom prst="rect">
                <a:avLst/>
              </a:prstGeom>
            </p:spPr>
            <p:txBody>
              <a:bodyPr vert="horz" rtlCol="0">
                <a:normAutofit/>
              </a:bodyPr>
              <a:lstStyle>
                <a:lvl1pPr marL="342900" indent="-342900" algn="l" rtl="0" eaLnBrk="1" latinLnBrk="0" hangingPunct="1">
                  <a:spcBef>
                    <a:spcPct val="20000"/>
                  </a:spcBef>
                  <a:buClr>
                    <a:schemeClr val="accent1"/>
                  </a:buClr>
                  <a:buSzPct val="50000"/>
                  <a:buFont typeface="Wingdings 2"/>
                  <a:buChar char=""/>
                  <a:defRPr kumimoji="0" sz="24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rtl="0" eaLnBrk="1" latinLnBrk="0" hangingPunct="1">
                  <a:spcBef>
                    <a:spcPct val="20000"/>
                  </a:spcBef>
                  <a:buClr>
                    <a:schemeClr val="accent2"/>
                  </a:buClr>
                  <a:buSzPct val="50000"/>
                  <a:buFont typeface="Wingdings 2"/>
                  <a:buChar char="³"/>
                  <a:defRPr kumimoji="0"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r>
                  <a:rPr lang="en-US" altLang="zh-CN" dirty="0">
                    <a:latin typeface="Arial" panose="020B0604020202020204" pitchFamily="34" charset="0"/>
                    <a:cs typeface="Arial" panose="020B0604020202020204" pitchFamily="34" charset="0"/>
                  </a:rPr>
                  <a:t>assuming message delay D</a:t>
                </a:r>
              </a:p>
              <a:p>
                <a:pPr marL="0" indent="0">
                  <a:buNone/>
                </a:pPr>
                <a14:m>
                  <m:oMathPara xmlns:m="http://schemas.openxmlformats.org/officeDocument/2006/math">
                    <m:oMathParaPr>
                      <m:jc m:val="centerGroup"/>
                    </m:oMathParaPr>
                    <m:oMath xmlns:m="http://schemas.openxmlformats.org/officeDocument/2006/math">
                      <m:r>
                        <m:rPr>
                          <m:sty m:val="p"/>
                        </m:rPr>
                        <a:rPr lang="en-US" altLang="zh-CN" i="1" dirty="0">
                          <a:latin typeface="Cambria Math"/>
                        </a:rPr>
                        <m:t>offset</m:t>
                      </m:r>
                      <m:r>
                        <a:rPr lang="en-US" altLang="zh-CN" i="1" dirty="0">
                          <a:latin typeface="Cambria Math"/>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a:rPr>
                                <m:t>𝑡</m:t>
                              </m:r>
                            </m:e>
                            <m:sub>
                              <m:r>
                                <a:rPr lang="en-US" altLang="zh-CN" i="1">
                                  <a:latin typeface="Cambria Math"/>
                                </a:rPr>
                                <m:t>2</m:t>
                              </m:r>
                            </m:sub>
                          </m:sSub>
                          <m:r>
                            <a:rPr lang="en-US" altLang="zh-CN" i="1">
                              <a:latin typeface="Cambria Math"/>
                            </a:rPr>
                            <m:t>−</m:t>
                          </m:r>
                          <m:sSub>
                            <m:sSubPr>
                              <m:ctrlPr>
                                <a:rPr lang="en-US" altLang="zh-CN" i="1">
                                  <a:latin typeface="Cambria Math" panose="02040503050406030204" pitchFamily="18" charset="0"/>
                                </a:rPr>
                              </m:ctrlPr>
                            </m:sSubPr>
                            <m:e>
                              <m:r>
                                <a:rPr lang="en-US" altLang="zh-CN" i="1">
                                  <a:latin typeface="Cambria Math"/>
                                </a:rPr>
                                <m:t>𝑡</m:t>
                              </m:r>
                            </m:e>
                            <m:sub>
                              <m:r>
                                <a:rPr lang="en-US" altLang="zh-CN" i="1">
                                  <a:latin typeface="Cambria Math"/>
                                </a:rPr>
                                <m:t>4</m:t>
                              </m:r>
                            </m:sub>
                          </m:sSub>
                          <m:r>
                            <a:rPr lang="en-US" altLang="zh-CN" i="1">
                              <a:latin typeface="Cambria Math"/>
                            </a:rPr>
                            <m:t>−</m:t>
                          </m:r>
                          <m:sSub>
                            <m:sSubPr>
                              <m:ctrlPr>
                                <a:rPr lang="en-US" altLang="zh-CN" i="1">
                                  <a:latin typeface="Cambria Math" panose="02040503050406030204" pitchFamily="18" charset="0"/>
                                </a:rPr>
                              </m:ctrlPr>
                            </m:sSubPr>
                            <m:e>
                              <m:r>
                                <a:rPr lang="en-US" altLang="zh-CN" i="1">
                                  <a:latin typeface="Cambria Math"/>
                                </a:rPr>
                                <m:t>𝑡</m:t>
                              </m:r>
                            </m:e>
                            <m:sub>
                              <m:r>
                                <a:rPr lang="en-US" altLang="zh-CN" i="1">
                                  <a:latin typeface="Cambria Math"/>
                                </a:rPr>
                                <m:t>1</m:t>
                              </m:r>
                            </m:sub>
                          </m:sSub>
                          <m:r>
                            <a:rPr lang="en-US" altLang="zh-CN" i="1">
                              <a:latin typeface="Cambria Math"/>
                            </a:rPr>
                            <m:t>+</m:t>
                          </m:r>
                          <m:sSub>
                            <m:sSubPr>
                              <m:ctrlPr>
                                <a:rPr lang="en-US" altLang="zh-CN" i="1">
                                  <a:latin typeface="Cambria Math" panose="02040503050406030204" pitchFamily="18" charset="0"/>
                                </a:rPr>
                              </m:ctrlPr>
                            </m:sSubPr>
                            <m:e>
                              <m:r>
                                <a:rPr lang="en-US" altLang="zh-CN" i="1">
                                  <a:latin typeface="Cambria Math"/>
                                </a:rPr>
                                <m:t>𝑡</m:t>
                              </m:r>
                            </m:e>
                            <m:sub>
                              <m:r>
                                <a:rPr lang="en-US" altLang="zh-CN" i="1">
                                  <a:latin typeface="Cambria Math"/>
                                </a:rPr>
                                <m:t>3</m:t>
                              </m:r>
                            </m:sub>
                          </m:sSub>
                        </m:num>
                        <m:den>
                          <m:r>
                            <a:rPr lang="en-US" altLang="zh-CN" i="1">
                              <a:latin typeface="Cambria Math"/>
                            </a:rPr>
                            <m:t>2</m:t>
                          </m:r>
                        </m:den>
                      </m:f>
                    </m:oMath>
                  </m:oMathPara>
                </a14:m>
                <a:endParaRPr lang="en-US" altLang="zh-CN" dirty="0">
                  <a:latin typeface="Arial" panose="020B0604020202020204" pitchFamily="34" charset="0"/>
                  <a:cs typeface="Arial" panose="020B0604020202020204" pitchFamily="34" charset="0"/>
                </a:endParaRPr>
              </a:p>
            </p:txBody>
          </p:sp>
        </mc:Choice>
        <mc:Fallback xmlns="">
          <p:sp>
            <p:nvSpPr>
              <p:cNvPr id="5" name="内容占位符 2"/>
              <p:cNvSpPr txBox="1">
                <a:spLocks noRot="1" noChangeAspect="1" noMove="1" noResize="1" noEditPoints="1" noAdjustHandles="1" noChangeArrowheads="1" noChangeShapeType="1" noTextEdit="1"/>
              </p:cNvSpPr>
              <p:nvPr/>
            </p:nvSpPr>
            <p:spPr>
              <a:xfrm>
                <a:off x="791307" y="5539154"/>
                <a:ext cx="10011508" cy="1143000"/>
              </a:xfrm>
              <a:prstGeom prst="rect">
                <a:avLst/>
              </a:prstGeom>
              <a:blipFill>
                <a:blip r:embed="rId3"/>
                <a:stretch>
                  <a:fillRect t="-3743"/>
                </a:stretch>
              </a:blipFill>
            </p:spPr>
            <p:txBody>
              <a:bodyPr/>
              <a:lstStyle/>
              <a:p>
                <a:r>
                  <a:rPr lang="zh-CN" altLang="en-US">
                    <a:noFill/>
                  </a:rPr>
                  <a:t> </a:t>
                </a:r>
              </a:p>
            </p:txBody>
          </p:sp>
        </mc:Fallback>
      </mc:AlternateContent>
      <p:pic>
        <p:nvPicPr>
          <p:cNvPr id="6" name="Picture 2">
            <a:extLst>
              <a:ext uri="{FF2B5EF4-FFF2-40B4-BE49-F238E27FC236}">
                <a16:creationId xmlns:a16="http://schemas.microsoft.com/office/drawing/2014/main" id="{05639CAE-73DE-4D57-97F4-767FEB0996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5623" y="3555952"/>
            <a:ext cx="7468332" cy="1741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1362932"/>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199" y="365125"/>
            <a:ext cx="11113477" cy="1325563"/>
          </a:xfrm>
        </p:spPr>
        <p:txBody>
          <a:bodyPr>
            <a:normAutofit/>
          </a:bodyPr>
          <a:lstStyle/>
          <a:p>
            <a:r>
              <a:rPr lang="en-US" altLang="zh-CN" b="1" dirty="0">
                <a:latin typeface="Arial" panose="020B0604020202020204" pitchFamily="34" charset="0"/>
                <a:cs typeface="Arial" panose="020B0604020202020204" pitchFamily="34" charset="0"/>
              </a:rPr>
              <a:t>Lightweight Tree-Based Synchronization</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902677" y="1693253"/>
            <a:ext cx="10380785" cy="4235327"/>
          </a:xfrm>
        </p:spPr>
        <p:txBody>
          <a:bodyPr>
            <a:normAutofit lnSpcReduction="10000"/>
          </a:bodyPr>
          <a:lstStyle/>
          <a:p>
            <a:pPr>
              <a:lnSpc>
                <a:spcPct val="130000"/>
              </a:lnSpc>
            </a:pPr>
            <a:r>
              <a:rPr lang="en-US" altLang="zh-CN" dirty="0">
                <a:solidFill>
                  <a:schemeClr val="accent1"/>
                </a:solidFill>
                <a:latin typeface="Arial" panose="020B0604020202020204" pitchFamily="34" charset="0"/>
                <a:cs typeface="Arial" panose="020B0604020202020204" pitchFamily="34" charset="0"/>
              </a:rPr>
              <a:t>Centralized multi-hop version </a:t>
            </a:r>
            <a:r>
              <a:rPr lang="en-US" altLang="zh-CN" dirty="0">
                <a:latin typeface="Arial" panose="020B0604020202020204" pitchFamily="34" charset="0"/>
                <a:cs typeface="Arial" panose="020B0604020202020204" pitchFamily="34" charset="0"/>
              </a:rPr>
              <a:t>of LTS</a:t>
            </a:r>
          </a:p>
          <a:p>
            <a:pPr lvl="1">
              <a:lnSpc>
                <a:spcPct val="130000"/>
              </a:lnSpc>
            </a:pPr>
            <a:r>
              <a:rPr lang="en-US" altLang="zh-CN" dirty="0">
                <a:latin typeface="Arial" panose="020B0604020202020204" pitchFamily="34" charset="0"/>
                <a:cs typeface="Arial" panose="020B0604020202020204" pitchFamily="34" charset="0"/>
              </a:rPr>
              <a:t>reference node is root of spanning tree containing all nodes</a:t>
            </a:r>
          </a:p>
          <a:p>
            <a:pPr lvl="1">
              <a:lnSpc>
                <a:spcPct val="130000"/>
              </a:lnSpc>
            </a:pPr>
            <a:r>
              <a:rPr lang="en-US" altLang="zh-CN" dirty="0">
                <a:latin typeface="Arial" panose="020B0604020202020204" pitchFamily="34" charset="0"/>
                <a:cs typeface="Arial" panose="020B0604020202020204" pitchFamily="34" charset="0"/>
              </a:rPr>
              <a:t>breadth first search used to construct tree</a:t>
            </a:r>
          </a:p>
          <a:p>
            <a:pPr lvl="1">
              <a:lnSpc>
                <a:spcPct val="130000"/>
              </a:lnSpc>
            </a:pPr>
            <a:r>
              <a:rPr lang="en-US" altLang="zh-CN" dirty="0">
                <a:latin typeface="Arial" panose="020B0604020202020204" pitchFamily="34" charset="0"/>
                <a:cs typeface="Arial" panose="020B0604020202020204" pitchFamily="34" charset="0"/>
              </a:rPr>
              <a:t>once tree established, reference nodes synchronizes with children</a:t>
            </a:r>
          </a:p>
          <a:p>
            <a:pPr lvl="1">
              <a:lnSpc>
                <a:spcPct val="130000"/>
              </a:lnSpc>
            </a:pPr>
            <a:r>
              <a:rPr lang="en-US" altLang="zh-CN" dirty="0">
                <a:latin typeface="Arial" panose="020B0604020202020204" pitchFamily="34" charset="0"/>
                <a:cs typeface="Arial" panose="020B0604020202020204" pitchFamily="34" charset="0"/>
              </a:rPr>
              <a:t>errors from pairwise synchronization are additive</a:t>
            </a:r>
          </a:p>
          <a:p>
            <a:pPr lvl="2">
              <a:lnSpc>
                <a:spcPct val="130000"/>
              </a:lnSpc>
            </a:pPr>
            <a:r>
              <a:rPr lang="en-US" altLang="zh-CN" dirty="0">
                <a:latin typeface="Arial" panose="020B0604020202020204" pitchFamily="34" charset="0"/>
                <a:cs typeface="Arial" panose="020B0604020202020204" pitchFamily="34" charset="0"/>
              </a:rPr>
              <a:t>keep depth of tree small</a:t>
            </a:r>
          </a:p>
          <a:p>
            <a:pPr lvl="1">
              <a:lnSpc>
                <a:spcPct val="130000"/>
              </a:lnSpc>
            </a:pPr>
            <a:r>
              <a:rPr lang="en-US" altLang="zh-CN" dirty="0">
                <a:latin typeface="Arial" panose="020B0604020202020204" pitchFamily="34" charset="0"/>
                <a:cs typeface="Arial" panose="020B0604020202020204" pitchFamily="34" charset="0"/>
              </a:rPr>
              <a:t>overhead of pairwise synchronization: 3 messages</a:t>
            </a:r>
          </a:p>
          <a:p>
            <a:pPr lvl="1">
              <a:lnSpc>
                <a:spcPct val="130000"/>
              </a:lnSpc>
            </a:pPr>
            <a:r>
              <a:rPr lang="en-US" altLang="zh-CN" dirty="0">
                <a:latin typeface="Arial" panose="020B0604020202020204" pitchFamily="34" charset="0"/>
                <a:cs typeface="Arial" panose="020B0604020202020204" pitchFamily="34" charset="0"/>
              </a:rPr>
              <a:t>overhead of network-wide synchronization: 3n-3 messages (n edges)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11538693"/>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1148646" cy="1325563"/>
          </a:xfrm>
        </p:spPr>
        <p:txBody>
          <a:bodyPr>
            <a:normAutofit/>
          </a:bodyPr>
          <a:lstStyle/>
          <a:p>
            <a:r>
              <a:rPr lang="en-US" altLang="zh-CN" b="1" dirty="0">
                <a:latin typeface="Arial" panose="020B0604020202020204" pitchFamily="34" charset="0"/>
                <a:cs typeface="Arial" panose="020B0604020202020204" pitchFamily="34" charset="0"/>
              </a:rPr>
              <a:t>Lightweight Tree-Based Synchronization</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767010"/>
            <a:ext cx="10515600" cy="4516560"/>
          </a:xfrm>
        </p:spPr>
        <p:txBody>
          <a:bodyPr/>
          <a:lstStyle/>
          <a:p>
            <a:pPr>
              <a:lnSpc>
                <a:spcPct val="120000"/>
              </a:lnSpc>
            </a:pPr>
            <a:r>
              <a:rPr lang="en-US" altLang="zh-CN" dirty="0">
                <a:solidFill>
                  <a:schemeClr val="accent1"/>
                </a:solidFill>
                <a:latin typeface="Arial" panose="020B0604020202020204" pitchFamily="34" charset="0"/>
                <a:cs typeface="Arial" panose="020B0604020202020204" pitchFamily="34" charset="0"/>
              </a:rPr>
              <a:t>Distributed multi-hop version </a:t>
            </a:r>
            <a:r>
              <a:rPr lang="en-US" altLang="zh-CN" dirty="0">
                <a:latin typeface="Arial" panose="020B0604020202020204" pitchFamily="34" charset="0"/>
                <a:cs typeface="Arial" panose="020B0604020202020204" pitchFamily="34" charset="0"/>
              </a:rPr>
              <a:t>of  LTS</a:t>
            </a:r>
          </a:p>
          <a:p>
            <a:pPr lvl="1">
              <a:lnSpc>
                <a:spcPct val="120000"/>
              </a:lnSpc>
            </a:pPr>
            <a:r>
              <a:rPr lang="en-US" altLang="zh-CN" dirty="0">
                <a:latin typeface="Arial" panose="020B0604020202020204" pitchFamily="34" charset="0"/>
                <a:cs typeface="Arial" panose="020B0604020202020204" pitchFamily="34" charset="0"/>
              </a:rPr>
              <a:t>one or more reference nodes contacted by sensors whenever synchronization is required</a:t>
            </a:r>
          </a:p>
          <a:p>
            <a:pPr lvl="1">
              <a:lnSpc>
                <a:spcPct val="120000"/>
              </a:lnSpc>
            </a:pPr>
            <a:r>
              <a:rPr lang="en-US" altLang="zh-CN" dirty="0">
                <a:latin typeface="Arial" panose="020B0604020202020204" pitchFamily="34" charset="0"/>
                <a:cs typeface="Arial" panose="020B0604020202020204" pitchFamily="34" charset="0"/>
              </a:rPr>
              <a:t>nodes determine resynchronization period based on desired clock accuracy, distance to reference node, clock drift ρ, time of last synchronization</a:t>
            </a:r>
          </a:p>
          <a:p>
            <a:pPr lvl="1">
              <a:lnSpc>
                <a:spcPct val="120000"/>
              </a:lnSpc>
            </a:pPr>
            <a:r>
              <a:rPr lang="en-US" altLang="zh-CN" dirty="0">
                <a:latin typeface="Arial" panose="020B0604020202020204" pitchFamily="34" charset="0"/>
                <a:cs typeface="Arial" panose="020B0604020202020204" pitchFamily="34" charset="0"/>
              </a:rPr>
              <a:t>node can query neighbors for pending synchronization requests, i.e., node synchronizes with neighbor instead of reference node</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1601089"/>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199" y="365125"/>
            <a:ext cx="11353801" cy="1325563"/>
          </a:xfrm>
        </p:spPr>
        <p:txBody>
          <a:bodyPr>
            <a:noAutofit/>
          </a:bodyPr>
          <a:lstStyle/>
          <a:p>
            <a:r>
              <a:rPr lang="en-US" altLang="zh-CN" sz="4000" b="1" dirty="0">
                <a:latin typeface="Arial" panose="020B0604020202020204" pitchFamily="34" charset="0"/>
                <a:cs typeface="Arial" panose="020B0604020202020204" pitchFamily="34" charset="0"/>
              </a:rPr>
              <a:t>Timing-sync Protocol for Sensor Networks</a:t>
            </a:r>
            <a:endParaRPr lang="zh-CN" altLang="en-US" sz="4000"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737702"/>
            <a:ext cx="10515600" cy="4481390"/>
          </a:xfrm>
        </p:spPr>
        <p:txBody>
          <a:bodyPr/>
          <a:lstStyle/>
          <a:p>
            <a:pPr>
              <a:lnSpc>
                <a:spcPct val="120000"/>
              </a:lnSpc>
            </a:pPr>
            <a:r>
              <a:rPr lang="en-US" altLang="zh-CN" dirty="0">
                <a:latin typeface="Arial" panose="020B0604020202020204" pitchFamily="34" charset="0"/>
                <a:cs typeface="Arial" panose="020B0604020202020204" pitchFamily="34" charset="0"/>
              </a:rPr>
              <a:t>TPSN is another sender-receiver technique</a:t>
            </a:r>
          </a:p>
          <a:p>
            <a:pPr lvl="1">
              <a:lnSpc>
                <a:spcPct val="120000"/>
              </a:lnSpc>
            </a:pPr>
            <a:r>
              <a:rPr lang="en-US" altLang="zh-CN" dirty="0">
                <a:latin typeface="Arial" panose="020B0604020202020204" pitchFamily="34" charset="0"/>
                <a:cs typeface="Arial" panose="020B0604020202020204" pitchFamily="34" charset="0"/>
              </a:rPr>
              <a:t>Uses a tree to organize network</a:t>
            </a:r>
          </a:p>
          <a:p>
            <a:pPr lvl="1">
              <a:lnSpc>
                <a:spcPct val="120000"/>
              </a:lnSpc>
            </a:pPr>
            <a:r>
              <a:rPr lang="en-US" altLang="zh-CN" dirty="0">
                <a:latin typeface="Arial" panose="020B0604020202020204" pitchFamily="34" charset="0"/>
                <a:cs typeface="Arial" panose="020B0604020202020204" pitchFamily="34" charset="0"/>
              </a:rPr>
              <a:t>Uses two phases for synchronization</a:t>
            </a:r>
          </a:p>
          <a:p>
            <a:pPr lvl="2">
              <a:lnSpc>
                <a:spcPct val="120000"/>
              </a:lnSpc>
            </a:pPr>
            <a:r>
              <a:rPr lang="en-US" altLang="zh-CN" dirty="0">
                <a:latin typeface="Arial" panose="020B0604020202020204" pitchFamily="34" charset="0"/>
                <a:cs typeface="Arial" panose="020B0604020202020204" pitchFamily="34" charset="0"/>
              </a:rPr>
              <a:t>discovery phase</a:t>
            </a:r>
          </a:p>
          <a:p>
            <a:pPr lvl="2">
              <a:lnSpc>
                <a:spcPct val="120000"/>
              </a:lnSpc>
            </a:pPr>
            <a:r>
              <a:rPr lang="en-US" altLang="zh-CN" dirty="0">
                <a:latin typeface="Arial" panose="020B0604020202020204" pitchFamily="34" charset="0"/>
                <a:cs typeface="Arial" panose="020B0604020202020204" pitchFamily="34" charset="0"/>
              </a:rPr>
              <a:t>synchronization phase</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0731205"/>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latin typeface="Arial" panose="020B0604020202020204" pitchFamily="34" charset="0"/>
                <a:cs typeface="Arial" panose="020B0604020202020204" pitchFamily="34" charset="0"/>
              </a:rPr>
              <a:t>Timing-sync Protocol for Sensor Networks</a:t>
            </a:r>
            <a:endParaRPr lang="zh-CN" altLang="en-US" sz="4000"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520825"/>
            <a:ext cx="10990385" cy="5272698"/>
          </a:xfrm>
        </p:spPr>
        <p:txBody>
          <a:bodyPr>
            <a:normAutofit/>
          </a:bodyPr>
          <a:lstStyle/>
          <a:p>
            <a:pPr>
              <a:lnSpc>
                <a:spcPct val="130000"/>
              </a:lnSpc>
              <a:spcBef>
                <a:spcPts val="0"/>
              </a:spcBef>
            </a:pPr>
            <a:r>
              <a:rPr lang="en-US" altLang="zh-CN" sz="2400" dirty="0">
                <a:solidFill>
                  <a:schemeClr val="accent1"/>
                </a:solidFill>
                <a:latin typeface="Arial" panose="020B0604020202020204" pitchFamily="34" charset="0"/>
                <a:cs typeface="Arial" panose="020B0604020202020204" pitchFamily="34" charset="0"/>
              </a:rPr>
              <a:t>Level discovery phase</a:t>
            </a:r>
          </a:p>
          <a:p>
            <a:pPr lvl="1">
              <a:lnSpc>
                <a:spcPct val="130000"/>
              </a:lnSpc>
              <a:spcBef>
                <a:spcPts val="0"/>
              </a:spcBef>
            </a:pPr>
            <a:r>
              <a:rPr lang="en-US" altLang="zh-CN" sz="2000" dirty="0">
                <a:latin typeface="Arial" panose="020B0604020202020204" pitchFamily="34" charset="0"/>
                <a:cs typeface="Arial" panose="020B0604020202020204" pitchFamily="34" charset="0"/>
              </a:rPr>
              <a:t>establish hierarchical topology</a:t>
            </a:r>
          </a:p>
          <a:p>
            <a:pPr lvl="1">
              <a:lnSpc>
                <a:spcPct val="130000"/>
              </a:lnSpc>
              <a:spcBef>
                <a:spcPts val="0"/>
              </a:spcBef>
            </a:pPr>
            <a:r>
              <a:rPr lang="en-US" altLang="zh-CN" sz="2000" dirty="0">
                <a:latin typeface="Arial" panose="020B0604020202020204" pitchFamily="34" charset="0"/>
                <a:cs typeface="Arial" panose="020B0604020202020204" pitchFamily="34" charset="0"/>
              </a:rPr>
              <a:t>root initiates phase by broadcasting </a:t>
            </a:r>
            <a:r>
              <a:rPr lang="en-US" altLang="zh-CN" sz="2000" dirty="0" err="1">
                <a:solidFill>
                  <a:schemeClr val="accent1"/>
                </a:solidFill>
                <a:latin typeface="Arial" panose="020B0604020202020204" pitchFamily="34" charset="0"/>
                <a:cs typeface="Arial" panose="020B0604020202020204" pitchFamily="34" charset="0"/>
              </a:rPr>
              <a:t>level_discovery</a:t>
            </a:r>
            <a:r>
              <a:rPr lang="en-US" altLang="zh-CN" sz="2000" dirty="0">
                <a:latin typeface="Arial" panose="020B0604020202020204" pitchFamily="34" charset="0"/>
                <a:cs typeface="Arial" panose="020B0604020202020204" pitchFamily="34" charset="0"/>
              </a:rPr>
              <a:t> message (contains level and identity of sender)</a:t>
            </a:r>
          </a:p>
          <a:p>
            <a:pPr lvl="1">
              <a:lnSpc>
                <a:spcPct val="130000"/>
              </a:lnSpc>
              <a:spcBef>
                <a:spcPts val="0"/>
              </a:spcBef>
            </a:pPr>
            <a:r>
              <a:rPr lang="en-US" altLang="zh-CN" sz="2000" dirty="0">
                <a:latin typeface="Arial" panose="020B0604020202020204" pitchFamily="34" charset="0"/>
                <a:cs typeface="Arial" panose="020B0604020202020204" pitchFamily="34" charset="0"/>
              </a:rPr>
              <a:t>receiver can determine own level (level of sender plus one)</a:t>
            </a:r>
          </a:p>
          <a:p>
            <a:pPr lvl="1">
              <a:lnSpc>
                <a:spcPct val="130000"/>
              </a:lnSpc>
              <a:spcBef>
                <a:spcPts val="0"/>
              </a:spcBef>
            </a:pPr>
            <a:r>
              <a:rPr lang="en-US" altLang="zh-CN" sz="2000" dirty="0">
                <a:latin typeface="Arial" panose="020B0604020202020204" pitchFamily="34" charset="0"/>
                <a:cs typeface="Arial" panose="020B0604020202020204" pitchFamily="34" charset="0"/>
              </a:rPr>
              <a:t>receiver re-broadcasts message with its own identity and level</a:t>
            </a:r>
          </a:p>
          <a:p>
            <a:pPr lvl="1">
              <a:lnSpc>
                <a:spcPct val="130000"/>
              </a:lnSpc>
              <a:spcBef>
                <a:spcPts val="0"/>
              </a:spcBef>
            </a:pPr>
            <a:r>
              <a:rPr lang="en-US" altLang="zh-CN" sz="2000" dirty="0">
                <a:latin typeface="Arial" panose="020B0604020202020204" pitchFamily="34" charset="0"/>
                <a:cs typeface="Arial" panose="020B0604020202020204" pitchFamily="34" charset="0"/>
              </a:rPr>
              <a:t>receiver discards multiple received broadcasts</a:t>
            </a:r>
          </a:p>
          <a:p>
            <a:pPr lvl="1">
              <a:lnSpc>
                <a:spcPct val="130000"/>
              </a:lnSpc>
              <a:spcBef>
                <a:spcPts val="0"/>
              </a:spcBef>
            </a:pPr>
            <a:r>
              <a:rPr lang="en-US" altLang="zh-CN" sz="2000" dirty="0">
                <a:latin typeface="Arial" panose="020B0604020202020204" pitchFamily="34" charset="0"/>
                <a:cs typeface="Arial" panose="020B0604020202020204" pitchFamily="34" charset="0"/>
              </a:rPr>
              <a:t>if node does not know its level (corrupted messages, etc.), it can issue </a:t>
            </a:r>
            <a:r>
              <a:rPr lang="en-US" altLang="zh-CN" sz="2000" dirty="0" err="1">
                <a:solidFill>
                  <a:schemeClr val="accent1"/>
                </a:solidFill>
                <a:latin typeface="Arial" panose="020B0604020202020204" pitchFamily="34" charset="0"/>
                <a:cs typeface="Arial" panose="020B0604020202020204" pitchFamily="34" charset="0"/>
              </a:rPr>
              <a:t>level_request</a:t>
            </a:r>
            <a:r>
              <a:rPr lang="en-US" altLang="zh-CN" sz="2000" dirty="0">
                <a:latin typeface="Arial" panose="020B0604020202020204" pitchFamily="34" charset="0"/>
                <a:cs typeface="Arial" panose="020B0604020202020204" pitchFamily="34" charset="0"/>
              </a:rPr>
              <a:t> message to neighbors (which reply with their levels)</a:t>
            </a:r>
          </a:p>
          <a:p>
            <a:pPr lvl="2">
              <a:lnSpc>
                <a:spcPct val="130000"/>
              </a:lnSpc>
              <a:spcBef>
                <a:spcPts val="0"/>
              </a:spcBef>
            </a:pPr>
            <a:r>
              <a:rPr lang="en-US" altLang="zh-CN" sz="1800" dirty="0" err="1">
                <a:latin typeface="Arial" panose="020B0604020202020204" pitchFamily="34" charset="0"/>
                <a:cs typeface="Arial" panose="020B0604020202020204" pitchFamily="34" charset="0"/>
              </a:rPr>
              <a:t>nodeʼs</a:t>
            </a:r>
            <a:r>
              <a:rPr lang="en-US" altLang="zh-CN" sz="1800" dirty="0">
                <a:latin typeface="Arial" panose="020B0604020202020204" pitchFamily="34" charset="0"/>
                <a:cs typeface="Arial" panose="020B0604020202020204" pitchFamily="34" charset="0"/>
              </a:rPr>
              <a:t> level is then one greater than the smallest level received</a:t>
            </a:r>
          </a:p>
          <a:p>
            <a:pPr lvl="2">
              <a:lnSpc>
                <a:spcPct val="130000"/>
              </a:lnSpc>
              <a:spcBef>
                <a:spcPts val="0"/>
              </a:spcBef>
            </a:pPr>
            <a:r>
              <a:rPr lang="en-US" altLang="zh-CN" sz="1800" dirty="0">
                <a:latin typeface="Arial" panose="020B0604020202020204" pitchFamily="34" charset="0"/>
                <a:cs typeface="Arial" panose="020B0604020202020204" pitchFamily="34" charset="0"/>
              </a:rPr>
              <a:t>node failures can be handled similarly (i.e., if all neighbors at level i-1 disappear, node issues </a:t>
            </a:r>
            <a:r>
              <a:rPr lang="en-US" altLang="zh-CN" sz="1800" dirty="0" err="1">
                <a:latin typeface="Arial" panose="020B0604020202020204" pitchFamily="34" charset="0"/>
                <a:cs typeface="Arial" panose="020B0604020202020204" pitchFamily="34" charset="0"/>
              </a:rPr>
              <a:t>level_request</a:t>
            </a:r>
            <a:r>
              <a:rPr lang="en-US" altLang="zh-CN" sz="1800" dirty="0">
                <a:latin typeface="Arial" panose="020B0604020202020204" pitchFamily="34" charset="0"/>
                <a:cs typeface="Arial" panose="020B0604020202020204" pitchFamily="34" charset="0"/>
              </a:rPr>
              <a:t> message</a:t>
            </a:r>
          </a:p>
          <a:p>
            <a:pPr lvl="2">
              <a:lnSpc>
                <a:spcPct val="130000"/>
              </a:lnSpc>
              <a:spcBef>
                <a:spcPts val="0"/>
              </a:spcBef>
            </a:pPr>
            <a:r>
              <a:rPr lang="en-US" altLang="zh-CN" sz="1800" dirty="0">
                <a:latin typeface="Arial" panose="020B0604020202020204" pitchFamily="34" charset="0"/>
                <a:cs typeface="Arial" panose="020B0604020202020204" pitchFamily="34" charset="0"/>
              </a:rPr>
              <a:t>if root node dies, nodes in level 1 execute </a:t>
            </a:r>
            <a:r>
              <a:rPr lang="en-US" altLang="zh-CN" sz="1800" dirty="0">
                <a:solidFill>
                  <a:schemeClr val="accent1"/>
                </a:solidFill>
                <a:latin typeface="Arial" panose="020B0604020202020204" pitchFamily="34" charset="0"/>
                <a:cs typeface="Arial" panose="020B0604020202020204" pitchFamily="34" charset="0"/>
              </a:rPr>
              <a:t>leader election algorithm</a:t>
            </a:r>
            <a:endParaRPr lang="zh-CN" altLang="en-US" sz="1800" dirty="0">
              <a:solidFill>
                <a:schemeClr val="accent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7874773"/>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latin typeface="Arial" panose="020B0604020202020204" pitchFamily="34" charset="0"/>
                <a:cs typeface="Arial" panose="020B0604020202020204" pitchFamily="34" charset="0"/>
              </a:rPr>
              <a:t>Timing-sync Protocol for Sensor Networks</a:t>
            </a:r>
            <a:endParaRPr lang="zh-CN" altLang="en-US" sz="40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600200"/>
                <a:ext cx="11160369" cy="4437185"/>
              </a:xfrm>
            </p:spPr>
            <p:txBody>
              <a:bodyPr>
                <a:normAutofit/>
              </a:bodyPr>
              <a:lstStyle/>
              <a:p>
                <a:pPr>
                  <a:lnSpc>
                    <a:spcPct val="120000"/>
                  </a:lnSpc>
                  <a:spcBef>
                    <a:spcPts val="0"/>
                  </a:spcBef>
                </a:pPr>
                <a:r>
                  <a:rPr lang="en-US" altLang="zh-CN" sz="2400" dirty="0">
                    <a:solidFill>
                      <a:schemeClr val="accent1"/>
                    </a:solidFill>
                    <a:latin typeface="Arial" panose="020B0604020202020204" pitchFamily="34" charset="0"/>
                    <a:cs typeface="Arial" panose="020B0604020202020204" pitchFamily="34" charset="0"/>
                  </a:rPr>
                  <a:t>Synchronization phase</a:t>
                </a:r>
              </a:p>
              <a:p>
                <a:pPr lvl="1">
                  <a:lnSpc>
                    <a:spcPct val="120000"/>
                  </a:lnSpc>
                  <a:spcBef>
                    <a:spcPts val="0"/>
                  </a:spcBef>
                </a:pPr>
                <a:r>
                  <a:rPr lang="en-US" altLang="zh-CN" sz="2000" dirty="0">
                    <a:latin typeface="Arial" panose="020B0604020202020204" pitchFamily="34" charset="0"/>
                    <a:cs typeface="Arial" panose="020B0604020202020204" pitchFamily="34" charset="0"/>
                  </a:rPr>
                  <a:t>pairwise synchronization along the edges of hierarchical structure</a:t>
                </a:r>
              </a:p>
              <a:p>
                <a:pPr lvl="1">
                  <a:lnSpc>
                    <a:spcPct val="120000"/>
                  </a:lnSpc>
                  <a:spcBef>
                    <a:spcPts val="0"/>
                  </a:spcBef>
                </a:pPr>
                <a:r>
                  <a:rPr lang="en-US" altLang="zh-CN" sz="2000" dirty="0">
                    <a:latin typeface="Arial" panose="020B0604020202020204" pitchFamily="34" charset="0"/>
                    <a:cs typeface="Arial" panose="020B0604020202020204" pitchFamily="34" charset="0"/>
                  </a:rPr>
                  <a:t>each node on level </a:t>
                </a:r>
                <a:r>
                  <a:rPr lang="en-US" altLang="zh-CN" sz="2000" i="1" dirty="0">
                    <a:latin typeface="Arial" panose="020B0604020202020204" pitchFamily="34" charset="0"/>
                    <a:cs typeface="Arial" panose="020B0604020202020204" pitchFamily="34" charset="0"/>
                  </a:rPr>
                  <a:t>i</a:t>
                </a:r>
                <a:r>
                  <a:rPr lang="en-US" altLang="zh-CN" sz="2000" dirty="0">
                    <a:latin typeface="Arial" panose="020B0604020202020204" pitchFamily="34" charset="0"/>
                    <a:cs typeface="Arial" panose="020B0604020202020204" pitchFamily="34" charset="0"/>
                  </a:rPr>
                  <a:t> synchronizes with nodes on level </a:t>
                </a:r>
                <a:r>
                  <a:rPr lang="en-US" altLang="zh-CN" sz="2000" i="1" dirty="0">
                    <a:latin typeface="Arial" panose="020B0604020202020204" pitchFamily="34" charset="0"/>
                    <a:cs typeface="Arial" panose="020B0604020202020204" pitchFamily="34" charset="0"/>
                  </a:rPr>
                  <a:t>i</a:t>
                </a:r>
                <a:r>
                  <a:rPr lang="en-US" altLang="zh-CN" sz="2000" dirty="0">
                    <a:latin typeface="Arial" panose="020B0604020202020204" pitchFamily="34" charset="0"/>
                    <a:cs typeface="Arial" panose="020B0604020202020204" pitchFamily="34" charset="0"/>
                  </a:rPr>
                  <a:t>-1</a:t>
                </a:r>
              </a:p>
              <a:p>
                <a:pPr lvl="2">
                  <a:lnSpc>
                    <a:spcPct val="120000"/>
                  </a:lnSpc>
                  <a:spcBef>
                    <a:spcPts val="0"/>
                  </a:spcBef>
                </a:pPr>
                <a:r>
                  <a:rPr lang="en-US" altLang="zh-CN" sz="1800" dirty="0">
                    <a:latin typeface="Arial" panose="020B0604020202020204" pitchFamily="34" charset="0"/>
                    <a:cs typeface="Arial" panose="020B0604020202020204" pitchFamily="34" charset="0"/>
                  </a:rPr>
                  <a:t>approach similar to LTS:</a:t>
                </a:r>
              </a:p>
              <a:p>
                <a:pPr marL="0" indent="0">
                  <a:lnSpc>
                    <a:spcPct val="120000"/>
                  </a:lnSpc>
                  <a:spcBef>
                    <a:spcPts val="0"/>
                  </a:spcBef>
                  <a:buNone/>
                </a:pPr>
                <a:r>
                  <a:rPr lang="en-US" altLang="zh-CN" sz="1800" dirty="0">
                    <a:latin typeface="Arial" panose="020B0604020202020204" pitchFamily="34" charset="0"/>
                    <a:cs typeface="Arial" panose="020B0604020202020204" pitchFamily="34" charset="0"/>
                  </a:rPr>
                  <a:t>               –  node </a:t>
                </a:r>
                <a:r>
                  <a:rPr lang="en-US" altLang="zh-CN" sz="1800" i="1" dirty="0">
                    <a:latin typeface="Arial" panose="020B0604020202020204" pitchFamily="34" charset="0"/>
                    <a:cs typeface="Arial" panose="020B0604020202020204" pitchFamily="34" charset="0"/>
                  </a:rPr>
                  <a:t>j</a:t>
                </a:r>
                <a:r>
                  <a:rPr lang="en-US" altLang="zh-CN" sz="1800" dirty="0">
                    <a:latin typeface="Arial" panose="020B0604020202020204" pitchFamily="34" charset="0"/>
                    <a:cs typeface="Arial" panose="020B0604020202020204" pitchFamily="34" charset="0"/>
                  </a:rPr>
                  <a:t> issues </a:t>
                </a:r>
                <a:r>
                  <a:rPr lang="en-US" altLang="zh-CN" sz="1800" dirty="0">
                    <a:solidFill>
                      <a:schemeClr val="accent1"/>
                    </a:solidFill>
                    <a:latin typeface="Arial" panose="020B0604020202020204" pitchFamily="34" charset="0"/>
                    <a:cs typeface="Arial" panose="020B0604020202020204" pitchFamily="34" charset="0"/>
                  </a:rPr>
                  <a:t>synchronization pulse </a:t>
                </a:r>
                <a:r>
                  <a:rPr lang="en-US" altLang="zh-CN" sz="1800" dirty="0">
                    <a:latin typeface="Arial" panose="020B0604020202020204" pitchFamily="34" charset="0"/>
                    <a:cs typeface="Arial" panose="020B0604020202020204" pitchFamily="34" charset="0"/>
                  </a:rPr>
                  <a:t>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a:rPr>
                          <m:t>𝑡</m:t>
                        </m:r>
                      </m:e>
                      <m:sub>
                        <m:r>
                          <a:rPr lang="en-US" altLang="zh-CN" sz="1800" i="1">
                            <a:latin typeface="Cambria Math"/>
                          </a:rPr>
                          <m:t>1</m:t>
                        </m:r>
                      </m:sub>
                    </m:sSub>
                  </m:oMath>
                </a14:m>
                <a:r>
                  <a:rPr lang="en-US" altLang="zh-CN" sz="1800" dirty="0">
                    <a:latin typeface="Arial" panose="020B0604020202020204" pitchFamily="34" charset="0"/>
                    <a:cs typeface="Arial" panose="020B0604020202020204" pitchFamily="34" charset="0"/>
                  </a:rPr>
                  <a:t> (containing level and time stamp)</a:t>
                </a:r>
              </a:p>
              <a:p>
                <a:pPr marL="0" indent="0">
                  <a:lnSpc>
                    <a:spcPct val="120000"/>
                  </a:lnSpc>
                  <a:spcBef>
                    <a:spcPts val="0"/>
                  </a:spcBef>
                  <a:buNone/>
                </a:pPr>
                <a:r>
                  <a:rPr lang="en-US" altLang="zh-CN" sz="1800" dirty="0">
                    <a:latin typeface="Arial" panose="020B0604020202020204" pitchFamily="34" charset="0"/>
                    <a:cs typeface="Arial" panose="020B0604020202020204" pitchFamily="34" charset="0"/>
                  </a:rPr>
                  <a:t>               –  node </a:t>
                </a:r>
                <a:r>
                  <a:rPr lang="en-US" altLang="zh-CN" sz="1800" i="1" dirty="0">
                    <a:latin typeface="Arial" panose="020B0604020202020204" pitchFamily="34" charset="0"/>
                    <a:cs typeface="Arial" panose="020B0604020202020204" pitchFamily="34" charset="0"/>
                  </a:rPr>
                  <a:t>k</a:t>
                </a:r>
                <a:r>
                  <a:rPr lang="en-US" altLang="zh-CN" sz="1800" dirty="0">
                    <a:latin typeface="Arial" panose="020B0604020202020204" pitchFamily="34" charset="0"/>
                    <a:cs typeface="Arial" panose="020B0604020202020204" pitchFamily="34" charset="0"/>
                  </a:rPr>
                  <a:t> receives message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a:rPr>
                          <m:t>𝑡</m:t>
                        </m:r>
                      </m:e>
                      <m:sub>
                        <m:r>
                          <a:rPr lang="en-US" altLang="zh-CN" sz="1800" i="1">
                            <a:latin typeface="Cambria Math"/>
                          </a:rPr>
                          <m:t>2</m:t>
                        </m:r>
                      </m:sub>
                    </m:sSub>
                  </m:oMath>
                </a14:m>
                <a:r>
                  <a:rPr lang="en-US" altLang="zh-CN" sz="1800" dirty="0">
                    <a:latin typeface="Arial" panose="020B0604020202020204" pitchFamily="34" charset="0"/>
                    <a:cs typeface="Arial" panose="020B0604020202020204" pitchFamily="34" charset="0"/>
                  </a:rPr>
                  <a:t> and responds with an ACK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a:rPr>
                          <m:t>𝑡</m:t>
                        </m:r>
                      </m:e>
                      <m:sub>
                        <m:r>
                          <a:rPr lang="en-US" altLang="zh-CN" sz="1800" b="0" i="1" smtClean="0">
                            <a:latin typeface="Cambria Math"/>
                          </a:rPr>
                          <m:t>3</m:t>
                        </m:r>
                      </m:sub>
                    </m:sSub>
                  </m:oMath>
                </a14:m>
                <a:r>
                  <a:rPr lang="en-US" altLang="zh-CN" sz="1800" dirty="0">
                    <a:latin typeface="Arial" panose="020B0604020202020204" pitchFamily="34" charset="0"/>
                    <a:cs typeface="Arial" panose="020B0604020202020204" pitchFamily="34" charset="0"/>
                  </a:rPr>
                  <a:t>(containing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a:rPr>
                          <m:t>𝑡</m:t>
                        </m:r>
                      </m:e>
                      <m:sub>
                        <m:r>
                          <a:rPr lang="en-US" altLang="zh-CN" sz="1800" b="0" i="1" smtClean="0">
                            <a:latin typeface="Cambria Math"/>
                          </a:rPr>
                          <m:t>1</m:t>
                        </m:r>
                      </m:sub>
                    </m:sSub>
                  </m:oMath>
                </a14:m>
                <a:r>
                  <a:rPr lang="en-US" altLang="zh-CN" sz="1800" dirty="0">
                    <a:latin typeface="Arial" panose="020B0604020202020204" pitchFamily="34" charset="0"/>
                    <a:cs typeface="Arial" panose="020B0604020202020204" pitchFamily="34" charset="0"/>
                  </a:rPr>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a:rPr>
                          <m:t>𝑡</m:t>
                        </m:r>
                      </m:e>
                      <m:sub>
                        <m:r>
                          <a:rPr lang="en-US" altLang="zh-CN" sz="1800" b="0" i="1" smtClean="0">
                            <a:latin typeface="Cambria Math"/>
                          </a:rPr>
                          <m:t>2</m:t>
                        </m:r>
                      </m:sub>
                    </m:sSub>
                  </m:oMath>
                </a14:m>
                <a:r>
                  <a:rPr lang="en-US" altLang="zh-CN" sz="1800" dirty="0">
                    <a:latin typeface="Arial" panose="020B0604020202020204" pitchFamily="34" charset="0"/>
                    <a:cs typeface="Arial" panose="020B0604020202020204" pitchFamily="34" charset="0"/>
                  </a:rPr>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a:rPr>
                          <m:t>𝑡</m:t>
                        </m:r>
                      </m:e>
                      <m:sub>
                        <m:r>
                          <a:rPr lang="en-US" altLang="zh-CN" sz="1800" i="1">
                            <a:latin typeface="Cambria Math"/>
                          </a:rPr>
                          <m:t>3</m:t>
                        </m:r>
                      </m:sub>
                    </m:sSub>
                  </m:oMath>
                </a14:m>
                <a:r>
                  <a:rPr lang="en-US" altLang="zh-CN" sz="1800" dirty="0">
                    <a:latin typeface="Arial" panose="020B0604020202020204" pitchFamily="34" charset="0"/>
                    <a:cs typeface="Arial" panose="020B0604020202020204" pitchFamily="34" charset="0"/>
                  </a:rPr>
                  <a:t>, and level)</a:t>
                </a:r>
              </a:p>
              <a:p>
                <a:pPr marL="0" indent="0">
                  <a:lnSpc>
                    <a:spcPct val="120000"/>
                  </a:lnSpc>
                  <a:spcBef>
                    <a:spcPts val="0"/>
                  </a:spcBef>
                  <a:buNone/>
                </a:pPr>
                <a:r>
                  <a:rPr lang="en-US" altLang="zh-CN" sz="1800" dirty="0">
                    <a:latin typeface="Arial" panose="020B0604020202020204" pitchFamily="34" charset="0"/>
                    <a:cs typeface="Arial" panose="020B0604020202020204" pitchFamily="34" charset="0"/>
                  </a:rPr>
                  <a:t>               –  node </a:t>
                </a:r>
                <a:r>
                  <a:rPr lang="en-US" altLang="zh-CN" sz="1800" i="1" dirty="0">
                    <a:latin typeface="Arial" panose="020B0604020202020204" pitchFamily="34" charset="0"/>
                    <a:cs typeface="Arial" panose="020B0604020202020204" pitchFamily="34" charset="0"/>
                  </a:rPr>
                  <a:t>j</a:t>
                </a:r>
                <a:r>
                  <a:rPr lang="en-US" altLang="zh-CN" sz="1800" dirty="0">
                    <a:latin typeface="Arial" panose="020B0604020202020204" pitchFamily="34" charset="0"/>
                    <a:cs typeface="Arial" panose="020B0604020202020204" pitchFamily="34" charset="0"/>
                  </a:rPr>
                  <a:t> receives ACK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a:rPr>
                          <m:t>𝑡</m:t>
                        </m:r>
                      </m:e>
                      <m:sub>
                        <m:r>
                          <a:rPr lang="en-US" altLang="zh-CN" sz="1800" i="1">
                            <a:latin typeface="Cambria Math"/>
                          </a:rPr>
                          <m:t>4</m:t>
                        </m:r>
                      </m:sub>
                    </m:sSub>
                  </m:oMath>
                </a14:m>
                <a:endParaRPr lang="en-US" altLang="zh-CN" sz="2400" dirty="0">
                  <a:latin typeface="Arial" panose="020B0604020202020204" pitchFamily="34" charset="0"/>
                  <a:cs typeface="Arial" panose="020B0604020202020204" pitchFamily="34" charset="0"/>
                </a:endParaRPr>
              </a:p>
              <a:p>
                <a:pPr lvl="2">
                  <a:lnSpc>
                    <a:spcPct val="120000"/>
                  </a:lnSpc>
                  <a:spcBef>
                    <a:spcPts val="0"/>
                  </a:spcBef>
                </a:pPr>
                <a:r>
                  <a:rPr lang="en-US" altLang="zh-CN" sz="1800" dirty="0">
                    <a:latin typeface="Arial" panose="020B0604020202020204" pitchFamily="34" charset="0"/>
                    <a:cs typeface="Arial" panose="020B0604020202020204" pitchFamily="34" charset="0"/>
                  </a:rPr>
                  <a:t>node </a:t>
                </a:r>
                <a:r>
                  <a:rPr lang="en-US" altLang="zh-CN" sz="1800" i="1" dirty="0">
                    <a:latin typeface="Arial" panose="020B0604020202020204" pitchFamily="34" charset="0"/>
                    <a:cs typeface="Arial" panose="020B0604020202020204" pitchFamily="34" charset="0"/>
                  </a:rPr>
                  <a:t>j</a:t>
                </a:r>
                <a:r>
                  <a:rPr lang="en-US" altLang="zh-CN" sz="1800" dirty="0">
                    <a:latin typeface="Arial" panose="020B0604020202020204" pitchFamily="34" charset="0"/>
                    <a:cs typeface="Arial" panose="020B0604020202020204" pitchFamily="34" charset="0"/>
                  </a:rPr>
                  <a:t> calculates drift and propagation delay</a:t>
                </a:r>
              </a:p>
              <a:p>
                <a:pPr marL="914400" lvl="2" indent="0">
                  <a:lnSpc>
                    <a:spcPct val="120000"/>
                  </a:lnSpc>
                  <a:spcBef>
                    <a:spcPts val="0"/>
                  </a:spcBef>
                  <a:buNone/>
                </a:pPr>
                <a14:m>
                  <m:oMathPara xmlns:m="http://schemas.openxmlformats.org/officeDocument/2006/math">
                    <m:oMathParaPr>
                      <m:jc m:val="centerGroup"/>
                    </m:oMathParaPr>
                    <m:oMath xmlns:m="http://schemas.openxmlformats.org/officeDocument/2006/math">
                      <m:r>
                        <a:rPr lang="en-US" altLang="zh-CN" sz="1800" b="0" i="1" smtClean="0">
                          <a:latin typeface="Cambria Math"/>
                        </a:rPr>
                        <m:t>𝐷</m:t>
                      </m:r>
                      <m:r>
                        <a:rPr lang="en-US" altLang="zh-CN" sz="1800" b="0" i="1" smtClean="0">
                          <a:latin typeface="Cambria Math"/>
                        </a:rPr>
                        <m:t>=</m:t>
                      </m:r>
                      <m:f>
                        <m:fPr>
                          <m:ctrlPr>
                            <a:rPr lang="en-US" altLang="zh-CN" sz="1800" i="1" smtClean="0">
                              <a:latin typeface="Cambria Math" panose="02040503050406030204" pitchFamily="18" charset="0"/>
                            </a:rPr>
                          </m:ctrlPr>
                        </m:fPr>
                        <m:num>
                          <m:sSub>
                            <m:sSubPr>
                              <m:ctrlPr>
                                <a:rPr lang="en-US" altLang="zh-CN" sz="1800" i="1">
                                  <a:latin typeface="Cambria Math" panose="02040503050406030204" pitchFamily="18" charset="0"/>
                                </a:rPr>
                              </m:ctrlPr>
                            </m:sSubPr>
                            <m:e>
                              <m:r>
                                <a:rPr lang="zh-CN" altLang="en-US" sz="1800" b="0" i="1" smtClean="0">
                                  <a:latin typeface="Cambria Math"/>
                                </a:rPr>
                                <m:t>（</m:t>
                              </m:r>
                              <m:r>
                                <a:rPr lang="en-US" altLang="zh-CN" sz="1800" i="1">
                                  <a:latin typeface="Cambria Math"/>
                                </a:rPr>
                                <m:t>𝑡</m:t>
                              </m:r>
                            </m:e>
                            <m:sub>
                              <m:r>
                                <a:rPr lang="en-US" altLang="zh-CN" sz="1800" i="1">
                                  <a:latin typeface="Cambria Math"/>
                                </a:rPr>
                                <m:t>2</m:t>
                              </m:r>
                            </m:sub>
                          </m:sSub>
                          <m:r>
                            <a:rPr lang="en-US" altLang="zh-CN" sz="1800" i="1">
                              <a:latin typeface="Cambria Math"/>
                            </a:rPr>
                            <m:t>−</m:t>
                          </m:r>
                          <m:sSub>
                            <m:sSubPr>
                              <m:ctrlPr>
                                <a:rPr lang="en-US" altLang="zh-CN" sz="1800" i="1">
                                  <a:latin typeface="Cambria Math" panose="02040503050406030204" pitchFamily="18" charset="0"/>
                                </a:rPr>
                              </m:ctrlPr>
                            </m:sSubPr>
                            <m:e>
                              <m:r>
                                <a:rPr lang="en-US" altLang="zh-CN" sz="1800" i="1">
                                  <a:latin typeface="Cambria Math"/>
                                </a:rPr>
                                <m:t>𝑡</m:t>
                              </m:r>
                            </m:e>
                            <m:sub>
                              <m:r>
                                <a:rPr lang="en-US" altLang="zh-CN" sz="1800" b="0" i="1" smtClean="0">
                                  <a:latin typeface="Cambria Math"/>
                                </a:rPr>
                                <m:t>1</m:t>
                              </m:r>
                            </m:sub>
                          </m:sSub>
                          <m:r>
                            <a:rPr lang="zh-CN" altLang="en-US" sz="1800" b="0" i="1" smtClean="0">
                              <a:latin typeface="Cambria Math"/>
                            </a:rPr>
                            <m:t>）</m:t>
                          </m:r>
                          <m:r>
                            <a:rPr lang="en-US" altLang="zh-CN" sz="1800" b="0" i="1" smtClean="0">
                              <a:latin typeface="Cambria Math"/>
                            </a:rPr>
                            <m:t>+</m:t>
                          </m:r>
                          <m:r>
                            <a:rPr lang="zh-CN" altLang="en-US" sz="1800" b="0" i="1" smtClean="0">
                              <a:latin typeface="Cambria Math"/>
                            </a:rPr>
                            <m:t>（</m:t>
                          </m:r>
                          <m:sSub>
                            <m:sSubPr>
                              <m:ctrlPr>
                                <a:rPr lang="en-US" altLang="zh-CN" sz="1800" i="1">
                                  <a:latin typeface="Cambria Math" panose="02040503050406030204" pitchFamily="18" charset="0"/>
                                </a:rPr>
                              </m:ctrlPr>
                            </m:sSubPr>
                            <m:e>
                              <m:r>
                                <a:rPr lang="en-US" altLang="zh-CN" sz="1800" i="1">
                                  <a:latin typeface="Cambria Math"/>
                                </a:rPr>
                                <m:t>𝑡</m:t>
                              </m:r>
                            </m:e>
                            <m:sub>
                              <m:r>
                                <a:rPr lang="en-US" altLang="zh-CN" sz="1800" b="0" i="1" smtClean="0">
                                  <a:latin typeface="Cambria Math"/>
                                </a:rPr>
                                <m:t>4</m:t>
                              </m:r>
                            </m:sub>
                          </m:sSub>
                          <m:r>
                            <a:rPr lang="en-US" altLang="zh-CN" sz="1800" b="0" i="1" smtClean="0">
                              <a:latin typeface="Cambria Math"/>
                            </a:rPr>
                            <m:t>−</m:t>
                          </m:r>
                          <m:sSub>
                            <m:sSubPr>
                              <m:ctrlPr>
                                <a:rPr lang="en-US" altLang="zh-CN" sz="1800" i="1">
                                  <a:latin typeface="Cambria Math" panose="02040503050406030204" pitchFamily="18" charset="0"/>
                                </a:rPr>
                              </m:ctrlPr>
                            </m:sSubPr>
                            <m:e>
                              <m:r>
                                <a:rPr lang="en-US" altLang="zh-CN" sz="1800" i="1">
                                  <a:latin typeface="Cambria Math"/>
                                </a:rPr>
                                <m:t>𝑡</m:t>
                              </m:r>
                            </m:e>
                            <m:sub>
                              <m:r>
                                <a:rPr lang="en-US" altLang="zh-CN" sz="1800" i="1">
                                  <a:latin typeface="Cambria Math"/>
                                </a:rPr>
                                <m:t>3</m:t>
                              </m:r>
                              <m:r>
                                <a:rPr lang="zh-CN" altLang="en-US" sz="1800" b="0" i="1" smtClean="0">
                                  <a:latin typeface="Cambria Math"/>
                                </a:rPr>
                                <m:t>）</m:t>
                              </m:r>
                            </m:sub>
                          </m:sSub>
                        </m:num>
                        <m:den>
                          <m:r>
                            <a:rPr lang="en-US" altLang="zh-CN" sz="1800" b="0" i="1" smtClean="0">
                              <a:latin typeface="Cambria Math"/>
                            </a:rPr>
                            <m:t>2</m:t>
                          </m:r>
                        </m:den>
                      </m:f>
                    </m:oMath>
                  </m:oMathPara>
                </a14:m>
                <a:endParaRPr lang="en-US" altLang="zh-CN" sz="1800" dirty="0">
                  <a:latin typeface="Arial" panose="020B0604020202020204" pitchFamily="34" charset="0"/>
                  <a:cs typeface="Arial" panose="020B0604020202020204" pitchFamily="34" charset="0"/>
                </a:endParaRPr>
              </a:p>
              <a:p>
                <a:pPr marL="914400" lvl="2" indent="0">
                  <a:lnSpc>
                    <a:spcPct val="1200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i="1" dirty="0">
                          <a:latin typeface="Cambria Math"/>
                        </a:rPr>
                        <m:t>offset</m:t>
                      </m:r>
                      <m:r>
                        <a:rPr lang="en-US" altLang="zh-CN" sz="1800" i="1" dirty="0">
                          <a:latin typeface="Cambria Math"/>
                        </a:rPr>
                        <m:t>=</m:t>
                      </m:r>
                      <m:f>
                        <m:fPr>
                          <m:ctrlPr>
                            <a:rPr lang="en-US" altLang="zh-CN" sz="1800" i="1">
                              <a:latin typeface="Cambria Math" panose="02040503050406030204" pitchFamily="18" charset="0"/>
                            </a:rPr>
                          </m:ctrlPr>
                        </m:fPr>
                        <m:num>
                          <m:r>
                            <a:rPr lang="zh-CN" altLang="en-US" sz="1800" b="0" i="1" smtClean="0">
                              <a:latin typeface="Cambria Math"/>
                            </a:rPr>
                            <m:t>（</m:t>
                          </m:r>
                          <m:sSub>
                            <m:sSubPr>
                              <m:ctrlPr>
                                <a:rPr lang="en-US" altLang="zh-CN" sz="1800" i="1">
                                  <a:latin typeface="Cambria Math" panose="02040503050406030204" pitchFamily="18" charset="0"/>
                                </a:rPr>
                              </m:ctrlPr>
                            </m:sSubPr>
                            <m:e>
                              <m:r>
                                <a:rPr lang="en-US" altLang="zh-CN" sz="1800" i="1">
                                  <a:latin typeface="Cambria Math"/>
                                </a:rPr>
                                <m:t>𝑡</m:t>
                              </m:r>
                            </m:e>
                            <m:sub>
                              <m:r>
                                <a:rPr lang="en-US" altLang="zh-CN" sz="1800" i="1">
                                  <a:latin typeface="Cambria Math"/>
                                </a:rPr>
                                <m:t>2</m:t>
                              </m:r>
                            </m:sub>
                          </m:sSub>
                          <m:r>
                            <a:rPr lang="en-US" altLang="zh-CN" sz="1800" i="1">
                              <a:latin typeface="Cambria Math"/>
                            </a:rPr>
                            <m:t>−</m:t>
                          </m:r>
                          <m:sSub>
                            <m:sSubPr>
                              <m:ctrlPr>
                                <a:rPr lang="en-US" altLang="zh-CN" sz="1800" i="1">
                                  <a:latin typeface="Cambria Math" panose="02040503050406030204" pitchFamily="18" charset="0"/>
                                </a:rPr>
                              </m:ctrlPr>
                            </m:sSubPr>
                            <m:e>
                              <m:r>
                                <a:rPr lang="en-US" altLang="zh-CN" sz="1800" i="1">
                                  <a:latin typeface="Cambria Math"/>
                                </a:rPr>
                                <m:t>𝑡</m:t>
                              </m:r>
                            </m:e>
                            <m:sub>
                              <m:r>
                                <a:rPr lang="en-US" altLang="zh-CN" sz="1800" b="0" i="1" smtClean="0">
                                  <a:latin typeface="Cambria Math"/>
                                </a:rPr>
                                <m:t>1</m:t>
                              </m:r>
                            </m:sub>
                          </m:sSub>
                          <m:r>
                            <a:rPr lang="zh-CN" altLang="en-US" sz="1800" b="0" i="1" smtClean="0">
                              <a:latin typeface="Cambria Math"/>
                            </a:rPr>
                            <m:t>）</m:t>
                          </m:r>
                          <m:r>
                            <a:rPr lang="en-US" altLang="zh-CN" sz="1800" i="1">
                              <a:latin typeface="Cambria Math"/>
                            </a:rPr>
                            <m:t>−</m:t>
                          </m:r>
                          <m:r>
                            <a:rPr lang="zh-CN" altLang="en-US" sz="1800" b="0" i="1" smtClean="0">
                              <a:latin typeface="Cambria Math"/>
                            </a:rPr>
                            <m:t>（</m:t>
                          </m:r>
                          <m:sSub>
                            <m:sSubPr>
                              <m:ctrlPr>
                                <a:rPr lang="en-US" altLang="zh-CN" sz="1800" i="1">
                                  <a:latin typeface="Cambria Math" panose="02040503050406030204" pitchFamily="18" charset="0"/>
                                </a:rPr>
                              </m:ctrlPr>
                            </m:sSubPr>
                            <m:e>
                              <m:r>
                                <a:rPr lang="en-US" altLang="zh-CN" sz="1800" i="1">
                                  <a:latin typeface="Cambria Math"/>
                                </a:rPr>
                                <m:t>𝑡</m:t>
                              </m:r>
                            </m:e>
                            <m:sub>
                              <m:r>
                                <a:rPr lang="en-US" altLang="zh-CN" sz="1800" b="0" i="1" smtClean="0">
                                  <a:latin typeface="Cambria Math"/>
                                </a:rPr>
                                <m:t>4</m:t>
                              </m:r>
                            </m:sub>
                          </m:sSub>
                          <m:r>
                            <a:rPr lang="en-US" altLang="zh-CN" sz="1800" b="0" i="1" smtClean="0">
                              <a:latin typeface="Cambria Math"/>
                            </a:rPr>
                            <m:t>−</m:t>
                          </m:r>
                          <m:sSub>
                            <m:sSubPr>
                              <m:ctrlPr>
                                <a:rPr lang="en-US" altLang="zh-CN" sz="1800" i="1">
                                  <a:latin typeface="Cambria Math" panose="02040503050406030204" pitchFamily="18" charset="0"/>
                                </a:rPr>
                              </m:ctrlPr>
                            </m:sSubPr>
                            <m:e>
                              <m:r>
                                <a:rPr lang="en-US" altLang="zh-CN" sz="1800" i="1">
                                  <a:latin typeface="Cambria Math"/>
                                </a:rPr>
                                <m:t>𝑡</m:t>
                              </m:r>
                            </m:e>
                            <m:sub>
                              <m:r>
                                <a:rPr lang="en-US" altLang="zh-CN" sz="1800" i="1">
                                  <a:latin typeface="Cambria Math"/>
                                </a:rPr>
                                <m:t>3</m:t>
                              </m:r>
                            </m:sub>
                          </m:sSub>
                          <m:r>
                            <a:rPr lang="zh-CN" altLang="en-US" sz="1800" b="0" i="1" smtClean="0">
                              <a:latin typeface="Cambria Math"/>
                            </a:rPr>
                            <m:t>）</m:t>
                          </m:r>
                        </m:num>
                        <m:den>
                          <m:r>
                            <a:rPr lang="en-US" altLang="zh-CN" sz="1800" i="1">
                              <a:latin typeface="Cambria Math"/>
                            </a:rPr>
                            <m:t>2</m:t>
                          </m:r>
                        </m:den>
                      </m:f>
                    </m:oMath>
                  </m:oMathPara>
                </a14:m>
                <a:endParaRPr lang="en-US" altLang="zh-CN" sz="1800" dirty="0">
                  <a:latin typeface="Arial" panose="020B0604020202020204" pitchFamily="34" charset="0"/>
                  <a:cs typeface="Arial" panose="020B0604020202020204" pitchFamily="34" charset="0"/>
                </a:endParaRPr>
              </a:p>
              <a:p>
                <a:pPr marL="914400" lvl="2" indent="0">
                  <a:lnSpc>
                    <a:spcPct val="120000"/>
                  </a:lnSpc>
                  <a:spcBef>
                    <a:spcPts val="0"/>
                  </a:spcBef>
                  <a:buNone/>
                </a:pPr>
                <a:endParaRPr lang="zh-CN" altLang="en-US" sz="1800" dirty="0">
                  <a:latin typeface="Arial" panose="020B0604020202020204" pitchFamily="34" charset="0"/>
                  <a:cs typeface="Arial" panose="020B0604020202020204" pitchFamily="34"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600200"/>
                <a:ext cx="11160369" cy="4437185"/>
              </a:xfrm>
              <a:blipFill>
                <a:blip r:embed="rId2"/>
                <a:stretch>
                  <a:fillRect l="-765" t="-27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27191860"/>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latin typeface="Arial" panose="020B0604020202020204" pitchFamily="34" charset="0"/>
                <a:cs typeface="Arial" panose="020B0604020202020204" pitchFamily="34" charset="0"/>
              </a:rPr>
              <a:t>Timing-sync Protocol for Sensor Networks </a:t>
            </a:r>
            <a:endParaRPr lang="zh-CN" altLang="en-US" sz="4000"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515600" cy="4667250"/>
          </a:xfrm>
        </p:spPr>
        <p:txBody>
          <a:bodyPr>
            <a:normAutofit fontScale="92500" lnSpcReduction="10000"/>
          </a:bodyPr>
          <a:lstStyle/>
          <a:p>
            <a:pPr>
              <a:lnSpc>
                <a:spcPct val="130000"/>
              </a:lnSpc>
              <a:spcBef>
                <a:spcPts val="0"/>
              </a:spcBef>
            </a:pPr>
            <a:r>
              <a:rPr lang="en-US" altLang="zh-CN" dirty="0">
                <a:solidFill>
                  <a:schemeClr val="accent1"/>
                </a:solidFill>
                <a:latin typeface="Arial" panose="020B0604020202020204" pitchFamily="34" charset="0"/>
                <a:cs typeface="Arial" panose="020B0604020202020204" pitchFamily="34" charset="0"/>
              </a:rPr>
              <a:t>Synchronization phase </a:t>
            </a:r>
            <a:r>
              <a:rPr lang="en-US" altLang="zh-CN" dirty="0">
                <a:latin typeface="Arial" panose="020B0604020202020204" pitchFamily="34" charset="0"/>
                <a:cs typeface="Arial" panose="020B0604020202020204" pitchFamily="34" charset="0"/>
              </a:rPr>
              <a:t>(contd.)</a:t>
            </a:r>
          </a:p>
          <a:p>
            <a:pPr lvl="1">
              <a:lnSpc>
                <a:spcPct val="130000"/>
              </a:lnSpc>
              <a:spcBef>
                <a:spcPts val="0"/>
              </a:spcBef>
            </a:pPr>
            <a:r>
              <a:rPr lang="en-US" altLang="zh-CN" dirty="0">
                <a:latin typeface="Arial" panose="020B0604020202020204" pitchFamily="34" charset="0"/>
                <a:cs typeface="Arial" panose="020B0604020202020204" pitchFamily="34" charset="0"/>
              </a:rPr>
              <a:t>phase initiate by root node issuing </a:t>
            </a:r>
            <a:r>
              <a:rPr lang="en-US" altLang="zh-CN" dirty="0" err="1">
                <a:latin typeface="Arial" panose="020B0604020202020204" pitchFamily="34" charset="0"/>
                <a:cs typeface="Arial" panose="020B0604020202020204" pitchFamily="34" charset="0"/>
              </a:rPr>
              <a:t>time_sync</a:t>
            </a:r>
            <a:r>
              <a:rPr lang="en-US" altLang="zh-CN" dirty="0">
                <a:latin typeface="Arial" panose="020B0604020202020204" pitchFamily="34" charset="0"/>
                <a:cs typeface="Arial" panose="020B0604020202020204" pitchFamily="34" charset="0"/>
              </a:rPr>
              <a:t> packet</a:t>
            </a:r>
          </a:p>
          <a:p>
            <a:pPr lvl="1">
              <a:lnSpc>
                <a:spcPct val="130000"/>
              </a:lnSpc>
              <a:spcBef>
                <a:spcPts val="0"/>
              </a:spcBef>
            </a:pPr>
            <a:r>
              <a:rPr lang="en-US" altLang="zh-CN" dirty="0">
                <a:latin typeface="Arial" panose="020B0604020202020204" pitchFamily="34" charset="0"/>
                <a:cs typeface="Arial" panose="020B0604020202020204" pitchFamily="34" charset="0"/>
              </a:rPr>
              <a:t>after waiting for random interval (to reduce contention), nodes in level 1 initiate two-way message exchange with root node</a:t>
            </a:r>
          </a:p>
          <a:p>
            <a:pPr lvl="1">
              <a:lnSpc>
                <a:spcPct val="130000"/>
              </a:lnSpc>
              <a:spcBef>
                <a:spcPts val="0"/>
              </a:spcBef>
            </a:pPr>
            <a:r>
              <a:rPr lang="en-US" altLang="zh-CN" dirty="0">
                <a:latin typeface="Arial" panose="020B0604020202020204" pitchFamily="34" charset="0"/>
                <a:cs typeface="Arial" panose="020B0604020202020204" pitchFamily="34" charset="0"/>
              </a:rPr>
              <a:t>nodes on level 2 will overhear synchronization pulse and initiate </a:t>
            </a:r>
            <a:r>
              <a:rPr lang="en-US" altLang="zh-CN" dirty="0" err="1">
                <a:latin typeface="Arial" panose="020B0604020202020204" pitchFamily="34" charset="0"/>
                <a:cs typeface="Arial" panose="020B0604020202020204" pitchFamily="34" charset="0"/>
              </a:rPr>
              <a:t>twoway</a:t>
            </a:r>
            <a:r>
              <a:rPr lang="en-US" altLang="zh-CN" dirty="0">
                <a:latin typeface="Arial" panose="020B0604020202020204" pitchFamily="34" charset="0"/>
                <a:cs typeface="Arial" panose="020B0604020202020204" pitchFamily="34" charset="0"/>
              </a:rPr>
              <a:t> message exchange with level 1 nodes after random delay</a:t>
            </a:r>
          </a:p>
          <a:p>
            <a:pPr lvl="1">
              <a:lnSpc>
                <a:spcPct val="130000"/>
              </a:lnSpc>
              <a:spcBef>
                <a:spcPts val="0"/>
              </a:spcBef>
            </a:pPr>
            <a:r>
              <a:rPr lang="en-US" altLang="zh-CN" dirty="0">
                <a:latin typeface="Arial" panose="020B0604020202020204" pitchFamily="34" charset="0"/>
                <a:cs typeface="Arial" panose="020B0604020202020204" pitchFamily="34" charset="0"/>
              </a:rPr>
              <a:t>process continues throughout network</a:t>
            </a:r>
          </a:p>
          <a:p>
            <a:pPr lvl="1">
              <a:lnSpc>
                <a:spcPct val="130000"/>
              </a:lnSpc>
              <a:spcBef>
                <a:spcPts val="0"/>
              </a:spcBef>
            </a:pPr>
            <a:endParaRPr lang="en-US" altLang="zh-CN" dirty="0">
              <a:latin typeface="Arial" panose="020B0604020202020204" pitchFamily="34" charset="0"/>
              <a:cs typeface="Arial" panose="020B0604020202020204" pitchFamily="34" charset="0"/>
            </a:endParaRPr>
          </a:p>
          <a:p>
            <a:pPr>
              <a:lnSpc>
                <a:spcPct val="130000"/>
              </a:lnSpc>
              <a:spcBef>
                <a:spcPts val="0"/>
              </a:spcBef>
            </a:pPr>
            <a:r>
              <a:rPr lang="en-US" altLang="zh-CN" dirty="0">
                <a:latin typeface="Arial" panose="020B0604020202020204" pitchFamily="34" charset="0"/>
                <a:cs typeface="Arial" panose="020B0604020202020204" pitchFamily="34" charset="0"/>
              </a:rPr>
              <a:t>Synchronization error of TPSN</a:t>
            </a:r>
          </a:p>
          <a:p>
            <a:pPr lvl="1">
              <a:lnSpc>
                <a:spcPct val="130000"/>
              </a:lnSpc>
              <a:spcBef>
                <a:spcPts val="0"/>
              </a:spcBef>
            </a:pPr>
            <a:r>
              <a:rPr lang="en-US" altLang="zh-CN" dirty="0">
                <a:latin typeface="Arial" panose="020B0604020202020204" pitchFamily="34" charset="0"/>
                <a:cs typeface="Arial" panose="020B0604020202020204" pitchFamily="34" charset="0"/>
              </a:rPr>
              <a:t>depth of hierarchical structure</a:t>
            </a:r>
          </a:p>
          <a:p>
            <a:pPr lvl="1">
              <a:lnSpc>
                <a:spcPct val="130000"/>
              </a:lnSpc>
              <a:spcBef>
                <a:spcPts val="0"/>
              </a:spcBef>
            </a:pPr>
            <a:r>
              <a:rPr lang="en-US" altLang="zh-CN" dirty="0">
                <a:latin typeface="Arial" panose="020B0604020202020204" pitchFamily="34" charset="0"/>
                <a:cs typeface="Arial" panose="020B0604020202020204" pitchFamily="34" charset="0"/>
              </a:rPr>
              <a:t>end-to-end latencies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38524549"/>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latin typeface="Arial" panose="020B0604020202020204" pitchFamily="34" charset="0"/>
                <a:cs typeface="Arial" panose="020B0604020202020204" pitchFamily="34" charset="0"/>
              </a:rPr>
              <a:t>Flooding Time Synchronization Protocol </a:t>
            </a:r>
            <a:endParaRPr lang="zh-CN" altLang="en-US" sz="4000"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7"/>
            <a:ext cx="9067800" cy="3983281"/>
          </a:xfrm>
        </p:spPr>
        <p:txBody>
          <a:bodyPr>
            <a:normAutofit fontScale="92500"/>
          </a:bodyPr>
          <a:lstStyle/>
          <a:p>
            <a:pPr>
              <a:lnSpc>
                <a:spcPct val="130000"/>
              </a:lnSpc>
              <a:spcBef>
                <a:spcPts val="0"/>
              </a:spcBef>
            </a:pPr>
            <a:r>
              <a:rPr lang="en-US" altLang="zh-CN" dirty="0">
                <a:latin typeface="Arial" panose="020B0604020202020204" pitchFamily="34" charset="0"/>
                <a:cs typeface="Arial" panose="020B0604020202020204" pitchFamily="34" charset="0"/>
              </a:rPr>
              <a:t>Goals of FTSP include:</a:t>
            </a:r>
          </a:p>
          <a:p>
            <a:pPr lvl="1">
              <a:lnSpc>
                <a:spcPct val="130000"/>
              </a:lnSpc>
              <a:spcBef>
                <a:spcPts val="0"/>
              </a:spcBef>
            </a:pPr>
            <a:r>
              <a:rPr lang="en-US" altLang="zh-CN" dirty="0">
                <a:latin typeface="Arial" panose="020B0604020202020204" pitchFamily="34" charset="0"/>
                <a:cs typeface="Arial" panose="020B0604020202020204" pitchFamily="34" charset="0"/>
              </a:rPr>
              <a:t>network-wide synchronization with errors in microsecond range</a:t>
            </a:r>
          </a:p>
          <a:p>
            <a:pPr lvl="1">
              <a:lnSpc>
                <a:spcPct val="130000"/>
              </a:lnSpc>
              <a:spcBef>
                <a:spcPts val="0"/>
              </a:spcBef>
            </a:pPr>
            <a:r>
              <a:rPr lang="en-US" altLang="zh-CN" dirty="0">
                <a:latin typeface="Arial" panose="020B0604020202020204" pitchFamily="34" charset="0"/>
                <a:cs typeface="Arial" panose="020B0604020202020204" pitchFamily="34" charset="0"/>
              </a:rPr>
              <a:t>scalability up to hundreds of nodes</a:t>
            </a:r>
          </a:p>
          <a:p>
            <a:pPr lvl="1">
              <a:lnSpc>
                <a:spcPct val="130000"/>
              </a:lnSpc>
              <a:spcBef>
                <a:spcPts val="0"/>
              </a:spcBef>
            </a:pPr>
            <a:r>
              <a:rPr lang="en-US" altLang="zh-CN" dirty="0">
                <a:latin typeface="Arial" panose="020B0604020202020204" pitchFamily="34" charset="0"/>
                <a:cs typeface="Arial" panose="020B0604020202020204" pitchFamily="34" charset="0"/>
              </a:rPr>
              <a:t>robustness to topology changes</a:t>
            </a:r>
          </a:p>
          <a:p>
            <a:pPr>
              <a:lnSpc>
                <a:spcPct val="130000"/>
              </a:lnSpc>
              <a:spcBef>
                <a:spcPts val="0"/>
              </a:spcBef>
            </a:pPr>
            <a:r>
              <a:rPr lang="en-US" altLang="zh-CN" dirty="0">
                <a:latin typeface="Arial" panose="020B0604020202020204" pitchFamily="34" charset="0"/>
                <a:cs typeface="Arial" panose="020B0604020202020204" pitchFamily="34" charset="0"/>
              </a:rPr>
              <a:t>FTSP uses single broadcast message to establish synchronization points</a:t>
            </a:r>
          </a:p>
          <a:p>
            <a:pPr>
              <a:lnSpc>
                <a:spcPct val="130000"/>
              </a:lnSpc>
              <a:spcBef>
                <a:spcPts val="0"/>
              </a:spcBef>
            </a:pPr>
            <a:r>
              <a:rPr lang="en-US" altLang="zh-CN" dirty="0">
                <a:latin typeface="Arial" panose="020B0604020202020204" pitchFamily="34" charset="0"/>
                <a:cs typeface="Arial" panose="020B0604020202020204" pitchFamily="34" charset="0"/>
              </a:rPr>
              <a:t>Decomposes end-to-end delay into different components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9082566"/>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latin typeface="Arial" panose="020B0604020202020204" pitchFamily="34" charset="0"/>
                <a:cs typeface="Arial" panose="020B0604020202020204" pitchFamily="34" charset="0"/>
              </a:rPr>
              <a:t>Flooding Time Synchronization Protocol </a:t>
            </a:r>
            <a:endParaRPr lang="zh-CN" altLang="en-US" sz="40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8614" y="1550011"/>
                <a:ext cx="6811109" cy="5020774"/>
              </a:xfrm>
            </p:spPr>
            <p:txBody>
              <a:bodyPr>
                <a:noAutofit/>
              </a:bodyPr>
              <a:lstStyle/>
              <a:p>
                <a:pPr>
                  <a:lnSpc>
                    <a:spcPct val="120000"/>
                  </a:lnSpc>
                  <a:spcBef>
                    <a:spcPts val="0"/>
                  </a:spcBef>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a:rPr>
                          <m:t>𝑡</m:t>
                        </m:r>
                      </m:e>
                      <m:sub>
                        <m:r>
                          <a:rPr lang="en-US" altLang="zh-CN" sz="1800" b="0" i="1" smtClean="0">
                            <a:latin typeface="Cambria Math"/>
                          </a:rPr>
                          <m:t>1</m:t>
                        </m:r>
                      </m:sub>
                    </m:sSub>
                  </m:oMath>
                </a14:m>
                <a:r>
                  <a:rPr lang="en-US" altLang="zh-CN" sz="1800" dirty="0">
                    <a:latin typeface="Arial" panose="020B0604020202020204" pitchFamily="34" charset="0"/>
                    <a:cs typeface="Arial" panose="020B0604020202020204" pitchFamily="34" charset="0"/>
                  </a:rPr>
                  <a:t>: wireless radio informs CPU that it is ready for next message</a:t>
                </a:r>
              </a:p>
              <a:p>
                <a:pPr>
                  <a:lnSpc>
                    <a:spcPct val="120000"/>
                  </a:lnSpc>
                  <a:spcBef>
                    <a:spcPts val="0"/>
                  </a:spcBef>
                </a:pPr>
                <a14:m>
                  <m:oMath xmlns:m="http://schemas.openxmlformats.org/officeDocument/2006/math">
                    <m:sSub>
                      <m:sSubPr>
                        <m:ctrlPr>
                          <a:rPr lang="en-US" altLang="zh-CN" sz="1800" i="1">
                            <a:latin typeface="Cambria Math" panose="02040503050406030204" pitchFamily="18" charset="0"/>
                          </a:rPr>
                        </m:ctrlPr>
                      </m:sSubPr>
                      <m:e>
                        <m:r>
                          <a:rPr lang="en-US" altLang="zh-CN" sz="1800" b="0" i="1" smtClean="0">
                            <a:latin typeface="Cambria Math"/>
                          </a:rPr>
                          <m:t>𝑑</m:t>
                        </m:r>
                      </m:e>
                      <m:sub>
                        <m:r>
                          <a:rPr lang="en-US" altLang="zh-CN" sz="1800" i="1">
                            <a:latin typeface="Cambria Math"/>
                          </a:rPr>
                          <m:t>1</m:t>
                        </m:r>
                      </m:sub>
                    </m:sSub>
                  </m:oMath>
                </a14:m>
                <a:r>
                  <a:rPr lang="en-US" altLang="zh-CN" sz="1800" dirty="0">
                    <a:latin typeface="Arial" panose="020B0604020202020204" pitchFamily="34" charset="0"/>
                    <a:cs typeface="Arial" panose="020B0604020202020204" pitchFamily="34" charset="0"/>
                  </a:rPr>
                  <a:t>: interrupt handling time (few microseconds)</a:t>
                </a:r>
              </a:p>
              <a:p>
                <a:pPr>
                  <a:lnSpc>
                    <a:spcPct val="120000"/>
                  </a:lnSpc>
                  <a:spcBef>
                    <a:spcPts val="0"/>
                  </a:spcBef>
                </a:pP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a:rPr>
                          <m:t>𝑡</m:t>
                        </m:r>
                      </m:e>
                      <m:sub>
                        <m:r>
                          <a:rPr lang="en-US" altLang="zh-CN" sz="1800" b="0" i="1" smtClean="0">
                            <a:latin typeface="Cambria Math"/>
                          </a:rPr>
                          <m:t>2</m:t>
                        </m:r>
                      </m:sub>
                    </m:sSub>
                  </m:oMath>
                </a14:m>
                <a:r>
                  <a:rPr lang="en-US" altLang="zh-CN" sz="1800" dirty="0">
                    <a:latin typeface="Arial" panose="020B0604020202020204" pitchFamily="34" charset="0"/>
                    <a:cs typeface="Arial" panose="020B0604020202020204" pitchFamily="34" charset="0"/>
                  </a:rPr>
                  <a:t>: CPU generates time stamp</a:t>
                </a:r>
              </a:p>
              <a:p>
                <a:pPr>
                  <a:lnSpc>
                    <a:spcPct val="120000"/>
                  </a:lnSpc>
                  <a:spcBef>
                    <a:spcPts val="0"/>
                  </a:spcBef>
                </a:pP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a:rPr>
                          <m:t>𝑑</m:t>
                        </m:r>
                      </m:e>
                      <m:sub>
                        <m:r>
                          <a:rPr lang="en-US" altLang="zh-CN" sz="1800" b="0" i="1" smtClean="0">
                            <a:latin typeface="Cambria Math"/>
                          </a:rPr>
                          <m:t>2</m:t>
                        </m:r>
                      </m:sub>
                    </m:sSub>
                  </m:oMath>
                </a14:m>
                <a:r>
                  <a:rPr lang="en-US" altLang="zh-CN" sz="1800" dirty="0">
                    <a:latin typeface="Arial" panose="020B0604020202020204" pitchFamily="34" charset="0"/>
                    <a:cs typeface="Arial" panose="020B0604020202020204" pitchFamily="34" charset="0"/>
                  </a:rPr>
                  <a:t>: encoding time (transform message into electromagnetic waves; deterministic, low hundreds of microseconds)</a:t>
                </a:r>
              </a:p>
              <a:p>
                <a:pPr>
                  <a:lnSpc>
                    <a:spcPct val="120000"/>
                  </a:lnSpc>
                  <a:spcBef>
                    <a:spcPts val="0"/>
                  </a:spcBef>
                </a:pP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a:rPr>
                          <m:t>𝑑</m:t>
                        </m:r>
                      </m:e>
                      <m:sub>
                        <m:r>
                          <a:rPr lang="en-US" altLang="zh-CN" sz="1800" b="0" i="1" smtClean="0">
                            <a:latin typeface="Cambria Math"/>
                          </a:rPr>
                          <m:t>3</m:t>
                        </m:r>
                      </m:sub>
                    </m:sSub>
                  </m:oMath>
                </a14:m>
                <a:r>
                  <a:rPr lang="en-US" altLang="zh-CN" sz="1800" dirty="0">
                    <a:latin typeface="Arial" panose="020B0604020202020204" pitchFamily="34" charset="0"/>
                    <a:cs typeface="Arial" panose="020B0604020202020204" pitchFamily="34" charset="0"/>
                  </a:rPr>
                  <a:t>: propagation delay (from t3on node I to </a:t>
                </a:r>
                <a14:m>
                  <m:oMath xmlns:m="http://schemas.openxmlformats.org/officeDocument/2006/math">
                    <m:sSub>
                      <m:sSubPr>
                        <m:ctrlPr>
                          <a:rPr lang="en-US" altLang="zh-CN" sz="1800" i="1">
                            <a:latin typeface="Cambria Math" panose="02040503050406030204" pitchFamily="18" charset="0"/>
                          </a:rPr>
                        </m:ctrlPr>
                      </m:sSubPr>
                      <m:e>
                        <m:r>
                          <a:rPr lang="en-US" altLang="zh-CN" sz="1800" b="0" i="1" smtClean="0">
                            <a:latin typeface="Cambria Math"/>
                          </a:rPr>
                          <m:t>𝑡</m:t>
                        </m:r>
                      </m:e>
                      <m:sub>
                        <m:r>
                          <a:rPr lang="en-US" altLang="zh-CN" sz="1800" b="0" i="1" smtClean="0">
                            <a:latin typeface="Cambria Math"/>
                          </a:rPr>
                          <m:t>4</m:t>
                        </m:r>
                      </m:sub>
                    </m:sSub>
                  </m:oMath>
                </a14:m>
                <a:r>
                  <a:rPr lang="en-US" altLang="zh-CN" sz="1800" dirty="0">
                    <a:latin typeface="Arial" panose="020B0604020202020204" pitchFamily="34" charset="0"/>
                    <a:cs typeface="Arial" panose="020B0604020202020204" pitchFamily="34" charset="0"/>
                  </a:rPr>
                  <a:t> on node j; typically very small and deterministic)</a:t>
                </a:r>
              </a:p>
              <a:p>
                <a:pPr>
                  <a:lnSpc>
                    <a:spcPct val="120000"/>
                  </a:lnSpc>
                  <a:spcBef>
                    <a:spcPts val="0"/>
                  </a:spcBef>
                </a:pP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a:rPr>
                          <m:t>𝑑</m:t>
                        </m:r>
                      </m:e>
                      <m:sub>
                        <m:r>
                          <a:rPr lang="en-US" altLang="zh-CN" sz="1800" b="0" i="1" smtClean="0">
                            <a:latin typeface="Cambria Math"/>
                          </a:rPr>
                          <m:t>4</m:t>
                        </m:r>
                      </m:sub>
                    </m:sSub>
                  </m:oMath>
                </a14:m>
                <a:r>
                  <a:rPr lang="en-US" altLang="zh-CN" sz="1800" dirty="0">
                    <a:latin typeface="Arial" panose="020B0604020202020204" pitchFamily="34" charset="0"/>
                    <a:cs typeface="Arial" panose="020B0604020202020204" pitchFamily="34" charset="0"/>
                  </a:rPr>
                  <a:t>: decoding time (deterministic, low hundreds of microseconds)</a:t>
                </a:r>
              </a:p>
              <a:p>
                <a:pPr>
                  <a:lnSpc>
                    <a:spcPct val="120000"/>
                  </a:lnSpc>
                  <a:spcBef>
                    <a:spcPts val="0"/>
                  </a:spcBef>
                </a:pP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a:rPr>
                          <m:t>𝑑</m:t>
                        </m:r>
                      </m:e>
                      <m:sub>
                        <m:r>
                          <a:rPr lang="en-US" altLang="zh-CN" sz="1800" b="0" i="1" smtClean="0">
                            <a:latin typeface="Cambria Math"/>
                          </a:rPr>
                          <m:t>5</m:t>
                        </m:r>
                      </m:sub>
                    </m:sSub>
                  </m:oMath>
                </a14:m>
                <a:r>
                  <a:rPr lang="en-US" altLang="zh-CN" sz="1800" dirty="0">
                    <a:latin typeface="Arial" panose="020B0604020202020204" pitchFamily="34" charset="0"/>
                    <a:cs typeface="Arial" panose="020B0604020202020204" pitchFamily="34" charset="0"/>
                  </a:rPr>
                  <a:t>: byte alignment time (delay caused by different byte alignments (bit offsets), i.e., receiving radio has to determine the offset from a known synchronization byte and then shift incoming message accordingly); can reach several hundreds of microseconds</a:t>
                </a:r>
              </a:p>
              <a:p>
                <a:pPr>
                  <a:lnSpc>
                    <a:spcPct val="120000"/>
                  </a:lnSpc>
                  <a:spcBef>
                    <a:spcPts val="0"/>
                  </a:spcBef>
                </a:pPr>
                <a14:m>
                  <m:oMath xmlns:m="http://schemas.openxmlformats.org/officeDocument/2006/math">
                    <m:sSub>
                      <m:sSubPr>
                        <m:ctrlPr>
                          <a:rPr lang="en-US" altLang="zh-CN" sz="1800" i="1">
                            <a:latin typeface="Cambria Math" panose="02040503050406030204" pitchFamily="18" charset="0"/>
                          </a:rPr>
                        </m:ctrlPr>
                      </m:sSubPr>
                      <m:e>
                        <m:r>
                          <a:rPr lang="en-US" altLang="zh-CN" sz="1800" b="0" i="1" smtClean="0">
                            <a:latin typeface="Cambria Math"/>
                          </a:rPr>
                          <m:t>𝑡</m:t>
                        </m:r>
                      </m:e>
                      <m:sub>
                        <m:r>
                          <a:rPr lang="en-US" altLang="zh-CN" sz="1800" b="0" i="1" smtClean="0">
                            <a:latin typeface="Cambria Math"/>
                          </a:rPr>
                          <m:t>7</m:t>
                        </m:r>
                      </m:sub>
                    </m:sSub>
                  </m:oMath>
                </a14:m>
                <a:r>
                  <a:rPr lang="en-US" altLang="zh-CN" sz="1800" dirty="0">
                    <a:latin typeface="Arial" panose="020B0604020202020204" pitchFamily="34" charset="0"/>
                    <a:cs typeface="Arial" panose="020B0604020202020204" pitchFamily="34" charset="0"/>
                  </a:rPr>
                  <a:t>: interrupt, CPU obtains time stamp</a:t>
                </a:r>
                <a:endParaRPr lang="zh-CN" altLang="en-US" sz="1800" dirty="0">
                  <a:latin typeface="Arial" panose="020B0604020202020204" pitchFamily="34" charset="0"/>
                  <a:cs typeface="Arial" panose="020B0604020202020204" pitchFamily="34"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8614" y="1550011"/>
                <a:ext cx="6811109" cy="5020774"/>
              </a:xfrm>
              <a:blipFill>
                <a:blip r:embed="rId2"/>
                <a:stretch>
                  <a:fillRect l="-627" r="-448" b="-1578"/>
                </a:stretch>
              </a:blipFill>
            </p:spPr>
            <p:txBody>
              <a:bodyPr/>
              <a:lstStyle/>
              <a:p>
                <a:r>
                  <a:rPr lang="zh-CN" altLang="en-US">
                    <a:noFill/>
                  </a:rPr>
                  <a:t> </a:t>
                </a:r>
              </a:p>
            </p:txBody>
          </p:sp>
        </mc:Fallback>
      </mc:AlternateContent>
      <p:pic>
        <p:nvPicPr>
          <p:cNvPr id="5" name="Picture 2">
            <a:extLst>
              <a:ext uri="{FF2B5EF4-FFF2-40B4-BE49-F238E27FC236}">
                <a16:creationId xmlns:a16="http://schemas.microsoft.com/office/drawing/2014/main" id="{73AA57EA-85BF-437B-97E2-E007E144D4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7998" y="2406339"/>
            <a:ext cx="5455388" cy="3021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2238376"/>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latin typeface="Arial" panose="020B0604020202020204" pitchFamily="34" charset="0"/>
                <a:cs typeface="Arial" panose="020B0604020202020204" pitchFamily="34" charset="0"/>
              </a:rPr>
              <a:t>Flooding Time Synchronization Protocol </a:t>
            </a:r>
            <a:endParaRPr lang="zh-CN" altLang="en-US" sz="4000"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78036"/>
            <a:ext cx="11002108" cy="2999826"/>
          </a:xfrm>
        </p:spPr>
        <p:txBody>
          <a:bodyPr>
            <a:normAutofit fontScale="70000" lnSpcReduction="20000"/>
          </a:bodyPr>
          <a:lstStyle/>
          <a:p>
            <a:pPr>
              <a:lnSpc>
                <a:spcPct val="140000"/>
              </a:lnSpc>
              <a:spcBef>
                <a:spcPts val="0"/>
              </a:spcBef>
            </a:pPr>
            <a:r>
              <a:rPr lang="en-US" altLang="zh-CN" dirty="0">
                <a:solidFill>
                  <a:schemeClr val="accent1"/>
                </a:solidFill>
                <a:latin typeface="Arial" panose="020B0604020202020204" pitchFamily="34" charset="0"/>
                <a:cs typeface="Arial" panose="020B0604020202020204" pitchFamily="34" charset="0"/>
              </a:rPr>
              <a:t>Time-stamping</a:t>
            </a:r>
            <a:r>
              <a:rPr lang="en-US" altLang="zh-CN" dirty="0">
                <a:latin typeface="Arial" panose="020B0604020202020204" pitchFamily="34" charset="0"/>
                <a:cs typeface="Arial" panose="020B0604020202020204" pitchFamily="34" charset="0"/>
              </a:rPr>
              <a:t> in FTSP</a:t>
            </a:r>
          </a:p>
          <a:p>
            <a:pPr>
              <a:lnSpc>
                <a:spcPct val="140000"/>
              </a:lnSpc>
              <a:spcBef>
                <a:spcPts val="0"/>
              </a:spcBef>
            </a:pPr>
            <a:r>
              <a:rPr lang="en-US" altLang="zh-CN" dirty="0">
                <a:latin typeface="Arial" panose="020B0604020202020204" pitchFamily="34" charset="0"/>
                <a:cs typeface="Arial" panose="020B0604020202020204" pitchFamily="34" charset="0"/>
              </a:rPr>
              <a:t>sender sends single broadcast containing time stamp (estimated global time)</a:t>
            </a:r>
          </a:p>
          <a:p>
            <a:pPr>
              <a:lnSpc>
                <a:spcPct val="140000"/>
              </a:lnSpc>
              <a:spcBef>
                <a:spcPts val="0"/>
              </a:spcBef>
            </a:pPr>
            <a:r>
              <a:rPr lang="en-US" altLang="zh-CN" dirty="0">
                <a:latin typeface="Arial" panose="020B0604020202020204" pitchFamily="34" charset="0"/>
                <a:cs typeface="Arial" panose="020B0604020202020204" pitchFamily="34" charset="0"/>
              </a:rPr>
              <a:t>receiver extracts time stamp from message and time-stamps arrival (leads to global-local time pair, providing a </a:t>
            </a:r>
            <a:r>
              <a:rPr lang="en-US" altLang="zh-CN" dirty="0">
                <a:solidFill>
                  <a:schemeClr val="accent1"/>
                </a:solidFill>
                <a:latin typeface="Arial" panose="020B0604020202020204" pitchFamily="34" charset="0"/>
                <a:cs typeface="Arial" panose="020B0604020202020204" pitchFamily="34" charset="0"/>
              </a:rPr>
              <a:t>synchronization point</a:t>
            </a:r>
            <a:r>
              <a:rPr lang="en-US" altLang="zh-CN" dirty="0">
                <a:latin typeface="Arial" panose="020B0604020202020204" pitchFamily="34" charset="0"/>
                <a:cs typeface="Arial" panose="020B0604020202020204" pitchFamily="34" charset="0"/>
              </a:rPr>
              <a:t>)</a:t>
            </a:r>
          </a:p>
          <a:p>
            <a:pPr>
              <a:lnSpc>
                <a:spcPct val="140000"/>
              </a:lnSpc>
              <a:spcBef>
                <a:spcPts val="0"/>
              </a:spcBef>
            </a:pPr>
            <a:r>
              <a:rPr lang="en-US" altLang="zh-CN" dirty="0">
                <a:latin typeface="Arial" panose="020B0604020202020204" pitchFamily="34" charset="0"/>
                <a:cs typeface="Arial" panose="020B0604020202020204" pitchFamily="34" charset="0"/>
              </a:rPr>
              <a:t>synchronization message begins with preamble followed by SYNC bytes, data field, and CRC</a:t>
            </a:r>
          </a:p>
          <a:p>
            <a:pPr>
              <a:lnSpc>
                <a:spcPct val="140000"/>
              </a:lnSpc>
              <a:spcBef>
                <a:spcPts val="0"/>
              </a:spcBef>
            </a:pPr>
            <a:r>
              <a:rPr lang="en-US" altLang="zh-CN" dirty="0">
                <a:latin typeface="Arial" panose="020B0604020202020204" pitchFamily="34" charset="0"/>
                <a:cs typeface="Arial" panose="020B0604020202020204" pitchFamily="34" charset="0"/>
              </a:rPr>
              <a:t>preamble bytes are used to synchronize receiver radio to carrier frequency</a:t>
            </a:r>
          </a:p>
          <a:p>
            <a:pPr>
              <a:lnSpc>
                <a:spcPct val="140000"/>
              </a:lnSpc>
              <a:spcBef>
                <a:spcPts val="0"/>
              </a:spcBef>
            </a:pPr>
            <a:r>
              <a:rPr lang="en-US" altLang="zh-CN" dirty="0">
                <a:latin typeface="Arial" panose="020B0604020202020204" pitchFamily="34" charset="0"/>
                <a:cs typeface="Arial" panose="020B0604020202020204" pitchFamily="34" charset="0"/>
              </a:rPr>
              <a:t>SYNC bytes are used to calculate bit offset</a:t>
            </a:r>
            <a:endParaRPr lang="zh-CN" altLang="en-US" dirty="0">
              <a:latin typeface="Arial" panose="020B0604020202020204" pitchFamily="34" charset="0"/>
              <a:cs typeface="Arial" panose="020B0604020202020204" pitchFamily="34" charset="0"/>
            </a:endParaRPr>
          </a:p>
        </p:txBody>
      </p:sp>
      <p:pic>
        <p:nvPicPr>
          <p:cNvPr id="5" name="Picture 2">
            <a:extLst>
              <a:ext uri="{FF2B5EF4-FFF2-40B4-BE49-F238E27FC236}">
                <a16:creationId xmlns:a16="http://schemas.microsoft.com/office/drawing/2014/main" id="{C884116D-1841-42AD-9101-2591755F6B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3293" y="4206038"/>
            <a:ext cx="6762062" cy="2567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6912172"/>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latin typeface="Arial" panose="020B0604020202020204" pitchFamily="34" charset="0"/>
                <a:cs typeface="Arial" panose="020B0604020202020204" pitchFamily="34" charset="0"/>
              </a:rPr>
              <a:t>Flooding Time Synchronization Protocol </a:t>
            </a:r>
            <a:endParaRPr lang="zh-CN" altLang="en-US" sz="4000"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24001"/>
            <a:ext cx="10755923" cy="5181600"/>
          </a:xfrm>
        </p:spPr>
        <p:txBody>
          <a:bodyPr>
            <a:normAutofit lnSpcReduction="10000"/>
          </a:bodyPr>
          <a:lstStyle/>
          <a:p>
            <a:pPr>
              <a:lnSpc>
                <a:spcPct val="120000"/>
              </a:lnSpc>
              <a:spcBef>
                <a:spcPts val="0"/>
              </a:spcBef>
            </a:pPr>
            <a:r>
              <a:rPr lang="en-US" altLang="zh-CN" sz="2400" dirty="0">
                <a:solidFill>
                  <a:schemeClr val="accent1"/>
                </a:solidFill>
                <a:latin typeface="Arial" panose="020B0604020202020204" pitchFamily="34" charset="0"/>
                <a:cs typeface="Arial" panose="020B0604020202020204" pitchFamily="34" charset="0"/>
              </a:rPr>
              <a:t>Time-stamping</a:t>
            </a:r>
            <a:r>
              <a:rPr lang="en-US" altLang="zh-CN" sz="2400" dirty="0">
                <a:latin typeface="Arial" panose="020B0604020202020204" pitchFamily="34" charset="0"/>
                <a:cs typeface="Arial" panose="020B0604020202020204" pitchFamily="34" charset="0"/>
              </a:rPr>
              <a:t> in FTSP (contd.)</a:t>
            </a:r>
          </a:p>
          <a:p>
            <a:pPr lvl="1">
              <a:lnSpc>
                <a:spcPct val="120000"/>
              </a:lnSpc>
              <a:spcBef>
                <a:spcPts val="0"/>
              </a:spcBef>
            </a:pPr>
            <a:r>
              <a:rPr lang="en-US" altLang="zh-CN" sz="2000" dirty="0">
                <a:latin typeface="Arial" panose="020B0604020202020204" pitchFamily="34" charset="0"/>
                <a:cs typeface="Arial" panose="020B0604020202020204" pitchFamily="34" charset="0"/>
              </a:rPr>
              <a:t>multiple time stamps are used at both sender and receiver to reduce jitter of interrupt handling and encoding/decoding times</a:t>
            </a:r>
          </a:p>
          <a:p>
            <a:pPr lvl="1">
              <a:lnSpc>
                <a:spcPct val="120000"/>
              </a:lnSpc>
              <a:spcBef>
                <a:spcPts val="0"/>
              </a:spcBef>
            </a:pPr>
            <a:r>
              <a:rPr lang="en-US" altLang="zh-CN" sz="2000" dirty="0">
                <a:latin typeface="Arial" panose="020B0604020202020204" pitchFamily="34" charset="0"/>
                <a:cs typeface="Arial" panose="020B0604020202020204" pitchFamily="34" charset="0"/>
              </a:rPr>
              <a:t>time stamps are recorded at each byte boundary after the SYNC bytes as they are transmitted or received</a:t>
            </a:r>
          </a:p>
          <a:p>
            <a:pPr lvl="1">
              <a:lnSpc>
                <a:spcPct val="120000"/>
              </a:lnSpc>
              <a:spcBef>
                <a:spcPts val="0"/>
              </a:spcBef>
            </a:pPr>
            <a:r>
              <a:rPr lang="en-US" altLang="zh-CN" sz="2000" dirty="0">
                <a:latin typeface="Arial" panose="020B0604020202020204" pitchFamily="34" charset="0"/>
                <a:cs typeface="Arial" panose="020B0604020202020204" pitchFamily="34" charset="0"/>
              </a:rPr>
              <a:t>time stamps are normalized by subtracting appropriate integer multiple of nominal byte transmission time (e.g., approx. 417μs on Mica2)</a:t>
            </a:r>
          </a:p>
          <a:p>
            <a:pPr lvl="1">
              <a:lnSpc>
                <a:spcPct val="120000"/>
              </a:lnSpc>
              <a:spcBef>
                <a:spcPts val="0"/>
              </a:spcBef>
            </a:pPr>
            <a:r>
              <a:rPr lang="en-US" altLang="zh-CN" sz="2000" dirty="0">
                <a:latin typeface="Arial" panose="020B0604020202020204" pitchFamily="34" charset="0"/>
                <a:cs typeface="Arial" panose="020B0604020202020204" pitchFamily="34" charset="0"/>
              </a:rPr>
              <a:t>jitter in interrupt handling can be reduced by taking the minimum of normalized time stamps</a:t>
            </a:r>
          </a:p>
          <a:p>
            <a:pPr lvl="1">
              <a:lnSpc>
                <a:spcPct val="120000"/>
              </a:lnSpc>
              <a:spcBef>
                <a:spcPts val="0"/>
              </a:spcBef>
            </a:pPr>
            <a:r>
              <a:rPr lang="en-US" altLang="zh-CN" sz="2000" dirty="0">
                <a:latin typeface="Arial" panose="020B0604020202020204" pitchFamily="34" charset="0"/>
                <a:cs typeface="Arial" panose="020B0604020202020204" pitchFamily="34" charset="0"/>
              </a:rPr>
              <a:t>jitter in encoding/decoding can be reduced by averaging these corrected normalized time stamps</a:t>
            </a:r>
          </a:p>
          <a:p>
            <a:pPr lvl="1">
              <a:lnSpc>
                <a:spcPct val="120000"/>
              </a:lnSpc>
              <a:spcBef>
                <a:spcPts val="0"/>
              </a:spcBef>
            </a:pPr>
            <a:r>
              <a:rPr lang="en-US" altLang="zh-CN" sz="2000" dirty="0">
                <a:latin typeface="Arial" panose="020B0604020202020204" pitchFamily="34" charset="0"/>
                <a:cs typeface="Arial" panose="020B0604020202020204" pitchFamily="34" charset="0"/>
              </a:rPr>
              <a:t>final (error-corrected) time stamp is added into data part of message</a:t>
            </a:r>
          </a:p>
          <a:p>
            <a:pPr lvl="1">
              <a:lnSpc>
                <a:spcPct val="120000"/>
              </a:lnSpc>
              <a:spcBef>
                <a:spcPts val="0"/>
              </a:spcBef>
            </a:pPr>
            <a:r>
              <a:rPr lang="en-US" altLang="zh-CN" sz="2000" dirty="0">
                <a:latin typeface="Arial" panose="020B0604020202020204" pitchFamily="34" charset="0"/>
                <a:cs typeface="Arial" panose="020B0604020202020204" pitchFamily="34" charset="0"/>
              </a:rPr>
              <a:t>at receiver side, time stamp must further be corrected by the byte alignment time (can be determined from transmission speed and bit offset)</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6638186"/>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b="1" dirty="0">
                <a:latin typeface="Arial" panose="020B0604020202020204" pitchFamily="34" charset="0"/>
                <a:cs typeface="Arial" panose="020B0604020202020204" pitchFamily="34" charset="0"/>
              </a:rPr>
              <a:t>Flooding Time Synchronization Protocol </a:t>
            </a:r>
            <a:endParaRPr lang="zh-CN" altLang="en-US" sz="3600"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902677" y="1547447"/>
            <a:ext cx="10568354" cy="5105400"/>
          </a:xfrm>
        </p:spPr>
        <p:txBody>
          <a:bodyPr>
            <a:normAutofit/>
          </a:bodyPr>
          <a:lstStyle/>
          <a:p>
            <a:pPr>
              <a:lnSpc>
                <a:spcPct val="120000"/>
              </a:lnSpc>
            </a:pPr>
            <a:r>
              <a:rPr lang="en-US" altLang="zh-CN" sz="2400" dirty="0">
                <a:solidFill>
                  <a:schemeClr val="accent1"/>
                </a:solidFill>
                <a:latin typeface="Arial" panose="020B0604020202020204" pitchFamily="34" charset="0"/>
                <a:cs typeface="Arial" panose="020B0604020202020204" pitchFamily="34" charset="0"/>
              </a:rPr>
              <a:t>Multi-hop synchronization</a:t>
            </a:r>
          </a:p>
          <a:p>
            <a:pPr lvl="1">
              <a:lnSpc>
                <a:spcPct val="120000"/>
              </a:lnSpc>
            </a:pPr>
            <a:r>
              <a:rPr lang="en-US" altLang="zh-CN" sz="2000" dirty="0">
                <a:latin typeface="Arial" panose="020B0604020202020204" pitchFamily="34" charset="0"/>
                <a:cs typeface="Arial" panose="020B0604020202020204" pitchFamily="34" charset="0"/>
              </a:rPr>
              <a:t>root node is elected based on unique node IDs</a:t>
            </a:r>
          </a:p>
          <a:p>
            <a:pPr lvl="1">
              <a:lnSpc>
                <a:spcPct val="120000"/>
              </a:lnSpc>
            </a:pPr>
            <a:r>
              <a:rPr lang="en-US" altLang="zh-CN" sz="2000" dirty="0">
                <a:latin typeface="Arial" panose="020B0604020202020204" pitchFamily="34" charset="0"/>
                <a:cs typeface="Arial" panose="020B0604020202020204" pitchFamily="34" charset="0"/>
              </a:rPr>
              <a:t>root node maintains global time and all other nodes synchronize to root</a:t>
            </a:r>
          </a:p>
          <a:p>
            <a:pPr lvl="1">
              <a:lnSpc>
                <a:spcPct val="120000"/>
              </a:lnSpc>
            </a:pPr>
            <a:r>
              <a:rPr lang="en-US" altLang="zh-CN" sz="2000" dirty="0">
                <a:latin typeface="Arial" panose="020B0604020202020204" pitchFamily="34" charset="0"/>
                <a:cs typeface="Arial" panose="020B0604020202020204" pitchFamily="34" charset="0"/>
              </a:rPr>
              <a:t>synchronization is triggered by broadcast message by the root node</a:t>
            </a:r>
          </a:p>
          <a:p>
            <a:pPr lvl="2">
              <a:lnSpc>
                <a:spcPct val="120000"/>
              </a:lnSpc>
            </a:pPr>
            <a:r>
              <a:rPr lang="en-US" altLang="zh-CN" sz="1800" dirty="0">
                <a:latin typeface="Arial" panose="020B0604020202020204" pitchFamily="34" charset="0"/>
                <a:cs typeface="Arial" panose="020B0604020202020204" pitchFamily="34" charset="0"/>
              </a:rPr>
              <a:t>whenever node does not receive synchronization message for certain amount of time, it declares itself to be the new root</a:t>
            </a:r>
          </a:p>
          <a:p>
            <a:pPr lvl="2">
              <a:lnSpc>
                <a:spcPct val="120000"/>
              </a:lnSpc>
            </a:pPr>
            <a:r>
              <a:rPr lang="en-US" altLang="zh-CN" sz="1800" dirty="0">
                <a:latin typeface="Arial" panose="020B0604020202020204" pitchFamily="34" charset="0"/>
                <a:cs typeface="Arial" panose="020B0604020202020204" pitchFamily="34" charset="0"/>
              </a:rPr>
              <a:t>whenever root receives a message from node with lower node ID, it gives up root status</a:t>
            </a:r>
          </a:p>
          <a:p>
            <a:pPr lvl="1">
              <a:lnSpc>
                <a:spcPct val="120000"/>
              </a:lnSpc>
            </a:pPr>
            <a:r>
              <a:rPr lang="en-US" altLang="zh-CN" sz="2000" dirty="0">
                <a:latin typeface="Arial" panose="020B0604020202020204" pitchFamily="34" charset="0"/>
                <a:cs typeface="Arial" panose="020B0604020202020204" pitchFamily="34" charset="0"/>
              </a:rPr>
              <a:t>all receiver nodes within range establish synchronization points</a:t>
            </a:r>
          </a:p>
          <a:p>
            <a:pPr lvl="1">
              <a:lnSpc>
                <a:spcPct val="120000"/>
              </a:lnSpc>
            </a:pPr>
            <a:r>
              <a:rPr lang="en-US" altLang="zh-CN" sz="2000" dirty="0">
                <a:latin typeface="Arial" panose="020B0604020202020204" pitchFamily="34" charset="0"/>
                <a:cs typeface="Arial" panose="020B0604020202020204" pitchFamily="34" charset="0"/>
              </a:rPr>
              <a:t>other nodes establish synchronization points from broadcasts of synchronized nodes that are closer to the root</a:t>
            </a:r>
          </a:p>
          <a:p>
            <a:pPr lvl="1">
              <a:lnSpc>
                <a:spcPct val="120000"/>
              </a:lnSpc>
            </a:pPr>
            <a:r>
              <a:rPr lang="en-US" altLang="zh-CN" sz="2000" dirty="0">
                <a:latin typeface="Arial" panose="020B0604020202020204" pitchFamily="34" charset="0"/>
                <a:cs typeface="Arial" panose="020B0604020202020204" pitchFamily="34" charset="0"/>
              </a:rPr>
              <a:t>a new node joining the network with lowest node ID will first collect synchronization messages to adjust its own clock before claiming root status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5942878"/>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681656"/>
            <a:ext cx="9144000" cy="2387600"/>
          </a:xfrm>
        </p:spPr>
        <p:txBody>
          <a:bodyPr>
            <a:normAutofit/>
          </a:bodyPr>
          <a:lstStyle/>
          <a:p>
            <a:pPr>
              <a:lnSpc>
                <a:spcPct val="120000"/>
              </a:lnSpc>
            </a:pPr>
            <a:r>
              <a:rPr lang="en-US" altLang="zh-CN" sz="4400" b="1" dirty="0">
                <a:solidFill>
                  <a:schemeClr val="accent1">
                    <a:lumMod val="75000"/>
                  </a:schemeClr>
                </a:solidFill>
                <a:latin typeface="微软雅黑" panose="020B0503020204020204" pitchFamily="34" charset="-122"/>
                <a:ea typeface="微软雅黑" panose="020B0503020204020204" pitchFamily="34" charset="-122"/>
              </a:rPr>
              <a:t>Chapter 8</a:t>
            </a:r>
            <a:br>
              <a:rPr lang="en-US" altLang="zh-CN" sz="4400" b="1" dirty="0">
                <a:solidFill>
                  <a:schemeClr val="accent1">
                    <a:lumMod val="75000"/>
                  </a:schemeClr>
                </a:solidFill>
                <a:latin typeface="微软雅黑" panose="020B0503020204020204" pitchFamily="34" charset="-122"/>
                <a:ea typeface="微软雅黑" panose="020B0503020204020204" pitchFamily="34" charset="-122"/>
              </a:rPr>
            </a:br>
            <a:r>
              <a:rPr lang="en-US" altLang="zh-CN" sz="4400" b="1" dirty="0">
                <a:latin typeface="微软雅黑" panose="020B0503020204020204" pitchFamily="34" charset="-122"/>
                <a:ea typeface="微软雅黑" panose="020B0503020204020204" pitchFamily="34" charset="-122"/>
              </a:rPr>
              <a:t> Localization </a:t>
            </a:r>
            <a:endParaRPr lang="zh-CN" altLang="en-US" sz="4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15303837"/>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latin typeface="Arial" panose="020B0604020202020204" pitchFamily="34" charset="0"/>
                <a:cs typeface="Arial" panose="020B0604020202020204" pitchFamily="34" charset="0"/>
              </a:rPr>
              <a:t>Roadmap </a:t>
            </a:r>
            <a:endParaRPr lang="zh-CN" altLang="en-US"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p:txBody>
          <a:bodyPr>
            <a:noAutofit/>
          </a:bodyPr>
          <a:lstStyle/>
          <a:p>
            <a:pPr>
              <a:lnSpc>
                <a:spcPct val="120000"/>
              </a:lnSpc>
            </a:pPr>
            <a:r>
              <a:rPr lang="en-US" altLang="zh-CN" dirty="0">
                <a:latin typeface="Arial" panose="020B0604020202020204" pitchFamily="34" charset="0"/>
                <a:cs typeface="Arial" panose="020B0604020202020204" pitchFamily="34" charset="0"/>
              </a:rPr>
              <a:t>Ranging techniques</a:t>
            </a:r>
          </a:p>
          <a:p>
            <a:pPr>
              <a:lnSpc>
                <a:spcPct val="120000"/>
              </a:lnSpc>
            </a:pPr>
            <a:r>
              <a:rPr lang="en-US" altLang="zh-CN" dirty="0">
                <a:latin typeface="Arial" panose="020B0604020202020204" pitchFamily="34" charset="0"/>
                <a:cs typeface="Arial" panose="020B0604020202020204" pitchFamily="34" charset="0"/>
              </a:rPr>
              <a:t>Range-based localization</a:t>
            </a:r>
          </a:p>
          <a:p>
            <a:pPr>
              <a:lnSpc>
                <a:spcPct val="120000"/>
              </a:lnSpc>
            </a:pPr>
            <a:r>
              <a:rPr lang="en-US" altLang="zh-CN" dirty="0">
                <a:latin typeface="Arial" panose="020B0604020202020204" pitchFamily="34" charset="0"/>
                <a:cs typeface="Arial" panose="020B0604020202020204" pitchFamily="34" charset="0"/>
              </a:rPr>
              <a:t>Range-free localization</a:t>
            </a:r>
          </a:p>
          <a:p>
            <a:pPr>
              <a:lnSpc>
                <a:spcPct val="120000"/>
              </a:lnSpc>
            </a:pPr>
            <a:r>
              <a:rPr lang="en-US" altLang="zh-CN" dirty="0">
                <a:latin typeface="Arial" panose="020B0604020202020204" pitchFamily="34" charset="0"/>
                <a:cs typeface="Arial" panose="020B0604020202020204" pitchFamily="34" charset="0"/>
              </a:rPr>
              <a:t>Event-driven localization</a:t>
            </a:r>
            <a:endParaRPr lang="en-US" altLang="zh-C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8150561"/>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Overview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94804"/>
            <a:ext cx="11146654" cy="5409678"/>
          </a:xfrm>
        </p:spPr>
        <p:txBody>
          <a:bodyPr>
            <a:normAutofit/>
          </a:bodyPr>
          <a:lstStyle/>
          <a:p>
            <a:pPr>
              <a:lnSpc>
                <a:spcPct val="130000"/>
              </a:lnSpc>
              <a:spcBef>
                <a:spcPts val="0"/>
              </a:spcBef>
            </a:pPr>
            <a:r>
              <a:rPr lang="en-US" altLang="zh-CN" sz="2600" dirty="0">
                <a:latin typeface="Arial" panose="020B0604020202020204" pitchFamily="34" charset="0"/>
                <a:cs typeface="Arial" panose="020B0604020202020204" pitchFamily="34" charset="0"/>
              </a:rPr>
              <a:t>Without knowledge of location of a sensor, the information produced by such sensor is of limited use</a:t>
            </a:r>
          </a:p>
          <a:p>
            <a:pPr lvl="1">
              <a:lnSpc>
                <a:spcPct val="130000"/>
              </a:lnSpc>
              <a:spcBef>
                <a:spcPts val="0"/>
              </a:spcBef>
            </a:pPr>
            <a:r>
              <a:rPr lang="en-US" altLang="zh-CN" sz="2200" dirty="0">
                <a:latin typeface="Arial" panose="020B0604020202020204" pitchFamily="34" charset="0"/>
                <a:cs typeface="Arial" panose="020B0604020202020204" pitchFamily="34" charset="0"/>
              </a:rPr>
              <a:t>location of sensed events in the physical world</a:t>
            </a:r>
          </a:p>
          <a:p>
            <a:pPr lvl="1">
              <a:lnSpc>
                <a:spcPct val="130000"/>
              </a:lnSpc>
              <a:spcBef>
                <a:spcPts val="0"/>
              </a:spcBef>
            </a:pPr>
            <a:r>
              <a:rPr lang="en-US" altLang="zh-CN" sz="2200" dirty="0">
                <a:latin typeface="Arial" panose="020B0604020202020204" pitchFamily="34" charset="0"/>
                <a:cs typeface="Arial" panose="020B0604020202020204" pitchFamily="34" charset="0"/>
              </a:rPr>
              <a:t>location-aware services</a:t>
            </a:r>
          </a:p>
          <a:p>
            <a:pPr lvl="1">
              <a:lnSpc>
                <a:spcPct val="130000"/>
              </a:lnSpc>
              <a:spcBef>
                <a:spcPts val="0"/>
              </a:spcBef>
            </a:pPr>
            <a:r>
              <a:rPr lang="en-US" altLang="zh-CN" sz="2200" dirty="0">
                <a:latin typeface="Arial" panose="020B0604020202020204" pitchFamily="34" charset="0"/>
                <a:cs typeface="Arial" panose="020B0604020202020204" pitchFamily="34" charset="0"/>
              </a:rPr>
              <a:t>location often primary sensor information (supply chain management, surveillance)</a:t>
            </a:r>
          </a:p>
          <a:p>
            <a:pPr lvl="1">
              <a:lnSpc>
                <a:spcPct val="130000"/>
              </a:lnSpc>
              <a:spcBef>
                <a:spcPts val="0"/>
              </a:spcBef>
            </a:pPr>
            <a:r>
              <a:rPr lang="en-US" altLang="zh-CN" sz="2200" dirty="0">
                <a:latin typeface="Arial" panose="020B0604020202020204" pitchFamily="34" charset="0"/>
                <a:cs typeface="Arial" panose="020B0604020202020204" pitchFamily="34" charset="0"/>
              </a:rPr>
              <a:t>object tracking</a:t>
            </a:r>
          </a:p>
          <a:p>
            <a:pPr lvl="1">
              <a:lnSpc>
                <a:spcPct val="130000"/>
              </a:lnSpc>
              <a:spcBef>
                <a:spcPts val="0"/>
              </a:spcBef>
            </a:pPr>
            <a:r>
              <a:rPr lang="en-US" altLang="zh-CN" sz="2200" dirty="0">
                <a:latin typeface="Arial" panose="020B0604020202020204" pitchFamily="34" charset="0"/>
                <a:cs typeface="Arial" panose="020B0604020202020204" pitchFamily="34" charset="0"/>
              </a:rPr>
              <a:t>protocols based on geographic information (routing)</a:t>
            </a:r>
          </a:p>
          <a:p>
            <a:pPr lvl="1">
              <a:lnSpc>
                <a:spcPct val="130000"/>
              </a:lnSpc>
              <a:spcBef>
                <a:spcPts val="0"/>
              </a:spcBef>
            </a:pPr>
            <a:r>
              <a:rPr lang="en-US" altLang="zh-CN" sz="2200" dirty="0">
                <a:latin typeface="Arial" panose="020B0604020202020204" pitchFamily="34" charset="0"/>
                <a:cs typeface="Arial" panose="020B0604020202020204" pitchFamily="34" charset="0"/>
              </a:rPr>
              <a:t>coverage area management</a:t>
            </a:r>
          </a:p>
          <a:p>
            <a:pPr>
              <a:lnSpc>
                <a:spcPct val="130000"/>
              </a:lnSpc>
              <a:spcBef>
                <a:spcPts val="0"/>
              </a:spcBef>
            </a:pPr>
            <a:r>
              <a:rPr lang="en-US" altLang="zh-CN" sz="2400" dirty="0">
                <a:latin typeface="Arial" panose="020B0604020202020204" pitchFamily="34" charset="0"/>
                <a:cs typeface="Arial" panose="020B0604020202020204" pitchFamily="34" charset="0"/>
              </a:rPr>
              <a:t>Location often not known a priori, therefore, localization is the task of determining the position (e.g., coordinates) of a sensor or the spatial relationships among objects</a:t>
            </a:r>
            <a:endParaRPr lang="zh-CN"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0529900"/>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Overview</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580224"/>
            <a:ext cx="10756037" cy="5277776"/>
          </a:xfrm>
        </p:spPr>
        <p:txBody>
          <a:bodyPr>
            <a:normAutofit fontScale="85000" lnSpcReduction="20000"/>
          </a:bodyPr>
          <a:lstStyle/>
          <a:p>
            <a:pPr>
              <a:lnSpc>
                <a:spcPct val="130000"/>
              </a:lnSpc>
              <a:spcBef>
                <a:spcPts val="0"/>
              </a:spcBef>
            </a:pPr>
            <a:r>
              <a:rPr lang="en-US" altLang="zh-CN" dirty="0">
                <a:solidFill>
                  <a:schemeClr val="accent1"/>
                </a:solidFill>
                <a:latin typeface="Arial" panose="020B0604020202020204" pitchFamily="34" charset="0"/>
                <a:cs typeface="Arial" panose="020B0604020202020204" pitchFamily="34" charset="0"/>
              </a:rPr>
              <a:t>Global</a:t>
            </a:r>
            <a:r>
              <a:rPr lang="en-US" altLang="zh-CN" dirty="0">
                <a:latin typeface="Arial" panose="020B0604020202020204" pitchFamily="34" charset="0"/>
                <a:cs typeface="Arial" panose="020B0604020202020204" pitchFamily="34" charset="0"/>
              </a:rPr>
              <a:t> position</a:t>
            </a:r>
          </a:p>
          <a:p>
            <a:pPr lvl="1">
              <a:lnSpc>
                <a:spcPct val="130000"/>
              </a:lnSpc>
              <a:spcBef>
                <a:spcPts val="0"/>
              </a:spcBef>
            </a:pPr>
            <a:r>
              <a:rPr lang="en-US" altLang="zh-CN" dirty="0">
                <a:latin typeface="Arial" panose="020B0604020202020204" pitchFamily="34" charset="0"/>
                <a:cs typeface="Arial" panose="020B0604020202020204" pitchFamily="34" charset="0"/>
              </a:rPr>
              <a:t>position within general global reference frame</a:t>
            </a:r>
          </a:p>
          <a:p>
            <a:pPr lvl="1">
              <a:lnSpc>
                <a:spcPct val="130000"/>
              </a:lnSpc>
              <a:spcBef>
                <a:spcPts val="0"/>
              </a:spcBef>
            </a:pPr>
            <a:r>
              <a:rPr lang="en-US" altLang="zh-CN" dirty="0">
                <a:latin typeface="Arial" panose="020B0604020202020204" pitchFamily="34" charset="0"/>
                <a:cs typeface="Arial" panose="020B0604020202020204" pitchFamily="34" charset="0"/>
              </a:rPr>
              <a:t>Global Positioning System or GPS (longitudes, latitudes)</a:t>
            </a:r>
          </a:p>
          <a:p>
            <a:pPr lvl="1">
              <a:lnSpc>
                <a:spcPct val="130000"/>
              </a:lnSpc>
              <a:spcBef>
                <a:spcPts val="0"/>
              </a:spcBef>
            </a:pPr>
            <a:r>
              <a:rPr lang="en-US" altLang="zh-CN" dirty="0">
                <a:latin typeface="Arial" panose="020B0604020202020204" pitchFamily="34" charset="0"/>
                <a:cs typeface="Arial" panose="020B0604020202020204" pitchFamily="34" charset="0"/>
              </a:rPr>
              <a:t>Universal Transverse Mercator (</a:t>
            </a:r>
            <a:r>
              <a:rPr lang="zh-CN" altLang="en-US" dirty="0">
                <a:latin typeface="Arial" panose="020B0604020202020204" pitchFamily="34" charset="0"/>
                <a:cs typeface="Arial" panose="020B0604020202020204" pitchFamily="34" charset="0"/>
              </a:rPr>
              <a:t>莫卡托方位法</a:t>
            </a:r>
            <a:r>
              <a:rPr lang="en-US" altLang="zh-CN" dirty="0">
                <a:latin typeface="Arial" panose="020B0604020202020204" pitchFamily="34" charset="0"/>
                <a:cs typeface="Arial" panose="020B0604020202020204" pitchFamily="34" charset="0"/>
              </a:rPr>
              <a:t>) or UTM (zones and latitude bands)</a:t>
            </a:r>
          </a:p>
          <a:p>
            <a:pPr>
              <a:lnSpc>
                <a:spcPct val="130000"/>
              </a:lnSpc>
              <a:spcBef>
                <a:spcPts val="0"/>
              </a:spcBef>
            </a:pPr>
            <a:r>
              <a:rPr lang="en-US" altLang="zh-CN" dirty="0">
                <a:solidFill>
                  <a:schemeClr val="accent1"/>
                </a:solidFill>
                <a:latin typeface="Arial" panose="020B0604020202020204" pitchFamily="34" charset="0"/>
                <a:cs typeface="Arial" panose="020B0604020202020204" pitchFamily="34" charset="0"/>
              </a:rPr>
              <a:t>Relative </a:t>
            </a:r>
            <a:r>
              <a:rPr lang="en-US" altLang="zh-CN" dirty="0">
                <a:latin typeface="Arial" panose="020B0604020202020204" pitchFamily="34" charset="0"/>
                <a:cs typeface="Arial" panose="020B0604020202020204" pitchFamily="34" charset="0"/>
              </a:rPr>
              <a:t>position</a:t>
            </a:r>
          </a:p>
          <a:p>
            <a:pPr lvl="1">
              <a:lnSpc>
                <a:spcPct val="130000"/>
              </a:lnSpc>
              <a:spcBef>
                <a:spcPts val="0"/>
              </a:spcBef>
            </a:pPr>
            <a:r>
              <a:rPr lang="en-US" altLang="zh-CN" dirty="0">
                <a:latin typeface="Arial" panose="020B0604020202020204" pitchFamily="34" charset="0"/>
                <a:cs typeface="Arial" panose="020B0604020202020204" pitchFamily="34" charset="0"/>
              </a:rPr>
              <a:t>based on arbitrary coordinate systems and reference frames</a:t>
            </a:r>
          </a:p>
          <a:p>
            <a:pPr lvl="1">
              <a:lnSpc>
                <a:spcPct val="130000"/>
              </a:lnSpc>
              <a:spcBef>
                <a:spcPts val="0"/>
              </a:spcBef>
            </a:pPr>
            <a:r>
              <a:rPr lang="en-US" altLang="zh-CN" dirty="0">
                <a:latin typeface="Arial" panose="020B0604020202020204" pitchFamily="34" charset="0"/>
                <a:cs typeface="Arial" panose="020B0604020202020204" pitchFamily="34" charset="0"/>
              </a:rPr>
              <a:t>distances between sensors (no relationship to global coordinates)</a:t>
            </a:r>
          </a:p>
          <a:p>
            <a:pPr>
              <a:lnSpc>
                <a:spcPct val="130000"/>
              </a:lnSpc>
              <a:spcBef>
                <a:spcPts val="0"/>
              </a:spcBef>
            </a:pPr>
            <a:r>
              <a:rPr lang="en-US" altLang="zh-CN" dirty="0">
                <a:solidFill>
                  <a:schemeClr val="accent1"/>
                </a:solidFill>
                <a:latin typeface="Arial" panose="020B0604020202020204" pitchFamily="34" charset="0"/>
                <a:cs typeface="Arial" panose="020B0604020202020204" pitchFamily="34" charset="0"/>
              </a:rPr>
              <a:t>Accuracy </a:t>
            </a:r>
            <a:r>
              <a:rPr lang="en-US" altLang="zh-CN" dirty="0">
                <a:latin typeface="Arial" panose="020B0604020202020204" pitchFamily="34" charset="0"/>
                <a:cs typeface="Arial" panose="020B0604020202020204" pitchFamily="34" charset="0"/>
              </a:rPr>
              <a:t>versus </a:t>
            </a:r>
            <a:r>
              <a:rPr lang="en-US" altLang="zh-CN" dirty="0">
                <a:solidFill>
                  <a:schemeClr val="accent1"/>
                </a:solidFill>
                <a:latin typeface="Arial" panose="020B0604020202020204" pitchFamily="34" charset="0"/>
                <a:cs typeface="Arial" panose="020B0604020202020204" pitchFamily="34" charset="0"/>
              </a:rPr>
              <a:t>precision</a:t>
            </a:r>
          </a:p>
          <a:p>
            <a:pPr lvl="1">
              <a:lnSpc>
                <a:spcPct val="130000"/>
              </a:lnSpc>
              <a:spcBef>
                <a:spcPts val="0"/>
              </a:spcBef>
            </a:pPr>
            <a:r>
              <a:rPr lang="en-US" altLang="zh-CN" dirty="0">
                <a:latin typeface="Arial" panose="020B0604020202020204" pitchFamily="34" charset="0"/>
                <a:cs typeface="Arial" panose="020B0604020202020204" pitchFamily="34" charset="0"/>
              </a:rPr>
              <a:t>GPS: true within 10m for 90% of all measurements</a:t>
            </a:r>
          </a:p>
          <a:p>
            <a:pPr lvl="2">
              <a:lnSpc>
                <a:spcPct val="130000"/>
              </a:lnSpc>
              <a:spcBef>
                <a:spcPts val="0"/>
              </a:spcBef>
            </a:pPr>
            <a:r>
              <a:rPr lang="en-US" altLang="zh-CN" dirty="0">
                <a:latin typeface="Arial" panose="020B0604020202020204" pitchFamily="34" charset="0"/>
                <a:cs typeface="Arial" panose="020B0604020202020204" pitchFamily="34" charset="0"/>
              </a:rPr>
              <a:t>accuracy: 10m (“how close is the reading to the ground truth?”)</a:t>
            </a:r>
          </a:p>
          <a:p>
            <a:pPr lvl="2">
              <a:lnSpc>
                <a:spcPct val="130000"/>
              </a:lnSpc>
              <a:spcBef>
                <a:spcPts val="0"/>
              </a:spcBef>
            </a:pPr>
            <a:r>
              <a:rPr lang="en-US" altLang="zh-CN" dirty="0">
                <a:latin typeface="Arial" panose="020B0604020202020204" pitchFamily="34" charset="0"/>
                <a:cs typeface="Arial" panose="020B0604020202020204" pitchFamily="34" charset="0"/>
              </a:rPr>
              <a:t>precision: 90% (“how consistent are the readings?”)</a:t>
            </a:r>
          </a:p>
          <a:p>
            <a:pPr>
              <a:lnSpc>
                <a:spcPct val="130000"/>
              </a:lnSpc>
              <a:spcBef>
                <a:spcPts val="0"/>
              </a:spcBef>
            </a:pPr>
            <a:r>
              <a:rPr lang="en-US" altLang="zh-CN" dirty="0">
                <a:solidFill>
                  <a:schemeClr val="accent1"/>
                </a:solidFill>
                <a:latin typeface="Arial" panose="020B0604020202020204" pitchFamily="34" charset="0"/>
                <a:cs typeface="Arial" panose="020B0604020202020204" pitchFamily="34" charset="0"/>
              </a:rPr>
              <a:t>Symbolic</a:t>
            </a:r>
            <a:r>
              <a:rPr lang="en-US" altLang="zh-CN" dirty="0">
                <a:latin typeface="Arial" panose="020B0604020202020204" pitchFamily="34" charset="0"/>
                <a:cs typeface="Arial" panose="020B0604020202020204" pitchFamily="34" charset="0"/>
              </a:rPr>
              <a:t> position information</a:t>
            </a:r>
          </a:p>
          <a:p>
            <a:pPr lvl="1">
              <a:lnSpc>
                <a:spcPct val="130000"/>
              </a:lnSpc>
              <a:spcBef>
                <a:spcPts val="0"/>
              </a:spcBef>
            </a:pPr>
            <a:r>
              <a:rPr lang="en-US" altLang="zh-CN" dirty="0">
                <a:latin typeface="Arial" panose="020B0604020202020204" pitchFamily="34" charset="0"/>
                <a:cs typeface="Arial" panose="020B0604020202020204" pitchFamily="34" charset="0"/>
              </a:rPr>
              <a:t>“office 354”</a:t>
            </a:r>
          </a:p>
          <a:p>
            <a:pPr lvl="1">
              <a:lnSpc>
                <a:spcPct val="130000"/>
              </a:lnSpc>
              <a:spcBef>
                <a:spcPts val="0"/>
              </a:spcBef>
            </a:pPr>
            <a:r>
              <a:rPr lang="en-US" altLang="zh-CN" dirty="0">
                <a:latin typeface="Arial" panose="020B0604020202020204" pitchFamily="34" charset="0"/>
                <a:cs typeface="Arial" panose="020B0604020202020204" pitchFamily="34" charset="0"/>
              </a:rPr>
              <a:t>“mile marker 17 on Highway 23”</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7770204"/>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Ranging Techniques </a:t>
            </a:r>
            <a:endParaRPr lang="zh-CN" altLang="en-US"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464816"/>
                <a:ext cx="10515600" cy="5393183"/>
              </a:xfrm>
            </p:spPr>
            <p:txBody>
              <a:bodyPr>
                <a:normAutofit fontScale="77500" lnSpcReduction="20000"/>
              </a:bodyPr>
              <a:lstStyle/>
              <a:p>
                <a:pPr>
                  <a:lnSpc>
                    <a:spcPct val="140000"/>
                  </a:lnSpc>
                  <a:spcBef>
                    <a:spcPts val="0"/>
                  </a:spcBef>
                </a:pPr>
                <a:r>
                  <a:rPr lang="en-US" altLang="zh-CN" dirty="0">
                    <a:solidFill>
                      <a:schemeClr val="accent1"/>
                    </a:solidFill>
                    <a:latin typeface="Arial" panose="020B0604020202020204" pitchFamily="34" charset="0"/>
                    <a:cs typeface="Arial" panose="020B0604020202020204" pitchFamily="34" charset="0"/>
                  </a:rPr>
                  <a:t>Time of Arrival </a:t>
                </a: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ToA</a:t>
                </a:r>
                <a:r>
                  <a:rPr lang="en-US" altLang="zh-CN" dirty="0">
                    <a:latin typeface="Arial" panose="020B0604020202020204" pitchFamily="34" charset="0"/>
                    <a:cs typeface="Arial" panose="020B0604020202020204" pitchFamily="34" charset="0"/>
                  </a:rPr>
                  <a:t>, time of flight)</a:t>
                </a:r>
              </a:p>
              <a:p>
                <a:pPr lvl="1">
                  <a:lnSpc>
                    <a:spcPct val="140000"/>
                  </a:lnSpc>
                  <a:spcBef>
                    <a:spcPts val="0"/>
                  </a:spcBef>
                </a:pPr>
                <a:r>
                  <a:rPr lang="en-US" altLang="zh-CN" dirty="0">
                    <a:latin typeface="Arial" panose="020B0604020202020204" pitchFamily="34" charset="0"/>
                    <a:cs typeface="Arial" panose="020B0604020202020204" pitchFamily="34" charset="0"/>
                  </a:rPr>
                  <a:t>distance between sender and receiver of a signal can be determined using the measured signal propagation time and known signal velocity</a:t>
                </a:r>
              </a:p>
              <a:p>
                <a:pPr lvl="1">
                  <a:lnSpc>
                    <a:spcPct val="140000"/>
                  </a:lnSpc>
                  <a:spcBef>
                    <a:spcPts val="0"/>
                  </a:spcBef>
                </a:pPr>
                <a:r>
                  <a:rPr lang="en-US" altLang="zh-CN" dirty="0">
                    <a:latin typeface="Arial" panose="020B0604020202020204" pitchFamily="34" charset="0"/>
                    <a:cs typeface="Arial" panose="020B0604020202020204" pitchFamily="34" charset="0"/>
                  </a:rPr>
                  <a:t>sound waves: 343m/s, i.e., approx. 30ms to travel 10m</a:t>
                </a:r>
              </a:p>
              <a:p>
                <a:pPr lvl="1">
                  <a:lnSpc>
                    <a:spcPct val="140000"/>
                  </a:lnSpc>
                  <a:spcBef>
                    <a:spcPts val="0"/>
                  </a:spcBef>
                </a:pPr>
                <a:r>
                  <a:rPr lang="en-US" altLang="zh-CN" dirty="0">
                    <a:latin typeface="Arial" panose="020B0604020202020204" pitchFamily="34" charset="0"/>
                    <a:cs typeface="Arial" panose="020B0604020202020204" pitchFamily="34" charset="0"/>
                  </a:rPr>
                  <a:t>radio signals: 300km/s, i.e., approx. 30ns to travel 10m</a:t>
                </a:r>
              </a:p>
              <a:p>
                <a:pPr>
                  <a:lnSpc>
                    <a:spcPct val="140000"/>
                  </a:lnSpc>
                  <a:spcBef>
                    <a:spcPts val="0"/>
                  </a:spcBef>
                </a:pPr>
                <a:r>
                  <a:rPr lang="en-US" altLang="zh-CN" dirty="0">
                    <a:solidFill>
                      <a:schemeClr val="accent1"/>
                    </a:solidFill>
                    <a:latin typeface="Arial" panose="020B0604020202020204" pitchFamily="34" charset="0"/>
                    <a:cs typeface="Arial" panose="020B0604020202020204" pitchFamily="34" charset="0"/>
                  </a:rPr>
                  <a:t>One-way </a:t>
                </a:r>
                <a:r>
                  <a:rPr lang="en-US" altLang="zh-CN" dirty="0" err="1">
                    <a:solidFill>
                      <a:schemeClr val="accent1"/>
                    </a:solidFill>
                    <a:latin typeface="Arial" panose="020B0604020202020204" pitchFamily="34" charset="0"/>
                    <a:cs typeface="Arial" panose="020B0604020202020204" pitchFamily="34" charset="0"/>
                  </a:rPr>
                  <a:t>ToA</a:t>
                </a:r>
                <a:endParaRPr lang="en-US" altLang="zh-CN" dirty="0">
                  <a:latin typeface="Arial" panose="020B0604020202020204" pitchFamily="34" charset="0"/>
                  <a:cs typeface="Arial" panose="020B0604020202020204" pitchFamily="34" charset="0"/>
                </a:endParaRPr>
              </a:p>
              <a:p>
                <a:pPr lvl="1">
                  <a:lnSpc>
                    <a:spcPct val="140000"/>
                  </a:lnSpc>
                  <a:spcBef>
                    <a:spcPts val="0"/>
                  </a:spcBef>
                </a:pPr>
                <a:r>
                  <a:rPr lang="en-US" altLang="zh-CN" dirty="0">
                    <a:latin typeface="Arial" panose="020B0604020202020204" pitchFamily="34" charset="0"/>
                    <a:cs typeface="Arial" panose="020B0604020202020204" pitchFamily="34" charset="0"/>
                  </a:rPr>
                  <a:t>one-way propagation of signal </a:t>
                </a:r>
              </a:p>
              <a:p>
                <a:pPr lvl="1">
                  <a:lnSpc>
                    <a:spcPct val="140000"/>
                  </a:lnSpc>
                  <a:spcBef>
                    <a:spcPts val="0"/>
                  </a:spcBef>
                </a:pPr>
                <a:r>
                  <a:rPr lang="en-US" altLang="zh-CN" dirty="0">
                    <a:latin typeface="Arial" panose="020B0604020202020204" pitchFamily="34" charset="0"/>
                    <a:cs typeface="Arial" panose="020B0604020202020204" pitchFamily="34" charset="0"/>
                  </a:rPr>
                  <a:t>requires highly accurate synchronization of sender and receiver clocks</a:t>
                </a:r>
              </a:p>
              <a:p>
                <a:pPr marL="457200" lvl="1" indent="0">
                  <a:lnSpc>
                    <a:spcPct val="140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a:rPr>
                            <m:t>dis</m:t>
                          </m:r>
                          <m:r>
                            <a:rPr lang="en-US" altLang="zh-CN" b="0" i="1" smtClean="0">
                              <a:latin typeface="Cambria Math"/>
                            </a:rPr>
                            <m:t>𝑡</m:t>
                          </m:r>
                        </m:e>
                        <m:sub>
                          <m:r>
                            <m:rPr>
                              <m:sty m:val="p"/>
                            </m:rPr>
                            <a:rPr lang="en-US" altLang="zh-CN" i="1">
                              <a:latin typeface="Cambria Math"/>
                            </a:rPr>
                            <m:t>i</m:t>
                          </m:r>
                          <m:r>
                            <a:rPr lang="en-US" altLang="zh-CN" b="0" i="1" smtClean="0">
                              <a:latin typeface="Cambria Math"/>
                            </a:rPr>
                            <m:t>𝑗</m:t>
                          </m:r>
                        </m:sub>
                      </m:sSub>
                      <m:r>
                        <a:rPr lang="en-US" altLang="zh-CN" b="0" i="1" smtClean="0">
                          <a:latin typeface="Cambria Math"/>
                        </a:rPr>
                        <m:t>=</m:t>
                      </m:r>
                      <m:d>
                        <m:dPr>
                          <m:begChr m:val="（"/>
                          <m:endChr m:val="）"/>
                          <m:ctrlPr>
                            <a:rPr lang="zh-CN" altLang="en-US"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a:rPr>
                                <m:t>𝑡</m:t>
                              </m:r>
                            </m:e>
                            <m:sub>
                              <m:r>
                                <a:rPr lang="en-US" altLang="zh-CN" b="0" i="1" smtClean="0">
                                  <a:latin typeface="Cambria Math"/>
                                </a:rPr>
                                <m:t>2</m:t>
                              </m:r>
                            </m:sub>
                          </m:sSub>
                          <m:r>
                            <a:rPr lang="en-US" altLang="zh-CN" b="0" i="1" smtClean="0">
                              <a:latin typeface="Cambria Math"/>
                            </a:rPr>
                            <m:t>−</m:t>
                          </m:r>
                          <m:sSub>
                            <m:sSubPr>
                              <m:ctrlPr>
                                <a:rPr lang="en-US" altLang="zh-CN" b="0" i="1" smtClean="0">
                                  <a:latin typeface="Cambria Math" panose="02040503050406030204" pitchFamily="18" charset="0"/>
                                </a:rPr>
                              </m:ctrlPr>
                            </m:sSubPr>
                            <m:e>
                              <m:r>
                                <a:rPr lang="en-US" altLang="zh-CN" b="0" i="1" smtClean="0">
                                  <a:latin typeface="Cambria Math"/>
                                </a:rPr>
                                <m:t>𝑡</m:t>
                              </m:r>
                            </m:e>
                            <m:sub>
                              <m:r>
                                <a:rPr lang="en-US" altLang="zh-CN" b="0" i="1" smtClean="0">
                                  <a:latin typeface="Cambria Math"/>
                                </a:rPr>
                                <m:t>1</m:t>
                              </m:r>
                            </m:sub>
                          </m:sSub>
                        </m:e>
                      </m:d>
                      <m:r>
                        <a:rPr lang="zh-CN" altLang="en-US" b="0" i="1" smtClean="0">
                          <a:latin typeface="Cambria Math"/>
                        </a:rPr>
                        <m:t>∗</m:t>
                      </m:r>
                      <m:r>
                        <a:rPr lang="en-US" altLang="zh-CN" b="0" i="1" smtClean="0">
                          <a:latin typeface="Cambria Math"/>
                        </a:rPr>
                        <m:t>𝑣</m:t>
                      </m:r>
                    </m:oMath>
                  </m:oMathPara>
                </a14:m>
                <a:endParaRPr lang="en-US" altLang="zh-CN" dirty="0">
                  <a:latin typeface="Arial" panose="020B0604020202020204" pitchFamily="34" charset="0"/>
                  <a:cs typeface="Arial" panose="020B0604020202020204" pitchFamily="34" charset="0"/>
                </a:endParaRPr>
              </a:p>
              <a:p>
                <a:pPr>
                  <a:lnSpc>
                    <a:spcPct val="140000"/>
                  </a:lnSpc>
                  <a:spcBef>
                    <a:spcPts val="0"/>
                  </a:spcBef>
                </a:pPr>
                <a:r>
                  <a:rPr lang="en-US" altLang="zh-CN" dirty="0">
                    <a:solidFill>
                      <a:schemeClr val="accent1"/>
                    </a:solidFill>
                    <a:latin typeface="Arial" panose="020B0604020202020204" pitchFamily="34" charset="0"/>
                    <a:cs typeface="Arial" panose="020B0604020202020204" pitchFamily="34" charset="0"/>
                  </a:rPr>
                  <a:t>Two-way </a:t>
                </a:r>
                <a:r>
                  <a:rPr lang="en-US" altLang="zh-CN" dirty="0" err="1">
                    <a:solidFill>
                      <a:schemeClr val="accent1"/>
                    </a:solidFill>
                    <a:latin typeface="Arial" panose="020B0604020202020204" pitchFamily="34" charset="0"/>
                    <a:cs typeface="Arial" panose="020B0604020202020204" pitchFamily="34" charset="0"/>
                  </a:rPr>
                  <a:t>ToA</a:t>
                </a:r>
                <a:endParaRPr lang="en-US" altLang="zh-CN" dirty="0">
                  <a:solidFill>
                    <a:schemeClr val="accent1"/>
                  </a:solidFill>
                  <a:latin typeface="Arial" panose="020B0604020202020204" pitchFamily="34" charset="0"/>
                  <a:cs typeface="Arial" panose="020B0604020202020204" pitchFamily="34" charset="0"/>
                </a:endParaRPr>
              </a:p>
              <a:p>
                <a:pPr lvl="1">
                  <a:lnSpc>
                    <a:spcPct val="140000"/>
                  </a:lnSpc>
                  <a:spcBef>
                    <a:spcPts val="0"/>
                  </a:spcBef>
                </a:pPr>
                <a:r>
                  <a:rPr lang="en-US" altLang="zh-CN" dirty="0">
                    <a:latin typeface="Arial" panose="020B0604020202020204" pitchFamily="34" charset="0"/>
                    <a:cs typeface="Arial" panose="020B0604020202020204" pitchFamily="34" charset="0"/>
                  </a:rPr>
                  <a:t>round-trip time of signal is measured at sender device</a:t>
                </a:r>
              </a:p>
              <a:p>
                <a:pPr lvl="1">
                  <a:lnSpc>
                    <a:spcPct val="140000"/>
                  </a:lnSpc>
                  <a:spcBef>
                    <a:spcPts val="0"/>
                  </a:spcBef>
                </a:pPr>
                <a:r>
                  <a:rPr lang="en-US" altLang="zh-CN" dirty="0">
                    <a:latin typeface="Arial" panose="020B0604020202020204" pitchFamily="34" charset="0"/>
                    <a:cs typeface="Arial" panose="020B0604020202020204" pitchFamily="34" charset="0"/>
                  </a:rPr>
                  <a:t>third message if receiver wants to know the distance</a:t>
                </a:r>
              </a:p>
              <a:p>
                <a:pPr marL="457200" lvl="1" indent="0">
                  <a:lnSpc>
                    <a:spcPct val="140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m:rPr>
                              <m:sty m:val="p"/>
                            </m:rPr>
                            <a:rPr lang="en-US" altLang="zh-CN" i="1">
                              <a:latin typeface="Cambria Math"/>
                            </a:rPr>
                            <m:t>dist</m:t>
                          </m:r>
                        </m:e>
                        <m:sub>
                          <m:r>
                            <m:rPr>
                              <m:sty m:val="p"/>
                            </m:rPr>
                            <a:rPr lang="en-US" altLang="zh-CN" i="1">
                              <a:latin typeface="Cambria Math"/>
                            </a:rPr>
                            <m:t>i</m:t>
                          </m:r>
                          <m:r>
                            <a:rPr lang="en-US" altLang="zh-CN" b="0" i="1" smtClean="0">
                              <a:latin typeface="Cambria Math"/>
                            </a:rPr>
                            <m:t>𝑗</m:t>
                          </m:r>
                        </m:sub>
                      </m:sSub>
                      <m:r>
                        <a:rPr lang="en-US" altLang="zh-CN" b="0" i="1" smtClean="0">
                          <a:latin typeface="Cambria Math"/>
                        </a:rPr>
                        <m:t>=</m:t>
                      </m:r>
                      <m:f>
                        <m:fPr>
                          <m:ctrlPr>
                            <a:rPr lang="en-US" altLang="zh-CN" i="1" smtClean="0">
                              <a:latin typeface="Cambria Math" panose="02040503050406030204" pitchFamily="18" charset="0"/>
                            </a:rPr>
                          </m:ctrlPr>
                        </m:fPr>
                        <m:num>
                          <m:d>
                            <m:dPr>
                              <m:begChr m:val="（"/>
                              <m:endChr m:val="）"/>
                              <m:ctrlPr>
                                <a:rPr lang="zh-CN" altLang="en-US"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a:rPr>
                                    <m:t>𝑡</m:t>
                                  </m:r>
                                </m:e>
                                <m:sub>
                                  <m:r>
                                    <a:rPr lang="en-US" altLang="zh-CN" b="0" i="1" smtClean="0">
                                      <a:latin typeface="Cambria Math"/>
                                    </a:rPr>
                                    <m:t>4</m:t>
                                  </m:r>
                                </m:sub>
                              </m:sSub>
                              <m:r>
                                <a:rPr lang="en-US" altLang="zh-CN" b="0" i="1" smtClean="0">
                                  <a:latin typeface="Cambria Math"/>
                                </a:rPr>
                                <m:t>−</m:t>
                              </m:r>
                              <m:sSub>
                                <m:sSubPr>
                                  <m:ctrlPr>
                                    <a:rPr lang="en-US" altLang="zh-CN" b="0" i="1" smtClean="0">
                                      <a:latin typeface="Cambria Math" panose="02040503050406030204" pitchFamily="18" charset="0"/>
                                    </a:rPr>
                                  </m:ctrlPr>
                                </m:sSubPr>
                                <m:e>
                                  <m:r>
                                    <a:rPr lang="en-US" altLang="zh-CN" b="0" i="1" smtClean="0">
                                      <a:latin typeface="Cambria Math"/>
                                    </a:rPr>
                                    <m:t>𝑡</m:t>
                                  </m:r>
                                </m:e>
                                <m:sub>
                                  <m:r>
                                    <a:rPr lang="en-US" altLang="zh-CN" b="0" i="1" smtClean="0">
                                      <a:latin typeface="Cambria Math"/>
                                    </a:rPr>
                                    <m:t>1</m:t>
                                  </m:r>
                                </m:sub>
                              </m:sSub>
                            </m:e>
                          </m:d>
                          <m:r>
                            <a:rPr lang="en-US" altLang="zh-CN" b="0" i="1" smtClean="0">
                              <a:latin typeface="Cambria Math"/>
                            </a:rPr>
                            <m:t>−</m:t>
                          </m:r>
                          <m:d>
                            <m:dPr>
                              <m:begChr m:val="（"/>
                              <m:endChr m:val="）"/>
                              <m:ctrlPr>
                                <a:rPr lang="zh-CN" altLang="en-US"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a:rPr>
                                    <m:t>𝑡</m:t>
                                  </m:r>
                                </m:e>
                                <m:sub>
                                  <m:r>
                                    <a:rPr lang="en-US" altLang="zh-CN" b="0" i="1" smtClean="0">
                                      <a:latin typeface="Cambria Math"/>
                                    </a:rPr>
                                    <m:t>3</m:t>
                                  </m:r>
                                </m:sub>
                              </m:sSub>
                              <m:r>
                                <a:rPr lang="en-US" altLang="zh-CN" i="1">
                                  <a:latin typeface="Cambria Math"/>
                                </a:rPr>
                                <m:t>−</m:t>
                              </m:r>
                              <m:sSub>
                                <m:sSubPr>
                                  <m:ctrlPr>
                                    <a:rPr lang="en-US" altLang="zh-CN" i="1">
                                      <a:latin typeface="Cambria Math" panose="02040503050406030204" pitchFamily="18" charset="0"/>
                                    </a:rPr>
                                  </m:ctrlPr>
                                </m:sSubPr>
                                <m:e>
                                  <m:r>
                                    <a:rPr lang="en-US" altLang="zh-CN" i="1">
                                      <a:latin typeface="Cambria Math"/>
                                    </a:rPr>
                                    <m:t>𝑡</m:t>
                                  </m:r>
                                </m:e>
                                <m:sub>
                                  <m:r>
                                    <a:rPr lang="en-US" altLang="zh-CN" b="0" i="1" smtClean="0">
                                      <a:latin typeface="Cambria Math"/>
                                    </a:rPr>
                                    <m:t>2</m:t>
                                  </m:r>
                                </m:sub>
                              </m:sSub>
                            </m:e>
                          </m:d>
                        </m:num>
                        <m:den>
                          <m:r>
                            <a:rPr lang="en-US" altLang="zh-CN" b="0" i="1" smtClean="0">
                              <a:latin typeface="Cambria Math"/>
                            </a:rPr>
                            <m:t>2</m:t>
                          </m:r>
                        </m:den>
                      </m:f>
                      <m:r>
                        <a:rPr lang="en-US" altLang="zh-CN" b="0" i="1" smtClean="0">
                          <a:latin typeface="Cambria Math"/>
                        </a:rPr>
                        <m:t>∗</m:t>
                      </m:r>
                      <m:r>
                        <a:rPr lang="en-US" altLang="zh-CN" b="0" i="1" smtClean="0">
                          <a:latin typeface="Cambria Math"/>
                        </a:rPr>
                        <m:t>𝑣</m:t>
                      </m:r>
                    </m:oMath>
                  </m:oMathPara>
                </a14:m>
                <a:endParaRPr lang="zh-CN" altLang="en-US" dirty="0">
                  <a:latin typeface="Arial" panose="020B0604020202020204" pitchFamily="34" charset="0"/>
                  <a:cs typeface="Arial" panose="020B0604020202020204" pitchFamily="34"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464816"/>
                <a:ext cx="10515600" cy="5393183"/>
              </a:xfrm>
              <a:blipFill>
                <a:blip r:embed="rId2"/>
                <a:stretch>
                  <a:fillRect l="-696" r="-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56147162"/>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Ranging Techniques </a:t>
            </a:r>
            <a:endParaRPr lang="zh-CN" altLang="en-US"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3429000"/>
                <a:ext cx="10933590" cy="3429000"/>
              </a:xfrm>
            </p:spPr>
            <p:txBody>
              <a:bodyPr>
                <a:normAutofit fontScale="85000" lnSpcReduction="10000"/>
              </a:bodyPr>
              <a:lstStyle/>
              <a:p>
                <a:pPr>
                  <a:lnSpc>
                    <a:spcPct val="130000"/>
                  </a:lnSpc>
                </a:pPr>
                <a:r>
                  <a:rPr lang="en-US" altLang="zh-CN" dirty="0">
                    <a:solidFill>
                      <a:schemeClr val="accent1"/>
                    </a:solidFill>
                    <a:latin typeface="Arial" panose="020B0604020202020204" pitchFamily="34" charset="0"/>
                    <a:cs typeface="Arial" panose="020B0604020202020204" pitchFamily="34" charset="0"/>
                  </a:rPr>
                  <a:t>Time Difference of Arrival </a:t>
                </a: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TDoA</a:t>
                </a:r>
                <a:r>
                  <a:rPr lang="en-US" altLang="zh-CN" dirty="0">
                    <a:latin typeface="Arial" panose="020B0604020202020204" pitchFamily="34" charset="0"/>
                    <a:cs typeface="Arial" panose="020B0604020202020204" pitchFamily="34" charset="0"/>
                  </a:rPr>
                  <a:t>)</a:t>
                </a:r>
              </a:p>
              <a:p>
                <a:pPr lvl="1">
                  <a:lnSpc>
                    <a:spcPct val="130000"/>
                  </a:lnSpc>
                </a:pPr>
                <a:r>
                  <a:rPr lang="en-US" altLang="zh-CN" dirty="0">
                    <a:latin typeface="Arial" panose="020B0604020202020204" pitchFamily="34" charset="0"/>
                    <a:cs typeface="Arial" panose="020B0604020202020204" pitchFamily="34" charset="0"/>
                  </a:rPr>
                  <a:t>two signals with different velocities</a:t>
                </a:r>
              </a:p>
              <a:p>
                <a:pPr lvl="1">
                  <a:lnSpc>
                    <a:spcPct val="130000"/>
                  </a:lnSpc>
                </a:pPr>
                <a:r>
                  <a:rPr lang="en-US" altLang="zh-CN" dirty="0">
                    <a:latin typeface="Arial" panose="020B0604020202020204" pitchFamily="34" charset="0"/>
                    <a:cs typeface="Arial" panose="020B0604020202020204" pitchFamily="34" charset="0"/>
                  </a:rPr>
                  <a:t>example: radio signal (sent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a:rPr>
                          <m:t>𝑡</m:t>
                        </m:r>
                      </m:e>
                      <m:sub>
                        <m:r>
                          <a:rPr lang="en-US" altLang="zh-CN" b="0" i="1" smtClean="0">
                            <a:latin typeface="Cambria Math"/>
                          </a:rPr>
                          <m:t>1</m:t>
                        </m:r>
                      </m:sub>
                    </m:sSub>
                  </m:oMath>
                </a14:m>
                <a:r>
                  <a:rPr lang="en-US" altLang="zh-CN" dirty="0">
                    <a:latin typeface="Arial" panose="020B0604020202020204" pitchFamily="34" charset="0"/>
                    <a:cs typeface="Arial" panose="020B0604020202020204" pitchFamily="34" charset="0"/>
                  </a:rPr>
                  <a:t> and received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𝑡</m:t>
                        </m:r>
                      </m:e>
                      <m:sub>
                        <m:r>
                          <a:rPr lang="en-US" altLang="zh-CN" b="0" i="1" smtClean="0">
                            <a:latin typeface="Cambria Math"/>
                          </a:rPr>
                          <m:t>2</m:t>
                        </m:r>
                      </m:sub>
                    </m:sSub>
                  </m:oMath>
                </a14:m>
                <a:r>
                  <a:rPr lang="en-US" altLang="zh-CN" dirty="0">
                    <a:latin typeface="Arial" panose="020B0604020202020204" pitchFamily="34" charset="0"/>
                    <a:cs typeface="Arial" panose="020B0604020202020204" pitchFamily="34" charset="0"/>
                  </a:rPr>
                  <a:t>), followed by acoustic signal (sent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𝑡</m:t>
                        </m:r>
                      </m:e>
                      <m:sub>
                        <m:r>
                          <a:rPr lang="en-US" altLang="zh-CN" b="0" i="1" smtClean="0">
                            <a:latin typeface="Cambria Math"/>
                          </a:rPr>
                          <m:t>3</m:t>
                        </m:r>
                      </m:sub>
                    </m:sSub>
                    <m:r>
                      <a:rPr lang="en-US" altLang="zh-CN" i="1">
                        <a:latin typeface="Cambria Math"/>
                      </a:rPr>
                      <m:t> </m:t>
                    </m:r>
                  </m:oMath>
                </a14:m>
                <a:r>
                  <a:rPr lang="en-US" altLang="zh-CN" dirty="0">
                    <a:latin typeface="Arial" panose="020B0604020202020204" pitchFamily="34" charset="0"/>
                    <a:cs typeface="Arial" panose="020B0604020202020204" pitchFamily="34" charset="0"/>
                  </a:rPr>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𝑡</m:t>
                        </m:r>
                      </m:e>
                      <m:sub>
                        <m:r>
                          <a:rPr lang="en-US" altLang="zh-CN" i="1">
                            <a:latin typeface="Cambria Math"/>
                          </a:rPr>
                          <m:t>1</m:t>
                        </m:r>
                      </m:sub>
                    </m:sSub>
                    <m:r>
                      <a:rPr lang="en-US" altLang="zh-CN" i="1">
                        <a:latin typeface="Cambria Math"/>
                      </a:rPr>
                      <m:t> </m:t>
                    </m:r>
                  </m:oMath>
                </a14:m>
                <a:r>
                  <a:rPr lang="en-US" altLang="zh-CN" dirty="0">
                    <a:latin typeface="Arial" panose="020B0604020202020204" pitchFamily="34" charset="0"/>
                    <a:cs typeface="Arial" panose="020B0604020202020204" pitchFamily="34" charset="0"/>
                  </a:rPr>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𝑡</m:t>
                        </m:r>
                      </m:e>
                      <m:sub>
                        <m:r>
                          <a:rPr lang="en-US" altLang="zh-CN" b="0" i="1" smtClean="0">
                            <a:latin typeface="Cambria Math"/>
                          </a:rPr>
                          <m:t>𝑤𝑎𝑖𝑡</m:t>
                        </m:r>
                      </m:sub>
                    </m:sSub>
                  </m:oMath>
                </a14:m>
                <a:r>
                  <a:rPr lang="en-US" altLang="zh-CN" dirty="0">
                    <a:latin typeface="Arial" panose="020B0604020202020204" pitchFamily="34" charset="0"/>
                    <a:cs typeface="Arial" panose="020B0604020202020204" pitchFamily="34" charset="0"/>
                  </a:rPr>
                  <a:t> and received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𝑡</m:t>
                        </m:r>
                      </m:e>
                      <m:sub>
                        <m:r>
                          <a:rPr lang="en-US" altLang="zh-CN" b="0" i="1" smtClean="0">
                            <a:latin typeface="Cambria Math"/>
                          </a:rPr>
                          <m:t>4</m:t>
                        </m:r>
                      </m:sub>
                    </m:sSub>
                  </m:oMath>
                </a14:m>
                <a:r>
                  <a:rPr lang="en-US" altLang="zh-CN" dirty="0">
                    <a:latin typeface="Arial" panose="020B0604020202020204" pitchFamily="34" charset="0"/>
                    <a:cs typeface="Arial" panose="020B0604020202020204" pitchFamily="34" charset="0"/>
                  </a:rPr>
                  <a:t>)</a:t>
                </a:r>
              </a:p>
              <a:p>
                <a:pPr marL="457200" lvl="1" indent="0">
                  <a:lnSpc>
                    <a:spcPct val="130000"/>
                  </a:lnSpc>
                  <a:buNone/>
                </a:pPr>
                <a14:m>
                  <m:oMathPara xmlns:m="http://schemas.openxmlformats.org/officeDocument/2006/math">
                    <m:oMathParaPr>
                      <m:jc m:val="centerGroup"/>
                    </m:oMathParaPr>
                    <m:oMath xmlns:m="http://schemas.openxmlformats.org/officeDocument/2006/math">
                      <m:r>
                        <a:rPr lang="en-US" altLang="zh-CN" b="0" i="1" smtClean="0">
                          <a:latin typeface="Cambria Math"/>
                        </a:rPr>
                        <m:t>𝑑𝑖𝑠𝑡</m:t>
                      </m:r>
                      <m:r>
                        <a:rPr lang="en-US" altLang="zh-CN" i="1">
                          <a:latin typeface="Cambria Math"/>
                        </a:rPr>
                        <m:t>=</m:t>
                      </m:r>
                      <m:d>
                        <m:dPr>
                          <m:begChr m:val="（"/>
                          <m:endChr m:val="）"/>
                          <m:ctrlPr>
                            <a:rPr lang="zh-CN" altLang="en-US"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b="0" i="1" smtClean="0">
                                  <a:latin typeface="Cambria Math"/>
                                </a:rPr>
                                <m:t>𝑣</m:t>
                              </m:r>
                            </m:e>
                            <m:sub>
                              <m:r>
                                <a:rPr lang="en-US" altLang="zh-CN" b="0" i="1" smtClean="0">
                                  <a:latin typeface="Cambria Math"/>
                                </a:rPr>
                                <m:t>1</m:t>
                              </m:r>
                            </m:sub>
                          </m:sSub>
                          <m:r>
                            <a:rPr lang="en-US" altLang="zh-CN" i="1">
                              <a:latin typeface="Cambria Math"/>
                            </a:rPr>
                            <m:t>−</m:t>
                          </m:r>
                          <m:sSub>
                            <m:sSubPr>
                              <m:ctrlPr>
                                <a:rPr lang="en-US" altLang="zh-CN" i="1">
                                  <a:latin typeface="Cambria Math" panose="02040503050406030204" pitchFamily="18" charset="0"/>
                                </a:rPr>
                              </m:ctrlPr>
                            </m:sSubPr>
                            <m:e>
                              <m:r>
                                <a:rPr lang="en-US" altLang="zh-CN" b="0" i="1" smtClean="0">
                                  <a:latin typeface="Cambria Math"/>
                                </a:rPr>
                                <m:t>𝑣</m:t>
                              </m:r>
                            </m:e>
                            <m:sub>
                              <m:r>
                                <a:rPr lang="en-US" altLang="zh-CN" b="0" i="1" smtClean="0">
                                  <a:latin typeface="Cambria Math"/>
                                </a:rPr>
                                <m:t>2</m:t>
                              </m:r>
                            </m:sub>
                          </m:sSub>
                        </m:e>
                      </m:d>
                      <m:r>
                        <a:rPr lang="zh-CN" altLang="en-US" i="1">
                          <a:latin typeface="Cambria Math"/>
                        </a:rPr>
                        <m:t>∗</m:t>
                      </m:r>
                      <m:r>
                        <a:rPr lang="en-US" altLang="zh-CN" b="0" i="1" smtClean="0">
                          <a:latin typeface="Cambria Math"/>
                        </a:rPr>
                        <m:t>(</m:t>
                      </m:r>
                      <m:sSub>
                        <m:sSubPr>
                          <m:ctrlPr>
                            <a:rPr lang="en-US" altLang="zh-CN" i="1">
                              <a:latin typeface="Cambria Math" panose="02040503050406030204" pitchFamily="18" charset="0"/>
                            </a:rPr>
                          </m:ctrlPr>
                        </m:sSubPr>
                        <m:e>
                          <m:r>
                            <a:rPr lang="en-US" altLang="zh-CN" i="1">
                              <a:latin typeface="Cambria Math"/>
                            </a:rPr>
                            <m:t>𝑡</m:t>
                          </m:r>
                        </m:e>
                        <m:sub>
                          <m:r>
                            <a:rPr lang="en-US" altLang="zh-CN" i="1">
                              <a:latin typeface="Cambria Math"/>
                            </a:rPr>
                            <m:t>4</m:t>
                          </m:r>
                        </m:sub>
                      </m:sSub>
                      <m:r>
                        <a:rPr lang="en-US" altLang="zh-CN" b="0" i="1" smtClean="0">
                          <a:latin typeface="Cambria Math"/>
                        </a:rPr>
                        <m:t>−</m:t>
                      </m:r>
                      <m:sSub>
                        <m:sSubPr>
                          <m:ctrlPr>
                            <a:rPr lang="en-US" altLang="zh-CN" i="1">
                              <a:latin typeface="Cambria Math" panose="02040503050406030204" pitchFamily="18" charset="0"/>
                            </a:rPr>
                          </m:ctrlPr>
                        </m:sSubPr>
                        <m:e>
                          <m:r>
                            <a:rPr lang="en-US" altLang="zh-CN" i="1">
                              <a:latin typeface="Cambria Math"/>
                            </a:rPr>
                            <m:t>𝑡</m:t>
                          </m:r>
                        </m:e>
                        <m:sub>
                          <m:r>
                            <a:rPr lang="en-US" altLang="zh-CN" b="0" i="1" smtClean="0">
                              <a:latin typeface="Cambria Math"/>
                            </a:rPr>
                            <m:t>2</m:t>
                          </m:r>
                        </m:sub>
                      </m:sSub>
                      <m:r>
                        <a:rPr lang="en-US" altLang="zh-CN" b="0" i="1" smtClean="0">
                          <a:latin typeface="Cambria Math"/>
                        </a:rPr>
                        <m:t>−</m:t>
                      </m:r>
                      <m:sSub>
                        <m:sSubPr>
                          <m:ctrlPr>
                            <a:rPr lang="en-US" altLang="zh-CN" i="1">
                              <a:latin typeface="Cambria Math" panose="02040503050406030204" pitchFamily="18" charset="0"/>
                            </a:rPr>
                          </m:ctrlPr>
                        </m:sSubPr>
                        <m:e>
                          <m:r>
                            <a:rPr lang="en-US" altLang="zh-CN" i="1">
                              <a:latin typeface="Cambria Math"/>
                            </a:rPr>
                            <m:t>𝑡</m:t>
                          </m:r>
                        </m:e>
                        <m:sub>
                          <m:r>
                            <a:rPr lang="en-US" altLang="zh-CN" b="0" i="1" smtClean="0">
                              <a:latin typeface="Cambria Math"/>
                            </a:rPr>
                            <m:t>𝑤𝑎𝑖𝑡</m:t>
                          </m:r>
                        </m:sub>
                      </m:sSub>
                      <m:r>
                        <a:rPr lang="en-US" altLang="zh-CN" b="0" i="1" smtClean="0">
                          <a:latin typeface="Cambria Math"/>
                        </a:rPr>
                        <m:t>)</m:t>
                      </m:r>
                    </m:oMath>
                  </m:oMathPara>
                </a14:m>
                <a:endParaRPr lang="en-US" altLang="zh-CN" dirty="0">
                  <a:latin typeface="Arial" panose="020B0604020202020204" pitchFamily="34" charset="0"/>
                  <a:cs typeface="Arial" panose="020B0604020202020204" pitchFamily="34" charset="0"/>
                </a:endParaRPr>
              </a:p>
              <a:p>
                <a:pPr lvl="1">
                  <a:lnSpc>
                    <a:spcPct val="130000"/>
                  </a:lnSpc>
                </a:pPr>
                <a:r>
                  <a:rPr lang="en-US" altLang="zh-CN" dirty="0">
                    <a:latin typeface="Arial" panose="020B0604020202020204" pitchFamily="34" charset="0"/>
                    <a:cs typeface="Arial" panose="020B0604020202020204" pitchFamily="34" charset="0"/>
                  </a:rPr>
                  <a:t>no clock synchronization required</a:t>
                </a:r>
              </a:p>
              <a:p>
                <a:pPr lvl="1">
                  <a:lnSpc>
                    <a:spcPct val="130000"/>
                  </a:lnSpc>
                </a:pPr>
                <a:r>
                  <a:rPr lang="en-US" altLang="zh-CN" dirty="0">
                    <a:latin typeface="Arial" panose="020B0604020202020204" pitchFamily="34" charset="0"/>
                    <a:cs typeface="Arial" panose="020B0604020202020204" pitchFamily="34" charset="0"/>
                  </a:rPr>
                  <a:t>distance measurements can be very accurate</a:t>
                </a:r>
              </a:p>
              <a:p>
                <a:pPr lvl="1">
                  <a:lnSpc>
                    <a:spcPct val="130000"/>
                  </a:lnSpc>
                </a:pPr>
                <a:r>
                  <a:rPr lang="en-US" altLang="zh-CN" dirty="0">
                    <a:latin typeface="Arial" panose="020B0604020202020204" pitchFamily="34" charset="0"/>
                    <a:cs typeface="Arial" panose="020B0604020202020204" pitchFamily="34" charset="0"/>
                  </a:rPr>
                  <a:t>need for additional hardware</a:t>
                </a:r>
                <a:endParaRPr lang="zh-CN" altLang="en-US" dirty="0">
                  <a:latin typeface="Arial" panose="020B0604020202020204" pitchFamily="34" charset="0"/>
                  <a:cs typeface="Arial" panose="020B0604020202020204" pitchFamily="34"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3429000"/>
                <a:ext cx="10933590" cy="3429000"/>
              </a:xfrm>
              <a:blipFill>
                <a:blip r:embed="rId2"/>
                <a:stretch>
                  <a:fillRect l="-781" t="-356" b="-2491"/>
                </a:stretch>
              </a:blipFill>
            </p:spPr>
            <p:txBody>
              <a:bodyPr/>
              <a:lstStyle/>
              <a:p>
                <a:r>
                  <a:rPr lang="zh-CN" altLang="en-US">
                    <a:noFill/>
                  </a:rPr>
                  <a:t> </a:t>
                </a:r>
              </a:p>
            </p:txBody>
          </p:sp>
        </mc:Fallback>
      </mc:AlternateContent>
      <p:pic>
        <p:nvPicPr>
          <p:cNvPr id="5" name="Picture 2">
            <a:extLst>
              <a:ext uri="{FF2B5EF4-FFF2-40B4-BE49-F238E27FC236}">
                <a16:creationId xmlns:a16="http://schemas.microsoft.com/office/drawing/2014/main" id="{68D1908E-320F-4426-9DB9-ECCCD29D66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4211" y="1476891"/>
            <a:ext cx="7794593" cy="1952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2354143"/>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Ranging Techniques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59108"/>
            <a:ext cx="10134600" cy="4194698"/>
          </a:xfrm>
        </p:spPr>
        <p:txBody>
          <a:bodyPr>
            <a:normAutofit/>
          </a:bodyPr>
          <a:lstStyle/>
          <a:p>
            <a:pPr>
              <a:lnSpc>
                <a:spcPct val="120000"/>
              </a:lnSpc>
              <a:spcBef>
                <a:spcPts val="0"/>
              </a:spcBef>
            </a:pPr>
            <a:r>
              <a:rPr lang="en-US" altLang="zh-CN" sz="2400" dirty="0">
                <a:solidFill>
                  <a:schemeClr val="accent1"/>
                </a:solidFill>
                <a:latin typeface="Arial" panose="020B0604020202020204" pitchFamily="34" charset="0"/>
                <a:cs typeface="Arial" panose="020B0604020202020204" pitchFamily="34" charset="0"/>
              </a:rPr>
              <a:t>Angle of Arrival </a:t>
            </a:r>
            <a:r>
              <a:rPr lang="en-US" altLang="zh-CN" sz="2400" dirty="0">
                <a:latin typeface="Arial" panose="020B0604020202020204" pitchFamily="34" charset="0"/>
                <a:cs typeface="Arial" panose="020B0604020202020204" pitchFamily="34" charset="0"/>
              </a:rPr>
              <a:t>(</a:t>
            </a:r>
            <a:r>
              <a:rPr lang="en-US" altLang="zh-CN" sz="2400" dirty="0" err="1">
                <a:latin typeface="Arial" panose="020B0604020202020204" pitchFamily="34" charset="0"/>
                <a:cs typeface="Arial" panose="020B0604020202020204" pitchFamily="34" charset="0"/>
              </a:rPr>
              <a:t>AoA</a:t>
            </a:r>
            <a:r>
              <a:rPr lang="en-US" altLang="zh-CN" sz="2400" dirty="0">
                <a:latin typeface="Arial" panose="020B0604020202020204" pitchFamily="34" charset="0"/>
                <a:cs typeface="Arial" panose="020B0604020202020204" pitchFamily="34" charset="0"/>
              </a:rPr>
              <a:t>)</a:t>
            </a:r>
          </a:p>
          <a:p>
            <a:pPr lvl="1">
              <a:lnSpc>
                <a:spcPct val="120000"/>
              </a:lnSpc>
              <a:spcBef>
                <a:spcPts val="0"/>
              </a:spcBef>
            </a:pPr>
            <a:r>
              <a:rPr lang="en-US" altLang="zh-CN" sz="2000" dirty="0">
                <a:latin typeface="Arial" panose="020B0604020202020204" pitchFamily="34" charset="0"/>
                <a:cs typeface="Arial" panose="020B0604020202020204" pitchFamily="34" charset="0"/>
              </a:rPr>
              <a:t>direction of signal propagation</a:t>
            </a:r>
          </a:p>
          <a:p>
            <a:pPr lvl="1">
              <a:lnSpc>
                <a:spcPct val="120000"/>
              </a:lnSpc>
              <a:spcBef>
                <a:spcPts val="0"/>
              </a:spcBef>
            </a:pPr>
            <a:r>
              <a:rPr lang="en-US" altLang="zh-CN" sz="2000" dirty="0">
                <a:latin typeface="Arial" panose="020B0604020202020204" pitchFamily="34" charset="0"/>
                <a:cs typeface="Arial" panose="020B0604020202020204" pitchFamily="34" charset="0"/>
              </a:rPr>
              <a:t>typically achieved using an array of antennas or microphones</a:t>
            </a:r>
          </a:p>
          <a:p>
            <a:pPr lvl="1">
              <a:lnSpc>
                <a:spcPct val="120000"/>
              </a:lnSpc>
              <a:spcBef>
                <a:spcPts val="0"/>
              </a:spcBef>
            </a:pPr>
            <a:r>
              <a:rPr lang="en-US" altLang="zh-CN" sz="2000" dirty="0">
                <a:latin typeface="Arial" panose="020B0604020202020204" pitchFamily="34" charset="0"/>
                <a:cs typeface="Arial" panose="020B0604020202020204" pitchFamily="34" charset="0"/>
              </a:rPr>
              <a:t>angle between signal and some reference is </a:t>
            </a:r>
            <a:r>
              <a:rPr lang="en-US" altLang="zh-CN" sz="2000" dirty="0">
                <a:solidFill>
                  <a:schemeClr val="accent1"/>
                </a:solidFill>
                <a:latin typeface="Arial" panose="020B0604020202020204" pitchFamily="34" charset="0"/>
                <a:cs typeface="Arial" panose="020B0604020202020204" pitchFamily="34" charset="0"/>
              </a:rPr>
              <a:t>orientation</a:t>
            </a:r>
          </a:p>
          <a:p>
            <a:pPr lvl="1">
              <a:lnSpc>
                <a:spcPct val="120000"/>
              </a:lnSpc>
              <a:spcBef>
                <a:spcPts val="0"/>
              </a:spcBef>
            </a:pPr>
            <a:r>
              <a:rPr lang="en-US" altLang="zh-CN" sz="2000" dirty="0">
                <a:latin typeface="Arial" panose="020B0604020202020204" pitchFamily="34" charset="0"/>
                <a:cs typeface="Arial" panose="020B0604020202020204" pitchFamily="34" charset="0"/>
              </a:rPr>
              <a:t>spatial separation of antennas or microphones leads to differences in arrival times, amplitudes, and phases</a:t>
            </a:r>
          </a:p>
          <a:p>
            <a:pPr lvl="1">
              <a:lnSpc>
                <a:spcPct val="120000"/>
              </a:lnSpc>
              <a:spcBef>
                <a:spcPts val="0"/>
              </a:spcBef>
            </a:pPr>
            <a:r>
              <a:rPr lang="en-US" altLang="zh-CN" sz="2000" dirty="0">
                <a:latin typeface="Arial" panose="020B0604020202020204" pitchFamily="34" charset="0"/>
                <a:cs typeface="Arial" panose="020B0604020202020204" pitchFamily="34" charset="0"/>
              </a:rPr>
              <a:t>accuracy can be high (within a few degrees)</a:t>
            </a:r>
          </a:p>
          <a:p>
            <a:pPr lvl="1">
              <a:lnSpc>
                <a:spcPct val="120000"/>
              </a:lnSpc>
              <a:spcBef>
                <a:spcPts val="0"/>
              </a:spcBef>
            </a:pPr>
            <a:r>
              <a:rPr lang="en-US" altLang="zh-CN" sz="2000" dirty="0">
                <a:latin typeface="Arial" panose="020B0604020202020204" pitchFamily="34" charset="0"/>
                <a:cs typeface="Arial" panose="020B0604020202020204" pitchFamily="34" charset="0"/>
              </a:rPr>
              <a:t>adds significant hardware cost</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9846992"/>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Ranging Techniques </a:t>
            </a:r>
            <a:endParaRPr lang="zh-CN" altLang="en-US"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597982"/>
                <a:ext cx="10515600" cy="5260018"/>
              </a:xfrm>
            </p:spPr>
            <p:txBody>
              <a:bodyPr>
                <a:normAutofit fontScale="85000" lnSpcReduction="10000"/>
              </a:bodyPr>
              <a:lstStyle/>
              <a:p>
                <a:pPr>
                  <a:lnSpc>
                    <a:spcPct val="140000"/>
                  </a:lnSpc>
                  <a:spcBef>
                    <a:spcPts val="0"/>
                  </a:spcBef>
                </a:pPr>
                <a:r>
                  <a:rPr lang="en-US" altLang="zh-CN" dirty="0">
                    <a:solidFill>
                      <a:schemeClr val="accent1"/>
                    </a:solidFill>
                    <a:latin typeface="Arial" panose="020B0604020202020204" pitchFamily="34" charset="0"/>
                    <a:cs typeface="Arial" panose="020B0604020202020204" pitchFamily="34" charset="0"/>
                  </a:rPr>
                  <a:t>Received Signal Strength </a:t>
                </a:r>
                <a:r>
                  <a:rPr lang="en-US" altLang="zh-CN" dirty="0">
                    <a:latin typeface="Arial" panose="020B0604020202020204" pitchFamily="34" charset="0"/>
                    <a:cs typeface="Arial" panose="020B0604020202020204" pitchFamily="34" charset="0"/>
                  </a:rPr>
                  <a:t>(RSS)</a:t>
                </a:r>
              </a:p>
              <a:p>
                <a:pPr lvl="1">
                  <a:lnSpc>
                    <a:spcPct val="140000"/>
                  </a:lnSpc>
                  <a:spcBef>
                    <a:spcPts val="0"/>
                  </a:spcBef>
                </a:pPr>
                <a:r>
                  <a:rPr lang="en-US" altLang="zh-CN" dirty="0">
                    <a:latin typeface="Arial" panose="020B0604020202020204" pitchFamily="34" charset="0"/>
                    <a:cs typeface="Arial" panose="020B0604020202020204" pitchFamily="34" charset="0"/>
                  </a:rPr>
                  <a:t>signal decays with distance</a:t>
                </a:r>
              </a:p>
              <a:p>
                <a:pPr lvl="1">
                  <a:lnSpc>
                    <a:spcPct val="140000"/>
                  </a:lnSpc>
                  <a:spcBef>
                    <a:spcPts val="0"/>
                  </a:spcBef>
                </a:pPr>
                <a:r>
                  <a:rPr lang="en-US" altLang="zh-CN" dirty="0">
                    <a:latin typeface="Arial" panose="020B0604020202020204" pitchFamily="34" charset="0"/>
                    <a:cs typeface="Arial" panose="020B0604020202020204" pitchFamily="34" charset="0"/>
                  </a:rPr>
                  <a:t>many devices measure signal strength with </a:t>
                </a:r>
                <a:r>
                  <a:rPr lang="en-US" altLang="zh-CN" dirty="0">
                    <a:solidFill>
                      <a:schemeClr val="accent1"/>
                    </a:solidFill>
                    <a:latin typeface="Arial" panose="020B0604020202020204" pitchFamily="34" charset="0"/>
                    <a:cs typeface="Arial" panose="020B0604020202020204" pitchFamily="34" charset="0"/>
                  </a:rPr>
                  <a:t>received signal strength indicator (RSSI)</a:t>
                </a:r>
              </a:p>
              <a:p>
                <a:pPr lvl="2">
                  <a:lnSpc>
                    <a:spcPct val="140000"/>
                  </a:lnSpc>
                  <a:spcBef>
                    <a:spcPts val="0"/>
                  </a:spcBef>
                </a:pPr>
                <a:r>
                  <a:rPr lang="en-US" altLang="zh-CN" dirty="0">
                    <a:latin typeface="Arial" panose="020B0604020202020204" pitchFamily="34" charset="0"/>
                    <a:cs typeface="Arial" panose="020B0604020202020204" pitchFamily="34" charset="0"/>
                  </a:rPr>
                  <a:t>vendor-specific interpretation and representation</a:t>
                </a:r>
              </a:p>
              <a:p>
                <a:pPr lvl="2">
                  <a:lnSpc>
                    <a:spcPct val="140000"/>
                  </a:lnSpc>
                  <a:spcBef>
                    <a:spcPts val="0"/>
                  </a:spcBef>
                </a:pPr>
                <a:r>
                  <a:rPr lang="en-US" altLang="zh-CN" dirty="0">
                    <a:latin typeface="Arial" panose="020B0604020202020204" pitchFamily="34" charset="0"/>
                    <a:cs typeface="Arial" panose="020B0604020202020204" pitchFamily="34" charset="0"/>
                  </a:rPr>
                  <a:t>typical RSSI values are in range of 0..RSSI_Max</a:t>
                </a:r>
              </a:p>
              <a:p>
                <a:pPr lvl="2">
                  <a:lnSpc>
                    <a:spcPct val="140000"/>
                  </a:lnSpc>
                  <a:spcBef>
                    <a:spcPts val="0"/>
                  </a:spcBef>
                </a:pPr>
                <a:r>
                  <a:rPr lang="en-US" altLang="zh-CN" dirty="0">
                    <a:latin typeface="Arial" panose="020B0604020202020204" pitchFamily="34" charset="0"/>
                    <a:cs typeface="Arial" panose="020B0604020202020204" pitchFamily="34" charset="0"/>
                  </a:rPr>
                  <a:t>common values for </a:t>
                </a:r>
                <a:r>
                  <a:rPr lang="en-US" altLang="zh-CN" dirty="0" err="1">
                    <a:latin typeface="Arial" panose="020B0604020202020204" pitchFamily="34" charset="0"/>
                    <a:cs typeface="Arial" panose="020B0604020202020204" pitchFamily="34" charset="0"/>
                  </a:rPr>
                  <a:t>RSSI_Max</a:t>
                </a:r>
                <a:r>
                  <a:rPr lang="en-US" altLang="zh-CN" dirty="0">
                    <a:latin typeface="Arial" panose="020B0604020202020204" pitchFamily="34" charset="0"/>
                    <a:cs typeface="Arial" panose="020B0604020202020204" pitchFamily="34" charset="0"/>
                  </a:rPr>
                  <a:t>: 100, 128, 256</a:t>
                </a:r>
              </a:p>
              <a:p>
                <a:pPr lvl="1">
                  <a:lnSpc>
                    <a:spcPct val="140000"/>
                  </a:lnSpc>
                  <a:spcBef>
                    <a:spcPts val="0"/>
                  </a:spcBef>
                </a:pPr>
                <a:r>
                  <a:rPr lang="en-US" altLang="zh-CN" dirty="0">
                    <a:latin typeface="Arial" panose="020B0604020202020204" pitchFamily="34" charset="0"/>
                    <a:cs typeface="Arial" panose="020B0604020202020204" pitchFamily="34" charset="0"/>
                  </a:rPr>
                  <a:t>in free space, RSS degrades with square of distance</a:t>
                </a:r>
              </a:p>
              <a:p>
                <a:pPr lvl="1">
                  <a:lnSpc>
                    <a:spcPct val="140000"/>
                  </a:lnSpc>
                  <a:spcBef>
                    <a:spcPts val="0"/>
                  </a:spcBef>
                </a:pPr>
                <a:r>
                  <a:rPr lang="en-US" altLang="zh-CN" dirty="0">
                    <a:latin typeface="Arial" panose="020B0604020202020204" pitchFamily="34" charset="0"/>
                    <a:cs typeface="Arial" panose="020B0604020202020204" pitchFamily="34" charset="0"/>
                  </a:rPr>
                  <a:t>expressed by </a:t>
                </a:r>
                <a:r>
                  <a:rPr lang="en-US" altLang="zh-CN" dirty="0" err="1">
                    <a:solidFill>
                      <a:schemeClr val="accent1"/>
                    </a:solidFill>
                    <a:latin typeface="Arial" panose="020B0604020202020204" pitchFamily="34" charset="0"/>
                    <a:cs typeface="Arial" panose="020B0604020202020204" pitchFamily="34" charset="0"/>
                  </a:rPr>
                  <a:t>Friis</a:t>
                </a:r>
                <a:r>
                  <a:rPr lang="en-US" altLang="zh-CN" dirty="0">
                    <a:solidFill>
                      <a:schemeClr val="accent1"/>
                    </a:solidFill>
                    <a:latin typeface="Arial" panose="020B0604020202020204" pitchFamily="34" charset="0"/>
                    <a:cs typeface="Arial" panose="020B0604020202020204" pitchFamily="34" charset="0"/>
                  </a:rPr>
                  <a:t> transmission equation</a:t>
                </a:r>
              </a:p>
              <a:p>
                <a:pPr marL="457200" lvl="1" indent="0">
                  <a:lnSpc>
                    <a:spcPct val="140000"/>
                  </a:lnSpc>
                  <a:spcBef>
                    <a:spcPts val="0"/>
                  </a:spcBef>
                  <a:buNone/>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a:rPr>
                                <m:t>𝑃</m:t>
                              </m:r>
                            </m:e>
                            <m:sub>
                              <m:r>
                                <a:rPr lang="en-US" altLang="zh-CN" b="0" i="1" smtClean="0">
                                  <a:latin typeface="Cambria Math"/>
                                </a:rPr>
                                <m:t>𝑟</m:t>
                              </m:r>
                            </m:sub>
                          </m:sSub>
                        </m:num>
                        <m:den>
                          <m:sSub>
                            <m:sSubPr>
                              <m:ctrlPr>
                                <a:rPr lang="en-US" altLang="zh-CN" i="1" smtClean="0">
                                  <a:latin typeface="Cambria Math" panose="02040503050406030204" pitchFamily="18" charset="0"/>
                                </a:rPr>
                              </m:ctrlPr>
                            </m:sSubPr>
                            <m:e>
                              <m:r>
                                <a:rPr lang="en-US" altLang="zh-CN" b="0" i="1" smtClean="0">
                                  <a:latin typeface="Cambria Math"/>
                                </a:rPr>
                                <m:t>𝑃</m:t>
                              </m:r>
                            </m:e>
                            <m:sub>
                              <m:r>
                                <a:rPr lang="en-US" altLang="zh-CN" b="0" i="1" smtClean="0">
                                  <a:latin typeface="Cambria Math"/>
                                </a:rPr>
                                <m:t>𝑡</m:t>
                              </m:r>
                            </m:sub>
                          </m:sSub>
                        </m:den>
                      </m:f>
                      <m:r>
                        <a:rPr lang="en-US" altLang="zh-CN" b="0" i="1" smtClean="0">
                          <a:latin typeface="Cambria Math"/>
                        </a:rPr>
                        <m:t>=</m:t>
                      </m:r>
                      <m:sSub>
                        <m:sSubPr>
                          <m:ctrlPr>
                            <a:rPr lang="en-US" altLang="zh-CN" b="0" i="1" smtClean="0">
                              <a:latin typeface="Cambria Math" panose="02040503050406030204" pitchFamily="18" charset="0"/>
                            </a:rPr>
                          </m:ctrlPr>
                        </m:sSubPr>
                        <m:e>
                          <m:r>
                            <a:rPr lang="en-US" altLang="zh-CN" b="0" i="1" smtClean="0">
                              <a:latin typeface="Cambria Math"/>
                            </a:rPr>
                            <m:t>𝐺</m:t>
                          </m:r>
                        </m:e>
                        <m:sub>
                          <m:r>
                            <a:rPr lang="en-US" altLang="zh-CN" b="0" i="1" smtClean="0">
                              <a:latin typeface="Cambria Math"/>
                            </a:rPr>
                            <m:t>𝑡</m:t>
                          </m:r>
                        </m:sub>
                      </m:sSub>
                      <m:sSub>
                        <m:sSubPr>
                          <m:ctrlPr>
                            <a:rPr lang="en-US" altLang="zh-CN" b="0" i="1" smtClean="0">
                              <a:latin typeface="Cambria Math" panose="02040503050406030204" pitchFamily="18" charset="0"/>
                            </a:rPr>
                          </m:ctrlPr>
                        </m:sSubPr>
                        <m:e>
                          <m:r>
                            <a:rPr lang="en-US" altLang="zh-CN" b="0" i="1" smtClean="0">
                              <a:latin typeface="Cambria Math"/>
                            </a:rPr>
                            <m:t>𝐺</m:t>
                          </m:r>
                        </m:e>
                        <m:sub>
                          <m:r>
                            <a:rPr lang="en-US" altLang="zh-CN" b="0" i="1" smtClean="0">
                              <a:latin typeface="Cambria Math"/>
                            </a:rPr>
                            <m:t>𝑟</m:t>
                          </m:r>
                        </m:sub>
                      </m:sSub>
                      <m:f>
                        <m:fPr>
                          <m:ctrlPr>
                            <a:rPr lang="en-US" altLang="zh-CN" b="0" i="1" smtClean="0">
                              <a:latin typeface="Cambria Math" panose="02040503050406030204" pitchFamily="18" charset="0"/>
                            </a:rPr>
                          </m:ctrlPr>
                        </m:fPr>
                        <m:num>
                          <m:sSup>
                            <m:sSupPr>
                              <m:ctrlPr>
                                <a:rPr lang="en-US" altLang="zh-CN" b="0" i="1" smtClean="0">
                                  <a:latin typeface="Cambria Math" panose="02040503050406030204" pitchFamily="18" charset="0"/>
                                </a:rPr>
                              </m:ctrlPr>
                            </m:sSupPr>
                            <m:e>
                              <m:r>
                                <a:rPr lang="el-GR" altLang="zh-CN" i="1">
                                  <a:latin typeface="Cambria Math"/>
                                </a:rPr>
                                <m:t>𝜆</m:t>
                              </m:r>
                            </m:e>
                            <m:sup>
                              <m:r>
                                <a:rPr lang="en-US" altLang="zh-CN" b="0" i="1" smtClean="0">
                                  <a:latin typeface="Cambria Math"/>
                                </a:rPr>
                                <m:t>2</m:t>
                              </m:r>
                            </m:sup>
                          </m:sSup>
                        </m:num>
                        <m:den>
                          <m:sSup>
                            <m:sSupPr>
                              <m:ctrlPr>
                                <a:rPr lang="en-US" altLang="zh-CN" b="0" i="1" smtClean="0">
                                  <a:latin typeface="Cambria Math" panose="02040503050406030204" pitchFamily="18" charset="0"/>
                                </a:rPr>
                              </m:ctrlPr>
                            </m:sSupPr>
                            <m:e>
                              <m:r>
                                <a:rPr lang="en-US" altLang="zh-CN" b="0" i="1" smtClean="0">
                                  <a:latin typeface="Cambria Math"/>
                                </a:rPr>
                                <m:t>(</m:t>
                              </m:r>
                              <m:r>
                                <a:rPr lang="en-US" altLang="zh-CN" b="0" i="1" smtClean="0">
                                  <a:latin typeface="Cambria Math"/>
                                </a:rPr>
                                <m:t>4</m:t>
                              </m:r>
                              <m:r>
                                <a:rPr lang="en-US" altLang="zh-CN" b="0" i="1" smtClean="0">
                                  <a:latin typeface="Cambria Math"/>
                                </a:rPr>
                                <m:t>𝜋</m:t>
                              </m:r>
                              <m:r>
                                <a:rPr lang="en-US" altLang="zh-CN" b="0" i="1" smtClean="0">
                                  <a:latin typeface="Cambria Math"/>
                                </a:rPr>
                                <m:t>)</m:t>
                              </m:r>
                            </m:e>
                            <m:sup>
                              <m:r>
                                <a:rPr lang="en-US" altLang="zh-CN" b="0" i="1" smtClean="0">
                                  <a:latin typeface="Cambria Math"/>
                                </a:rPr>
                                <m:t>2</m:t>
                              </m:r>
                            </m:sup>
                          </m:sSup>
                          <m:sSup>
                            <m:sSupPr>
                              <m:ctrlPr>
                                <a:rPr lang="en-US" altLang="zh-CN" b="0" i="1" smtClean="0">
                                  <a:latin typeface="Cambria Math" panose="02040503050406030204" pitchFamily="18" charset="0"/>
                                </a:rPr>
                              </m:ctrlPr>
                            </m:sSupPr>
                            <m:e>
                              <m:r>
                                <a:rPr lang="en-US" altLang="zh-CN" b="0" i="1" smtClean="0">
                                  <a:latin typeface="Cambria Math"/>
                                </a:rPr>
                                <m:t>𝑅</m:t>
                              </m:r>
                            </m:e>
                            <m:sup>
                              <m:r>
                                <a:rPr lang="en-US" altLang="zh-CN" b="0" i="1" smtClean="0">
                                  <a:latin typeface="Cambria Math"/>
                                </a:rPr>
                                <m:t>2</m:t>
                              </m:r>
                            </m:sup>
                          </m:sSup>
                        </m:den>
                      </m:f>
                    </m:oMath>
                  </m:oMathPara>
                </a14:m>
                <a:endParaRPr lang="en-US" altLang="zh-CN" dirty="0">
                  <a:latin typeface="Arial" panose="020B0604020202020204" pitchFamily="34" charset="0"/>
                  <a:cs typeface="Arial" panose="020B0604020202020204" pitchFamily="34" charset="0"/>
                </a:endParaRPr>
              </a:p>
              <a:p>
                <a:pPr lvl="1">
                  <a:lnSpc>
                    <a:spcPct val="140000"/>
                  </a:lnSpc>
                  <a:spcBef>
                    <a:spcPts val="0"/>
                  </a:spcBef>
                </a:pPr>
                <a:r>
                  <a:rPr lang="en-US" altLang="zh-CN" dirty="0">
                    <a:latin typeface="Arial" panose="020B0604020202020204" pitchFamily="34" charset="0"/>
                    <a:cs typeface="Arial" panose="020B0604020202020204" pitchFamily="34" charset="0"/>
                  </a:rPr>
                  <a:t>in practice, the actual attenuation depends on multipath propagation effects, reflections, noise, etc.</a:t>
                </a:r>
              </a:p>
              <a:p>
                <a:pPr lvl="1">
                  <a:lnSpc>
                    <a:spcPct val="140000"/>
                  </a:lnSpc>
                  <a:spcBef>
                    <a:spcPts val="0"/>
                  </a:spcBef>
                </a:pPr>
                <a:r>
                  <a:rPr lang="en-US" altLang="zh-CN" dirty="0">
                    <a:latin typeface="Arial" panose="020B0604020202020204" pitchFamily="34" charset="0"/>
                    <a:cs typeface="Arial" panose="020B0604020202020204" pitchFamily="34" charset="0"/>
                  </a:rPr>
                  <a:t>realistic models replace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a:rPr>
                          <m:t>𝑅</m:t>
                        </m:r>
                      </m:e>
                      <m:sup>
                        <m:r>
                          <a:rPr lang="en-US" altLang="zh-CN" b="0" i="1" smtClean="0">
                            <a:latin typeface="Cambria Math"/>
                          </a:rPr>
                          <m:t>2</m:t>
                        </m:r>
                      </m:sup>
                    </m:sSup>
                  </m:oMath>
                </a14:m>
                <a:r>
                  <a:rPr lang="en-US" altLang="zh-CN" dirty="0">
                    <a:latin typeface="Arial" panose="020B0604020202020204" pitchFamily="34" charset="0"/>
                    <a:cs typeface="Arial" panose="020B0604020202020204" pitchFamily="34" charset="0"/>
                  </a:rPr>
                  <a:t> with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a:rPr>
                          <m:t>𝑅</m:t>
                        </m:r>
                      </m:e>
                      <m:sup>
                        <m:r>
                          <a:rPr lang="en-US" altLang="zh-CN" b="0" i="1" smtClean="0">
                            <a:latin typeface="Cambria Math"/>
                          </a:rPr>
                          <m:t>𝑛</m:t>
                        </m:r>
                      </m:sup>
                    </m:sSup>
                  </m:oMath>
                </a14:m>
                <a:r>
                  <a:rPr lang="en-US" altLang="zh-CN" dirty="0">
                    <a:latin typeface="Arial" panose="020B0604020202020204" pitchFamily="34" charset="0"/>
                    <a:cs typeface="Arial" panose="020B0604020202020204" pitchFamily="34" charset="0"/>
                  </a:rPr>
                  <a:t>(n=3..5)</a:t>
                </a:r>
                <a:endParaRPr lang="zh-CN" altLang="en-US" dirty="0">
                  <a:latin typeface="Arial" panose="020B0604020202020204" pitchFamily="34" charset="0"/>
                  <a:cs typeface="Arial" panose="020B0604020202020204" pitchFamily="34"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597982"/>
                <a:ext cx="10515600" cy="5260018"/>
              </a:xfrm>
              <a:blipFill>
                <a:blip r:embed="rId2"/>
                <a:stretch>
                  <a:fillRect l="-812" b="-17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29901546"/>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Triangulation</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75788"/>
            <a:ext cx="10693893" cy="2345142"/>
          </a:xfrm>
        </p:spPr>
        <p:txBody>
          <a:bodyPr>
            <a:normAutofit fontScale="85000" lnSpcReduction="20000"/>
          </a:bodyPr>
          <a:lstStyle/>
          <a:p>
            <a:pPr>
              <a:lnSpc>
                <a:spcPct val="140000"/>
              </a:lnSpc>
              <a:spcBef>
                <a:spcPts val="0"/>
              </a:spcBef>
            </a:pPr>
            <a:r>
              <a:rPr lang="en-US" altLang="zh-CN" dirty="0">
                <a:latin typeface="Arial" panose="020B0604020202020204" pitchFamily="34" charset="0"/>
                <a:cs typeface="Arial" panose="020B0604020202020204" pitchFamily="34" charset="0"/>
              </a:rPr>
              <a:t>Example of range-based localization</a:t>
            </a:r>
          </a:p>
          <a:p>
            <a:pPr>
              <a:lnSpc>
                <a:spcPct val="140000"/>
              </a:lnSpc>
              <a:spcBef>
                <a:spcPts val="0"/>
              </a:spcBef>
            </a:pPr>
            <a:r>
              <a:rPr lang="en-US" altLang="zh-CN" dirty="0">
                <a:latin typeface="Arial" panose="020B0604020202020204" pitchFamily="34" charset="0"/>
                <a:cs typeface="Arial" panose="020B0604020202020204" pitchFamily="34" charset="0"/>
              </a:rPr>
              <a:t>Uses the geometric properties of triangles to estimate location</a:t>
            </a:r>
          </a:p>
          <a:p>
            <a:pPr>
              <a:lnSpc>
                <a:spcPct val="140000"/>
              </a:lnSpc>
              <a:spcBef>
                <a:spcPts val="0"/>
              </a:spcBef>
            </a:pPr>
            <a:r>
              <a:rPr lang="en-US" altLang="zh-CN" dirty="0">
                <a:latin typeface="Arial" panose="020B0604020202020204" pitchFamily="34" charset="0"/>
                <a:cs typeface="Arial" panose="020B0604020202020204" pitchFamily="34" charset="0"/>
              </a:rPr>
              <a:t>Relies on angle (bearing) measurements</a:t>
            </a:r>
          </a:p>
          <a:p>
            <a:pPr>
              <a:lnSpc>
                <a:spcPct val="140000"/>
              </a:lnSpc>
              <a:spcBef>
                <a:spcPts val="0"/>
              </a:spcBef>
            </a:pPr>
            <a:r>
              <a:rPr lang="en-US" altLang="zh-CN" dirty="0">
                <a:latin typeface="Arial" panose="020B0604020202020204" pitchFamily="34" charset="0"/>
                <a:cs typeface="Arial" panose="020B0604020202020204" pitchFamily="34" charset="0"/>
              </a:rPr>
              <a:t>Minimum of two bearing lines (and the locations of anchor nodes or the distance between them) are needed for two-dimensional space</a:t>
            </a:r>
            <a:endParaRPr lang="zh-CN" altLang="en-US" dirty="0">
              <a:latin typeface="Arial" panose="020B0604020202020204" pitchFamily="34" charset="0"/>
              <a:cs typeface="Arial" panose="020B0604020202020204" pitchFamily="34" charset="0"/>
            </a:endParaRPr>
          </a:p>
        </p:txBody>
      </p:sp>
      <p:pic>
        <p:nvPicPr>
          <p:cNvPr id="5" name="Picture 2">
            <a:extLst>
              <a:ext uri="{FF2B5EF4-FFF2-40B4-BE49-F238E27FC236}">
                <a16:creationId xmlns:a16="http://schemas.microsoft.com/office/drawing/2014/main" id="{8BC6AB9D-A819-41EC-A259-DF8F6D5FD03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843"/>
          <a:stretch/>
        </p:blipFill>
        <p:spPr bwMode="auto">
          <a:xfrm>
            <a:off x="2262187" y="4027462"/>
            <a:ext cx="7667625" cy="2692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4949280"/>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Triangulation</a:t>
            </a:r>
            <a:endParaRPr lang="zh-CN" altLang="en-US"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505643"/>
                <a:ext cx="11004612" cy="4351338"/>
              </a:xfrm>
            </p:spPr>
            <p:txBody>
              <a:bodyPr>
                <a:noAutofit/>
              </a:bodyPr>
              <a:lstStyle/>
              <a:p>
                <a:pPr>
                  <a:lnSpc>
                    <a:spcPct val="120000"/>
                  </a:lnSpc>
                  <a:spcBef>
                    <a:spcPts val="0"/>
                  </a:spcBef>
                </a:pPr>
                <a:r>
                  <a:rPr lang="en-US" altLang="zh-CN" sz="2000" dirty="0">
                    <a:latin typeface="Arial" panose="020B0604020202020204" pitchFamily="34" charset="0"/>
                    <a:cs typeface="Arial" panose="020B0604020202020204" pitchFamily="34" charset="0"/>
                  </a:rPr>
                  <a:t>Unknown receiver location </a:t>
                </a:r>
                <a14:m>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a:rPr>
                          <m:t> </m:t>
                        </m:r>
                        <m:r>
                          <a:rPr lang="en-US" altLang="zh-CN" sz="2000" b="1" i="1" smtClean="0">
                            <a:latin typeface="Cambria Math"/>
                          </a:rPr>
                          <m:t>𝒙</m:t>
                        </m:r>
                      </m:e>
                      <m:sub>
                        <m:r>
                          <a:rPr lang="en-US" altLang="zh-CN" sz="2000" b="1" i="1" smtClean="0">
                            <a:latin typeface="Cambria Math"/>
                          </a:rPr>
                          <m:t>𝒓</m:t>
                        </m:r>
                      </m:sub>
                    </m:sSub>
                    <m:r>
                      <a:rPr lang="en-US" altLang="zh-CN" sz="2000" b="0" i="1" smtClean="0">
                        <a:latin typeface="Cambria Math"/>
                      </a:rPr>
                      <m:t>=</m:t>
                    </m:r>
                    <m:sSup>
                      <m:sSupPr>
                        <m:ctrlPr>
                          <a:rPr lang="en-US" altLang="zh-CN" sz="2000" b="0" i="1" smtClean="0">
                            <a:latin typeface="Cambria Math" panose="02040503050406030204" pitchFamily="18" charset="0"/>
                          </a:rPr>
                        </m:ctrlPr>
                      </m:sSupPr>
                      <m:e>
                        <m:r>
                          <a:rPr lang="en-US" altLang="zh-CN" sz="2000" b="0" i="1" smtClean="0">
                            <a:latin typeface="Cambria Math"/>
                          </a:rPr>
                          <m:t>[</m:t>
                        </m:r>
                        <m:sSub>
                          <m:sSubPr>
                            <m:ctrlPr>
                              <a:rPr lang="en-US" altLang="zh-CN" sz="2000" i="1">
                                <a:latin typeface="Cambria Math" panose="02040503050406030204" pitchFamily="18" charset="0"/>
                              </a:rPr>
                            </m:ctrlPr>
                          </m:sSubPr>
                          <m:e>
                            <m:r>
                              <a:rPr lang="en-US" altLang="zh-CN" sz="2000" b="0" i="1" smtClean="0">
                                <a:latin typeface="Cambria Math"/>
                              </a:rPr>
                              <m:t>𝑥</m:t>
                            </m:r>
                          </m:e>
                          <m:sub>
                            <m:r>
                              <a:rPr lang="en-US" altLang="zh-CN" sz="2000" b="0" i="1" smtClean="0">
                                <a:latin typeface="Cambria Math"/>
                              </a:rPr>
                              <m:t>𝑟</m:t>
                            </m:r>
                          </m:sub>
                        </m:sSub>
                        <m:r>
                          <a:rPr lang="en-US" altLang="zh-CN" sz="2000" b="0" i="1" smtClean="0">
                            <a:latin typeface="Cambria Math"/>
                          </a:rPr>
                          <m:t>,</m:t>
                        </m:r>
                        <m:sSub>
                          <m:sSubPr>
                            <m:ctrlPr>
                              <a:rPr lang="en-US" altLang="zh-CN" sz="2000" i="1">
                                <a:latin typeface="Cambria Math" panose="02040503050406030204" pitchFamily="18" charset="0"/>
                              </a:rPr>
                            </m:ctrlPr>
                          </m:sSubPr>
                          <m:e>
                            <m:r>
                              <a:rPr lang="en-US" altLang="zh-CN" sz="2000" b="0" i="1" smtClean="0">
                                <a:latin typeface="Cambria Math"/>
                              </a:rPr>
                              <m:t>𝑦</m:t>
                            </m:r>
                          </m:e>
                          <m:sub>
                            <m:r>
                              <a:rPr lang="en-US" altLang="zh-CN" sz="2000" b="0" i="1" smtClean="0">
                                <a:latin typeface="Cambria Math"/>
                              </a:rPr>
                              <m:t>𝑟</m:t>
                            </m:r>
                          </m:sub>
                        </m:sSub>
                        <m:r>
                          <a:rPr lang="en-US" altLang="zh-CN" sz="2000" b="0" i="1" smtClean="0">
                            <a:latin typeface="Cambria Math"/>
                          </a:rPr>
                          <m:t>]</m:t>
                        </m:r>
                      </m:e>
                      <m:sup>
                        <m:r>
                          <a:rPr lang="en-US" altLang="zh-CN" sz="2000" b="0" i="1" smtClean="0">
                            <a:latin typeface="Cambria Math"/>
                          </a:rPr>
                          <m:t>𝑇</m:t>
                        </m:r>
                      </m:sup>
                    </m:sSup>
                  </m:oMath>
                </a14:m>
                <a:endParaRPr lang="en-US" altLang="zh-CN" sz="2000" dirty="0">
                  <a:latin typeface="Arial" panose="020B0604020202020204" pitchFamily="34" charset="0"/>
                  <a:cs typeface="Arial" panose="020B0604020202020204" pitchFamily="34" charset="0"/>
                </a:endParaRPr>
              </a:p>
              <a:p>
                <a:pPr>
                  <a:lnSpc>
                    <a:spcPct val="120000"/>
                  </a:lnSpc>
                  <a:spcBef>
                    <a:spcPts val="0"/>
                  </a:spcBef>
                </a:pPr>
                <a:r>
                  <a:rPr lang="en-US" altLang="zh-CN" sz="2000" dirty="0">
                    <a:latin typeface="Arial" panose="020B0604020202020204" pitchFamily="34" charset="0"/>
                    <a:cs typeface="Arial" panose="020B0604020202020204" pitchFamily="34" charset="0"/>
                  </a:rPr>
                  <a:t>Bearing measurements from N anchor points: </a:t>
                </a:r>
                <a14:m>
                  <m:oMath xmlns:m="http://schemas.openxmlformats.org/officeDocument/2006/math">
                    <m:r>
                      <a:rPr lang="el-GR" altLang="zh-CN" sz="2000" i="1">
                        <a:latin typeface="Cambria Math"/>
                      </a:rPr>
                      <m:t>𝛽</m:t>
                    </m:r>
                    <m:r>
                      <a:rPr lang="en-US" altLang="zh-CN" sz="2000" i="1">
                        <a:latin typeface="Cambria Math"/>
                      </a:rPr>
                      <m:t>=</m:t>
                    </m:r>
                    <m:sSup>
                      <m:sSupPr>
                        <m:ctrlPr>
                          <a:rPr lang="en-US" altLang="zh-CN" sz="2000" i="1">
                            <a:latin typeface="Cambria Math" panose="02040503050406030204" pitchFamily="18" charset="0"/>
                          </a:rPr>
                        </m:ctrlPr>
                      </m:sSupPr>
                      <m:e>
                        <m:r>
                          <a:rPr lang="en-US" altLang="zh-CN" sz="2000" i="1">
                            <a:latin typeface="Cambria Math"/>
                          </a:rPr>
                          <m:t>[</m:t>
                        </m:r>
                        <m:sSub>
                          <m:sSubPr>
                            <m:ctrlPr>
                              <a:rPr lang="en-US" altLang="zh-CN" sz="2000" i="1">
                                <a:latin typeface="Cambria Math" panose="02040503050406030204" pitchFamily="18" charset="0"/>
                              </a:rPr>
                            </m:ctrlPr>
                          </m:sSubPr>
                          <m:e>
                            <m:r>
                              <a:rPr lang="el-GR" altLang="zh-CN" sz="2000" i="1">
                                <a:latin typeface="Cambria Math"/>
                              </a:rPr>
                              <m:t>𝛽</m:t>
                            </m:r>
                          </m:e>
                          <m:sub>
                            <m:r>
                              <a:rPr lang="en-US" altLang="zh-CN" sz="2000" b="0" i="1" smtClean="0">
                                <a:latin typeface="Cambria Math"/>
                              </a:rPr>
                              <m:t>1</m:t>
                            </m:r>
                          </m:sub>
                        </m:sSub>
                        <m:r>
                          <a:rPr lang="en-US" altLang="zh-CN" sz="2000" b="0" i="1" smtClean="0">
                            <a:latin typeface="Cambria Math"/>
                          </a:rPr>
                          <m:t>,…,</m:t>
                        </m:r>
                        <m:sSub>
                          <m:sSubPr>
                            <m:ctrlPr>
                              <a:rPr lang="en-US" altLang="zh-CN" sz="2000" i="1">
                                <a:latin typeface="Cambria Math" panose="02040503050406030204" pitchFamily="18" charset="0"/>
                              </a:rPr>
                            </m:ctrlPr>
                          </m:sSubPr>
                          <m:e>
                            <m:r>
                              <a:rPr lang="el-GR" altLang="zh-CN" sz="2000" i="1">
                                <a:latin typeface="Cambria Math"/>
                              </a:rPr>
                              <m:t>𝛽</m:t>
                            </m:r>
                          </m:e>
                          <m:sub>
                            <m:r>
                              <a:rPr lang="en-US" altLang="zh-CN" sz="2000" b="0" i="1" smtClean="0">
                                <a:latin typeface="Cambria Math"/>
                              </a:rPr>
                              <m:t>𝑁</m:t>
                            </m:r>
                          </m:sub>
                        </m:sSub>
                        <m:r>
                          <a:rPr lang="en-US" altLang="zh-CN" sz="2000" i="1">
                            <a:latin typeface="Cambria Math"/>
                          </a:rPr>
                          <m:t>]</m:t>
                        </m:r>
                      </m:e>
                      <m:sup>
                        <m:r>
                          <a:rPr lang="en-US" altLang="zh-CN" sz="2000" i="1">
                            <a:latin typeface="Cambria Math"/>
                          </a:rPr>
                          <m:t>𝑇</m:t>
                        </m:r>
                      </m:sup>
                    </m:sSup>
                  </m:oMath>
                </a14:m>
                <a:endParaRPr lang="en-US" altLang="zh-CN" sz="2000" dirty="0">
                  <a:latin typeface="Arial" panose="020B0604020202020204" pitchFamily="34" charset="0"/>
                  <a:cs typeface="Arial" panose="020B0604020202020204" pitchFamily="34" charset="0"/>
                </a:endParaRPr>
              </a:p>
              <a:p>
                <a:pPr>
                  <a:lnSpc>
                    <a:spcPct val="120000"/>
                  </a:lnSpc>
                  <a:spcBef>
                    <a:spcPts val="0"/>
                  </a:spcBef>
                </a:pPr>
                <a:r>
                  <a:rPr lang="en-US" altLang="zh-CN" sz="2000" dirty="0">
                    <a:latin typeface="Arial" panose="020B0604020202020204" pitchFamily="34" charset="0"/>
                    <a:cs typeface="Arial" panose="020B0604020202020204" pitchFamily="34" charset="0"/>
                  </a:rPr>
                  <a:t>Known anchor locations </a:t>
                </a:r>
                <a14:m>
                  <m:oMath xmlns:m="http://schemas.openxmlformats.org/officeDocument/2006/math">
                    <m:sSub>
                      <m:sSubPr>
                        <m:ctrlPr>
                          <a:rPr lang="en-US" altLang="zh-CN" sz="2000" b="1" i="1">
                            <a:latin typeface="Cambria Math" panose="02040503050406030204" pitchFamily="18" charset="0"/>
                          </a:rPr>
                        </m:ctrlPr>
                      </m:sSubPr>
                      <m:e>
                        <m:r>
                          <a:rPr lang="en-US" altLang="zh-CN" sz="2000" b="1" i="1">
                            <a:latin typeface="Cambria Math"/>
                          </a:rPr>
                          <m:t> </m:t>
                        </m:r>
                        <m:r>
                          <a:rPr lang="en-US" altLang="zh-CN" sz="2000" b="1" i="1">
                            <a:latin typeface="Cambria Math"/>
                          </a:rPr>
                          <m:t>𝒙</m:t>
                        </m:r>
                      </m:e>
                      <m:sub>
                        <m:r>
                          <a:rPr lang="en-US" altLang="zh-CN" sz="2000" b="1" i="1" smtClean="0">
                            <a:latin typeface="Cambria Math"/>
                          </a:rPr>
                          <m:t>𝒊</m:t>
                        </m:r>
                      </m:sub>
                    </m:sSub>
                    <m:r>
                      <a:rPr lang="en-US" altLang="zh-CN" sz="2000" i="1">
                        <a:latin typeface="Cambria Math"/>
                      </a:rPr>
                      <m:t>=</m:t>
                    </m:r>
                    <m:sSup>
                      <m:sSupPr>
                        <m:ctrlPr>
                          <a:rPr lang="en-US" altLang="zh-CN" sz="2000" i="1">
                            <a:latin typeface="Cambria Math" panose="02040503050406030204" pitchFamily="18" charset="0"/>
                          </a:rPr>
                        </m:ctrlPr>
                      </m:sSupPr>
                      <m:e>
                        <m:r>
                          <a:rPr lang="en-US" altLang="zh-CN" sz="2000" i="1">
                            <a:latin typeface="Cambria Math"/>
                          </a:rPr>
                          <m:t>[</m:t>
                        </m:r>
                        <m:sSub>
                          <m:sSubPr>
                            <m:ctrlPr>
                              <a:rPr lang="en-US" altLang="zh-CN" sz="2000" i="1">
                                <a:latin typeface="Cambria Math" panose="02040503050406030204" pitchFamily="18" charset="0"/>
                              </a:rPr>
                            </m:ctrlPr>
                          </m:sSubPr>
                          <m:e>
                            <m:r>
                              <a:rPr lang="en-US" altLang="zh-CN" sz="2000" i="1">
                                <a:latin typeface="Cambria Math"/>
                              </a:rPr>
                              <m:t>𝑥</m:t>
                            </m:r>
                          </m:e>
                          <m:sub>
                            <m:r>
                              <a:rPr lang="en-US" altLang="zh-CN" sz="2000" b="0" i="1" smtClean="0">
                                <a:latin typeface="Cambria Math"/>
                              </a:rPr>
                              <m:t>𝑖</m:t>
                            </m:r>
                          </m:sub>
                        </m:sSub>
                        <m:r>
                          <a:rPr lang="en-US" altLang="zh-CN" sz="2000" i="1">
                            <a:latin typeface="Cambria Math"/>
                          </a:rPr>
                          <m:t>,</m:t>
                        </m:r>
                        <m:sSub>
                          <m:sSubPr>
                            <m:ctrlPr>
                              <a:rPr lang="en-US" altLang="zh-CN" sz="2000" i="1">
                                <a:latin typeface="Cambria Math" panose="02040503050406030204" pitchFamily="18" charset="0"/>
                              </a:rPr>
                            </m:ctrlPr>
                          </m:sSubPr>
                          <m:e>
                            <m:r>
                              <a:rPr lang="en-US" altLang="zh-CN" sz="2000" i="1">
                                <a:latin typeface="Cambria Math"/>
                              </a:rPr>
                              <m:t>𝑦</m:t>
                            </m:r>
                          </m:e>
                          <m:sub>
                            <m:r>
                              <a:rPr lang="en-US" altLang="zh-CN" sz="2000" b="0" i="1" smtClean="0">
                                <a:latin typeface="Cambria Math"/>
                              </a:rPr>
                              <m:t>𝑖</m:t>
                            </m:r>
                          </m:sub>
                        </m:sSub>
                        <m:r>
                          <a:rPr lang="en-US" altLang="zh-CN" sz="2000" i="1">
                            <a:latin typeface="Cambria Math"/>
                          </a:rPr>
                          <m:t>]</m:t>
                        </m:r>
                      </m:e>
                      <m:sup>
                        <m:r>
                          <a:rPr lang="en-US" altLang="zh-CN" sz="2000" i="1">
                            <a:latin typeface="Cambria Math"/>
                          </a:rPr>
                          <m:t>𝑇</m:t>
                        </m:r>
                      </m:sup>
                    </m:sSup>
                  </m:oMath>
                </a14:m>
                <a:endParaRPr lang="en-US" altLang="zh-CN" sz="2000" dirty="0">
                  <a:latin typeface="Arial" panose="020B0604020202020204" pitchFamily="34" charset="0"/>
                  <a:cs typeface="Arial" panose="020B0604020202020204" pitchFamily="34" charset="0"/>
                </a:endParaRPr>
              </a:p>
              <a:p>
                <a:pPr>
                  <a:lnSpc>
                    <a:spcPct val="120000"/>
                  </a:lnSpc>
                  <a:spcBef>
                    <a:spcPts val="0"/>
                  </a:spcBef>
                </a:pPr>
                <a:r>
                  <a:rPr lang="en-US" altLang="zh-CN" sz="2000" dirty="0">
                    <a:latin typeface="Arial" panose="020B0604020202020204" pitchFamily="34" charset="0"/>
                    <a:cs typeface="Arial" panose="020B0604020202020204" pitchFamily="34" charset="0"/>
                  </a:rPr>
                  <a:t>Actual (unknown) bearings </a:t>
                </a:r>
                <a14:m>
                  <m:oMath xmlns:m="http://schemas.openxmlformats.org/officeDocument/2006/math">
                    <m:r>
                      <m:rPr>
                        <m:nor/>
                      </m:rPr>
                      <a:rPr lang="el-GR" altLang="zh-CN" sz="2000" dirty="0">
                        <a:latin typeface="Arial" panose="020B0604020202020204" pitchFamily="34" charset="0"/>
                        <a:cs typeface="Arial" panose="020B0604020202020204" pitchFamily="34" charset="0"/>
                      </a:rPr>
                      <m:t>θ</m:t>
                    </m:r>
                    <m:r>
                      <m:rPr>
                        <m:nor/>
                      </m:rPr>
                      <a:rPr lang="el-GR" altLang="zh-CN" sz="2000" dirty="0">
                        <a:latin typeface="Arial" panose="020B0604020202020204" pitchFamily="34" charset="0"/>
                        <a:cs typeface="Arial" panose="020B0604020202020204" pitchFamily="34" charset="0"/>
                      </a:rPr>
                      <m:t>(</m:t>
                    </m:r>
                    <m:r>
                      <m:rPr>
                        <m:nor/>
                      </m:rPr>
                      <a:rPr lang="en-US" altLang="zh-CN" sz="2000" dirty="0">
                        <a:latin typeface="Arial" panose="020B0604020202020204" pitchFamily="34" charset="0"/>
                        <a:cs typeface="Arial" panose="020B0604020202020204" pitchFamily="34" charset="0"/>
                      </a:rPr>
                      <m:t>x</m:t>
                    </m:r>
                    <m:r>
                      <m:rPr>
                        <m:nor/>
                      </m:rPr>
                      <a:rPr lang="en-US" altLang="zh-CN" sz="2000" b="0" i="0" dirty="0" smtClean="0">
                        <a:latin typeface="Arial" panose="020B0604020202020204" pitchFamily="34" charset="0"/>
                        <a:cs typeface="Arial" panose="020B0604020202020204" pitchFamily="34" charset="0"/>
                      </a:rPr>
                      <m:t>)</m:t>
                    </m:r>
                    <m:r>
                      <a:rPr lang="en-US" altLang="zh-CN" sz="2000" i="1">
                        <a:latin typeface="Cambria Math"/>
                      </a:rPr>
                      <m:t>=</m:t>
                    </m:r>
                    <m:sSup>
                      <m:sSupPr>
                        <m:ctrlPr>
                          <a:rPr lang="en-US" altLang="zh-CN" sz="2000" i="1">
                            <a:latin typeface="Cambria Math" panose="02040503050406030204" pitchFamily="18" charset="0"/>
                          </a:rPr>
                        </m:ctrlPr>
                      </m:sSupPr>
                      <m:e>
                        <m:r>
                          <a:rPr lang="en-US" altLang="zh-CN" sz="2000" i="1">
                            <a:latin typeface="Cambria Math"/>
                          </a:rPr>
                          <m:t>[</m:t>
                        </m:r>
                        <m:sSub>
                          <m:sSubPr>
                            <m:ctrlPr>
                              <a:rPr lang="en-US" altLang="zh-CN" sz="2000" i="1">
                                <a:latin typeface="Cambria Math" panose="02040503050406030204" pitchFamily="18" charset="0"/>
                              </a:rPr>
                            </m:ctrlPr>
                          </m:sSubPr>
                          <m:e>
                            <m:r>
                              <m:rPr>
                                <m:nor/>
                              </m:rPr>
                              <a:rPr lang="el-GR" altLang="zh-CN" sz="2000" dirty="0">
                                <a:latin typeface="Arial" panose="020B0604020202020204" pitchFamily="34" charset="0"/>
                                <a:cs typeface="Arial" panose="020B0604020202020204" pitchFamily="34" charset="0"/>
                              </a:rPr>
                              <m:t>θ</m:t>
                            </m:r>
                          </m:e>
                          <m:sub>
                            <m:r>
                              <a:rPr lang="en-US" altLang="zh-CN" sz="2000" b="0" i="1" smtClean="0">
                                <a:latin typeface="Cambria Math"/>
                              </a:rPr>
                              <m:t>1</m:t>
                            </m:r>
                          </m:sub>
                        </m:sSub>
                        <m:r>
                          <m:rPr>
                            <m:nor/>
                          </m:rPr>
                          <a:rPr lang="el-GR" altLang="zh-CN" sz="2000" dirty="0">
                            <a:latin typeface="Arial" panose="020B0604020202020204" pitchFamily="34" charset="0"/>
                            <a:cs typeface="Arial" panose="020B0604020202020204" pitchFamily="34" charset="0"/>
                          </a:rPr>
                          <m:t>(</m:t>
                        </m:r>
                        <m:r>
                          <m:rPr>
                            <m:nor/>
                          </m:rPr>
                          <a:rPr lang="en-US" altLang="zh-CN" sz="2000" dirty="0">
                            <a:latin typeface="Arial" panose="020B0604020202020204" pitchFamily="34" charset="0"/>
                            <a:cs typeface="Arial" panose="020B0604020202020204" pitchFamily="34" charset="0"/>
                          </a:rPr>
                          <m:t>x</m:t>
                        </m:r>
                        <m:r>
                          <m:rPr>
                            <m:nor/>
                          </m:rPr>
                          <a:rPr lang="en-US" altLang="zh-CN" sz="2000" b="0" i="0" dirty="0" smtClean="0">
                            <a:latin typeface="Arial" panose="020B0604020202020204" pitchFamily="34" charset="0"/>
                            <a:cs typeface="Arial" panose="020B0604020202020204" pitchFamily="34" charset="0"/>
                          </a:rPr>
                          <m:t>)</m:t>
                        </m:r>
                        <m:r>
                          <a:rPr lang="en-US" altLang="zh-CN" sz="2000" i="1">
                            <a:latin typeface="Cambria Math"/>
                          </a:rPr>
                          <m:t>,</m:t>
                        </m:r>
                        <m:r>
                          <a:rPr lang="en-US" altLang="zh-CN" sz="2000" b="0" i="1" smtClean="0">
                            <a:latin typeface="Cambria Math"/>
                          </a:rPr>
                          <m:t>…,</m:t>
                        </m:r>
                        <m:sSub>
                          <m:sSubPr>
                            <m:ctrlPr>
                              <a:rPr lang="en-US" altLang="zh-CN" sz="2000" i="1" smtClean="0">
                                <a:latin typeface="Cambria Math" panose="02040503050406030204" pitchFamily="18" charset="0"/>
                              </a:rPr>
                            </m:ctrlPr>
                          </m:sSubPr>
                          <m:e>
                            <m:r>
                              <m:rPr>
                                <m:nor/>
                              </m:rPr>
                              <a:rPr lang="el-GR" altLang="zh-CN" sz="2000" dirty="0">
                                <a:latin typeface="Arial" panose="020B0604020202020204" pitchFamily="34" charset="0"/>
                                <a:cs typeface="Arial" panose="020B0604020202020204" pitchFamily="34" charset="0"/>
                              </a:rPr>
                              <m:t>θ</m:t>
                            </m:r>
                          </m:e>
                          <m:sub>
                            <m:r>
                              <a:rPr lang="en-US" altLang="zh-CN" sz="2000" b="0" i="1" dirty="0" smtClean="0">
                                <a:latin typeface="Cambria Math"/>
                              </a:rPr>
                              <m:t>𝑁</m:t>
                            </m:r>
                          </m:sub>
                        </m:sSub>
                        <m:r>
                          <m:rPr>
                            <m:nor/>
                          </m:rPr>
                          <a:rPr lang="el-GR" altLang="zh-CN" sz="2000" dirty="0" smtClean="0">
                            <a:latin typeface="Arial" panose="020B0604020202020204" pitchFamily="34" charset="0"/>
                            <a:cs typeface="Arial" panose="020B0604020202020204" pitchFamily="34" charset="0"/>
                          </a:rPr>
                          <m:t>(</m:t>
                        </m:r>
                        <m:r>
                          <m:rPr>
                            <m:nor/>
                          </m:rPr>
                          <a:rPr lang="en-US" altLang="zh-CN" sz="2000" dirty="0" smtClean="0">
                            <a:latin typeface="Arial" panose="020B0604020202020204" pitchFamily="34" charset="0"/>
                            <a:cs typeface="Arial" panose="020B0604020202020204" pitchFamily="34" charset="0"/>
                          </a:rPr>
                          <m:t>x</m:t>
                        </m:r>
                        <m:r>
                          <m:rPr>
                            <m:nor/>
                          </m:rPr>
                          <a:rPr lang="en-US" altLang="zh-CN" sz="2000" b="0" i="0" dirty="0" smtClean="0">
                            <a:latin typeface="Arial" panose="020B0604020202020204" pitchFamily="34" charset="0"/>
                            <a:cs typeface="Arial" panose="020B0604020202020204" pitchFamily="34" charset="0"/>
                          </a:rPr>
                          <m:t>)</m:t>
                        </m:r>
                        <m:r>
                          <a:rPr lang="en-US" altLang="zh-CN" sz="2000" i="1" smtClean="0">
                            <a:latin typeface="Cambria Math"/>
                          </a:rPr>
                          <m:t>]</m:t>
                        </m:r>
                      </m:e>
                      <m:sup>
                        <m:r>
                          <a:rPr lang="en-US" altLang="zh-CN" sz="2000" i="1">
                            <a:latin typeface="Cambria Math"/>
                          </a:rPr>
                          <m:t>𝑇</m:t>
                        </m:r>
                      </m:sup>
                    </m:sSup>
                    <m:r>
                      <a:rPr lang="en-US" altLang="zh-CN" sz="2000" i="1">
                        <a:latin typeface="Cambria Math"/>
                      </a:rPr>
                      <m:t> </m:t>
                    </m:r>
                  </m:oMath>
                </a14:m>
                <a:endParaRPr lang="en-US" altLang="zh-CN" sz="2000" dirty="0">
                  <a:latin typeface="Arial" panose="020B0604020202020204" pitchFamily="34" charset="0"/>
                  <a:cs typeface="Arial" panose="020B0604020202020204" pitchFamily="34" charset="0"/>
                </a:endParaRPr>
              </a:p>
              <a:p>
                <a:pPr>
                  <a:lnSpc>
                    <a:spcPct val="120000"/>
                  </a:lnSpc>
                  <a:spcBef>
                    <a:spcPts val="0"/>
                  </a:spcBef>
                </a:pPr>
                <a:r>
                  <a:rPr lang="en-US" altLang="zh-CN" sz="2000" dirty="0">
                    <a:latin typeface="Arial" panose="020B0604020202020204" pitchFamily="34" charset="0"/>
                    <a:cs typeface="Arial" panose="020B0604020202020204" pitchFamily="34" charset="0"/>
                  </a:rPr>
                  <a:t>Relationship between actual and measured bearings is β=</a:t>
                </a:r>
                <a14:m>
                  <m:oMath xmlns:m="http://schemas.openxmlformats.org/officeDocument/2006/math">
                    <m:r>
                      <m:rPr>
                        <m:nor/>
                      </m:rPr>
                      <a:rPr lang="el-GR" altLang="zh-CN" sz="2000" dirty="0">
                        <a:latin typeface="Arial" panose="020B0604020202020204" pitchFamily="34" charset="0"/>
                        <a:cs typeface="Arial" panose="020B0604020202020204" pitchFamily="34" charset="0"/>
                      </a:rPr>
                      <m:t>θ</m:t>
                    </m:r>
                    <m:r>
                      <a:rPr lang="en-US" altLang="zh-CN" sz="2000" b="0" i="0" smtClean="0">
                        <a:latin typeface="Cambria Math"/>
                      </a:rPr>
                      <m:t>(</m:t>
                    </m:r>
                    <m:sSub>
                      <m:sSubPr>
                        <m:ctrlPr>
                          <a:rPr lang="en-US" altLang="zh-CN" sz="2000" b="1" i="1">
                            <a:latin typeface="Cambria Math" panose="02040503050406030204" pitchFamily="18" charset="0"/>
                          </a:rPr>
                        </m:ctrlPr>
                      </m:sSubPr>
                      <m:e>
                        <m:r>
                          <a:rPr lang="en-US" altLang="zh-CN" sz="2000" b="1" i="1">
                            <a:latin typeface="Cambria Math"/>
                          </a:rPr>
                          <m:t>𝒙</m:t>
                        </m:r>
                      </m:e>
                      <m:sub>
                        <m:r>
                          <a:rPr lang="en-US" altLang="zh-CN" sz="2000" b="1" i="1">
                            <a:latin typeface="Cambria Math"/>
                          </a:rPr>
                          <m:t>𝒓</m:t>
                        </m:r>
                      </m:sub>
                    </m:sSub>
                    <m:r>
                      <a:rPr lang="en-US" altLang="zh-CN" sz="2000" b="1" i="1" smtClean="0">
                        <a:latin typeface="Cambria Math"/>
                      </a:rPr>
                      <m:t>)</m:t>
                    </m:r>
                  </m:oMath>
                </a14:m>
                <a:r>
                  <a:rPr lang="en-US" altLang="zh-CN" sz="2000" dirty="0">
                    <a:latin typeface="Arial" panose="020B0604020202020204" pitchFamily="34" charset="0"/>
                    <a:cs typeface="Arial" panose="020B0604020202020204" pitchFamily="34" charset="0"/>
                  </a:rPr>
                  <a:t>+δθ with </a:t>
                </a:r>
                <a:r>
                  <a:rPr lang="en-US" altLang="zh-CN" sz="2000" dirty="0" err="1">
                    <a:latin typeface="Arial" panose="020B0604020202020204" pitchFamily="34" charset="0"/>
                    <a:cs typeface="Arial" panose="020B0604020202020204" pitchFamily="34" charset="0"/>
                  </a:rPr>
                  <a:t>δθ</a:t>
                </a:r>
                <a:r>
                  <a:rPr lang="en-US" altLang="zh-CN" sz="2000" dirty="0">
                    <a:latin typeface="Arial" panose="020B0604020202020204" pitchFamily="34" charset="0"/>
                    <a:cs typeface="Arial" panose="020B0604020202020204" pitchFamily="34" charset="0"/>
                  </a:rPr>
                  <a:t>= </a:t>
                </a:r>
                <a14:m>
                  <m:oMath xmlns:m="http://schemas.openxmlformats.org/officeDocument/2006/math">
                    <m:sSup>
                      <m:sSupPr>
                        <m:ctrlPr>
                          <a:rPr lang="en-US" altLang="zh-CN" sz="2000" i="1" dirty="0" smtClean="0">
                            <a:latin typeface="Cambria Math" panose="02040503050406030204" pitchFamily="18" charset="0"/>
                          </a:rPr>
                        </m:ctrlPr>
                      </m:sSupPr>
                      <m:e>
                        <m:r>
                          <m:rPr>
                            <m:nor/>
                          </m:rPr>
                          <a:rPr lang="en-US" altLang="zh-CN" sz="2000" dirty="0">
                            <a:latin typeface="Arial" panose="020B0604020202020204" pitchFamily="34" charset="0"/>
                            <a:cs typeface="Arial" panose="020B0604020202020204" pitchFamily="34" charset="0"/>
                          </a:rPr>
                          <m:t>[</m:t>
                        </m:r>
                        <m:r>
                          <m:rPr>
                            <m:nor/>
                          </m:rPr>
                          <a:rPr lang="en-US" altLang="zh-CN" sz="2000" dirty="0">
                            <a:latin typeface="Arial" panose="020B0604020202020204" pitchFamily="34" charset="0"/>
                            <a:cs typeface="Arial" panose="020B0604020202020204" pitchFamily="34" charset="0"/>
                          </a:rPr>
                          <m:t>δ</m:t>
                        </m:r>
                        <m:sSub>
                          <m:sSubPr>
                            <m:ctrlPr>
                              <a:rPr lang="en-US" altLang="zh-CN" sz="2000" i="1">
                                <a:latin typeface="Cambria Math" panose="02040503050406030204" pitchFamily="18" charset="0"/>
                              </a:rPr>
                            </m:ctrlPr>
                          </m:sSubPr>
                          <m:e>
                            <m:r>
                              <m:rPr>
                                <m:nor/>
                              </m:rPr>
                              <a:rPr lang="el-GR" altLang="zh-CN" sz="2000" dirty="0">
                                <a:latin typeface="Arial" panose="020B0604020202020204" pitchFamily="34" charset="0"/>
                                <a:cs typeface="Arial" panose="020B0604020202020204" pitchFamily="34" charset="0"/>
                              </a:rPr>
                              <m:t>θ</m:t>
                            </m:r>
                          </m:e>
                          <m:sub>
                            <m:r>
                              <a:rPr lang="en-US" altLang="zh-CN" sz="2000" i="1">
                                <a:latin typeface="Cambria Math"/>
                              </a:rPr>
                              <m:t>1</m:t>
                            </m:r>
                          </m:sub>
                        </m:sSub>
                        <m:r>
                          <a:rPr lang="en-US" altLang="zh-CN" sz="2000">
                            <a:latin typeface="Cambria Math"/>
                          </a:rPr>
                          <m:t>,…,</m:t>
                        </m:r>
                        <m:r>
                          <m:rPr>
                            <m:nor/>
                          </m:rPr>
                          <a:rPr lang="en-US" altLang="zh-CN" sz="2000" dirty="0">
                            <a:latin typeface="Arial" panose="020B0604020202020204" pitchFamily="34" charset="0"/>
                            <a:cs typeface="Arial" panose="020B0604020202020204" pitchFamily="34" charset="0"/>
                          </a:rPr>
                          <m:t>δ</m:t>
                        </m:r>
                        <m:sSub>
                          <m:sSubPr>
                            <m:ctrlPr>
                              <a:rPr lang="en-US" altLang="zh-CN" sz="2000" i="1">
                                <a:latin typeface="Cambria Math" panose="02040503050406030204" pitchFamily="18" charset="0"/>
                              </a:rPr>
                            </m:ctrlPr>
                          </m:sSubPr>
                          <m:e>
                            <m:r>
                              <m:rPr>
                                <m:nor/>
                              </m:rPr>
                              <a:rPr lang="el-GR" altLang="zh-CN" sz="2000" dirty="0">
                                <a:latin typeface="Arial" panose="020B0604020202020204" pitchFamily="34" charset="0"/>
                                <a:cs typeface="Arial" panose="020B0604020202020204" pitchFamily="34" charset="0"/>
                              </a:rPr>
                              <m:t>θ</m:t>
                            </m:r>
                          </m:e>
                          <m:sub>
                            <m:r>
                              <a:rPr lang="en-US" altLang="zh-CN" sz="2000" i="1" dirty="0">
                                <a:latin typeface="Cambria Math"/>
                              </a:rPr>
                              <m:t>𝑁</m:t>
                            </m:r>
                          </m:sub>
                        </m:sSub>
                        <m:r>
                          <m:rPr>
                            <m:nor/>
                          </m:rPr>
                          <a:rPr lang="en-US" altLang="zh-CN" sz="2000" dirty="0">
                            <a:latin typeface="Arial" panose="020B0604020202020204" pitchFamily="34" charset="0"/>
                            <a:cs typeface="Arial" panose="020B0604020202020204" pitchFamily="34" charset="0"/>
                          </a:rPr>
                          <m:t>]</m:t>
                        </m:r>
                      </m:e>
                      <m:sup>
                        <m:r>
                          <a:rPr lang="en-US" altLang="zh-CN" sz="2000" b="0" i="1" dirty="0" smtClean="0">
                            <a:latin typeface="Cambria Math"/>
                          </a:rPr>
                          <m:t>𝑇</m:t>
                        </m:r>
                      </m:sup>
                    </m:sSup>
                  </m:oMath>
                </a14:m>
                <a:r>
                  <a:rPr lang="en-US" altLang="zh-CN" sz="2000" dirty="0">
                    <a:latin typeface="Arial" panose="020B0604020202020204" pitchFamily="34" charset="0"/>
                    <a:cs typeface="Arial" panose="020B0604020202020204" pitchFamily="34" charset="0"/>
                  </a:rPr>
                  <a:t> being the Gaussian noise with zero-mean and </a:t>
                </a:r>
                <a:r>
                  <a:rPr lang="en-US" altLang="zh-CN" sz="2000" dirty="0" err="1">
                    <a:latin typeface="Arial" panose="020B0604020202020204" pitchFamily="34" charset="0"/>
                    <a:cs typeface="Arial" panose="020B0604020202020204" pitchFamily="34" charset="0"/>
                  </a:rPr>
                  <a:t>NxN</a:t>
                </a:r>
                <a:r>
                  <a:rPr lang="en-US" altLang="zh-CN" sz="2000" dirty="0">
                    <a:latin typeface="Arial" panose="020B0604020202020204" pitchFamily="34" charset="0"/>
                    <a:cs typeface="Arial" panose="020B0604020202020204" pitchFamily="34" charset="0"/>
                  </a:rPr>
                  <a:t> covariance matrix S=</a:t>
                </a:r>
                <a:r>
                  <a:rPr lang="en-US" altLang="zh-CN" sz="2000" dirty="0" err="1">
                    <a:latin typeface="Arial" panose="020B0604020202020204" pitchFamily="34" charset="0"/>
                    <a:cs typeface="Arial" panose="020B0604020202020204" pitchFamily="34" charset="0"/>
                  </a:rPr>
                  <a:t>diag</a:t>
                </a:r>
                <a:r>
                  <a:rPr lang="en-US" altLang="zh-CN" sz="2000" dirty="0">
                    <a:latin typeface="Arial" panose="020B0604020202020204" pitchFamily="34" charset="0"/>
                    <a:cs typeface="Arial" panose="020B0604020202020204" pitchFamily="34" charset="0"/>
                  </a:rPr>
                  <a:t>(</a:t>
                </a:r>
                <a14:m>
                  <m:oMath xmlns:m="http://schemas.openxmlformats.org/officeDocument/2006/math">
                    <m:sSup>
                      <m:sSupPr>
                        <m:ctrlPr>
                          <a:rPr lang="en-US" altLang="zh-CN" sz="2000" i="1" smtClean="0">
                            <a:latin typeface="Cambria Math" panose="02040503050406030204" pitchFamily="18" charset="0"/>
                          </a:rPr>
                        </m:ctrlPr>
                      </m:sSupPr>
                      <m:e>
                        <m:sSub>
                          <m:sSubPr>
                            <m:ctrlPr>
                              <a:rPr lang="en-US" altLang="zh-CN" sz="2000" i="1" smtClean="0">
                                <a:latin typeface="Cambria Math" panose="02040503050406030204" pitchFamily="18" charset="0"/>
                              </a:rPr>
                            </m:ctrlPr>
                          </m:sSubPr>
                          <m:e>
                            <m:r>
                              <m:rPr>
                                <m:nor/>
                              </m:rPr>
                              <a:rPr lang="en-US" altLang="zh-CN" sz="2000" dirty="0">
                                <a:latin typeface="Arial" panose="020B0604020202020204" pitchFamily="34" charset="0"/>
                                <a:cs typeface="Arial" panose="020B0604020202020204" pitchFamily="34" charset="0"/>
                              </a:rPr>
                              <m:t>σ</m:t>
                            </m:r>
                          </m:e>
                          <m:sub>
                            <m:r>
                              <a:rPr lang="en-US" altLang="zh-CN" sz="2000" b="0" i="1" smtClean="0">
                                <a:latin typeface="Cambria Math"/>
                              </a:rPr>
                              <m:t>1</m:t>
                            </m:r>
                          </m:sub>
                        </m:sSub>
                      </m:e>
                      <m:sup>
                        <m:r>
                          <a:rPr lang="en-US" altLang="zh-CN" sz="2000" b="0" i="1" smtClean="0">
                            <a:latin typeface="Cambria Math"/>
                          </a:rPr>
                          <m:t>2</m:t>
                        </m:r>
                      </m:sup>
                    </m:sSup>
                    <m:r>
                      <a:rPr lang="en-US" altLang="zh-CN" sz="2000" b="0" i="0" smtClean="0">
                        <a:latin typeface="Cambria Math"/>
                      </a:rPr>
                      <m:t>,…,</m:t>
                    </m:r>
                    <m:sSup>
                      <m:sSupPr>
                        <m:ctrlPr>
                          <a:rPr lang="en-US" altLang="zh-CN" sz="2000" i="1">
                            <a:latin typeface="Cambria Math" panose="02040503050406030204" pitchFamily="18" charset="0"/>
                          </a:rPr>
                        </m:ctrlPr>
                      </m:sSupPr>
                      <m:e>
                        <m:sSub>
                          <m:sSubPr>
                            <m:ctrlPr>
                              <a:rPr lang="en-US" altLang="zh-CN" sz="2000" i="1">
                                <a:latin typeface="Cambria Math" panose="02040503050406030204" pitchFamily="18" charset="0"/>
                              </a:rPr>
                            </m:ctrlPr>
                          </m:sSubPr>
                          <m:e>
                            <m:r>
                              <m:rPr>
                                <m:nor/>
                              </m:rPr>
                              <a:rPr lang="en-US" altLang="zh-CN" sz="2000" dirty="0">
                                <a:latin typeface="Arial" panose="020B0604020202020204" pitchFamily="34" charset="0"/>
                                <a:cs typeface="Arial" panose="020B0604020202020204" pitchFamily="34" charset="0"/>
                              </a:rPr>
                              <m:t>σ</m:t>
                            </m:r>
                          </m:e>
                          <m:sub>
                            <m:r>
                              <a:rPr lang="en-US" altLang="zh-CN" sz="2000" b="0" i="1" dirty="0" smtClean="0">
                                <a:latin typeface="Cambria Math"/>
                              </a:rPr>
                              <m:t>𝑁</m:t>
                            </m:r>
                          </m:sub>
                        </m:sSub>
                      </m:e>
                      <m:sup>
                        <m:r>
                          <a:rPr lang="en-US" altLang="zh-CN" sz="2000" i="1">
                            <a:latin typeface="Cambria Math"/>
                          </a:rPr>
                          <m:t>2</m:t>
                        </m:r>
                      </m:sup>
                    </m:sSup>
                  </m:oMath>
                </a14:m>
                <a:r>
                  <a:rPr lang="en-US" altLang="zh-CN" sz="2000" dirty="0">
                    <a:latin typeface="Arial" panose="020B0604020202020204" pitchFamily="34" charset="0"/>
                    <a:cs typeface="Arial" panose="020B0604020202020204" pitchFamily="34" charset="0"/>
                  </a:rPr>
                  <a:t>)</a:t>
                </a:r>
              </a:p>
              <a:p>
                <a:pPr>
                  <a:lnSpc>
                    <a:spcPct val="120000"/>
                  </a:lnSpc>
                  <a:spcBef>
                    <a:spcPts val="0"/>
                  </a:spcBef>
                </a:pPr>
                <a:r>
                  <a:rPr lang="en-US" altLang="zh-CN" sz="2000" dirty="0">
                    <a:latin typeface="Arial" panose="020B0604020202020204" pitchFamily="34" charset="0"/>
                    <a:cs typeface="Arial" panose="020B0604020202020204" pitchFamily="34" charset="0"/>
                  </a:rPr>
                  <a:t>Relationship between bearings of N anchors and their locations:</a:t>
                </a: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a:rPr>
                            <m:t>𝑡𝑎𝑛</m:t>
                          </m:r>
                          <m:r>
                            <a:rPr lang="zh-CN" altLang="en-US" sz="2000" b="0" i="1" smtClean="0">
                              <a:latin typeface="Cambria Math"/>
                            </a:rPr>
                            <m:t>𝜃</m:t>
                          </m:r>
                        </m:e>
                        <m:sub>
                          <m:r>
                            <a:rPr lang="en-US" altLang="zh-CN" sz="2000" b="0" i="1" smtClean="0">
                              <a:latin typeface="Cambria Math"/>
                            </a:rPr>
                            <m:t>𝑖</m:t>
                          </m:r>
                        </m:sub>
                      </m:sSub>
                      <m:d>
                        <m:dPr>
                          <m:ctrlPr>
                            <a:rPr lang="en-US" altLang="zh-CN" sz="2000" b="0" i="1" smtClean="0">
                              <a:latin typeface="Cambria Math" panose="02040503050406030204" pitchFamily="18" charset="0"/>
                            </a:rPr>
                          </m:ctrlPr>
                        </m:dPr>
                        <m:e>
                          <m:r>
                            <m:rPr>
                              <m:nor/>
                            </m:rPr>
                            <a:rPr lang="en-US" altLang="zh-CN" sz="2000" b="1" dirty="0">
                              <a:latin typeface="Arial" panose="020B0604020202020204" pitchFamily="34" charset="0"/>
                              <a:cs typeface="Arial" panose="020B0604020202020204" pitchFamily="34" charset="0"/>
                            </a:rPr>
                            <m:t>x</m:t>
                          </m:r>
                        </m:e>
                      </m:d>
                      <m:r>
                        <a:rPr lang="en-US" altLang="zh-CN" sz="2000" b="0" i="1" smtClean="0">
                          <a:latin typeface="Cambria Math"/>
                        </a:rPr>
                        <m:t>=</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a:rPr>
                                <m:t>𝑦</m:t>
                              </m:r>
                            </m:e>
                            <m:sub>
                              <m:r>
                                <a:rPr lang="en-US" altLang="zh-CN" sz="2000" b="0" i="1" smtClean="0">
                                  <a:latin typeface="Cambria Math"/>
                                </a:rPr>
                                <m:t>𝑖</m:t>
                              </m:r>
                            </m:sub>
                          </m:sSub>
                          <m:r>
                            <a:rPr lang="en-US" altLang="zh-CN" sz="2000" b="0" i="1" smtClean="0">
                              <a:latin typeface="Cambria Math"/>
                            </a:rPr>
                            <m:t>−</m:t>
                          </m:r>
                          <m:sSub>
                            <m:sSubPr>
                              <m:ctrlPr>
                                <a:rPr lang="en-US" altLang="zh-CN" sz="2000" b="0" i="1" smtClean="0">
                                  <a:latin typeface="Cambria Math" panose="02040503050406030204" pitchFamily="18" charset="0"/>
                                </a:rPr>
                              </m:ctrlPr>
                            </m:sSubPr>
                            <m:e>
                              <m:r>
                                <a:rPr lang="en-US" altLang="zh-CN" sz="2000" b="0" i="1" smtClean="0">
                                  <a:latin typeface="Cambria Math"/>
                                </a:rPr>
                                <m:t>𝑦</m:t>
                              </m:r>
                            </m:e>
                            <m:sub>
                              <m:r>
                                <a:rPr lang="en-US" altLang="zh-CN" sz="2000" b="0" i="1" smtClean="0">
                                  <a:latin typeface="Cambria Math"/>
                                </a:rPr>
                                <m:t>𝑟</m:t>
                              </m:r>
                            </m:sub>
                          </m:sSub>
                        </m:num>
                        <m:den>
                          <m:sSub>
                            <m:sSubPr>
                              <m:ctrlPr>
                                <a:rPr lang="en-US" altLang="zh-CN" sz="2000" b="0" i="1" smtClean="0">
                                  <a:latin typeface="Cambria Math" panose="02040503050406030204" pitchFamily="18" charset="0"/>
                                </a:rPr>
                              </m:ctrlPr>
                            </m:sSubPr>
                            <m:e>
                              <m:r>
                                <a:rPr lang="en-US" altLang="zh-CN" sz="2000" b="0" i="1" smtClean="0">
                                  <a:latin typeface="Cambria Math"/>
                                </a:rPr>
                                <m:t>𝑥</m:t>
                              </m:r>
                            </m:e>
                            <m:sub>
                              <m:r>
                                <a:rPr lang="en-US" altLang="zh-CN" sz="2000" b="0" i="1" smtClean="0">
                                  <a:latin typeface="Cambria Math"/>
                                </a:rPr>
                                <m:t>𝑖</m:t>
                              </m:r>
                            </m:sub>
                          </m:sSub>
                          <m:r>
                            <a:rPr lang="en-US" altLang="zh-CN" sz="2000" b="0" i="1" smtClean="0">
                              <a:latin typeface="Cambria Math"/>
                            </a:rPr>
                            <m:t>−</m:t>
                          </m:r>
                          <m:sSub>
                            <m:sSubPr>
                              <m:ctrlPr>
                                <a:rPr lang="en-US" altLang="zh-CN" sz="2000" b="0" i="1" smtClean="0">
                                  <a:latin typeface="Cambria Math" panose="02040503050406030204" pitchFamily="18" charset="0"/>
                                </a:rPr>
                              </m:ctrlPr>
                            </m:sSubPr>
                            <m:e>
                              <m:r>
                                <a:rPr lang="en-US" altLang="zh-CN" sz="2000" b="0" i="1" smtClean="0">
                                  <a:latin typeface="Cambria Math"/>
                                </a:rPr>
                                <m:t>𝑥</m:t>
                              </m:r>
                            </m:e>
                            <m:sub>
                              <m:r>
                                <a:rPr lang="en-US" altLang="zh-CN" sz="2000" b="0" i="1" smtClean="0">
                                  <a:latin typeface="Cambria Math"/>
                                </a:rPr>
                                <m:t>𝑟</m:t>
                              </m:r>
                            </m:sub>
                          </m:sSub>
                        </m:den>
                      </m:f>
                    </m:oMath>
                  </m:oMathPara>
                </a14:m>
                <a:endParaRPr lang="en-US" altLang="zh-CN" sz="2000" dirty="0">
                  <a:latin typeface="Arial" panose="020B0604020202020204" pitchFamily="34" charset="0"/>
                  <a:cs typeface="Arial" panose="020B0604020202020204" pitchFamily="34" charset="0"/>
                </a:endParaRPr>
              </a:p>
              <a:p>
                <a:pPr>
                  <a:lnSpc>
                    <a:spcPct val="120000"/>
                  </a:lnSpc>
                  <a:spcBef>
                    <a:spcPts val="0"/>
                  </a:spcBef>
                </a:pPr>
                <a:r>
                  <a:rPr lang="en-US" altLang="zh-CN" sz="2000" dirty="0">
                    <a:latin typeface="Arial" panose="020B0604020202020204" pitchFamily="34" charset="0"/>
                    <a:cs typeface="Arial" panose="020B0604020202020204" pitchFamily="34" charset="0"/>
                  </a:rPr>
                  <a:t>Maximum likelihood (ML) estimator of receiver location is then:</a:t>
                </a:r>
              </a:p>
              <a:p>
                <a:pPr marL="0" indent="0">
                  <a:lnSpc>
                    <a:spcPct val="120000"/>
                  </a:lnSpc>
                  <a:spcBef>
                    <a:spcPts val="0"/>
                  </a:spcBef>
                  <a:buNone/>
                </a:pPr>
                <a:endParaRPr lang="en-US" altLang="zh-CN" sz="2000" dirty="0">
                  <a:latin typeface="Arial" panose="020B0604020202020204" pitchFamily="34" charset="0"/>
                  <a:cs typeface="Arial" panose="020B0604020202020204" pitchFamily="34" charset="0"/>
                </a:endParaRPr>
              </a:p>
              <a:p>
                <a:pPr>
                  <a:lnSpc>
                    <a:spcPct val="120000"/>
                  </a:lnSpc>
                  <a:spcBef>
                    <a:spcPts val="0"/>
                  </a:spcBef>
                </a:pPr>
                <a:endParaRPr lang="en-US" altLang="zh-CN" sz="2000" dirty="0">
                  <a:latin typeface="Arial" panose="020B0604020202020204" pitchFamily="34" charset="0"/>
                  <a:cs typeface="Arial" panose="020B0604020202020204" pitchFamily="34" charset="0"/>
                </a:endParaRPr>
              </a:p>
              <a:p>
                <a:pPr>
                  <a:lnSpc>
                    <a:spcPct val="120000"/>
                  </a:lnSpc>
                  <a:spcBef>
                    <a:spcPts val="0"/>
                  </a:spcBef>
                </a:pPr>
                <a:r>
                  <a:rPr lang="en-US" altLang="zh-CN" sz="2000" dirty="0">
                    <a:latin typeface="Arial" panose="020B0604020202020204" pitchFamily="34" charset="0"/>
                    <a:cs typeface="Arial" panose="020B0604020202020204" pitchFamily="34" charset="0"/>
                  </a:rPr>
                  <a:t>This non-linear least squares minimization can be performed using Newton-Gauss iterations:</a:t>
                </a:r>
                <a:endParaRPr lang="zh-CN" altLang="en-US" sz="2000" dirty="0">
                  <a:latin typeface="Arial" panose="020B0604020202020204" pitchFamily="34" charset="0"/>
                  <a:cs typeface="Arial" panose="020B0604020202020204" pitchFamily="34"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505643"/>
                <a:ext cx="11004612" cy="4351338"/>
              </a:xfrm>
              <a:blipFill>
                <a:blip r:embed="rId2"/>
                <a:stretch>
                  <a:fillRect l="-499" t="-140" b="-12185"/>
                </a:stretch>
              </a:blipFill>
            </p:spPr>
            <p:txBody>
              <a:bodyPr/>
              <a:lstStyle/>
              <a:p>
                <a:r>
                  <a:rPr lang="zh-CN" altLang="en-US">
                    <a:noFill/>
                  </a:rPr>
                  <a:t> </a:t>
                </a:r>
              </a:p>
            </p:txBody>
          </p:sp>
        </mc:Fallback>
      </mc:AlternateContent>
      <p:pic>
        <p:nvPicPr>
          <p:cNvPr id="6" name="Picture 2">
            <a:extLst>
              <a:ext uri="{FF2B5EF4-FFF2-40B4-BE49-F238E27FC236}">
                <a16:creationId xmlns:a16="http://schemas.microsoft.com/office/drawing/2014/main" id="{521898CA-0743-4229-A5FB-C999E22956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3700" y="5234126"/>
            <a:ext cx="6324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a:extLst>
              <a:ext uri="{FF2B5EF4-FFF2-40B4-BE49-F238E27FC236}">
                <a16:creationId xmlns:a16="http://schemas.microsoft.com/office/drawing/2014/main" id="{0F91A8F7-13FF-4568-A6FD-25BF75C418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6412637"/>
            <a:ext cx="6400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5758832"/>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Trilateration</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75787"/>
            <a:ext cx="6299447" cy="4917088"/>
          </a:xfrm>
        </p:spPr>
        <p:txBody>
          <a:bodyPr>
            <a:normAutofit fontScale="77500" lnSpcReduction="20000"/>
          </a:bodyPr>
          <a:lstStyle/>
          <a:p>
            <a:pPr>
              <a:lnSpc>
                <a:spcPct val="140000"/>
              </a:lnSpc>
              <a:spcBef>
                <a:spcPts val="0"/>
              </a:spcBef>
            </a:pPr>
            <a:r>
              <a:rPr lang="en-US" altLang="zh-CN" dirty="0">
                <a:latin typeface="Arial" panose="020B0604020202020204" pitchFamily="34" charset="0"/>
                <a:cs typeface="Arial" panose="020B0604020202020204" pitchFamily="34" charset="0"/>
              </a:rPr>
              <a:t>Localization based on measured distances between a node and a number of anchor points with known locations</a:t>
            </a:r>
          </a:p>
          <a:p>
            <a:pPr>
              <a:lnSpc>
                <a:spcPct val="140000"/>
              </a:lnSpc>
              <a:spcBef>
                <a:spcPts val="0"/>
              </a:spcBef>
            </a:pPr>
            <a:r>
              <a:rPr lang="en-US" altLang="zh-CN" dirty="0">
                <a:latin typeface="Arial" panose="020B0604020202020204" pitchFamily="34" charset="0"/>
                <a:cs typeface="Arial" panose="020B0604020202020204" pitchFamily="34" charset="0"/>
              </a:rPr>
              <a:t>Basic concept: given the distance to an anchor, it is known that the node must be along the circumference of a circle centered at anchor and a radius equal to the node-anchor distance</a:t>
            </a:r>
          </a:p>
          <a:p>
            <a:pPr>
              <a:lnSpc>
                <a:spcPct val="140000"/>
              </a:lnSpc>
              <a:spcBef>
                <a:spcPts val="0"/>
              </a:spcBef>
            </a:pPr>
            <a:r>
              <a:rPr lang="en-US" altLang="zh-CN" dirty="0">
                <a:latin typeface="Arial" panose="020B0604020202020204" pitchFamily="34" charset="0"/>
                <a:cs typeface="Arial" panose="020B0604020202020204" pitchFamily="34" charset="0"/>
              </a:rPr>
              <a:t>In two-dimensional space, at least three non-collinear anchors are needed and in three-dimensional space, at least four non-coplanar anchors are needed</a:t>
            </a:r>
            <a:endParaRPr lang="zh-CN" altLang="en-US" dirty="0">
              <a:latin typeface="Arial" panose="020B0604020202020204" pitchFamily="34" charset="0"/>
              <a:cs typeface="Arial" panose="020B0604020202020204" pitchFamily="34" charset="0"/>
            </a:endParaRPr>
          </a:p>
        </p:txBody>
      </p:sp>
      <p:pic>
        <p:nvPicPr>
          <p:cNvPr id="6" name="Picture 2">
            <a:extLst>
              <a:ext uri="{FF2B5EF4-FFF2-40B4-BE49-F238E27FC236}">
                <a16:creationId xmlns:a16="http://schemas.microsoft.com/office/drawing/2014/main" id="{F5248D4B-4F8E-4E7A-9E0F-A188CEEB185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6280"/>
          <a:stretch/>
        </p:blipFill>
        <p:spPr bwMode="auto">
          <a:xfrm>
            <a:off x="7425420" y="1337372"/>
            <a:ext cx="3640607" cy="2995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a:extLst>
              <a:ext uri="{FF2B5EF4-FFF2-40B4-BE49-F238E27FC236}">
                <a16:creationId xmlns:a16="http://schemas.microsoft.com/office/drawing/2014/main" id="{EC444151-2DC0-4232-B9EC-C8EF10C150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495" b="11829"/>
          <a:stretch/>
        </p:blipFill>
        <p:spPr bwMode="auto">
          <a:xfrm>
            <a:off x="7854948" y="4034331"/>
            <a:ext cx="3354965" cy="264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2587028"/>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02814" y="628651"/>
                <a:ext cx="10926933" cy="4289578"/>
              </a:xfrm>
            </p:spPr>
            <p:txBody>
              <a:bodyPr>
                <a:noAutofit/>
              </a:bodyPr>
              <a:lstStyle/>
              <a:p>
                <a:r>
                  <a:rPr lang="en-US" altLang="zh-CN" sz="2400" dirty="0">
                    <a:latin typeface="Arial" panose="020B0604020202020204" pitchFamily="34" charset="0"/>
                    <a:cs typeface="Arial" panose="020B0604020202020204" pitchFamily="34" charset="0"/>
                  </a:rPr>
                  <a:t>n anchor nodes: </a:t>
                </a:r>
                <a14:m>
                  <m:oMath xmlns:m="http://schemas.openxmlformats.org/officeDocument/2006/math">
                    <m:sSub>
                      <m:sSubPr>
                        <m:ctrlPr>
                          <a:rPr lang="en-US" altLang="zh-CN" sz="2400" b="1" i="1">
                            <a:latin typeface="Cambria Math" panose="02040503050406030204" pitchFamily="18" charset="0"/>
                          </a:rPr>
                        </m:ctrlPr>
                      </m:sSubPr>
                      <m:e>
                        <m:r>
                          <m:rPr>
                            <m:nor/>
                          </m:rPr>
                          <a:rPr lang="en-US" altLang="zh-CN" sz="2400" b="1" dirty="0">
                            <a:latin typeface="Arial" panose="020B0604020202020204" pitchFamily="34" charset="0"/>
                            <a:cs typeface="Arial" panose="020B0604020202020204" pitchFamily="34" charset="0"/>
                          </a:rPr>
                          <m:t>x</m:t>
                        </m:r>
                      </m:e>
                      <m:sub>
                        <m:r>
                          <a:rPr lang="en-US" altLang="zh-CN" sz="2400" b="1" i="1" smtClean="0">
                            <a:latin typeface="Cambria Math"/>
                          </a:rPr>
                          <m:t>𝒊</m:t>
                        </m:r>
                      </m:sub>
                    </m:sSub>
                  </m:oMath>
                </a14:m>
                <a:r>
                  <a:rPr lang="en-US" altLang="zh-CN" sz="2400" dirty="0">
                    <a:latin typeface="Arial" panose="020B0604020202020204" pitchFamily="34" charset="0"/>
                    <a:cs typeface="Arial" panose="020B0604020202020204" pitchFamily="34" charset="0"/>
                  </a:rPr>
                  <a:t>=(</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𝑥</m:t>
                        </m:r>
                      </m:e>
                      <m:sub>
                        <m:r>
                          <a:rPr lang="en-US" altLang="zh-CN" sz="2400" i="1">
                            <a:latin typeface="Cambria Math"/>
                          </a:rPr>
                          <m:t>𝑖</m:t>
                        </m:r>
                      </m:sub>
                    </m:sSub>
                    <m:r>
                      <a:rPr lang="en-US" altLang="zh-CN" sz="2400" i="1">
                        <a:latin typeface="Cambria Math"/>
                      </a:rPr>
                      <m:t>,</m:t>
                    </m:r>
                    <m:sSub>
                      <m:sSubPr>
                        <m:ctrlPr>
                          <a:rPr lang="en-US" altLang="zh-CN" sz="2400" i="1">
                            <a:latin typeface="Cambria Math" panose="02040503050406030204" pitchFamily="18" charset="0"/>
                          </a:rPr>
                        </m:ctrlPr>
                      </m:sSubPr>
                      <m:e>
                        <m:r>
                          <a:rPr lang="en-US" altLang="zh-CN" sz="2400" i="1">
                            <a:latin typeface="Cambria Math"/>
                          </a:rPr>
                          <m:t>𝑦</m:t>
                        </m:r>
                      </m:e>
                      <m:sub>
                        <m:r>
                          <a:rPr lang="en-US" altLang="zh-CN" sz="2400" i="1">
                            <a:latin typeface="Cambria Math"/>
                          </a:rPr>
                          <m:t>𝑖</m:t>
                        </m:r>
                      </m:sub>
                    </m:sSub>
                  </m:oMath>
                </a14:m>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i</a:t>
                </a:r>
                <a:r>
                  <a:rPr lang="en-US" altLang="zh-CN" sz="2400" dirty="0">
                    <a:latin typeface="Arial" panose="020B0604020202020204" pitchFamily="34" charset="0"/>
                    <a:cs typeface="Arial" panose="020B0604020202020204" pitchFamily="34" charset="0"/>
                  </a:rPr>
                  <a:t>=1..n)</a:t>
                </a:r>
              </a:p>
              <a:p>
                <a:r>
                  <a:rPr lang="en-US" altLang="zh-CN" sz="2400" dirty="0">
                    <a:latin typeface="Arial" panose="020B0604020202020204" pitchFamily="34" charset="0"/>
                    <a:cs typeface="Arial" panose="020B0604020202020204" pitchFamily="34" charset="0"/>
                  </a:rPr>
                  <a:t>Unknown sensor location </a:t>
                </a:r>
                <a:r>
                  <a:rPr lang="en-US" altLang="zh-CN" sz="2400" b="1" dirty="0">
                    <a:latin typeface="Arial" panose="020B0604020202020204" pitchFamily="34" charset="0"/>
                    <a:cs typeface="Arial" panose="020B0604020202020204" pitchFamily="34" charset="0"/>
                  </a:rPr>
                  <a:t>x</a:t>
                </a:r>
                <a:r>
                  <a:rPr lang="en-US" altLang="zh-CN" sz="2400" dirty="0">
                    <a:latin typeface="Arial" panose="020B0604020202020204" pitchFamily="34" charset="0"/>
                    <a:cs typeface="Arial" panose="020B0604020202020204" pitchFamily="34" charset="0"/>
                  </a:rPr>
                  <a:t>=(</a:t>
                </a:r>
                <a:r>
                  <a:rPr lang="en-US" altLang="zh-CN" sz="2400" dirty="0" err="1">
                    <a:latin typeface="Arial" panose="020B0604020202020204" pitchFamily="34" charset="0"/>
                    <a:cs typeface="Arial" panose="020B0604020202020204" pitchFamily="34" charset="0"/>
                  </a:rPr>
                  <a:t>x,y</a:t>
                </a:r>
                <a:r>
                  <a:rPr lang="en-US" altLang="zh-CN" sz="2400" dirty="0">
                    <a:latin typeface="Arial" panose="020B0604020202020204" pitchFamily="34" charset="0"/>
                    <a:cs typeface="Arial" panose="020B0604020202020204" pitchFamily="34" charset="0"/>
                  </a:rPr>
                  <a:t>)</a:t>
                </a:r>
              </a:p>
              <a:p>
                <a:r>
                  <a:rPr lang="en-US" altLang="zh-CN" sz="2400" dirty="0">
                    <a:latin typeface="Arial" panose="020B0604020202020204" pitchFamily="34" charset="0"/>
                    <a:cs typeface="Arial" panose="020B0604020202020204" pitchFamily="34" charset="0"/>
                  </a:rPr>
                  <a:t>Distances between sensor and anchors known (</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a:rPr>
                          <m:t>𝑟</m:t>
                        </m:r>
                      </m:e>
                      <m:sub>
                        <m:r>
                          <a:rPr lang="en-US" altLang="zh-CN" sz="2400" i="1">
                            <a:latin typeface="Cambria Math"/>
                          </a:rPr>
                          <m:t>𝑖</m:t>
                        </m:r>
                      </m:sub>
                    </m:sSub>
                  </m:oMath>
                </a14:m>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i</a:t>
                </a:r>
                <a:r>
                  <a:rPr lang="en-US" altLang="zh-CN" sz="2400" dirty="0">
                    <a:latin typeface="Arial" panose="020B0604020202020204" pitchFamily="34" charset="0"/>
                    <a:cs typeface="Arial" panose="020B0604020202020204" pitchFamily="34" charset="0"/>
                  </a:rPr>
                  <a:t>=1..n)</a:t>
                </a:r>
              </a:p>
              <a:p>
                <a:r>
                  <a:rPr lang="en-US" altLang="zh-CN" sz="2400" dirty="0">
                    <a:latin typeface="Arial" panose="020B0604020202020204" pitchFamily="34" charset="0"/>
                    <a:cs typeface="Arial" panose="020B0604020202020204" pitchFamily="34" charset="0"/>
                  </a:rPr>
                  <a:t>Relationships between anchor/sensor positions and distances (2 dimensions):</a:t>
                </a:r>
              </a:p>
              <a:p>
                <a:endParaRPr lang="en-US" altLang="zh-CN" sz="2400" dirty="0">
                  <a:latin typeface="Arial" panose="020B0604020202020204" pitchFamily="34" charset="0"/>
                  <a:cs typeface="Arial" panose="020B0604020202020204" pitchFamily="34" charset="0"/>
                </a:endParaRPr>
              </a:p>
              <a:p>
                <a:endParaRPr lang="en-US" altLang="zh-CN" sz="2400" dirty="0">
                  <a:latin typeface="Arial" panose="020B0604020202020204" pitchFamily="34" charset="0"/>
                  <a:cs typeface="Arial" panose="020B0604020202020204" pitchFamily="34" charset="0"/>
                </a:endParaRPr>
              </a:p>
              <a:p>
                <a:endParaRPr lang="en-US" altLang="zh-CN" sz="2400" dirty="0">
                  <a:latin typeface="Arial" panose="020B0604020202020204" pitchFamily="34" charset="0"/>
                  <a:cs typeface="Arial" panose="020B0604020202020204" pitchFamily="34" charset="0"/>
                </a:endParaRPr>
              </a:p>
              <a:p>
                <a:pPr marL="0" indent="0">
                  <a:buNone/>
                </a:pPr>
                <a:endParaRPr lang="en-US" altLang="zh-CN" sz="2400" dirty="0">
                  <a:latin typeface="Arial" panose="020B0604020202020204" pitchFamily="34" charset="0"/>
                  <a:cs typeface="Arial" panose="020B0604020202020204" pitchFamily="34" charset="0"/>
                </a:endParaRPr>
              </a:p>
              <a:p>
                <a:r>
                  <a:rPr lang="en-US" altLang="zh-CN" sz="2400" dirty="0">
                    <a:latin typeface="Arial" panose="020B0604020202020204" pitchFamily="34" charset="0"/>
                    <a:cs typeface="Arial" panose="020B0604020202020204" pitchFamily="34" charset="0"/>
                  </a:rPr>
                  <a:t>This can be represented as A</a:t>
                </a:r>
                <a:r>
                  <a:rPr lang="en-US" altLang="zh-CN" sz="2400" b="1" dirty="0">
                    <a:latin typeface="Arial" panose="020B0604020202020204" pitchFamily="34" charset="0"/>
                    <a:cs typeface="Arial" panose="020B0604020202020204" pitchFamily="34" charset="0"/>
                  </a:rPr>
                  <a:t>x</a:t>
                </a:r>
                <a:r>
                  <a:rPr lang="en-US" altLang="zh-CN" sz="2400" dirty="0">
                    <a:latin typeface="Arial" panose="020B0604020202020204" pitchFamily="34" charset="0"/>
                    <a:cs typeface="Arial" panose="020B0604020202020204" pitchFamily="34" charset="0"/>
                  </a:rPr>
                  <a:t>=b with:</a:t>
                </a:r>
              </a:p>
              <a:p>
                <a:endParaRPr lang="en-US" altLang="zh-CN" sz="2400" dirty="0">
                  <a:latin typeface="Arial" panose="020B0604020202020204" pitchFamily="34" charset="0"/>
                  <a:cs typeface="Arial" panose="020B0604020202020204" pitchFamily="34" charset="0"/>
                </a:endParaRPr>
              </a:p>
              <a:p>
                <a:endParaRPr lang="en-US" altLang="zh-CN" sz="2400" dirty="0">
                  <a:latin typeface="Arial" panose="020B0604020202020204" pitchFamily="34" charset="0"/>
                  <a:cs typeface="Arial" panose="020B0604020202020204" pitchFamily="34" charset="0"/>
                </a:endParaRPr>
              </a:p>
              <a:p>
                <a:endParaRPr lang="en-US" altLang="zh-CN" sz="2400" dirty="0">
                  <a:latin typeface="Arial" panose="020B0604020202020204" pitchFamily="34" charset="0"/>
                  <a:cs typeface="Arial" panose="020B0604020202020204" pitchFamily="34" charset="0"/>
                </a:endParaRPr>
              </a:p>
              <a:p>
                <a:endParaRPr lang="zh-CN" altLang="en-US" sz="2400" dirty="0">
                  <a:latin typeface="Arial" panose="020B0604020202020204" pitchFamily="34" charset="0"/>
                  <a:cs typeface="Arial" panose="020B0604020202020204" pitchFamily="34"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702814" y="628651"/>
                <a:ext cx="10926933" cy="4289578"/>
              </a:xfrm>
              <a:blipFill>
                <a:blip r:embed="rId2"/>
                <a:stretch>
                  <a:fillRect l="-725" t="-1847" r="-892"/>
                </a:stretch>
              </a:blipFill>
            </p:spPr>
            <p:txBody>
              <a:bodyPr/>
              <a:lstStyle/>
              <a:p>
                <a:r>
                  <a:rPr lang="zh-CN" altLang="en-US">
                    <a:noFill/>
                  </a:rPr>
                  <a:t> </a:t>
                </a:r>
              </a:p>
            </p:txBody>
          </p:sp>
        </mc:Fallback>
      </mc:AlternateContent>
      <p:pic>
        <p:nvPicPr>
          <p:cNvPr id="5" name="Picture 2">
            <a:extLst>
              <a:ext uri="{FF2B5EF4-FFF2-40B4-BE49-F238E27FC236}">
                <a16:creationId xmlns:a16="http://schemas.microsoft.com/office/drawing/2014/main" id="{56DF51B3-D3F7-40EC-BBC8-49C4B3F9AE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7966" y="2374222"/>
            <a:ext cx="3419475"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a:extLst>
              <a:ext uri="{FF2B5EF4-FFF2-40B4-BE49-F238E27FC236}">
                <a16:creationId xmlns:a16="http://schemas.microsoft.com/office/drawing/2014/main" id="{3860318C-0402-4437-80F6-8FD340C30E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780625"/>
            <a:ext cx="8063532"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1520257"/>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Trilateration</a:t>
            </a:r>
            <a:r>
              <a:rPr lang="en-US" altLang="zh-CN" dirty="0">
                <a:latin typeface="Arial" panose="020B0604020202020204" pitchFamily="34" charset="0"/>
                <a:cs typeface="Arial" panose="020B0604020202020204" pitchFamily="34" charset="0"/>
              </a:rPr>
              <a:t> </a:t>
            </a:r>
            <a:endParaRPr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558031"/>
                <a:ext cx="10515600" cy="5299969"/>
              </a:xfrm>
            </p:spPr>
            <p:txBody>
              <a:bodyPr>
                <a:normAutofit fontScale="77500" lnSpcReduction="20000"/>
              </a:bodyPr>
              <a:lstStyle/>
              <a:p>
                <a:pPr>
                  <a:lnSpc>
                    <a:spcPct val="140000"/>
                  </a:lnSpc>
                  <a:spcBef>
                    <a:spcPts val="0"/>
                  </a:spcBef>
                </a:pPr>
                <a:r>
                  <a:rPr lang="en-US" altLang="zh-CN" dirty="0">
                    <a:latin typeface="Arial" panose="020B0604020202020204" pitchFamily="34" charset="0"/>
                    <a:cs typeface="Arial" panose="020B0604020202020204" pitchFamily="34" charset="0"/>
                  </a:rPr>
                  <a:t>Based on this least squares system, we can obtain estimation of position (</a:t>
                </a:r>
                <a:r>
                  <a:rPr lang="en-US" altLang="zh-CN" dirty="0" err="1">
                    <a:latin typeface="Arial" panose="020B0604020202020204" pitchFamily="34" charset="0"/>
                    <a:cs typeface="Arial" panose="020B0604020202020204" pitchFamily="34" charset="0"/>
                  </a:rPr>
                  <a:t>x,y</a:t>
                </a:r>
                <a:r>
                  <a:rPr lang="en-US" altLang="zh-CN" dirty="0">
                    <a:latin typeface="Arial" panose="020B0604020202020204" pitchFamily="34" charset="0"/>
                    <a:cs typeface="Arial" panose="020B0604020202020204" pitchFamily="34" charset="0"/>
                  </a:rPr>
                  <a:t>) using </a:t>
                </a:r>
                <a:r>
                  <a:rPr lang="en-US" altLang="zh-CN" b="1" dirty="0">
                    <a:latin typeface="Arial" panose="020B0604020202020204" pitchFamily="34" charset="0"/>
                    <a:cs typeface="Arial" panose="020B0604020202020204" pitchFamily="34" charset="0"/>
                  </a:rPr>
                  <a:t>x</a:t>
                </a:r>
                <a:r>
                  <a:rPr lang="en-US" altLang="zh-CN" dirty="0">
                    <a:latin typeface="Arial" panose="020B0604020202020204" pitchFamily="34" charset="0"/>
                    <a:cs typeface="Arial" panose="020B0604020202020204" pitchFamily="34" charset="0"/>
                  </a:rPr>
                  <a:t>=</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a:rPr>
                          <m:t>(</m:t>
                        </m:r>
                        <m:sSup>
                          <m:sSupPr>
                            <m:ctrlPr>
                              <a:rPr lang="en-US" altLang="zh-CN" i="1" smtClean="0">
                                <a:latin typeface="Cambria Math" panose="02040503050406030204" pitchFamily="18" charset="0"/>
                              </a:rPr>
                            </m:ctrlPr>
                          </m:sSupPr>
                          <m:e>
                            <m:r>
                              <a:rPr lang="en-US" altLang="zh-CN" b="0" i="1" smtClean="0">
                                <a:latin typeface="Cambria Math"/>
                              </a:rPr>
                              <m:t>𝐴</m:t>
                            </m:r>
                          </m:e>
                          <m:sup>
                            <m:r>
                              <a:rPr lang="en-US" altLang="zh-CN" b="0" i="1" smtClean="0">
                                <a:latin typeface="Cambria Math"/>
                              </a:rPr>
                              <m:t>𝑇</m:t>
                            </m:r>
                          </m:sup>
                        </m:sSup>
                        <m:r>
                          <a:rPr lang="en-US" altLang="zh-CN" b="0" i="1" smtClean="0">
                            <a:latin typeface="Cambria Math"/>
                          </a:rPr>
                          <m:t>𝐴</m:t>
                        </m:r>
                        <m:r>
                          <a:rPr lang="en-US" altLang="zh-CN" b="0" i="1" smtClean="0">
                            <a:latin typeface="Cambria Math"/>
                          </a:rPr>
                          <m:t>)</m:t>
                        </m:r>
                      </m:e>
                      <m:sup>
                        <m:r>
                          <a:rPr lang="en-US" altLang="zh-CN" b="0" i="1" smtClean="0">
                            <a:latin typeface="Cambria Math"/>
                          </a:rPr>
                          <m:t>−</m:t>
                        </m:r>
                        <m:r>
                          <a:rPr lang="en-US" altLang="zh-CN" b="0" i="1" smtClean="0">
                            <a:latin typeface="Cambria Math"/>
                          </a:rPr>
                          <m:t>1</m:t>
                        </m:r>
                      </m:sup>
                    </m:sSup>
                    <m:sSup>
                      <m:sSupPr>
                        <m:ctrlPr>
                          <a:rPr lang="en-US" altLang="zh-CN" i="1" smtClean="0">
                            <a:latin typeface="Cambria Math" panose="02040503050406030204" pitchFamily="18" charset="0"/>
                          </a:rPr>
                        </m:ctrlPr>
                      </m:sSupPr>
                      <m:e>
                        <m:r>
                          <a:rPr lang="en-US" altLang="zh-CN" b="0" i="1" smtClean="0">
                            <a:latin typeface="Cambria Math"/>
                          </a:rPr>
                          <m:t>𝐴</m:t>
                        </m:r>
                      </m:e>
                      <m:sup>
                        <m:r>
                          <a:rPr lang="en-US" altLang="zh-CN" b="0" i="1" smtClean="0">
                            <a:latin typeface="Cambria Math"/>
                          </a:rPr>
                          <m:t>𝑇</m:t>
                        </m:r>
                      </m:sup>
                    </m:sSup>
                    <m:r>
                      <a:rPr lang="en-US" altLang="zh-CN" b="0" i="1" smtClean="0">
                        <a:latin typeface="Cambria Math"/>
                      </a:rPr>
                      <m:t>𝑏</m:t>
                    </m:r>
                  </m:oMath>
                </a14:m>
                <a:endParaRPr lang="en-US" altLang="zh-CN" dirty="0">
                  <a:latin typeface="Arial" panose="020B0604020202020204" pitchFamily="34" charset="0"/>
                  <a:cs typeface="Arial" panose="020B0604020202020204" pitchFamily="34" charset="0"/>
                </a:endParaRPr>
              </a:p>
              <a:p>
                <a:pPr>
                  <a:lnSpc>
                    <a:spcPct val="140000"/>
                  </a:lnSpc>
                  <a:spcBef>
                    <a:spcPts val="0"/>
                  </a:spcBef>
                </a:pPr>
                <a:r>
                  <a:rPr lang="en-US" altLang="zh-CN" dirty="0">
                    <a:latin typeface="Arial" panose="020B0604020202020204" pitchFamily="34" charset="0"/>
                    <a:cs typeface="Arial" panose="020B0604020202020204" pitchFamily="34" charset="0"/>
                  </a:rPr>
                  <a:t>Anchor positions and distance measurements are inaccurate, therefore, if they are based on Gaussian distributions, we can assign a weight to each equation </a:t>
                </a:r>
                <a:r>
                  <a:rPr lang="en-US" altLang="zh-CN" i="1" dirty="0">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a:t>
                </a:r>
              </a:p>
              <a:p>
                <a:pPr marL="0" indent="0" algn="ctr">
                  <a:lnSpc>
                    <a:spcPct val="140000"/>
                  </a:lnSpc>
                  <a:spcBef>
                    <a:spcPts val="0"/>
                  </a:spcBef>
                  <a:buNone/>
                </a:pP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a:rPr>
                          <m:t>𝑤</m:t>
                        </m:r>
                      </m:e>
                      <m:sub>
                        <m:r>
                          <a:rPr lang="en-US" altLang="zh-CN" b="0" i="1" smtClean="0">
                            <a:latin typeface="Cambria Math"/>
                          </a:rPr>
                          <m:t>𝑖</m:t>
                        </m:r>
                      </m:sub>
                    </m:sSub>
                    <m:r>
                      <a:rPr lang="en-US" altLang="zh-CN" b="0" i="1" smtClean="0">
                        <a:latin typeface="Cambria Math"/>
                      </a:rPr>
                      <m:t>=</m:t>
                    </m:r>
                    <m:r>
                      <a:rPr lang="en-US" altLang="zh-CN" b="0" i="1" smtClean="0">
                        <a:latin typeface="Cambria Math"/>
                      </a:rPr>
                      <m:t>1</m:t>
                    </m:r>
                    <m:r>
                      <a:rPr lang="en-US" altLang="zh-CN" b="0" i="1" smtClean="0">
                        <a:latin typeface="Cambria Math"/>
                      </a:rPr>
                      <m:t>/</m:t>
                    </m:r>
                    <m:rad>
                      <m:radPr>
                        <m:degHide m:val="on"/>
                        <m:ctrlPr>
                          <a:rPr lang="en-US" altLang="zh-CN" b="0" i="1" smtClean="0">
                            <a:latin typeface="Cambria Math" panose="02040503050406030204" pitchFamily="18" charset="0"/>
                          </a:rPr>
                        </m:ctrlPr>
                      </m:radPr>
                      <m:deg/>
                      <m:e>
                        <m:sSub>
                          <m:sSubPr>
                            <m:ctrlPr>
                              <a:rPr lang="en-US" altLang="zh-CN" b="0" i="1" smtClean="0">
                                <a:latin typeface="Cambria Math" panose="02040503050406030204" pitchFamily="18" charset="0"/>
                              </a:rPr>
                            </m:ctrlPr>
                          </m:sSubPr>
                          <m:e>
                            <m:sSup>
                              <m:sSupPr>
                                <m:ctrlPr>
                                  <a:rPr lang="en-US" altLang="zh-CN" b="0" i="1" smtClean="0">
                                    <a:latin typeface="Cambria Math" panose="02040503050406030204" pitchFamily="18" charset="0"/>
                                  </a:rPr>
                                </m:ctrlPr>
                              </m:sSupPr>
                              <m:e>
                                <m:r>
                                  <a:rPr lang="zh-CN" altLang="en-US" b="0" i="1" smtClean="0">
                                    <a:latin typeface="Cambria Math"/>
                                  </a:rPr>
                                  <m:t>𝜎</m:t>
                                </m:r>
                              </m:e>
                              <m:sup>
                                <m:r>
                                  <a:rPr lang="en-US" altLang="zh-CN" b="0" i="1" smtClean="0">
                                    <a:latin typeface="Cambria Math"/>
                                  </a:rPr>
                                  <m:t>2</m:t>
                                </m:r>
                              </m:sup>
                            </m:sSup>
                          </m:e>
                          <m:sub>
                            <m:sSub>
                              <m:sSubPr>
                                <m:ctrlPr>
                                  <a:rPr lang="en-US" altLang="zh-CN" b="0" i="1" smtClean="0">
                                    <a:latin typeface="Cambria Math" panose="02040503050406030204" pitchFamily="18" charset="0"/>
                                  </a:rPr>
                                </m:ctrlPr>
                              </m:sSubPr>
                              <m:e>
                                <m:r>
                                  <a:rPr lang="en-US" altLang="zh-CN" b="0" i="1" smtClean="0">
                                    <a:latin typeface="Cambria Math"/>
                                  </a:rPr>
                                  <m:t>𝑑𝑖𝑠𝑡𝑎𝑛𝑐𝑒</m:t>
                                </m:r>
                              </m:e>
                              <m:sub>
                                <m:r>
                                  <a:rPr lang="en-US" altLang="zh-CN" b="0" i="1" smtClean="0">
                                    <a:latin typeface="Cambria Math"/>
                                  </a:rPr>
                                  <m:t>𝑖</m:t>
                                </m:r>
                              </m:sub>
                            </m:sSub>
                          </m:sub>
                        </m:sSub>
                        <m:r>
                          <a:rPr lang="en-US" altLang="zh-CN" b="0" i="1" smtClean="0">
                            <a:latin typeface="Cambria Math"/>
                          </a:rPr>
                          <m:t>+</m:t>
                        </m:r>
                        <m:sSub>
                          <m:sSubPr>
                            <m:ctrlPr>
                              <a:rPr lang="en-US" altLang="zh-CN" b="0" i="1" smtClean="0">
                                <a:latin typeface="Cambria Math" panose="02040503050406030204" pitchFamily="18" charset="0"/>
                              </a:rPr>
                            </m:ctrlPr>
                          </m:sSubPr>
                          <m:e>
                            <m:sSup>
                              <m:sSupPr>
                                <m:ctrlPr>
                                  <a:rPr lang="en-US" altLang="zh-CN" b="0" i="1" smtClean="0">
                                    <a:latin typeface="Cambria Math" panose="02040503050406030204" pitchFamily="18" charset="0"/>
                                  </a:rPr>
                                </m:ctrlPr>
                              </m:sSupPr>
                              <m:e>
                                <m:r>
                                  <a:rPr lang="zh-CN" altLang="en-US" b="0" i="1" smtClean="0">
                                    <a:latin typeface="Cambria Math"/>
                                  </a:rPr>
                                  <m:t>𝜎</m:t>
                                </m:r>
                              </m:e>
                              <m:sup>
                                <m:r>
                                  <a:rPr lang="en-US" altLang="zh-CN" b="0" i="1" smtClean="0">
                                    <a:latin typeface="Cambria Math"/>
                                  </a:rPr>
                                  <m:t>2</m:t>
                                </m:r>
                              </m:sup>
                            </m:sSup>
                          </m:e>
                          <m:sub>
                            <m:sSub>
                              <m:sSubPr>
                                <m:ctrlPr>
                                  <a:rPr lang="en-US" altLang="zh-CN" b="0" i="1" smtClean="0">
                                    <a:latin typeface="Cambria Math" panose="02040503050406030204" pitchFamily="18" charset="0"/>
                                  </a:rPr>
                                </m:ctrlPr>
                              </m:sSubPr>
                              <m:e>
                                <m:r>
                                  <a:rPr lang="en-US" altLang="zh-CN" b="0" i="1" smtClean="0">
                                    <a:latin typeface="Cambria Math"/>
                                  </a:rPr>
                                  <m:t>𝑝𝑜𝑠𝑖𝑡𝑖𝑜𝑛</m:t>
                                </m:r>
                              </m:e>
                              <m:sub>
                                <m:r>
                                  <a:rPr lang="en-US" altLang="zh-CN" b="0" i="1" smtClean="0">
                                    <a:latin typeface="Cambria Math"/>
                                  </a:rPr>
                                  <m:t>𝑖</m:t>
                                </m:r>
                              </m:sub>
                            </m:sSub>
                          </m:sub>
                        </m:sSub>
                      </m:e>
                    </m:rad>
                  </m:oMath>
                </a14:m>
                <a:r>
                  <a:rPr lang="zh-CN" altLang="en-US" dirty="0">
                    <a:latin typeface="Arial" panose="020B0604020202020204" pitchFamily="34" charset="0"/>
                    <a:cs typeface="Arial" panose="020B0604020202020204" pitchFamily="34" charset="0"/>
                  </a:rPr>
                  <a:t>      </a:t>
                </a:r>
                <a14:m>
                  <m:oMath xmlns:m="http://schemas.openxmlformats.org/officeDocument/2006/math">
                    <m:sSub>
                      <m:sSubPr>
                        <m:ctrlPr>
                          <a:rPr lang="en-US" altLang="zh-CN" i="1" dirty="0" smtClean="0">
                            <a:latin typeface="Cambria Math" panose="02040503050406030204" pitchFamily="18" charset="0"/>
                          </a:rPr>
                        </m:ctrlPr>
                      </m:sSubPr>
                      <m:e>
                        <m:sSup>
                          <m:sSupPr>
                            <m:ctrlPr>
                              <a:rPr lang="en-US" altLang="zh-CN" i="1" dirty="0" smtClean="0">
                                <a:latin typeface="Cambria Math" panose="02040503050406030204" pitchFamily="18" charset="0"/>
                              </a:rPr>
                            </m:ctrlPr>
                          </m:sSupPr>
                          <m:e>
                            <m:r>
                              <a:rPr lang="zh-CN" altLang="en-US" i="1" dirty="0" smtClean="0">
                                <a:latin typeface="Cambria Math"/>
                              </a:rPr>
                              <m:t>𝜎</m:t>
                            </m:r>
                          </m:e>
                          <m:sup>
                            <m:r>
                              <a:rPr lang="en-US" altLang="zh-CN" b="0" i="1" dirty="0" smtClean="0">
                                <a:latin typeface="Cambria Math"/>
                              </a:rPr>
                              <m:t>2</m:t>
                            </m:r>
                          </m:sup>
                        </m:sSup>
                      </m:e>
                      <m:sub>
                        <m:sSub>
                          <m:sSubPr>
                            <m:ctrlPr>
                              <a:rPr lang="en-US" altLang="zh-CN" i="1" dirty="0" smtClean="0">
                                <a:latin typeface="Cambria Math" panose="02040503050406030204" pitchFamily="18" charset="0"/>
                              </a:rPr>
                            </m:ctrlPr>
                          </m:sSubPr>
                          <m:e>
                            <m:r>
                              <a:rPr lang="en-US" altLang="zh-CN" b="0" i="1" dirty="0" smtClean="0">
                                <a:latin typeface="Cambria Math"/>
                              </a:rPr>
                              <m:t>𝑝𝑜𝑠𝑖𝑡𝑖𝑜𝑛</m:t>
                            </m:r>
                          </m:e>
                          <m:sub>
                            <m:r>
                              <a:rPr lang="en-US" altLang="zh-CN" b="0" i="1" dirty="0" smtClean="0">
                                <a:latin typeface="Cambria Math"/>
                              </a:rPr>
                              <m:t>𝑖</m:t>
                            </m:r>
                          </m:sub>
                        </m:sSub>
                      </m:sub>
                    </m:sSub>
                    <m:r>
                      <a:rPr lang="en-US" altLang="zh-CN" b="0" i="1" dirty="0" smtClean="0">
                        <a:latin typeface="Cambria Math"/>
                      </a:rPr>
                      <m:t>=</m:t>
                    </m:r>
                    <m:sSup>
                      <m:sSupPr>
                        <m:ctrlPr>
                          <a:rPr lang="en-US" altLang="zh-CN" b="0" i="1" dirty="0" smtClean="0">
                            <a:latin typeface="Cambria Math" panose="02040503050406030204" pitchFamily="18" charset="0"/>
                          </a:rPr>
                        </m:ctrlPr>
                      </m:sSupPr>
                      <m:e>
                        <m:sSub>
                          <m:sSubPr>
                            <m:ctrlPr>
                              <a:rPr lang="en-US" altLang="zh-CN" b="0" i="1" dirty="0" smtClean="0">
                                <a:latin typeface="Cambria Math" panose="02040503050406030204" pitchFamily="18" charset="0"/>
                              </a:rPr>
                            </m:ctrlPr>
                          </m:sSubPr>
                          <m:e>
                            <m:r>
                              <a:rPr lang="zh-CN" altLang="en-US" b="0" i="1" dirty="0" smtClean="0">
                                <a:latin typeface="Cambria Math"/>
                              </a:rPr>
                              <m:t>𝜎</m:t>
                            </m:r>
                          </m:e>
                          <m:sub>
                            <m:r>
                              <a:rPr lang="en-US" altLang="zh-CN" b="0" i="1" dirty="0" smtClean="0">
                                <a:latin typeface="Cambria Math"/>
                              </a:rPr>
                              <m:t>𝑥𝑖</m:t>
                            </m:r>
                          </m:sub>
                        </m:sSub>
                      </m:e>
                      <m:sup>
                        <m:r>
                          <a:rPr lang="en-US" altLang="zh-CN" b="0" i="1" dirty="0" smtClean="0">
                            <a:latin typeface="Cambria Math"/>
                          </a:rPr>
                          <m:t>2</m:t>
                        </m:r>
                      </m:sup>
                    </m:sSup>
                    <m:r>
                      <a:rPr lang="en-US" altLang="zh-CN" b="0" i="1" dirty="0" smtClean="0">
                        <a:latin typeface="Cambria Math"/>
                      </a:rPr>
                      <m:t>+</m:t>
                    </m:r>
                    <m:sSup>
                      <m:sSupPr>
                        <m:ctrlPr>
                          <a:rPr lang="en-US" altLang="zh-CN" b="0" i="1" dirty="0" smtClean="0">
                            <a:latin typeface="Cambria Math" panose="02040503050406030204" pitchFamily="18" charset="0"/>
                          </a:rPr>
                        </m:ctrlPr>
                      </m:sSupPr>
                      <m:e>
                        <m:sSub>
                          <m:sSubPr>
                            <m:ctrlPr>
                              <a:rPr lang="en-US" altLang="zh-CN" b="0" i="1" dirty="0" smtClean="0">
                                <a:latin typeface="Cambria Math" panose="02040503050406030204" pitchFamily="18" charset="0"/>
                              </a:rPr>
                            </m:ctrlPr>
                          </m:sSubPr>
                          <m:e>
                            <m:r>
                              <a:rPr lang="zh-CN" altLang="en-US" b="0" i="1" dirty="0" smtClean="0">
                                <a:latin typeface="Cambria Math"/>
                              </a:rPr>
                              <m:t>𝜎</m:t>
                            </m:r>
                          </m:e>
                          <m:sub>
                            <m:r>
                              <a:rPr lang="en-US" altLang="zh-CN" b="0" i="1" dirty="0" smtClean="0">
                                <a:latin typeface="Cambria Math"/>
                              </a:rPr>
                              <m:t>𝑦𝑖</m:t>
                            </m:r>
                          </m:sub>
                        </m:sSub>
                      </m:e>
                      <m:sup>
                        <m:r>
                          <a:rPr lang="en-US" altLang="zh-CN" b="0" i="1" dirty="0" smtClean="0">
                            <a:latin typeface="Cambria Math"/>
                          </a:rPr>
                          <m:t>2</m:t>
                        </m:r>
                      </m:sup>
                    </m:sSup>
                  </m:oMath>
                </a14:m>
                <a:endParaRPr lang="en-US" altLang="zh-CN" dirty="0">
                  <a:latin typeface="Arial" panose="020B0604020202020204" pitchFamily="34" charset="0"/>
                  <a:cs typeface="Arial" panose="020B0604020202020204" pitchFamily="34" charset="0"/>
                </a:endParaRPr>
              </a:p>
              <a:p>
                <a:pPr>
                  <a:lnSpc>
                    <a:spcPct val="140000"/>
                  </a:lnSpc>
                  <a:spcBef>
                    <a:spcPts val="0"/>
                  </a:spcBef>
                </a:pPr>
                <a:r>
                  <a:rPr lang="en-US" altLang="zh-CN" dirty="0">
                    <a:latin typeface="Arial" panose="020B0604020202020204" pitchFamily="34" charset="0"/>
                    <a:cs typeface="Arial" panose="020B0604020202020204" pitchFamily="34" charset="0"/>
                  </a:rPr>
                  <a:t>The least squares system is then again </a:t>
                </a:r>
                <a:r>
                  <a:rPr lang="en-US" altLang="zh-CN" b="1" dirty="0">
                    <a:latin typeface="Arial" panose="020B0604020202020204" pitchFamily="34" charset="0"/>
                    <a:cs typeface="Arial" panose="020B0604020202020204" pitchFamily="34" charset="0"/>
                  </a:rPr>
                  <a:t>Ax</a:t>
                </a:r>
                <a:r>
                  <a:rPr lang="en-US" altLang="zh-CN" dirty="0">
                    <a:latin typeface="Arial" panose="020B0604020202020204" pitchFamily="34" charset="0"/>
                    <a:cs typeface="Arial" panose="020B0604020202020204" pitchFamily="34" charset="0"/>
                  </a:rPr>
                  <a:t>=b with:</a:t>
                </a:r>
              </a:p>
              <a:p>
                <a:pPr>
                  <a:lnSpc>
                    <a:spcPct val="140000"/>
                  </a:lnSpc>
                  <a:spcBef>
                    <a:spcPts val="0"/>
                  </a:spcBef>
                </a:pPr>
                <a:endParaRPr lang="en-US" altLang="zh-CN" dirty="0">
                  <a:latin typeface="Arial" panose="020B0604020202020204" pitchFamily="34" charset="0"/>
                  <a:cs typeface="Arial" panose="020B0604020202020204" pitchFamily="34" charset="0"/>
                </a:endParaRPr>
              </a:p>
              <a:p>
                <a:pPr>
                  <a:lnSpc>
                    <a:spcPct val="140000"/>
                  </a:lnSpc>
                  <a:spcBef>
                    <a:spcPts val="0"/>
                  </a:spcBef>
                </a:pPr>
                <a:endParaRPr lang="en-US" altLang="zh-CN" dirty="0">
                  <a:latin typeface="Arial" panose="020B0604020202020204" pitchFamily="34" charset="0"/>
                  <a:cs typeface="Arial" panose="020B0604020202020204" pitchFamily="34" charset="0"/>
                </a:endParaRPr>
              </a:p>
              <a:p>
                <a:pPr>
                  <a:lnSpc>
                    <a:spcPct val="140000"/>
                  </a:lnSpc>
                  <a:spcBef>
                    <a:spcPts val="0"/>
                  </a:spcBef>
                </a:pPr>
                <a:endParaRPr lang="en-US" altLang="zh-CN" dirty="0">
                  <a:latin typeface="Arial" panose="020B0604020202020204" pitchFamily="34" charset="0"/>
                  <a:cs typeface="Arial" panose="020B0604020202020204" pitchFamily="34" charset="0"/>
                </a:endParaRPr>
              </a:p>
              <a:p>
                <a:pPr marL="0" indent="0">
                  <a:lnSpc>
                    <a:spcPct val="140000"/>
                  </a:lnSpc>
                  <a:spcBef>
                    <a:spcPts val="0"/>
                  </a:spcBef>
                  <a:buNone/>
                </a:pPr>
                <a:endParaRPr lang="en-US" altLang="zh-CN" dirty="0">
                  <a:latin typeface="Arial" panose="020B0604020202020204" pitchFamily="34" charset="0"/>
                  <a:cs typeface="Arial" panose="020B0604020202020204" pitchFamily="34" charset="0"/>
                </a:endParaRPr>
              </a:p>
              <a:p>
                <a:pPr>
                  <a:lnSpc>
                    <a:spcPct val="140000"/>
                  </a:lnSpc>
                  <a:spcBef>
                    <a:spcPts val="0"/>
                  </a:spcBef>
                </a:pPr>
                <a:r>
                  <a:rPr lang="en-US" altLang="zh-CN" dirty="0">
                    <a:latin typeface="Arial" panose="020B0604020202020204" pitchFamily="34" charset="0"/>
                    <a:cs typeface="Arial" panose="020B0604020202020204" pitchFamily="34" charset="0"/>
                  </a:rPr>
                  <a:t>The covariance matrix of x is then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a:rPr>
                          <m:t>𝐶𝑜𝑣</m:t>
                        </m:r>
                      </m:e>
                      <m:sub>
                        <m:r>
                          <a:rPr lang="en-US" altLang="zh-CN" b="0" i="1" smtClean="0">
                            <a:latin typeface="Cambria Math"/>
                          </a:rPr>
                          <m:t>𝑥</m:t>
                        </m:r>
                      </m:sub>
                    </m:sSub>
                    <m:r>
                      <a:rPr lang="en-US" altLang="zh-CN" b="0" i="1" smtClean="0">
                        <a:latin typeface="Cambria Math"/>
                      </a:rPr>
                      <m:t>=</m:t>
                    </m:r>
                    <m:sSup>
                      <m:sSupPr>
                        <m:ctrlPr>
                          <a:rPr lang="en-US" altLang="zh-CN" b="0" i="1" smtClean="0">
                            <a:latin typeface="Cambria Math" panose="02040503050406030204" pitchFamily="18" charset="0"/>
                          </a:rPr>
                        </m:ctrlPr>
                      </m:sSupPr>
                      <m:e>
                        <m:r>
                          <a:rPr lang="en-US" altLang="zh-CN" b="0" i="1" smtClean="0">
                            <a:latin typeface="Cambria Math"/>
                          </a:rPr>
                          <m:t>(</m:t>
                        </m:r>
                        <m:sSup>
                          <m:sSupPr>
                            <m:ctrlPr>
                              <a:rPr lang="en-US" altLang="zh-CN" b="0" i="1" smtClean="0">
                                <a:latin typeface="Cambria Math" panose="02040503050406030204" pitchFamily="18" charset="0"/>
                              </a:rPr>
                            </m:ctrlPr>
                          </m:sSupPr>
                          <m:e>
                            <m:r>
                              <a:rPr lang="en-US" altLang="zh-CN" b="0" i="1" smtClean="0">
                                <a:latin typeface="Cambria Math"/>
                              </a:rPr>
                              <m:t>𝐴</m:t>
                            </m:r>
                          </m:e>
                          <m:sup>
                            <m:r>
                              <a:rPr lang="en-US" altLang="zh-CN" b="0" i="1" smtClean="0">
                                <a:latin typeface="Cambria Math"/>
                              </a:rPr>
                              <m:t>𝑇</m:t>
                            </m:r>
                          </m:sup>
                        </m:sSup>
                        <m:r>
                          <a:rPr lang="en-US" altLang="zh-CN" b="0" i="1" smtClean="0">
                            <a:latin typeface="Cambria Math"/>
                          </a:rPr>
                          <m:t>𝐴</m:t>
                        </m:r>
                        <m:r>
                          <a:rPr lang="en-US" altLang="zh-CN" b="0" i="1" smtClean="0">
                            <a:latin typeface="Cambria Math"/>
                          </a:rPr>
                          <m:t>)</m:t>
                        </m:r>
                      </m:e>
                      <m:sup>
                        <m:r>
                          <a:rPr lang="en-US" altLang="zh-CN" b="0" i="1" smtClean="0">
                            <a:latin typeface="Cambria Math"/>
                          </a:rPr>
                          <m:t>−</m:t>
                        </m:r>
                        <m:r>
                          <a:rPr lang="en-US" altLang="zh-CN" b="0" i="1" smtClean="0">
                            <a:latin typeface="Cambria Math"/>
                          </a:rPr>
                          <m:t>1</m:t>
                        </m:r>
                      </m:sup>
                    </m:sSup>
                  </m:oMath>
                </a14:m>
                <a:endParaRPr lang="zh-CN" altLang="en-US" dirty="0">
                  <a:latin typeface="Arial" panose="020B0604020202020204" pitchFamily="34" charset="0"/>
                  <a:cs typeface="Arial" panose="020B0604020202020204" pitchFamily="34"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558031"/>
                <a:ext cx="10515600" cy="5299969"/>
              </a:xfrm>
              <a:blipFill>
                <a:blip r:embed="rId2"/>
                <a:stretch>
                  <a:fillRect l="-696" t="-115"/>
                </a:stretch>
              </a:blipFill>
            </p:spPr>
            <p:txBody>
              <a:bodyPr/>
              <a:lstStyle/>
              <a:p>
                <a:r>
                  <a:rPr lang="zh-CN" altLang="en-US">
                    <a:noFill/>
                  </a:rPr>
                  <a:t> </a:t>
                </a:r>
              </a:p>
            </p:txBody>
          </p:sp>
        </mc:Fallback>
      </mc:AlternateContent>
      <p:pic>
        <p:nvPicPr>
          <p:cNvPr id="5" name="Picture 2">
            <a:extLst>
              <a:ext uri="{FF2B5EF4-FFF2-40B4-BE49-F238E27FC236}">
                <a16:creationId xmlns:a16="http://schemas.microsoft.com/office/drawing/2014/main" id="{AE4307B8-0A64-4F97-A2C4-36ABCC5744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100" y="4521017"/>
            <a:ext cx="9067800" cy="1557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3903787"/>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GPS-Based Localization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06858"/>
            <a:ext cx="10729404" cy="5149049"/>
          </a:xfrm>
        </p:spPr>
        <p:txBody>
          <a:bodyPr>
            <a:normAutofit fontScale="85000" lnSpcReduction="20000"/>
          </a:bodyPr>
          <a:lstStyle/>
          <a:p>
            <a:pPr>
              <a:lnSpc>
                <a:spcPct val="140000"/>
              </a:lnSpc>
              <a:spcBef>
                <a:spcPts val="0"/>
              </a:spcBef>
            </a:pPr>
            <a:r>
              <a:rPr lang="en-US" altLang="zh-CN" dirty="0">
                <a:solidFill>
                  <a:schemeClr val="accent1"/>
                </a:solidFill>
                <a:latin typeface="Arial" panose="020B0604020202020204" pitchFamily="34" charset="0"/>
                <a:cs typeface="Arial" panose="020B0604020202020204" pitchFamily="34" charset="0"/>
              </a:rPr>
              <a:t>Global Positioning System</a:t>
            </a:r>
          </a:p>
          <a:p>
            <a:pPr lvl="1">
              <a:lnSpc>
                <a:spcPct val="140000"/>
              </a:lnSpc>
              <a:spcBef>
                <a:spcPts val="0"/>
              </a:spcBef>
            </a:pPr>
            <a:r>
              <a:rPr lang="en-US" altLang="zh-CN" dirty="0">
                <a:latin typeface="Arial" panose="020B0604020202020204" pitchFamily="34" charset="0"/>
                <a:cs typeface="Arial" panose="020B0604020202020204" pitchFamily="34" charset="0"/>
              </a:rPr>
              <a:t>most widely publicized location-sensing system"</a:t>
            </a:r>
          </a:p>
          <a:p>
            <a:pPr lvl="1">
              <a:lnSpc>
                <a:spcPct val="140000"/>
              </a:lnSpc>
              <a:spcBef>
                <a:spcPts val="0"/>
              </a:spcBef>
            </a:pPr>
            <a:r>
              <a:rPr lang="en-US" altLang="zh-CN" dirty="0">
                <a:latin typeface="Arial" panose="020B0604020202020204" pitchFamily="34" charset="0"/>
                <a:cs typeface="Arial" panose="020B0604020202020204" pitchFamily="34" charset="0"/>
              </a:rPr>
              <a:t>provides </a:t>
            </a:r>
            <a:r>
              <a:rPr lang="en-US" altLang="zh-CN" dirty="0" err="1">
                <a:latin typeface="Arial" panose="020B0604020202020204" pitchFamily="34" charset="0"/>
                <a:cs typeface="Arial" panose="020B0604020202020204" pitchFamily="34" charset="0"/>
              </a:rPr>
              <a:t>lateration</a:t>
            </a:r>
            <a:r>
              <a:rPr lang="en-US" altLang="zh-CN" dirty="0">
                <a:latin typeface="Arial" panose="020B0604020202020204" pitchFamily="34" charset="0"/>
                <a:cs typeface="Arial" panose="020B0604020202020204" pitchFamily="34" charset="0"/>
              </a:rPr>
              <a:t> framework for determining geographic positions</a:t>
            </a:r>
          </a:p>
          <a:p>
            <a:pPr lvl="1">
              <a:lnSpc>
                <a:spcPct val="140000"/>
              </a:lnSpc>
              <a:spcBef>
                <a:spcPts val="0"/>
              </a:spcBef>
            </a:pPr>
            <a:r>
              <a:rPr lang="en-US" altLang="zh-CN" dirty="0">
                <a:latin typeface="Arial" panose="020B0604020202020204" pitchFamily="34" charset="0"/>
                <a:cs typeface="Arial" panose="020B0604020202020204" pitchFamily="34" charset="0"/>
              </a:rPr>
              <a:t>originally established as </a:t>
            </a:r>
            <a:r>
              <a:rPr lang="en-US" altLang="zh-CN" dirty="0">
                <a:solidFill>
                  <a:schemeClr val="accent1"/>
                </a:solidFill>
                <a:latin typeface="Arial" panose="020B0604020202020204" pitchFamily="34" charset="0"/>
                <a:cs typeface="Arial" panose="020B0604020202020204" pitchFamily="34" charset="0"/>
              </a:rPr>
              <a:t>NAVSTAR</a:t>
            </a:r>
            <a:r>
              <a:rPr lang="en-US" altLang="zh-CN" dirty="0">
                <a:latin typeface="Arial" panose="020B0604020202020204" pitchFamily="34" charset="0"/>
                <a:cs typeface="Arial" panose="020B0604020202020204" pitchFamily="34" charset="0"/>
              </a:rPr>
              <a:t> (Navigation Satellite Timing and Ranging)</a:t>
            </a:r>
          </a:p>
          <a:p>
            <a:pPr lvl="1">
              <a:lnSpc>
                <a:spcPct val="140000"/>
              </a:lnSpc>
              <a:spcBef>
                <a:spcPts val="0"/>
              </a:spcBef>
            </a:pPr>
            <a:r>
              <a:rPr lang="en-US" altLang="zh-CN" dirty="0">
                <a:latin typeface="Arial" panose="020B0604020202020204" pitchFamily="34" charset="0"/>
                <a:cs typeface="Arial" panose="020B0604020202020204" pitchFamily="34" charset="0"/>
              </a:rPr>
              <a:t>only fully operational </a:t>
            </a:r>
            <a:r>
              <a:rPr lang="en-US" altLang="zh-CN" dirty="0">
                <a:solidFill>
                  <a:schemeClr val="accent1"/>
                </a:solidFill>
                <a:latin typeface="Arial" panose="020B0604020202020204" pitchFamily="34" charset="0"/>
                <a:cs typeface="Arial" panose="020B0604020202020204" pitchFamily="34" charset="0"/>
              </a:rPr>
              <a:t>global navigation satellite system (GNSS)</a:t>
            </a:r>
          </a:p>
          <a:p>
            <a:pPr lvl="1">
              <a:lnSpc>
                <a:spcPct val="140000"/>
              </a:lnSpc>
              <a:spcBef>
                <a:spcPts val="0"/>
              </a:spcBef>
            </a:pPr>
            <a:r>
              <a:rPr lang="en-US" altLang="zh-CN" dirty="0">
                <a:latin typeface="Arial" panose="020B0604020202020204" pitchFamily="34" charset="0"/>
                <a:cs typeface="Arial" panose="020B0604020202020204" pitchFamily="34" charset="0"/>
              </a:rPr>
              <a:t>consists of at least 24 satellites orbiting at approx. 11,000 miles</a:t>
            </a:r>
          </a:p>
          <a:p>
            <a:pPr lvl="1">
              <a:lnSpc>
                <a:spcPct val="140000"/>
              </a:lnSpc>
              <a:spcBef>
                <a:spcPts val="0"/>
              </a:spcBef>
            </a:pPr>
            <a:r>
              <a:rPr lang="en-US" altLang="zh-CN" dirty="0">
                <a:latin typeface="Arial" panose="020B0604020202020204" pitchFamily="34" charset="0"/>
                <a:cs typeface="Arial" panose="020B0604020202020204" pitchFamily="34" charset="0"/>
              </a:rPr>
              <a:t>started in 1973, fully operational in 1995</a:t>
            </a:r>
          </a:p>
          <a:p>
            <a:pPr>
              <a:lnSpc>
                <a:spcPct val="140000"/>
              </a:lnSpc>
              <a:spcBef>
                <a:spcPts val="0"/>
              </a:spcBef>
            </a:pPr>
            <a:r>
              <a:rPr lang="en-US" altLang="zh-CN" dirty="0">
                <a:latin typeface="Arial" panose="020B0604020202020204" pitchFamily="34" charset="0"/>
                <a:cs typeface="Arial" panose="020B0604020202020204" pitchFamily="34" charset="0"/>
              </a:rPr>
              <a:t>Two levels of service:</a:t>
            </a:r>
          </a:p>
          <a:p>
            <a:pPr lvl="1">
              <a:lnSpc>
                <a:spcPct val="140000"/>
              </a:lnSpc>
              <a:spcBef>
                <a:spcPts val="0"/>
              </a:spcBef>
            </a:pPr>
            <a:r>
              <a:rPr lang="en-US" altLang="zh-CN" dirty="0">
                <a:solidFill>
                  <a:schemeClr val="accent1"/>
                </a:solidFill>
                <a:latin typeface="Arial" panose="020B0604020202020204" pitchFamily="34" charset="0"/>
                <a:cs typeface="Arial" panose="020B0604020202020204" pitchFamily="34" charset="0"/>
              </a:rPr>
              <a:t>Standard Positioning Service (SPS) </a:t>
            </a:r>
          </a:p>
          <a:p>
            <a:pPr lvl="2">
              <a:lnSpc>
                <a:spcPct val="140000"/>
              </a:lnSpc>
              <a:spcBef>
                <a:spcPts val="0"/>
              </a:spcBef>
            </a:pPr>
            <a:r>
              <a:rPr lang="en-US" altLang="zh-CN" dirty="0">
                <a:latin typeface="Arial" panose="020B0604020202020204" pitchFamily="34" charset="0"/>
                <a:cs typeface="Arial" panose="020B0604020202020204" pitchFamily="34" charset="0"/>
              </a:rPr>
              <a:t>available to all users, no restrictions or direct charge</a:t>
            </a:r>
          </a:p>
          <a:p>
            <a:pPr lvl="2">
              <a:lnSpc>
                <a:spcPct val="140000"/>
              </a:lnSpc>
              <a:spcBef>
                <a:spcPts val="0"/>
              </a:spcBef>
            </a:pPr>
            <a:r>
              <a:rPr lang="en-US" altLang="zh-CN" dirty="0">
                <a:latin typeface="Arial" panose="020B0604020202020204" pitchFamily="34" charset="0"/>
                <a:cs typeface="Arial" panose="020B0604020202020204" pitchFamily="34" charset="0"/>
              </a:rPr>
              <a:t>high-quality receivers have accuracies of 3m and better horizontally</a:t>
            </a:r>
          </a:p>
          <a:p>
            <a:pPr lvl="1">
              <a:lnSpc>
                <a:spcPct val="140000"/>
              </a:lnSpc>
              <a:spcBef>
                <a:spcPts val="0"/>
              </a:spcBef>
            </a:pPr>
            <a:r>
              <a:rPr lang="en-US" altLang="zh-CN" dirty="0">
                <a:solidFill>
                  <a:schemeClr val="accent1"/>
                </a:solidFill>
                <a:latin typeface="Arial" panose="020B0604020202020204" pitchFamily="34" charset="0"/>
                <a:cs typeface="Arial" panose="020B0604020202020204" pitchFamily="34" charset="0"/>
              </a:rPr>
              <a:t>Precise Positioning Service (PPS)</a:t>
            </a:r>
          </a:p>
          <a:p>
            <a:pPr lvl="2">
              <a:lnSpc>
                <a:spcPct val="140000"/>
              </a:lnSpc>
              <a:spcBef>
                <a:spcPts val="0"/>
              </a:spcBef>
            </a:pPr>
            <a:r>
              <a:rPr lang="en-US" altLang="zh-CN" dirty="0">
                <a:latin typeface="Arial" panose="020B0604020202020204" pitchFamily="34" charset="0"/>
                <a:cs typeface="Arial" panose="020B0604020202020204" pitchFamily="34" charset="0"/>
              </a:rPr>
              <a:t>used by US and Allied military users</a:t>
            </a:r>
          </a:p>
          <a:p>
            <a:pPr lvl="2">
              <a:lnSpc>
                <a:spcPct val="140000"/>
              </a:lnSpc>
              <a:spcBef>
                <a:spcPts val="0"/>
              </a:spcBef>
            </a:pPr>
            <a:r>
              <a:rPr lang="en-US" altLang="zh-CN" dirty="0">
                <a:latin typeface="Arial" panose="020B0604020202020204" pitchFamily="34" charset="0"/>
                <a:cs typeface="Arial" panose="020B0604020202020204" pitchFamily="34" charset="0"/>
              </a:rPr>
              <a:t>uses two signals to reduce transmission errors</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3329029"/>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GPS-Based Localization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526959"/>
            <a:ext cx="10720526" cy="5331041"/>
          </a:xfrm>
        </p:spPr>
        <p:txBody>
          <a:bodyPr>
            <a:normAutofit fontScale="77500" lnSpcReduction="20000"/>
          </a:bodyPr>
          <a:lstStyle/>
          <a:p>
            <a:pPr>
              <a:lnSpc>
                <a:spcPct val="140000"/>
              </a:lnSpc>
              <a:spcBef>
                <a:spcPts val="0"/>
              </a:spcBef>
            </a:pPr>
            <a:r>
              <a:rPr lang="en-US" altLang="zh-CN" dirty="0">
                <a:latin typeface="Arial" panose="020B0604020202020204" pitchFamily="34" charset="0"/>
                <a:cs typeface="Arial" panose="020B0604020202020204" pitchFamily="34" charset="0"/>
              </a:rPr>
              <a:t>Satellites are uniformly distributed in six orbits (4 satellites per orbit)</a:t>
            </a:r>
          </a:p>
          <a:p>
            <a:pPr>
              <a:lnSpc>
                <a:spcPct val="140000"/>
              </a:lnSpc>
              <a:spcBef>
                <a:spcPts val="0"/>
              </a:spcBef>
            </a:pPr>
            <a:r>
              <a:rPr lang="en-US" altLang="zh-CN" dirty="0">
                <a:latin typeface="Arial" panose="020B0604020202020204" pitchFamily="34" charset="0"/>
                <a:cs typeface="Arial" panose="020B0604020202020204" pitchFamily="34" charset="0"/>
              </a:rPr>
              <a:t>Satellites circle earth twice a day at approx. 7000 miles/hour</a:t>
            </a:r>
          </a:p>
          <a:p>
            <a:pPr>
              <a:lnSpc>
                <a:spcPct val="140000"/>
              </a:lnSpc>
              <a:spcBef>
                <a:spcPts val="0"/>
              </a:spcBef>
            </a:pPr>
            <a:r>
              <a:rPr lang="en-US" altLang="zh-CN" dirty="0">
                <a:latin typeface="Arial" panose="020B0604020202020204" pitchFamily="34" charset="0"/>
                <a:cs typeface="Arial" panose="020B0604020202020204" pitchFamily="34" charset="0"/>
              </a:rPr>
              <a:t>At least 8 satellites can be seen simultaneously from almost anywhere</a:t>
            </a:r>
          </a:p>
          <a:p>
            <a:pPr>
              <a:lnSpc>
                <a:spcPct val="140000"/>
              </a:lnSpc>
              <a:spcBef>
                <a:spcPts val="0"/>
              </a:spcBef>
            </a:pPr>
            <a:r>
              <a:rPr lang="en-US" altLang="zh-CN" dirty="0">
                <a:latin typeface="Arial" panose="020B0604020202020204" pitchFamily="34" charset="0"/>
                <a:cs typeface="Arial" panose="020B0604020202020204" pitchFamily="34" charset="0"/>
              </a:rPr>
              <a:t>Each satellite broadcasts coded radio waves (pseudorandom code), containing</a:t>
            </a:r>
          </a:p>
          <a:p>
            <a:pPr lvl="1">
              <a:lnSpc>
                <a:spcPct val="140000"/>
              </a:lnSpc>
              <a:spcBef>
                <a:spcPts val="0"/>
              </a:spcBef>
            </a:pPr>
            <a:r>
              <a:rPr lang="en-US" altLang="zh-CN" dirty="0">
                <a:latin typeface="Arial" panose="020B0604020202020204" pitchFamily="34" charset="0"/>
                <a:cs typeface="Arial" panose="020B0604020202020204" pitchFamily="34" charset="0"/>
              </a:rPr>
              <a:t>identity of satellite</a:t>
            </a:r>
          </a:p>
          <a:p>
            <a:pPr lvl="1">
              <a:lnSpc>
                <a:spcPct val="140000"/>
              </a:lnSpc>
              <a:spcBef>
                <a:spcPts val="0"/>
              </a:spcBef>
            </a:pPr>
            <a:r>
              <a:rPr lang="en-US" altLang="zh-CN" dirty="0">
                <a:latin typeface="Arial" panose="020B0604020202020204" pitchFamily="34" charset="0"/>
                <a:cs typeface="Arial" panose="020B0604020202020204" pitchFamily="34" charset="0"/>
              </a:rPr>
              <a:t>location of satellite</a:t>
            </a:r>
          </a:p>
          <a:p>
            <a:pPr lvl="1">
              <a:lnSpc>
                <a:spcPct val="140000"/>
              </a:lnSpc>
              <a:spcBef>
                <a:spcPts val="0"/>
              </a:spcBef>
            </a:pPr>
            <a:r>
              <a:rPr lang="en-US" altLang="zh-CN" dirty="0">
                <a:latin typeface="Arial" panose="020B0604020202020204" pitchFamily="34" charset="0"/>
                <a:cs typeface="Arial" panose="020B0604020202020204" pitchFamily="34" charset="0"/>
              </a:rPr>
              <a:t>the </a:t>
            </a:r>
            <a:r>
              <a:rPr lang="en-US" altLang="zh-CN" dirty="0" err="1">
                <a:latin typeface="Arial" panose="020B0604020202020204" pitchFamily="34" charset="0"/>
                <a:cs typeface="Arial" panose="020B0604020202020204" pitchFamily="34" charset="0"/>
              </a:rPr>
              <a:t>satelliteʼs</a:t>
            </a:r>
            <a:r>
              <a:rPr lang="en-US" altLang="zh-CN" dirty="0">
                <a:latin typeface="Arial" panose="020B0604020202020204" pitchFamily="34" charset="0"/>
                <a:cs typeface="Arial" panose="020B0604020202020204" pitchFamily="34" charset="0"/>
              </a:rPr>
              <a:t> status</a:t>
            </a:r>
          </a:p>
          <a:p>
            <a:pPr lvl="1">
              <a:lnSpc>
                <a:spcPct val="140000"/>
              </a:lnSpc>
              <a:spcBef>
                <a:spcPts val="0"/>
              </a:spcBef>
            </a:pPr>
            <a:r>
              <a:rPr lang="en-US" altLang="zh-CN" dirty="0">
                <a:latin typeface="Arial" panose="020B0604020202020204" pitchFamily="34" charset="0"/>
                <a:cs typeface="Arial" panose="020B0604020202020204" pitchFamily="34" charset="0"/>
              </a:rPr>
              <a:t>data and time when signal was sent</a:t>
            </a:r>
          </a:p>
          <a:p>
            <a:pPr>
              <a:lnSpc>
                <a:spcPct val="140000"/>
              </a:lnSpc>
              <a:spcBef>
                <a:spcPts val="0"/>
              </a:spcBef>
            </a:pPr>
            <a:r>
              <a:rPr lang="en-US" altLang="zh-CN" dirty="0">
                <a:latin typeface="Arial" panose="020B0604020202020204" pitchFamily="34" charset="0"/>
                <a:cs typeface="Arial" panose="020B0604020202020204" pitchFamily="34" charset="0"/>
              </a:rPr>
              <a:t>Six </a:t>
            </a:r>
            <a:r>
              <a:rPr lang="en-US" altLang="zh-CN" dirty="0">
                <a:solidFill>
                  <a:schemeClr val="accent1"/>
                </a:solidFill>
                <a:latin typeface="Arial" panose="020B0604020202020204" pitchFamily="34" charset="0"/>
                <a:cs typeface="Arial" panose="020B0604020202020204" pitchFamily="34" charset="0"/>
              </a:rPr>
              <a:t>monitor stations </a:t>
            </a:r>
            <a:r>
              <a:rPr lang="en-US" altLang="zh-CN" dirty="0">
                <a:latin typeface="Arial" panose="020B0604020202020204" pitchFamily="34" charset="0"/>
                <a:cs typeface="Arial" panose="020B0604020202020204" pitchFamily="34" charset="0"/>
              </a:rPr>
              <a:t>constantly receive satellite data and forward data to a </a:t>
            </a:r>
            <a:r>
              <a:rPr lang="en-US" altLang="zh-CN" dirty="0">
                <a:solidFill>
                  <a:schemeClr val="accent1"/>
                </a:solidFill>
                <a:latin typeface="Arial" panose="020B0604020202020204" pitchFamily="34" charset="0"/>
                <a:cs typeface="Arial" panose="020B0604020202020204" pitchFamily="34" charset="0"/>
              </a:rPr>
              <a:t>master control station (MCS)</a:t>
            </a:r>
          </a:p>
          <a:p>
            <a:pPr>
              <a:lnSpc>
                <a:spcPct val="140000"/>
              </a:lnSpc>
              <a:spcBef>
                <a:spcPts val="0"/>
              </a:spcBef>
            </a:pPr>
            <a:r>
              <a:rPr lang="en-US" altLang="zh-CN" dirty="0">
                <a:latin typeface="Arial" panose="020B0604020202020204" pitchFamily="34" charset="0"/>
                <a:cs typeface="Arial" panose="020B0604020202020204" pitchFamily="34" charset="0"/>
              </a:rPr>
              <a:t>MCS is located near Colorado Springs, Colorado</a:t>
            </a:r>
          </a:p>
          <a:p>
            <a:pPr>
              <a:lnSpc>
                <a:spcPct val="140000"/>
              </a:lnSpc>
              <a:spcBef>
                <a:spcPts val="0"/>
              </a:spcBef>
            </a:pPr>
            <a:r>
              <a:rPr lang="en-US" altLang="zh-CN" dirty="0">
                <a:latin typeface="Arial" panose="020B0604020202020204" pitchFamily="34" charset="0"/>
                <a:cs typeface="Arial" panose="020B0604020202020204" pitchFamily="34" charset="0"/>
              </a:rPr>
              <a:t>MCS uses the data from monitor stations to compute corrections to the </a:t>
            </a:r>
            <a:r>
              <a:rPr lang="en-US" altLang="zh-CN" dirty="0" err="1">
                <a:latin typeface="Arial" panose="020B0604020202020204" pitchFamily="34" charset="0"/>
                <a:cs typeface="Arial" panose="020B0604020202020204" pitchFamily="34" charset="0"/>
              </a:rPr>
              <a:t>satellitesʼ</a:t>
            </a:r>
            <a:r>
              <a:rPr lang="en-US" altLang="zh-CN" dirty="0">
                <a:latin typeface="Arial" panose="020B0604020202020204" pitchFamily="34" charset="0"/>
                <a:cs typeface="Arial" panose="020B0604020202020204" pitchFamily="34" charset="0"/>
              </a:rPr>
              <a:t> orbital and clock information which are sent back to the satellites </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2154575"/>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GPS-Based Localization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469255"/>
            <a:ext cx="10409808" cy="2743199"/>
          </a:xfrm>
        </p:spPr>
        <p:txBody>
          <a:bodyPr>
            <a:normAutofit/>
          </a:bodyPr>
          <a:lstStyle/>
          <a:p>
            <a:pPr>
              <a:lnSpc>
                <a:spcPct val="120000"/>
              </a:lnSpc>
              <a:spcBef>
                <a:spcPts val="0"/>
              </a:spcBef>
            </a:pPr>
            <a:r>
              <a:rPr lang="en-US" altLang="zh-CN" sz="2400" dirty="0">
                <a:latin typeface="Arial" panose="020B0604020202020204" pitchFamily="34" charset="0"/>
                <a:cs typeface="Arial" panose="020B0604020202020204" pitchFamily="34" charset="0"/>
              </a:rPr>
              <a:t>Satellites and receivers use accurate and synchronized clocks</a:t>
            </a:r>
          </a:p>
          <a:p>
            <a:pPr>
              <a:lnSpc>
                <a:spcPct val="120000"/>
              </a:lnSpc>
              <a:spcBef>
                <a:spcPts val="0"/>
              </a:spcBef>
            </a:pPr>
            <a:r>
              <a:rPr lang="en-US" altLang="zh-CN" sz="2400" dirty="0">
                <a:latin typeface="Arial" panose="020B0604020202020204" pitchFamily="34" charset="0"/>
                <a:cs typeface="Arial" panose="020B0604020202020204" pitchFamily="34" charset="0"/>
              </a:rPr>
              <a:t>Receiver compares generated code with received code to determine</a:t>
            </a:r>
          </a:p>
          <a:p>
            <a:pPr lvl="1">
              <a:lnSpc>
                <a:spcPct val="120000"/>
              </a:lnSpc>
              <a:spcBef>
                <a:spcPts val="0"/>
              </a:spcBef>
            </a:pPr>
            <a:r>
              <a:rPr lang="en-US" altLang="zh-CN" sz="2000" dirty="0">
                <a:latin typeface="Arial" panose="020B0604020202020204" pitchFamily="34" charset="0"/>
                <a:cs typeface="Arial" panose="020B0604020202020204" pitchFamily="34" charset="0"/>
              </a:rPr>
              <a:t>the actual code generation time of the satellite</a:t>
            </a:r>
          </a:p>
          <a:p>
            <a:pPr lvl="1">
              <a:lnSpc>
                <a:spcPct val="120000"/>
              </a:lnSpc>
              <a:spcBef>
                <a:spcPts val="0"/>
              </a:spcBef>
            </a:pPr>
            <a:r>
              <a:rPr lang="en-US" altLang="zh-CN" sz="2000" dirty="0">
                <a:latin typeface="Arial" panose="020B0604020202020204" pitchFamily="34" charset="0"/>
                <a:cs typeface="Arial" panose="020B0604020202020204" pitchFamily="34" charset="0"/>
              </a:rPr>
              <a:t>time difference Δ between code generation time and current time</a:t>
            </a:r>
          </a:p>
          <a:p>
            <a:pPr lvl="1">
              <a:lnSpc>
                <a:spcPct val="120000"/>
              </a:lnSpc>
              <a:spcBef>
                <a:spcPts val="0"/>
              </a:spcBef>
            </a:pPr>
            <a:r>
              <a:rPr lang="en-US" altLang="zh-CN" sz="2000" dirty="0">
                <a:latin typeface="Arial" panose="020B0604020202020204" pitchFamily="34" charset="0"/>
                <a:cs typeface="Arial" panose="020B0604020202020204" pitchFamily="34" charset="0"/>
              </a:rPr>
              <a:t>Δ expresses the travel time of the code from satellite to receiver</a:t>
            </a:r>
            <a:endParaRPr lang="zh-CN" altLang="en-US" sz="2000" dirty="0">
              <a:latin typeface="Arial" panose="020B0604020202020204" pitchFamily="34" charset="0"/>
              <a:cs typeface="Arial" panose="020B0604020202020204" pitchFamily="34" charset="0"/>
            </a:endParaRPr>
          </a:p>
        </p:txBody>
      </p:sp>
      <p:pic>
        <p:nvPicPr>
          <p:cNvPr id="5" name="Picture 2">
            <a:extLst>
              <a:ext uri="{FF2B5EF4-FFF2-40B4-BE49-F238E27FC236}">
                <a16:creationId xmlns:a16="http://schemas.microsoft.com/office/drawing/2014/main" id="{57EFA87A-D15F-4662-A6EB-AB6C88D60D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0148" y="3555833"/>
            <a:ext cx="6376988" cy="3171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2172901"/>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GPS-Based Localization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455430"/>
            <a:ext cx="10515599" cy="5402570"/>
          </a:xfrm>
        </p:spPr>
        <p:txBody>
          <a:bodyPr>
            <a:normAutofit fontScale="77500" lnSpcReduction="20000"/>
          </a:bodyPr>
          <a:lstStyle/>
          <a:p>
            <a:pPr>
              <a:lnSpc>
                <a:spcPct val="140000"/>
              </a:lnSpc>
              <a:spcBef>
                <a:spcPts val="0"/>
              </a:spcBef>
            </a:pPr>
            <a:r>
              <a:rPr lang="en-US" altLang="zh-CN" dirty="0">
                <a:latin typeface="Arial" panose="020B0604020202020204" pitchFamily="34" charset="0"/>
                <a:cs typeface="Arial" panose="020B0604020202020204" pitchFamily="34" charset="0"/>
              </a:rPr>
              <a:t>Radio waves travel at the speed of light (approx. 186,000 miles/second)</a:t>
            </a:r>
          </a:p>
          <a:p>
            <a:pPr>
              <a:lnSpc>
                <a:spcPct val="140000"/>
              </a:lnSpc>
              <a:spcBef>
                <a:spcPts val="0"/>
              </a:spcBef>
            </a:pPr>
            <a:r>
              <a:rPr lang="en-US" altLang="zh-CN" dirty="0">
                <a:latin typeface="Arial" panose="020B0604020202020204" pitchFamily="34" charset="0"/>
                <a:cs typeface="Arial" panose="020B0604020202020204" pitchFamily="34" charset="0"/>
              </a:rPr>
              <a:t>With known Δ, the distance can be determined</a:t>
            </a:r>
          </a:p>
          <a:p>
            <a:pPr>
              <a:lnSpc>
                <a:spcPct val="140000"/>
              </a:lnSpc>
              <a:spcBef>
                <a:spcPts val="0"/>
              </a:spcBef>
            </a:pPr>
            <a:r>
              <a:rPr lang="en-US" altLang="zh-CN" dirty="0">
                <a:latin typeface="Arial" panose="020B0604020202020204" pitchFamily="34" charset="0"/>
                <a:cs typeface="Arial" panose="020B0604020202020204" pitchFamily="34" charset="0"/>
              </a:rPr>
              <a:t>Receiver knows that it is located somewhere on a sphere centered on the satellite with a radius equal to this distance</a:t>
            </a:r>
          </a:p>
          <a:p>
            <a:pPr>
              <a:lnSpc>
                <a:spcPct val="140000"/>
              </a:lnSpc>
              <a:spcBef>
                <a:spcPts val="0"/>
              </a:spcBef>
            </a:pPr>
            <a:r>
              <a:rPr lang="en-US" altLang="zh-CN" dirty="0">
                <a:latin typeface="Arial" panose="020B0604020202020204" pitchFamily="34" charset="0"/>
                <a:cs typeface="Arial" panose="020B0604020202020204" pitchFamily="34" charset="0"/>
              </a:rPr>
              <a:t>With </a:t>
            </a:r>
            <a:r>
              <a:rPr lang="en-US" altLang="zh-CN" dirty="0">
                <a:solidFill>
                  <a:schemeClr val="accent1"/>
                </a:solidFill>
                <a:latin typeface="Arial" panose="020B0604020202020204" pitchFamily="34" charset="0"/>
                <a:cs typeface="Arial" panose="020B0604020202020204" pitchFamily="34" charset="0"/>
              </a:rPr>
              <a:t>three satellites</a:t>
            </a:r>
            <a:r>
              <a:rPr lang="en-US" altLang="zh-CN" dirty="0">
                <a:latin typeface="Arial" panose="020B0604020202020204" pitchFamily="34" charset="0"/>
                <a:cs typeface="Arial" panose="020B0604020202020204" pitchFamily="34" charset="0"/>
              </a:rPr>
              <a:t>, the location can be narrowed down to two points</a:t>
            </a:r>
          </a:p>
          <a:p>
            <a:pPr lvl="1">
              <a:lnSpc>
                <a:spcPct val="140000"/>
              </a:lnSpc>
              <a:spcBef>
                <a:spcPts val="0"/>
              </a:spcBef>
            </a:pPr>
            <a:r>
              <a:rPr lang="en-US" altLang="zh-CN" dirty="0">
                <a:latin typeface="Arial" panose="020B0604020202020204" pitchFamily="34" charset="0"/>
                <a:cs typeface="Arial" panose="020B0604020202020204" pitchFamily="34" charset="0"/>
              </a:rPr>
              <a:t>typically one of these two points can be eliminated easily</a:t>
            </a:r>
          </a:p>
          <a:p>
            <a:pPr>
              <a:lnSpc>
                <a:spcPct val="140000"/>
              </a:lnSpc>
              <a:spcBef>
                <a:spcPts val="0"/>
              </a:spcBef>
            </a:pPr>
            <a:r>
              <a:rPr lang="en-US" altLang="zh-CN" dirty="0">
                <a:latin typeface="Arial" panose="020B0604020202020204" pitchFamily="34" charset="0"/>
                <a:cs typeface="Arial" panose="020B0604020202020204" pitchFamily="34" charset="0"/>
              </a:rPr>
              <a:t>With </a:t>
            </a:r>
            <a:r>
              <a:rPr lang="en-US" altLang="zh-CN" dirty="0">
                <a:solidFill>
                  <a:schemeClr val="accent1"/>
                </a:solidFill>
                <a:latin typeface="Arial" panose="020B0604020202020204" pitchFamily="34" charset="0"/>
                <a:cs typeface="Arial" panose="020B0604020202020204" pitchFamily="34" charset="0"/>
              </a:rPr>
              <a:t>four satellites</a:t>
            </a:r>
            <a:r>
              <a:rPr lang="en-US" altLang="zh-CN" dirty="0">
                <a:latin typeface="Arial" panose="020B0604020202020204" pitchFamily="34" charset="0"/>
                <a:cs typeface="Arial" panose="020B0604020202020204" pitchFamily="34" charset="0"/>
              </a:rPr>
              <a:t>, accurate localization is possible</a:t>
            </a:r>
          </a:p>
          <a:p>
            <a:pPr lvl="1">
              <a:lnSpc>
                <a:spcPct val="140000"/>
              </a:lnSpc>
              <a:spcBef>
                <a:spcPts val="0"/>
              </a:spcBef>
            </a:pPr>
            <a:r>
              <a:rPr lang="en-US" altLang="zh-CN" dirty="0">
                <a:latin typeface="Arial" panose="020B0604020202020204" pitchFamily="34" charset="0"/>
                <a:cs typeface="Arial" panose="020B0604020202020204" pitchFamily="34" charset="0"/>
              </a:rPr>
              <a:t>accurate positioning relies on accurate timing</a:t>
            </a:r>
          </a:p>
          <a:p>
            <a:pPr lvl="1">
              <a:lnSpc>
                <a:spcPct val="140000"/>
              </a:lnSpc>
              <a:spcBef>
                <a:spcPts val="0"/>
              </a:spcBef>
            </a:pPr>
            <a:r>
              <a:rPr lang="en-US" altLang="zh-CN" dirty="0">
                <a:latin typeface="Arial" panose="020B0604020202020204" pitchFamily="34" charset="0"/>
                <a:cs typeface="Arial" panose="020B0604020202020204" pitchFamily="34" charset="0"/>
              </a:rPr>
              <a:t>receiver clocks are much less accurate than atomic GPS clocks</a:t>
            </a:r>
          </a:p>
          <a:p>
            <a:pPr lvl="1">
              <a:lnSpc>
                <a:spcPct val="140000"/>
              </a:lnSpc>
              <a:spcBef>
                <a:spcPts val="0"/>
              </a:spcBef>
            </a:pPr>
            <a:r>
              <a:rPr lang="en-US" altLang="zh-CN" dirty="0">
                <a:latin typeface="Arial" panose="020B0604020202020204" pitchFamily="34" charset="0"/>
                <a:cs typeface="Arial" panose="020B0604020202020204" pitchFamily="34" charset="0"/>
              </a:rPr>
              <a:t>small timing errors lead to large position errors </a:t>
            </a:r>
          </a:p>
          <a:p>
            <a:pPr lvl="2">
              <a:lnSpc>
                <a:spcPct val="140000"/>
              </a:lnSpc>
              <a:spcBef>
                <a:spcPts val="0"/>
              </a:spcBef>
            </a:pPr>
            <a:r>
              <a:rPr lang="en-US" altLang="zh-CN" dirty="0">
                <a:latin typeface="Arial" panose="020B0604020202020204" pitchFamily="34" charset="0"/>
                <a:cs typeface="Arial" panose="020B0604020202020204" pitchFamily="34" charset="0"/>
              </a:rPr>
              <a:t>example: clock error of 1ms translates to a position error of 300km</a:t>
            </a:r>
          </a:p>
          <a:p>
            <a:pPr lvl="1">
              <a:lnSpc>
                <a:spcPct val="140000"/>
              </a:lnSpc>
              <a:spcBef>
                <a:spcPts val="0"/>
              </a:spcBef>
            </a:pPr>
            <a:r>
              <a:rPr lang="en-US" altLang="zh-CN" dirty="0">
                <a:latin typeface="Arial" panose="020B0604020202020204" pitchFamily="34" charset="0"/>
                <a:cs typeface="Arial" panose="020B0604020202020204" pitchFamily="34" charset="0"/>
              </a:rPr>
              <a:t>fourth sphere would ideally intersect with all three other spheres in one exact location</a:t>
            </a:r>
          </a:p>
          <a:p>
            <a:pPr lvl="1">
              <a:lnSpc>
                <a:spcPct val="140000"/>
              </a:lnSpc>
              <a:spcBef>
                <a:spcPts val="0"/>
              </a:spcBef>
            </a:pPr>
            <a:r>
              <a:rPr lang="en-US" altLang="zh-CN" dirty="0">
                <a:latin typeface="Arial" panose="020B0604020202020204" pitchFamily="34" charset="0"/>
                <a:cs typeface="Arial" panose="020B0604020202020204" pitchFamily="34" charset="0"/>
              </a:rPr>
              <a:t>spheres too large: reduce them by adjusting the clock (moving it forward)</a:t>
            </a:r>
          </a:p>
          <a:p>
            <a:pPr lvl="1">
              <a:lnSpc>
                <a:spcPct val="140000"/>
              </a:lnSpc>
              <a:spcBef>
                <a:spcPts val="0"/>
              </a:spcBef>
            </a:pPr>
            <a:r>
              <a:rPr lang="en-US" altLang="zh-CN" dirty="0">
                <a:latin typeface="Arial" panose="020B0604020202020204" pitchFamily="34" charset="0"/>
                <a:cs typeface="Arial" panose="020B0604020202020204" pitchFamily="34" charset="0"/>
              </a:rPr>
              <a:t>spheres too small: increase them by adjusting the clock (moving it backward)</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8853504"/>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GPS-Based Localization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8"/>
            <a:ext cx="10515600" cy="4601809"/>
          </a:xfrm>
        </p:spPr>
        <p:txBody>
          <a:bodyPr>
            <a:normAutofit/>
          </a:bodyPr>
          <a:lstStyle/>
          <a:p>
            <a:pPr>
              <a:lnSpc>
                <a:spcPct val="120000"/>
              </a:lnSpc>
              <a:spcBef>
                <a:spcPts val="0"/>
              </a:spcBef>
            </a:pPr>
            <a:r>
              <a:rPr lang="en-US" altLang="zh-CN" sz="2400" dirty="0">
                <a:latin typeface="Arial" panose="020B0604020202020204" pitchFamily="34" charset="0"/>
                <a:cs typeface="Arial" panose="020B0604020202020204" pitchFamily="34" charset="0"/>
              </a:rPr>
              <a:t>Most GPS receivers today can achieve good accuracy (e.g., 10m or less)</a:t>
            </a:r>
          </a:p>
          <a:p>
            <a:pPr>
              <a:lnSpc>
                <a:spcPct val="120000"/>
              </a:lnSpc>
              <a:spcBef>
                <a:spcPts val="0"/>
              </a:spcBef>
            </a:pPr>
            <a:r>
              <a:rPr lang="en-US" altLang="zh-CN" sz="2400" dirty="0">
                <a:latin typeface="Arial" panose="020B0604020202020204" pitchFamily="34" charset="0"/>
                <a:cs typeface="Arial" panose="020B0604020202020204" pitchFamily="34" charset="0"/>
              </a:rPr>
              <a:t>Additional advanced techniques can be used to further improve accuracy:</a:t>
            </a:r>
          </a:p>
          <a:p>
            <a:pPr lvl="1">
              <a:lnSpc>
                <a:spcPct val="120000"/>
              </a:lnSpc>
              <a:spcBef>
                <a:spcPts val="0"/>
              </a:spcBef>
            </a:pPr>
            <a:r>
              <a:rPr lang="en-US" altLang="zh-CN" sz="2000" dirty="0">
                <a:latin typeface="Arial" panose="020B0604020202020204" pitchFamily="34" charset="0"/>
                <a:cs typeface="Arial" panose="020B0604020202020204" pitchFamily="34" charset="0"/>
              </a:rPr>
              <a:t>example: </a:t>
            </a:r>
            <a:r>
              <a:rPr lang="en-US" altLang="zh-CN" sz="2000" dirty="0">
                <a:solidFill>
                  <a:schemeClr val="accent1"/>
                </a:solidFill>
                <a:latin typeface="Arial" panose="020B0604020202020204" pitchFamily="34" charset="0"/>
                <a:cs typeface="Arial" panose="020B0604020202020204" pitchFamily="34" charset="0"/>
              </a:rPr>
              <a:t>Differential GPS (DGPS)</a:t>
            </a:r>
          </a:p>
          <a:p>
            <a:pPr lvl="2">
              <a:lnSpc>
                <a:spcPct val="120000"/>
              </a:lnSpc>
              <a:spcBef>
                <a:spcPts val="0"/>
              </a:spcBef>
            </a:pPr>
            <a:r>
              <a:rPr lang="en-US" altLang="zh-CN" sz="1800" dirty="0">
                <a:latin typeface="Arial" panose="020B0604020202020204" pitchFamily="34" charset="0"/>
                <a:cs typeface="Arial" panose="020B0604020202020204" pitchFamily="34" charset="0"/>
              </a:rPr>
              <a:t>relies on land-based receivers with exactly known locations</a:t>
            </a:r>
          </a:p>
          <a:p>
            <a:pPr lvl="2">
              <a:lnSpc>
                <a:spcPct val="120000"/>
              </a:lnSpc>
              <a:spcBef>
                <a:spcPts val="0"/>
              </a:spcBef>
            </a:pPr>
            <a:r>
              <a:rPr lang="en-US" altLang="zh-CN" sz="1800" dirty="0">
                <a:latin typeface="Arial" panose="020B0604020202020204" pitchFamily="34" charset="0"/>
                <a:cs typeface="Arial" panose="020B0604020202020204" pitchFamily="34" charset="0"/>
              </a:rPr>
              <a:t>they receive signals, compute correction factors, and broadcast them to GPS receivers</a:t>
            </a:r>
          </a:p>
          <a:p>
            <a:pPr lvl="2">
              <a:lnSpc>
                <a:spcPct val="120000"/>
              </a:lnSpc>
              <a:spcBef>
                <a:spcPts val="0"/>
              </a:spcBef>
            </a:pPr>
            <a:r>
              <a:rPr lang="en-US" altLang="zh-CN" sz="1800" dirty="0">
                <a:latin typeface="Arial" panose="020B0604020202020204" pitchFamily="34" charset="0"/>
                <a:cs typeface="Arial" panose="020B0604020202020204" pitchFamily="34" charset="0"/>
              </a:rPr>
              <a:t>GPS receivers correct their own measurements</a:t>
            </a:r>
            <a:endParaRPr lang="en-US" altLang="zh-CN" sz="2400" dirty="0">
              <a:latin typeface="Arial" panose="020B0604020202020204" pitchFamily="34" charset="0"/>
              <a:cs typeface="Arial" panose="020B0604020202020204" pitchFamily="34" charset="0"/>
            </a:endParaRPr>
          </a:p>
          <a:p>
            <a:pPr>
              <a:lnSpc>
                <a:spcPct val="120000"/>
              </a:lnSpc>
              <a:spcBef>
                <a:spcPts val="0"/>
              </a:spcBef>
            </a:pPr>
            <a:r>
              <a:rPr lang="en-US" altLang="zh-CN" sz="2400" dirty="0">
                <a:latin typeface="Arial" panose="020B0604020202020204" pitchFamily="34" charset="0"/>
                <a:cs typeface="Arial" panose="020B0604020202020204" pitchFamily="34" charset="0"/>
              </a:rPr>
              <a:t>GPS in wireless sensor networks</a:t>
            </a:r>
          </a:p>
          <a:p>
            <a:pPr lvl="1">
              <a:lnSpc>
                <a:spcPct val="120000"/>
              </a:lnSpc>
              <a:spcBef>
                <a:spcPts val="0"/>
              </a:spcBef>
            </a:pPr>
            <a:r>
              <a:rPr lang="en-US" altLang="zh-CN" sz="2000" dirty="0">
                <a:latin typeface="Arial" panose="020B0604020202020204" pitchFamily="34" charset="0"/>
                <a:cs typeface="Arial" panose="020B0604020202020204" pitchFamily="34" charset="0"/>
              </a:rPr>
              <a:t>prohibitive factors: power consumption, cost, size, need for LOS</a:t>
            </a:r>
          </a:p>
          <a:p>
            <a:pPr lvl="1">
              <a:lnSpc>
                <a:spcPct val="120000"/>
              </a:lnSpc>
              <a:spcBef>
                <a:spcPts val="0"/>
              </a:spcBef>
            </a:pPr>
            <a:r>
              <a:rPr lang="en-US" altLang="zh-CN" sz="2000" dirty="0">
                <a:latin typeface="Arial" panose="020B0604020202020204" pitchFamily="34" charset="0"/>
                <a:cs typeface="Arial" panose="020B0604020202020204" pitchFamily="34" charset="0"/>
              </a:rPr>
              <a:t>deployment can be limited to a few (more powerful) nodes</a:t>
            </a:r>
          </a:p>
          <a:p>
            <a:pPr lvl="2">
              <a:lnSpc>
                <a:spcPct val="120000"/>
              </a:lnSpc>
              <a:spcBef>
                <a:spcPts val="0"/>
              </a:spcBef>
            </a:pPr>
            <a:r>
              <a:rPr lang="en-US" altLang="zh-CN" sz="1800" dirty="0">
                <a:latin typeface="Arial" panose="020B0604020202020204" pitchFamily="34" charset="0"/>
                <a:cs typeface="Arial" panose="020B0604020202020204" pitchFamily="34" charset="0"/>
              </a:rPr>
              <a:t>used as anchor nodes and reference points for range-free localization techniques </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5477966"/>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Ad Hoc Positioning System (APS)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90"/>
            <a:ext cx="10515600" cy="3715812"/>
          </a:xfrm>
        </p:spPr>
        <p:txBody>
          <a:bodyPr>
            <a:normAutofit/>
          </a:bodyPr>
          <a:lstStyle/>
          <a:p>
            <a:pPr>
              <a:lnSpc>
                <a:spcPct val="120000"/>
              </a:lnSpc>
              <a:spcBef>
                <a:spcPts val="0"/>
              </a:spcBef>
            </a:pPr>
            <a:r>
              <a:rPr lang="en-US" altLang="zh-CN" sz="2400" dirty="0">
                <a:latin typeface="Arial" panose="020B0604020202020204" pitchFamily="34" charset="0"/>
                <a:cs typeface="Arial" panose="020B0604020202020204" pitchFamily="34" charset="0"/>
              </a:rPr>
              <a:t>Example of a </a:t>
            </a:r>
            <a:r>
              <a:rPr lang="en-US" altLang="zh-CN" sz="2400" dirty="0">
                <a:solidFill>
                  <a:schemeClr val="accent1"/>
                </a:solidFill>
                <a:latin typeface="Arial" panose="020B0604020202020204" pitchFamily="34" charset="0"/>
                <a:cs typeface="Arial" panose="020B0604020202020204" pitchFamily="34" charset="0"/>
              </a:rPr>
              <a:t>range-free localization </a:t>
            </a:r>
            <a:r>
              <a:rPr lang="en-US" altLang="zh-CN" sz="2400" dirty="0">
                <a:latin typeface="Arial" panose="020B0604020202020204" pitchFamily="34" charset="0"/>
                <a:cs typeface="Arial" panose="020B0604020202020204" pitchFamily="34" charset="0"/>
              </a:rPr>
              <a:t>approach</a:t>
            </a:r>
          </a:p>
          <a:p>
            <a:pPr lvl="1">
              <a:lnSpc>
                <a:spcPct val="120000"/>
              </a:lnSpc>
              <a:spcBef>
                <a:spcPts val="0"/>
              </a:spcBef>
            </a:pPr>
            <a:r>
              <a:rPr lang="en-US" altLang="zh-CN" sz="2000" dirty="0">
                <a:latin typeface="Arial" panose="020B0604020202020204" pitchFamily="34" charset="0"/>
                <a:cs typeface="Arial" panose="020B0604020202020204" pitchFamily="34" charset="0"/>
              </a:rPr>
              <a:t>based on connectivity information instead of distance/angle measurements</a:t>
            </a:r>
          </a:p>
          <a:p>
            <a:pPr lvl="1">
              <a:lnSpc>
                <a:spcPct val="120000"/>
              </a:lnSpc>
              <a:spcBef>
                <a:spcPts val="0"/>
              </a:spcBef>
            </a:pPr>
            <a:r>
              <a:rPr lang="en-US" altLang="zh-CN" sz="2000" dirty="0">
                <a:latin typeface="Arial" panose="020B0604020202020204" pitchFamily="34" charset="0"/>
                <a:cs typeface="Arial" panose="020B0604020202020204" pitchFamily="34" charset="0"/>
              </a:rPr>
              <a:t>no additional hardware required (cost-effective)</a:t>
            </a:r>
          </a:p>
          <a:p>
            <a:pPr marL="457200" lvl="1" indent="0">
              <a:lnSpc>
                <a:spcPct val="120000"/>
              </a:lnSpc>
              <a:spcBef>
                <a:spcPts val="0"/>
              </a:spcBef>
              <a:buNone/>
            </a:pPr>
            <a:endParaRPr lang="en-US" altLang="zh-CN" sz="2000" dirty="0">
              <a:latin typeface="Arial" panose="020B0604020202020204" pitchFamily="34" charset="0"/>
              <a:cs typeface="Arial" panose="020B0604020202020204" pitchFamily="34" charset="0"/>
            </a:endParaRPr>
          </a:p>
          <a:p>
            <a:pPr>
              <a:lnSpc>
                <a:spcPct val="120000"/>
              </a:lnSpc>
              <a:spcBef>
                <a:spcPts val="0"/>
              </a:spcBef>
            </a:pPr>
            <a:r>
              <a:rPr lang="en-US" altLang="zh-CN" sz="2400" dirty="0">
                <a:solidFill>
                  <a:schemeClr val="accent1"/>
                </a:solidFill>
                <a:latin typeface="Arial" panose="020B0604020202020204" pitchFamily="34" charset="0"/>
                <a:cs typeface="Arial" panose="020B0604020202020204" pitchFamily="34" charset="0"/>
              </a:rPr>
              <a:t>APS</a:t>
            </a:r>
            <a:r>
              <a:rPr lang="en-US" altLang="zh-CN" sz="2400" dirty="0">
                <a:latin typeface="Arial" panose="020B0604020202020204" pitchFamily="34" charset="0"/>
                <a:cs typeface="Arial" panose="020B0604020202020204" pitchFamily="34" charset="0"/>
              </a:rPr>
              <a:t> is a distributed connectivity-based localization algorithm</a:t>
            </a:r>
          </a:p>
          <a:p>
            <a:pPr lvl="1">
              <a:lnSpc>
                <a:spcPct val="120000"/>
              </a:lnSpc>
              <a:spcBef>
                <a:spcPts val="0"/>
              </a:spcBef>
            </a:pPr>
            <a:r>
              <a:rPr lang="en-US" altLang="zh-CN" sz="2000" dirty="0">
                <a:latin typeface="Arial" panose="020B0604020202020204" pitchFamily="34" charset="0"/>
                <a:cs typeface="Arial" panose="020B0604020202020204" pitchFamily="34" charset="0"/>
              </a:rPr>
              <a:t>estimates node locations with the support of at least three anchor nodes</a:t>
            </a:r>
          </a:p>
          <a:p>
            <a:pPr lvl="2">
              <a:lnSpc>
                <a:spcPct val="120000"/>
              </a:lnSpc>
              <a:spcBef>
                <a:spcPts val="0"/>
              </a:spcBef>
            </a:pPr>
            <a:r>
              <a:rPr lang="en-US" altLang="zh-CN" sz="1800" dirty="0">
                <a:latin typeface="Arial" panose="020B0604020202020204" pitchFamily="34" charset="0"/>
                <a:cs typeface="Arial" panose="020B0604020202020204" pitchFamily="34" charset="0"/>
              </a:rPr>
              <a:t>localization errors can be reduced by increasing the number of anchors</a:t>
            </a:r>
          </a:p>
          <a:p>
            <a:pPr lvl="1">
              <a:lnSpc>
                <a:spcPct val="120000"/>
              </a:lnSpc>
              <a:spcBef>
                <a:spcPts val="0"/>
              </a:spcBef>
            </a:pPr>
            <a:r>
              <a:rPr lang="en-US" altLang="zh-CN" sz="2000" dirty="0">
                <a:latin typeface="Arial" panose="020B0604020202020204" pitchFamily="34" charset="0"/>
                <a:cs typeface="Arial" panose="020B0604020202020204" pitchFamily="34" charset="0"/>
              </a:rPr>
              <a:t>uses concept of DV (distance vector), where nodes exchange routing tables with their one-hop neighbors</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430219"/>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199" y="1825625"/>
                <a:ext cx="10853691" cy="4667250"/>
              </a:xfrm>
            </p:spPr>
            <p:txBody>
              <a:bodyPr>
                <a:normAutofit lnSpcReduction="10000"/>
              </a:bodyPr>
              <a:lstStyle/>
              <a:p>
                <a:pPr>
                  <a:lnSpc>
                    <a:spcPct val="120000"/>
                  </a:lnSpc>
                  <a:spcBef>
                    <a:spcPts val="0"/>
                  </a:spcBef>
                </a:pPr>
                <a:r>
                  <a:rPr lang="en-US" altLang="zh-CN" sz="2400" dirty="0">
                    <a:latin typeface="Arial" panose="020B0604020202020204" pitchFamily="34" charset="0"/>
                    <a:cs typeface="Arial" panose="020B0604020202020204" pitchFamily="34" charset="0"/>
                  </a:rPr>
                  <a:t>Most basic scheme of APS: </a:t>
                </a:r>
                <a:r>
                  <a:rPr lang="en-US" altLang="zh-CN" sz="2400" dirty="0">
                    <a:solidFill>
                      <a:schemeClr val="accent1"/>
                    </a:solidFill>
                    <a:latin typeface="Arial" panose="020B0604020202020204" pitchFamily="34" charset="0"/>
                    <a:cs typeface="Arial" panose="020B0604020202020204" pitchFamily="34" charset="0"/>
                  </a:rPr>
                  <a:t>DV-hop</a:t>
                </a:r>
              </a:p>
              <a:p>
                <a:pPr>
                  <a:lnSpc>
                    <a:spcPct val="120000"/>
                  </a:lnSpc>
                  <a:spcBef>
                    <a:spcPts val="0"/>
                  </a:spcBef>
                </a:pPr>
                <a:r>
                  <a:rPr lang="en-US" altLang="zh-CN" sz="2400" dirty="0">
                    <a:latin typeface="Arial" panose="020B0604020202020204" pitchFamily="34" charset="0"/>
                    <a:cs typeface="Arial" panose="020B0604020202020204" pitchFamily="34" charset="0"/>
                  </a:rPr>
                  <a:t>each node maintains a table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a:rPr>
                          <m:t>𝑋</m:t>
                        </m:r>
                      </m:e>
                      <m:sub>
                        <m:r>
                          <a:rPr lang="en-US" altLang="zh-CN" sz="2400" b="0" i="1" smtClean="0">
                            <a:latin typeface="Cambria Math"/>
                          </a:rPr>
                          <m:t>𝑖</m:t>
                        </m:r>
                      </m:sub>
                    </m:sSub>
                  </m:oMath>
                </a14:m>
                <a:r>
                  <a:rPr lang="en-US" altLang="zh-CN" sz="2400" dirty="0">
                    <a:latin typeface="Arial" panose="020B0604020202020204" pitchFamily="34" charset="0"/>
                    <a:cs typeface="Arial" panose="020B0604020202020204" pitchFamily="34" charset="0"/>
                  </a:rPr>
                  <a:t>, </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b="0" i="1" dirty="0" smtClean="0">
                            <a:latin typeface="Cambria Math"/>
                          </a:rPr>
                          <m:t>𝑌</m:t>
                        </m:r>
                      </m:e>
                      <m:sub>
                        <m:r>
                          <a:rPr lang="en-US" altLang="zh-CN" sz="2400" b="0" i="1" dirty="0" smtClean="0">
                            <a:latin typeface="Cambria Math"/>
                          </a:rPr>
                          <m:t>𝑖</m:t>
                        </m:r>
                      </m:sub>
                    </m:sSub>
                  </m:oMath>
                </a14:m>
                <a:r>
                  <a:rPr lang="en-US" altLang="zh-CN" sz="2400" dirty="0">
                    <a:latin typeface="Arial" panose="020B0604020202020204" pitchFamily="34" charset="0"/>
                    <a:cs typeface="Arial" panose="020B0604020202020204" pitchFamily="34" charset="0"/>
                  </a:rPr>
                  <a:t>, </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b="0" i="1" dirty="0" smtClean="0">
                            <a:latin typeface="Cambria Math"/>
                          </a:rPr>
                          <m:t>h</m:t>
                        </m:r>
                      </m:e>
                      <m:sub>
                        <m:r>
                          <a:rPr lang="en-US" altLang="zh-CN" sz="2400" b="0" i="1" dirty="0" smtClean="0">
                            <a:latin typeface="Cambria Math"/>
                          </a:rPr>
                          <m:t>𝑖</m:t>
                        </m:r>
                      </m:sub>
                    </m:sSub>
                  </m:oMath>
                </a14:m>
                <a:r>
                  <a:rPr lang="en-US" altLang="zh-CN" sz="2400" dirty="0">
                    <a:latin typeface="Arial" panose="020B0604020202020204" pitchFamily="34" charset="0"/>
                    <a:cs typeface="Arial" panose="020B0604020202020204" pitchFamily="34" charset="0"/>
                  </a:rPr>
                  <a:t>} (location of node </a:t>
                </a:r>
                <a:r>
                  <a:rPr lang="en-US" altLang="zh-CN" sz="2400" dirty="0" err="1">
                    <a:latin typeface="Arial" panose="020B0604020202020204" pitchFamily="34" charset="0"/>
                    <a:cs typeface="Arial" panose="020B0604020202020204" pitchFamily="34" charset="0"/>
                  </a:rPr>
                  <a:t>i</a:t>
                </a:r>
                <a:r>
                  <a:rPr lang="en-US" altLang="zh-CN" sz="2400" dirty="0">
                    <a:latin typeface="Arial" panose="020B0604020202020204" pitchFamily="34" charset="0"/>
                    <a:cs typeface="Arial" panose="020B0604020202020204" pitchFamily="34" charset="0"/>
                  </a:rPr>
                  <a:t> and distance in hops between this node and node </a:t>
                </a:r>
                <a:r>
                  <a:rPr lang="en-US" altLang="zh-CN" sz="2400" dirty="0" err="1">
                    <a:latin typeface="Arial" panose="020B0604020202020204" pitchFamily="34" charset="0"/>
                    <a:cs typeface="Arial" panose="020B0604020202020204" pitchFamily="34" charset="0"/>
                  </a:rPr>
                  <a:t>i</a:t>
                </a:r>
                <a:r>
                  <a:rPr lang="en-US" altLang="zh-CN" sz="2400" dirty="0">
                    <a:latin typeface="Arial" panose="020B0604020202020204" pitchFamily="34" charset="0"/>
                    <a:cs typeface="Arial" panose="020B0604020202020204" pitchFamily="34" charset="0"/>
                  </a:rPr>
                  <a:t>)</a:t>
                </a:r>
              </a:p>
              <a:p>
                <a:pPr>
                  <a:lnSpc>
                    <a:spcPct val="120000"/>
                  </a:lnSpc>
                  <a:spcBef>
                    <a:spcPts val="0"/>
                  </a:spcBef>
                </a:pPr>
                <a:r>
                  <a:rPr lang="en-US" altLang="zh-CN" sz="2400" dirty="0">
                    <a:latin typeface="Arial" panose="020B0604020202020204" pitchFamily="34" charset="0"/>
                    <a:cs typeface="Arial" panose="020B0604020202020204" pitchFamily="34" charset="0"/>
                  </a:rPr>
                  <a:t>when an anchor obtains distances to other anchors, it determines the average hop length (“correction factor”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a:rPr>
                          <m:t>𝑐</m:t>
                        </m:r>
                      </m:e>
                      <m:sub>
                        <m:r>
                          <a:rPr lang="en-US" altLang="zh-CN" sz="2400" b="0" i="1" smtClean="0">
                            <a:latin typeface="Cambria Math"/>
                          </a:rPr>
                          <m:t>𝑖</m:t>
                        </m:r>
                      </m:sub>
                    </m:sSub>
                  </m:oMath>
                </a14:m>
                <a:r>
                  <a:rPr lang="en-US" altLang="zh-CN" sz="2400" dirty="0">
                    <a:latin typeface="Arial" panose="020B0604020202020204" pitchFamily="34" charset="0"/>
                    <a:cs typeface="Arial" panose="020B0604020202020204" pitchFamily="34" charset="0"/>
                  </a:rPr>
                  <a:t>), which is then propagated throughout the network</a:t>
                </a: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a:rPr>
                            <m:t>𝑐</m:t>
                          </m:r>
                        </m:e>
                        <m:sub>
                          <m:r>
                            <a:rPr lang="en-US" altLang="zh-CN" sz="2400" b="0" i="1" smtClean="0">
                              <a:latin typeface="Cambria Math"/>
                            </a:rPr>
                            <m:t>𝑖</m:t>
                          </m:r>
                        </m:sub>
                      </m:sSub>
                      <m:r>
                        <a:rPr lang="en-US" altLang="zh-CN" sz="2400" b="0" i="1" smtClean="0">
                          <a:latin typeface="Cambria Math"/>
                        </a:rPr>
                        <m:t>=</m:t>
                      </m:r>
                      <m:f>
                        <m:fPr>
                          <m:ctrlPr>
                            <a:rPr lang="en-US" altLang="zh-CN" sz="2400" b="0" i="1" smtClean="0">
                              <a:latin typeface="Cambria Math" panose="02040503050406030204" pitchFamily="18" charset="0"/>
                            </a:rPr>
                          </m:ctrlPr>
                        </m:fPr>
                        <m:num>
                          <m:nary>
                            <m:naryPr>
                              <m:chr m:val="∑"/>
                              <m:subHide m:val="on"/>
                              <m:supHide m:val="on"/>
                              <m:ctrlPr>
                                <a:rPr lang="en-US" altLang="zh-CN" sz="2400" b="0" i="1" smtClean="0">
                                  <a:latin typeface="Cambria Math" panose="02040503050406030204" pitchFamily="18" charset="0"/>
                                </a:rPr>
                              </m:ctrlPr>
                            </m:naryPr>
                            <m:sub/>
                            <m:sup/>
                            <m:e>
                              <m:rad>
                                <m:radPr>
                                  <m:degHide m:val="on"/>
                                  <m:ctrlPr>
                                    <a:rPr lang="en-US" altLang="zh-CN" sz="2400" b="0" i="1" smtClean="0">
                                      <a:latin typeface="Cambria Math" panose="02040503050406030204" pitchFamily="18" charset="0"/>
                                    </a:rPr>
                                  </m:ctrlPr>
                                </m:radPr>
                                <m:deg/>
                                <m:e>
                                  <m:sSup>
                                    <m:sSupPr>
                                      <m:ctrlPr>
                                        <a:rPr lang="en-US" altLang="zh-CN" sz="2400" b="0" i="1" smtClean="0">
                                          <a:latin typeface="Cambria Math" panose="02040503050406030204" pitchFamily="18" charset="0"/>
                                        </a:rPr>
                                      </m:ctrlPr>
                                    </m:sSupPr>
                                    <m:e>
                                      <m:r>
                                        <a:rPr lang="en-US" altLang="zh-CN" sz="2400" b="0" i="1" smtClean="0">
                                          <a:latin typeface="Cambria Math"/>
                                        </a:rPr>
                                        <m:t>(</m:t>
                                      </m:r>
                                      <m:sSub>
                                        <m:sSubPr>
                                          <m:ctrlPr>
                                            <a:rPr lang="en-US" altLang="zh-CN" sz="2400" i="1">
                                              <a:latin typeface="Cambria Math" panose="02040503050406030204" pitchFamily="18" charset="0"/>
                                            </a:rPr>
                                          </m:ctrlPr>
                                        </m:sSubPr>
                                        <m:e>
                                          <m:r>
                                            <a:rPr lang="en-US" altLang="zh-CN" sz="2400" i="1">
                                              <a:latin typeface="Cambria Math"/>
                                            </a:rPr>
                                            <m:t>𝑋</m:t>
                                          </m:r>
                                        </m:e>
                                        <m:sub>
                                          <m:r>
                                            <a:rPr lang="en-US" altLang="zh-CN" sz="2400" i="1">
                                              <a:latin typeface="Cambria Math"/>
                                            </a:rPr>
                                            <m:t>𝑖</m:t>
                                          </m:r>
                                        </m:sub>
                                      </m:sSub>
                                      <m:r>
                                        <a:rPr lang="en-US" altLang="zh-CN" sz="2400" b="0" i="1" smtClean="0">
                                          <a:latin typeface="Cambria Math"/>
                                        </a:rPr>
                                        <m:t>−</m:t>
                                      </m:r>
                                      <m:sSub>
                                        <m:sSubPr>
                                          <m:ctrlPr>
                                            <a:rPr lang="en-US" altLang="zh-CN" sz="2400" i="1">
                                              <a:latin typeface="Cambria Math" panose="02040503050406030204" pitchFamily="18" charset="0"/>
                                            </a:rPr>
                                          </m:ctrlPr>
                                        </m:sSubPr>
                                        <m:e>
                                          <m:r>
                                            <a:rPr lang="en-US" altLang="zh-CN" sz="2400" i="1">
                                              <a:latin typeface="Cambria Math"/>
                                            </a:rPr>
                                            <m:t>𝑋</m:t>
                                          </m:r>
                                        </m:e>
                                        <m:sub>
                                          <m:r>
                                            <a:rPr lang="en-US" altLang="zh-CN" sz="2400" b="0" i="1" smtClean="0">
                                              <a:latin typeface="Cambria Math"/>
                                            </a:rPr>
                                            <m:t>𝑗</m:t>
                                          </m:r>
                                        </m:sub>
                                      </m:sSub>
                                      <m:r>
                                        <a:rPr lang="en-US" altLang="zh-CN" sz="2400" b="0" i="1" smtClean="0">
                                          <a:latin typeface="Cambria Math"/>
                                        </a:rPr>
                                        <m:t>)</m:t>
                                      </m:r>
                                    </m:e>
                                    <m:sup>
                                      <m:r>
                                        <a:rPr lang="en-US" altLang="zh-CN" sz="2400" b="0" i="1" smtClean="0">
                                          <a:latin typeface="Cambria Math"/>
                                        </a:rPr>
                                        <m:t>2</m:t>
                                      </m:r>
                                    </m:sup>
                                  </m:sSup>
                                  <m:sSup>
                                    <m:sSupPr>
                                      <m:ctrlPr>
                                        <a:rPr lang="en-US" altLang="zh-CN" sz="2400" b="0" i="1" smtClean="0">
                                          <a:latin typeface="Cambria Math" panose="02040503050406030204" pitchFamily="18" charset="0"/>
                                        </a:rPr>
                                      </m:ctrlPr>
                                    </m:sSupPr>
                                    <m:e>
                                      <m:r>
                                        <a:rPr lang="en-US" altLang="zh-CN" sz="2400" b="0" i="1" smtClean="0">
                                          <a:latin typeface="Cambria Math"/>
                                        </a:rPr>
                                        <m:t>+(</m:t>
                                      </m:r>
                                      <m:sSub>
                                        <m:sSubPr>
                                          <m:ctrlPr>
                                            <a:rPr lang="en-US" altLang="zh-CN" sz="2400" i="1" dirty="0">
                                              <a:latin typeface="Cambria Math" panose="02040503050406030204" pitchFamily="18" charset="0"/>
                                            </a:rPr>
                                          </m:ctrlPr>
                                        </m:sSubPr>
                                        <m:e>
                                          <m:r>
                                            <a:rPr lang="en-US" altLang="zh-CN" sz="2400" i="1" dirty="0">
                                              <a:latin typeface="Cambria Math"/>
                                            </a:rPr>
                                            <m:t>𝑌</m:t>
                                          </m:r>
                                        </m:e>
                                        <m:sub>
                                          <m:r>
                                            <a:rPr lang="en-US" altLang="zh-CN" sz="2400" i="1" dirty="0">
                                              <a:latin typeface="Cambria Math"/>
                                            </a:rPr>
                                            <m:t>𝑖</m:t>
                                          </m:r>
                                        </m:sub>
                                      </m:sSub>
                                      <m:r>
                                        <a:rPr lang="en-US" altLang="zh-CN" sz="2400" b="0" i="1" dirty="0" smtClean="0">
                                          <a:latin typeface="Cambria Math"/>
                                        </a:rPr>
                                        <m:t>−</m:t>
                                      </m:r>
                                      <m:sSub>
                                        <m:sSubPr>
                                          <m:ctrlPr>
                                            <a:rPr lang="en-US" altLang="zh-CN" sz="2400" i="1" dirty="0">
                                              <a:latin typeface="Cambria Math" panose="02040503050406030204" pitchFamily="18" charset="0"/>
                                            </a:rPr>
                                          </m:ctrlPr>
                                        </m:sSubPr>
                                        <m:e>
                                          <m:r>
                                            <a:rPr lang="en-US" altLang="zh-CN" sz="2400" i="1" dirty="0">
                                              <a:latin typeface="Cambria Math"/>
                                            </a:rPr>
                                            <m:t>𝑌</m:t>
                                          </m:r>
                                        </m:e>
                                        <m:sub>
                                          <m:r>
                                            <a:rPr lang="en-US" altLang="zh-CN" sz="2400" b="0" i="1" dirty="0" smtClean="0">
                                              <a:latin typeface="Cambria Math"/>
                                            </a:rPr>
                                            <m:t>𝑗</m:t>
                                          </m:r>
                                        </m:sub>
                                      </m:sSub>
                                      <m:r>
                                        <a:rPr lang="en-US" altLang="zh-CN" sz="2400" b="0" i="1" smtClean="0">
                                          <a:latin typeface="Cambria Math"/>
                                        </a:rPr>
                                        <m:t>)</m:t>
                                      </m:r>
                                    </m:e>
                                    <m:sup>
                                      <m:r>
                                        <a:rPr lang="en-US" altLang="zh-CN" sz="2400" b="0" i="1" smtClean="0">
                                          <a:latin typeface="Cambria Math"/>
                                        </a:rPr>
                                        <m:t>2</m:t>
                                      </m:r>
                                    </m:sup>
                                  </m:sSup>
                                </m:e>
                              </m:rad>
                            </m:e>
                          </m:nary>
                        </m:num>
                        <m:den>
                          <m:nary>
                            <m:naryPr>
                              <m:chr m:val="∑"/>
                              <m:subHide m:val="on"/>
                              <m:supHide m:val="on"/>
                              <m:ctrlPr>
                                <a:rPr lang="en-US" altLang="zh-CN" sz="2400" b="0" i="1" smtClean="0">
                                  <a:latin typeface="Cambria Math" panose="02040503050406030204" pitchFamily="18" charset="0"/>
                                </a:rPr>
                              </m:ctrlPr>
                            </m:naryPr>
                            <m:sub/>
                            <m:sup/>
                            <m:e>
                              <m:sSub>
                                <m:sSubPr>
                                  <m:ctrlPr>
                                    <a:rPr lang="en-US" altLang="zh-CN" sz="2400" b="0" i="1" smtClean="0">
                                      <a:latin typeface="Cambria Math" panose="02040503050406030204" pitchFamily="18" charset="0"/>
                                    </a:rPr>
                                  </m:ctrlPr>
                                </m:sSubPr>
                                <m:e>
                                  <m:r>
                                    <a:rPr lang="en-US" altLang="zh-CN" sz="2400" b="0" i="1" smtClean="0">
                                      <a:latin typeface="Cambria Math"/>
                                    </a:rPr>
                                    <m:t>h</m:t>
                                  </m:r>
                                </m:e>
                                <m:sub>
                                  <m:r>
                                    <a:rPr lang="en-US" altLang="zh-CN" sz="2400" b="0" i="1" smtClean="0">
                                      <a:latin typeface="Cambria Math"/>
                                    </a:rPr>
                                    <m:t>𝑖</m:t>
                                  </m:r>
                                </m:sub>
                              </m:sSub>
                            </m:e>
                          </m:nary>
                        </m:den>
                      </m:f>
                    </m:oMath>
                  </m:oMathPara>
                </a14:m>
                <a:endParaRPr lang="en-US" altLang="zh-CN" sz="2400" dirty="0">
                  <a:latin typeface="Arial" panose="020B0604020202020204" pitchFamily="34" charset="0"/>
                  <a:cs typeface="Arial" panose="020B0604020202020204" pitchFamily="34" charset="0"/>
                </a:endParaRPr>
              </a:p>
              <a:p>
                <a:pPr>
                  <a:lnSpc>
                    <a:spcPct val="120000"/>
                  </a:lnSpc>
                  <a:spcBef>
                    <a:spcPts val="0"/>
                  </a:spcBef>
                </a:pPr>
                <a:r>
                  <a:rPr lang="en-US" altLang="zh-CN" sz="2400" dirty="0">
                    <a:latin typeface="Arial" panose="020B0604020202020204" pitchFamily="34" charset="0"/>
                    <a:cs typeface="Arial" panose="020B0604020202020204" pitchFamily="34" charset="0"/>
                  </a:rPr>
                  <a:t>given the correction factor and the anchor locations, a node can perform trilateration</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199" y="1825625"/>
                <a:ext cx="10853691" cy="4667250"/>
              </a:xfrm>
              <a:blipFill>
                <a:blip r:embed="rId2"/>
                <a:stretch>
                  <a:fillRect l="-730" t="-783" b="-2742"/>
                </a:stretch>
              </a:blipFill>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9B116BA2-A886-4449-AC50-9AAAD4F1965A}"/>
              </a:ext>
            </a:extLst>
          </p:cNvPr>
          <p:cNvSpPr>
            <a:spLocks noGrp="1"/>
          </p:cNvSpPr>
          <p:nvPr>
            <p:ph type="title"/>
          </p:nvPr>
        </p:nvSpPr>
        <p:spPr>
          <a:xfrm>
            <a:off x="838200" y="365125"/>
            <a:ext cx="10515600" cy="1325563"/>
          </a:xfrm>
        </p:spPr>
        <p:txBody>
          <a:bodyPr/>
          <a:lstStyle/>
          <a:p>
            <a:r>
              <a:rPr lang="en-US" altLang="zh-CN" b="1" dirty="0">
                <a:latin typeface="Arial" panose="020B0604020202020204" pitchFamily="34" charset="0"/>
                <a:cs typeface="Arial" panose="020B0604020202020204" pitchFamily="34" charset="0"/>
              </a:rPr>
              <a:t>Ad Hoc Positioning System (APS) </a:t>
            </a:r>
            <a:endParaRPr lang="zh-CN"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7388212"/>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Ad Hoc Positioning System (APS) </a:t>
            </a:r>
            <a:endParaRPr lang="zh-CN" altLang="en-US"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628543"/>
                <a:ext cx="10515600" cy="2472939"/>
              </a:xfrm>
            </p:spPr>
            <p:txBody>
              <a:bodyPr>
                <a:normAutofit lnSpcReduction="10000"/>
              </a:bodyPr>
              <a:lstStyle/>
              <a:p>
                <a:pPr>
                  <a:lnSpc>
                    <a:spcPct val="120000"/>
                  </a:lnSpc>
                </a:pPr>
                <a:r>
                  <a:rPr lang="en-US" altLang="zh-CN" sz="2400" dirty="0">
                    <a:latin typeface="Arial" panose="020B0604020202020204" pitchFamily="34" charset="0"/>
                    <a:cs typeface="Arial" panose="020B0604020202020204" pitchFamily="34" charset="0"/>
                  </a:rPr>
                  <a:t>Example with three anchors</a:t>
                </a:r>
              </a:p>
              <a:p>
                <a:pPr lvl="1">
                  <a:lnSpc>
                    <a:spcPct val="120000"/>
                  </a:lnSpc>
                </a:pP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a:rPr>
                          <m:t>𝐴</m:t>
                        </m:r>
                      </m:e>
                      <m:sub>
                        <m:r>
                          <a:rPr lang="en-US" altLang="zh-CN" sz="2000" b="0" i="1" smtClean="0">
                            <a:latin typeface="Cambria Math"/>
                          </a:rPr>
                          <m:t>1</m:t>
                        </m:r>
                      </m:sub>
                    </m:sSub>
                  </m:oMath>
                </a14:m>
                <a:r>
                  <a:rPr lang="en-US" altLang="zh-CN" sz="2000" dirty="0">
                    <a:latin typeface="Arial" panose="020B0604020202020204" pitchFamily="34" charset="0"/>
                    <a:cs typeface="Arial" panose="020B0604020202020204" pitchFamily="34" charset="0"/>
                  </a:rPr>
                  <a:t> knows its distance to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a:rPr>
                          <m:t>𝐴</m:t>
                        </m:r>
                      </m:e>
                      <m:sub>
                        <m:r>
                          <a:rPr lang="en-US" altLang="zh-CN" sz="2000" b="0" i="1" smtClean="0">
                            <a:latin typeface="Cambria Math"/>
                          </a:rPr>
                          <m:t>2</m:t>
                        </m:r>
                      </m:sub>
                    </m:sSub>
                  </m:oMath>
                </a14:m>
                <a:r>
                  <a:rPr lang="en-US" altLang="zh-CN" sz="2000" dirty="0">
                    <a:latin typeface="Arial" panose="020B0604020202020204" pitchFamily="34" charset="0"/>
                    <a:cs typeface="Arial" panose="020B0604020202020204" pitchFamily="34" charset="0"/>
                  </a:rPr>
                  <a:t> (50m) and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a:rPr>
                          <m:t>𝐴</m:t>
                        </m:r>
                      </m:e>
                      <m:sub>
                        <m:r>
                          <a:rPr lang="en-US" altLang="zh-CN" sz="2000" b="0" i="1" smtClean="0">
                            <a:latin typeface="Cambria Math"/>
                          </a:rPr>
                          <m:t>3</m:t>
                        </m:r>
                      </m:sub>
                    </m:sSub>
                  </m:oMath>
                </a14:m>
                <a:r>
                  <a:rPr lang="en-US" altLang="zh-CN" sz="2000" dirty="0">
                    <a:latin typeface="Arial" panose="020B0604020202020204" pitchFamily="34" charset="0"/>
                    <a:cs typeface="Arial" panose="020B0604020202020204" pitchFamily="34" charset="0"/>
                  </a:rPr>
                  <a:t> (110m)</a:t>
                </a:r>
              </a:p>
              <a:p>
                <a:pPr lvl="1">
                  <a:lnSpc>
                    <a:spcPct val="120000"/>
                  </a:lnSpc>
                </a:pP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a:rPr>
                          <m:t>𝐴</m:t>
                        </m:r>
                      </m:e>
                      <m:sub>
                        <m:r>
                          <a:rPr lang="en-US" altLang="zh-CN" sz="2000" i="1">
                            <a:latin typeface="Cambria Math"/>
                          </a:rPr>
                          <m:t>1</m:t>
                        </m:r>
                      </m:sub>
                    </m:sSub>
                    <m:r>
                      <a:rPr lang="en-US" altLang="zh-CN" sz="2000" i="1">
                        <a:latin typeface="Cambria Math"/>
                      </a:rPr>
                      <m:t> </m:t>
                    </m:r>
                  </m:oMath>
                </a14:m>
                <a:r>
                  <a:rPr lang="en-US" altLang="zh-CN" sz="2000" dirty="0">
                    <a:latin typeface="Arial" panose="020B0604020202020204" pitchFamily="34" charset="0"/>
                    <a:cs typeface="Arial" panose="020B0604020202020204" pitchFamily="34" charset="0"/>
                  </a:rPr>
                  <a:t> knows its hop distance to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a:rPr>
                          <m:t>𝐴</m:t>
                        </m:r>
                      </m:e>
                      <m:sub>
                        <m:r>
                          <a:rPr lang="en-US" altLang="zh-CN" sz="2000" b="0" i="1" smtClean="0">
                            <a:latin typeface="Cambria Math"/>
                          </a:rPr>
                          <m:t>2</m:t>
                        </m:r>
                      </m:sub>
                    </m:sSub>
                  </m:oMath>
                </a14:m>
                <a:r>
                  <a:rPr lang="en-US" altLang="zh-CN" sz="2000" dirty="0">
                    <a:latin typeface="Arial" panose="020B0604020202020204" pitchFamily="34" charset="0"/>
                    <a:cs typeface="Arial" panose="020B0604020202020204" pitchFamily="34" charset="0"/>
                  </a:rPr>
                  <a:t> (2) and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a:rPr>
                          <m:t>𝐴</m:t>
                        </m:r>
                      </m:e>
                      <m:sub>
                        <m:r>
                          <a:rPr lang="en-US" altLang="zh-CN" sz="2000" b="0" i="1" smtClean="0">
                            <a:latin typeface="Cambria Math"/>
                          </a:rPr>
                          <m:t>3</m:t>
                        </m:r>
                      </m:sub>
                    </m:sSub>
                  </m:oMath>
                </a14:m>
                <a:r>
                  <a:rPr lang="en-US" altLang="zh-CN" sz="2000" dirty="0">
                    <a:latin typeface="Arial" panose="020B0604020202020204" pitchFamily="34" charset="0"/>
                    <a:cs typeface="Arial" panose="020B0604020202020204" pitchFamily="34" charset="0"/>
                  </a:rPr>
                  <a:t> (6)</a:t>
                </a:r>
              </a:p>
              <a:p>
                <a:pPr lvl="1">
                  <a:lnSpc>
                    <a:spcPct val="120000"/>
                  </a:lnSpc>
                </a:pPr>
                <a:r>
                  <a:rPr lang="en-US" altLang="zh-CN" sz="2000" dirty="0">
                    <a:latin typeface="Arial" panose="020B0604020202020204" pitchFamily="34" charset="0"/>
                    <a:cs typeface="Arial" panose="020B0604020202020204" pitchFamily="34" charset="0"/>
                  </a:rPr>
                  <a:t>correction factor: (50+110)/(2+6) = 20 (estimated distance of a hop)</a:t>
                </a:r>
              </a:p>
              <a:p>
                <a:pPr lvl="1">
                  <a:lnSpc>
                    <a:spcPct val="120000"/>
                  </a:lnSpc>
                </a:pPr>
                <a:r>
                  <a:rPr lang="en-US" altLang="zh-CN" sz="2000" dirty="0">
                    <a:latin typeface="Arial" panose="020B0604020202020204" pitchFamily="34" charset="0"/>
                    <a:cs typeface="Arial" panose="020B0604020202020204" pitchFamily="34" charset="0"/>
                  </a:rPr>
                  <a:t>corrections are propagated using controlled flooding, i.e., a node only uses one correction factor and ignores subsequently received ones</a:t>
                </a:r>
                <a:endParaRPr lang="zh-CN" altLang="en-US" sz="2000" dirty="0">
                  <a:latin typeface="Arial" panose="020B0604020202020204" pitchFamily="34" charset="0"/>
                  <a:cs typeface="Arial" panose="020B0604020202020204" pitchFamily="34"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628543"/>
                <a:ext cx="10515600" cy="2472939"/>
              </a:xfrm>
              <a:blipFill>
                <a:blip r:embed="rId2"/>
                <a:stretch>
                  <a:fillRect l="-812" t="-1478" b="-1478"/>
                </a:stretch>
              </a:blipFill>
            </p:spPr>
            <p:txBody>
              <a:bodyPr/>
              <a:lstStyle/>
              <a:p>
                <a:r>
                  <a:rPr lang="zh-CN" altLang="en-US">
                    <a:noFill/>
                  </a:rPr>
                  <a:t> </a:t>
                </a:r>
              </a:p>
            </p:txBody>
          </p:sp>
        </mc:Fallback>
      </mc:AlternateContent>
      <p:pic>
        <p:nvPicPr>
          <p:cNvPr id="5" name="Picture 2">
            <a:extLst>
              <a:ext uri="{FF2B5EF4-FFF2-40B4-BE49-F238E27FC236}">
                <a16:creationId xmlns:a16="http://schemas.microsoft.com/office/drawing/2014/main" id="{3850C33D-8F9E-44BA-A7B7-63CD08D1E6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300" y="4101482"/>
            <a:ext cx="8153400" cy="2612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1402520"/>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Ad Hoc Positioning System (APS)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200" y="1690687"/>
            <a:ext cx="10515600" cy="4585825"/>
          </a:xfrm>
        </p:spPr>
        <p:txBody>
          <a:bodyPr>
            <a:normAutofit fontScale="92500" lnSpcReduction="10000"/>
          </a:bodyPr>
          <a:lstStyle/>
          <a:p>
            <a:pPr>
              <a:lnSpc>
                <a:spcPct val="120000"/>
              </a:lnSpc>
              <a:spcBef>
                <a:spcPts val="0"/>
              </a:spcBef>
            </a:pPr>
            <a:r>
              <a:rPr lang="en-US" altLang="zh-CN" dirty="0">
                <a:latin typeface="Arial" panose="020B0604020202020204" pitchFamily="34" charset="0"/>
                <a:cs typeface="Arial" panose="020B0604020202020204" pitchFamily="34" charset="0"/>
              </a:rPr>
              <a:t>Variation of this approach: </a:t>
            </a:r>
            <a:r>
              <a:rPr lang="en-US" altLang="zh-CN" dirty="0">
                <a:solidFill>
                  <a:schemeClr val="accent1"/>
                </a:solidFill>
                <a:latin typeface="Arial" panose="020B0604020202020204" pitchFamily="34" charset="0"/>
                <a:cs typeface="Arial" panose="020B0604020202020204" pitchFamily="34" charset="0"/>
              </a:rPr>
              <a:t>DV-distance method</a:t>
            </a:r>
          </a:p>
          <a:p>
            <a:pPr lvl="1">
              <a:lnSpc>
                <a:spcPct val="120000"/>
              </a:lnSpc>
              <a:spcBef>
                <a:spcPts val="0"/>
              </a:spcBef>
            </a:pPr>
            <a:r>
              <a:rPr lang="en-US" altLang="zh-CN" dirty="0">
                <a:latin typeface="Arial" panose="020B0604020202020204" pitchFamily="34" charset="0"/>
                <a:cs typeface="Arial" panose="020B0604020202020204" pitchFamily="34" charset="0"/>
              </a:rPr>
              <a:t>distances are determined using radio signal strength measurement"</a:t>
            </a:r>
          </a:p>
          <a:p>
            <a:pPr lvl="1">
              <a:lnSpc>
                <a:spcPct val="120000"/>
              </a:lnSpc>
              <a:spcBef>
                <a:spcPts val="0"/>
              </a:spcBef>
            </a:pPr>
            <a:r>
              <a:rPr lang="en-US" altLang="zh-CN" dirty="0">
                <a:latin typeface="Arial" panose="020B0604020202020204" pitchFamily="34" charset="0"/>
                <a:cs typeface="Arial" panose="020B0604020202020204" pitchFamily="34" charset="0"/>
              </a:rPr>
              <a:t>distances are propagated to other nodes</a:t>
            </a:r>
          </a:p>
          <a:p>
            <a:pPr lvl="1">
              <a:lnSpc>
                <a:spcPct val="120000"/>
              </a:lnSpc>
              <a:spcBef>
                <a:spcPts val="0"/>
              </a:spcBef>
            </a:pPr>
            <a:r>
              <a:rPr lang="en-US" altLang="zh-CN" dirty="0">
                <a:latin typeface="Arial" panose="020B0604020202020204" pitchFamily="34" charset="0"/>
                <a:cs typeface="Arial" panose="020B0604020202020204" pitchFamily="34" charset="0"/>
              </a:rPr>
              <a:t>provides finer granularity (not all hops are estimated to be the same size)</a:t>
            </a:r>
          </a:p>
          <a:p>
            <a:pPr lvl="1">
              <a:lnSpc>
                <a:spcPct val="120000"/>
              </a:lnSpc>
              <a:spcBef>
                <a:spcPts val="0"/>
              </a:spcBef>
            </a:pPr>
            <a:r>
              <a:rPr lang="en-US" altLang="zh-CN" dirty="0">
                <a:latin typeface="Arial" panose="020B0604020202020204" pitchFamily="34" charset="0"/>
                <a:cs typeface="Arial" panose="020B0604020202020204" pitchFamily="34" charset="0"/>
              </a:rPr>
              <a:t>more sensitive to measurement errors</a:t>
            </a:r>
          </a:p>
          <a:p>
            <a:pPr>
              <a:lnSpc>
                <a:spcPct val="120000"/>
              </a:lnSpc>
              <a:spcBef>
                <a:spcPts val="0"/>
              </a:spcBef>
            </a:pPr>
            <a:r>
              <a:rPr lang="en-US" altLang="zh-CN" dirty="0">
                <a:latin typeface="Arial" panose="020B0604020202020204" pitchFamily="34" charset="0"/>
                <a:cs typeface="Arial" panose="020B0604020202020204" pitchFamily="34" charset="0"/>
              </a:rPr>
              <a:t>Another variation: </a:t>
            </a:r>
            <a:r>
              <a:rPr lang="en-US" altLang="zh-CN" dirty="0">
                <a:solidFill>
                  <a:schemeClr val="accent1"/>
                </a:solidFill>
                <a:latin typeface="Arial" panose="020B0604020202020204" pitchFamily="34" charset="0"/>
                <a:cs typeface="Arial" panose="020B0604020202020204" pitchFamily="34" charset="0"/>
              </a:rPr>
              <a:t>Euclidean method</a:t>
            </a:r>
          </a:p>
          <a:p>
            <a:pPr lvl="1">
              <a:lnSpc>
                <a:spcPct val="120000"/>
              </a:lnSpc>
              <a:spcBef>
                <a:spcPts val="0"/>
              </a:spcBef>
            </a:pPr>
            <a:r>
              <a:rPr lang="en-US" altLang="zh-CN" dirty="0">
                <a:latin typeface="Arial" panose="020B0604020202020204" pitchFamily="34" charset="0"/>
                <a:cs typeface="Arial" panose="020B0604020202020204" pitchFamily="34" charset="0"/>
              </a:rPr>
              <a:t>true Euclidian distances to anchors are used</a:t>
            </a:r>
          </a:p>
          <a:p>
            <a:pPr lvl="1">
              <a:lnSpc>
                <a:spcPct val="120000"/>
              </a:lnSpc>
              <a:spcBef>
                <a:spcPts val="0"/>
              </a:spcBef>
            </a:pPr>
            <a:r>
              <a:rPr lang="en-US" altLang="zh-CN" dirty="0">
                <a:latin typeface="Arial" panose="020B0604020202020204" pitchFamily="34" charset="0"/>
                <a:cs typeface="Arial" panose="020B0604020202020204" pitchFamily="34" charset="0"/>
              </a:rPr>
              <a:t>node must have at least two neighbors that have distance measurements to anchors and the distance between the two neighbors is known</a:t>
            </a:r>
          </a:p>
          <a:p>
            <a:pPr lvl="1">
              <a:lnSpc>
                <a:spcPct val="120000"/>
              </a:lnSpc>
              <a:spcBef>
                <a:spcPts val="0"/>
              </a:spcBef>
            </a:pPr>
            <a:r>
              <a:rPr lang="en-US" altLang="zh-CN" dirty="0">
                <a:latin typeface="Arial" panose="020B0604020202020204" pitchFamily="34" charset="0"/>
                <a:cs typeface="Arial" panose="020B0604020202020204" pitchFamily="34" charset="0"/>
              </a:rPr>
              <a:t>simple trigonometric relationships are used to determine the distance between node and anchor</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0092432"/>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Lighthouse Approach </a:t>
            </a:r>
            <a:endParaRPr lang="zh-CN" altLang="en-US"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721008"/>
                <a:ext cx="10622872" cy="2057400"/>
              </a:xfrm>
            </p:spPr>
            <p:txBody>
              <a:bodyPr>
                <a:normAutofit/>
              </a:bodyPr>
              <a:lstStyle/>
              <a:p>
                <a:r>
                  <a:rPr lang="en-US" altLang="zh-CN" sz="2400" dirty="0">
                    <a:latin typeface="Arial" panose="020B0604020202020204" pitchFamily="34" charset="0"/>
                    <a:cs typeface="Arial" panose="020B0604020202020204" pitchFamily="34" charset="0"/>
                  </a:rPr>
                  <a:t>Example of an </a:t>
                </a:r>
                <a:r>
                  <a:rPr lang="en-US" altLang="zh-CN" sz="2400" dirty="0">
                    <a:solidFill>
                      <a:schemeClr val="accent1"/>
                    </a:solidFill>
                    <a:latin typeface="Arial" panose="020B0604020202020204" pitchFamily="34" charset="0"/>
                    <a:cs typeface="Arial" panose="020B0604020202020204" pitchFamily="34" charset="0"/>
                  </a:rPr>
                  <a:t>event-driven</a:t>
                </a:r>
                <a:r>
                  <a:rPr lang="en-US" altLang="zh-CN" sz="2400" dirty="0">
                    <a:latin typeface="Arial" panose="020B0604020202020204" pitchFamily="34" charset="0"/>
                    <a:cs typeface="Arial" panose="020B0604020202020204" pitchFamily="34" charset="0"/>
                  </a:rPr>
                  <a:t> localization approach</a:t>
                </a:r>
              </a:p>
              <a:p>
                <a:r>
                  <a:rPr lang="en-US" altLang="zh-CN" sz="2400" dirty="0">
                    <a:latin typeface="Arial" panose="020B0604020202020204" pitchFamily="34" charset="0"/>
                    <a:cs typeface="Arial" panose="020B0604020202020204" pitchFamily="34" charset="0"/>
                  </a:rPr>
                  <a:t>Requirement: base station with light emitter</a:t>
                </a:r>
              </a:p>
              <a:p>
                <a:r>
                  <a:rPr lang="en-US" altLang="zh-CN" sz="2400" dirty="0">
                    <a:latin typeface="Arial" panose="020B0604020202020204" pitchFamily="34" charset="0"/>
                    <a:cs typeface="Arial" panose="020B0604020202020204" pitchFamily="34" charset="0"/>
                  </a:rPr>
                  <a:t>Idealistic light source: emitted beam of light is parallel (constant width b)</a:t>
                </a:r>
              </a:p>
              <a:p>
                <a:r>
                  <a:rPr lang="en-US" altLang="zh-CN" sz="2400" dirty="0">
                    <a:latin typeface="Arial" panose="020B0604020202020204" pitchFamily="34" charset="0"/>
                    <a:cs typeface="Arial" panose="020B0604020202020204" pitchFamily="34" charset="0"/>
                  </a:rPr>
                  <a:t>Light source rotates s. t. sensor sees beam of light for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a:rPr>
                          <m:t>𝑡</m:t>
                        </m:r>
                      </m:e>
                      <m:sub>
                        <m:r>
                          <a:rPr lang="en-US" altLang="zh-CN" sz="2400" b="0" i="1" smtClean="0">
                            <a:latin typeface="Cambria Math"/>
                          </a:rPr>
                          <m:t>𝑏𝑒𝑎𝑚</m:t>
                        </m:r>
                      </m:sub>
                    </m:sSub>
                  </m:oMath>
                </a14:m>
                <a:endParaRPr lang="zh-CN" altLang="en-US" sz="2400" dirty="0">
                  <a:latin typeface="Arial" panose="020B0604020202020204" pitchFamily="34" charset="0"/>
                  <a:cs typeface="Arial" panose="020B0604020202020204" pitchFamily="34"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721008"/>
                <a:ext cx="10622872" cy="2057400"/>
              </a:xfrm>
              <a:blipFill>
                <a:blip r:embed="rId2"/>
                <a:stretch>
                  <a:fillRect l="-804" t="-3846"/>
                </a:stretch>
              </a:blipFill>
            </p:spPr>
            <p:txBody>
              <a:bodyPr/>
              <a:lstStyle/>
              <a:p>
                <a:r>
                  <a:rPr lang="zh-CN" altLang="en-US">
                    <a:noFill/>
                  </a:rPr>
                  <a:t> </a:t>
                </a:r>
              </a:p>
            </p:txBody>
          </p:sp>
        </mc:Fallback>
      </mc:AlternateContent>
      <p:pic>
        <p:nvPicPr>
          <p:cNvPr id="5" name="Picture 2">
            <a:extLst>
              <a:ext uri="{FF2B5EF4-FFF2-40B4-BE49-F238E27FC236}">
                <a16:creationId xmlns:a16="http://schemas.microsoft.com/office/drawing/2014/main" id="{D060D630-43D2-4472-8045-0C880C9AF6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778408"/>
            <a:ext cx="7772400" cy="2773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8546034"/>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pPr>
              <a:lnSpc>
                <a:spcPct val="120000"/>
              </a:lnSpc>
              <a:spcBef>
                <a:spcPts val="0"/>
              </a:spcBef>
            </a:pPr>
            <a:r>
              <a:rPr lang="en-US" altLang="zh-CN" b="1" dirty="0">
                <a:latin typeface="Arial" panose="020B0604020202020204" pitchFamily="34" charset="0"/>
                <a:cs typeface="Arial" panose="020B0604020202020204" pitchFamily="34" charset="0"/>
              </a:rPr>
              <a:t>Lighthouse Approach </a:t>
            </a:r>
            <a:endParaRPr lang="zh-CN" altLang="en-US" b="1" dirty="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838199" y="1690688"/>
            <a:ext cx="10515599" cy="3405095"/>
          </a:xfrm>
        </p:spPr>
        <p:txBody>
          <a:bodyPr>
            <a:normAutofit/>
          </a:bodyPr>
          <a:lstStyle/>
          <a:p>
            <a:pPr>
              <a:lnSpc>
                <a:spcPct val="130000"/>
              </a:lnSpc>
              <a:spcBef>
                <a:spcPts val="0"/>
              </a:spcBef>
            </a:pPr>
            <a:r>
              <a:rPr lang="en-US" altLang="zh-CN" sz="2400" dirty="0">
                <a:latin typeface="Arial" panose="020B0604020202020204" pitchFamily="34" charset="0"/>
                <a:cs typeface="Arial" panose="020B0604020202020204" pitchFamily="34" charset="0"/>
              </a:rPr>
              <a:t>Perfectly parallel light beams are hard to realize in practice</a:t>
            </a:r>
          </a:p>
          <a:p>
            <a:pPr>
              <a:lnSpc>
                <a:spcPct val="130000"/>
              </a:lnSpc>
              <a:spcBef>
                <a:spcPts val="0"/>
              </a:spcBef>
            </a:pPr>
            <a:r>
              <a:rPr lang="en-US" altLang="zh-CN" sz="2400" dirty="0">
                <a:latin typeface="Arial" panose="020B0604020202020204" pitchFamily="34" charset="0"/>
                <a:cs typeface="Arial" panose="020B0604020202020204" pitchFamily="34" charset="0"/>
              </a:rPr>
              <a:t>Small beam spreads can result in large localization errors</a:t>
            </a:r>
          </a:p>
          <a:p>
            <a:pPr lvl="1">
              <a:lnSpc>
                <a:spcPct val="130000"/>
              </a:lnSpc>
              <a:spcBef>
                <a:spcPts val="0"/>
              </a:spcBef>
            </a:pPr>
            <a:r>
              <a:rPr lang="en-US" altLang="zh-CN" sz="2000" dirty="0">
                <a:latin typeface="Arial" panose="020B0604020202020204" pitchFamily="34" charset="0"/>
                <a:cs typeface="Arial" panose="020B0604020202020204" pitchFamily="34" charset="0"/>
              </a:rPr>
              <a:t>if b=10cm and spread=1°, b’=18.7cm at 5m distance</a:t>
            </a:r>
          </a:p>
          <a:p>
            <a:pPr>
              <a:lnSpc>
                <a:spcPct val="130000"/>
              </a:lnSpc>
              <a:spcBef>
                <a:spcPts val="0"/>
              </a:spcBef>
            </a:pPr>
            <a:r>
              <a:rPr lang="en-US" altLang="zh-CN" sz="2400" dirty="0">
                <a:latin typeface="Arial" panose="020B0604020202020204" pitchFamily="34" charset="0"/>
                <a:cs typeface="Arial" panose="020B0604020202020204" pitchFamily="34" charset="0"/>
              </a:rPr>
              <a:t>Beam width should be large to keep inaccuracies small</a:t>
            </a:r>
          </a:p>
          <a:p>
            <a:pPr>
              <a:lnSpc>
                <a:spcPct val="130000"/>
              </a:lnSpc>
              <a:spcBef>
                <a:spcPts val="0"/>
              </a:spcBef>
            </a:pPr>
            <a:r>
              <a:rPr lang="en-US" altLang="zh-CN" sz="2400" dirty="0">
                <a:latin typeface="Arial" panose="020B0604020202020204" pitchFamily="34" charset="0"/>
                <a:cs typeface="Arial" panose="020B0604020202020204" pitchFamily="34" charset="0"/>
              </a:rPr>
              <a:t>Solution: two laser beams that outline a “virtual” parallel beam</a:t>
            </a:r>
          </a:p>
          <a:p>
            <a:pPr lvl="1">
              <a:lnSpc>
                <a:spcPct val="130000"/>
              </a:lnSpc>
              <a:spcBef>
                <a:spcPts val="0"/>
              </a:spcBef>
            </a:pPr>
            <a:r>
              <a:rPr lang="en-US" altLang="zh-CN" sz="2000" dirty="0">
                <a:latin typeface="Arial" panose="020B0604020202020204" pitchFamily="34" charset="0"/>
                <a:cs typeface="Arial" panose="020B0604020202020204" pitchFamily="34" charset="0"/>
              </a:rPr>
              <a:t>only edges of the virtual beam are of interest</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82502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26242</Words>
  <Application>Microsoft Office PowerPoint</Application>
  <PresentationFormat>宽屏</PresentationFormat>
  <Paragraphs>2931</Paragraphs>
  <Slides>381</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381</vt:i4>
      </vt:variant>
    </vt:vector>
  </HeadingPairs>
  <TitlesOfParts>
    <vt:vector size="391" baseType="lpstr">
      <vt:lpstr>等线</vt:lpstr>
      <vt:lpstr>等线 Light</vt:lpstr>
      <vt:lpstr>宋体</vt:lpstr>
      <vt:lpstr>微软雅黑</vt:lpstr>
      <vt:lpstr>Arial</vt:lpstr>
      <vt:lpstr>Cambria Math</vt:lpstr>
      <vt:lpstr>Wingdings</vt:lpstr>
      <vt:lpstr>Wingdings 2</vt:lpstr>
      <vt:lpstr>Office 主题​​</vt:lpstr>
      <vt:lpstr>Visio</vt:lpstr>
      <vt:lpstr>无线传感器网络 Wireless Sensor Networks</vt:lpstr>
      <vt:lpstr>Chapter I Motivation for a Network of Wireless Sensor Nodes</vt:lpstr>
      <vt:lpstr>Outline</vt:lpstr>
      <vt:lpstr>Sensing and Sensors</vt:lpstr>
      <vt:lpstr>Sensing (Data Acquisition)</vt:lpstr>
      <vt:lpstr>Sensor Classifications</vt:lpstr>
      <vt:lpstr>Other Classifications</vt:lpstr>
      <vt:lpstr>Other Classifications</vt:lpstr>
      <vt:lpstr>Wireless Sensor Network (WSN)</vt:lpstr>
      <vt:lpstr>History of Wireless Sensor Networks</vt:lpstr>
      <vt:lpstr>History of Wireless Sensor Networks</vt:lpstr>
      <vt:lpstr>History of Wireless Sensor Networks</vt:lpstr>
      <vt:lpstr>WSN Communication</vt:lpstr>
      <vt:lpstr>Single-Hop versus Multi-Hop</vt:lpstr>
      <vt:lpstr>Outline</vt:lpstr>
      <vt:lpstr>Challenges in WSNs: Energy</vt:lpstr>
      <vt:lpstr>Challenges in WSNs: Energy</vt:lpstr>
      <vt:lpstr>Challenges in WSNs: Energy</vt:lpstr>
      <vt:lpstr>Challenges in WSNs: Self-Management</vt:lpstr>
      <vt:lpstr>Challenges in WSNs: Self-Management</vt:lpstr>
      <vt:lpstr>Challenges in WSNs:  Wireless Networks</vt:lpstr>
      <vt:lpstr>Challenges in WSNs: Decentralization</vt:lpstr>
      <vt:lpstr>Challenges in WSNs: Design Constraints</vt:lpstr>
      <vt:lpstr>Challenges in WSNs: Security</vt:lpstr>
      <vt:lpstr>Comparison</vt:lpstr>
      <vt:lpstr>Outline</vt:lpstr>
      <vt:lpstr>Overview of topics covered</vt:lpstr>
      <vt:lpstr>Overview of topics covered</vt:lpstr>
      <vt:lpstr>Chapter 2 Applications</vt:lpstr>
      <vt:lpstr>Outline</vt:lpstr>
      <vt:lpstr>Structural Health Monitoring </vt:lpstr>
      <vt:lpstr>Structural Health Monitoring</vt:lpstr>
      <vt:lpstr>Local and Global Inspections</vt:lpstr>
      <vt:lpstr>Wisden</vt:lpstr>
      <vt:lpstr>Golden Gate Bridge (Univ. of California) </vt:lpstr>
      <vt:lpstr>Golden Gate Bridge </vt:lpstr>
      <vt:lpstr>Outline</vt:lpstr>
      <vt:lpstr>Traffic Control</vt:lpstr>
      <vt:lpstr>Traffic Control </vt:lpstr>
      <vt:lpstr>The Sensing Task </vt:lpstr>
      <vt:lpstr>Magnetic Sensors </vt:lpstr>
      <vt:lpstr>Magnetic Sensors </vt:lpstr>
      <vt:lpstr>Magnetic Sensors </vt:lpstr>
      <vt:lpstr>Knaian (2000) </vt:lpstr>
      <vt:lpstr>Knaian (2000) </vt:lpstr>
      <vt:lpstr>Knaian (2000) </vt:lpstr>
      <vt:lpstr>Arora et al.(2004) </vt:lpstr>
      <vt:lpstr>Outline</vt:lpstr>
      <vt:lpstr>Precision Agriculture </vt:lpstr>
      <vt:lpstr>Precision Agriculture </vt:lpstr>
      <vt:lpstr>Wine Vinyard (2004)</vt:lpstr>
      <vt:lpstr>Wine Vinyard (2004) </vt:lpstr>
      <vt:lpstr>Wine Vinyard (2004) </vt:lpstr>
      <vt:lpstr>Lofar Agro (2005) </vt:lpstr>
      <vt:lpstr>Lofar Agro (2005) </vt:lpstr>
      <vt:lpstr>Lofar Agro (2005) </vt:lpstr>
      <vt:lpstr>Outline</vt:lpstr>
      <vt:lpstr>Active Volcano </vt:lpstr>
      <vt:lpstr>Active Volcano </vt:lpstr>
      <vt:lpstr>Volcán Tungurahua</vt:lpstr>
      <vt:lpstr>Volcán Tungurahua</vt:lpstr>
      <vt:lpstr>Volcán Tungurahua </vt:lpstr>
      <vt:lpstr>Wireless Sensor Network Based Mobile Pet</vt:lpstr>
      <vt:lpstr>Chapter 3 Node Architecture</vt:lpstr>
      <vt:lpstr>Outline</vt:lpstr>
      <vt:lpstr>Node Architecture</vt:lpstr>
      <vt:lpstr>Node Architecture</vt:lpstr>
      <vt:lpstr>Outline</vt:lpstr>
      <vt:lpstr>The Sensing Subsystem</vt:lpstr>
      <vt:lpstr>The Sensing Subsystem</vt:lpstr>
      <vt:lpstr>The Sensing Subsystem</vt:lpstr>
      <vt:lpstr>Analog-to-Digital Converter</vt:lpstr>
      <vt:lpstr>Analog-to-Digital Converter</vt:lpstr>
      <vt:lpstr>Outline</vt:lpstr>
      <vt:lpstr>The Processor Subsystem</vt:lpstr>
      <vt:lpstr>Architectural Overview</vt:lpstr>
      <vt:lpstr>Von Neumann Architecture</vt:lpstr>
      <vt:lpstr>Harvard Architecture</vt:lpstr>
      <vt:lpstr>Super-Harvard Architecture</vt:lpstr>
      <vt:lpstr>Microcontroller</vt:lpstr>
      <vt:lpstr>Microcontroller</vt:lpstr>
      <vt:lpstr>Digital Signal Processor</vt:lpstr>
      <vt:lpstr>Digital Signal Processor</vt:lpstr>
      <vt:lpstr>Application-specific Integrated Circuit</vt:lpstr>
      <vt:lpstr>Application-specific Integrated Circuit</vt:lpstr>
      <vt:lpstr>Field Programmable Gate Array (FPGA)</vt:lpstr>
      <vt:lpstr>Field Programmable Gate Array (FPGA)</vt:lpstr>
      <vt:lpstr>Comparison</vt:lpstr>
      <vt:lpstr>Comparison</vt:lpstr>
      <vt:lpstr>Outline</vt:lpstr>
      <vt:lpstr>Communication Interfaces</vt:lpstr>
      <vt:lpstr>Communication Interfaces</vt:lpstr>
      <vt:lpstr>Serial Peripheral Interface</vt:lpstr>
      <vt:lpstr>Serial Peripheral Interface</vt:lpstr>
      <vt:lpstr>Serial Peripheral Interface</vt:lpstr>
      <vt:lpstr>Inter-Integrated Circuit</vt:lpstr>
      <vt:lpstr>Inter-Integrated Circuit</vt:lpstr>
      <vt:lpstr>Inter-Integrated Circuit</vt:lpstr>
      <vt:lpstr>Inter-Integrated Circuit</vt:lpstr>
      <vt:lpstr>Inter-Integrated Circuit</vt:lpstr>
      <vt:lpstr>Comparison</vt:lpstr>
      <vt:lpstr>Communication Interfaces </vt:lpstr>
      <vt:lpstr>Outline</vt:lpstr>
      <vt:lpstr>The IMote Node Architecture</vt:lpstr>
      <vt:lpstr>The IMote Node Architecture</vt:lpstr>
      <vt:lpstr>The IMote Node Architecture</vt:lpstr>
      <vt:lpstr>The XYZ Node Architecture</vt:lpstr>
      <vt:lpstr>The XYZ Node Architecture</vt:lpstr>
      <vt:lpstr>The XYZ Node Architecture</vt:lpstr>
      <vt:lpstr>The Hogthrob Node Architecture</vt:lpstr>
      <vt:lpstr>The Hogthrob Node Architecture</vt:lpstr>
      <vt:lpstr>The Hogthrob Node Architecture</vt:lpstr>
      <vt:lpstr>Chapter 4 Operating Systems</vt:lpstr>
      <vt:lpstr>Operating Systems</vt:lpstr>
      <vt:lpstr>Operating Systems</vt:lpstr>
      <vt:lpstr>Outline</vt:lpstr>
      <vt:lpstr>Outline</vt:lpstr>
      <vt:lpstr>Data Types</vt:lpstr>
      <vt:lpstr>Scheduling</vt:lpstr>
      <vt:lpstr>Stacks &amp; System Calls</vt:lpstr>
      <vt:lpstr>Handling Interrupts</vt:lpstr>
      <vt:lpstr>Multi-threading</vt:lpstr>
      <vt:lpstr>Thread-based vs Event-based Programming</vt:lpstr>
      <vt:lpstr>Thread-based vs Event-based Programming</vt:lpstr>
      <vt:lpstr>Memory Allocation</vt:lpstr>
      <vt:lpstr>Outline</vt:lpstr>
      <vt:lpstr>Separation of Concern</vt:lpstr>
      <vt:lpstr>Portability</vt:lpstr>
      <vt:lpstr>System Overhead</vt:lpstr>
      <vt:lpstr>Dynamic Reprogramming</vt:lpstr>
      <vt:lpstr>Dynamic Reprogramming</vt:lpstr>
      <vt:lpstr>Dynamic Reprogramming</vt:lpstr>
      <vt:lpstr>Outline</vt:lpstr>
      <vt:lpstr>TinyOS</vt:lpstr>
      <vt:lpstr>TinyOS</vt:lpstr>
      <vt:lpstr>TinyOS</vt:lpstr>
      <vt:lpstr>TinyOS</vt:lpstr>
      <vt:lpstr>TinyOS</vt:lpstr>
      <vt:lpstr>Tasks, Commands and Events</vt:lpstr>
      <vt:lpstr>Tasks, Commands and Events</vt:lpstr>
      <vt:lpstr>SOS (Han et al. 2005 )</vt:lpstr>
      <vt:lpstr>Interaction</vt:lpstr>
      <vt:lpstr>Interaction</vt:lpstr>
      <vt:lpstr>Dynamic Reprogramming</vt:lpstr>
      <vt:lpstr>Dynamic Reprogramming</vt:lpstr>
      <vt:lpstr>Dynamic Reprogramming</vt:lpstr>
      <vt:lpstr>Contiki</vt:lpstr>
      <vt:lpstr>Contiki</vt:lpstr>
      <vt:lpstr>Service Structure</vt:lpstr>
      <vt:lpstr>LiteOS</vt:lpstr>
      <vt:lpstr>LiteOS</vt:lpstr>
      <vt:lpstr>Shell and System Calls</vt:lpstr>
      <vt:lpstr>LiteFS</vt:lpstr>
      <vt:lpstr>Dynamic Reprogramming</vt:lpstr>
      <vt:lpstr>Dynamic Reprogramming</vt:lpstr>
      <vt:lpstr>Outline</vt:lpstr>
      <vt:lpstr>Evaluation</vt:lpstr>
      <vt:lpstr>Evaluation</vt:lpstr>
      <vt:lpstr>Task I</vt:lpstr>
      <vt:lpstr>Chapter 5 Medium Access Control Layer </vt:lpstr>
      <vt:lpstr>Overview</vt:lpstr>
      <vt:lpstr>Medium Access Control </vt:lpstr>
      <vt:lpstr>Outline</vt:lpstr>
      <vt:lpstr>MAC Protocol Categorization</vt:lpstr>
      <vt:lpstr>Contention-Free Medium Access</vt:lpstr>
      <vt:lpstr>Contention-Free Medium Access</vt:lpstr>
      <vt:lpstr>Contention-Free Medium Access</vt:lpstr>
      <vt:lpstr>Contention-Based Medium Access</vt:lpstr>
      <vt:lpstr>Hidden and Exposed Terminal Problems</vt:lpstr>
      <vt:lpstr>Contention-Based Medium Access</vt:lpstr>
      <vt:lpstr>Carrier Sense Multiple Access</vt:lpstr>
      <vt:lpstr>Carrier Sense Multiple Access</vt:lpstr>
      <vt:lpstr>Carrier Sense Multiple Access</vt:lpstr>
      <vt:lpstr>MACA and MACAW</vt:lpstr>
      <vt:lpstr>MACA By Invitation</vt:lpstr>
      <vt:lpstr>IEEE 802.11</vt:lpstr>
      <vt:lpstr>IEEE 802.11</vt:lpstr>
      <vt:lpstr>IEEE 802.11</vt:lpstr>
      <vt:lpstr>IEEE 802.11</vt:lpstr>
      <vt:lpstr>IEEE 802.11</vt:lpstr>
      <vt:lpstr>IEEE 802.11</vt:lpstr>
      <vt:lpstr>IEEE 802.11</vt:lpstr>
      <vt:lpstr>IEEE 802.15.4 &amp; ZigBee</vt:lpstr>
      <vt:lpstr>ZigBee</vt:lpstr>
      <vt:lpstr>ZigBee </vt:lpstr>
      <vt:lpstr>IEEE 802.15.4 and ZigBee</vt:lpstr>
      <vt:lpstr>Outline</vt:lpstr>
      <vt:lpstr>Characteristics of MAC Protocols in WSN</vt:lpstr>
      <vt:lpstr>Energy Efficiency</vt:lpstr>
      <vt:lpstr>Energy Efficiency</vt:lpstr>
      <vt:lpstr>Energy Efficiency</vt:lpstr>
      <vt:lpstr>Scalability</vt:lpstr>
      <vt:lpstr>Scalability</vt:lpstr>
      <vt:lpstr>Adaptability</vt:lpstr>
      <vt:lpstr>Low Latency and Predictability</vt:lpstr>
      <vt:lpstr>Reliability</vt:lpstr>
      <vt:lpstr>Outline</vt:lpstr>
      <vt:lpstr>Contention-Free MAC Protocols</vt:lpstr>
      <vt:lpstr>Traffic-Adaptive Medium Access</vt:lpstr>
      <vt:lpstr>Traffic-Adaptive Medium Access </vt:lpstr>
      <vt:lpstr>Traffic-Adaptive Medium Access</vt:lpstr>
      <vt:lpstr>Traffic-Adaptive Medium Access</vt:lpstr>
      <vt:lpstr>Traffic-Adaptive Medium Access</vt:lpstr>
      <vt:lpstr>Traffic-Adaptive Medium Access</vt:lpstr>
      <vt:lpstr>Low-Energy Adaptive Clustering Hierarchy</vt:lpstr>
      <vt:lpstr>Low-Energy Adaptive Clustering Hierarchy</vt:lpstr>
      <vt:lpstr>Low-Energy Adaptive Clustering Hierarchy</vt:lpstr>
      <vt:lpstr>Low-Energy Adaptive Clustering Hierarchy</vt:lpstr>
      <vt:lpstr>Low-Energy Adaptive Clustering Hierarchy</vt:lpstr>
      <vt:lpstr>Low-Energy Adaptive Clustering Hierarchy</vt:lpstr>
      <vt:lpstr>Low-Energy Adaptive Clustering Hierarchy</vt:lpstr>
      <vt:lpstr>Low-Energy Adaptive Clustering Hierarchy</vt:lpstr>
      <vt:lpstr>Low-Energy Adaptive Clustering Hierarchy</vt:lpstr>
      <vt:lpstr>Y-MAC</vt:lpstr>
      <vt:lpstr>Y-MAC</vt:lpstr>
      <vt:lpstr>Y-MAC</vt:lpstr>
      <vt:lpstr>Y-MAC</vt:lpstr>
      <vt:lpstr>Y-MAC</vt:lpstr>
      <vt:lpstr>Y-MAC</vt:lpstr>
      <vt:lpstr>Y-MAC</vt:lpstr>
      <vt:lpstr>Lightweight Medium Access Control</vt:lpstr>
      <vt:lpstr>Lightweight Medium Access Control</vt:lpstr>
      <vt:lpstr>Lightweight Medium Access Control</vt:lpstr>
      <vt:lpstr>Lightweight Medium Access Control</vt:lpstr>
      <vt:lpstr>Mobile LMAC</vt:lpstr>
      <vt:lpstr>LMAC and MLMAC</vt:lpstr>
      <vt:lpstr>Contention-Based MAC Protocols</vt:lpstr>
      <vt:lpstr>Power Aware Multi-Access with Signaling</vt:lpstr>
      <vt:lpstr>Power Aware Multi-Access with Signaling</vt:lpstr>
      <vt:lpstr>Power Aware Multi-Access with Signaling</vt:lpstr>
      <vt:lpstr>Power Aware Multi-Access with Signaling</vt:lpstr>
      <vt:lpstr>Sensor MAC</vt:lpstr>
      <vt:lpstr>Sensor MAC</vt:lpstr>
      <vt:lpstr>Sensor MAC</vt:lpstr>
      <vt:lpstr>Sensor MAC</vt:lpstr>
      <vt:lpstr>Sensor MAC</vt:lpstr>
      <vt:lpstr>Sensor MAC</vt:lpstr>
      <vt:lpstr>Timeout MAC</vt:lpstr>
      <vt:lpstr>Timeout MAC</vt:lpstr>
      <vt:lpstr>Timeout MAC</vt:lpstr>
      <vt:lpstr>Timeout MAC</vt:lpstr>
      <vt:lpstr>Timeout MAC</vt:lpstr>
      <vt:lpstr>Routing-Enhanced MAC</vt:lpstr>
      <vt:lpstr>Routing-Enhanced MAC</vt:lpstr>
      <vt:lpstr>Routing-Enhanced MAC</vt:lpstr>
      <vt:lpstr>Routing-Enhanced MAC</vt:lpstr>
      <vt:lpstr>Routing-Enhanced MAC</vt:lpstr>
      <vt:lpstr>Routing-Enhanced MAC</vt:lpstr>
      <vt:lpstr>Routing-Enhanced MAC</vt:lpstr>
      <vt:lpstr>Data-Gathering MAC</vt:lpstr>
      <vt:lpstr>Data-Gathering MAC</vt:lpstr>
      <vt:lpstr>Data-Gathering MAC</vt:lpstr>
      <vt:lpstr>Data-Gathering MAC</vt:lpstr>
      <vt:lpstr>Hybrid MAC Protocols</vt:lpstr>
      <vt:lpstr>Zebra MAC</vt:lpstr>
      <vt:lpstr>Zebra MAC</vt:lpstr>
      <vt:lpstr>Zebra MAC</vt:lpstr>
      <vt:lpstr>Zebra MAC</vt:lpstr>
      <vt:lpstr>Zebra MAC</vt:lpstr>
      <vt:lpstr>Zebra MAC</vt:lpstr>
      <vt:lpstr>Zebra MAC</vt:lpstr>
      <vt:lpstr>Zebra MAC</vt:lpstr>
      <vt:lpstr>Summary</vt:lpstr>
      <vt:lpstr>Summary</vt:lpstr>
      <vt:lpstr>Chapter 6 Network Layer </vt:lpstr>
      <vt:lpstr>Roadmap</vt:lpstr>
      <vt:lpstr>Network Layer Responsibility </vt:lpstr>
      <vt:lpstr>Classification of Routing Protocols </vt:lpstr>
      <vt:lpstr>Classification of Routing Protocols </vt:lpstr>
      <vt:lpstr>Routing Metrics </vt:lpstr>
      <vt:lpstr>Routing Metrics (Example) </vt:lpstr>
      <vt:lpstr>New Arch. </vt:lpstr>
      <vt:lpstr>New Arch. </vt:lpstr>
      <vt:lpstr>Evolution of Communication Abstraction</vt:lpstr>
      <vt:lpstr>Flooding </vt:lpstr>
      <vt:lpstr>Roadmap</vt:lpstr>
      <vt:lpstr>SPIN Family of Protocols </vt:lpstr>
      <vt:lpstr>SPIN-PP </vt:lpstr>
      <vt:lpstr>SPIN-PP </vt:lpstr>
      <vt:lpstr>SPIN-EC and SPIN-BC </vt:lpstr>
      <vt:lpstr>SPIN-RL </vt:lpstr>
      <vt:lpstr>Directed Diffusion </vt:lpstr>
      <vt:lpstr>Directed Diffusion: Attribute-Value Pairs </vt:lpstr>
      <vt:lpstr>Directed Diffusion </vt:lpstr>
      <vt:lpstr>Directed Diffusion </vt:lpstr>
      <vt:lpstr>Rumor Routing </vt:lpstr>
      <vt:lpstr>Rumor Routing: Example </vt:lpstr>
      <vt:lpstr>Rumor Routing: Queries </vt:lpstr>
      <vt:lpstr>Rumor Routing: Queries </vt:lpstr>
      <vt:lpstr>Gradient-Based Routing (GBR) </vt:lpstr>
      <vt:lpstr>Gradient-Based Routing (GBR) </vt:lpstr>
      <vt:lpstr>Roadmap</vt:lpstr>
      <vt:lpstr>Proactive Routing </vt:lpstr>
      <vt:lpstr>Destination-Sequenced Distance Vector </vt:lpstr>
      <vt:lpstr>DSDV: Example </vt:lpstr>
      <vt:lpstr>Optimized Link State Routing </vt:lpstr>
      <vt:lpstr>Optimized Link State Routing </vt:lpstr>
      <vt:lpstr>Roadmap</vt:lpstr>
      <vt:lpstr>On-Demand (Reactive) Routing </vt:lpstr>
      <vt:lpstr>Ad Hoc On-Demand Distance Vector </vt:lpstr>
      <vt:lpstr>Ad Hoc On-Demand Distance Vector </vt:lpstr>
      <vt:lpstr>Ad Hoc On-Demand Distance Vector </vt:lpstr>
      <vt:lpstr>Ad Hoc On-Demand Distance Vector </vt:lpstr>
      <vt:lpstr>Ad Hoc On-Demand Distance Vector </vt:lpstr>
      <vt:lpstr>Roadmap</vt:lpstr>
      <vt:lpstr>Hierarchical Routing </vt:lpstr>
      <vt:lpstr>Variations of Hierarchical Routing </vt:lpstr>
      <vt:lpstr>Landmark Routing </vt:lpstr>
      <vt:lpstr>Landmark Routing </vt:lpstr>
      <vt:lpstr>LEACH </vt:lpstr>
      <vt:lpstr>Roadmap</vt:lpstr>
      <vt:lpstr>Location-Based Routing </vt:lpstr>
      <vt:lpstr>Unicast Location-Based Routing </vt:lpstr>
      <vt:lpstr>Greedy Perimeter Stateless Routing </vt:lpstr>
      <vt:lpstr>Greedy Perimeter Stateless Routing </vt:lpstr>
      <vt:lpstr>Forwarding Strategies </vt:lpstr>
      <vt:lpstr>Geographic Adaptive Fidelity </vt:lpstr>
      <vt:lpstr>Geographic Adaptive Fidelity </vt:lpstr>
      <vt:lpstr>Multicast Location-Based Routing </vt:lpstr>
      <vt:lpstr>Geocasting </vt:lpstr>
      <vt:lpstr>Roadmap</vt:lpstr>
      <vt:lpstr>QoS-Based Routing Protocols </vt:lpstr>
      <vt:lpstr>SPEED </vt:lpstr>
      <vt:lpstr>SPEED </vt:lpstr>
      <vt:lpstr>SPEED </vt:lpstr>
      <vt:lpstr>SPEED </vt:lpstr>
      <vt:lpstr>Summary </vt:lpstr>
      <vt:lpstr>Chapter 7 Time Synchronization </vt:lpstr>
      <vt:lpstr>Roadmap </vt:lpstr>
      <vt:lpstr>Clocks and the Synchronization Problem </vt:lpstr>
      <vt:lpstr>Clocks and the Synchronization Problem </vt:lpstr>
      <vt:lpstr>Clock Parameters </vt:lpstr>
      <vt:lpstr>Clock Parameters </vt:lpstr>
      <vt:lpstr>Clock Parameters</vt:lpstr>
      <vt:lpstr>Time Synchronization</vt:lpstr>
      <vt:lpstr>Time Synchronization</vt:lpstr>
      <vt:lpstr>Why Time Synchronization in WSNs?</vt:lpstr>
      <vt:lpstr>Why Time Synchronization in WSNs? </vt:lpstr>
      <vt:lpstr>Challenges for Time Synchronization</vt:lpstr>
      <vt:lpstr>Synchronization Messages</vt:lpstr>
      <vt:lpstr>Synchronization Messages </vt:lpstr>
      <vt:lpstr>Receiver-Receiver Synchronization </vt:lpstr>
      <vt:lpstr>Nondeterminism of Communication Latency </vt:lpstr>
      <vt:lpstr>Nondeterminism of Communication Latency </vt:lpstr>
      <vt:lpstr>Reference Broadcasts </vt:lpstr>
      <vt:lpstr>Lightweight Tree-Based Synchronization </vt:lpstr>
      <vt:lpstr>Lightweight Tree-Based Synchronization</vt:lpstr>
      <vt:lpstr>Lightweight Tree-Based Synchronization</vt:lpstr>
      <vt:lpstr>Timing-sync Protocol for Sensor Networks</vt:lpstr>
      <vt:lpstr>Timing-sync Protocol for Sensor Networks</vt:lpstr>
      <vt:lpstr>Timing-sync Protocol for Sensor Networks</vt:lpstr>
      <vt:lpstr>Timing-sync Protocol for Sensor Networks </vt:lpstr>
      <vt:lpstr>Flooding Time Synchronization Protocol </vt:lpstr>
      <vt:lpstr>Flooding Time Synchronization Protocol </vt:lpstr>
      <vt:lpstr>Flooding Time Synchronization Protocol </vt:lpstr>
      <vt:lpstr>Flooding Time Synchronization Protocol </vt:lpstr>
      <vt:lpstr>Flooding Time Synchronization Protocol </vt:lpstr>
      <vt:lpstr>Chapter 8  Localization </vt:lpstr>
      <vt:lpstr>Roadmap </vt:lpstr>
      <vt:lpstr>Overview </vt:lpstr>
      <vt:lpstr>Overview</vt:lpstr>
      <vt:lpstr>Ranging Techniques </vt:lpstr>
      <vt:lpstr>Ranging Techniques </vt:lpstr>
      <vt:lpstr>Ranging Techniques </vt:lpstr>
      <vt:lpstr>Ranging Techniques </vt:lpstr>
      <vt:lpstr>Triangulation</vt:lpstr>
      <vt:lpstr>Triangulation</vt:lpstr>
      <vt:lpstr>Trilateration</vt:lpstr>
      <vt:lpstr>PowerPoint 演示文稿</vt:lpstr>
      <vt:lpstr>Trilateration </vt:lpstr>
      <vt:lpstr>GPS-Based Localization </vt:lpstr>
      <vt:lpstr>GPS-Based Localization </vt:lpstr>
      <vt:lpstr>GPS-Based Localization </vt:lpstr>
      <vt:lpstr>GPS-Based Localization </vt:lpstr>
      <vt:lpstr>GPS-Based Localization </vt:lpstr>
      <vt:lpstr>Ad Hoc Positioning System (APS) </vt:lpstr>
      <vt:lpstr>Ad Hoc Positioning System (APS) </vt:lpstr>
      <vt:lpstr>Ad Hoc Positioning System (APS) </vt:lpstr>
      <vt:lpstr>Ad Hoc Positioning System (APS) </vt:lpstr>
      <vt:lpstr>Lighthouse Approach </vt:lpstr>
      <vt:lpstr>Lighthouse Approach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无线传感器网络 Wireless Sensor Networks</dc:title>
  <dc:creator>laurel</dc:creator>
  <cp:lastModifiedBy>Liu Liang</cp:lastModifiedBy>
  <cp:revision>91</cp:revision>
  <dcterms:created xsi:type="dcterms:W3CDTF">2019-09-06T13:26:06Z</dcterms:created>
  <dcterms:modified xsi:type="dcterms:W3CDTF">2019-12-27T05:52:30Z</dcterms:modified>
</cp:coreProperties>
</file>