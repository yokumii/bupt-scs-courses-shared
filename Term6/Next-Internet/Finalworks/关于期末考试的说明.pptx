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5343B-EB6D-4571-8923-3953DE6A8C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C52D-6D72-4F8F-B6C3-D4171C15AF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下一代</a:t>
            </a:r>
            <a:r>
              <a:rPr lang="en-US" altLang="zh-CN" dirty="0" smtClean="0"/>
              <a:t>Internet</a:t>
            </a:r>
            <a:r>
              <a:rPr lang="zh-CN" altLang="en-US" dirty="0" smtClean="0"/>
              <a:t>技术与协议</a:t>
            </a:r>
            <a:br>
              <a:rPr lang="en-US" altLang="zh-CN" dirty="0" smtClean="0"/>
            </a:br>
            <a:r>
              <a:rPr lang="zh-CN" altLang="en-US" dirty="0"/>
              <a:t>期</a:t>
            </a:r>
            <a:r>
              <a:rPr lang="zh-CN" altLang="en-US" dirty="0" smtClean="0"/>
              <a:t>末考试说明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</a:t>
            </a:r>
            <a:r>
              <a:rPr lang="zh-CN" altLang="en-US" dirty="0" smtClean="0"/>
              <a:t>程成绩说明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期末考试方式：学术小论文</a:t>
            </a:r>
            <a:endParaRPr lang="en-US" altLang="zh-CN" dirty="0" smtClean="0"/>
          </a:p>
          <a:p>
            <a:r>
              <a:rPr lang="zh-CN" altLang="en-US" dirty="0" smtClean="0"/>
              <a:t>论文截止时间：</a:t>
            </a:r>
            <a:r>
              <a:rPr lang="en-US" altLang="zh-CN" dirty="0" smtClean="0">
                <a:solidFill>
                  <a:srgbClr val="FF0000"/>
                </a:solidFill>
              </a:rPr>
              <a:t>2026</a:t>
            </a:r>
            <a:r>
              <a:rPr lang="zh-CN" altLang="en-US" dirty="0" smtClean="0">
                <a:solidFill>
                  <a:srgbClr val="FF0000"/>
                </a:solidFill>
              </a:rPr>
              <a:t>年</a:t>
            </a:r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r>
              <a:rPr lang="zh-CN" altLang="en-US" dirty="0" smtClean="0">
                <a:solidFill>
                  <a:srgbClr val="FF0000"/>
                </a:solidFill>
              </a:rPr>
              <a:t>月</a:t>
            </a:r>
            <a:r>
              <a:rPr lang="en-US" altLang="zh-CN" dirty="0" smtClean="0">
                <a:solidFill>
                  <a:srgbClr val="FF0000"/>
                </a:solidFill>
              </a:rPr>
              <a:t>29</a:t>
            </a:r>
            <a:r>
              <a:rPr lang="zh-CN" altLang="en-US" dirty="0" smtClean="0">
                <a:solidFill>
                  <a:srgbClr val="FF0000"/>
                </a:solidFill>
              </a:rPr>
              <a:t>日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论文提交方式：以班级</a:t>
            </a:r>
            <a:r>
              <a:rPr lang="zh-CN" altLang="en-US" dirty="0" smtClean="0"/>
              <a:t>为单位提交</a:t>
            </a:r>
            <a:r>
              <a:rPr lang="zh-CN" altLang="en-US" dirty="0" smtClean="0"/>
              <a:t>纸质版</a:t>
            </a:r>
            <a:endParaRPr lang="zh-CN" altLang="en-US" dirty="0" smtClean="0"/>
          </a:p>
          <a:p>
            <a:r>
              <a:rPr lang="zh-CN" altLang="en-US" dirty="0" smtClean="0"/>
              <a:t>论文提交地点：新科研楼</a:t>
            </a:r>
            <a:r>
              <a:rPr lang="en-US" altLang="zh-CN" dirty="0" smtClean="0"/>
              <a:t>603-1</a:t>
            </a:r>
            <a:r>
              <a:rPr lang="zh-CN" altLang="en-US" dirty="0" smtClean="0"/>
              <a:t>办公室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小论文题目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论文类型：</a:t>
            </a:r>
            <a:r>
              <a:rPr lang="zh-CN" altLang="en-US" dirty="0"/>
              <a:t>调研</a:t>
            </a:r>
            <a:r>
              <a:rPr lang="zh-CN" altLang="en-US" dirty="0"/>
              <a:t>报告与文献</a:t>
            </a:r>
            <a:r>
              <a:rPr lang="zh-CN" altLang="en-US" dirty="0" smtClean="0"/>
              <a:t>综述</a:t>
            </a:r>
            <a:endParaRPr lang="en-US" altLang="zh-CN" dirty="0" smtClean="0"/>
          </a:p>
          <a:p>
            <a:r>
              <a:rPr lang="zh-CN" altLang="en-US" dirty="0" smtClean="0"/>
              <a:t>题目：</a:t>
            </a:r>
            <a:r>
              <a:rPr lang="zh-CN" altLang="en-US" b="1" dirty="0">
                <a:solidFill>
                  <a:srgbClr val="FF0000"/>
                </a:solidFill>
              </a:rPr>
              <a:t>自定题目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3333FF"/>
                </a:solidFill>
              </a:rPr>
              <a:t>关于某个</a:t>
            </a:r>
            <a:r>
              <a:rPr lang="en-US" altLang="zh-CN" b="1" dirty="0" smtClean="0">
                <a:solidFill>
                  <a:srgbClr val="3333FF"/>
                </a:solidFill>
                <a:sym typeface="+mn-ea"/>
              </a:rPr>
              <a:t>IPv6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新型协议的</a:t>
            </a:r>
            <a:r>
              <a:rPr lang="zh-CN" altLang="en-US" b="1" dirty="0">
                <a:solidFill>
                  <a:srgbClr val="3333FF"/>
                </a:solidFill>
              </a:rPr>
              <a:t>调研报告</a:t>
            </a:r>
            <a:endParaRPr lang="en-US" altLang="zh-CN" b="1" dirty="0">
              <a:solidFill>
                <a:srgbClr val="3333FF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3333FF"/>
                </a:solidFill>
              </a:rPr>
              <a:t>关于某个</a:t>
            </a:r>
            <a:r>
              <a:rPr lang="en-US" altLang="zh-CN" b="1" dirty="0" smtClean="0">
                <a:solidFill>
                  <a:srgbClr val="3333FF"/>
                </a:solidFill>
              </a:rPr>
              <a:t>IPv6</a:t>
            </a:r>
            <a:r>
              <a:rPr lang="zh-CN" altLang="en-US" b="1" dirty="0" smtClean="0">
                <a:solidFill>
                  <a:srgbClr val="3333FF"/>
                </a:solidFill>
              </a:rPr>
              <a:t>技术原理和</a:t>
            </a:r>
            <a:r>
              <a:rPr lang="zh-CN" altLang="en-US" b="1" dirty="0" smtClean="0">
                <a:solidFill>
                  <a:srgbClr val="3333FF"/>
                </a:solidFill>
              </a:rPr>
              <a:t>应用的研究</a:t>
            </a:r>
            <a:endParaRPr lang="zh-CN" altLang="en-US" b="1" dirty="0" smtClean="0">
              <a:solidFill>
                <a:srgbClr val="3333FF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关</a:t>
            </a:r>
            <a:r>
              <a:rPr lang="zh-CN" altLang="en-US" b="1" dirty="0">
                <a:solidFill>
                  <a:srgbClr val="3333FF"/>
                </a:solidFill>
                <a:sym typeface="+mn-ea"/>
              </a:rPr>
              <a:t>于某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个</a:t>
            </a:r>
            <a:r>
              <a:rPr lang="en-US" altLang="zh-CN" b="1" dirty="0" smtClean="0">
                <a:solidFill>
                  <a:srgbClr val="3333FF"/>
                </a:solidFill>
                <a:sym typeface="+mn-ea"/>
              </a:rPr>
              <a:t>IPv6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协议的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移动性分析与研究</a:t>
            </a:r>
            <a:endParaRPr lang="zh-CN" altLang="en-US" b="1" dirty="0" smtClean="0">
              <a:solidFill>
                <a:srgbClr val="3333FF"/>
              </a:solidFill>
              <a:sym typeface="+mn-ea"/>
            </a:endParaRPr>
          </a:p>
          <a:p>
            <a:pPr lvl="1"/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关</a:t>
            </a:r>
            <a:r>
              <a:rPr lang="zh-CN" altLang="en-US" b="1" dirty="0">
                <a:solidFill>
                  <a:srgbClr val="3333FF"/>
                </a:solidFill>
                <a:sym typeface="+mn-ea"/>
              </a:rPr>
              <a:t>于某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个</a:t>
            </a:r>
            <a:r>
              <a:rPr lang="en-US" altLang="zh-CN" b="1" dirty="0" smtClean="0">
                <a:solidFill>
                  <a:srgbClr val="3333FF"/>
                </a:solidFill>
                <a:sym typeface="+mn-ea"/>
              </a:rPr>
              <a:t>IPv6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协议的</a:t>
            </a:r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安全性分析与研究</a:t>
            </a:r>
            <a:endParaRPr lang="zh-CN" altLang="en-US" b="1" dirty="0" smtClean="0">
              <a:solidFill>
                <a:srgbClr val="3333FF"/>
              </a:solidFill>
              <a:sym typeface="+mn-ea"/>
            </a:endParaRPr>
          </a:p>
          <a:p>
            <a:pPr lvl="1"/>
            <a:r>
              <a:rPr lang="zh-CN" altLang="en-US" b="1" dirty="0">
                <a:solidFill>
                  <a:srgbClr val="3333FF"/>
                </a:solidFill>
              </a:rPr>
              <a:t>其它新型网络技术与协议的调研报告</a:t>
            </a:r>
            <a:endParaRPr lang="en-US" altLang="zh-CN" b="1" dirty="0">
              <a:solidFill>
                <a:srgbClr val="3333FF"/>
              </a:solidFill>
            </a:endParaRPr>
          </a:p>
          <a:p>
            <a:pPr lvl="1"/>
            <a:endParaRPr lang="en-US" altLang="zh-CN" b="1" dirty="0">
              <a:solidFill>
                <a:srgbClr val="3333FF"/>
              </a:solidFill>
            </a:endParaRPr>
          </a:p>
          <a:p>
            <a:r>
              <a:rPr lang="zh-CN" altLang="en-US" dirty="0" smtClean="0"/>
              <a:t>字数要求：</a:t>
            </a:r>
            <a:r>
              <a:rPr lang="en-US" altLang="zh-CN" dirty="0" smtClean="0"/>
              <a:t>3000-5000</a:t>
            </a:r>
            <a:r>
              <a:rPr lang="zh-CN" altLang="en-US" dirty="0" smtClean="0"/>
              <a:t>字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论文的内容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题目、作者、学号</a:t>
            </a:r>
            <a:endParaRPr lang="en-US" altLang="zh-CN" dirty="0" smtClean="0"/>
          </a:p>
          <a:p>
            <a:r>
              <a:rPr lang="zh-CN" altLang="en-US" dirty="0" smtClean="0"/>
              <a:t>摘要</a:t>
            </a:r>
            <a:endParaRPr lang="en-US" altLang="zh-CN" dirty="0" smtClean="0"/>
          </a:p>
          <a:p>
            <a:r>
              <a:rPr lang="zh-CN" altLang="en-US" dirty="0" smtClean="0"/>
              <a:t>关键词</a:t>
            </a:r>
            <a:endParaRPr lang="en-US" altLang="zh-CN" dirty="0" smtClean="0"/>
          </a:p>
          <a:p>
            <a:r>
              <a:rPr lang="zh-CN" altLang="en-US" dirty="0" smtClean="0"/>
              <a:t>论文主体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主要内容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总结</a:t>
            </a:r>
            <a:endParaRPr lang="en-US" altLang="zh-CN" dirty="0" smtClean="0"/>
          </a:p>
          <a:p>
            <a:r>
              <a:rPr lang="zh-CN" altLang="en-US" dirty="0" smtClean="0"/>
              <a:t>参考文献（不少于</a:t>
            </a:r>
            <a:r>
              <a:rPr lang="en-US" altLang="zh-CN" dirty="0" smtClean="0"/>
              <a:t>6</a:t>
            </a:r>
            <a:r>
              <a:rPr lang="zh-CN" altLang="en-US" dirty="0" smtClean="0"/>
              <a:t>篇）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67744" y="5373216"/>
            <a:ext cx="4392488" cy="8640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论文格式要求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符合学术论文的基本格式要求</a:t>
            </a:r>
            <a:endParaRPr lang="en-US" altLang="zh-CN" dirty="0" smtClean="0"/>
          </a:p>
          <a:p>
            <a:r>
              <a:rPr lang="zh-CN" altLang="en-US" dirty="0" smtClean="0"/>
              <a:t>参考文献需要在论文中引用</a:t>
            </a:r>
            <a:endParaRPr lang="en-US" altLang="zh-CN" dirty="0" smtClean="0"/>
          </a:p>
          <a:p>
            <a:r>
              <a:rPr lang="zh-CN" altLang="en-US" dirty="0" smtClean="0"/>
              <a:t>论文需要配图和表格，做到图文并茂</a:t>
            </a:r>
            <a:endParaRPr lang="en-US" altLang="zh-CN" dirty="0" smtClean="0"/>
          </a:p>
          <a:p>
            <a:r>
              <a:rPr lang="zh-CN" altLang="en-US" dirty="0"/>
              <a:t>提</a:t>
            </a:r>
            <a:r>
              <a:rPr lang="zh-CN" altLang="en-US" dirty="0" smtClean="0"/>
              <a:t>交要求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方式：</a:t>
            </a:r>
            <a:r>
              <a:rPr lang="zh-CN" altLang="en-US" dirty="0" smtClean="0">
                <a:solidFill>
                  <a:srgbClr val="FF0000"/>
                </a:solidFill>
              </a:rPr>
              <a:t>纸质版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时间：</a:t>
            </a:r>
            <a:r>
              <a:rPr lang="en-US" altLang="zh-CN" dirty="0" smtClean="0">
                <a:solidFill>
                  <a:srgbClr val="FF0000"/>
                </a:solidFill>
              </a:rPr>
              <a:t>2026</a:t>
            </a:r>
            <a:r>
              <a:rPr lang="zh-CN" altLang="en-US" dirty="0" smtClean="0">
                <a:solidFill>
                  <a:srgbClr val="FF0000"/>
                </a:solidFill>
              </a:rPr>
              <a:t>年</a:t>
            </a:r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r>
              <a:rPr lang="zh-CN" altLang="en-US" dirty="0" smtClean="0">
                <a:solidFill>
                  <a:srgbClr val="FF0000"/>
                </a:solidFill>
              </a:rPr>
              <a:t>月</a:t>
            </a:r>
            <a:r>
              <a:rPr lang="en-US" altLang="zh-CN" dirty="0" smtClean="0">
                <a:solidFill>
                  <a:srgbClr val="FF0000"/>
                </a:solidFill>
              </a:rPr>
              <a:t>29</a:t>
            </a:r>
            <a:r>
              <a:rPr lang="zh-CN" altLang="en-US" dirty="0" smtClean="0">
                <a:solidFill>
                  <a:srgbClr val="FF0000"/>
                </a:solidFill>
              </a:rPr>
              <a:t>日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zh-CN" altLang="en-US" sz="3200" b="1" dirty="0" smtClean="0">
                <a:solidFill>
                  <a:srgbClr val="FF0000"/>
                </a:solidFill>
              </a:rPr>
              <a:t>                         要求独立完成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全屏显示(4:3)</PresentationFormat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下一代Internet技术与协议 期末考试说明</vt:lpstr>
      <vt:lpstr>课程成绩说明</vt:lpstr>
      <vt:lpstr>小论文题目</vt:lpstr>
      <vt:lpstr>论文的内容</vt:lpstr>
      <vt:lpstr>论文格式要求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小论文</dc:title>
  <dc:creator>ZhangDM</dc:creator>
  <cp:lastModifiedBy>程渤</cp:lastModifiedBy>
  <cp:revision>18</cp:revision>
  <dcterms:created xsi:type="dcterms:W3CDTF">2016-11-10T04:11:00Z</dcterms:created>
  <dcterms:modified xsi:type="dcterms:W3CDTF">2026-05-25T01:01:18Z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4705ACD9AAD34E998674F7F420F4D9BD_13</vt:lpwstr>
  </property>
</Properties>
</file>