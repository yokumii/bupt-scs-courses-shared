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notesMasterIdLst>
    <p:notesMasterId r:id="rId9"/>
  </p:notesMasterIdLst>
  <p:sldIdLst>
    <p:sldId id="518" r:id="rId3"/>
    <p:sldId id="1939" r:id="rId4"/>
    <p:sldId id="1330" r:id="rId5"/>
    <p:sldId id="5780" r:id="rId6"/>
    <p:sldId id="5781" r:id="rId7"/>
    <p:sldId id="5782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DB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85240"/>
  </p:normalViewPr>
  <p:slideViewPr>
    <p:cSldViewPr snapToGrid="0" snapToObjects="1">
      <p:cViewPr varScale="1">
        <p:scale>
          <a:sx n="99" d="100"/>
          <a:sy n="99" d="100"/>
        </p:scale>
        <p:origin x="1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D26A1-414B-224F-AEBB-7F6FF532746E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75C29-9F16-0C4C-AC31-5E3BB73549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itchFamily="2" charset="-122"/>
              </a:defRPr>
            </a:lvl9pPr>
          </a:lstStyle>
          <a:p>
            <a:pPr eaLnBrk="1" hangingPunct="1"/>
            <a:fld id="{3F865BA9-FFCB-47CC-AC0F-3A8D62EA5622}" type="slidenum">
              <a:rPr lang="zh-CN" altLang="en-US" sz="1200" smtClean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fld>
            <a:endParaRPr lang="en-US" altLang="zh-CN" sz="12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801688"/>
            <a:ext cx="5691188" cy="3201987"/>
          </a:xfrm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8163"/>
            <a:ext cx="5026025" cy="3848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8055" eaLnBrk="1" hangingPunct="1"/>
            <a:r>
              <a:rPr lang="zh-CN" altLang="en-US" sz="1200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804030504040204" pitchFamily="34" charset="0"/>
                <a:ea typeface="微软雅黑" panose="020B0503020204020204" pitchFamily="34" charset="-122"/>
              </a:rPr>
              <a:t>我们今天终于讲到神经网络了</a:t>
            </a:r>
            <a:endParaRPr lang="en-US" altLang="zh-CN" sz="1200" dirty="0">
              <a:solidFill>
                <a:srgbClr val="C348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80403050404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dirty="0">
                <a:cs typeface="+mn-cs"/>
              </a:rPr>
              <a:t>注意：不得抄袭，不能用往年代码，有困难联系老师或助教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75C29-9F16-0C4C-AC31-5E3BB735496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E604E4-B7D4-43E6-ACE0-A1F318D637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E604E4-B7D4-43E6-ACE0-A1F318D637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</a:t>
            </a:r>
            <a:r>
              <a:rPr kumimoji="1" lang="en-GB" altLang="zh-CN" dirty="0"/>
              <a:t>baseline</a:t>
            </a:r>
            <a:r>
              <a:rPr kumimoji="1" lang="zh-CN" altLang="en-US" dirty="0"/>
              <a:t>的话，平均</a:t>
            </a:r>
            <a:r>
              <a:rPr kumimoji="1" lang="en-GB" altLang="zh-CN" dirty="0"/>
              <a:t>MSE</a:t>
            </a:r>
            <a:r>
              <a:rPr kumimoji="1" lang="zh-CN" altLang="en-US" dirty="0"/>
              <a:t>三个档</a:t>
            </a:r>
            <a:r>
              <a:rPr kumimoji="1" lang="en-US" altLang="zh-CN" dirty="0"/>
              <a:t>0.013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0.0054</a:t>
            </a:r>
            <a:r>
              <a:rPr kumimoji="1" lang="zh-CN" altLang="en-US" dirty="0"/>
              <a:t>，</a:t>
            </a:r>
            <a:r>
              <a:rPr kumimoji="1" lang="en-US" altLang="zh-CN" dirty="0"/>
              <a:t>0.0044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E604E4-B7D4-43E6-ACE0-A1F318D637A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 flipV="1">
            <a:off x="431800" y="1268413"/>
            <a:ext cx="11328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sz="3200">
              <a:latin typeface="FuturaA Md BT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101957" y="6453189"/>
            <a:ext cx="1090044" cy="324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r" eaLnBrk="0" hangingPunct="0">
              <a:defRPr/>
            </a:pPr>
            <a:r>
              <a:rPr lang="zh-CN" altLang="en-US" sz="1335">
                <a:latin typeface="FuturaA Md BT" charset="0"/>
              </a:rPr>
              <a:t>   </a:t>
            </a:r>
            <a:r>
              <a:rPr lang="en-US" altLang="zh-CN" sz="1335">
                <a:latin typeface="FuturaA Md BT" charset="0"/>
              </a:rPr>
              <a:t>Page </a:t>
            </a:r>
            <a:fld id="{FEB369E1-783D-4E83-9C69-8CE61697A308}" type="slidenum">
              <a:rPr lang="en-US" altLang="zh-CN" sz="1335">
                <a:latin typeface="FuturaA Md BT" charset="0"/>
              </a:rPr>
              <a:t>‹#›</a:t>
            </a:fld>
            <a:endParaRPr lang="en-US" altLang="zh-CN" sz="1335">
              <a:latin typeface="FuturaA Md BT" charset="0"/>
            </a:endParaRPr>
          </a:p>
        </p:txBody>
      </p:sp>
      <p:grpSp>
        <p:nvGrpSpPr>
          <p:cNvPr id="5" name="Group 10"/>
          <p:cNvGrpSpPr/>
          <p:nvPr userDrawn="1"/>
        </p:nvGrpSpPr>
        <p:grpSpPr bwMode="auto">
          <a:xfrm>
            <a:off x="1102786" y="5516566"/>
            <a:ext cx="11087100" cy="1435555"/>
            <a:chOff x="249" y="2341"/>
            <a:chExt cx="5178" cy="1702"/>
          </a:xfrm>
        </p:grpSpPr>
        <p:pic>
          <p:nvPicPr>
            <p:cNvPr id="6" name="Picture 11" descr="未命名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2341"/>
              <a:ext cx="5178" cy="1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12"/>
            <p:cNvSpPr>
              <a:spLocks noChangeArrowheads="1"/>
            </p:cNvSpPr>
            <p:nvPr/>
          </p:nvSpPr>
          <p:spPr bwMode="gray">
            <a:xfrm>
              <a:off x="1891" y="3593"/>
              <a:ext cx="86" cy="4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865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</a:endParaRPr>
            </a:p>
          </p:txBody>
        </p:sp>
      </p:grpSp>
      <p:pic>
        <p:nvPicPr>
          <p:cNvPr id="8" name="Picture 16" descr="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20" y="333375"/>
            <a:ext cx="3599125" cy="71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5734051"/>
            <a:ext cx="115229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77" name="Rectangle 5"/>
          <p:cNvSpPr>
            <a:spLocks noGrp="1" noChangeArrowheads="1"/>
          </p:cNvSpPr>
          <p:nvPr>
            <p:ph type="ctrTitle" sz="quarter" hasCustomPrompt="1"/>
          </p:nvPr>
        </p:nvSpPr>
        <p:spPr bwMode="auto">
          <a:xfrm>
            <a:off x="1871133" y="2133600"/>
            <a:ext cx="8441267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0488" tIns="44450" rIns="90488" bIns="44450" numCol="1" anchor="ctr" anchorCtr="1" compatLnSpc="1"/>
          <a:lstStyle>
            <a:lvl1pPr>
              <a:defRPr/>
            </a:lvl1pPr>
          </a:lstStyle>
          <a:p>
            <a:r>
              <a:rPr lang="en-US" altLang="zh-CN"/>
              <a:t>TITLE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 flipV="1">
            <a:off x="431800" y="1268413"/>
            <a:ext cx="11328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sz="3200">
              <a:latin typeface="FuturaA Md BT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101957" y="6453189"/>
            <a:ext cx="1090044" cy="324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r" eaLnBrk="0" hangingPunct="0">
              <a:defRPr/>
            </a:pPr>
            <a:r>
              <a:rPr lang="zh-CN" altLang="en-US" sz="1335">
                <a:latin typeface="FuturaA Md BT" charset="0"/>
              </a:rPr>
              <a:t>   </a:t>
            </a:r>
            <a:r>
              <a:rPr lang="en-US" altLang="zh-CN" sz="1335">
                <a:latin typeface="FuturaA Md BT" charset="0"/>
              </a:rPr>
              <a:t>Page </a:t>
            </a:r>
            <a:fld id="{FEB369E1-783D-4E83-9C69-8CE61697A308}" type="slidenum">
              <a:rPr lang="en-US" altLang="zh-CN" sz="1335">
                <a:latin typeface="FuturaA Md BT" charset="0"/>
              </a:rPr>
              <a:t>‹#›</a:t>
            </a:fld>
            <a:endParaRPr lang="en-US" altLang="zh-CN" sz="1335">
              <a:latin typeface="FuturaA Md BT" charset="0"/>
            </a:endParaRPr>
          </a:p>
        </p:txBody>
      </p:sp>
      <p:grpSp>
        <p:nvGrpSpPr>
          <p:cNvPr id="5" name="Group 10"/>
          <p:cNvGrpSpPr/>
          <p:nvPr userDrawn="1"/>
        </p:nvGrpSpPr>
        <p:grpSpPr bwMode="auto">
          <a:xfrm>
            <a:off x="1102786" y="5516566"/>
            <a:ext cx="11087100" cy="1435555"/>
            <a:chOff x="249" y="2341"/>
            <a:chExt cx="5178" cy="1702"/>
          </a:xfrm>
        </p:grpSpPr>
        <p:pic>
          <p:nvPicPr>
            <p:cNvPr id="6" name="Picture 11" descr="未命名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2341"/>
              <a:ext cx="5178" cy="1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12"/>
            <p:cNvSpPr>
              <a:spLocks noChangeArrowheads="1"/>
            </p:cNvSpPr>
            <p:nvPr/>
          </p:nvSpPr>
          <p:spPr bwMode="gray">
            <a:xfrm>
              <a:off x="1891" y="3593"/>
              <a:ext cx="86" cy="4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865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</a:endParaRPr>
            </a:p>
          </p:txBody>
        </p:sp>
      </p:grpSp>
      <p:pic>
        <p:nvPicPr>
          <p:cNvPr id="8" name="Picture 16" descr="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20" y="333375"/>
            <a:ext cx="3599125" cy="71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5734051"/>
            <a:ext cx="115229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77" name="Rectangle 5"/>
          <p:cNvSpPr>
            <a:spLocks noGrp="1" noChangeArrowheads="1"/>
          </p:cNvSpPr>
          <p:nvPr>
            <p:ph type="ctrTitle" sz="quarter" hasCustomPrompt="1"/>
          </p:nvPr>
        </p:nvSpPr>
        <p:spPr bwMode="auto">
          <a:xfrm>
            <a:off x="1871133" y="2133600"/>
            <a:ext cx="8441267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0488" tIns="44450" rIns="90488" bIns="44450" numCol="1" anchor="ctr" anchorCtr="1" compatLnSpc="1"/>
          <a:lstStyle>
            <a:lvl1pPr>
              <a:defRPr/>
            </a:lvl1pPr>
          </a:lstStyle>
          <a:p>
            <a:r>
              <a:rPr lang="en-US" altLang="zh-CN"/>
              <a:t>TITLE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/>
            </a:lvl1pPr>
            <a:lvl2pPr marL="609600" indent="0">
              <a:buNone/>
              <a:defRPr sz="2400"/>
            </a:lvl2pPr>
            <a:lvl3pPr marL="1219200" indent="0">
              <a:buNone/>
              <a:defRPr sz="2135"/>
            </a:lvl3pPr>
            <a:lvl4pPr marL="1828800" indent="0">
              <a:buNone/>
              <a:defRPr sz="1865"/>
            </a:lvl4pPr>
            <a:lvl5pPr marL="2438400" indent="0">
              <a:buNone/>
              <a:defRPr sz="1865"/>
            </a:lvl5pPr>
            <a:lvl6pPr marL="3048000" indent="0">
              <a:buNone/>
              <a:defRPr sz="1865"/>
            </a:lvl6pPr>
            <a:lvl7pPr marL="3657600" indent="0">
              <a:buNone/>
              <a:defRPr sz="1865"/>
            </a:lvl7pPr>
            <a:lvl8pPr marL="4267200" indent="0">
              <a:buNone/>
              <a:defRPr sz="1865"/>
            </a:lvl8pPr>
            <a:lvl9pPr marL="4876800" indent="0">
              <a:buNone/>
              <a:defRPr sz="18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45635" y="1484313"/>
            <a:ext cx="4948767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484313"/>
            <a:ext cx="4948767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trips dir="r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73563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7356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45635" y="1484313"/>
            <a:ext cx="4948767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484313"/>
            <a:ext cx="4948767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45635" y="1484313"/>
            <a:ext cx="4948767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2" y="1484313"/>
            <a:ext cx="4948767" cy="2185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2" y="3822702"/>
            <a:ext cx="4948767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735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strips dir="r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045634" y="1484313"/>
            <a:ext cx="10100733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strips dir="r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  <a:t>2026/5/19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E7BAE-A861-4E47-A17C-47BD09A72050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183-772A-0D45-B96D-F967AF51B1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ChangeArrowheads="1"/>
          </p:cNvSpPr>
          <p:nvPr/>
        </p:nvSpPr>
        <p:spPr bwMode="auto">
          <a:xfrm>
            <a:off x="11150047" y="6453189"/>
            <a:ext cx="1041954" cy="324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r" eaLnBrk="0" hangingPunct="0">
              <a:defRPr/>
            </a:pPr>
            <a:r>
              <a:rPr lang="zh-CN" altLang="en-US" sz="1335">
                <a:latin typeface="FuturaA Md BT" charset="0"/>
              </a:rPr>
              <a:t>  </a:t>
            </a:r>
            <a:r>
              <a:rPr lang="en-US" altLang="zh-CN" sz="1335">
                <a:latin typeface="FuturaA Md BT" charset="0"/>
              </a:rPr>
              <a:t>Page </a:t>
            </a:r>
            <a:fld id="{0E00DC89-7662-483E-9F20-6C94E6B6B8FB}" type="slidenum">
              <a:rPr lang="en-US" altLang="zh-CN" sz="1335">
                <a:latin typeface="FuturaA Md BT" charset="0"/>
              </a:rPr>
              <a:t>‹#›</a:t>
            </a:fld>
            <a:endParaRPr lang="en-US" altLang="zh-CN" sz="1335">
              <a:latin typeface="FuturaA Md BT" charset="0"/>
            </a:endParaRPr>
          </a:p>
        </p:txBody>
      </p:sp>
      <p:sp>
        <p:nvSpPr>
          <p:cNvPr id="411652" name="Line 4"/>
          <p:cNvSpPr>
            <a:spLocks noChangeShapeType="1"/>
          </p:cNvSpPr>
          <p:nvPr/>
        </p:nvSpPr>
        <p:spPr bwMode="auto">
          <a:xfrm>
            <a:off x="239186" y="765175"/>
            <a:ext cx="11618383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sz="3200">
              <a:latin typeface="FuturaA Md BT" charset="0"/>
            </a:endParaRPr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0" y="6237289"/>
            <a:ext cx="12192000" cy="6121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20651" tIns="59267" rIns="120651" bIns="59267">
            <a:spAutoFit/>
          </a:bodyPr>
          <a:lstStyle/>
          <a:p>
            <a:pPr eaLnBrk="0" hangingPunct="0">
              <a:defRPr/>
            </a:pPr>
            <a:r>
              <a:rPr lang="zh-CN" altLang="en-US" sz="3200" b="1">
                <a:solidFill>
                  <a:srgbClr val="436ACB"/>
                </a:solidFill>
                <a:latin typeface="Arial" panose="020B0604020202090204" pitchFamily="34" charset="0"/>
                <a:ea typeface="隶书" panose="02010509060101010101" pitchFamily="49" charset="-122"/>
              </a:rPr>
              <a:t>      </a:t>
            </a:r>
            <a:endParaRPr lang="zh-CN" altLang="en-US" sz="3200" b="1">
              <a:latin typeface="FuturaA Md BT" charset="0"/>
              <a:ea typeface="隶书" panose="02010509060101010101" pitchFamily="49" charset="-122"/>
            </a:endParaRPr>
          </a:p>
        </p:txBody>
      </p:sp>
      <p:sp>
        <p:nvSpPr>
          <p:cNvPr id="1536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5634" y="1484313"/>
            <a:ext cx="1010073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pic>
        <p:nvPicPr>
          <p:cNvPr id="15366" name="Picture 10" descr="logo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8" y="115889"/>
            <a:ext cx="244699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13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015039"/>
            <a:ext cx="806449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ransition>
    <p:strips dir="ru"/>
  </p:transition>
  <p:txStyles>
    <p:titleStyle>
      <a:lvl1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6096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12192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8288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24384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455295" indent="-455295" algn="l" rtl="0" eaLnBrk="0" fontAlgn="base" hangingPunct="0">
        <a:spcBef>
          <a:spcPct val="5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n"/>
        <a:defRPr sz="3735">
          <a:solidFill>
            <a:schemeClr val="tx1"/>
          </a:solidFill>
          <a:latin typeface="+mn-lt"/>
          <a:ea typeface="+mn-ea"/>
          <a:cs typeface="+mn-cs"/>
        </a:defRPr>
      </a:lvl1pPr>
      <a:lvl2pPr marL="988695" indent="-381000" algn="l" rtl="0" eaLnBrk="0" fontAlgn="base" hangingPunct="0">
        <a:spcBef>
          <a:spcPct val="50000"/>
        </a:spcBef>
        <a:spcAft>
          <a:spcPct val="0"/>
        </a:spcAft>
        <a:buClr>
          <a:srgbClr val="F35B1B"/>
        </a:buClr>
        <a:buSzPct val="83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</a:defRPr>
      </a:lvl2pPr>
      <a:lvl3pPr marL="1522095" indent="-381000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SzPct val="88000"/>
        <a:buFont typeface="Wingdings" panose="05000000000000000000" pitchFamily="2" charset="2"/>
        <a:buChar char="Ø"/>
        <a:defRPr sz="2665">
          <a:solidFill>
            <a:schemeClr val="tx1"/>
          </a:solidFill>
          <a:latin typeface="+mn-lt"/>
          <a:ea typeface="+mn-ea"/>
        </a:defRPr>
      </a:lvl3pPr>
      <a:lvl4pPr marL="1970405" indent="-296545" algn="l" rtl="0" eaLnBrk="0" fontAlgn="base" hangingPunct="0">
        <a:spcBef>
          <a:spcPct val="50000"/>
        </a:spcBef>
        <a:spcAft>
          <a:spcPct val="0"/>
        </a:spcAft>
        <a:buClr>
          <a:srgbClr val="F35B1B"/>
        </a:buClr>
        <a:buSzPct val="135000"/>
        <a:buChar char="–"/>
        <a:defRPr sz="2665">
          <a:solidFill>
            <a:schemeClr val="tx1"/>
          </a:solidFill>
          <a:latin typeface="+mn-lt"/>
          <a:ea typeface="+mn-ea"/>
        </a:defRPr>
      </a:lvl4pPr>
      <a:lvl5pPr marL="2368550" indent="-245745" algn="l" rtl="0" eaLnBrk="0" fontAlgn="base" hangingPunct="0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503050405090304" pitchFamily="18" charset="0"/>
          <a:ea typeface="+mn-ea"/>
        </a:defRPr>
      </a:lvl5pPr>
      <a:lvl6pPr marL="29781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503050405090304" pitchFamily="18" charset="0"/>
          <a:ea typeface="+mn-ea"/>
        </a:defRPr>
      </a:lvl6pPr>
      <a:lvl7pPr marL="35877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503050405090304" pitchFamily="18" charset="0"/>
          <a:ea typeface="+mn-ea"/>
        </a:defRPr>
      </a:lvl7pPr>
      <a:lvl8pPr marL="41973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503050405090304" pitchFamily="18" charset="0"/>
          <a:ea typeface="+mn-ea"/>
        </a:defRPr>
      </a:lvl8pPr>
      <a:lvl9pPr marL="48069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503050405090304" pitchFamily="18" charset="0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44625" y="2931395"/>
            <a:ext cx="770275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865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80403050404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5865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804030504040204" pitchFamily="34" charset="0"/>
                <a:ea typeface="微软雅黑" panose="020B0503020204020204" pitchFamily="34" charset="-122"/>
              </a:rPr>
              <a:t>机器学习</a:t>
            </a:r>
            <a:r>
              <a:rPr lang="en-US" altLang="zh-CN" sz="5865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804030504040204" pitchFamily="34" charset="0"/>
                <a:ea typeface="微软雅黑" panose="020B0503020204020204" pitchFamily="34" charset="-122"/>
              </a:rPr>
              <a:t>》</a:t>
            </a:r>
            <a:r>
              <a:rPr lang="zh-CN" altLang="en-US" sz="5865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804030504040204" pitchFamily="34" charset="0"/>
                <a:ea typeface="微软雅黑" panose="020B0503020204020204" pitchFamily="34" charset="-122"/>
              </a:rPr>
              <a:t>作业说明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8515B5-36A5-C852-5044-6E25266A4247}"/>
              </a:ext>
            </a:extLst>
          </p:cNvPr>
          <p:cNvSpPr txBox="1"/>
          <p:nvPr/>
        </p:nvSpPr>
        <p:spPr>
          <a:xfrm>
            <a:off x="6761408" y="4507605"/>
            <a:ext cx="3009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2026</a:t>
            </a:r>
            <a:r>
              <a:rPr kumimoji="1" lang="zh-CN" altLang="en-US" sz="3200" b="1" dirty="0"/>
              <a:t>年</a:t>
            </a:r>
            <a:r>
              <a:rPr kumimoji="1" lang="en-US" altLang="zh-CN" sz="3200" b="1" dirty="0"/>
              <a:t>5</a:t>
            </a:r>
            <a:r>
              <a:rPr kumimoji="1" lang="zh-CN" altLang="en-US" sz="3200" b="1" dirty="0"/>
              <a:t>月</a:t>
            </a:r>
            <a:r>
              <a:rPr kumimoji="1" lang="en-US" altLang="zh-CN" sz="3200" b="1" dirty="0"/>
              <a:t>19</a:t>
            </a:r>
            <a:r>
              <a:rPr kumimoji="1" lang="zh-CN" altLang="en-US" sz="3200" b="1" dirty="0"/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8279"/>
    </mc:Choice>
    <mc:Fallback xmlns="">
      <p:transition advTm="182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381" y="0"/>
            <a:ext cx="10972800" cy="1143000"/>
          </a:xfrm>
        </p:spPr>
        <p:txBody>
          <a:bodyPr/>
          <a:lstStyle/>
          <a:p>
            <a:r>
              <a:rPr kumimoji="1" lang="zh-CN" altLang="en-US" dirty="0"/>
              <a:t>作业说明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期末作业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-&gt;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提供分类数据集（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50%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赛道一：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ModelNet40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三维点云分类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赛道二：多变量时间序列预测</a:t>
            </a:r>
          </a:p>
          <a:p>
            <a:pPr marL="0" indent="0">
              <a:buNone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难度相当，任选赛道，</a:t>
            </a: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人一组，现场测试</a:t>
            </a:r>
          </a:p>
        </p:txBody>
      </p:sp>
    </p:spTree>
  </p:cSld>
  <p:clrMapOvr>
    <a:masterClrMapping/>
  </p:clrMapOvr>
  <p:transition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43000"/>
          </a:xfrm>
        </p:spPr>
        <p:txBody>
          <a:bodyPr/>
          <a:lstStyle/>
          <a:p>
            <a:r>
              <a:rPr kumimoji="1" lang="zh-CN" altLang="en-US" dirty="0"/>
              <a:t>赛道一：</a:t>
            </a:r>
            <a:r>
              <a:rPr kumimoji="1" lang="en-US" altLang="zh-CN" dirty="0"/>
              <a:t>ModelNet40 </a:t>
            </a:r>
            <a:r>
              <a:rPr kumimoji="1" lang="zh-CN" altLang="en-US" dirty="0"/>
              <a:t>三维点云分类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305" y="908050"/>
            <a:ext cx="11556365" cy="4942840"/>
          </a:xfrm>
        </p:spPr>
        <p:txBody>
          <a:bodyPr/>
          <a:lstStyle/>
          <a:p>
            <a:r>
              <a:rPr kumimoji="1" lang="zh-CN" altLang="en-US" sz="2000" dirty="0"/>
              <a:t>赛道一：</a:t>
            </a:r>
            <a:r>
              <a:rPr kumimoji="1" lang="en-US" altLang="zh-CN" sz="2000" dirty="0"/>
              <a:t>ModelNet40 </a:t>
            </a:r>
            <a:r>
              <a:rPr kumimoji="1" lang="zh-CN" altLang="en-US" sz="2000" dirty="0"/>
              <a:t>三维点云分类</a:t>
            </a:r>
          </a:p>
          <a:p>
            <a:r>
              <a:rPr kumimoji="1" lang="zh-CN" altLang="en-US" sz="2000" dirty="0"/>
              <a:t>任务描述</a:t>
            </a:r>
          </a:p>
          <a:p>
            <a:pPr marL="0" indent="0">
              <a:buNone/>
            </a:pPr>
            <a:r>
              <a:rPr kumimoji="1" lang="en-US" altLang="zh-CN" sz="2000" dirty="0"/>
              <a:t>    ModelNet40 </a:t>
            </a:r>
            <a:r>
              <a:rPr kumimoji="1" lang="zh-CN" altLang="en-US" sz="2000" dirty="0"/>
              <a:t>数据集包含 40 类三维物体模型，每个样本由点云表示。每个点包含三维坐标和法向量信息，模型输入格式为：</a:t>
            </a:r>
            <a:r>
              <a:rPr kumimoji="1" lang="en-US" altLang="zh-CN" sz="2000" dirty="0"/>
              <a:t>x, y, z, nx, ny, nz。</a:t>
            </a:r>
            <a:r>
              <a:rPr kumimoji="1" lang="zh-CN" altLang="en-US" sz="2000" dirty="0"/>
              <a:t>其中：</a:t>
            </a:r>
            <a:r>
              <a:rPr kumimoji="1" lang="en-US" altLang="zh-CN" sz="2000" dirty="0"/>
              <a:t>x, y, z：</a:t>
            </a:r>
            <a:r>
              <a:rPr kumimoji="1" lang="zh-CN" altLang="en-US" sz="2000" dirty="0"/>
              <a:t>点的三维空间坐标；</a:t>
            </a:r>
            <a:r>
              <a:rPr kumimoji="1" lang="en-US" altLang="zh-CN" sz="2000" dirty="0"/>
              <a:t>nx, ny, nz：</a:t>
            </a:r>
            <a:r>
              <a:rPr kumimoji="1" lang="zh-CN" altLang="en-US" sz="2000" dirty="0"/>
              <a:t>该点对应的法向量信息。任务目标是根据输入点云，预测该三维物体所属类别。</a:t>
            </a:r>
          </a:p>
          <a:p>
            <a:r>
              <a:rPr kumimoji="1" lang="zh-CN" altLang="en-US" sz="2000" dirty="0"/>
              <a:t>可选思路</a:t>
            </a:r>
            <a:r>
              <a:rPr kumimoji="1" lang="en-US" altLang="zh-CN" sz="2000" dirty="0"/>
              <a:t>：</a:t>
            </a:r>
          </a:p>
          <a:p>
            <a:pPr marL="0" indent="0">
              <a:buNone/>
            </a:pPr>
            <a:r>
              <a:rPr kumimoji="1" lang="en-US" altLang="zh-CN" sz="2000" dirty="0"/>
              <a:t>     </a:t>
            </a:r>
            <a:r>
              <a:rPr kumimoji="1" lang="zh-CN" altLang="en-US" sz="1800" dirty="0"/>
              <a:t>点云预处理</a:t>
            </a:r>
            <a:r>
              <a:rPr kumimoji="1" lang="en-US" altLang="zh-CN" sz="1800" dirty="0"/>
              <a:t>，</a:t>
            </a:r>
            <a:r>
              <a:rPr kumimoji="1" lang="zh-CN" altLang="en-US" sz="1800" dirty="0"/>
              <a:t>采样固定数量点，例如 1024 个点；对点云坐标进行归一化；进行数据增强，如随机旋转、随机扰动等。点云分类模型可选择 </a:t>
            </a:r>
            <a:r>
              <a:rPr kumimoji="1" lang="en-US" altLang="zh-CN" sz="1800" dirty="0"/>
              <a:t>PointNet、PointNet++ </a:t>
            </a:r>
            <a:r>
              <a:rPr kumimoji="1" lang="zh-CN" altLang="en-US" sz="1800" dirty="0"/>
              <a:t>等点云分类模型；可仅使用三维坐标信息；也可同时使用法向量信息提升模型表达能力。分类结果输出</a:t>
            </a:r>
            <a:r>
              <a:rPr kumimoji="1" lang="en-US" altLang="zh-CN" sz="1800" dirty="0"/>
              <a:t>，</a:t>
            </a:r>
            <a:r>
              <a:rPr kumimoji="1" lang="zh-CN" altLang="en-US" sz="1800" dirty="0"/>
              <a:t>对测试集中每个点云样本进行类别预测；输出每个样本对应的预测类别。</a:t>
            </a:r>
          </a:p>
          <a:p>
            <a:pPr marL="0" indent="0">
              <a:buNone/>
            </a:pPr>
            <a:r>
              <a:rPr kumimoji="1" lang="zh-CN" altLang="en-US" sz="1800" dirty="0"/>
              <a:t>训练数据</a:t>
            </a:r>
            <a:r>
              <a:rPr kumimoji="1" lang="en-US" altLang="zh-CN" sz="1800" dirty="0"/>
              <a:t>-</a:t>
            </a:r>
            <a:r>
              <a:rPr kumimoji="1" lang="zh-CN" altLang="en-US" sz="1800" dirty="0"/>
              <a:t>百度网盘链接：</a:t>
            </a:r>
          </a:p>
          <a:p>
            <a:pPr marL="0" indent="0">
              <a:buNone/>
            </a:pPr>
            <a:r>
              <a:rPr kumimoji="1" lang="en-US" altLang="zh-CN" sz="1800" dirty="0"/>
              <a:t>https://pan.baidu.com/s/1vHN3ECUT76NxFsJzne5RAQ?pwd=2026</a:t>
            </a:r>
            <a:r>
              <a:rPr kumimoji="1" lang="zh-CN" altLang="en-US" sz="1800" dirty="0"/>
              <a:t>。提取码：2026</a:t>
            </a:r>
          </a:p>
        </p:txBody>
      </p:sp>
    </p:spTree>
  </p:cSld>
  <p:clrMapOvr>
    <a:masterClrMapping/>
  </p:clrMapOvr>
  <p:transition>
    <p:strips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17170" y="790575"/>
            <a:ext cx="12753340" cy="5716905"/>
          </a:xfrm>
        </p:spPr>
        <p:txBody>
          <a:bodyPr/>
          <a:lstStyle/>
          <a:p>
            <a:pPr indent="0">
              <a:lnSpc>
                <a:spcPct val="120000"/>
              </a:lnSpc>
              <a:spcBef>
                <a:spcPts val="120"/>
              </a:spcBef>
              <a:buNone/>
            </a:pPr>
            <a:r>
              <a:rPr kumimoji="1" lang="zh-CN" altLang="en-US" sz="2400" b="1" dirty="0"/>
              <a:t>现场验收：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验收当日下发测试集；规定时间内提交结果，超时提交罚分</a:t>
            </a:r>
            <a:endParaRPr kumimoji="1" lang="en-US" altLang="zh-CN" sz="2800" b="1" dirty="0"/>
          </a:p>
          <a:p>
            <a:pPr indent="0">
              <a:lnSpc>
                <a:spcPct val="120000"/>
              </a:lnSpc>
              <a:spcBef>
                <a:spcPts val="120"/>
              </a:spcBef>
              <a:buNone/>
            </a:pPr>
            <a:r>
              <a:rPr kumimoji="1" lang="zh-CN" altLang="en-US" sz="2400" b="1" dirty="0"/>
              <a:t>提交作业：</a:t>
            </a:r>
            <a:endParaRPr kumimoji="1" lang="en-US" altLang="zh-CN" sz="2400" b="1" dirty="0"/>
          </a:p>
          <a:p>
            <a:pPr marL="800100" lvl="1" indent="-34290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/>
              <a:t>参赛组需在给定时间内提交模型预测结果，并将预测结果保存为 .</a:t>
            </a:r>
            <a:r>
              <a:rPr kumimoji="1" lang="en-US" altLang="zh-CN" sz="2000" dirty="0"/>
              <a:t>csv </a:t>
            </a:r>
            <a:r>
              <a:rPr kumimoji="1" lang="zh-CN" altLang="en-US" sz="2000" dirty="0"/>
              <a:t>文件。结果文件格式要求</a:t>
            </a:r>
            <a:r>
              <a:rPr kumimoji="1" lang="zh-CN" altLang="en-US" sz="2400" dirty="0"/>
              <a:t>：</a:t>
            </a:r>
          </a:p>
          <a:p>
            <a:pPr marL="457200" lvl="1" indent="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/>
              <a:t>            </a:t>
            </a:r>
            <a:r>
              <a:rPr kumimoji="1" lang="zh-CN" altLang="en-US" sz="2000" dirty="0"/>
              <a:t>第一列：测试数据的 </a:t>
            </a:r>
            <a:r>
              <a:rPr kumimoji="1" lang="en-US" altLang="zh-CN" sz="2000" dirty="0"/>
              <a:t>id；</a:t>
            </a:r>
            <a:r>
              <a:rPr kumimoji="1" lang="zh-CN" altLang="en-US" sz="2000" dirty="0"/>
              <a:t>第二列：预测类别；中间使用英文逗号分隔。</a:t>
            </a:r>
          </a:p>
          <a:p>
            <a:pPr marL="457200" lvl="1" indent="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/>
              <a:t>            </a:t>
            </a:r>
            <a:r>
              <a:rPr kumimoji="1" lang="zh-CN" altLang="en-US" sz="2000" dirty="0"/>
              <a:t>示例：</a:t>
            </a:r>
            <a:r>
              <a:rPr kumimoji="1" lang="en-US" altLang="zh-CN" sz="2000" dirty="0"/>
              <a:t>airplane_0627,airplane</a:t>
            </a:r>
            <a:r>
              <a:rPr kumimoji="1" lang="zh-CN" altLang="en-US" sz="2000" dirty="0"/>
              <a:t>；</a:t>
            </a:r>
            <a:r>
              <a:rPr kumimoji="1" lang="en-US" altLang="zh-CN" sz="2000" dirty="0"/>
              <a:t>chair_0891,chair</a:t>
            </a:r>
          </a:p>
          <a:p>
            <a:pPr marL="800100" lvl="1" indent="-34290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/>
              <a:t>文件命名格式：赛道1-组员1姓名学号-组员2姓名学号-组员3姓名学号.</a:t>
            </a:r>
            <a:r>
              <a:rPr kumimoji="1" lang="en-US" altLang="zh-CN" sz="2000" dirty="0"/>
              <a:t>csv</a:t>
            </a:r>
          </a:p>
          <a:p>
            <a:pPr marL="800100" lvl="1" indent="-34290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/>
              <a:t>同时提交材料，设计思路，最长一页纸；完整代码；训练好的模型权重；可复现实验结果的运行说明。</a:t>
            </a:r>
          </a:p>
          <a:p>
            <a:pPr marL="800100" lvl="1" indent="-34290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/>
              <a:t>评分标准</a:t>
            </a:r>
          </a:p>
          <a:p>
            <a:pPr marL="457200" lvl="1" indent="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/>
              <a:t>          </a:t>
            </a:r>
            <a:r>
              <a:rPr kumimoji="1" lang="zh-CN" altLang="en-US" sz="2000" dirty="0"/>
              <a:t>15 分：程序正常运行，能够读取点云数据并输出预测结果；</a:t>
            </a:r>
          </a:p>
          <a:p>
            <a:pPr marL="457200" lvl="1" indent="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/>
              <a:t>          </a:t>
            </a:r>
            <a:r>
              <a:rPr kumimoji="1" lang="zh-CN" altLang="en-US" sz="2000" dirty="0"/>
              <a:t>15 分：基础准确率达标：</a:t>
            </a:r>
            <a:r>
              <a:rPr kumimoji="1" lang="en-US" altLang="zh-CN" sz="2000" dirty="0"/>
              <a:t>Test Instance Accuracy </a:t>
            </a:r>
            <a:r>
              <a:rPr kumimoji="1" lang="zh-CN" altLang="en-US" sz="2000" dirty="0"/>
              <a:t>达到 90% ；</a:t>
            </a:r>
            <a:r>
              <a:rPr kumimoji="1" lang="en-US" altLang="zh-CN" sz="2000" dirty="0"/>
              <a:t>Class Accuracy </a:t>
            </a:r>
            <a:r>
              <a:rPr kumimoji="1" lang="zh-CN" altLang="en-US" sz="2000" dirty="0"/>
              <a:t>达到 85%；</a:t>
            </a:r>
          </a:p>
          <a:p>
            <a:pPr marL="457200" lvl="1" indent="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/>
              <a:t>          </a:t>
            </a:r>
            <a:r>
              <a:rPr kumimoji="1" lang="zh-CN" altLang="en-US" sz="2000" dirty="0"/>
              <a:t>10 分：模型设计思路清晰，代码结构完整、可读；</a:t>
            </a:r>
          </a:p>
          <a:p>
            <a:pPr marL="457200" lvl="1" indent="0">
              <a:lnSpc>
                <a:spcPct val="120000"/>
              </a:lnSpc>
              <a:spcBef>
                <a:spcPts val="120"/>
              </a:spcBef>
              <a:buFont typeface="Wingdings" panose="05000000000000000000" pitchFamily="2" charset="2"/>
              <a:buNone/>
            </a:pPr>
            <a:r>
              <a:rPr kumimoji="1" lang="zh-CN" altLang="en-US" sz="2000" dirty="0"/>
              <a:t> </a:t>
            </a:r>
            <a:r>
              <a:rPr kumimoji="1" lang="en-US" altLang="zh-CN" sz="2000" dirty="0"/>
              <a:t>         </a:t>
            </a:r>
            <a:r>
              <a:rPr kumimoji="1" lang="zh-CN" altLang="en-US" sz="2000" dirty="0"/>
              <a:t>10 分：</a:t>
            </a:r>
            <a:r>
              <a:rPr kumimoji="1" lang="en-US" altLang="zh-CN" sz="2000" dirty="0"/>
              <a:t>Test Instance Accuracy </a:t>
            </a:r>
            <a:r>
              <a:rPr kumimoji="1" lang="zh-CN" altLang="en-US" sz="2000" dirty="0"/>
              <a:t>达到 92% ，加 5 分；</a:t>
            </a:r>
            <a:r>
              <a:rPr kumimoji="1" lang="en-US" altLang="zh-CN" sz="2000" dirty="0"/>
              <a:t>Class Accuracy </a:t>
            </a:r>
            <a:r>
              <a:rPr kumimoji="1" lang="zh-CN" altLang="en-US" sz="2000" dirty="0"/>
              <a:t>达到 90% ，加 5 分。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1850" y="-43220"/>
            <a:ext cx="10972800" cy="1143000"/>
          </a:xfrm>
        </p:spPr>
        <p:txBody>
          <a:bodyPr/>
          <a:lstStyle/>
          <a:p>
            <a:r>
              <a:rPr kumimoji="1" lang="zh-CN" altLang="en-US" sz="4400" dirty="0">
                <a:sym typeface="+mn-ea"/>
              </a:rPr>
              <a:t>赛道一验收方式</a:t>
            </a:r>
            <a:endParaRPr kumimoji="1" lang="zh-CN" altLang="en-US" sz="4400" dirty="0"/>
          </a:p>
        </p:txBody>
      </p:sp>
    </p:spTree>
  </p:cSld>
  <p:clrMapOvr>
    <a:masterClrMapping/>
  </p:clrMapOvr>
  <p:transition>
    <p:strips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kumimoji="1" lang="zh-CN" altLang="en-US" dirty="0"/>
              <a:t>赛道二</a:t>
            </a:r>
            <a:r>
              <a:rPr kumimoji="1" lang="en-US" altLang="zh-CN" dirty="0"/>
              <a:t>：</a:t>
            </a:r>
            <a:r>
              <a:rPr kumimoji="1" lang="zh-CN" altLang="en-US" dirty="0"/>
              <a:t>多变量时间序列预测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040" y="2914393"/>
            <a:ext cx="11135360" cy="2670720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2800" b="1" dirty="0"/>
              <a:t>数据特征：</a:t>
            </a:r>
            <a:endParaRPr kumimoji="1" lang="en-US" altLang="zh-CN" sz="2400" dirty="0"/>
          </a:p>
          <a:p>
            <a:pPr>
              <a:buFont typeface="Wingdings" panose="05000000000000000000" charset="0"/>
              <a:buChar char=""/>
            </a:pPr>
            <a:r>
              <a:rPr kumimoji="1" lang="zh-CN" altLang="en-US" sz="2400" dirty="0"/>
              <a:t>训练数据</a:t>
            </a:r>
            <a:r>
              <a:rPr kumimoji="1" lang="en-US" altLang="zh-CN" sz="2400" dirty="0"/>
              <a:t>(.csv)</a:t>
            </a:r>
            <a:r>
              <a:rPr kumimoji="1" lang="zh-CN" altLang="en-US" sz="2400" dirty="0"/>
              <a:t>：每个时间步</a:t>
            </a:r>
            <a:r>
              <a:rPr kumimoji="1" lang="en-US" altLang="zh-CN" sz="2400" dirty="0"/>
              <a:t>100</a:t>
            </a:r>
            <a:r>
              <a:rPr kumimoji="1" lang="zh-CN" altLang="en-US" sz="2400" dirty="0"/>
              <a:t>列特征，数据维度为</a:t>
            </a:r>
            <a:r>
              <a:rPr kumimoji="1" lang="en-US" altLang="zh-CN" sz="2400" dirty="0"/>
              <a:t>20000 x 100</a:t>
            </a:r>
          </a:p>
          <a:p>
            <a:pPr>
              <a:buFont typeface="Wingdings" panose="05000000000000000000" charset="0"/>
              <a:buChar char=""/>
            </a:pPr>
            <a:r>
              <a:rPr kumimoji="1" lang="zh-CN" altLang="en-US" sz="2400" dirty="0"/>
              <a:t>测试数据</a:t>
            </a:r>
            <a:r>
              <a:rPr kumimoji="1" lang="en-US" altLang="zh-CN" sz="2400" dirty="0"/>
              <a:t>(.</a:t>
            </a:r>
            <a:r>
              <a:rPr kumimoji="1" lang="en-US" altLang="zh-CN" sz="2400" dirty="0" err="1"/>
              <a:t>npy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：张量维度：</a:t>
            </a:r>
            <a:r>
              <a:rPr kumimoji="1" lang="en-US" altLang="zh-CN" sz="2400" dirty="0"/>
              <a:t>250 x 96 x 100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250</a:t>
            </a:r>
            <a:r>
              <a:rPr kumimoji="1" lang="zh-CN" altLang="en-US" sz="2400" dirty="0"/>
              <a:t>个独立的</a:t>
            </a:r>
            <a:r>
              <a:rPr kumimoji="1" lang="en-US" altLang="zh-CN" sz="2400" dirty="0"/>
              <a:t>96</a:t>
            </a:r>
            <a:r>
              <a:rPr kumimoji="1" lang="zh-CN" altLang="en-US" sz="2400" dirty="0"/>
              <a:t>长度样本）</a:t>
            </a:r>
            <a:endParaRPr kumimoji="1" lang="en-US" altLang="zh-CN" sz="2400" dirty="0"/>
          </a:p>
          <a:p>
            <a:pPr>
              <a:buFont typeface="Wingdings" panose="05000000000000000000" charset="0"/>
              <a:buChar char=""/>
            </a:pPr>
            <a:r>
              <a:rPr kumimoji="1" lang="zh-CN" altLang="en-US" sz="2400" dirty="0"/>
              <a:t>评价指标：对每个预测长度计算</a:t>
            </a:r>
            <a:r>
              <a:rPr kumimoji="1" lang="en-US" altLang="zh-CN" sz="2400" b="1" dirty="0"/>
              <a:t>MSE</a:t>
            </a:r>
            <a:r>
              <a:rPr kumimoji="1" lang="zh-CN" altLang="en-US" sz="2400" dirty="0"/>
              <a:t>，取四个长度结果的平均值</a:t>
            </a:r>
            <a:r>
              <a:rPr kumimoji="1" lang="en-US" altLang="zh-CN" sz="2400" dirty="0"/>
              <a:t>，MSE</a:t>
            </a:r>
            <a:r>
              <a:rPr kumimoji="1" lang="zh-CN" altLang="en-US" sz="2400" dirty="0"/>
              <a:t>计算方法见</a:t>
            </a:r>
            <a:r>
              <a:rPr kumimoji="1" lang="en-US" altLang="zh-CN" sz="2400" dirty="0"/>
              <a:t>test_demo</a:t>
            </a:r>
            <a:r>
              <a:rPr kumimoji="1" lang="zh-CN" altLang="en-US" sz="2400" dirty="0"/>
              <a:t>文件夹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2423" y="5464494"/>
            <a:ext cx="10265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数据下载地址，百度网盘链接</a:t>
            </a:r>
            <a:r>
              <a:rPr kumimoji="1" lang="en-US" altLang="zh-CN" sz="2400" dirty="0"/>
              <a:t>:</a:t>
            </a:r>
          </a:p>
          <a:p>
            <a:r>
              <a:rPr kumimoji="1" lang="en-US" altLang="zh-CN" sz="2400" dirty="0"/>
              <a:t>https://pan.baidu.com/s/1XdcWA3RMwbP4Nba2Ezb9Og</a:t>
            </a:r>
          </a:p>
          <a:p>
            <a:r>
              <a:rPr kumimoji="1" lang="zh-CN" altLang="en-US" sz="2400" dirty="0"/>
              <a:t>提取码</a:t>
            </a:r>
            <a:r>
              <a:rPr kumimoji="1" lang="en-US" altLang="zh-CN" sz="2400" dirty="0"/>
              <a:t>: ML25</a:t>
            </a:r>
            <a:endParaRPr kumimoji="1"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140" y="1272887"/>
            <a:ext cx="5001583" cy="1771033"/>
          </a:xfrm>
          <a:prstGeom prst="rect">
            <a:avLst/>
          </a:prstGeom>
        </p:spPr>
      </p:pic>
      <p:sp>
        <p:nvSpPr>
          <p:cNvPr id="10" name="内容占位符 2"/>
          <p:cNvSpPr txBox="1"/>
          <p:nvPr/>
        </p:nvSpPr>
        <p:spPr bwMode="auto">
          <a:xfrm>
            <a:off x="447040" y="908276"/>
            <a:ext cx="5468942" cy="216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55295" indent="-45529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n"/>
              <a:defRPr sz="3735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86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83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</a:defRPr>
            </a:lvl2pPr>
            <a:lvl3pPr marL="15220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88000"/>
              <a:buFont typeface="Wingdings" panose="05000000000000000000" pitchFamily="2" charset="2"/>
              <a:buChar char="Ø"/>
              <a:defRPr sz="2665">
                <a:solidFill>
                  <a:schemeClr val="tx1"/>
                </a:solidFill>
                <a:latin typeface="+mn-lt"/>
                <a:ea typeface="+mn-ea"/>
              </a:defRPr>
            </a:lvl3pPr>
            <a:lvl4pPr marL="1970405" indent="-29654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135000"/>
              <a:buChar char="–"/>
              <a:defRPr sz="2665">
                <a:solidFill>
                  <a:schemeClr val="tx1"/>
                </a:solidFill>
                <a:latin typeface="+mn-lt"/>
                <a:ea typeface="+mn-ea"/>
              </a:defRPr>
            </a:lvl4pPr>
            <a:lvl5pPr marL="2368550" indent="-24574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5pPr>
            <a:lvl6pPr marL="29781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6pPr>
            <a:lvl7pPr marL="35877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7pPr>
            <a:lvl8pPr marL="41973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8pPr>
            <a:lvl9pPr marL="48069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en-US" sz="2800" b="1" kern="0" dirty="0"/>
              <a:t>多变量时间序列预测：</a:t>
            </a:r>
            <a:endParaRPr kumimoji="1" lang="en-US" altLang="zh-CN" sz="2800" b="1" kern="0" dirty="0"/>
          </a:p>
          <a:p>
            <a:pPr>
              <a:buFont typeface="Wingdings" panose="05000000000000000000" charset="0"/>
              <a:buChar char="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FuturaA Md BT"/>
                <a:ea typeface="宋体"/>
              </a:rPr>
              <a:t>训练模型</a:t>
            </a:r>
            <a:r>
              <a:rPr kumimoji="1" lang="en-US" altLang="zh-CN" sz="2400" kern="0" dirty="0">
                <a:solidFill>
                  <a:srgbClr val="000000"/>
                </a:solidFill>
                <a:latin typeface="FuturaA Md BT"/>
                <a:ea typeface="宋体"/>
              </a:rPr>
              <a:t>: </a:t>
            </a:r>
            <a:r>
              <a:rPr kumimoji="1" lang="zh-CN" altLang="en-US" sz="2400" kern="0" dirty="0">
                <a:solidFill>
                  <a:srgbClr val="000000"/>
                </a:solidFill>
                <a:latin typeface="FuturaA Md BT"/>
                <a:ea typeface="宋体"/>
              </a:rPr>
              <a:t>根据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FuturaA Md BT"/>
                <a:ea typeface="宋体"/>
              </a:rPr>
              <a:t>96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FuturaA Md BT"/>
                <a:ea typeface="宋体"/>
              </a:rPr>
              <a:t>历史时间步</a:t>
            </a:r>
            <a:r>
              <a:rPr kumimoji="1" lang="zh-CN" altLang="en-US" sz="2400" kern="0" dirty="0">
                <a:solidFill>
                  <a:srgbClr val="000000"/>
                </a:solidFill>
                <a:latin typeface="FuturaA Md BT"/>
                <a:ea typeface="宋体"/>
              </a:rPr>
              <a:t>数据，分别预测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FuturaA Md BT"/>
                <a:ea typeface="宋体"/>
              </a:rPr>
              <a:t>{96, 192, 336, 720}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FuturaA Md BT"/>
                <a:ea typeface="宋体"/>
              </a:rPr>
              <a:t>未来时间步</a:t>
            </a:r>
            <a:r>
              <a:rPr kumimoji="1" lang="zh-CN" altLang="en-US" sz="2400" kern="0" dirty="0">
                <a:solidFill>
                  <a:srgbClr val="000000"/>
                </a:solidFill>
                <a:latin typeface="FuturaA Md BT"/>
                <a:ea typeface="宋体"/>
              </a:rPr>
              <a:t>数据</a:t>
            </a:r>
            <a:endParaRPr kumimoji="1" lang="en-US" altLang="zh-CN" sz="2400" kern="0" dirty="0">
              <a:solidFill>
                <a:srgbClr val="000000"/>
              </a:solidFill>
              <a:latin typeface="FuturaA Md BT"/>
              <a:ea typeface="宋体"/>
            </a:endParaRPr>
          </a:p>
        </p:txBody>
      </p:sp>
    </p:spTree>
  </p:cSld>
  <p:clrMapOvr>
    <a:masterClrMapping/>
  </p:clrMapOvr>
  <p:transition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赛道二验收方式</a:t>
            </a:r>
            <a:endParaRPr kumimoji="1" lang="zh-CN" altLang="en-US" dirty="0"/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609600" y="908050"/>
            <a:ext cx="11216640" cy="5039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55295" indent="-45529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n"/>
              <a:defRPr sz="3735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86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83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</a:defRPr>
            </a:lvl2pPr>
            <a:lvl3pPr marL="15220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88000"/>
              <a:buFont typeface="Wingdings" panose="05000000000000000000" pitchFamily="2" charset="2"/>
              <a:buChar char="Ø"/>
              <a:defRPr sz="2665">
                <a:solidFill>
                  <a:schemeClr val="tx1"/>
                </a:solidFill>
                <a:latin typeface="+mn-lt"/>
                <a:ea typeface="+mn-ea"/>
              </a:defRPr>
            </a:lvl3pPr>
            <a:lvl4pPr marL="1970405" indent="-29654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135000"/>
              <a:buChar char="–"/>
              <a:defRPr sz="2665">
                <a:solidFill>
                  <a:schemeClr val="tx1"/>
                </a:solidFill>
                <a:latin typeface="+mn-lt"/>
                <a:ea typeface="+mn-ea"/>
              </a:defRPr>
            </a:lvl4pPr>
            <a:lvl5pPr marL="2368550" indent="-24574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5pPr>
            <a:lvl6pPr marL="29781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6pPr>
            <a:lvl7pPr marL="35877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7pPr>
            <a:lvl8pPr marL="41973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8pPr>
            <a:lvl9pPr marL="48069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en-US" sz="2400" b="1" kern="0" dirty="0"/>
              <a:t>现场验收：</a:t>
            </a:r>
            <a:r>
              <a:rPr kumimoji="1" lang="zh-CN" altLang="en-US" sz="2400" b="1" dirty="0">
                <a:solidFill>
                  <a:srgbClr val="C00000"/>
                </a:solidFill>
                <a:sym typeface="+mn-ea"/>
              </a:rPr>
              <a:t>验收当日下发测试集；规定时间内提交结果，超时提交罚分</a:t>
            </a:r>
            <a:endParaRPr kumimoji="1" lang="en-US" altLang="zh-CN" sz="2400" b="1" dirty="0"/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ym typeface="+mn-ea"/>
              </a:rPr>
              <a:t>提交作业：</a:t>
            </a:r>
            <a:endParaRPr kumimoji="1" lang="en-US" altLang="zh-CN" sz="2400" b="1" kern="0" dirty="0"/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参考压缩包中的</a:t>
            </a:r>
            <a:r>
              <a:rPr kumimoji="1" lang="en-US" altLang="zh-CN" sz="2000" kern="0" dirty="0" err="1">
                <a:solidFill>
                  <a:srgbClr val="000000"/>
                </a:solidFill>
                <a:latin typeface="FuturaA Md BT"/>
                <a:ea typeface="宋体"/>
              </a:rPr>
              <a:t>test_demo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，现场提交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FuturaA Md BT"/>
                <a:ea typeface="宋体"/>
              </a:rPr>
              <a:t>四个预测结果文件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：分别命名为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pred_{96, 192, 336, 720}.</a:t>
            </a:r>
            <a:r>
              <a:rPr kumimoji="1" lang="en-US" altLang="zh-CN" sz="2000" kern="0" dirty="0" err="1">
                <a:solidFill>
                  <a:srgbClr val="000000"/>
                </a:solidFill>
                <a:latin typeface="FuturaA Md BT"/>
                <a:ea typeface="宋体"/>
              </a:rPr>
              <a:t>npy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，维度分别为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250 x {96, 192, 336, 720} x 100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。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文件格式命名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：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时间序列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-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组员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1(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姓名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+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学号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)-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组员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2(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姓名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+</a:t>
            </a: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学号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)-….zip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FuturaA Md BT"/>
                <a:ea typeface="宋体"/>
              </a:rPr>
              <a:t>同时提交材料</a:t>
            </a:r>
            <a:r>
              <a:rPr kumimoji="1" lang="en-US" altLang="zh-CN" sz="2000" kern="0" dirty="0">
                <a:solidFill>
                  <a:srgbClr val="000000"/>
                </a:solidFill>
                <a:latin typeface="FuturaA Md BT"/>
                <a:ea typeface="宋体"/>
              </a:rPr>
              <a:t>：</a:t>
            </a:r>
            <a:r>
              <a:rPr kumimoji="1" lang="zh-CN" altLang="en-US" sz="2000" dirty="0">
                <a:sym typeface="+mn-ea"/>
              </a:rPr>
              <a:t>设计思路，最长一页纸；完整代码；训练好的模型或接口文件；可复现实验结果的运行说明</a:t>
            </a:r>
            <a:r>
              <a:rPr kumimoji="1" lang="en-US" altLang="zh-CN" sz="2000" dirty="0">
                <a:sym typeface="+mn-ea"/>
              </a:rPr>
              <a:t>，</a:t>
            </a:r>
            <a:r>
              <a:rPr kumimoji="1" lang="zh-CN" altLang="en-US" sz="2000" dirty="0">
                <a:sym typeface="+mn-ea"/>
              </a:rPr>
              <a:t>四个步长的预测结果。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dirty="0">
                <a:sym typeface="+mn-ea"/>
              </a:rPr>
              <a:t>评分标准</a:t>
            </a:r>
            <a:r>
              <a:rPr kumimoji="1" lang="en-US" altLang="zh-CN" sz="2000" dirty="0">
                <a:sym typeface="+mn-ea"/>
              </a:rPr>
              <a:t>：</a:t>
            </a:r>
            <a:endParaRPr kumimoji="1" lang="en-US" altLang="zh-CN" sz="2800" b="1" kern="0" dirty="0"/>
          </a:p>
          <a:p>
            <a:pPr marL="0" indent="0">
              <a:buNone/>
              <a:defRPr/>
            </a:pPr>
            <a:endParaRPr kumimoji="1" lang="en-US" altLang="zh-CN" sz="2200" kern="0" dirty="0">
              <a:solidFill>
                <a:srgbClr val="000000"/>
              </a:solidFill>
              <a:latin typeface="FuturaA Md BT"/>
              <a:ea typeface="宋体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2015" y="4369435"/>
            <a:ext cx="10825108" cy="2091690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200" b="1" dirty="0"/>
              <a:t>评分标准，考虑预测结果误差</a:t>
            </a:r>
            <a:endParaRPr lang="en-US" altLang="zh-CN" sz="2200" b="1" dirty="0"/>
          </a:p>
          <a:p>
            <a:pPr>
              <a:spcBef>
                <a:spcPts val="600"/>
              </a:spcBef>
            </a:pPr>
            <a:r>
              <a:rPr lang="en-US" altLang="zh-CN" sz="2200" dirty="0"/>
              <a:t>15</a:t>
            </a:r>
            <a:r>
              <a:rPr lang="zh-CN" altLang="en-US" sz="2200" dirty="0"/>
              <a:t>分：程序正常运行，读取数据，输出结果；</a:t>
            </a:r>
            <a:endParaRPr lang="en-US" altLang="zh-CN" sz="2200" dirty="0"/>
          </a:p>
          <a:p>
            <a:pPr>
              <a:spcBef>
                <a:spcPts val="600"/>
              </a:spcBef>
            </a:pPr>
            <a:r>
              <a:rPr lang="en-US" altLang="zh-CN" sz="2200" dirty="0"/>
              <a:t>13</a:t>
            </a:r>
            <a:r>
              <a:rPr lang="zh-CN" altLang="en-US" sz="2200" dirty="0"/>
              <a:t>分：四个长度</a:t>
            </a:r>
            <a:r>
              <a:rPr lang="en-US" altLang="zh-CN" sz="2200" dirty="0"/>
              <a:t>MSE</a:t>
            </a:r>
            <a:r>
              <a:rPr lang="zh-CN" altLang="en-US" sz="2200" dirty="0"/>
              <a:t>平均：小于</a:t>
            </a:r>
            <a:r>
              <a:rPr lang="en-US" altLang="zh-CN" sz="2200" dirty="0"/>
              <a:t>0.01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>
              <a:spcBef>
                <a:spcPts val="600"/>
              </a:spcBef>
            </a:pPr>
            <a:r>
              <a:rPr lang="en-US" altLang="zh-CN" sz="2200" dirty="0"/>
              <a:t>12</a:t>
            </a:r>
            <a:r>
              <a:rPr lang="zh-CN" altLang="en-US" sz="2200" dirty="0"/>
              <a:t>分：模型设计思路（</a:t>
            </a:r>
            <a:r>
              <a:rPr lang="zh-CN" altLang="en-US" sz="2200" b="1" dirty="0">
                <a:solidFill>
                  <a:srgbClr val="C00000"/>
                </a:solidFill>
              </a:rPr>
              <a:t>最长一页纸</a:t>
            </a:r>
            <a:r>
              <a:rPr lang="zh-CN" altLang="en-US" sz="2200" dirty="0"/>
              <a:t>）及代码（清晰可读）；</a:t>
            </a:r>
            <a:endParaRPr lang="en-US" altLang="zh-CN" sz="2200" dirty="0"/>
          </a:p>
          <a:p>
            <a:pPr>
              <a:spcBef>
                <a:spcPts val="600"/>
              </a:spcBef>
            </a:pPr>
            <a:r>
              <a:rPr lang="en-US" altLang="zh-CN" sz="2200" dirty="0"/>
              <a:t>10</a:t>
            </a:r>
            <a:r>
              <a:rPr lang="zh-CN" altLang="en-US" sz="2200" dirty="0"/>
              <a:t>分：更低的误差，小于</a:t>
            </a:r>
            <a:r>
              <a:rPr lang="en-US" altLang="zh-CN" sz="2200" dirty="0"/>
              <a:t>0.006</a:t>
            </a:r>
            <a:r>
              <a:rPr lang="zh-CN" altLang="en-US" sz="2200" dirty="0"/>
              <a:t>加</a:t>
            </a:r>
            <a:r>
              <a:rPr lang="en-US" altLang="zh-CN" sz="2200" dirty="0"/>
              <a:t>5</a:t>
            </a:r>
            <a:r>
              <a:rPr lang="zh-CN" altLang="en-US" sz="2200" dirty="0"/>
              <a:t>分，小于</a:t>
            </a:r>
            <a:r>
              <a:rPr lang="en-US" altLang="zh-CN" sz="2200" dirty="0"/>
              <a:t>0.005</a:t>
            </a:r>
            <a:r>
              <a:rPr lang="zh-CN" altLang="en-US" sz="2200" dirty="0"/>
              <a:t>加</a:t>
            </a:r>
            <a:r>
              <a:rPr lang="en-US" altLang="zh-CN" sz="2200" dirty="0"/>
              <a:t>10</a:t>
            </a:r>
            <a:r>
              <a:rPr lang="zh-CN" altLang="en-US" sz="2200" dirty="0"/>
              <a:t>分</a:t>
            </a:r>
            <a:endParaRPr lang="en-US" altLang="zh-CN" sz="2200" dirty="0"/>
          </a:p>
        </p:txBody>
      </p:sp>
    </p:spTree>
  </p:cSld>
  <p:clrMapOvr>
    <a:masterClrMapping/>
  </p:clrMapOvr>
  <p:transition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I1ZDE0MDNkNDU3ODg2NWMwNzAzMjQ2MTAxMmEwN2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模版1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C0FEF9"/>
      </a:accent1>
      <a:accent2>
        <a:srgbClr val="F35B1B"/>
      </a:accent2>
      <a:accent3>
        <a:srgbClr val="FFFFFF"/>
      </a:accent3>
      <a:accent4>
        <a:srgbClr val="000000"/>
      </a:accent4>
      <a:accent5>
        <a:srgbClr val="DCFEFB"/>
      </a:accent5>
      <a:accent6>
        <a:srgbClr val="DC5217"/>
      </a:accent6>
      <a:hlink>
        <a:srgbClr val="FCFEBA"/>
      </a:hlink>
      <a:folHlink>
        <a:srgbClr val="88FF89"/>
      </a:folHlink>
    </a:clrScheme>
    <a:fontScheme name="模版1">
      <a:majorFont>
        <a:latin typeface="华文中宋"/>
        <a:ea typeface="华文中宋"/>
        <a:cs typeface=""/>
      </a:majorFont>
      <a:minorFont>
        <a:latin typeface="FuturaA Md BT"/>
        <a:ea typeface="宋体"/>
        <a:cs typeface="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2"/>
          </a:solidFill>
          <a:prstDash val="solid"/>
          <a:miter lim="800000"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A Md BT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2"/>
          </a:solidFill>
          <a:prstDash val="solid"/>
          <a:miter lim="800000"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A Md BT" charset="0"/>
            <a:ea typeface="宋体" pitchFamily="2" charset="-122"/>
          </a:defRPr>
        </a:defPPr>
      </a:lstStyle>
    </a:lnDef>
  </a:objectDefaults>
  <a:extraClrSchemeLst>
    <a:extraClrScheme>
      <a:clrScheme name="模版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904</Words>
  <Application>Microsoft Macintosh PowerPoint</Application>
  <PresentationFormat>宽屏</PresentationFormat>
  <Paragraphs>58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等线</vt:lpstr>
      <vt:lpstr>等线 Light</vt:lpstr>
      <vt:lpstr>华文中宋</vt:lpstr>
      <vt:lpstr>微软雅黑</vt:lpstr>
      <vt:lpstr>FuturaA Md BT</vt:lpstr>
      <vt:lpstr>Arial</vt:lpstr>
      <vt:lpstr>Tahoma</vt:lpstr>
      <vt:lpstr>Times New Roman</vt:lpstr>
      <vt:lpstr>Verdana</vt:lpstr>
      <vt:lpstr>Wingdings</vt:lpstr>
      <vt:lpstr>Office 主题​​</vt:lpstr>
      <vt:lpstr>模版1</vt:lpstr>
      <vt:lpstr>PowerPoint 演示文稿</vt:lpstr>
      <vt:lpstr>作业说明</vt:lpstr>
      <vt:lpstr>赛道一：ModelNet40 三维点云分类</vt:lpstr>
      <vt:lpstr>赛道一验收方式</vt:lpstr>
      <vt:lpstr>赛道二：多变量时间序列预测</vt:lpstr>
      <vt:lpstr>赛道二验收方式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戚 琦</dc:creator>
  <cp:lastModifiedBy>琦 戚</cp:lastModifiedBy>
  <cp:revision>204</cp:revision>
  <cp:lastPrinted>2026-05-19T15:38:19Z</cp:lastPrinted>
  <dcterms:created xsi:type="dcterms:W3CDTF">2026-05-19T15:38:19Z</dcterms:created>
  <dcterms:modified xsi:type="dcterms:W3CDTF">2026-05-19T15:45:13Z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EB7B941E300A0A22EB830C6A7E551637_43</vt:lpwstr>
  </property>
  <property fmtid="{D5CDD505-2E9C-101B-9397-08002B2CF9AE}" pid="3" name="KSOProductBuildVer">
    <vt:lpwstr>2052-7.5.1.8994</vt:lpwstr>
  </property>
</Properties>
</file>