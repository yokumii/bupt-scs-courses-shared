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2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5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73" r:id="rId11"/>
    <p:sldId id="274" r:id="rId12"/>
    <p:sldId id="275" r:id="rId13"/>
    <p:sldId id="298" r:id="rId14"/>
    <p:sldId id="299" r:id="rId15"/>
    <p:sldId id="304" r:id="rId16"/>
    <p:sldId id="300" r:id="rId17"/>
    <p:sldId id="301" r:id="rId18"/>
    <p:sldId id="302" r:id="rId19"/>
    <p:sldId id="265" r:id="rId20"/>
    <p:sldId id="266" r:id="rId21"/>
    <p:sldId id="267" r:id="rId22"/>
    <p:sldId id="268" r:id="rId23"/>
    <p:sldId id="282" r:id="rId24"/>
    <p:sldId id="283" r:id="rId25"/>
    <p:sldId id="269" r:id="rId26"/>
    <p:sldId id="279" r:id="rId27"/>
    <p:sldId id="270" r:id="rId28"/>
    <p:sldId id="280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271" r:id="rId47"/>
    <p:sldId id="287" r:id="rId48"/>
    <p:sldId id="272" r:id="rId49"/>
    <p:sldId id="288" r:id="rId50"/>
    <p:sldId id="289" r:id="rId51"/>
    <p:sldId id="290" r:id="rId52"/>
    <p:sldId id="276" r:id="rId53"/>
    <p:sldId id="277" r:id="rId54"/>
    <p:sldId id="284" r:id="rId55"/>
    <p:sldId id="278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307" y="1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FD17D1-A728-44C7-BDB8-3D1EF75D7274}" type="datetimeFigureOut">
              <a:rPr lang="zh-CN" altLang="en-US" smtClean="0"/>
              <a:t>2026/5/17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9AEAE-FBC5-4404-880B-E55A0AA509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194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8.pn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r="49167" b="61198"/>
            <a:stretch>
              <a:fillRect/>
            </a:stretch>
          </p:blipFill>
          <p:spPr>
            <a:xfrm flipH="1">
              <a:off x="1" y="5715670"/>
              <a:ext cx="1481681" cy="114233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5" name="Group 5"/>
            <p:cNvGrpSpPr/>
            <p:nvPr/>
          </p:nvGrpSpPr>
          <p:grpSpPr>
            <a:xfrm>
              <a:off x="6335486" y="0"/>
              <a:ext cx="5856514" cy="6858000"/>
              <a:chOff x="6335486" y="0"/>
              <a:chExt cx="5856514" cy="6858000"/>
            </a:xfrm>
          </p:grpSpPr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rcRect l="4495" t="25918" r="21481" b="22684"/>
              <a:stretch>
                <a:fillRect/>
              </a:stretch>
            </p:blipFill>
            <p:spPr>
              <a:xfrm>
                <a:off x="6335486" y="0"/>
                <a:ext cx="5856514" cy="685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9399" y="1017506"/>
                <a:ext cx="5412601" cy="54126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8" name="Picture 8"/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r="49299" b="65015"/>
              <a:stretch>
                <a:fillRect/>
              </a:stretch>
            </p:blipFill>
            <p:spPr>
              <a:xfrm flipV="1">
                <a:off x="9570258" y="0"/>
                <a:ext cx="2621742" cy="18272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</p:grpSp>
      <p:cxnSp>
        <p:nvCxnSpPr>
          <p:cNvPr id="9" name="Connector 9"/>
          <p:cNvCxnSpPr/>
          <p:nvPr/>
        </p:nvCxnSpPr>
        <p:spPr>
          <a:xfrm>
            <a:off x="672530" y="5133659"/>
            <a:ext cx="6106869" cy="0"/>
          </a:xfrm>
          <a:prstGeom prst="line">
            <a:avLst/>
          </a:prstGeom>
          <a:ln w="38100">
            <a:gradFill>
              <a:gsLst>
                <a:gs pos="20000">
                  <a:srgbClr val="1AAAFF">
                    <a:alpha val="100000"/>
                  </a:srgbClr>
                </a:gs>
                <a:gs pos="100000">
                  <a:srgbClr val="1AAAFF">
                    <a:alpha val="0"/>
                  </a:srgbClr>
                </a:gs>
              </a:gsLst>
              <a:lin ang="0"/>
            </a:gra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020000">
              <a:off x="121493" y="645984"/>
              <a:ext cx="525980" cy="27938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42679" y="4987440"/>
              <a:ext cx="2249321" cy="1870560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cxnSp>
        <p:nvCxnSpPr>
          <p:cNvPr id="6" name="Connector 6"/>
          <p:cNvCxnSpPr/>
          <p:nvPr/>
        </p:nvCxnSpPr>
        <p:spPr>
          <a:xfrm>
            <a:off x="672530" y="1075102"/>
            <a:ext cx="10846370" cy="0"/>
          </a:xfrm>
          <a:prstGeom prst="line">
            <a:avLst/>
          </a:prstGeom>
          <a:ln w="38100">
            <a:gradFill>
              <a:gsLst>
                <a:gs pos="20000">
                  <a:srgbClr val="1AAAFF">
                    <a:alpha val="100000"/>
                  </a:srgbClr>
                </a:gs>
                <a:gs pos="100000">
                  <a:srgbClr val="1AAAFF">
                    <a:alpha val="0"/>
                  </a:srgbClr>
                </a:gs>
              </a:gsLst>
              <a:lin ang="0"/>
            </a:gra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356817"/>
            <a:ext cx="12435575" cy="7214817"/>
            <a:chOff x="0" y="-356817"/>
            <a:chExt cx="12435575" cy="7214817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28837" y="-356817"/>
              <a:ext cx="2206738" cy="2241665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1021986" y="5101274"/>
              <a:ext cx="674714" cy="1148954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6" name="Group 6"/>
            <p:cNvGrpSpPr/>
            <p:nvPr/>
          </p:nvGrpSpPr>
          <p:grpSpPr>
            <a:xfrm>
              <a:off x="1" y="0"/>
              <a:ext cx="5787970" cy="6858000"/>
              <a:chOff x="1" y="0"/>
              <a:chExt cx="5787970" cy="6858000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rcRect t="22288" r="29165" b="26316"/>
              <a:stretch>
                <a:fillRect/>
              </a:stretch>
            </p:blipFill>
            <p:spPr>
              <a:xfrm flipH="1">
                <a:off x="1" y="0"/>
                <a:ext cx="5604195" cy="685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8" name="Picture 8"/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rcRect l="39380" b="14404"/>
              <a:stretch>
                <a:fillRect/>
              </a:stretch>
            </p:blipFill>
            <p:spPr>
              <a:xfrm flipV="1">
                <a:off x="1" y="1"/>
                <a:ext cx="3134649" cy="447055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9" name="Picture 9"/>
              <p:cNvPicPr>
                <a:picLocks noChangeAspect="1"/>
              </p:cNvPicPr>
              <p:nvPr/>
            </p:nvPicPr>
            <p:blipFill>
              <a:blip r:embed="rId6">
                <a:alphaModFix/>
              </a:blip>
              <a:srcRect r="20973" b="34602"/>
              <a:stretch>
                <a:fillRect/>
              </a:stretch>
            </p:blipFill>
            <p:spPr>
              <a:xfrm flipH="1">
                <a:off x="1" y="4657805"/>
                <a:ext cx="2632333" cy="220019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10" name="Picture 10"/>
              <p:cNvPicPr>
                <a:picLocks noChangeAspect="1"/>
              </p:cNvPicPr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2308081" y="4087847"/>
                <a:ext cx="3479890" cy="274114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11" name="Picture 11"/>
              <p:cNvPicPr>
                <a:picLocks noChangeAspect="1"/>
              </p:cNvPicPr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 flipH="1">
                <a:off x="495300" y="1130300"/>
                <a:ext cx="5223143" cy="43436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2379082" y="200883"/>
                <a:ext cx="2078817" cy="2116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13" name="Picture 13"/>
              <p:cNvPicPr>
                <a:picLocks noChangeAspect="1"/>
              </p:cNvPicPr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3835374" y="5216196"/>
                <a:ext cx="482625" cy="66043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020000">
              <a:off x="121493" y="645984"/>
              <a:ext cx="525980" cy="27938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42679" y="4987440"/>
              <a:ext cx="2249321" cy="1870560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cxnSp>
        <p:nvCxnSpPr>
          <p:cNvPr id="6" name="Connector 6"/>
          <p:cNvCxnSpPr/>
          <p:nvPr/>
        </p:nvCxnSpPr>
        <p:spPr>
          <a:xfrm>
            <a:off x="672530" y="1075102"/>
            <a:ext cx="10846370" cy="0"/>
          </a:xfrm>
          <a:prstGeom prst="line">
            <a:avLst/>
          </a:prstGeom>
          <a:ln w="38100">
            <a:gradFill>
              <a:gsLst>
                <a:gs pos="20000">
                  <a:srgbClr val="1AAAFF">
                    <a:alpha val="100000"/>
                  </a:srgbClr>
                </a:gs>
                <a:gs pos="100000">
                  <a:srgbClr val="1AAAFF">
                    <a:alpha val="0"/>
                  </a:srgbClr>
                </a:gs>
              </a:gsLst>
              <a:lin ang="0"/>
            </a:gra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19020000">
              <a:off x="121493" y="645984"/>
              <a:ext cx="525980" cy="279386"/>
            </a:xfrm>
            <a:prstGeom prst="rect">
              <a:avLst/>
            </a:prstGeom>
            <a:ln>
              <a:headEnd type="none"/>
              <a:tailEnd type="none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42679" y="4987440"/>
              <a:ext cx="2249321" cy="1870560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  <p:cxnSp>
        <p:nvCxnSpPr>
          <p:cNvPr id="6" name="Connector 6"/>
          <p:cNvCxnSpPr/>
          <p:nvPr/>
        </p:nvCxnSpPr>
        <p:spPr>
          <a:xfrm>
            <a:off x="672530" y="1075102"/>
            <a:ext cx="10846370" cy="0"/>
          </a:xfrm>
          <a:prstGeom prst="line">
            <a:avLst/>
          </a:prstGeom>
          <a:ln w="38100">
            <a:gradFill>
              <a:gsLst>
                <a:gs pos="20000">
                  <a:srgbClr val="1AAAFF">
                    <a:alpha val="100000"/>
                  </a:srgbClr>
                </a:gs>
                <a:gs pos="100000">
                  <a:srgbClr val="1AAAFF">
                    <a:alpha val="0"/>
                  </a:srgbClr>
                </a:gs>
              </a:gsLst>
              <a:lin ang="0"/>
            </a:gra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5297056" cy="6858001"/>
              <a:chOff x="0" y="0"/>
              <a:chExt cx="5297056" cy="6858001"/>
            </a:xfrm>
          </p:grpSpPr>
          <p:pic>
            <p:nvPicPr>
              <p:cNvPr id="5" name="Picture 5"/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t="14932" r="33047" b="33671"/>
              <a:stretch>
                <a:fillRect/>
              </a:stretch>
            </p:blipFill>
            <p:spPr>
              <a:xfrm flipH="1">
                <a:off x="0" y="0"/>
                <a:ext cx="5297056" cy="685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rcRect l="21459"/>
              <a:stretch>
                <a:fillRect/>
              </a:stretch>
            </p:blipFill>
            <p:spPr>
              <a:xfrm flipH="1">
                <a:off x="0" y="1958020"/>
                <a:ext cx="4102294" cy="4343623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rcRect b="47610"/>
              <a:stretch>
                <a:fillRect/>
              </a:stretch>
            </p:blipFill>
            <p:spPr>
              <a:xfrm flipH="1">
                <a:off x="1187496" y="5315634"/>
                <a:ext cx="2914798" cy="154236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alphaModFix/>
            </a:blip>
            <a:srcRect r="49299" b="65015"/>
            <a:stretch>
              <a:fillRect/>
            </a:stretch>
          </p:blipFill>
          <p:spPr>
            <a:xfrm flipV="1">
              <a:off x="8411344" y="0"/>
              <a:ext cx="3780656" cy="2634938"/>
            </a:xfrm>
            <a:prstGeom prst="rect">
              <a:avLst/>
            </a:prstGeom>
            <a:ln>
              <a:headEnd type="none"/>
              <a:tailEnd type="none"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1"/>
            <a:chOff x="0" y="0"/>
            <a:chExt cx="12192000" cy="6858001"/>
          </a:xfrm>
        </p:grpSpPr>
        <p:sp>
          <p:nvSpPr>
            <p:cNvPr id="3" name="AutoShap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  <a:alphaModFix/>
              </a:blip>
              <a:stretch>
                <a:fillRect l="-1157" t="-1157" r="-1157" b="-1157"/>
              </a:stretch>
            </a:blipFill>
            <a:ln>
              <a:prstDash val="solid"/>
              <a:headEnd type="none"/>
              <a:tailEnd type="none"/>
            </a:ln>
          </p:spPr>
        </p:sp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r="49167" b="61198"/>
            <a:stretch>
              <a:fillRect/>
            </a:stretch>
          </p:blipFill>
          <p:spPr>
            <a:xfrm flipH="1">
              <a:off x="1" y="5715670"/>
              <a:ext cx="1481681" cy="1142331"/>
            </a:xfrm>
            <a:prstGeom prst="rect">
              <a:avLst/>
            </a:prstGeom>
            <a:ln>
              <a:headEnd type="none"/>
              <a:tailEnd type="none"/>
            </a:ln>
          </p:spPr>
        </p:pic>
        <p:grpSp>
          <p:nvGrpSpPr>
            <p:cNvPr id="5" name="Group 5"/>
            <p:cNvGrpSpPr/>
            <p:nvPr/>
          </p:nvGrpSpPr>
          <p:grpSpPr>
            <a:xfrm>
              <a:off x="6335486" y="0"/>
              <a:ext cx="5856514" cy="6858000"/>
              <a:chOff x="6335486" y="0"/>
              <a:chExt cx="5856514" cy="6858000"/>
            </a:xfrm>
          </p:grpSpPr>
          <p:pic>
            <p:nvPicPr>
              <p:cNvPr id="6" name="Picture 6"/>
              <p:cNvPicPr>
                <a:picLocks noChangeAspect="1"/>
              </p:cNvPicPr>
              <p:nvPr/>
            </p:nvPicPr>
            <p:blipFill>
              <a:blip r:embed="rId4">
                <a:alphaModFix/>
              </a:blip>
              <a:srcRect l="4495" t="25918" r="21481" b="22684"/>
              <a:stretch>
                <a:fillRect/>
              </a:stretch>
            </p:blipFill>
            <p:spPr>
              <a:xfrm>
                <a:off x="6335486" y="0"/>
                <a:ext cx="5856514" cy="685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779399" y="1017506"/>
                <a:ext cx="5412601" cy="541260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  <p:pic>
            <p:nvPicPr>
              <p:cNvPr id="8" name="Picture 8"/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r="49299" b="65015"/>
              <a:stretch>
                <a:fillRect/>
              </a:stretch>
            </p:blipFill>
            <p:spPr>
              <a:xfrm flipV="1">
                <a:off x="9570258" y="0"/>
                <a:ext cx="2621742" cy="182723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</p:pic>
        </p:grpSp>
      </p:grpSp>
      <p:cxnSp>
        <p:nvCxnSpPr>
          <p:cNvPr id="9" name="Connector 9"/>
          <p:cNvCxnSpPr/>
          <p:nvPr/>
        </p:nvCxnSpPr>
        <p:spPr>
          <a:xfrm>
            <a:off x="672530" y="4091059"/>
            <a:ext cx="6106869" cy="0"/>
          </a:xfrm>
          <a:prstGeom prst="line">
            <a:avLst/>
          </a:prstGeom>
          <a:ln w="38100">
            <a:gradFill>
              <a:gsLst>
                <a:gs pos="20000">
                  <a:srgbClr val="1AAAFF">
                    <a:alpha val="100000"/>
                  </a:srgbClr>
                </a:gs>
                <a:gs pos="100000">
                  <a:srgbClr val="1AAAFF">
                    <a:alpha val="0"/>
                  </a:srgbClr>
                </a:gs>
              </a:gsLst>
              <a:lin ang="0"/>
            </a:gra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43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3" Type="http://schemas.openxmlformats.org/officeDocument/2006/relationships/tags" Target="../tags/tag1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tags" Target="../tags/tag36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10" Type="http://schemas.openxmlformats.org/officeDocument/2006/relationships/tags" Target="../tags/tag26.xml"/><Relationship Id="rId19" Type="http://schemas.openxmlformats.org/officeDocument/2006/relationships/tags" Target="../tags/tag35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notesSlide" Target="../notesSlides/notesSlide2.xml"/><Relationship Id="rId3" Type="http://schemas.openxmlformats.org/officeDocument/2006/relationships/tags" Target="../tags/tag39.xml"/><Relationship Id="rId21" Type="http://schemas.openxmlformats.org/officeDocument/2006/relationships/tags" Target="../tags/tag5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slideLayout" Target="../slideLayouts/slideLayout12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image" Target="../media/image5.png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13" Type="http://schemas.openxmlformats.org/officeDocument/2006/relationships/tags" Target="../tags/tag73.xml"/><Relationship Id="rId18" Type="http://schemas.openxmlformats.org/officeDocument/2006/relationships/notesSlide" Target="../notesSlides/notesSlide3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tags" Target="../tags/tag72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0" Type="http://schemas.openxmlformats.org/officeDocument/2006/relationships/image" Target="../media/image5.png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10" Type="http://schemas.openxmlformats.org/officeDocument/2006/relationships/tags" Target="../tags/tag70.xml"/><Relationship Id="rId19" Type="http://schemas.openxmlformats.org/officeDocument/2006/relationships/image" Target="../media/image1.png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3" Type="http://schemas.openxmlformats.org/officeDocument/2006/relationships/tags" Target="../tags/tag79.xml"/><Relationship Id="rId21" Type="http://schemas.openxmlformats.org/officeDocument/2006/relationships/tags" Target="../tags/tag9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Relationship Id="rId22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tags" Target="../tags/tag115.xml"/><Relationship Id="rId3" Type="http://schemas.openxmlformats.org/officeDocument/2006/relationships/tags" Target="../tags/tag100.xml"/><Relationship Id="rId21" Type="http://schemas.openxmlformats.org/officeDocument/2006/relationships/slideLayout" Target="../slideLayouts/slideLayout12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20" Type="http://schemas.openxmlformats.org/officeDocument/2006/relationships/tags" Target="../tags/tag117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image" Target="../media/image5.png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23" Type="http://schemas.openxmlformats.org/officeDocument/2006/relationships/image" Target="../media/image1.png"/><Relationship Id="rId10" Type="http://schemas.openxmlformats.org/officeDocument/2006/relationships/tags" Target="../tags/tag107.xml"/><Relationship Id="rId19" Type="http://schemas.openxmlformats.org/officeDocument/2006/relationships/tags" Target="../tags/tag116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notesSlide" Target="../notesSlides/notesSlide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4.svg"/><Relationship Id="rId7" Type="http://schemas.openxmlformats.org/officeDocument/2006/relationships/image" Target="../media/image27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jpe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46.emf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jpe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7" Type="http://schemas.openxmlformats.org/officeDocument/2006/relationships/image" Target="../media/image53.sv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44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svg"/><Relationship Id="rId3" Type="http://schemas.openxmlformats.org/officeDocument/2006/relationships/image" Target="../media/image57.svg"/><Relationship Id="rId7" Type="http://schemas.openxmlformats.org/officeDocument/2006/relationships/image" Target="../media/image59.svg"/><Relationship Id="rId12" Type="http://schemas.openxmlformats.org/officeDocument/2006/relationships/image" Target="../media/image64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11" Type="http://schemas.openxmlformats.org/officeDocument/2006/relationships/image" Target="../media/image63.svg"/><Relationship Id="rId5" Type="http://schemas.openxmlformats.org/officeDocument/2006/relationships/image" Target="../media/image18.svg"/><Relationship Id="rId10" Type="http://schemas.openxmlformats.org/officeDocument/2006/relationships/image" Target="../media/image62.png"/><Relationship Id="rId4" Type="http://schemas.openxmlformats.org/officeDocument/2006/relationships/image" Target="../media/image17.png"/><Relationship Id="rId9" Type="http://schemas.openxmlformats.org/officeDocument/2006/relationships/image" Target="../media/image61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iff"/><Relationship Id="rId2" Type="http://schemas.openxmlformats.org/officeDocument/2006/relationships/image" Target="../media/image70.tif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iff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347190"/>
            <a:ext cx="6233886" cy="252262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数通专业实习项目——xx公司企业网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660400" y="3974504"/>
            <a:ext cx="6233886" cy="99533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24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打造稳定、高效的企业网络环境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660400" y="5341783"/>
            <a:ext cx="6233882" cy="29360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2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报告人名称</a:t>
            </a:r>
            <a:r>
              <a:rPr lang="zh-CN" altLang="en-US" sz="12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：</a:t>
            </a:r>
            <a:endParaRPr lang="en-US" sz="1100" dirty="0"/>
          </a:p>
        </p:txBody>
      </p:sp>
      <p:sp>
        <p:nvSpPr>
          <p:cNvPr id="5" name="TextBox 5"/>
          <p:cNvSpPr txBox="1"/>
          <p:nvPr/>
        </p:nvSpPr>
        <p:spPr>
          <a:xfrm>
            <a:off x="965200" y="4952443"/>
            <a:ext cx="6350000" cy="242379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>
              <a:defRPr/>
            </a:pPr>
            <a:r>
              <a:rPr lang="zh-CN" altLang="en-US" sz="12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姬梦圆</a:t>
            </a:r>
            <a:endParaRPr lang="en-US" altLang="zh-CN" sz="1200" b="0" i="0" dirty="0">
              <a:ln/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defRPr/>
            </a:pPr>
            <a:r>
              <a:rPr lang="zh-CN" altLang="en-US" sz="12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王天翼</a:t>
            </a:r>
            <a:endParaRPr lang="en-US" altLang="zh-CN" sz="1200" dirty="0">
              <a:ln/>
              <a:solidFill>
                <a:srgbClr val="FFFFFF">
                  <a:alpha val="100000"/>
                </a:srgbClr>
              </a:solidFill>
              <a:latin typeface="微软雅黑"/>
              <a:ea typeface="微软雅黑"/>
            </a:endParaRPr>
          </a:p>
          <a:p>
            <a:pPr>
              <a:defRPr/>
            </a:pPr>
            <a:r>
              <a:rPr lang="zh-CN" altLang="en-US" sz="12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郭源旭</a:t>
            </a:r>
            <a:endParaRPr lang="en-US" altLang="zh-CN" sz="1200" dirty="0">
              <a:ln/>
              <a:solidFill>
                <a:srgbClr val="FFFFFF">
                  <a:alpha val="100000"/>
                </a:srgbClr>
              </a:solidFill>
              <a:latin typeface="微软雅黑"/>
              <a:ea typeface="微软雅黑"/>
            </a:endParaRPr>
          </a:p>
          <a:p>
            <a:pPr>
              <a:defRPr/>
            </a:pPr>
            <a:r>
              <a:rPr lang="zh-CN" altLang="en-US" sz="12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张珂铭</a:t>
            </a:r>
            <a:endParaRPr lang="en-US" altLang="zh-CN" sz="1100" dirty="0">
              <a:ln/>
              <a:solidFill>
                <a:srgbClr val="FFFFFF">
                  <a:alpha val="100000"/>
                </a:srgbClr>
              </a:solidFill>
              <a:latin typeface="微软雅黑"/>
              <a:ea typeface="微软雅黑"/>
            </a:endParaRPr>
          </a:p>
          <a:p>
            <a:pPr>
              <a:defRPr/>
            </a:pPr>
            <a:r>
              <a:rPr lang="zh-CN" altLang="en-US" sz="12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闫泓宇</a:t>
            </a:r>
            <a:endParaRPr lang="en-US" altLang="zh-CN" sz="1200" dirty="0">
              <a:ln/>
              <a:solidFill>
                <a:srgbClr val="FFFFFF">
                  <a:alpha val="100000"/>
                </a:srgbClr>
              </a:solidFill>
              <a:latin typeface="微软雅黑"/>
              <a:ea typeface="微软雅黑"/>
            </a:endParaRPr>
          </a:p>
          <a:p>
            <a:pPr>
              <a:defRPr/>
            </a:pPr>
            <a:r>
              <a:rPr lang="zh-CN" altLang="en-US" sz="120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鹿一凡</a:t>
            </a:r>
            <a:endParaRPr lang="en-US" altLang="zh-CN" sz="1400" dirty="0">
              <a:ln/>
              <a:solidFill>
                <a:srgbClr val="FFFFFF">
                  <a:alpha val="100000"/>
                </a:srgbClr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caed9d6-c0d5-402d-a13c-963d60d56e8c"/>
          <p:cNvGrpSpPr/>
          <p:nvPr/>
        </p:nvGrpSpPr>
        <p:grpSpPr>
          <a:xfrm>
            <a:off x="0" y="1130300"/>
            <a:ext cx="12496800" cy="4305311"/>
            <a:chOff x="467105" y="1130300"/>
            <a:chExt cx="12496800" cy="4305311"/>
          </a:xfrm>
        </p:grpSpPr>
        <p:sp>
          <p:nvSpPr>
            <p:cNvPr id="3" name="AutoShape 3"/>
            <p:cNvSpPr/>
            <p:nvPr/>
          </p:nvSpPr>
          <p:spPr>
            <a:xfrm>
              <a:off x="467105" y="3406786"/>
              <a:ext cx="12192000" cy="1076060"/>
            </a:xfrm>
            <a:prstGeom prst="rect">
              <a:avLst/>
            </a:prstGeom>
            <a:solidFill>
              <a:srgbClr val="2373F3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3944816"/>
              <a:ext cx="10858500" cy="0"/>
            </a:xfrm>
            <a:prstGeom prst="straightConnector1">
              <a:avLst/>
            </a:prstGeom>
            <a:ln w="6350">
              <a:gradFill>
                <a:gsLst>
                  <a:gs pos="0">
                    <a:srgbClr val="2373F3">
                      <a:alpha val="0"/>
                    </a:srgbClr>
                  </a:gs>
                  <a:gs pos="100000">
                    <a:srgbClr val="2373F3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1123216" y="3650127"/>
              <a:ext cx="2108228" cy="1775350"/>
              <a:chOff x="1123216" y="3650127"/>
              <a:chExt cx="2108228" cy="177535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2373F3">
                      <a:alpha val="100000"/>
                      <a:lumMod val="60000"/>
                      <a:lumOff val="40000"/>
                    </a:srgbClr>
                  </a:gs>
                  <a:gs pos="75000">
                    <a:srgbClr val="2373F3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>
                <a:off x="1123216" y="4236631"/>
                <a:ext cx="2108228" cy="1188846"/>
                <a:chOff x="2362968" y="4601292"/>
                <a:chExt cx="2108228" cy="1188846"/>
              </a:xfrm>
            </p:grpSpPr>
            <p:sp>
              <p:nvSpPr>
                <p:cNvPr id="8" name="TextBox 8"/>
                <p:cNvSpPr txBox="1"/>
                <p:nvPr/>
              </p:nvSpPr>
              <p:spPr>
                <a:xfrm>
                  <a:off x="2362968" y="5080714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800" b="1" i="0" strike="noStrike" dirty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项目背景与</a:t>
                  </a:r>
                </a:p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800" b="1" i="0" strike="noStrike" dirty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需求识别</a:t>
                  </a:r>
                </a:p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sz="1100" dirty="0"/>
                </a:p>
              </p:txBody>
            </p:sp>
            <p:sp>
              <p:nvSpPr>
                <p:cNvPr id="9" name="AutoShape 9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2373F3">
                          <a:alpha val="0"/>
                        </a:srgbClr>
                      </a:gs>
                      <a:gs pos="100000">
                        <a:srgbClr val="2373F3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0" name="Group 10"/>
            <p:cNvGrpSpPr/>
            <p:nvPr/>
          </p:nvGrpSpPr>
          <p:grpSpPr>
            <a:xfrm>
              <a:off x="2620875" y="2484744"/>
              <a:ext cx="2108228" cy="1751887"/>
              <a:chOff x="2620875" y="2484744"/>
              <a:chExt cx="2108228" cy="175188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1AAAFF">
                      <a:alpha val="100000"/>
                      <a:lumMod val="60000"/>
                      <a:lumOff val="40000"/>
                    </a:srgbClr>
                  </a:gs>
                  <a:gs pos="75000">
                    <a:srgbClr val="1AAA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2620875" y="2484744"/>
                <a:ext cx="2108228" cy="1162508"/>
                <a:chOff x="2193404" y="5359493"/>
                <a:chExt cx="2108228" cy="1162508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2193404" y="5359493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800" b="1" i="0" strike="noStrike" dirty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项目目标、范围</a:t>
                  </a:r>
                </a:p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800" b="1" i="0" strike="noStrike" dirty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与交付管理</a:t>
                  </a:r>
                </a:p>
              </p:txBody>
            </p:sp>
            <p:sp>
              <p:nvSpPr>
                <p:cNvPr id="14" name="AutoShape 14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2373F3">
                          <a:alpha val="0"/>
                        </a:srgbClr>
                      </a:gs>
                      <a:gs pos="100000">
                        <a:srgbClr val="2373F3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5" name="AutoShape 15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987772" y="3650127"/>
              <a:ext cx="2108228" cy="1785484"/>
              <a:chOff x="3987772" y="3650127"/>
              <a:chExt cx="2108228" cy="178548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2373F3">
                      <a:alpha val="100000"/>
                      <a:lumMod val="60000"/>
                      <a:lumOff val="40000"/>
                    </a:srgbClr>
                  </a:gs>
                  <a:gs pos="75000">
                    <a:srgbClr val="2373F3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3987772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项目实施方案</a:t>
                  </a:r>
                  <a:endParaRPr lang="en-US" sz="1100"/>
                </a:p>
              </p:txBody>
            </p:sp>
            <p:sp>
              <p:nvSpPr>
                <p:cNvPr id="20" name="AutoShape 2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2373F3">
                          <a:alpha val="0"/>
                        </a:srgbClr>
                      </a:gs>
                      <a:gs pos="100000">
                        <a:srgbClr val="2373F3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5680987" y="2441361"/>
              <a:ext cx="2108228" cy="1795270"/>
              <a:chOff x="5680987" y="2441361"/>
              <a:chExt cx="2108228" cy="17952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1AAAFF">
                      <a:alpha val="100000"/>
                      <a:lumMod val="60000"/>
                      <a:lumOff val="40000"/>
                    </a:srgbClr>
                  </a:gs>
                  <a:gs pos="75000">
                    <a:srgbClr val="1AAA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5680987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 dirty="0" err="1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工程实施规范</a:t>
                  </a:r>
                  <a:endParaRPr lang="en-US" sz="1100" dirty="0"/>
                </a:p>
              </p:txBody>
            </p:sp>
            <p:sp>
              <p:nvSpPr>
                <p:cNvPr id="25" name="AutoShape 25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2373F3">
                          <a:alpha val="0"/>
                        </a:srgbClr>
                      </a:gs>
                      <a:gs pos="100000">
                        <a:srgbClr val="2373F3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6" name="Group 26"/>
            <p:cNvGrpSpPr/>
            <p:nvPr/>
          </p:nvGrpSpPr>
          <p:grpSpPr>
            <a:xfrm>
              <a:off x="8118531" y="2920824"/>
              <a:ext cx="3345673" cy="1703708"/>
              <a:chOff x="8118531" y="2920824"/>
              <a:chExt cx="3345673" cy="1703708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2373F3">
                      <a:alpha val="100000"/>
                      <a:lumMod val="60000"/>
                      <a:lumOff val="40000"/>
                    </a:srgbClr>
                  </a:gs>
                  <a:gs pos="75000">
                    <a:srgbClr val="2373F3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8411783" y="2920824"/>
                <a:ext cx="3052421" cy="1703708"/>
                <a:chOff x="2954266" y="3285485"/>
                <a:chExt cx="3052421" cy="1703708"/>
              </a:xfrm>
            </p:grpSpPr>
            <p:sp>
              <p:nvSpPr>
                <p:cNvPr id="29" name="TextBox 29"/>
                <p:cNvSpPr txBox="1"/>
                <p:nvPr/>
              </p:nvSpPr>
              <p:spPr>
                <a:xfrm>
                  <a:off x="3898459" y="3285485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 dirty="0" err="1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故障处理案例</a:t>
                  </a:r>
                  <a:endParaRPr lang="en-US" sz="1100" dirty="0"/>
                </a:p>
              </p:txBody>
            </p:sp>
            <p:sp>
              <p:nvSpPr>
                <p:cNvPr id="30" name="AutoShape 30"/>
                <p:cNvSpPr/>
                <p:nvPr/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2373F3">
                          <a:alpha val="0"/>
                        </a:srgbClr>
                      </a:gs>
                      <a:gs pos="100000">
                        <a:srgbClr val="2373F3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31" name="Group 31"/>
            <p:cNvGrpSpPr/>
            <p:nvPr/>
          </p:nvGrpSpPr>
          <p:grpSpPr>
            <a:xfrm>
              <a:off x="9795213" y="3259351"/>
              <a:ext cx="3168692" cy="1814785"/>
              <a:chOff x="9795213" y="3259351"/>
              <a:chExt cx="3168692" cy="1814785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979521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1AAAFF">
                      <a:alpha val="100000"/>
                      <a:lumMod val="60000"/>
                      <a:lumOff val="40000"/>
                    </a:srgbClr>
                  </a:gs>
                  <a:gs pos="75000">
                    <a:srgbClr val="1AAAFF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06</a:t>
                </a:r>
                <a:endParaRPr lang="en-US" sz="1100"/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10088465" y="3259351"/>
                <a:ext cx="2875440" cy="1814785"/>
                <a:chOff x="2954266" y="6134100"/>
                <a:chExt cx="2875440" cy="1814785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3721478" y="7239461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 dirty="0" err="1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项目质量检查</a:t>
                  </a:r>
                  <a:endParaRPr lang="en-US" sz="1100" dirty="0"/>
                </a:p>
              </p:txBody>
            </p:sp>
            <p:sp>
              <p:nvSpPr>
                <p:cNvPr id="35" name="AutoShape 35"/>
                <p:cNvSpPr/>
                <p:nvPr/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2373F3">
                          <a:alpha val="0"/>
                        </a:srgbClr>
                      </a:gs>
                      <a:gs pos="100000">
                        <a:srgbClr val="2373F3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6" name="TextBox 36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lang="en-US" sz="11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FB70C35-5726-E6EE-350C-E70377C58182}"/>
              </a:ext>
            </a:extLst>
          </p:cNvPr>
          <p:cNvSpPr txBox="1"/>
          <p:nvPr/>
        </p:nvSpPr>
        <p:spPr>
          <a:xfrm>
            <a:off x="7608656" y="4711567"/>
            <a:ext cx="1734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spcBef>
                <a:spcPts val="0"/>
              </a:spcBef>
              <a:spcAft>
                <a:spcPts val="0"/>
              </a:spcAft>
            </a:pPr>
            <a:r>
              <a:rPr lang="zh-CN" altLang="zh-CN" sz="1800" b="1" kern="120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具体项目实施</a:t>
            </a:r>
            <a:endParaRPr lang="zh-CN" altLang="zh-CN" dirty="0">
              <a:effectLst/>
            </a:endParaRPr>
          </a:p>
        </p:txBody>
      </p:sp>
      <p:sp>
        <p:nvSpPr>
          <p:cNvPr id="39" name="TextBox 27">
            <a:extLst>
              <a:ext uri="{FF2B5EF4-FFF2-40B4-BE49-F238E27FC236}">
                <a16:creationId xmlns:a16="http://schemas.microsoft.com/office/drawing/2014/main" id="{47CA9874-348C-E977-CF5B-396CEE432D43}"/>
              </a:ext>
            </a:extLst>
          </p:cNvPr>
          <p:cNvSpPr txBox="1"/>
          <p:nvPr/>
        </p:nvSpPr>
        <p:spPr>
          <a:xfrm>
            <a:off x="10820400" y="3643364"/>
            <a:ext cx="586504" cy="586504"/>
          </a:xfrm>
          <a:prstGeom prst="ellipse">
            <a:avLst/>
          </a:prstGeom>
          <a:gradFill>
            <a:gsLst>
              <a:gs pos="0">
                <a:srgbClr val="2373F3">
                  <a:alpha val="100000"/>
                  <a:lumMod val="60000"/>
                  <a:lumOff val="40000"/>
                </a:srgbClr>
              </a:gs>
              <a:gs pos="75000">
                <a:srgbClr val="2373F3">
                  <a:alpha val="100000"/>
                </a:srgbClr>
              </a:gs>
            </a:gsLst>
            <a:lin ang="2700000"/>
          </a:gradFill>
          <a:ln w="12700">
            <a:solidFill>
              <a:srgbClr val="000000">
                <a:alpha val="100000"/>
              </a:srgbClr>
            </a:solidFill>
            <a:prstDash val="solid"/>
            <a:headEnd type="none"/>
            <a:tailEnd type="none"/>
          </a:ln>
        </p:spPr>
        <p:txBody>
          <a:bodyPr vert="horz" wrap="none" lIns="91440" tIns="45720" rIns="91440" bIns="45720" rtlCol="0" anchor="ctr" anchorCtr="0"/>
          <a:lstStyle/>
          <a:p>
            <a:pPr algn="ctr">
              <a:defRPr/>
            </a:pPr>
            <a:r>
              <a:rPr lang="en-US" sz="1800" b="1" i="0" dirty="0">
                <a:ln/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07</a:t>
            </a:r>
            <a:endParaRPr lang="en-US" sz="1100" dirty="0"/>
          </a:p>
        </p:txBody>
      </p:sp>
      <p:sp>
        <p:nvSpPr>
          <p:cNvPr id="40" name="AutoShape 30">
            <a:extLst>
              <a:ext uri="{FF2B5EF4-FFF2-40B4-BE49-F238E27FC236}">
                <a16:creationId xmlns:a16="http://schemas.microsoft.com/office/drawing/2014/main" id="{F44BCE27-F045-CB84-EC77-B0977F0439DE}"/>
              </a:ext>
            </a:extLst>
          </p:cNvPr>
          <p:cNvSpPr/>
          <p:nvPr/>
        </p:nvSpPr>
        <p:spPr>
          <a:xfrm>
            <a:off x="11133854" y="4260299"/>
            <a:ext cx="0" cy="387901"/>
          </a:xfrm>
          <a:prstGeom prst="line">
            <a:avLst/>
          </a:prstGeom>
          <a:ln w="6350">
            <a:gradFill>
              <a:gsLst>
                <a:gs pos="0">
                  <a:srgbClr val="2373F3">
                    <a:alpha val="0"/>
                  </a:srgbClr>
                </a:gs>
                <a:gs pos="100000">
                  <a:srgbClr val="2373F3">
                    <a:alpha val="100000"/>
                  </a:srgbClr>
                </a:gs>
              </a:gsLst>
              <a:lin ang="0"/>
            </a:gra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987552"/>
            <a:ext cx="6309360" cy="45720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457200" indent="-457200" algn="l">
              <a:lnSpc>
                <a:spcPct val="95000"/>
              </a:lnSpc>
              <a:buFont typeface="Wingdings" panose="05000000000000000000" charset="0"/>
              <a:buChar char="Ø"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XX公司企业网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</a:t>
            </a:r>
          </a:p>
        </p:txBody>
      </p:sp>
      <p:sp>
        <p:nvSpPr>
          <p:cNvPr id="4" name="Text 1"/>
          <p:cNvSpPr/>
          <p:nvPr/>
        </p:nvSpPr>
        <p:spPr>
          <a:xfrm>
            <a:off x="685800" y="1622425"/>
            <a:ext cx="3688715" cy="46545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32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项目经理汇报部分</a:t>
            </a:r>
            <a:endParaRPr lang="en-US" sz="2800" dirty="0"/>
          </a:p>
          <a:p>
            <a:pPr marL="0" indent="0" algn="l">
              <a:lnSpc>
                <a:spcPct val="95000"/>
              </a:lnSpc>
              <a:buNone/>
            </a:pP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4690" y="2434463"/>
            <a:ext cx="6217920" cy="29260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项目背景与需求识别</a:t>
            </a:r>
            <a:r>
              <a:rPr lang="zh-CN" altLang="en-US" sz="20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、</a:t>
            </a:r>
            <a:r>
              <a:rPr lang="en-US" sz="20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项目目标、范围与交付管理</a:t>
            </a:r>
          </a:p>
        </p:txBody>
      </p:sp>
      <p:sp>
        <p:nvSpPr>
          <p:cNvPr id="7" name="Shape 3"/>
          <p:cNvSpPr/>
          <p:nvPr>
            <p:custDataLst>
              <p:tags r:id="rId1"/>
            </p:custDataLst>
          </p:nvPr>
        </p:nvSpPr>
        <p:spPr>
          <a:xfrm>
            <a:off x="1029970" y="4361815"/>
            <a:ext cx="3063240" cy="1188720"/>
          </a:xfrm>
          <a:prstGeom prst="roundRect">
            <a:avLst>
              <a:gd name="adj" fmla="val 9231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32D7FF">
                <a:alpha val="80000"/>
              </a:srgbClr>
            </a:solidFill>
            <a:prstDash val="solid"/>
          </a:ln>
        </p:spPr>
      </p:sp>
      <p:grpSp>
        <p:nvGrpSpPr>
          <p:cNvPr id="55" name="组合 54"/>
          <p:cNvGrpSpPr/>
          <p:nvPr/>
        </p:nvGrpSpPr>
        <p:grpSpPr>
          <a:xfrm>
            <a:off x="1191895" y="4429125"/>
            <a:ext cx="386080" cy="383540"/>
            <a:chOff x="1349" y="6927"/>
            <a:chExt cx="608" cy="604"/>
          </a:xfrm>
        </p:grpSpPr>
        <p:sp>
          <p:nvSpPr>
            <p:cNvPr id="8" name="Shape 4"/>
            <p:cNvSpPr/>
            <p:nvPr>
              <p:custDataLst>
                <p:tags r:id="rId15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rgbClr val="32D7FF"/>
            </a:solidFill>
            <a:ln w="12700">
              <a:solidFill>
                <a:srgbClr val="32D7FF"/>
              </a:solidFill>
              <a:prstDash val="solid"/>
            </a:ln>
          </p:spPr>
        </p:sp>
        <p:sp>
          <p:nvSpPr>
            <p:cNvPr id="9" name="Text 5"/>
            <p:cNvSpPr/>
            <p:nvPr>
              <p:custDataLst>
                <p:tags r:id="rId16"/>
              </p:custDataLst>
            </p:nvPr>
          </p:nvSpPr>
          <p:spPr>
            <a:xfrm>
              <a:off x="1353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</a:p>
          </p:txBody>
        </p:sp>
      </p:grpSp>
      <p:sp>
        <p:nvSpPr>
          <p:cNvPr id="10" name="Text 6"/>
          <p:cNvSpPr/>
          <p:nvPr>
            <p:custDataLst>
              <p:tags r:id="rId2"/>
            </p:custDataLst>
          </p:nvPr>
        </p:nvSpPr>
        <p:spPr>
          <a:xfrm>
            <a:off x="1651762" y="4508119"/>
            <a:ext cx="2313432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汇报定位</a:t>
            </a:r>
            <a:endParaRPr lang="en-US" sz="1450" dirty="0"/>
          </a:p>
        </p:txBody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1194562" y="4910709"/>
            <a:ext cx="2734056" cy="53035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从项目经理视角，说明项目为何启动、客户需求如何转化为技术目标，以及如何组织交付、验收与质量控制。</a:t>
            </a:r>
          </a:p>
        </p:txBody>
      </p:sp>
      <p:sp>
        <p:nvSpPr>
          <p:cNvPr id="12" name="Shape 8"/>
          <p:cNvSpPr/>
          <p:nvPr>
            <p:custDataLst>
              <p:tags r:id="rId4"/>
            </p:custDataLst>
          </p:nvPr>
        </p:nvSpPr>
        <p:spPr>
          <a:xfrm>
            <a:off x="4321810" y="4361815"/>
            <a:ext cx="3063240" cy="1188720"/>
          </a:xfrm>
          <a:prstGeom prst="roundRect">
            <a:avLst>
              <a:gd name="adj" fmla="val 9231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4CE6A5">
                <a:alpha val="80000"/>
              </a:srgbClr>
            </a:solidFill>
            <a:prstDash val="solid"/>
          </a:ln>
        </p:spPr>
      </p:sp>
      <p:sp>
        <p:nvSpPr>
          <p:cNvPr id="15" name="Text 11"/>
          <p:cNvSpPr/>
          <p:nvPr>
            <p:custDataLst>
              <p:tags r:id="rId5"/>
            </p:custDataLst>
          </p:nvPr>
        </p:nvSpPr>
        <p:spPr>
          <a:xfrm>
            <a:off x="4943602" y="4508119"/>
            <a:ext cx="2313432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项目关键词</a:t>
            </a:r>
            <a:endParaRPr lang="en-US" sz="1450" dirty="0"/>
          </a:p>
        </p:txBody>
      </p:sp>
      <p:sp>
        <p:nvSpPr>
          <p:cNvPr id="16" name="Text 12"/>
          <p:cNvSpPr/>
          <p:nvPr>
            <p:custDataLst>
              <p:tags r:id="rId6"/>
            </p:custDataLst>
          </p:nvPr>
        </p:nvSpPr>
        <p:spPr>
          <a:xfrm>
            <a:off x="4486402" y="4873879"/>
            <a:ext cx="2734056" cy="53035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双站点企业网｜部门隔离｜OSPF 动态路由｜主备链路｜文档验收</a:t>
            </a:r>
          </a:p>
        </p:txBody>
      </p:sp>
      <p:sp>
        <p:nvSpPr>
          <p:cNvPr id="17" name="Shape 13"/>
          <p:cNvSpPr/>
          <p:nvPr>
            <p:custDataLst>
              <p:tags r:id="rId7"/>
            </p:custDataLst>
          </p:nvPr>
        </p:nvSpPr>
        <p:spPr>
          <a:xfrm>
            <a:off x="7613650" y="4361815"/>
            <a:ext cx="3063240" cy="1188720"/>
          </a:xfrm>
          <a:prstGeom prst="roundRect">
            <a:avLst>
              <a:gd name="adj" fmla="val 9231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FFBA62">
                <a:alpha val="80000"/>
              </a:srgbClr>
            </a:solidFill>
            <a:prstDash val="solid"/>
          </a:ln>
        </p:spPr>
      </p:sp>
      <p:sp>
        <p:nvSpPr>
          <p:cNvPr id="20" name="Text 16"/>
          <p:cNvSpPr/>
          <p:nvPr>
            <p:custDataLst>
              <p:tags r:id="rId8"/>
            </p:custDataLst>
          </p:nvPr>
        </p:nvSpPr>
        <p:spPr>
          <a:xfrm>
            <a:off x="8235442" y="4508119"/>
            <a:ext cx="2313432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演示范围</a:t>
            </a:r>
            <a:endParaRPr lang="en-US" sz="1450" dirty="0"/>
          </a:p>
        </p:txBody>
      </p:sp>
      <p:sp>
        <p:nvSpPr>
          <p:cNvPr id="21" name="Text 17"/>
          <p:cNvSpPr/>
          <p:nvPr>
            <p:custDataLst>
              <p:tags r:id="rId9"/>
            </p:custDataLst>
          </p:nvPr>
        </p:nvSpPr>
        <p:spPr>
          <a:xfrm>
            <a:off x="7778242" y="4873879"/>
            <a:ext cx="2734056" cy="53035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200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本部分衔接后续“实施方案、工程规范、故障处理、质量检查”。</a:t>
            </a:r>
          </a:p>
        </p:txBody>
      </p:sp>
      <p:sp>
        <p:nvSpPr>
          <p:cNvPr id="22" name="Text 18"/>
          <p:cNvSpPr/>
          <p:nvPr/>
        </p:nvSpPr>
        <p:spPr>
          <a:xfrm>
            <a:off x="8402955" y="5923915"/>
            <a:ext cx="3131185" cy="54356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汇报人</a:t>
            </a:r>
            <a:r>
              <a:rPr 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r>
              <a:rPr lang="zh-CN" alt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姬梦圆</a:t>
            </a:r>
            <a:r>
              <a:rPr 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2026.05.17</a:t>
            </a:r>
          </a:p>
        </p:txBody>
      </p:sp>
      <p:pic>
        <p:nvPicPr>
          <p:cNvPr id="54" name="图片 53" descr="sarah-sheedy-wG26ifbU1ME-unsplash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0" cstate="screen"/>
          <a:srcRect l="-12" t="5762" r="-12" b="5762"/>
          <a:stretch>
            <a:fillRect/>
          </a:stretch>
        </p:blipFill>
        <p:spPr>
          <a:xfrm>
            <a:off x="6394450" y="744855"/>
            <a:ext cx="5548630" cy="32721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533" h="5032">
                <a:moveTo>
                  <a:pt x="387" y="0"/>
                </a:moveTo>
                <a:lnTo>
                  <a:pt x="8146" y="0"/>
                </a:lnTo>
                <a:cubicBezTo>
                  <a:pt x="8360" y="0"/>
                  <a:pt x="8533" y="173"/>
                  <a:pt x="8533" y="387"/>
                </a:cubicBezTo>
                <a:lnTo>
                  <a:pt x="8533" y="4645"/>
                </a:lnTo>
                <a:cubicBezTo>
                  <a:pt x="8533" y="4859"/>
                  <a:pt x="8360" y="5032"/>
                  <a:pt x="8146" y="5032"/>
                </a:cubicBezTo>
                <a:lnTo>
                  <a:pt x="387" y="5032"/>
                </a:lnTo>
                <a:cubicBezTo>
                  <a:pt x="173" y="5032"/>
                  <a:pt x="0" y="4859"/>
                  <a:pt x="0" y="4645"/>
                </a:cubicBezTo>
                <a:lnTo>
                  <a:pt x="0" y="387"/>
                </a:lnTo>
                <a:cubicBezTo>
                  <a:pt x="0" y="173"/>
                  <a:pt x="173" y="0"/>
                  <a:pt x="387" y="0"/>
                </a:cubicBezTo>
                <a:close/>
              </a:path>
            </a:pathLst>
          </a:custGeom>
          <a:ln w="60325">
            <a:gradFill>
              <a:gsLst>
                <a:gs pos="0">
                  <a:schemeClr val="accent1">
                    <a:alpha val="34000"/>
                  </a:schemeClr>
                </a:gs>
                <a:gs pos="100000">
                  <a:schemeClr val="accent1">
                    <a:alpha val="80000"/>
                  </a:schemeClr>
                </a:gs>
              </a:gsLst>
              <a:lin ang="5400000" scaled="1"/>
            </a:gradFill>
          </a:ln>
          <a:effectLst>
            <a:reflection blurRad="6350" stA="25000" endA="300" endPos="32000" dist="12700" dir="5400000" sy="-100000" algn="bl" rotWithShape="0"/>
          </a:effectLst>
          <a:scene3d>
            <a:camera prst="perspectiveLeft"/>
            <a:lightRig rig="threePt" dir="t"/>
          </a:scene3d>
        </p:spPr>
      </p:pic>
      <p:grpSp>
        <p:nvGrpSpPr>
          <p:cNvPr id="56" name="组合 55"/>
          <p:cNvGrpSpPr/>
          <p:nvPr/>
        </p:nvGrpSpPr>
        <p:grpSpPr>
          <a:xfrm>
            <a:off x="4464050" y="4425950"/>
            <a:ext cx="386080" cy="383540"/>
            <a:chOff x="1349" y="6927"/>
            <a:chExt cx="608" cy="604"/>
          </a:xfrm>
        </p:grpSpPr>
        <p:sp>
          <p:nvSpPr>
            <p:cNvPr id="57" name="Shape 4"/>
            <p:cNvSpPr/>
            <p:nvPr>
              <p:custDataLst>
                <p:tags r:id="rId13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rgbClr val="4CE6A5"/>
            </a:solidFill>
            <a:ln w="12700">
              <a:solidFill>
                <a:srgbClr val="32D7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5"/>
            <p:cNvSpPr/>
            <p:nvPr>
              <p:custDataLst>
                <p:tags r:id="rId14"/>
              </p:custDataLst>
            </p:nvPr>
          </p:nvSpPr>
          <p:spPr>
            <a:xfrm>
              <a:off x="1353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7733665" y="4418330"/>
            <a:ext cx="389255" cy="384175"/>
            <a:chOff x="1341" y="6927"/>
            <a:chExt cx="613" cy="605"/>
          </a:xfrm>
        </p:grpSpPr>
        <p:sp>
          <p:nvSpPr>
            <p:cNvPr id="60" name="Shape 4"/>
            <p:cNvSpPr/>
            <p:nvPr>
              <p:custDataLst>
                <p:tags r:id="rId11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rgbClr val="FEBF6E"/>
            </a:solidFill>
            <a:ln w="12700">
              <a:solidFill>
                <a:srgbClr val="FEC07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5"/>
            <p:cNvSpPr/>
            <p:nvPr>
              <p:custDataLst>
                <p:tags r:id="rId12"/>
              </p:custDataLst>
            </p:nvPr>
          </p:nvSpPr>
          <p:spPr>
            <a:xfrm>
              <a:off x="1341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04" y="439068"/>
            <a:ext cx="9600700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 panose="020B0503020204020204" pitchFamily="34" charset="-122"/>
              </a:rPr>
              <a:t>介绍目录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2920" y="696595"/>
            <a:ext cx="7875905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>
              <a:buClrTx/>
              <a:buSzTx/>
              <a:buFontTx/>
            </a:pPr>
            <a:r>
              <a:rPr lang="en-US" sz="1800" b="1">
                <a:solidFill>
                  <a:srgbClr val="FFFFFF"/>
                </a:solidFill>
                <a:latin typeface="微软雅黑" panose="020B0503020204020204" pitchFamily="34" charset="-122"/>
              </a:rPr>
              <a:t>——</a:t>
            </a:r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</a:rPr>
              <a:t>界定需求，定义范围</a:t>
            </a:r>
            <a:r>
              <a:rPr lang="zh-CN" sz="1800" b="1">
                <a:solidFill>
                  <a:srgbClr val="FFFFFF"/>
                </a:solidFill>
                <a:latin typeface="微软雅黑" panose="020B0503020204020204" pitchFamily="34" charset="-122"/>
              </a:rPr>
              <a:t>，</a:t>
            </a:r>
            <a:r>
              <a:rPr sz="1800" b="1">
                <a:solidFill>
                  <a:srgbClr val="FFFFFF"/>
                </a:solidFill>
                <a:latin typeface="微软雅黑" panose="020B0503020204020204" pitchFamily="34" charset="-122"/>
              </a:rPr>
              <a:t>定义进度，定义风险与验收标准</a:t>
            </a:r>
          </a:p>
        </p:txBody>
      </p:sp>
      <p:cxnSp>
        <p:nvCxnSpPr>
          <p:cNvPr id="4" name="Connector 3"/>
          <p:cNvCxnSpPr>
            <a:cxnSpLocks/>
            <a:stCxn id="5" idx="2"/>
            <a:endCxn id="32" idx="6"/>
          </p:cNvCxnSpPr>
          <p:nvPr/>
        </p:nvCxnSpPr>
        <p:spPr>
          <a:xfrm>
            <a:off x="411459" y="3689723"/>
            <a:ext cx="11018542" cy="3063"/>
          </a:xfrm>
          <a:prstGeom prst="line">
            <a:avLst/>
          </a:prstGeom>
          <a:ln w="25400">
            <a:solidFill>
              <a:srgbClr val="277E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411459" y="3420109"/>
            <a:ext cx="579094" cy="539228"/>
          </a:xfrm>
          <a:prstGeom prst="ellipse">
            <a:avLst/>
          </a:prstGeom>
          <a:solidFill>
            <a:srgbClr val="2BCF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177" y="3510749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4308972"/>
            <a:ext cx="1323643" cy="500711"/>
          </a:xfrm>
          <a:prstGeom prst="roundRect">
            <a:avLst/>
          </a:prstGeom>
          <a:solidFill>
            <a:srgbClr val="1E55D2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49" y="4346963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微软雅黑" panose="020B0503020204020204" pitchFamily="34" charset="-122"/>
              </a:rPr>
              <a:t>项目背景与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1050" b="1" dirty="0" err="1">
                <a:solidFill>
                  <a:srgbClr val="FFFFFF"/>
                </a:solidFill>
                <a:latin typeface="微软雅黑" panose="020B0503020204020204" pitchFamily="34" charset="-122"/>
              </a:rPr>
              <a:t>需求识别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2240164" y="3420109"/>
            <a:ext cx="579094" cy="539228"/>
          </a:xfrm>
          <a:prstGeom prst="ellipse">
            <a:avLst/>
          </a:prstGeom>
          <a:solidFill>
            <a:srgbClr val="2BCF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5882" y="3510749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705" y="4308972"/>
            <a:ext cx="1323643" cy="500711"/>
          </a:xfrm>
          <a:prstGeom prst="roundRect">
            <a:avLst/>
          </a:prstGeom>
          <a:solidFill>
            <a:srgbClr val="1E55D2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01854" y="4346963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50" b="1" dirty="0" err="1">
                <a:solidFill>
                  <a:srgbClr val="FFFFFF"/>
                </a:solidFill>
                <a:latin typeface="微软雅黑" panose="020B0503020204020204" pitchFamily="34" charset="-122"/>
              </a:rPr>
              <a:t>项目目标、范围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1050" b="1" dirty="0" err="1">
                <a:solidFill>
                  <a:srgbClr val="FFFFFF"/>
                </a:solidFill>
                <a:latin typeface="微软雅黑" panose="020B0503020204020204" pitchFamily="34" charset="-122"/>
              </a:rPr>
              <a:t>与交付管理</a:t>
            </a:r>
            <a:endParaRPr sz="105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4068869" y="3420109"/>
            <a:ext cx="579094" cy="5392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14586" y="3510749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409" y="4308972"/>
            <a:ext cx="1323643" cy="500711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30558" y="4346963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50" b="1">
                <a:solidFill>
                  <a:srgbClr val="E1EBFF"/>
                </a:solidFill>
                <a:latin typeface="微软雅黑" panose="020B0503020204020204" pitchFamily="34" charset="-122"/>
              </a:rPr>
              <a:t>项目实施</a:t>
            </a:r>
          </a:p>
          <a:p>
            <a:pPr algn="ctr"/>
            <a:r>
              <a:rPr sz="1050" b="1">
                <a:solidFill>
                  <a:srgbClr val="E1EBFF"/>
                </a:solidFill>
                <a:latin typeface="微软雅黑" panose="020B0503020204020204" pitchFamily="34" charset="-122"/>
              </a:rPr>
              <a:t>方案</a:t>
            </a:r>
          </a:p>
        </p:txBody>
      </p:sp>
      <p:sp>
        <p:nvSpPr>
          <p:cNvPr id="17" name="Oval 16"/>
          <p:cNvSpPr/>
          <p:nvPr/>
        </p:nvSpPr>
        <p:spPr>
          <a:xfrm>
            <a:off x="5897574" y="3420109"/>
            <a:ext cx="579094" cy="5392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291" y="3510749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114" y="4308972"/>
            <a:ext cx="1323643" cy="500711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59263" y="4346963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50" b="1" dirty="0" err="1">
                <a:solidFill>
                  <a:srgbClr val="E1EBFF"/>
                </a:solidFill>
                <a:latin typeface="微软雅黑" panose="020B0503020204020204" pitchFamily="34" charset="-122"/>
              </a:rPr>
              <a:t>工程实施</a:t>
            </a:r>
            <a:endParaRPr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1050" b="1" dirty="0" err="1">
                <a:solidFill>
                  <a:srgbClr val="E1EBFF"/>
                </a:solidFill>
                <a:latin typeface="微软雅黑" panose="020B0503020204020204" pitchFamily="34" charset="-122"/>
              </a:rPr>
              <a:t>规范</a:t>
            </a:r>
            <a:endParaRPr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726278" y="3420109"/>
            <a:ext cx="579094" cy="5392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1995" y="3510749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05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9652" y="4308972"/>
            <a:ext cx="1323643" cy="500711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12706" y="4346963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50" b="1" dirty="0" err="1">
                <a:solidFill>
                  <a:srgbClr val="E1EBFF"/>
                </a:solidFill>
                <a:latin typeface="微软雅黑" panose="020B0503020204020204" pitchFamily="34" charset="-122"/>
              </a:rPr>
              <a:t>故障处理</a:t>
            </a:r>
            <a:endParaRPr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1050" b="1" dirty="0" err="1">
                <a:solidFill>
                  <a:srgbClr val="E1EBFF"/>
                </a:solidFill>
                <a:latin typeface="微软雅黑" panose="020B0503020204020204" pitchFamily="34" charset="-122"/>
              </a:rPr>
              <a:t>案例</a:t>
            </a:r>
            <a:endParaRPr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372600" y="3420109"/>
            <a:ext cx="579094" cy="5392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09634" y="3510749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06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525773" y="4308972"/>
            <a:ext cx="1323643" cy="500711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19722" y="4346963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50" b="1" dirty="0" err="1">
                <a:solidFill>
                  <a:srgbClr val="E1EBFF"/>
                </a:solidFill>
                <a:latin typeface="微软雅黑" panose="020B0503020204020204" pitchFamily="34" charset="-122"/>
              </a:rPr>
              <a:t>项目质量检查</a:t>
            </a:r>
            <a:endParaRPr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  <a:p>
            <a:pPr algn="ctr"/>
            <a:r>
              <a:rPr sz="1050" b="1" dirty="0" err="1">
                <a:solidFill>
                  <a:srgbClr val="E1EBFF"/>
                </a:solidFill>
                <a:latin typeface="微软雅黑" panose="020B0503020204020204" pitchFamily="34" charset="-122"/>
              </a:rPr>
              <a:t>与验收</a:t>
            </a:r>
            <a:endParaRPr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69575" y="1684130"/>
            <a:ext cx="10469335" cy="96007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43880" y="1970626"/>
            <a:ext cx="9875006" cy="58928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本次重点展开 01—02：项目经理负责把客户需求转化为可执行计划，并把项目交付标准前置定义清楚。</a:t>
            </a:r>
          </a:p>
        </p:txBody>
      </p:sp>
      <p:sp>
        <p:nvSpPr>
          <p:cNvPr id="32" name="Oval 24">
            <a:extLst>
              <a:ext uri="{FF2B5EF4-FFF2-40B4-BE49-F238E27FC236}">
                <a16:creationId xmlns:a16="http://schemas.microsoft.com/office/drawing/2014/main" id="{8CBB098B-23E3-603C-2328-212B28893E62}"/>
              </a:ext>
            </a:extLst>
          </p:cNvPr>
          <p:cNvSpPr/>
          <p:nvPr/>
        </p:nvSpPr>
        <p:spPr>
          <a:xfrm>
            <a:off x="10850907" y="3423172"/>
            <a:ext cx="579094" cy="539228"/>
          </a:xfrm>
          <a:prstGeom prst="ellipse">
            <a:avLst/>
          </a:prstGeom>
          <a:solidFill>
            <a:srgbClr val="277EFF"/>
          </a:solidFill>
          <a:ln w="12700">
            <a:solidFill>
              <a:srgbClr val="051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25">
            <a:extLst>
              <a:ext uri="{FF2B5EF4-FFF2-40B4-BE49-F238E27FC236}">
                <a16:creationId xmlns:a16="http://schemas.microsoft.com/office/drawing/2014/main" id="{8B9AFEA4-747B-4D07-E061-446D8AEBAEA7}"/>
              </a:ext>
            </a:extLst>
          </p:cNvPr>
          <p:cNvSpPr txBox="1"/>
          <p:nvPr/>
        </p:nvSpPr>
        <p:spPr>
          <a:xfrm>
            <a:off x="10911896" y="3526432"/>
            <a:ext cx="496366" cy="283152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0</a:t>
            </a: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</a:rPr>
              <a:t>7</a:t>
            </a:r>
            <a:endParaRPr sz="1600" b="1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4" name="Rounded Rectangle 26">
            <a:extLst>
              <a:ext uri="{FF2B5EF4-FFF2-40B4-BE49-F238E27FC236}">
                <a16:creationId xmlns:a16="http://schemas.microsoft.com/office/drawing/2014/main" id="{1FF4CD25-901C-D844-B517-F6D279CCEE5F}"/>
              </a:ext>
            </a:extLst>
          </p:cNvPr>
          <p:cNvSpPr/>
          <p:nvPr/>
        </p:nvSpPr>
        <p:spPr>
          <a:xfrm>
            <a:off x="7354003" y="4315193"/>
            <a:ext cx="1323643" cy="500711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C67418DE-D83C-3CA5-90A6-A5A6844537E7}"/>
              </a:ext>
            </a:extLst>
          </p:cNvPr>
          <p:cNvSpPr txBox="1"/>
          <p:nvPr/>
        </p:nvSpPr>
        <p:spPr>
          <a:xfrm>
            <a:off x="7420185" y="4343400"/>
            <a:ext cx="1191278" cy="360097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lang="zh-CN" altLang="en-US" sz="1050" b="1" dirty="0">
                <a:solidFill>
                  <a:srgbClr val="E1EBFF"/>
                </a:solidFill>
                <a:latin typeface="微软雅黑" panose="020B0503020204020204" pitchFamily="34" charset="-122"/>
              </a:rPr>
              <a:t>具体项目实施</a:t>
            </a:r>
          </a:p>
          <a:p>
            <a:pPr algn="ctr"/>
            <a:endParaRPr lang="zh-CN" altLang="en-US" sz="1050" b="1" dirty="0">
              <a:solidFill>
                <a:srgbClr val="E1EB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00" y="1325990"/>
            <a:ext cx="1097223" cy="68135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4200" b="1">
                <a:solidFill>
                  <a:srgbClr val="2BCFFF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421" y="1389994"/>
            <a:ext cx="6857643" cy="55816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pitchFamily="34" charset="-122"/>
              </a:rPr>
              <a:t>项目背景与需求识别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853" y="2139763"/>
            <a:ext cx="8046301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从“企业业务扩张”出发，识别网络建设目标、客户痛点与关键需求。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140" y="2880389"/>
            <a:ext cx="1142940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47571" y="2904770"/>
            <a:ext cx="1088079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业务扩张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386" y="2880389"/>
            <a:ext cx="1142940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64817" y="2904770"/>
            <a:ext cx="1088079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两地协同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880360"/>
            <a:ext cx="1384300" cy="311150"/>
          </a:xfrm>
          <a:prstGeom prst="roundRect">
            <a:avLst/>
          </a:prstGeom>
          <a:solidFill>
            <a:srgbClr val="277EFF"/>
          </a:solidFill>
          <a:ln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82185" y="2896870"/>
            <a:ext cx="128905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服务器集中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3799" y="2880389"/>
            <a:ext cx="1142940" cy="310880"/>
          </a:xfrm>
          <a:prstGeom prst="roundRect">
            <a:avLst/>
          </a:prstGeom>
          <a:solidFill>
            <a:srgbClr val="277EFF"/>
          </a:solidFill>
          <a:ln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21229" y="2889530"/>
            <a:ext cx="1088079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链路可靠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070" y="3886176"/>
            <a:ext cx="9966441" cy="877778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34376" y="4187912"/>
            <a:ext cx="9326394" cy="29654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</a:rPr>
              <a:t>讲述主线：先说明客户为什么需要升级网络，再说明我们如何把业务语言翻译成技术任务。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项目背景：双站点协同带来的网络升级需求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6008" y="124790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业务规模扩大后，企业网络从“单点办公”转向“两地协同 + 集中服务 + 可靠互联”</a:t>
            </a: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777240" y="1790700"/>
            <a:ext cx="2911475" cy="102489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1462964" y="1883764"/>
            <a:ext cx="205729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业务扩张</a:t>
            </a:r>
          </a:p>
        </p:txBody>
      </p:sp>
      <p:sp>
        <p:nvSpPr>
          <p:cNvPr id="10" name="TextBox 9"/>
          <p:cNvSpPr txBox="1"/>
          <p:nvPr>
            <p:custDataLst>
              <p:tags r:id="rId3"/>
            </p:custDataLst>
          </p:nvPr>
        </p:nvSpPr>
        <p:spPr>
          <a:xfrm>
            <a:off x="1252677" y="2212926"/>
            <a:ext cx="2477895" cy="60261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E1EBFF"/>
                </a:solidFill>
                <a:latin typeface="微软雅黑" panose="020B0503020204020204" pitchFamily="34" charset="-122"/>
              </a:rPr>
              <a:t>公司员工约1000人，分布在北京和燕郊两个办公区域，日常办公终端数量和业务访问量持续增加。</a:t>
            </a:r>
          </a:p>
        </p:txBody>
      </p:sp>
      <p:sp>
        <p:nvSpPr>
          <p:cNvPr id="11" name="Rounded Rectangle 10"/>
          <p:cNvSpPr/>
          <p:nvPr>
            <p:custDataLst>
              <p:tags r:id="rId4"/>
            </p:custDataLst>
          </p:nvPr>
        </p:nvSpPr>
        <p:spPr>
          <a:xfrm>
            <a:off x="777240" y="2906395"/>
            <a:ext cx="2911475" cy="1024255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1462964" y="2999273"/>
            <a:ext cx="205729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两地协同</a:t>
            </a: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1345565" y="3298825"/>
            <a:ext cx="2343150" cy="60261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E1EBFF"/>
                </a:solidFill>
                <a:latin typeface="微软雅黑" panose="020B0503020204020204" pitchFamily="34" charset="-122"/>
              </a:rPr>
              <a:t>北京办公室与燕郊办公室之间需要通过运营商专线互通，保证跨区域办公和业务访问。</a:t>
            </a:r>
          </a:p>
        </p:txBody>
      </p:sp>
      <p:sp>
        <p:nvSpPr>
          <p:cNvPr id="16" name="Rounded Rectangle 15"/>
          <p:cNvSpPr/>
          <p:nvPr>
            <p:custDataLst>
              <p:tags r:id="rId7"/>
            </p:custDataLst>
          </p:nvPr>
        </p:nvSpPr>
        <p:spPr>
          <a:xfrm>
            <a:off x="777240" y="4022090"/>
            <a:ext cx="2900680" cy="103505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1462964" y="4130022"/>
            <a:ext cx="205729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集中服务</a:t>
            </a:r>
          </a:p>
        </p:txBody>
      </p:sp>
      <p:sp>
        <p:nvSpPr>
          <p:cNvPr id="20" name="TextBox 19"/>
          <p:cNvSpPr txBox="1"/>
          <p:nvPr>
            <p:custDataLst>
              <p:tags r:id="rId9"/>
            </p:custDataLst>
          </p:nvPr>
        </p:nvSpPr>
        <p:spPr>
          <a:xfrm>
            <a:off x="1298575" y="4481830"/>
            <a:ext cx="2421255" cy="41338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E1EBFF"/>
                </a:solidFill>
                <a:latin typeface="微软雅黑" panose="020B0503020204020204" pitchFamily="34" charset="-122"/>
              </a:rPr>
              <a:t>文件服务器和邮件服务器部署在燕郊服务器区，两地终端均需稳定访问。</a:t>
            </a:r>
          </a:p>
        </p:txBody>
      </p:sp>
      <p:sp>
        <p:nvSpPr>
          <p:cNvPr id="21" name="Rounded Rectangle 20"/>
          <p:cNvSpPr/>
          <p:nvPr>
            <p:custDataLst>
              <p:tags r:id="rId10"/>
            </p:custDataLst>
          </p:nvPr>
        </p:nvSpPr>
        <p:spPr>
          <a:xfrm>
            <a:off x="777240" y="5137150"/>
            <a:ext cx="2910840" cy="102108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>
            <p:custDataLst>
              <p:tags r:id="rId11"/>
            </p:custDataLst>
          </p:nvPr>
        </p:nvSpPr>
        <p:spPr>
          <a:xfrm>
            <a:off x="1462964" y="5276013"/>
            <a:ext cx="205729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可靠性要求</a:t>
            </a:r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1298575" y="5559425"/>
            <a:ext cx="2419350" cy="41338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E1EBFF"/>
                </a:solidFill>
                <a:latin typeface="微软雅黑" panose="020B0503020204020204" pitchFamily="34" charset="-122"/>
              </a:rPr>
              <a:t>主用链路故障时，备用链路需要接管通信，避免两地业务直接中断。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432" y="1790807"/>
            <a:ext cx="7314819" cy="4315743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24308" y="1991965"/>
            <a:ext cx="2743057" cy="29654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</a:rPr>
              <a:t>项目逻辑拓扑示意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2522220"/>
            <a:ext cx="2286000" cy="3037205"/>
          </a:xfrm>
          <a:prstGeom prst="roundRect">
            <a:avLst/>
          </a:prstGeom>
          <a:solidFill>
            <a:srgbClr val="164EB8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044" y="2686872"/>
            <a:ext cx="1920140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北京办公室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约300人｜5个部门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00350" y="3436641"/>
            <a:ext cx="1325811" cy="502894"/>
          </a:xfrm>
          <a:prstGeom prst="roundRect">
            <a:avLst/>
          </a:prstGeom>
          <a:solidFill>
            <a:srgbClr val="1E55D2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36924" y="3596520"/>
            <a:ext cx="125266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Core-SW1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503" y="4186410"/>
            <a:ext cx="1051505" cy="457176"/>
          </a:xfrm>
          <a:prstGeom prst="roundRect">
            <a:avLst/>
          </a:prstGeom>
          <a:solidFill>
            <a:srgbClr val="277EFF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974077" y="4323431"/>
            <a:ext cx="978356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R-BJ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40445" y="2522220"/>
            <a:ext cx="2286000" cy="3065145"/>
          </a:xfrm>
          <a:prstGeom prst="roundRect">
            <a:avLst/>
          </a:prstGeom>
          <a:solidFill>
            <a:srgbClr val="164EB8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96070" y="2686872"/>
            <a:ext cx="1965858" cy="63563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燕郊办公室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约700人｜6个部门+服务器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7806" y="3436641"/>
            <a:ext cx="1325811" cy="502894"/>
          </a:xfrm>
          <a:prstGeom prst="roundRect">
            <a:avLst/>
          </a:prstGeom>
          <a:solidFill>
            <a:srgbClr val="1E55D2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34379" y="3596520"/>
            <a:ext cx="125266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Core-SW2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34959" y="4186410"/>
            <a:ext cx="1051505" cy="457176"/>
          </a:xfrm>
          <a:prstGeom prst="roundRect">
            <a:avLst/>
          </a:prstGeom>
          <a:solidFill>
            <a:srgbClr val="277EFF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71532" y="4323431"/>
            <a:ext cx="978356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R-YJ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4959" y="5009328"/>
            <a:ext cx="1051505" cy="502894"/>
          </a:xfrm>
          <a:prstGeom prst="roundRect">
            <a:avLst/>
          </a:prstGeom>
          <a:solidFill>
            <a:srgbClr val="128299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71532" y="5107611"/>
            <a:ext cx="978356" cy="34290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File/Mail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微软雅黑" panose="020B0503020204020204" pitchFamily="34" charset="-122"/>
              </a:rPr>
              <a:t>Server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989008" y="4405855"/>
            <a:ext cx="3227664" cy="0"/>
          </a:xfrm>
          <a:prstGeom prst="line">
            <a:avLst/>
          </a:prstGeom>
          <a:ln w="38100">
            <a:solidFill>
              <a:srgbClr val="2BCF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272457" y="4122406"/>
            <a:ext cx="2560187" cy="18923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000" b="0">
                <a:solidFill>
                  <a:srgbClr val="2BCFFF"/>
                </a:solidFill>
                <a:latin typeface="微软雅黑" panose="020B0503020204020204" pitchFamily="34" charset="-122"/>
              </a:rPr>
              <a:t>主用链路 G0/0｜10.0.0.0/30｜Cost 10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5989008" y="4716735"/>
            <a:ext cx="3227664" cy="0"/>
          </a:xfrm>
          <a:prstGeom prst="line">
            <a:avLst/>
          </a:prstGeom>
          <a:ln w="25400">
            <a:solidFill>
              <a:srgbClr val="FFB75C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63314" y="4826457"/>
            <a:ext cx="2651622" cy="18923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000" b="0">
                <a:solidFill>
                  <a:srgbClr val="FFB75C"/>
                </a:solidFill>
                <a:latin typeface="微软雅黑" panose="020B0503020204020204" pitchFamily="34" charset="-122"/>
              </a:rPr>
              <a:t>备用链路 G0/1｜10.0.0.4/30｜Cost 100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531832" y="3930392"/>
            <a:ext cx="0" cy="256019"/>
          </a:xfrm>
          <a:prstGeom prst="line">
            <a:avLst/>
          </a:prstGeom>
          <a:ln w="25400">
            <a:solidFill>
              <a:srgbClr val="2BCF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783570" y="3930392"/>
            <a:ext cx="0" cy="256019"/>
          </a:xfrm>
          <a:prstGeom prst="line">
            <a:avLst/>
          </a:prstGeom>
          <a:ln w="25400">
            <a:solidFill>
              <a:srgbClr val="2BCF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组合 54"/>
          <p:cNvGrpSpPr/>
          <p:nvPr/>
        </p:nvGrpSpPr>
        <p:grpSpPr>
          <a:xfrm>
            <a:off x="912495" y="1905000"/>
            <a:ext cx="386080" cy="383540"/>
            <a:chOff x="1349" y="6927"/>
            <a:chExt cx="608" cy="604"/>
          </a:xfrm>
        </p:grpSpPr>
        <p:sp>
          <p:nvSpPr>
            <p:cNvPr id="49" name="Shape 4"/>
            <p:cNvSpPr/>
            <p:nvPr>
              <p:custDataLst>
                <p:tags r:id="rId19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rgbClr val="32D7FF"/>
            </a:solidFill>
            <a:ln w="12700">
              <a:solidFill>
                <a:srgbClr val="32D7FF"/>
              </a:solidFill>
              <a:prstDash val="solid"/>
            </a:ln>
          </p:spPr>
        </p:sp>
        <p:sp>
          <p:nvSpPr>
            <p:cNvPr id="50" name="Text 5"/>
            <p:cNvSpPr/>
            <p:nvPr>
              <p:custDataLst>
                <p:tags r:id="rId20"/>
              </p:custDataLst>
            </p:nvPr>
          </p:nvSpPr>
          <p:spPr>
            <a:xfrm>
              <a:off x="1353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915035" y="2999105"/>
            <a:ext cx="386080" cy="383540"/>
            <a:chOff x="1349" y="6927"/>
            <a:chExt cx="608" cy="604"/>
          </a:xfrm>
        </p:grpSpPr>
        <p:sp>
          <p:nvSpPr>
            <p:cNvPr id="57" name="Shape 4"/>
            <p:cNvSpPr/>
            <p:nvPr>
              <p:custDataLst>
                <p:tags r:id="rId17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rgbClr val="4CE6A5"/>
            </a:solidFill>
            <a:ln w="12700">
              <a:solidFill>
                <a:srgbClr val="32D7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Text 5"/>
            <p:cNvSpPr/>
            <p:nvPr>
              <p:custDataLst>
                <p:tags r:id="rId18"/>
              </p:custDataLst>
            </p:nvPr>
          </p:nvSpPr>
          <p:spPr>
            <a:xfrm>
              <a:off x="1353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907415" y="4130675"/>
            <a:ext cx="389255" cy="384175"/>
            <a:chOff x="1341" y="6927"/>
            <a:chExt cx="613" cy="605"/>
          </a:xfrm>
        </p:grpSpPr>
        <p:sp>
          <p:nvSpPr>
            <p:cNvPr id="51" name="Shape 4"/>
            <p:cNvSpPr/>
            <p:nvPr>
              <p:custDataLst>
                <p:tags r:id="rId15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rgbClr val="FEBF6E"/>
            </a:solidFill>
            <a:ln w="12700">
              <a:solidFill>
                <a:srgbClr val="FEC07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Text 5"/>
            <p:cNvSpPr/>
            <p:nvPr>
              <p:custDataLst>
                <p:tags r:id="rId16"/>
              </p:custDataLst>
            </p:nvPr>
          </p:nvSpPr>
          <p:spPr>
            <a:xfrm>
              <a:off x="1341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</a:p>
          </p:txBody>
        </p:sp>
      </p:grpSp>
      <p:grpSp>
        <p:nvGrpSpPr>
          <p:cNvPr id="52" name="组合 51"/>
          <p:cNvGrpSpPr/>
          <p:nvPr/>
        </p:nvGrpSpPr>
        <p:grpSpPr>
          <a:xfrm>
            <a:off x="902335" y="5203825"/>
            <a:ext cx="389255" cy="384175"/>
            <a:chOff x="1341" y="6927"/>
            <a:chExt cx="613" cy="605"/>
          </a:xfrm>
        </p:grpSpPr>
        <p:sp>
          <p:nvSpPr>
            <p:cNvPr id="53" name="Shape 4"/>
            <p:cNvSpPr/>
            <p:nvPr>
              <p:custDataLst>
                <p:tags r:id="rId13"/>
              </p:custDataLst>
            </p:nvPr>
          </p:nvSpPr>
          <p:spPr>
            <a:xfrm>
              <a:off x="1349" y="6927"/>
              <a:ext cx="605" cy="605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>
              <a:noFill/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Text 5"/>
            <p:cNvSpPr/>
            <p:nvPr>
              <p:custDataLst>
                <p:tags r:id="rId14"/>
              </p:custDataLst>
            </p:nvPr>
          </p:nvSpPr>
          <p:spPr>
            <a:xfrm>
              <a:off x="1341" y="7079"/>
              <a:ext cx="605" cy="376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04</a:t>
              </a:r>
            </a:p>
          </p:txBody>
        </p:sp>
      </p:grpSp>
      <p:cxnSp>
        <p:nvCxnSpPr>
          <p:cNvPr id="62" name="肘形连接符 61"/>
          <p:cNvCxnSpPr/>
          <p:nvPr/>
        </p:nvCxnSpPr>
        <p:spPr>
          <a:xfrm flipV="1">
            <a:off x="10242550" y="3706495"/>
            <a:ext cx="137160" cy="1572260"/>
          </a:xfrm>
          <a:prstGeom prst="bentConnector3">
            <a:avLst>
              <a:gd name="adj1" fmla="val 273611"/>
            </a:avLst>
          </a:prstGeom>
          <a:ln w="3810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客户需求识别：业务语言到技术任务的转换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688" y="120726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关键工作是把“客户想要什么”拆解成可配置、可测试、可验收的网络任务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5280" y="1752710"/>
          <a:ext cx="10743565" cy="43427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0C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客户需求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0C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项目经理拆解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0C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技术实现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50C4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验收口径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部门隔离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按地点/部门/业务拆分广播域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北京VLAN10-100；燕郊VLAN120-190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show vlan brief；PC到本网关可达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两地互通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北京与燕郊业务网段互访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R-BJ/R-YJ + OSPF Area 0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跨区域PC互ping、查看OSPF路由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服务器访问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燕郊服务器集中部署，两地访问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VLAN190；File/Mail Server固定IP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北京/燕郊终端访问192.168.190.10/20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无线办公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无线与有线分开管理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BJ-WIFI→VLAN60；YJ-WIFI→VLAN180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无线终端获取地址并访问网关/服务器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链路可靠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主链路优先，故障自动切换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G0/0 Cost 10；G0/1 Cost 100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shutdown主链路后备用路径可达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可维护性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地址、配置、测试文档可追溯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/24业务网段；/30点到点链路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FFF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地址规划表、验收测试表、配置截图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00997" y="6260467"/>
            <a:ext cx="10697923" cy="429746"/>
          </a:xfrm>
          <a:prstGeom prst="roundRect">
            <a:avLst/>
          </a:prstGeom>
          <a:solidFill>
            <a:srgbClr val="1E55D2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3868" y="6388476"/>
            <a:ext cx="10240747" cy="23558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 panose="020B0503020204020204" pitchFamily="34" charset="-122"/>
              </a:rPr>
              <a:t>结论：本项目的核心不是“堆设备”，而是围绕部门隔离、业务可达、链路可靠和文档可验收建立完整交付闭环。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8893175" y="134104"/>
            <a:ext cx="3260090" cy="1073150"/>
            <a:chOff x="14051" y="641"/>
            <a:chExt cx="5256" cy="1800"/>
          </a:xfrm>
        </p:grpSpPr>
        <p:sp>
          <p:nvSpPr>
            <p:cNvPr id="40" name="Shape 35"/>
            <p:cNvSpPr/>
            <p:nvPr/>
          </p:nvSpPr>
          <p:spPr>
            <a:xfrm>
              <a:off x="14051" y="641"/>
              <a:ext cx="5256" cy="1800"/>
            </a:xfrm>
            <a:prstGeom prst="roundRect">
              <a:avLst>
                <a:gd name="adj" fmla="val 9600"/>
              </a:avLst>
            </a:prstGeom>
            <a:solidFill>
              <a:srgbClr val="204ACF">
                <a:alpha val="82000"/>
              </a:srgbClr>
            </a:solidFill>
            <a:ln w="12700">
              <a:solidFill>
                <a:srgbClr val="4CE6A5">
                  <a:alpha val="70000"/>
                </a:srgbClr>
              </a:solidFill>
              <a:prstDash val="solid"/>
            </a:ln>
          </p:spPr>
        </p:sp>
        <p:sp>
          <p:nvSpPr>
            <p:cNvPr id="41" name="Text 36"/>
            <p:cNvSpPr/>
            <p:nvPr/>
          </p:nvSpPr>
          <p:spPr>
            <a:xfrm>
              <a:off x="14440" y="830"/>
              <a:ext cx="2304" cy="346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/>
            <a:lstStyle/>
            <a:p>
              <a:pPr marL="0" indent="0" algn="l">
                <a:lnSpc>
                  <a:spcPct val="95000"/>
                </a:lnSpc>
                <a:buNone/>
              </a:pPr>
              <a:r>
                <a:rPr 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映射原则</a:t>
              </a:r>
            </a:p>
          </p:txBody>
        </p:sp>
        <p:sp>
          <p:nvSpPr>
            <p:cNvPr id="42" name="Text 37"/>
            <p:cNvSpPr/>
            <p:nvPr/>
          </p:nvSpPr>
          <p:spPr>
            <a:xfrm>
              <a:off x="14440" y="1403"/>
              <a:ext cx="4760" cy="749"/>
            </a:xfrm>
            <a:prstGeom prst="rect">
              <a:avLst/>
            </a:prstGeom>
            <a:noFill/>
          </p:spPr>
          <p:txBody>
            <a:bodyPr wrap="square" lIns="381" tIns="381" rIns="381" bIns="381" rtlCol="0" anchor="t">
              <a:noAutofit/>
            </a:bodyPr>
            <a:lstStyle/>
            <a:p>
              <a:pPr marL="0" indent="0">
                <a:lnSpc>
                  <a:spcPct val="93000"/>
                </a:lnSpc>
                <a:buNone/>
              </a:pPr>
              <a:r>
                <a:rPr lang="en-US" sz="1400" b="1" dirty="0">
                  <a:solidFill>
                    <a:srgbClr val="4CE6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● </a:t>
              </a:r>
              <a:r>
                <a:rPr lang="en-US" sz="1400" dirty="0">
                  <a:solidFill>
                    <a:srgbClr val="DC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每个业务诉求必须有技术配置响应
</a:t>
              </a:r>
              <a:r>
                <a:rPr lang="en-US" sz="1400" b="1" dirty="0">
                  <a:solidFill>
                    <a:srgbClr val="4CE6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● </a:t>
              </a:r>
              <a:r>
                <a:rPr lang="en-US" sz="1400" dirty="0">
                  <a:solidFill>
                    <a:srgbClr val="DC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每项技术配置必须有验收动作
</a:t>
              </a:r>
              <a:r>
                <a:rPr lang="en-US" sz="1400" b="1" dirty="0">
                  <a:solidFill>
                    <a:srgbClr val="4CE6A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● </a:t>
              </a:r>
              <a:r>
                <a:rPr lang="en-US" sz="1400" dirty="0">
                  <a:solidFill>
                    <a:srgbClr val="DC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最终交付必须可复查、可复现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template_extract/ppt/media/image5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84048" y="603504"/>
            <a:ext cx="411480" cy="2560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530352"/>
            <a:ext cx="512064" cy="320040"/>
          </a:xfrm>
          <a:prstGeom prst="roundRect">
            <a:avLst>
              <a:gd name="adj" fmla="val 22857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580644"/>
            <a:ext cx="512064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517904" y="475488"/>
            <a:ext cx="896112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需求识别方法：按干系人视角拆解网络价值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868680" y="1024128"/>
            <a:ext cx="9966960" cy="0"/>
          </a:xfrm>
          <a:prstGeom prst="line">
            <a:avLst/>
          </a:prstGeom>
          <a:noFill/>
          <a:ln w="19050">
            <a:solidFill>
              <a:srgbClr val="32D7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92480" y="1106424"/>
            <a:ext cx="9966960" cy="25603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sz="2400" b="1">
                <a:solidFill>
                  <a:schemeClr val="accent2"/>
                </a:solidFill>
                <a:latin typeface="微软雅黑" panose="020B0503020204020204" pitchFamily="34" charset="-122"/>
              </a:rPr>
              <a:t>项目经理将“谁关心什么”转化为交付重点</a:t>
            </a:r>
          </a:p>
        </p:txBody>
      </p:sp>
      <p:sp>
        <p:nvSpPr>
          <p:cNvPr id="9" name="Shape 5"/>
          <p:cNvSpPr/>
          <p:nvPr>
            <p:custDataLst>
              <p:tags r:id="rId1"/>
            </p:custDataLst>
          </p:nvPr>
        </p:nvSpPr>
        <p:spPr>
          <a:xfrm>
            <a:off x="777240" y="2111883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32D7FF">
                <a:alpha val="70000"/>
              </a:srgbClr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2"/>
            </p:custDataLst>
          </p:nvPr>
        </p:nvSpPr>
        <p:spPr>
          <a:xfrm>
            <a:off x="978408" y="2276475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978408" y="2340483"/>
            <a:ext cx="10058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管理层</a:t>
            </a: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2083308" y="2313051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关注点</a:t>
            </a:r>
          </a:p>
        </p:txBody>
      </p:sp>
      <p:sp>
        <p:nvSpPr>
          <p:cNvPr id="13" name="Text 9"/>
          <p:cNvSpPr/>
          <p:nvPr>
            <p:custDataLst>
              <p:tags r:id="rId5"/>
            </p:custDataLst>
          </p:nvPr>
        </p:nvSpPr>
        <p:spPr>
          <a:xfrm>
            <a:off x="2834640" y="2267331"/>
            <a:ext cx="251460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关注业务连续、跨区域协同、建设成果可汇报</a:t>
            </a:r>
          </a:p>
        </p:txBody>
      </p:sp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1005840" y="2953131"/>
            <a:ext cx="438912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交付响应：两地互通 + 主备链路 + 验收文档</a:t>
            </a:r>
          </a:p>
        </p:txBody>
      </p:sp>
      <p:sp>
        <p:nvSpPr>
          <p:cNvPr id="15" name="Shape 11"/>
          <p:cNvSpPr/>
          <p:nvPr>
            <p:custDataLst>
              <p:tags r:id="rId7"/>
            </p:custDataLst>
          </p:nvPr>
        </p:nvSpPr>
        <p:spPr>
          <a:xfrm>
            <a:off x="777240" y="4306443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4CE6A5">
                <a:alpha val="70000"/>
              </a:srgbClr>
            </a:solidFill>
            <a:prstDash val="solid"/>
          </a:ln>
        </p:spPr>
      </p:sp>
      <p:sp>
        <p:nvSpPr>
          <p:cNvPr id="16" name="Shape 12"/>
          <p:cNvSpPr/>
          <p:nvPr>
            <p:custDataLst>
              <p:tags r:id="rId8"/>
            </p:custDataLst>
          </p:nvPr>
        </p:nvSpPr>
        <p:spPr>
          <a:xfrm>
            <a:off x="978408" y="4471035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4CE6A5"/>
          </a:solidFill>
          <a:ln w="12700">
            <a:solidFill>
              <a:srgbClr val="4CE6A5"/>
            </a:solidFill>
            <a:prstDash val="solid"/>
          </a:ln>
        </p:spPr>
      </p:sp>
      <p:sp>
        <p:nvSpPr>
          <p:cNvPr id="17" name="Text 13"/>
          <p:cNvSpPr/>
          <p:nvPr>
            <p:custDataLst>
              <p:tags r:id="rId9"/>
            </p:custDataLst>
          </p:nvPr>
        </p:nvSpPr>
        <p:spPr>
          <a:xfrm>
            <a:off x="978408" y="4535043"/>
            <a:ext cx="10058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普通员工</a:t>
            </a:r>
          </a:p>
        </p:txBody>
      </p:sp>
      <p:sp>
        <p:nvSpPr>
          <p:cNvPr id="18" name="Text 14"/>
          <p:cNvSpPr/>
          <p:nvPr>
            <p:custDataLst>
              <p:tags r:id="rId10"/>
            </p:custDataLst>
          </p:nvPr>
        </p:nvSpPr>
        <p:spPr>
          <a:xfrm>
            <a:off x="2090928" y="4507611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关注点</a:t>
            </a:r>
          </a:p>
        </p:txBody>
      </p:sp>
      <p:sp>
        <p:nvSpPr>
          <p:cNvPr id="19" name="Text 15"/>
          <p:cNvSpPr/>
          <p:nvPr>
            <p:custDataLst>
              <p:tags r:id="rId11"/>
            </p:custDataLst>
          </p:nvPr>
        </p:nvSpPr>
        <p:spPr>
          <a:xfrm>
            <a:off x="2834640" y="4461891"/>
            <a:ext cx="251460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关注办公终端、无线终端、服务器访问是否可用</a:t>
            </a:r>
          </a:p>
        </p:txBody>
      </p:sp>
      <p:sp>
        <p:nvSpPr>
          <p:cNvPr id="20" name="Text 16"/>
          <p:cNvSpPr/>
          <p:nvPr>
            <p:custDataLst>
              <p:tags r:id="rId12"/>
            </p:custDataLst>
          </p:nvPr>
        </p:nvSpPr>
        <p:spPr>
          <a:xfrm>
            <a:off x="1005840" y="5147691"/>
            <a:ext cx="438912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交付响应：部门 VLAN + 无线 VLAN + 服务器连通</a:t>
            </a:r>
          </a:p>
        </p:txBody>
      </p:sp>
      <p:sp>
        <p:nvSpPr>
          <p:cNvPr id="21" name="Shape 17"/>
          <p:cNvSpPr/>
          <p:nvPr>
            <p:custDataLst>
              <p:tags r:id="rId13"/>
            </p:custDataLst>
          </p:nvPr>
        </p:nvSpPr>
        <p:spPr>
          <a:xfrm>
            <a:off x="6217920" y="2111883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FFBA62">
                <a:alpha val="70000"/>
              </a:srgbClr>
            </a:solidFill>
            <a:prstDash val="solid"/>
          </a:ln>
        </p:spPr>
      </p:sp>
      <p:sp>
        <p:nvSpPr>
          <p:cNvPr id="22" name="Shape 18"/>
          <p:cNvSpPr/>
          <p:nvPr>
            <p:custDataLst>
              <p:tags r:id="rId14"/>
            </p:custDataLst>
          </p:nvPr>
        </p:nvSpPr>
        <p:spPr>
          <a:xfrm>
            <a:off x="6419088" y="2276475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FFBA62"/>
          </a:solidFill>
          <a:ln w="12700">
            <a:solidFill>
              <a:srgbClr val="FFBA62"/>
            </a:solidFill>
            <a:prstDash val="solid"/>
          </a:ln>
        </p:spPr>
      </p:sp>
      <p:sp>
        <p:nvSpPr>
          <p:cNvPr id="23" name="Text 19"/>
          <p:cNvSpPr/>
          <p:nvPr>
            <p:custDataLst>
              <p:tags r:id="rId15"/>
            </p:custDataLst>
          </p:nvPr>
        </p:nvSpPr>
        <p:spPr>
          <a:xfrm>
            <a:off x="6419088" y="2340483"/>
            <a:ext cx="10058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运维人员</a:t>
            </a:r>
          </a:p>
        </p:txBody>
      </p:sp>
      <p:sp>
        <p:nvSpPr>
          <p:cNvPr id="24" name="Text 20"/>
          <p:cNvSpPr/>
          <p:nvPr>
            <p:custDataLst>
              <p:tags r:id="rId16"/>
            </p:custDataLst>
          </p:nvPr>
        </p:nvSpPr>
        <p:spPr>
          <a:xfrm>
            <a:off x="7554468" y="2313051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关注点</a:t>
            </a:r>
          </a:p>
        </p:txBody>
      </p:sp>
      <p:sp>
        <p:nvSpPr>
          <p:cNvPr id="25" name="Text 21"/>
          <p:cNvSpPr/>
          <p:nvPr>
            <p:custDataLst>
              <p:tags r:id="rId17"/>
            </p:custDataLst>
          </p:nvPr>
        </p:nvSpPr>
        <p:spPr>
          <a:xfrm>
            <a:off x="8275320" y="2267331"/>
            <a:ext cx="251460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关注地址清晰、配置规范、故障可定位</a:t>
            </a:r>
          </a:p>
        </p:txBody>
      </p:sp>
      <p:sp>
        <p:nvSpPr>
          <p:cNvPr id="26" name="Text 22"/>
          <p:cNvSpPr/>
          <p:nvPr>
            <p:custDataLst>
              <p:tags r:id="rId18"/>
            </p:custDataLst>
          </p:nvPr>
        </p:nvSpPr>
        <p:spPr>
          <a:xfrm>
            <a:off x="6446520" y="2953131"/>
            <a:ext cx="438912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交付响应：地址规划表 + OSPF 路由表 + 故障记录</a:t>
            </a:r>
          </a:p>
        </p:txBody>
      </p:sp>
      <p:sp>
        <p:nvSpPr>
          <p:cNvPr id="27" name="Shape 23"/>
          <p:cNvSpPr/>
          <p:nvPr>
            <p:custDataLst>
              <p:tags r:id="rId19"/>
            </p:custDataLst>
          </p:nvPr>
        </p:nvSpPr>
        <p:spPr>
          <a:xfrm>
            <a:off x="6225540" y="4306443"/>
            <a:ext cx="4892040" cy="1508760"/>
          </a:xfrm>
          <a:prstGeom prst="roundRect">
            <a:avLst>
              <a:gd name="adj" fmla="val 7273"/>
            </a:avLst>
          </a:prstGeom>
          <a:solidFill>
            <a:srgbClr val="204ACF">
              <a:alpha val="86000"/>
            </a:srgbClr>
          </a:solidFill>
          <a:ln w="12700">
            <a:solidFill>
              <a:srgbClr val="32D7FF">
                <a:alpha val="70000"/>
              </a:srgbClr>
            </a:solidFill>
            <a:prstDash val="solid"/>
          </a:ln>
        </p:spPr>
      </p:sp>
      <p:sp>
        <p:nvSpPr>
          <p:cNvPr id="28" name="Shape 24"/>
          <p:cNvSpPr/>
          <p:nvPr>
            <p:custDataLst>
              <p:tags r:id="rId20"/>
            </p:custDataLst>
          </p:nvPr>
        </p:nvSpPr>
        <p:spPr>
          <a:xfrm>
            <a:off x="6419088" y="4471035"/>
            <a:ext cx="1005840" cy="292608"/>
          </a:xfrm>
          <a:prstGeom prst="roundRect">
            <a:avLst>
              <a:gd name="adj" fmla="val 31250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29" name="Text 25"/>
          <p:cNvSpPr/>
          <p:nvPr>
            <p:custDataLst>
              <p:tags r:id="rId21"/>
            </p:custDataLst>
          </p:nvPr>
        </p:nvSpPr>
        <p:spPr>
          <a:xfrm>
            <a:off x="6419088" y="4535043"/>
            <a:ext cx="100584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验收方</a:t>
            </a:r>
          </a:p>
        </p:txBody>
      </p:sp>
      <p:sp>
        <p:nvSpPr>
          <p:cNvPr id="30" name="Text 26"/>
          <p:cNvSpPr/>
          <p:nvPr>
            <p:custDataLst>
              <p:tags r:id="rId22"/>
            </p:custDataLst>
          </p:nvPr>
        </p:nvSpPr>
        <p:spPr>
          <a:xfrm>
            <a:off x="7546848" y="4507611"/>
            <a:ext cx="685800" cy="20116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关注点</a:t>
            </a:r>
          </a:p>
        </p:txBody>
      </p:sp>
      <p:sp>
        <p:nvSpPr>
          <p:cNvPr id="31" name="Text 27"/>
          <p:cNvSpPr/>
          <p:nvPr>
            <p:custDataLst>
              <p:tags r:id="rId23"/>
            </p:custDataLst>
          </p:nvPr>
        </p:nvSpPr>
        <p:spPr>
          <a:xfrm>
            <a:off x="8275320" y="4461891"/>
            <a:ext cx="251460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关注功能是否符合题目、测试证据是否充分</a:t>
            </a:r>
          </a:p>
        </p:txBody>
      </p:sp>
      <p:sp>
        <p:nvSpPr>
          <p:cNvPr id="32" name="Text 28"/>
          <p:cNvSpPr/>
          <p:nvPr>
            <p:custDataLst>
              <p:tags r:id="rId24"/>
            </p:custDataLst>
          </p:nvPr>
        </p:nvSpPr>
        <p:spPr>
          <a:xfrm>
            <a:off x="6446520" y="5147691"/>
            <a:ext cx="4389120" cy="34747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交付响应：测试验收表 + 截图/命令输出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template_extract/ppt/media/image5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4048" y="603504"/>
            <a:ext cx="411480" cy="2560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530352"/>
            <a:ext cx="512064" cy="320040"/>
          </a:xfrm>
          <a:prstGeom prst="roundRect">
            <a:avLst>
              <a:gd name="adj" fmla="val 22857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580644"/>
            <a:ext cx="512064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517904" y="475488"/>
            <a:ext cx="896112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需求优先级：MoSCoW 法控制项目范围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868680" y="1024128"/>
            <a:ext cx="9966960" cy="0"/>
          </a:xfrm>
          <a:prstGeom prst="line">
            <a:avLst/>
          </a:prstGeom>
          <a:noFill/>
          <a:ln w="19050">
            <a:solidFill>
              <a:srgbClr val="32D7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060704"/>
            <a:ext cx="9966960" cy="256032"/>
          </a:xfrm>
          <a:prstGeom prst="rect">
            <a:avLst/>
          </a:prstGeom>
          <a:noFill/>
        </p:spPr>
        <p:txBody>
          <a:bodyPr wrap="square" lIns="381" tIns="381" rIns="381" bIns="381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区分必须完成、应完成、可优化和暂不纳入的内容</a:t>
            </a:r>
          </a:p>
        </p:txBody>
      </p:sp>
      <p:sp>
        <p:nvSpPr>
          <p:cNvPr id="9" name="Shape 5"/>
          <p:cNvSpPr/>
          <p:nvPr>
            <p:custDataLst>
              <p:tags r:id="rId1"/>
            </p:custDataLst>
          </p:nvPr>
        </p:nvSpPr>
        <p:spPr>
          <a:xfrm>
            <a:off x="777240" y="199136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204ACF">
              <a:alpha val="85000"/>
            </a:srgbClr>
          </a:solidFill>
          <a:ln w="12700">
            <a:solidFill>
              <a:srgbClr val="32D7FF">
                <a:alpha val="70000"/>
              </a:srgbClr>
            </a:solidFill>
            <a:prstDash val="solid"/>
          </a:ln>
        </p:spPr>
      </p:sp>
      <p:sp>
        <p:nvSpPr>
          <p:cNvPr id="10" name="Shape 6"/>
          <p:cNvSpPr/>
          <p:nvPr>
            <p:custDataLst>
              <p:tags r:id="rId2"/>
            </p:custDataLst>
          </p:nvPr>
        </p:nvSpPr>
        <p:spPr>
          <a:xfrm>
            <a:off x="1005840" y="2155952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1005840" y="2219960"/>
            <a:ext cx="18288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Must 必须完成</a:t>
            </a: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1097280" y="2631440"/>
            <a:ext cx="4343400" cy="8412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b="1" dirty="0">
                <a:solidFill>
                  <a:srgbClr val="32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VLAN 划分与 IP 地址规划
</a:t>
            </a:r>
            <a:r>
              <a:rPr lang="en-US" b="1" dirty="0">
                <a:solidFill>
                  <a:srgbClr val="32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 VLAN 间互通
</a:t>
            </a:r>
            <a:r>
              <a:rPr lang="en-US" b="1" dirty="0">
                <a:solidFill>
                  <a:srgbClr val="32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两地 OSPF 互通
</a:t>
            </a:r>
            <a:r>
              <a:rPr lang="en-US" b="1" dirty="0">
                <a:solidFill>
                  <a:srgbClr val="32D7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服务器访问验证</a:t>
            </a:r>
          </a:p>
        </p:txBody>
      </p:sp>
      <p:sp>
        <p:nvSpPr>
          <p:cNvPr id="13" name="Shape 9"/>
          <p:cNvSpPr/>
          <p:nvPr>
            <p:custDataLst>
              <p:tags r:id="rId5"/>
            </p:custDataLst>
          </p:nvPr>
        </p:nvSpPr>
        <p:spPr>
          <a:xfrm>
            <a:off x="6263640" y="199136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204ACF">
              <a:alpha val="85000"/>
            </a:srgbClr>
          </a:solidFill>
          <a:ln w="12700">
            <a:solidFill>
              <a:srgbClr val="4CE6A5">
                <a:alpha val="70000"/>
              </a:srgbClr>
            </a:solidFill>
            <a:prstDash val="solid"/>
          </a:ln>
        </p:spPr>
      </p:sp>
      <p:sp>
        <p:nvSpPr>
          <p:cNvPr id="14" name="Shape 10"/>
          <p:cNvSpPr/>
          <p:nvPr>
            <p:custDataLst>
              <p:tags r:id="rId6"/>
            </p:custDataLst>
          </p:nvPr>
        </p:nvSpPr>
        <p:spPr>
          <a:xfrm>
            <a:off x="6492240" y="2155952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4CE6A5"/>
          </a:solidFill>
          <a:ln w="12700">
            <a:solidFill>
              <a:srgbClr val="4CE6A5"/>
            </a:solidFill>
            <a:prstDash val="solid"/>
          </a:ln>
        </p:spPr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6492240" y="2219960"/>
            <a:ext cx="18288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Should 应完成</a:t>
            </a:r>
          </a:p>
        </p:txBody>
      </p:sp>
      <p:sp>
        <p:nvSpPr>
          <p:cNvPr id="16" name="Text 12"/>
          <p:cNvSpPr/>
          <p:nvPr>
            <p:custDataLst>
              <p:tags r:id="rId8"/>
            </p:custDataLst>
          </p:nvPr>
        </p:nvSpPr>
        <p:spPr>
          <a:xfrm>
            <a:off x="6583680" y="2631440"/>
            <a:ext cx="4343400" cy="8412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b="1" dirty="0">
                <a:solidFill>
                  <a:srgbClr val="4CE6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主备链路 Cost 控制
</a:t>
            </a:r>
            <a:r>
              <a:rPr lang="en-US" b="1" dirty="0">
                <a:solidFill>
                  <a:srgbClr val="4CE6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主链路故障切换测试
</a:t>
            </a:r>
            <a:r>
              <a:rPr lang="en-US" b="1" dirty="0">
                <a:solidFill>
                  <a:srgbClr val="4CE6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无线终端接入测试
</a:t>
            </a:r>
            <a:r>
              <a:rPr lang="en-US" b="1" dirty="0">
                <a:solidFill>
                  <a:srgbClr val="4CE6A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配置与文档一致性校验</a:t>
            </a:r>
          </a:p>
        </p:txBody>
      </p:sp>
      <p:sp>
        <p:nvSpPr>
          <p:cNvPr id="17" name="Shape 13"/>
          <p:cNvSpPr/>
          <p:nvPr>
            <p:custDataLst>
              <p:tags r:id="rId9"/>
            </p:custDataLst>
          </p:nvPr>
        </p:nvSpPr>
        <p:spPr>
          <a:xfrm>
            <a:off x="777240" y="441452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204ACF">
              <a:alpha val="85000"/>
            </a:srgbClr>
          </a:solidFill>
          <a:ln w="12700">
            <a:solidFill>
              <a:srgbClr val="FFBA62">
                <a:alpha val="70000"/>
              </a:srgbClr>
            </a:solidFill>
            <a:prstDash val="solid"/>
          </a:ln>
        </p:spPr>
      </p:sp>
      <p:sp>
        <p:nvSpPr>
          <p:cNvPr id="18" name="Shape 14"/>
          <p:cNvSpPr/>
          <p:nvPr>
            <p:custDataLst>
              <p:tags r:id="rId10"/>
            </p:custDataLst>
          </p:nvPr>
        </p:nvSpPr>
        <p:spPr>
          <a:xfrm>
            <a:off x="1005840" y="4579112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FFBA62"/>
          </a:solidFill>
          <a:ln w="12700">
            <a:solidFill>
              <a:srgbClr val="FFBA62"/>
            </a:solidFill>
            <a:prstDash val="solid"/>
          </a:ln>
        </p:spPr>
      </p:sp>
      <p:sp>
        <p:nvSpPr>
          <p:cNvPr id="19" name="Text 15"/>
          <p:cNvSpPr/>
          <p:nvPr>
            <p:custDataLst>
              <p:tags r:id="rId11"/>
            </p:custDataLst>
          </p:nvPr>
        </p:nvSpPr>
        <p:spPr>
          <a:xfrm>
            <a:off x="1005840" y="4643120"/>
            <a:ext cx="1828800" cy="164592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Could 可优化</a:t>
            </a:r>
          </a:p>
        </p:txBody>
      </p:sp>
      <p:sp>
        <p:nvSpPr>
          <p:cNvPr id="20" name="Text 16"/>
          <p:cNvSpPr/>
          <p:nvPr>
            <p:custDataLst>
              <p:tags r:id="rId12"/>
            </p:custDataLst>
          </p:nvPr>
        </p:nvSpPr>
        <p:spPr>
          <a:xfrm>
            <a:off x="1097280" y="5054600"/>
            <a:ext cx="4343400" cy="8412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b="1" dirty="0">
                <a:solidFill>
                  <a:srgbClr val="FFB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补充更多测试截图
</a:t>
            </a:r>
            <a:r>
              <a:rPr lang="en-US" b="1" dirty="0">
                <a:solidFill>
                  <a:srgbClr val="FFB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完善端口规划图
</a:t>
            </a:r>
            <a:r>
              <a:rPr lang="en-US" b="1" dirty="0">
                <a:solidFill>
                  <a:srgbClr val="FFB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增加运维说明
</a:t>
            </a:r>
            <a:r>
              <a:rPr lang="en-US" b="1" dirty="0">
                <a:solidFill>
                  <a:srgbClr val="FFBA6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 PPT 展示</a:t>
            </a:r>
          </a:p>
        </p:txBody>
      </p:sp>
      <p:sp>
        <p:nvSpPr>
          <p:cNvPr id="21" name="Shape 17"/>
          <p:cNvSpPr/>
          <p:nvPr>
            <p:custDataLst>
              <p:tags r:id="rId13"/>
            </p:custDataLst>
          </p:nvPr>
        </p:nvSpPr>
        <p:spPr>
          <a:xfrm>
            <a:off x="6263640" y="4414520"/>
            <a:ext cx="4937760" cy="1828800"/>
          </a:xfrm>
          <a:prstGeom prst="roundRect">
            <a:avLst>
              <a:gd name="adj" fmla="val 6000"/>
            </a:avLst>
          </a:prstGeom>
          <a:solidFill>
            <a:srgbClr val="204ACF">
              <a:alpha val="85000"/>
            </a:srgbClr>
          </a:solidFill>
          <a:ln w="12700">
            <a:solidFill>
              <a:srgbClr val="FF6C8F">
                <a:alpha val="70000"/>
              </a:srgbClr>
            </a:solidFill>
            <a:prstDash val="solid"/>
          </a:ln>
        </p:spPr>
      </p:sp>
      <p:sp>
        <p:nvSpPr>
          <p:cNvPr id="22" name="Shape 18"/>
          <p:cNvSpPr/>
          <p:nvPr>
            <p:custDataLst>
              <p:tags r:id="rId14"/>
            </p:custDataLst>
          </p:nvPr>
        </p:nvSpPr>
        <p:spPr>
          <a:xfrm>
            <a:off x="6492240" y="4579112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FF6C8F"/>
          </a:solidFill>
          <a:ln w="12700">
            <a:solidFill>
              <a:srgbClr val="FF6C8F"/>
            </a:solidFill>
            <a:prstDash val="solid"/>
          </a:ln>
        </p:spPr>
      </p:sp>
      <p:sp>
        <p:nvSpPr>
          <p:cNvPr id="23" name="Text 19"/>
          <p:cNvSpPr/>
          <p:nvPr>
            <p:custDataLst>
              <p:tags r:id="rId15"/>
            </p:custDataLst>
          </p:nvPr>
        </p:nvSpPr>
        <p:spPr>
          <a:xfrm>
            <a:off x="6400800" y="4650740"/>
            <a:ext cx="1991360" cy="164465"/>
          </a:xfrm>
          <a:prstGeom prst="rect">
            <a:avLst/>
          </a:prstGeom>
          <a:noFill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Won’t 暂不纳入</a:t>
            </a:r>
          </a:p>
        </p:txBody>
      </p:sp>
      <p:sp>
        <p:nvSpPr>
          <p:cNvPr id="24" name="Text 20"/>
          <p:cNvSpPr/>
          <p:nvPr>
            <p:custDataLst>
              <p:tags r:id="rId16"/>
            </p:custDataLst>
          </p:nvPr>
        </p:nvSpPr>
        <p:spPr>
          <a:xfrm>
            <a:off x="6583680" y="5054600"/>
            <a:ext cx="4343400" cy="8412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>
              <a:lnSpc>
                <a:spcPct val="93000"/>
              </a:lnSpc>
              <a:buNone/>
            </a:pPr>
            <a:r>
              <a:rPr lang="en-US" b="1" dirty="0">
                <a:solidFill>
                  <a:srgbClr val="FF6C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真实物理设备部署
</a:t>
            </a:r>
            <a:r>
              <a:rPr lang="en-US" b="1" dirty="0">
                <a:solidFill>
                  <a:srgbClr val="FF6C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企业级安全策略
</a:t>
            </a:r>
            <a:r>
              <a:rPr lang="en-US" b="1" dirty="0">
                <a:solidFill>
                  <a:srgbClr val="FF6C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复杂网络监控系统
</a:t>
            </a:r>
            <a:r>
              <a:rPr lang="en-US" b="1" dirty="0">
                <a:solidFill>
                  <a:srgbClr val="FF6C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● </a:t>
            </a: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IPv6 迁移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00" y="1325990"/>
            <a:ext cx="1097223" cy="68135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4200" b="1">
                <a:solidFill>
                  <a:srgbClr val="2BCFFF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74421" y="1389994"/>
            <a:ext cx="8137736" cy="55816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pitchFamily="34" charset="-122"/>
              </a:rPr>
              <a:t>项目目标、范围与交付管理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01853" y="2139763"/>
            <a:ext cx="8046301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把需求转化为目标、范围、进度、责任、风险和验收标准。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480" y="2895600"/>
            <a:ext cx="1787525" cy="31115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9785" y="2927350"/>
            <a:ext cx="169799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SMART目标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070" y="4084296"/>
            <a:ext cx="9966441" cy="877778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376" y="4386032"/>
            <a:ext cx="9326394" cy="2889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50" b="1">
                <a:solidFill>
                  <a:srgbClr val="FFFFFF"/>
                </a:solidFill>
                <a:latin typeface="微软雅黑" panose="020B0503020204020204" pitchFamily="34" charset="-122"/>
              </a:rPr>
              <a:t>讲述主线：如何把项目做成“可按期完成、可验证、可交付”的工程。</a:t>
            </a:r>
          </a:p>
        </p:txBody>
      </p:sp>
      <p:sp>
        <p:nvSpPr>
          <p:cNvPr id="19" name="Rounded Rectangle 4"/>
          <p:cNvSpPr/>
          <p:nvPr/>
        </p:nvSpPr>
        <p:spPr>
          <a:xfrm>
            <a:off x="2767330" y="2912110"/>
            <a:ext cx="1787525" cy="31115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5"/>
          <p:cNvSpPr txBox="1"/>
          <p:nvPr/>
        </p:nvSpPr>
        <p:spPr>
          <a:xfrm>
            <a:off x="2794635" y="2943860"/>
            <a:ext cx="1697990" cy="58928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RACI分工</a:t>
            </a:r>
            <a:endParaRPr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/>
            <a:endParaRPr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Rounded Rectangle 4"/>
          <p:cNvSpPr/>
          <p:nvPr/>
        </p:nvSpPr>
        <p:spPr>
          <a:xfrm>
            <a:off x="4742180" y="2912110"/>
            <a:ext cx="1787525" cy="311150"/>
          </a:xfrm>
          <a:prstGeom prst="roundRect">
            <a:avLst/>
          </a:prstGeom>
          <a:solidFill>
            <a:srgbClr val="27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Box 5"/>
          <p:cNvSpPr txBox="1"/>
          <p:nvPr/>
        </p:nvSpPr>
        <p:spPr>
          <a:xfrm>
            <a:off x="4769485" y="2943860"/>
            <a:ext cx="164338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WBS拆解</a:t>
            </a:r>
            <a:endParaRPr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3" name="Rounded Rectangle 4"/>
          <p:cNvSpPr/>
          <p:nvPr/>
        </p:nvSpPr>
        <p:spPr>
          <a:xfrm>
            <a:off x="6751955" y="2899410"/>
            <a:ext cx="1787525" cy="311150"/>
          </a:xfrm>
          <a:prstGeom prst="roundRect">
            <a:avLst/>
          </a:prstGeom>
          <a:solidFill>
            <a:srgbClr val="27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Box 5"/>
          <p:cNvSpPr txBox="1"/>
          <p:nvPr/>
        </p:nvSpPr>
        <p:spPr>
          <a:xfrm>
            <a:off x="6779260" y="2931160"/>
            <a:ext cx="164338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PDCA验收</a:t>
            </a:r>
            <a:endParaRPr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Rounded Rectangle 4"/>
          <p:cNvSpPr/>
          <p:nvPr/>
        </p:nvSpPr>
        <p:spPr>
          <a:xfrm>
            <a:off x="8775065" y="2895600"/>
            <a:ext cx="1787525" cy="311150"/>
          </a:xfrm>
          <a:prstGeom prst="roundRect">
            <a:avLst/>
          </a:prstGeom>
          <a:solidFill>
            <a:srgbClr val="27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Box 5"/>
          <p:cNvSpPr txBox="1"/>
          <p:nvPr/>
        </p:nvSpPr>
        <p:spPr>
          <a:xfrm>
            <a:off x="8802370" y="2927350"/>
            <a:ext cx="164338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风险矩阵</a:t>
            </a:r>
            <a:endParaRPr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项目目标与成功标准：SMART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848" y="122758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用清晰、可衡量、可实现、相关性强、有时间边界的方式定义项目目标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482" y="1767945"/>
            <a:ext cx="3337386" cy="1600117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39" y="1914241"/>
            <a:ext cx="2999076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S 具体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39" y="2334843"/>
            <a:ext cx="2935071" cy="86233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>
                <a:solidFill>
                  <a:schemeClr val="bg1"/>
                </a:solidFill>
                <a:latin typeface="微软雅黑" panose="020B0503020204020204" pitchFamily="34" charset="-122"/>
              </a:rPr>
              <a:t>完成XX公司北京—燕郊双站点企业网仿真，覆盖部门、无线、服务器和两地互联。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609" y="1767945"/>
            <a:ext cx="3337386" cy="1600117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5766" y="1914241"/>
            <a:ext cx="2999076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M 可衡量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5766" y="2334843"/>
            <a:ext cx="2935071" cy="86233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  <a:buClrTx/>
              <a:buSzTx/>
              <a:buFontTx/>
            </a:pPr>
            <a:r>
              <a:rPr sz="1600" b="0">
                <a:solidFill>
                  <a:schemeClr val="bg1"/>
                </a:solidFill>
                <a:latin typeface="微软雅黑" panose="020B0503020204020204" pitchFamily="34" charset="-122"/>
              </a:rPr>
              <a:t>各VLAN可达；北京/燕郊可访问服务器；OSPF邻居与路由表正常；主备链路切换通过。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7736" y="1767945"/>
            <a:ext cx="3337386" cy="1600117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38894" y="1914241"/>
            <a:ext cx="2999075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A 可实现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8894" y="2334843"/>
            <a:ext cx="2935071" cy="86233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  <a:buClrTx/>
              <a:buSzTx/>
              <a:buFontTx/>
            </a:pPr>
            <a:r>
              <a:rPr sz="1600" b="0">
                <a:solidFill>
                  <a:schemeClr val="bg1"/>
                </a:solidFill>
                <a:latin typeface="微软雅黑" panose="020B0503020204020204" pitchFamily="34" charset="-122"/>
              </a:rPr>
              <a:t>基于Packet Tracer与Cisco 2911/3560/2960设备，功能均可在仿真环境中实现。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658" y="3825238"/>
            <a:ext cx="5138660" cy="1600117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89816" y="3971534"/>
            <a:ext cx="480035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R 相关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2346" y="4586446"/>
            <a:ext cx="4736345" cy="58674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  <a:buClrTx/>
              <a:buSzTx/>
              <a:buFontTx/>
            </a:pPr>
            <a:r>
              <a:rPr sz="1600" b="0">
                <a:solidFill>
                  <a:schemeClr val="bg1"/>
                </a:solidFill>
                <a:latin typeface="微软雅黑" panose="020B0503020204020204" pitchFamily="34" charset="-122"/>
              </a:rPr>
              <a:t>方案直接对应实训要求：VLAN、IP规划、路由互通、链路优先级与测试验收。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337" y="3825238"/>
            <a:ext cx="5138660" cy="1600117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77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84495" y="3971534"/>
            <a:ext cx="4800350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T 时限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495" y="4524216"/>
            <a:ext cx="4736345" cy="58674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>
              <a:lnSpc>
                <a:spcPct val="112000"/>
              </a:lnSpc>
              <a:buClrTx/>
              <a:buSzTx/>
              <a:buFontTx/>
            </a:pPr>
            <a:r>
              <a:rPr sz="1600" b="0">
                <a:solidFill>
                  <a:schemeClr val="bg1"/>
                </a:solidFill>
                <a:latin typeface="微软雅黑" panose="020B0503020204020204" pitchFamily="34" charset="-122"/>
              </a:rPr>
              <a:t>按“需求—方案—配置—测试—文档—汇报”的阶段节奏完成并提交资料。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17" y="6001396"/>
            <a:ext cx="10606488" cy="502894"/>
          </a:xfrm>
          <a:prstGeom prst="roundRect">
            <a:avLst/>
          </a:prstGeom>
          <a:solidFill>
            <a:srgbClr val="1269AA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788" y="6120260"/>
            <a:ext cx="10240747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成功判断：不是“配置完成”即可，而是“需求被覆盖、测试能通过、文档可追溯、异常可恢复”。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项目范围与交付物：WBS 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778" y="127838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将项目从一个大任务拆分成可分工、可检查、可交付的成果包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36345" y="1851765"/>
            <a:ext cx="2697340" cy="658334"/>
          </a:xfrm>
          <a:prstGeom prst="roundRect">
            <a:avLst/>
          </a:prstGeom>
          <a:solidFill>
            <a:srgbClr val="1282C8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772919" y="1904579"/>
            <a:ext cx="2624191" cy="58928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XX公司企业网</a:t>
            </a:r>
          </a:p>
          <a:p>
            <a:pPr algn="ctr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规划与配置项目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782987" y="2510098"/>
            <a:ext cx="4297456" cy="603473"/>
          </a:xfrm>
          <a:prstGeom prst="line">
            <a:avLst/>
          </a:prstGeom>
          <a:ln w="19050">
            <a:solidFill>
              <a:srgbClr val="277E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482" y="3131858"/>
            <a:ext cx="2103010" cy="2651622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6065" y="3323872"/>
            <a:ext cx="1782987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1.需求与方案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39" y="3707900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01" y="3790192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39" y="4146789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01" y="4229081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设备选型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39" y="458567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7501" y="4667970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总体拓扑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39" y="502456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87501" y="5106859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实施方案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4663197" y="2510098"/>
            <a:ext cx="1417246" cy="603473"/>
          </a:xfrm>
          <a:prstGeom prst="line">
            <a:avLst/>
          </a:prstGeom>
          <a:ln w="19050">
            <a:solidFill>
              <a:srgbClr val="277E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11692" y="3131858"/>
            <a:ext cx="2103010" cy="2651622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76275" y="3323872"/>
            <a:ext cx="1782987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2.配置实施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12849" y="3707900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67711" y="3790192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VLAN/Trunk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12849" y="4146789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867711" y="4229081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SVI网关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12849" y="458567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867711" y="4667970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OSPF路由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12849" y="502456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867711" y="5106859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主备链路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80443" y="2510098"/>
            <a:ext cx="1462964" cy="603473"/>
          </a:xfrm>
          <a:prstGeom prst="line">
            <a:avLst/>
          </a:prstGeom>
          <a:ln w="19050">
            <a:solidFill>
              <a:srgbClr val="277E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491902" y="3131858"/>
            <a:ext cx="2103010" cy="2651622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656484" y="3323872"/>
            <a:ext cx="1782987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3.测试验收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93058" y="3707900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747921" y="3790192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连通性测试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93058" y="4146789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747921" y="4229081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服务器访问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058" y="458567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47921" y="4667970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链路切换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3058" y="502456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747921" y="5106859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验收测试表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0443" y="2510098"/>
            <a:ext cx="4343174" cy="603473"/>
          </a:xfrm>
          <a:prstGeom prst="line">
            <a:avLst/>
          </a:prstGeom>
          <a:ln w="19050">
            <a:solidFill>
              <a:srgbClr val="277EFF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372112" y="3131858"/>
            <a:ext cx="2103010" cy="2651622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536695" y="3323872"/>
            <a:ext cx="1782987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4.文档交付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73269" y="3707900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28131" y="3790192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地址规划表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573269" y="4146789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628131" y="4229081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路由配置说明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73269" y="458567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628131" y="4667970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故障记录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573269" y="5024568"/>
            <a:ext cx="1700695" cy="347454"/>
          </a:xfrm>
          <a:prstGeom prst="roundRect">
            <a:avLst/>
          </a:prstGeom>
          <a:solidFill>
            <a:srgbClr val="1D4AB4"/>
          </a:solidFill>
          <a:ln w="15240">
            <a:solidFill>
              <a:srgbClr val="3A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628131" y="5106859"/>
            <a:ext cx="1590973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汇报PPT/报告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04" y="6268087"/>
            <a:ext cx="10423617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1">
                <a:solidFill>
                  <a:schemeClr val="bg1"/>
                </a:solidFill>
                <a:latin typeface="微软雅黑" panose="020B0503020204020204" pitchFamily="34" charset="-122"/>
              </a:rPr>
              <a:t>项目经理控制点：范围清单明确后，后续进度、分工、风险和验收都围绕交付物展开。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5" name="Rounded Rectangle 5"/>
          <p:cNvSpPr/>
          <p:nvPr/>
        </p:nvSpPr>
        <p:spPr>
          <a:xfrm>
            <a:off x="386080" y="1567815"/>
            <a:ext cx="11433175" cy="5085715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Image 1" descr="/mnt/data/template_extract/ppt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603504"/>
            <a:ext cx="411480" cy="2560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530352"/>
            <a:ext cx="512064" cy="320040"/>
          </a:xfrm>
          <a:prstGeom prst="roundRect">
            <a:avLst>
              <a:gd name="adj" fmla="val 22857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580644"/>
            <a:ext cx="512064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517904" y="475488"/>
            <a:ext cx="896112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 fontScale="975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项目进度管理：阶段计划与里程碑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918210" y="981583"/>
            <a:ext cx="9966960" cy="0"/>
          </a:xfrm>
          <a:prstGeom prst="line">
            <a:avLst/>
          </a:prstGeom>
          <a:noFill/>
          <a:ln w="19050">
            <a:solidFill>
              <a:srgbClr val="32D7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8210" y="1144524"/>
            <a:ext cx="9966960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采用“阶段推进 + 里程碑检查”的方式控制项目进度</a:t>
            </a:r>
          </a:p>
        </p:txBody>
      </p:sp>
      <p:sp>
        <p:nvSpPr>
          <p:cNvPr id="9" name="Shape 5"/>
          <p:cNvSpPr/>
          <p:nvPr/>
        </p:nvSpPr>
        <p:spPr>
          <a:xfrm>
            <a:off x="3105150" y="1950720"/>
            <a:ext cx="635" cy="4526280"/>
          </a:xfrm>
          <a:prstGeom prst="line">
            <a:avLst/>
          </a:prstGeom>
          <a:noFill/>
          <a:ln w="10160">
            <a:solidFill>
              <a:srgbClr val="8AAEFF">
                <a:alpha val="55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92145" y="1689100"/>
            <a:ext cx="446405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D1</a:t>
            </a:r>
          </a:p>
        </p:txBody>
      </p:sp>
      <p:sp>
        <p:nvSpPr>
          <p:cNvPr id="11" name="Shape 7"/>
          <p:cNvSpPr/>
          <p:nvPr/>
        </p:nvSpPr>
        <p:spPr>
          <a:xfrm>
            <a:off x="4708525" y="1963420"/>
            <a:ext cx="635" cy="4526280"/>
          </a:xfrm>
          <a:prstGeom prst="line">
            <a:avLst/>
          </a:prstGeom>
          <a:noFill/>
          <a:ln w="10160">
            <a:solidFill>
              <a:srgbClr val="8AAEFF">
                <a:alpha val="55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65040" y="1689100"/>
            <a:ext cx="446405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D2</a:t>
            </a:r>
          </a:p>
        </p:txBody>
      </p:sp>
      <p:sp>
        <p:nvSpPr>
          <p:cNvPr id="13" name="Shape 9"/>
          <p:cNvSpPr/>
          <p:nvPr/>
        </p:nvSpPr>
        <p:spPr>
          <a:xfrm>
            <a:off x="6281420" y="1963420"/>
            <a:ext cx="635" cy="4526280"/>
          </a:xfrm>
          <a:prstGeom prst="line">
            <a:avLst/>
          </a:prstGeom>
          <a:noFill/>
          <a:ln w="10160">
            <a:solidFill>
              <a:srgbClr val="8AAEFF">
                <a:alpha val="5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37935" y="1689100"/>
            <a:ext cx="446405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D3</a:t>
            </a:r>
          </a:p>
        </p:txBody>
      </p:sp>
      <p:sp>
        <p:nvSpPr>
          <p:cNvPr id="15" name="Shape 11"/>
          <p:cNvSpPr/>
          <p:nvPr/>
        </p:nvSpPr>
        <p:spPr>
          <a:xfrm>
            <a:off x="7853680" y="1963420"/>
            <a:ext cx="635" cy="4526280"/>
          </a:xfrm>
          <a:prstGeom prst="line">
            <a:avLst/>
          </a:prstGeom>
          <a:noFill/>
          <a:ln w="10160">
            <a:solidFill>
              <a:srgbClr val="8AAEFF">
                <a:alpha val="55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910195" y="1689100"/>
            <a:ext cx="446405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D4</a:t>
            </a:r>
          </a:p>
        </p:txBody>
      </p:sp>
      <p:sp>
        <p:nvSpPr>
          <p:cNvPr id="17" name="Shape 13"/>
          <p:cNvSpPr/>
          <p:nvPr/>
        </p:nvSpPr>
        <p:spPr>
          <a:xfrm>
            <a:off x="9426575" y="1963420"/>
            <a:ext cx="635" cy="4526280"/>
          </a:xfrm>
          <a:prstGeom prst="line">
            <a:avLst/>
          </a:prstGeom>
          <a:noFill/>
          <a:ln w="10160">
            <a:solidFill>
              <a:srgbClr val="8AAEFF">
                <a:alpha val="5500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483090" y="1689100"/>
            <a:ext cx="446405" cy="18288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D5</a:t>
            </a:r>
          </a:p>
        </p:txBody>
      </p:sp>
      <p:sp>
        <p:nvSpPr>
          <p:cNvPr id="19" name="Text 15"/>
          <p:cNvSpPr/>
          <p:nvPr/>
        </p:nvSpPr>
        <p:spPr>
          <a:xfrm>
            <a:off x="653415" y="2275205"/>
            <a:ext cx="1071245" cy="20129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需求分析</a:t>
            </a:r>
          </a:p>
        </p:txBody>
      </p:sp>
      <p:sp>
        <p:nvSpPr>
          <p:cNvPr id="20" name="Text 16"/>
          <p:cNvSpPr/>
          <p:nvPr/>
        </p:nvSpPr>
        <p:spPr>
          <a:xfrm>
            <a:off x="1457960" y="2182495"/>
            <a:ext cx="1734820" cy="219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明确部门、业务、服务器、互联与验收需求</a:t>
            </a:r>
          </a:p>
        </p:txBody>
      </p:sp>
      <p:sp>
        <p:nvSpPr>
          <p:cNvPr id="21" name="Shape 17"/>
          <p:cNvSpPr/>
          <p:nvPr/>
        </p:nvSpPr>
        <p:spPr>
          <a:xfrm>
            <a:off x="3171190" y="2164715"/>
            <a:ext cx="1458595" cy="311150"/>
          </a:xfrm>
          <a:prstGeom prst="roundRect">
            <a:avLst>
              <a:gd name="adj" fmla="val 23529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53415" y="2805430"/>
            <a:ext cx="1071245" cy="20129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方案设计</a:t>
            </a:r>
          </a:p>
        </p:txBody>
      </p:sp>
      <p:sp>
        <p:nvSpPr>
          <p:cNvPr id="23" name="Text 19"/>
          <p:cNvSpPr/>
          <p:nvPr/>
        </p:nvSpPr>
        <p:spPr>
          <a:xfrm>
            <a:off x="1496060" y="2713355"/>
            <a:ext cx="1609725" cy="219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拓扑、设备、VLAN、IP、OSPF 与主备链路规划</a:t>
            </a:r>
          </a:p>
        </p:txBody>
      </p:sp>
      <p:sp>
        <p:nvSpPr>
          <p:cNvPr id="24" name="Shape 20"/>
          <p:cNvSpPr/>
          <p:nvPr/>
        </p:nvSpPr>
        <p:spPr>
          <a:xfrm>
            <a:off x="4588510" y="2694940"/>
            <a:ext cx="1535430" cy="311150"/>
          </a:xfrm>
          <a:prstGeom prst="roundRect">
            <a:avLst>
              <a:gd name="adj" fmla="val 23529"/>
            </a:avLst>
          </a:prstGeom>
          <a:solidFill>
            <a:srgbClr val="2E80FF"/>
          </a:solidFill>
          <a:ln w="12700">
            <a:solidFill>
              <a:srgbClr val="2E80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53415" y="3336290"/>
            <a:ext cx="1071245" cy="20129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环境搭建</a:t>
            </a:r>
          </a:p>
        </p:txBody>
      </p:sp>
      <p:sp>
        <p:nvSpPr>
          <p:cNvPr id="26" name="Text 22"/>
          <p:cNvSpPr/>
          <p:nvPr/>
        </p:nvSpPr>
        <p:spPr>
          <a:xfrm>
            <a:off x="1479550" y="3317875"/>
            <a:ext cx="1602740" cy="219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Packet Tracer 设备部署、连线、命名</a:t>
            </a:r>
          </a:p>
        </p:txBody>
      </p:sp>
      <p:sp>
        <p:nvSpPr>
          <p:cNvPr id="27" name="Shape 23"/>
          <p:cNvSpPr/>
          <p:nvPr/>
        </p:nvSpPr>
        <p:spPr>
          <a:xfrm>
            <a:off x="5910580" y="3225165"/>
            <a:ext cx="952500" cy="311150"/>
          </a:xfrm>
          <a:prstGeom prst="roundRect">
            <a:avLst>
              <a:gd name="adj" fmla="val 23529"/>
            </a:avLst>
          </a:prstGeom>
          <a:solidFill>
            <a:srgbClr val="4CE6A5"/>
          </a:solidFill>
          <a:ln w="12700">
            <a:solidFill>
              <a:srgbClr val="4CE6A5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53415" y="3866515"/>
            <a:ext cx="1071245" cy="20129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配置实施</a:t>
            </a:r>
          </a:p>
        </p:txBody>
      </p:sp>
      <p:sp>
        <p:nvSpPr>
          <p:cNvPr id="29" name="Text 25"/>
          <p:cNvSpPr/>
          <p:nvPr/>
        </p:nvSpPr>
        <p:spPr>
          <a:xfrm>
            <a:off x="1479550" y="3815080"/>
            <a:ext cx="1579880" cy="219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VLAN/Trunk/SVI/OSPF/服务器/无线/Cost</a:t>
            </a:r>
          </a:p>
        </p:txBody>
      </p:sp>
      <p:sp>
        <p:nvSpPr>
          <p:cNvPr id="30" name="Shape 26"/>
          <p:cNvSpPr/>
          <p:nvPr/>
        </p:nvSpPr>
        <p:spPr>
          <a:xfrm>
            <a:off x="6881495" y="3755390"/>
            <a:ext cx="2073275" cy="311150"/>
          </a:xfrm>
          <a:prstGeom prst="roundRect">
            <a:avLst>
              <a:gd name="adj" fmla="val 23529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53415" y="4396740"/>
            <a:ext cx="1071245" cy="20129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测试验证</a:t>
            </a:r>
          </a:p>
        </p:txBody>
      </p:sp>
      <p:sp>
        <p:nvSpPr>
          <p:cNvPr id="32" name="Text 28"/>
          <p:cNvSpPr/>
          <p:nvPr/>
        </p:nvSpPr>
        <p:spPr>
          <a:xfrm>
            <a:off x="1479550" y="4378325"/>
            <a:ext cx="1579880" cy="219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连通性、路由表、主备链路切换与回切</a:t>
            </a:r>
          </a:p>
        </p:txBody>
      </p:sp>
      <p:sp>
        <p:nvSpPr>
          <p:cNvPr id="33" name="Shape 29"/>
          <p:cNvSpPr/>
          <p:nvPr/>
        </p:nvSpPr>
        <p:spPr>
          <a:xfrm>
            <a:off x="8291830" y="4285615"/>
            <a:ext cx="1842770" cy="311150"/>
          </a:xfrm>
          <a:prstGeom prst="roundRect">
            <a:avLst>
              <a:gd name="adj" fmla="val 23529"/>
            </a:avLst>
          </a:prstGeom>
          <a:solidFill>
            <a:srgbClr val="FFBA62"/>
          </a:solidFill>
          <a:ln w="12700">
            <a:solidFill>
              <a:srgbClr val="FFBA62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53415" y="4926965"/>
            <a:ext cx="1071245" cy="20129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文档移交</a:t>
            </a:r>
          </a:p>
        </p:txBody>
      </p:sp>
      <p:sp>
        <p:nvSpPr>
          <p:cNvPr id="35" name="Text 31"/>
          <p:cNvSpPr/>
          <p:nvPr/>
        </p:nvSpPr>
        <p:spPr>
          <a:xfrm>
            <a:off x="1479550" y="4908550"/>
            <a:ext cx="1602740" cy="21971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地址规划表、验收表、故障记录、报告PPT</a:t>
            </a:r>
          </a:p>
        </p:txBody>
      </p:sp>
      <p:sp>
        <p:nvSpPr>
          <p:cNvPr id="36" name="Shape 32"/>
          <p:cNvSpPr/>
          <p:nvPr/>
        </p:nvSpPr>
        <p:spPr>
          <a:xfrm>
            <a:off x="9700260" y="4816475"/>
            <a:ext cx="1535430" cy="311150"/>
          </a:xfrm>
          <a:prstGeom prst="roundRect">
            <a:avLst>
              <a:gd name="adj" fmla="val 23529"/>
            </a:avLst>
          </a:prstGeom>
          <a:solidFill>
            <a:srgbClr val="2E80FF"/>
          </a:solidFill>
          <a:ln w="12700">
            <a:solidFill>
              <a:srgbClr val="2E80F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5892165" y="6077585"/>
            <a:ext cx="196850" cy="201295"/>
          </a:xfrm>
          <a:prstGeom prst="ellipse">
            <a:avLst/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588000" y="6324600"/>
            <a:ext cx="848360" cy="1644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方案冻结</a:t>
            </a:r>
          </a:p>
        </p:txBody>
      </p:sp>
      <p:sp>
        <p:nvSpPr>
          <p:cNvPr id="39" name="Shape 35"/>
          <p:cNvSpPr/>
          <p:nvPr/>
        </p:nvSpPr>
        <p:spPr>
          <a:xfrm>
            <a:off x="7622540" y="6077585"/>
            <a:ext cx="196850" cy="201295"/>
          </a:xfrm>
          <a:prstGeom prst="ellipse">
            <a:avLst/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318375" y="6324600"/>
            <a:ext cx="848360" cy="1644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配置完成</a:t>
            </a:r>
          </a:p>
        </p:txBody>
      </p:sp>
      <p:sp>
        <p:nvSpPr>
          <p:cNvPr id="41" name="Shape 37"/>
          <p:cNvSpPr/>
          <p:nvPr/>
        </p:nvSpPr>
        <p:spPr>
          <a:xfrm>
            <a:off x="9509760" y="6077585"/>
            <a:ext cx="196850" cy="201295"/>
          </a:xfrm>
          <a:prstGeom prst="ellipse">
            <a:avLst/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205595" y="6324600"/>
            <a:ext cx="848360" cy="1644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验收通过</a:t>
            </a:r>
          </a:p>
        </p:txBody>
      </p:sp>
      <p:sp>
        <p:nvSpPr>
          <p:cNvPr id="43" name="Shape 39"/>
          <p:cNvSpPr/>
          <p:nvPr/>
        </p:nvSpPr>
        <p:spPr>
          <a:xfrm>
            <a:off x="10767695" y="6077585"/>
            <a:ext cx="196850" cy="201295"/>
          </a:xfrm>
          <a:prstGeom prst="ellipse">
            <a:avLst/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10463530" y="6324600"/>
            <a:ext cx="848360" cy="164465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400" dirty="0">
                <a:solidFill>
                  <a:srgbClr val="BFD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资料提交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项目组织与职责：RACI 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6008" y="114884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明确谁负责执行、谁最终负责、谁提供咨询、谁需要知会，避免责任模糊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764" y="1645269"/>
          <a:ext cx="10286365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9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50C46"/>
                          </a:solidFill>
                          <a:latin typeface="微软雅黑" panose="020B0503020204020204" pitchFamily="34" charset="-122"/>
                        </a:rPr>
                        <a:t>任务/角色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50C46"/>
                          </a:solidFill>
                          <a:latin typeface="微软雅黑" panose="020B0503020204020204" pitchFamily="34" charset="-122"/>
                        </a:rPr>
                        <a:t>项目经理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50C46"/>
                          </a:solidFill>
                          <a:latin typeface="微软雅黑" panose="020B0503020204020204" pitchFamily="34" charset="-122"/>
                        </a:rPr>
                        <a:t>售前技术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50C46"/>
                          </a:solidFill>
                          <a:latin typeface="微软雅黑" panose="020B0503020204020204" pitchFamily="34" charset="-122"/>
                        </a:rPr>
                        <a:t>实施工程师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50C46"/>
                          </a:solidFill>
                          <a:latin typeface="微软雅黑" panose="020B0503020204020204" pitchFamily="34" charset="-122"/>
                        </a:rPr>
                        <a:t>售后技术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50C46"/>
                          </a:solidFill>
                          <a:latin typeface="微软雅黑" panose="020B0503020204020204" pitchFamily="34" charset="-122"/>
                        </a:rPr>
                        <a:t>质量负责人</a:t>
                      </a:r>
                    </a:p>
                  </a:txBody>
                  <a:tcPr marL="91435" marR="91435" marT="45717" marB="45717" anchor="ctr">
                    <a:solidFill>
                      <a:srgbClr val="2BC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需求分析与确认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方案与范围定义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A/R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拓扑与配置实施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A/R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测试与问题反馈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I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R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A/R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验收标准制定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R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文档汇总与提交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A/R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R</a:t>
                      </a:r>
                    </a:p>
                  </a:txBody>
                  <a:tcPr marL="91435" marR="91435" marT="45717" marB="45717" anchor="ctr">
                    <a:solidFill>
                      <a:srgbClr val="183F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578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汇报与成果展示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A/R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</a:p>
                  </a:txBody>
                  <a:tcPr marL="91435" marR="91435" marT="45717" marB="45717" anchor="ctr">
                    <a:solidFill>
                      <a:srgbClr val="152F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9240" y="6324976"/>
            <a:ext cx="10560770" cy="411459"/>
          </a:xfrm>
          <a:prstGeom prst="roundRect">
            <a:avLst/>
          </a:prstGeom>
          <a:solidFill>
            <a:srgbClr val="1E55D2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6393" y="6395200"/>
            <a:ext cx="10240747" cy="28130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 panose="020B0503020204020204" pitchFamily="34" charset="-122"/>
              </a:rPr>
              <a:t>R=执行负责｜A=最终负责｜C=提供咨询｜I=知会。项目经理重点控制目标、进度、质量和交付材料闭环。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7592e89-b1f7-4d52-b6b1-3a66f710108b"/>
          <p:cNvGrpSpPr/>
          <p:nvPr>
            <p:custDataLst>
              <p:tags r:id="rId1"/>
            </p:custDataLst>
          </p:nvPr>
        </p:nvGrpSpPr>
        <p:grpSpPr>
          <a:xfrm>
            <a:off x="600676" y="1586359"/>
            <a:ext cx="10857935" cy="4775572"/>
            <a:chOff x="660400" y="1243980"/>
            <a:chExt cx="10858501" cy="477582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796259" y="2200109"/>
              <a:ext cx="2009647" cy="3819692"/>
            </a:xfrm>
            <a:prstGeom prst="flowChartOffpageConnector">
              <a:avLst/>
            </a:prstGeom>
            <a:solidFill>
              <a:srgbClr val="000000">
                <a:alpha val="100000"/>
              </a:srgbClr>
            </a:solidFill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732760" y="2368962"/>
              <a:ext cx="2013483" cy="2345183"/>
              <a:chOff x="732760" y="2368962"/>
              <a:chExt cx="2013483" cy="2345183"/>
            </a:xfrm>
          </p:grpSpPr>
          <p:sp>
            <p:nvSpPr>
              <p:cNvPr id="5" name="TextBox 5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930340" y="2620106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项目经理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930343" y="3516138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负责项目过程的标准化、规范化；项目的总体规划与阶段计划；设置项目组中的各种角色，并分配好各角色的责任与权限；全面负责项目的质量管理、进度管理、成本控制等。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732760" y="2368962"/>
                <a:ext cx="1815904" cy="572508"/>
              </a:xfrm>
              <a:prstGeom prst="homePlate">
                <a:avLst/>
              </a:prstGeom>
              <a:gradFill>
                <a:gsLst>
                  <a:gs pos="0">
                    <a:srgbClr val="2373F3">
                      <a:alpha val="100000"/>
                      <a:lumMod val="60000"/>
                      <a:lumOff val="40000"/>
                    </a:srgbClr>
                  </a:gs>
                  <a:gs pos="75000">
                    <a:srgbClr val="2373F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8" name="AutoShape 8"/>
            <p:cNvSpPr/>
            <p:nvPr>
              <p:custDataLst>
                <p:tags r:id="rId3"/>
              </p:custDataLst>
            </p:nvPr>
          </p:nvSpPr>
          <p:spPr>
            <a:xfrm>
              <a:off x="2975030" y="2200109"/>
              <a:ext cx="2009646" cy="3819692"/>
            </a:xfrm>
            <a:prstGeom prst="flowChartOffpageConnector">
              <a:avLst/>
            </a:prstGeom>
            <a:solidFill>
              <a:srgbClr val="000000">
                <a:alpha val="100000"/>
              </a:srgbClr>
            </a:solidFill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2896079" y="2368962"/>
              <a:ext cx="2028934" cy="2345183"/>
              <a:chOff x="2896079" y="2368962"/>
              <a:chExt cx="2028934" cy="2345183"/>
            </a:xfrm>
          </p:grpSpPr>
          <p:sp>
            <p:nvSpPr>
              <p:cNvPr id="10" name="TextBox 1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109113" y="2620106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售前技术支持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3109113" y="3516138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进行项目前需求调查工作，项目可行性分析；解答客户提出的技术问题；根据需求制定完整解决方案，并进行方案演示和需求沟通。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2896079" y="2368962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1AAAFF">
                      <a:alpha val="100000"/>
                      <a:lumMod val="60000"/>
                      <a:lumOff val="40000"/>
                    </a:srgbClr>
                  </a:gs>
                  <a:gs pos="75000">
                    <a:srgbClr val="1AAA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3" name="AutoShape 13"/>
            <p:cNvSpPr/>
            <p:nvPr>
              <p:custDataLst>
                <p:tags r:id="rId4"/>
              </p:custDataLst>
            </p:nvPr>
          </p:nvSpPr>
          <p:spPr>
            <a:xfrm>
              <a:off x="5153802" y="2200109"/>
              <a:ext cx="2009646" cy="3819692"/>
            </a:xfrm>
            <a:prstGeom prst="flowChartOffpageConnector">
              <a:avLst/>
            </a:prstGeom>
            <a:solidFill>
              <a:srgbClr val="000000">
                <a:alpha val="100000"/>
              </a:srgbClr>
            </a:solidFill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5074851" y="2368960"/>
              <a:ext cx="2028934" cy="2345183"/>
              <a:chOff x="5074851" y="2368960"/>
              <a:chExt cx="2028934" cy="2345183"/>
            </a:xfrm>
          </p:grpSpPr>
          <p:sp>
            <p:nvSpPr>
              <p:cNvPr id="15" name="TextBox 1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5287885" y="2620104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售后技术支持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5287885" y="3516136"/>
                <a:ext cx="1815900" cy="119800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负责项目售后产品/服务日常维护，为客户提供技术支持。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5074851" y="2368960"/>
                <a:ext cx="1815902" cy="572508"/>
              </a:xfrm>
              <a:prstGeom prst="homePlate">
                <a:avLst/>
              </a:prstGeom>
              <a:gradFill>
                <a:gsLst>
                  <a:gs pos="0">
                    <a:srgbClr val="37C6FF">
                      <a:alpha val="100000"/>
                      <a:lumMod val="60000"/>
                      <a:lumOff val="40000"/>
                    </a:srgbClr>
                  </a:gs>
                  <a:gs pos="75000">
                    <a:srgbClr val="37C6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8" name="AutoShape 18"/>
            <p:cNvSpPr/>
            <p:nvPr>
              <p:custDataLst>
                <p:tags r:id="rId5"/>
              </p:custDataLst>
            </p:nvPr>
          </p:nvSpPr>
          <p:spPr>
            <a:xfrm>
              <a:off x="7330483" y="2200112"/>
              <a:ext cx="2009646" cy="3819688"/>
            </a:xfrm>
            <a:prstGeom prst="flowChartOffpageConnector">
              <a:avLst/>
            </a:prstGeom>
            <a:solidFill>
              <a:srgbClr val="000000">
                <a:alpha val="100000"/>
              </a:srgbClr>
            </a:solidFill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53621" y="2368961"/>
              <a:ext cx="2026845" cy="2345186"/>
              <a:chOff x="7253621" y="2368961"/>
              <a:chExt cx="2026845" cy="2345186"/>
            </a:xfrm>
          </p:grpSpPr>
          <p:sp>
            <p:nvSpPr>
              <p:cNvPr id="20" name="TextBox 20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464566" y="2620108"/>
                <a:ext cx="1815900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质量总监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7464566" y="3516141"/>
                <a:ext cx="1815900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制定项目实施过程相关的流程制度规范，把控项目产品/服务质量。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253621" y="2368961"/>
                <a:ext cx="1811725" cy="572507"/>
              </a:xfrm>
              <a:prstGeom prst="homePlate">
                <a:avLst/>
              </a:prstGeom>
              <a:gradFill>
                <a:gsLst>
                  <a:gs pos="0">
                    <a:srgbClr val="1C77FF">
                      <a:alpha val="100000"/>
                      <a:lumMod val="60000"/>
                      <a:lumOff val="40000"/>
                    </a:srgbClr>
                  </a:gs>
                  <a:gs pos="75000">
                    <a:srgbClr val="1C77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3" name="AutoShape 23"/>
            <p:cNvSpPr/>
            <p:nvPr>
              <p:custDataLst>
                <p:tags r:id="rId6"/>
              </p:custDataLst>
            </p:nvPr>
          </p:nvSpPr>
          <p:spPr>
            <a:xfrm>
              <a:off x="9509255" y="2200112"/>
              <a:ext cx="2009646" cy="3819688"/>
            </a:xfrm>
            <a:prstGeom prst="flowChartOffpageConnector">
              <a:avLst/>
            </a:prstGeom>
            <a:solidFill>
              <a:srgbClr val="000000">
                <a:alpha val="100000"/>
              </a:srgbClr>
            </a:solidFill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430305" y="2368961"/>
              <a:ext cx="2028935" cy="2345186"/>
              <a:chOff x="9430305" y="2368961"/>
              <a:chExt cx="2028935" cy="2345186"/>
            </a:xfrm>
          </p:grpSpPr>
          <p:sp>
            <p:nvSpPr>
              <p:cNvPr id="25" name="TextBox 2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9643339" y="2620108"/>
                <a:ext cx="1815901" cy="8088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b" anchorCtr="0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b="1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项目实施工程师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9643339" y="3516141"/>
                <a:ext cx="1815901" cy="1198006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35" tIns="45717" rIns="91435" bIns="45717" rtlCol="0" anchor="t" anchorCtr="0"/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sz="1200" b="0" i="0" strike="noStrike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制定项目实施方案，完成项目实施具体工作，记录与处理项目实施中遇到的问题。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9430305" y="2368961"/>
                <a:ext cx="1815903" cy="572507"/>
              </a:xfrm>
              <a:prstGeom prst="homePlate">
                <a:avLst/>
              </a:prstGeom>
              <a:gradFill>
                <a:gsLst>
                  <a:gs pos="0">
                    <a:srgbClr val="4D68ED">
                      <a:alpha val="100000"/>
                      <a:lumMod val="60000"/>
                      <a:lumOff val="40000"/>
                    </a:srgbClr>
                  </a:gs>
                  <a:gs pos="75000">
                    <a:srgbClr val="4D68ED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none" lIns="91435" tIns="45717" rIns="91435" bIns="45717" rtlCol="0" anchor="ctr" anchorCtr="0"/>
              <a:lstStyle/>
              <a:p>
                <a:pPr algn="ctr">
                  <a:defRPr/>
                </a:pPr>
                <a:r>
                  <a:rPr lang="en-US" sz="24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60400" y="1243980"/>
              <a:ext cx="10858500" cy="69385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35" tIns="45717" rIns="91435" bIns="45717" rtlCol="0" anchor="ctr" anchorCtr="0"/>
            <a:lstStyle/>
            <a:p>
              <a:pPr algn="ctr">
                <a:defRPr/>
              </a:pPr>
              <a:endParaRPr lang="en-US" sz="1100"/>
            </a:p>
          </p:txBody>
        </p:sp>
      </p:grpSp>
      <p:sp>
        <p:nvSpPr>
          <p:cNvPr id="31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33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项目组织与职责：RACI 矩阵</a:t>
            </a:r>
          </a:p>
        </p:txBody>
      </p:sp>
      <p:sp>
        <p:nvSpPr>
          <p:cNvPr id="34" name="TextBox 4"/>
          <p:cNvSpPr txBox="1"/>
          <p:nvPr/>
        </p:nvSpPr>
        <p:spPr>
          <a:xfrm>
            <a:off x="686008" y="114884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明确谁负责执行、谁最终负责、谁提供咨询、谁需要知会，避免责任模糊</a:t>
            </a:r>
          </a:p>
        </p:txBody>
      </p:sp>
      <p:sp>
        <p:nvSpPr>
          <p:cNvPr id="29" name="Rounded Rectangle 5"/>
          <p:cNvSpPr/>
          <p:nvPr/>
        </p:nvSpPr>
        <p:spPr>
          <a:xfrm>
            <a:off x="976630" y="2009140"/>
            <a:ext cx="1322070" cy="40640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姬梦圆</a:t>
            </a:r>
          </a:p>
        </p:txBody>
      </p:sp>
      <p:sp>
        <p:nvSpPr>
          <p:cNvPr id="30" name="Rounded Rectangle 5"/>
          <p:cNvSpPr/>
          <p:nvPr/>
        </p:nvSpPr>
        <p:spPr>
          <a:xfrm>
            <a:off x="3192780" y="2023745"/>
            <a:ext cx="1322070" cy="40640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王天翼</a:t>
            </a:r>
          </a:p>
        </p:txBody>
      </p:sp>
      <p:sp>
        <p:nvSpPr>
          <p:cNvPr id="35" name="Rounded Rectangle 5"/>
          <p:cNvSpPr/>
          <p:nvPr/>
        </p:nvSpPr>
        <p:spPr>
          <a:xfrm>
            <a:off x="5238115" y="2023745"/>
            <a:ext cx="1322070" cy="40640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鹿一凡</a:t>
            </a:r>
          </a:p>
        </p:txBody>
      </p:sp>
      <p:sp>
        <p:nvSpPr>
          <p:cNvPr id="36" name="Rounded Rectangle 5"/>
          <p:cNvSpPr/>
          <p:nvPr/>
        </p:nvSpPr>
        <p:spPr>
          <a:xfrm>
            <a:off x="7519035" y="2023745"/>
            <a:ext cx="1322070" cy="40640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郭源旭</a:t>
            </a:r>
          </a:p>
        </p:txBody>
      </p:sp>
      <p:sp>
        <p:nvSpPr>
          <p:cNvPr id="37" name="Rounded Rectangle 5"/>
          <p:cNvSpPr/>
          <p:nvPr/>
        </p:nvSpPr>
        <p:spPr>
          <a:xfrm>
            <a:off x="9370060" y="2009140"/>
            <a:ext cx="2121535" cy="406400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张珂铭、闫泓宇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风险与质量控制：风险矩阵 + PDCA闭环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6008" y="1205994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在实施前识别高风险点，在实施中分阶段验证，在验收前完成闭环检查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64" y="1770490"/>
            <a:ext cx="5166091" cy="4434609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39" y="1999078"/>
            <a:ext cx="1828705" cy="29654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</a:rPr>
              <a:t>风险矩阵</a:t>
            </a:r>
          </a:p>
        </p:txBody>
      </p:sp>
      <p:grpSp>
        <p:nvGrpSpPr>
          <p:cNvPr id="48" name="组合 47"/>
          <p:cNvGrpSpPr/>
          <p:nvPr/>
        </p:nvGrpSpPr>
        <p:grpSpPr>
          <a:xfrm>
            <a:off x="963930" y="2646045"/>
            <a:ext cx="4645538" cy="3184214"/>
            <a:chOff x="1518" y="4167"/>
            <a:chExt cx="6381" cy="3954"/>
          </a:xfrm>
        </p:grpSpPr>
        <p:sp>
          <p:nvSpPr>
            <p:cNvPr id="8" name="Rectangle 7"/>
            <p:cNvSpPr/>
            <p:nvPr/>
          </p:nvSpPr>
          <p:spPr>
            <a:xfrm>
              <a:off x="1907" y="6557"/>
              <a:ext cx="1800" cy="1123"/>
            </a:xfrm>
            <a:prstGeom prst="rect">
              <a:avLst/>
            </a:prstGeom>
            <a:solidFill>
              <a:srgbClr val="4BE6A7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3707" y="6557"/>
              <a:ext cx="1800" cy="1123"/>
            </a:xfrm>
            <a:prstGeom prst="rect">
              <a:avLst/>
            </a:prstGeom>
            <a:solidFill>
              <a:srgbClr val="4BE6A7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507" y="6557"/>
              <a:ext cx="1800" cy="1123"/>
            </a:xfrm>
            <a:prstGeom prst="rect">
              <a:avLst/>
            </a:prstGeom>
            <a:solidFill>
              <a:srgbClr val="FFB75C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7" y="5434"/>
              <a:ext cx="1800" cy="1123"/>
            </a:xfrm>
            <a:prstGeom prst="rect">
              <a:avLst/>
            </a:prstGeom>
            <a:solidFill>
              <a:srgbClr val="4BE6A7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07" y="5435"/>
              <a:ext cx="1800" cy="1123"/>
            </a:xfrm>
            <a:prstGeom prst="rect">
              <a:avLst/>
            </a:prstGeom>
            <a:solidFill>
              <a:srgbClr val="FFB75C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507" y="5434"/>
              <a:ext cx="1800" cy="1123"/>
            </a:xfrm>
            <a:prstGeom prst="rect">
              <a:avLst/>
            </a:prstGeom>
            <a:solidFill>
              <a:srgbClr val="FFB75C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7" y="4311"/>
              <a:ext cx="1800" cy="1123"/>
            </a:xfrm>
            <a:prstGeom prst="rect">
              <a:avLst/>
            </a:prstGeom>
            <a:solidFill>
              <a:srgbClr val="FFB75C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707" y="4311"/>
              <a:ext cx="1800" cy="1123"/>
            </a:xfrm>
            <a:prstGeom prst="rect">
              <a:avLst/>
            </a:prstGeom>
            <a:solidFill>
              <a:srgbClr val="FFB75C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507" y="4311"/>
              <a:ext cx="1800" cy="1123"/>
            </a:xfrm>
            <a:prstGeom prst="rect">
              <a:avLst/>
            </a:prstGeom>
            <a:solidFill>
              <a:srgbClr val="FF6384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518" y="4167"/>
              <a:ext cx="432" cy="579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影响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491" y="7810"/>
              <a:ext cx="2880" cy="311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发生概率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4715" y="5607"/>
              <a:ext cx="1944" cy="461"/>
            </a:xfrm>
            <a:prstGeom prst="roundRect">
              <a:avLst/>
            </a:prstGeom>
            <a:solidFill>
              <a:srgbClr val="0A1F62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787" y="5715"/>
              <a:ext cx="1800" cy="311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Trunk未放行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2267" y="5391"/>
              <a:ext cx="1944" cy="461"/>
            </a:xfrm>
            <a:prstGeom prst="roundRect">
              <a:avLst/>
            </a:prstGeom>
            <a:solidFill>
              <a:srgbClr val="0A1F62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339" y="5499"/>
              <a:ext cx="1800" cy="311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SVI未up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5867" y="4700"/>
              <a:ext cx="1944" cy="461"/>
            </a:xfrm>
            <a:prstGeom prst="roundRect">
              <a:avLst/>
            </a:prstGeom>
            <a:solidFill>
              <a:srgbClr val="0A1F62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939" y="4808"/>
              <a:ext cx="1800" cy="311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OSPF邻居异常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578" y="5218"/>
              <a:ext cx="2304" cy="460"/>
            </a:xfrm>
            <a:prstGeom prst="roundRect">
              <a:avLst/>
            </a:prstGeom>
            <a:solidFill>
              <a:srgbClr val="0A1F62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585" y="5326"/>
              <a:ext cx="2314" cy="311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备用链路未入OSPF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3131" y="6327"/>
              <a:ext cx="2208" cy="460"/>
            </a:xfrm>
            <a:prstGeom prst="roundRect">
              <a:avLst/>
            </a:prstGeom>
            <a:solidFill>
              <a:srgbClr val="0A1F62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03" y="6435"/>
              <a:ext cx="2136" cy="311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文档配置不一致</a:t>
              </a:r>
            </a:p>
          </p:txBody>
        </p:sp>
      </p:grpSp>
      <p:sp>
        <p:nvSpPr>
          <p:cNvPr id="29" name="Rounded Rectangle 28"/>
          <p:cNvSpPr/>
          <p:nvPr/>
        </p:nvSpPr>
        <p:spPr>
          <a:xfrm>
            <a:off x="6171879" y="1770490"/>
            <a:ext cx="5303244" cy="4434609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184" y="1999078"/>
            <a:ext cx="2925928" cy="29654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 panose="020B0503020204020204" pitchFamily="34" charset="-122"/>
              </a:rPr>
              <a:t>质量控制闭环（PDCA）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6844500" y="2533077"/>
            <a:ext cx="4173454" cy="2894814"/>
            <a:chOff x="11519" y="4372"/>
            <a:chExt cx="5832" cy="4176"/>
          </a:xfrm>
        </p:grpSpPr>
        <p:sp>
          <p:nvSpPr>
            <p:cNvPr id="31" name="Rounded Rectangle 30"/>
            <p:cNvSpPr/>
            <p:nvPr/>
          </p:nvSpPr>
          <p:spPr>
            <a:xfrm>
              <a:off x="11519" y="4372"/>
              <a:ext cx="2664" cy="1296"/>
            </a:xfrm>
            <a:prstGeom prst="roundRect">
              <a:avLst/>
            </a:prstGeom>
            <a:solidFill>
              <a:srgbClr val="1955BE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1692" y="4545"/>
              <a:ext cx="2304" cy="36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P 计划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721" y="4991"/>
              <a:ext cx="2232" cy="67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E1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地址/VLAN/验收表前置定义</a:t>
              </a:r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14687" y="4372"/>
              <a:ext cx="2664" cy="1296"/>
            </a:xfrm>
            <a:prstGeom prst="roundRect">
              <a:avLst/>
            </a:prstGeom>
            <a:solidFill>
              <a:srgbClr val="1955BE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4860" y="4545"/>
              <a:ext cx="2304" cy="36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 实施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14889" y="4991"/>
              <a:ext cx="2232" cy="67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E1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按模块配置，边做边查</a:t>
              </a:r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14687" y="7252"/>
              <a:ext cx="2664" cy="1296"/>
            </a:xfrm>
            <a:prstGeom prst="roundRect">
              <a:avLst/>
            </a:prstGeom>
            <a:solidFill>
              <a:srgbClr val="1955BE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4860" y="7425"/>
              <a:ext cx="2304" cy="36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C 检查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4889" y="7871"/>
              <a:ext cx="2232" cy="67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E1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邻居、路由、连通性、切换测试</a:t>
              </a:r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11519" y="7252"/>
              <a:ext cx="2664" cy="1296"/>
            </a:xfrm>
            <a:prstGeom prst="roundRect">
              <a:avLst/>
            </a:prstGeom>
            <a:solidFill>
              <a:srgbClr val="1955BE"/>
            </a:solidFill>
            <a:ln w="15240">
              <a:solidFill>
                <a:srgbClr val="2BC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1692" y="7425"/>
              <a:ext cx="2304" cy="36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 改进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1721" y="7871"/>
              <a:ext cx="2232" cy="672"/>
            </a:xfrm>
            <a:prstGeom prst="rect">
              <a:avLst/>
            </a:prstGeom>
            <a:noFill/>
          </p:spPr>
          <p:txBody>
            <a:bodyPr wrap="square" lIns="45717" tIns="18287" rIns="45717" bIns="18287" anchor="t">
              <a:spAutoFit/>
            </a:bodyPr>
            <a:lstStyle/>
            <a:p>
              <a:pPr algn="ctr"/>
              <a:r>
                <a:rPr sz="1400" b="0">
                  <a:solidFill>
                    <a:srgbClr val="E1EB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修正配置，补充记录和截图</a:t>
              </a:r>
            </a:p>
          </p:txBody>
        </p:sp>
        <p:cxnSp>
          <p:nvCxnSpPr>
            <p:cNvPr id="43" name="Connector 42"/>
            <p:cNvCxnSpPr/>
            <p:nvPr/>
          </p:nvCxnSpPr>
          <p:spPr>
            <a:xfrm>
              <a:off x="14183" y="5020"/>
              <a:ext cx="504" cy="0"/>
            </a:xfrm>
            <a:prstGeom prst="line">
              <a:avLst/>
            </a:prstGeom>
            <a:ln w="19050">
              <a:solidFill>
                <a:srgbClr val="2BCFFF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>
              <a:off x="15983" y="5668"/>
              <a:ext cx="0" cy="1584"/>
            </a:xfrm>
            <a:prstGeom prst="line">
              <a:avLst/>
            </a:prstGeom>
            <a:ln w="19050">
              <a:solidFill>
                <a:srgbClr val="2BCFFF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 flipH="1">
              <a:off x="14183" y="7900"/>
              <a:ext cx="360" cy="0"/>
            </a:xfrm>
            <a:prstGeom prst="line">
              <a:avLst/>
            </a:prstGeom>
            <a:ln w="19050">
              <a:solidFill>
                <a:srgbClr val="2BCFFF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V="1">
              <a:off x="12760" y="5689"/>
              <a:ext cx="0" cy="1584"/>
            </a:xfrm>
            <a:prstGeom prst="line">
              <a:avLst/>
            </a:prstGeom>
            <a:ln w="19050">
              <a:solidFill>
                <a:srgbClr val="2BCFFF"/>
              </a:solidFill>
              <a:head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841204" y="6406256"/>
            <a:ext cx="10606488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b="1">
                <a:solidFill>
                  <a:schemeClr val="bg1"/>
                </a:solidFill>
                <a:latin typeface="微软雅黑" panose="020B0503020204020204" pitchFamily="34" charset="-122"/>
              </a:rPr>
              <a:t>控制原则：先规划后配置、先二层后三层、先本地后跨区、先正常后故障。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86343" y="493929"/>
            <a:ext cx="603473" cy="310880"/>
          </a:xfrm>
          <a:prstGeom prst="roundRect">
            <a:avLst/>
          </a:prstGeom>
          <a:solidFill>
            <a:srgbClr val="2BCFFF"/>
          </a:solidFill>
          <a:ln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86343" y="534942"/>
            <a:ext cx="603473" cy="219710"/>
          </a:xfrm>
          <a:prstGeom prst="rect">
            <a:avLst/>
          </a:prstGeom>
          <a:noFill/>
        </p:spPr>
        <p:txBody>
          <a:bodyPr wrap="square" lIns="45717" tIns="18287" rIns="45717" bIns="18287" anchor="ctr">
            <a:spAutoFit/>
          </a:bodyPr>
          <a:lstStyle/>
          <a:p>
            <a:pPr algn="ctr"/>
            <a:r>
              <a:rPr sz="1200" b="1">
                <a:solidFill>
                  <a:srgbClr val="050C46"/>
                </a:solidFill>
                <a:latin typeface="微软雅黑" panose="020B0503020204020204" pitchFamily="34" charset="-122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2964" y="448211"/>
            <a:ext cx="7771995" cy="43561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panose="020B0503020204020204" pitchFamily="34" charset="-122"/>
              </a:rPr>
              <a:t>验收与客户满意度：从“可运行”到“可交付”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638" y="1158369"/>
            <a:ext cx="9600700" cy="34290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2000" b="1">
                <a:solidFill>
                  <a:schemeClr val="accent2"/>
                </a:solidFill>
                <a:latin typeface="微软雅黑" panose="020B0503020204020204" pitchFamily="34" charset="-122"/>
              </a:rPr>
              <a:t>项目经理最终关注：功能是否达标、测试是否可验、文档是否可查、后续是否可维护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764" y="1646790"/>
            <a:ext cx="5257526" cy="4407178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070" y="1866235"/>
            <a:ext cx="1828705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验收维度</a:t>
            </a:r>
          </a:p>
        </p:txBody>
      </p:sp>
      <p:sp>
        <p:nvSpPr>
          <p:cNvPr id="8" name="Oval 7"/>
          <p:cNvSpPr/>
          <p:nvPr/>
        </p:nvSpPr>
        <p:spPr>
          <a:xfrm>
            <a:off x="932639" y="2314267"/>
            <a:ext cx="256019" cy="256019"/>
          </a:xfrm>
          <a:prstGeom prst="ellipse">
            <a:avLst/>
          </a:prstGeom>
          <a:solidFill>
            <a:srgbClr val="4BE6A7"/>
          </a:solidFill>
          <a:ln>
            <a:solidFill>
              <a:srgbClr val="4B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9214" y="2314267"/>
            <a:ext cx="18287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050C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380" y="2286837"/>
            <a:ext cx="114294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功能完成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59029" y="2286837"/>
            <a:ext cx="3245951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VLAN、网关、OSPF、服务器、无线均按规划配置</a:t>
            </a:r>
          </a:p>
        </p:txBody>
      </p:sp>
      <p:sp>
        <p:nvSpPr>
          <p:cNvPr id="12" name="Oval 11"/>
          <p:cNvSpPr/>
          <p:nvPr/>
        </p:nvSpPr>
        <p:spPr>
          <a:xfrm>
            <a:off x="932639" y="2954313"/>
            <a:ext cx="256019" cy="256019"/>
          </a:xfrm>
          <a:prstGeom prst="ellipse">
            <a:avLst/>
          </a:prstGeom>
          <a:solidFill>
            <a:srgbClr val="4BE6A7"/>
          </a:solidFill>
          <a:ln>
            <a:solidFill>
              <a:srgbClr val="4B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14" y="2954313"/>
            <a:ext cx="18287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050C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380" y="2926883"/>
            <a:ext cx="114294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连通性达标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9029" y="2926883"/>
            <a:ext cx="3245951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本地VLAN、跨区域访问和服务器访问通过测试</a:t>
            </a:r>
          </a:p>
        </p:txBody>
      </p:sp>
      <p:sp>
        <p:nvSpPr>
          <p:cNvPr id="16" name="Oval 15"/>
          <p:cNvSpPr/>
          <p:nvPr/>
        </p:nvSpPr>
        <p:spPr>
          <a:xfrm>
            <a:off x="932639" y="3594361"/>
            <a:ext cx="256019" cy="256019"/>
          </a:xfrm>
          <a:prstGeom prst="ellipse">
            <a:avLst/>
          </a:prstGeom>
          <a:solidFill>
            <a:srgbClr val="4BE6A7"/>
          </a:solidFill>
          <a:ln>
            <a:solidFill>
              <a:srgbClr val="4B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9214" y="3594361"/>
            <a:ext cx="18287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050C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380" y="3566930"/>
            <a:ext cx="114294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链路恢复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029" y="3566930"/>
            <a:ext cx="3245951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主链路断开后备用链路接管，恢复后自动回切</a:t>
            </a:r>
          </a:p>
        </p:txBody>
      </p:sp>
      <p:sp>
        <p:nvSpPr>
          <p:cNvPr id="20" name="Oval 19"/>
          <p:cNvSpPr/>
          <p:nvPr/>
        </p:nvSpPr>
        <p:spPr>
          <a:xfrm>
            <a:off x="932639" y="4234407"/>
            <a:ext cx="256019" cy="256019"/>
          </a:xfrm>
          <a:prstGeom prst="ellipse">
            <a:avLst/>
          </a:prstGeom>
          <a:solidFill>
            <a:srgbClr val="4BE6A7"/>
          </a:solidFill>
          <a:ln>
            <a:solidFill>
              <a:srgbClr val="4B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9214" y="4234407"/>
            <a:ext cx="18287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050C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380" y="4206977"/>
            <a:ext cx="114294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配置规范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9029" y="4206977"/>
            <a:ext cx="3245951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地址规划、接口命名、OSPF Cost与文档一致</a:t>
            </a:r>
          </a:p>
        </p:txBody>
      </p:sp>
      <p:sp>
        <p:nvSpPr>
          <p:cNvPr id="24" name="Oval 23"/>
          <p:cNvSpPr/>
          <p:nvPr/>
        </p:nvSpPr>
        <p:spPr>
          <a:xfrm>
            <a:off x="932639" y="4874454"/>
            <a:ext cx="256019" cy="256019"/>
          </a:xfrm>
          <a:prstGeom prst="ellipse">
            <a:avLst/>
          </a:prstGeom>
          <a:solidFill>
            <a:srgbClr val="4BE6A7"/>
          </a:solidFill>
          <a:ln>
            <a:solidFill>
              <a:srgbClr val="4BE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9214" y="4874454"/>
            <a:ext cx="18287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050C4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380" y="4847023"/>
            <a:ext cx="1142940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资料完整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029" y="4847023"/>
            <a:ext cx="3245951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拓扑图、地址表、验收表、故障记录、汇报材料齐全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5883" y="1646790"/>
            <a:ext cx="5257526" cy="4407178"/>
          </a:xfrm>
          <a:prstGeom prst="roundRect">
            <a:avLst/>
          </a:prstGeom>
          <a:solidFill>
            <a:srgbClr val="172B9D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10189" y="1866235"/>
            <a:ext cx="2743057" cy="31242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</a:rPr>
              <a:t>客户满意度说明口径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619" y="2442277"/>
            <a:ext cx="960070" cy="2331599"/>
          </a:xfrm>
          <a:prstGeom prst="roundRect">
            <a:avLst/>
          </a:prstGeom>
          <a:solidFill>
            <a:srgbClr val="155ACA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47342" y="2604825"/>
            <a:ext cx="749769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342" y="3199154"/>
            <a:ext cx="749769" cy="89725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主备链路</a:t>
            </a:r>
          </a:p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保障互通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85073" y="4315439"/>
            <a:ext cx="256019" cy="411459"/>
          </a:xfrm>
          <a:prstGeom prst="rect">
            <a:avLst/>
          </a:prstGeom>
          <a:solidFill>
            <a:srgbClr val="2B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680560" y="2442277"/>
            <a:ext cx="960070" cy="2331599"/>
          </a:xfrm>
          <a:prstGeom prst="roundRect">
            <a:avLst/>
          </a:prstGeom>
          <a:solidFill>
            <a:srgbClr val="155ACA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90282" y="2604825"/>
            <a:ext cx="749769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282" y="3199154"/>
            <a:ext cx="749769" cy="89725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VLAN/IP</a:t>
            </a:r>
          </a:p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层次明确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28014" y="4199869"/>
            <a:ext cx="256019" cy="548611"/>
          </a:xfrm>
          <a:prstGeom prst="rect">
            <a:avLst/>
          </a:prstGeom>
          <a:solidFill>
            <a:srgbClr val="2BC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8823500" y="2442277"/>
            <a:ext cx="960070" cy="2331599"/>
          </a:xfrm>
          <a:prstGeom prst="roundRect">
            <a:avLst/>
          </a:prstGeom>
          <a:solidFill>
            <a:srgbClr val="155ACA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33223" y="2604825"/>
            <a:ext cx="749769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33223" y="3199154"/>
            <a:ext cx="749769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测试表</a:t>
            </a:r>
          </a:p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有依据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70954" y="4084299"/>
            <a:ext cx="256019" cy="685764"/>
          </a:xfrm>
          <a:prstGeom prst="rect">
            <a:avLst/>
          </a:prstGeom>
          <a:solidFill>
            <a:srgbClr val="4BE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9966441" y="2442277"/>
            <a:ext cx="960070" cy="2331599"/>
          </a:xfrm>
          <a:prstGeom prst="roundRect">
            <a:avLst/>
          </a:prstGeom>
          <a:solidFill>
            <a:srgbClr val="155ACA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76163" y="2604825"/>
            <a:ext cx="749769" cy="25082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可维护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76163" y="3199154"/>
            <a:ext cx="749769" cy="681355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文档与配置</a:t>
            </a:r>
          </a:p>
          <a:p>
            <a:pPr algn="ctr"/>
            <a:r>
              <a:rPr sz="1400" b="0">
                <a:solidFill>
                  <a:srgbClr val="E1EB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可追溯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13895" y="3960474"/>
            <a:ext cx="256019" cy="822916"/>
          </a:xfrm>
          <a:prstGeom prst="rect">
            <a:avLst/>
          </a:prstGeom>
          <a:solidFill>
            <a:srgbClr val="4BE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6537619" y="5029894"/>
            <a:ext cx="4480327" cy="548611"/>
          </a:xfrm>
          <a:prstGeom prst="roundRect">
            <a:avLst/>
          </a:prstGeom>
          <a:solidFill>
            <a:srgbClr val="1269AA"/>
          </a:solidFill>
          <a:ln w="15240">
            <a:solidFill>
              <a:srgbClr val="2BC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712235" y="5115481"/>
            <a:ext cx="4114586" cy="466090"/>
          </a:xfrm>
          <a:prstGeom prst="rect">
            <a:avLst/>
          </a:prstGeom>
          <a:noFill/>
        </p:spPr>
        <p:txBody>
          <a:bodyPr wrap="square" lIns="45717" tIns="18287" rIns="45717" bIns="18287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客户满意度不靠夸张分数，而靠“需求覆盖 + 测试证据 + 文档完整”支撑。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extract/ppt/media/image1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template_extract/ppt/media/image5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4048" y="603504"/>
            <a:ext cx="411480" cy="256032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914400" y="530352"/>
            <a:ext cx="512064" cy="320040"/>
          </a:xfrm>
          <a:prstGeom prst="roundRect">
            <a:avLst>
              <a:gd name="adj" fmla="val 22857"/>
            </a:avLst>
          </a:prstGeom>
          <a:solidFill>
            <a:srgbClr val="32D7FF"/>
          </a:solidFill>
          <a:ln w="12700">
            <a:solidFill>
              <a:srgbClr val="32D7FF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14400" y="580644"/>
            <a:ext cx="512064" cy="182880"/>
          </a:xfrm>
          <a:prstGeom prst="rect">
            <a:avLst/>
          </a:prstGeom>
          <a:noFill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517904" y="475488"/>
            <a:ext cx="8961120" cy="384048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项目经理阶段小结：从管理目标进入技术实施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868680" y="1024128"/>
            <a:ext cx="9966960" cy="0"/>
          </a:xfrm>
          <a:prstGeom prst="line">
            <a:avLst/>
          </a:prstGeom>
          <a:noFill/>
          <a:ln w="19050">
            <a:solidFill>
              <a:srgbClr val="32D7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1060704"/>
            <a:ext cx="9966960" cy="25603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前两部分完成了项目边界、需求、进度、风险与验收口径的定义</a:t>
            </a:r>
          </a:p>
        </p:txBody>
      </p:sp>
      <p:sp>
        <p:nvSpPr>
          <p:cNvPr id="9" name="Shape 5"/>
          <p:cNvSpPr/>
          <p:nvPr>
            <p:custDataLst>
              <p:tags r:id="rId1"/>
            </p:custDataLst>
          </p:nvPr>
        </p:nvSpPr>
        <p:spPr>
          <a:xfrm>
            <a:off x="868680" y="1632585"/>
            <a:ext cx="658368" cy="658368"/>
          </a:xfrm>
          <a:prstGeom prst="ellipse">
            <a:avLst/>
          </a:prstGeom>
          <a:solidFill>
            <a:srgbClr val="32D7FF"/>
          </a:solidFill>
          <a:ln w="10160">
            <a:solidFill>
              <a:srgbClr val="000000">
                <a:alpha val="88000"/>
              </a:srgbClr>
            </a:solidFill>
            <a:prstDash val="solid"/>
          </a:ln>
        </p:spPr>
      </p:sp>
      <p:sp>
        <p:nvSpPr>
          <p:cNvPr id="10" name="Text 6"/>
          <p:cNvSpPr/>
          <p:nvPr>
            <p:custDataLst>
              <p:tags r:id="rId2"/>
            </p:custDataLst>
          </p:nvPr>
        </p:nvSpPr>
        <p:spPr>
          <a:xfrm>
            <a:off x="868680" y="1833753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7"/>
          <p:cNvSpPr/>
          <p:nvPr>
            <p:custDataLst>
              <p:tags r:id="rId3"/>
            </p:custDataLst>
          </p:nvPr>
        </p:nvSpPr>
        <p:spPr>
          <a:xfrm>
            <a:off x="1737360" y="1870710"/>
            <a:ext cx="1097280" cy="21945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识别需求</a:t>
            </a:r>
          </a:p>
        </p:txBody>
      </p:sp>
      <p:sp>
        <p:nvSpPr>
          <p:cNvPr id="12" name="Text 8"/>
          <p:cNvSpPr/>
          <p:nvPr>
            <p:custDataLst>
              <p:tags r:id="rId4"/>
            </p:custDataLst>
          </p:nvPr>
        </p:nvSpPr>
        <p:spPr>
          <a:xfrm>
            <a:off x="2926080" y="1834134"/>
            <a:ext cx="731520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两地办公、部门隔离、无线接入、服务器访问、主备链路</a:t>
            </a:r>
          </a:p>
        </p:txBody>
      </p:sp>
      <p:sp>
        <p:nvSpPr>
          <p:cNvPr id="13" name="Shape 9"/>
          <p:cNvSpPr/>
          <p:nvPr>
            <p:custDataLst>
              <p:tags r:id="rId5"/>
            </p:custDataLst>
          </p:nvPr>
        </p:nvSpPr>
        <p:spPr>
          <a:xfrm>
            <a:off x="868680" y="2409825"/>
            <a:ext cx="658368" cy="658368"/>
          </a:xfrm>
          <a:prstGeom prst="ellipse">
            <a:avLst/>
          </a:prstGeom>
          <a:solidFill>
            <a:srgbClr val="32D7FF"/>
          </a:solidFill>
          <a:ln w="10160">
            <a:solidFill>
              <a:srgbClr val="000000">
                <a:alpha val="88000"/>
              </a:srgbClr>
            </a:solidFill>
            <a:prstDash val="solid"/>
          </a:ln>
        </p:spPr>
      </p:sp>
      <p:sp>
        <p:nvSpPr>
          <p:cNvPr id="14" name="Text 10"/>
          <p:cNvSpPr/>
          <p:nvPr>
            <p:custDataLst>
              <p:tags r:id="rId6"/>
            </p:custDataLst>
          </p:nvPr>
        </p:nvSpPr>
        <p:spPr>
          <a:xfrm>
            <a:off x="868680" y="2610993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</a:t>
            </a:r>
            <a:endParaRPr lang="en-US" sz="1150" dirty="0"/>
          </a:p>
        </p:txBody>
      </p:sp>
      <p:sp>
        <p:nvSpPr>
          <p:cNvPr id="15" name="Text 11"/>
          <p:cNvSpPr/>
          <p:nvPr>
            <p:custDataLst>
              <p:tags r:id="rId7"/>
            </p:custDataLst>
          </p:nvPr>
        </p:nvSpPr>
        <p:spPr>
          <a:xfrm>
            <a:off x="1737360" y="2647950"/>
            <a:ext cx="1097280" cy="21945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定义目标</a:t>
            </a:r>
          </a:p>
        </p:txBody>
      </p:sp>
      <p:sp>
        <p:nvSpPr>
          <p:cNvPr id="16" name="Text 12"/>
          <p:cNvSpPr/>
          <p:nvPr>
            <p:custDataLst>
              <p:tags r:id="rId8"/>
            </p:custDataLst>
          </p:nvPr>
        </p:nvSpPr>
        <p:spPr>
          <a:xfrm>
            <a:off x="2926080" y="2611374"/>
            <a:ext cx="731520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SMART 成功标准：可配置、可测试、可交付</a:t>
            </a:r>
          </a:p>
        </p:txBody>
      </p:sp>
      <p:sp>
        <p:nvSpPr>
          <p:cNvPr id="17" name="Shape 13"/>
          <p:cNvSpPr/>
          <p:nvPr>
            <p:custDataLst>
              <p:tags r:id="rId9"/>
            </p:custDataLst>
          </p:nvPr>
        </p:nvSpPr>
        <p:spPr>
          <a:xfrm>
            <a:off x="868680" y="3187065"/>
            <a:ext cx="658368" cy="658368"/>
          </a:xfrm>
          <a:prstGeom prst="ellipse">
            <a:avLst/>
          </a:prstGeom>
          <a:solidFill>
            <a:srgbClr val="32D7FF"/>
          </a:solidFill>
          <a:ln w="10160">
            <a:solidFill>
              <a:srgbClr val="000000">
                <a:alpha val="88000"/>
              </a:srgbClr>
            </a:solidFill>
            <a:prstDash val="solid"/>
          </a:ln>
        </p:spPr>
      </p:sp>
      <p:sp>
        <p:nvSpPr>
          <p:cNvPr id="18" name="Text 14"/>
          <p:cNvSpPr/>
          <p:nvPr>
            <p:custDataLst>
              <p:tags r:id="rId10"/>
            </p:custDataLst>
          </p:nvPr>
        </p:nvSpPr>
        <p:spPr>
          <a:xfrm>
            <a:off x="868680" y="3388233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</a:t>
            </a:r>
            <a:endParaRPr lang="en-US" sz="1150" dirty="0"/>
          </a:p>
        </p:txBody>
      </p:sp>
      <p:sp>
        <p:nvSpPr>
          <p:cNvPr id="19" name="Text 15"/>
          <p:cNvSpPr/>
          <p:nvPr>
            <p:custDataLst>
              <p:tags r:id="rId11"/>
            </p:custDataLst>
          </p:nvPr>
        </p:nvSpPr>
        <p:spPr>
          <a:xfrm>
            <a:off x="1737360" y="3425190"/>
            <a:ext cx="1097280" cy="21945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拆解范围</a:t>
            </a:r>
          </a:p>
        </p:txBody>
      </p:sp>
      <p:sp>
        <p:nvSpPr>
          <p:cNvPr id="20" name="Text 16"/>
          <p:cNvSpPr/>
          <p:nvPr>
            <p:custDataLst>
              <p:tags r:id="rId12"/>
            </p:custDataLst>
          </p:nvPr>
        </p:nvSpPr>
        <p:spPr>
          <a:xfrm>
            <a:off x="2926080" y="3388614"/>
            <a:ext cx="731520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WBS 明确拓扑、VLAN、IP、OSPF、验收与文档</a:t>
            </a:r>
          </a:p>
        </p:txBody>
      </p:sp>
      <p:sp>
        <p:nvSpPr>
          <p:cNvPr id="21" name="Shape 17"/>
          <p:cNvSpPr/>
          <p:nvPr>
            <p:custDataLst>
              <p:tags r:id="rId13"/>
            </p:custDataLst>
          </p:nvPr>
        </p:nvSpPr>
        <p:spPr>
          <a:xfrm>
            <a:off x="868680" y="3964305"/>
            <a:ext cx="658368" cy="658368"/>
          </a:xfrm>
          <a:prstGeom prst="ellipse">
            <a:avLst/>
          </a:prstGeom>
          <a:solidFill>
            <a:srgbClr val="32D7FF"/>
          </a:solidFill>
          <a:ln w="10160">
            <a:solidFill>
              <a:srgbClr val="000000">
                <a:alpha val="88000"/>
              </a:srgbClr>
            </a:solidFill>
            <a:prstDash val="solid"/>
          </a:ln>
        </p:spPr>
      </p:sp>
      <p:sp>
        <p:nvSpPr>
          <p:cNvPr id="22" name="Text 18"/>
          <p:cNvSpPr/>
          <p:nvPr>
            <p:custDataLst>
              <p:tags r:id="rId14"/>
            </p:custDataLst>
          </p:nvPr>
        </p:nvSpPr>
        <p:spPr>
          <a:xfrm>
            <a:off x="868680" y="4165473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19"/>
          <p:cNvSpPr/>
          <p:nvPr>
            <p:custDataLst>
              <p:tags r:id="rId15"/>
            </p:custDataLst>
          </p:nvPr>
        </p:nvSpPr>
        <p:spPr>
          <a:xfrm>
            <a:off x="1737360" y="4202430"/>
            <a:ext cx="1097280" cy="21945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组织实施</a:t>
            </a:r>
          </a:p>
        </p:txBody>
      </p:sp>
      <p:sp>
        <p:nvSpPr>
          <p:cNvPr id="24" name="Text 20"/>
          <p:cNvSpPr/>
          <p:nvPr>
            <p:custDataLst>
              <p:tags r:id="rId16"/>
            </p:custDataLst>
          </p:nvPr>
        </p:nvSpPr>
        <p:spPr>
          <a:xfrm>
            <a:off x="2926080" y="4165854"/>
            <a:ext cx="731520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RACI 分工与阶段计划保证进度推进</a:t>
            </a:r>
          </a:p>
        </p:txBody>
      </p:sp>
      <p:sp>
        <p:nvSpPr>
          <p:cNvPr id="25" name="Shape 21"/>
          <p:cNvSpPr/>
          <p:nvPr>
            <p:custDataLst>
              <p:tags r:id="rId17"/>
            </p:custDataLst>
          </p:nvPr>
        </p:nvSpPr>
        <p:spPr>
          <a:xfrm>
            <a:off x="868680" y="4741545"/>
            <a:ext cx="658368" cy="658368"/>
          </a:xfrm>
          <a:prstGeom prst="ellipse">
            <a:avLst/>
          </a:prstGeom>
          <a:solidFill>
            <a:srgbClr val="32D7FF"/>
          </a:solidFill>
          <a:ln w="10160">
            <a:solidFill>
              <a:srgbClr val="000000">
                <a:alpha val="88000"/>
              </a:srgbClr>
            </a:solidFill>
            <a:prstDash val="solid"/>
          </a:ln>
        </p:spPr>
      </p:sp>
      <p:sp>
        <p:nvSpPr>
          <p:cNvPr id="26" name="Text 22"/>
          <p:cNvSpPr/>
          <p:nvPr>
            <p:custDataLst>
              <p:tags r:id="rId18"/>
            </p:custDataLst>
          </p:nvPr>
        </p:nvSpPr>
        <p:spPr>
          <a:xfrm>
            <a:off x="868680" y="4942713"/>
            <a:ext cx="658368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3"/>
          <p:cNvSpPr/>
          <p:nvPr>
            <p:custDataLst>
              <p:tags r:id="rId19"/>
            </p:custDataLst>
          </p:nvPr>
        </p:nvSpPr>
        <p:spPr>
          <a:xfrm>
            <a:off x="1737360" y="4979670"/>
            <a:ext cx="1097280" cy="219456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控制质量</a:t>
            </a:r>
          </a:p>
        </p:txBody>
      </p:sp>
      <p:sp>
        <p:nvSpPr>
          <p:cNvPr id="28" name="Text 24"/>
          <p:cNvSpPr/>
          <p:nvPr>
            <p:custDataLst>
              <p:tags r:id="rId20"/>
            </p:custDataLst>
          </p:nvPr>
        </p:nvSpPr>
        <p:spPr>
          <a:xfrm>
            <a:off x="2926080" y="4943094"/>
            <a:ext cx="7315200" cy="274320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dirty="0">
                <a:solidFill>
                  <a:srgbClr val="DCEB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风险矩阵 + PDCA + 验收测试表形成闭环</a:t>
            </a:r>
          </a:p>
        </p:txBody>
      </p:sp>
      <p:sp>
        <p:nvSpPr>
          <p:cNvPr id="29" name="Shape 25"/>
          <p:cNvSpPr/>
          <p:nvPr/>
        </p:nvSpPr>
        <p:spPr>
          <a:xfrm>
            <a:off x="1106170" y="6008370"/>
            <a:ext cx="9784080" cy="581025"/>
          </a:xfrm>
          <a:prstGeom prst="roundRect">
            <a:avLst>
              <a:gd name="adj" fmla="val 20690"/>
            </a:avLst>
          </a:prstGeom>
          <a:solidFill>
            <a:srgbClr val="32D7FF"/>
          </a:solidFill>
          <a:ln w="12700">
            <a:solidFill>
              <a:srgbClr val="32D7FF">
                <a:alpha val="70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380490" y="6074664"/>
            <a:ext cx="9235440" cy="164592"/>
          </a:xfrm>
          <a:prstGeom prst="rect">
            <a:avLst/>
          </a:prstGeom>
          <a:noFill/>
        </p:spPr>
        <p:txBody>
          <a:bodyPr wrap="square" lIns="381" tIns="381" rIns="381" bIns="381" rtlCol="0" anchor="t">
            <a:no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08124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下一部分进入项目实施方案：设备选型、拓扑结构、VLAN/IP 规划、OSPF 配置与主备链路验证。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5049" y="1453953"/>
            <a:ext cx="6573850" cy="21795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项目实施方案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45049" y="3697781"/>
            <a:ext cx="6573850" cy="1086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8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详细介绍项目实施的具体方案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d71148b-8a8b-4a3d-add6-815812ddb449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6642000"/>
              <a:ext cx="12192000" cy="216000"/>
            </a:xfrm>
            <a:custGeom>
              <a:avLst/>
              <a:gdLst/>
              <a:ahLst/>
              <a:cxnLst/>
              <a:rect l="l" t="t" r="r" b="b"/>
              <a:pathLst>
                <a:path w="12192000" h="165100">
                  <a:moveTo>
                    <a:pt x="0" y="0"/>
                  </a:moveTo>
                  <a:lnTo>
                    <a:pt x="12192000" y="0"/>
                  </a:lnTo>
                  <a:lnTo>
                    <a:pt x="12192000" y="165100"/>
                  </a:lnTo>
                  <a:lnTo>
                    <a:pt x="0" y="165100"/>
                  </a:lnTo>
                  <a:close/>
                </a:path>
              </a:pathLst>
            </a:custGeom>
            <a:solidFill>
              <a:srgbClr val="2373F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48000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阐述项目要求、目标及需求分析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60400" y="2111653"/>
              <a:ext cx="4971137" cy="3450947"/>
              <a:chOff x="660400" y="2355566"/>
              <a:chExt cx="4971137" cy="3450947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660400" y="3003565"/>
                <a:ext cx="4971137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项目要求及目标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3651563"/>
                <a:ext cx="4971137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本项目面向北京办公室与燕郊办公室的企业网络建设，目标是在统一规划下完成部门隔离、跨区域互通、无线接入、服务器服务和链路冗余，确保网络具备稳定性、可扩展性和可维护性。具体措施包括按地点、部门和业务划分VLAN，减少广播域范围，强化网络隔离与安全控制；北京与燕郊分别部署三层核心交换机，承担本地VLAN间路由，提升内部转发效率；两地出口路由器之间采用主备链路互联，并结合OSPF动态路由实现自动选路与故障切换；文件服务器和邮件服务器统一部署在燕郊服务器区，便于集中维护和业务访问；统一使用分层地址规划和设备命名规范，便于后续扩容、排障和交付验收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660400" y="2355566"/>
                <a:ext cx="4971137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01.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6547762" y="2111653"/>
              <a:ext cx="4971137" cy="3450947"/>
              <a:chOff x="6547762" y="2355566"/>
              <a:chExt cx="4971137" cy="3450947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6547762" y="3003565"/>
                <a:ext cx="4971137" cy="64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需求分析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547762" y="3651563"/>
                <a:ext cx="4971137" cy="215495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根据仿真材料和业务范围，项目需求可概括为业务接入、网络互通、可靠性和运维管理四个方面。北京办公室约300人，包含5个部门；燕郊办公室约700人，包含6个部门，并提供无线办公与服务器服务，因此网络设计必须兼顾隔离、共享和扩展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547762" y="2355566"/>
                <a:ext cx="4971137" cy="64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32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02.</a:t>
                </a:r>
                <a:endParaRPr lang="en-US" sz="1100"/>
              </a:p>
            </p:txBody>
          </p:sp>
        </p:grpSp>
      </p:grpSp>
      <p:sp>
        <p:nvSpPr>
          <p:cNvPr id="13" name="TextBox 13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项目概述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0a23a30-0ca6-49f6-ab83-eba0f5be1537"/>
          <p:cNvGrpSpPr/>
          <p:nvPr/>
        </p:nvGrpSpPr>
        <p:grpSpPr>
          <a:xfrm>
            <a:off x="0" y="1130300"/>
            <a:ext cx="12192000" cy="5727700"/>
            <a:chOff x="0" y="1130300"/>
            <a:chExt cx="12192000" cy="5727700"/>
          </a:xfrm>
        </p:grpSpPr>
        <p:sp>
          <p:nvSpPr>
            <p:cNvPr id="3" name="AutoShape 3"/>
            <p:cNvSpPr/>
            <p:nvPr/>
          </p:nvSpPr>
          <p:spPr>
            <a:xfrm>
              <a:off x="0" y="1854200"/>
              <a:ext cx="12192000" cy="5003800"/>
            </a:xfrm>
            <a:custGeom>
              <a:avLst/>
              <a:gdLst/>
              <a:ahLst/>
              <a:cxnLst/>
              <a:rect l="l" t="t" r="r" b="b"/>
              <a:pathLst>
                <a:path w="12192000" h="5003800">
                  <a:moveTo>
                    <a:pt x="0" y="0"/>
                  </a:moveTo>
                  <a:lnTo>
                    <a:pt x="12192000" y="0"/>
                  </a:lnTo>
                  <a:lnTo>
                    <a:pt x="12192000" y="5003800"/>
                  </a:lnTo>
                  <a:lnTo>
                    <a:pt x="0" y="5003800"/>
                  </a:lnTo>
                  <a:close/>
                </a:path>
              </a:pathLst>
            </a:custGeom>
            <a:blipFill rotWithShape="1">
              <a:blip r:embed="rId2">
                <a:alphaModFix/>
                <a:alphaModFix/>
              </a:blip>
              <a:stretch>
                <a:fillRect t="-19928" b="-245554"/>
              </a:stretch>
            </a:blip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660400" y="1130300"/>
              <a:ext cx="10858500" cy="5003800"/>
            </a:xfrm>
            <a:prstGeom prst="rect">
              <a:avLst/>
            </a:prstGeom>
            <a:solidFill>
              <a:srgbClr val="000000">
                <a:alpha val="94901"/>
              </a:srgbClr>
            </a:solidFill>
            <a:ln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3329" y="1263462"/>
              <a:ext cx="2400298" cy="4737477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项目实施前的设备、软件和网络拓扑准备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3374237" y="1249604"/>
              <a:ext cx="3921912" cy="1991492"/>
              <a:chOff x="3374237" y="1108972"/>
              <a:chExt cx="3921912" cy="1991492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3702849" y="1651493"/>
                <a:ext cx="3593300" cy="14489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结合实验仿真成果，本项目采用Cisco体系设备进行分层设计，设备选型既满足功能要求，也便于在Packet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Tracer中完成配置验证。具体设备包括Cisco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2911 Router × 2，分别作为北京和燕郊出口路由器，负责两地互联和主备链路转发；Cisco 3560 - 24PS Multilayer Switch × 2，作为北京与燕郊三层核心交换机，承担VLAN网关和OSPF发布；Cisco 2960 - 24TT Switch × 12，接入各部门PC、服务器和AP，并与核心交换机通过Trunk互联；Access Point - PT × 2，分别为北京和燕郊无线终端提供接入；Server - PT × 2，部署文件服务器和邮件服务器；PC - PT × 22，模拟各部门有线办公终端；Laptop - PT × 4，模拟北京和燕郊无线办公终端。</a:t>
                </a:r>
                <a:endParaRPr lang="en-US" sz="11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3702849" y="1108972"/>
                <a:ext cx="3593300" cy="542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设备选择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3374237" y="1263462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3374237" y="3952108"/>
              <a:ext cx="3921912" cy="1991492"/>
              <a:chOff x="3374237" y="2671968"/>
              <a:chExt cx="3921912" cy="1991492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3702849" y="3214489"/>
                <a:ext cx="3593300" cy="14489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本项目以Cisco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Packet Tracer作为网络仿真平台，完成拓扑搭建、VLAN划分、IP规划、OSPF配置和连通性验证。文档编制与配置整理使用Office工具完成，拓扑成果已整理为topo.png，并作为实施参考图嵌入本文档。从交付角度看，仿真阶段的配置结果已经覆盖设备命名、端口规划、地址规划、路由选择和业务访问等关键环节，因此实施阶段可以直接按统一模板部署。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702849" y="2671968"/>
                <a:ext cx="3593300" cy="542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软件准备</a:t>
                </a:r>
                <a:endParaRPr lang="en-US" sz="11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374237" y="2826458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dirty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7406760" y="1249604"/>
              <a:ext cx="3921912" cy="1991492"/>
              <a:chOff x="7406760" y="1108972"/>
              <a:chExt cx="3921912" cy="1991492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735372" y="1651493"/>
                <a:ext cx="3593300" cy="14489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整体拓扑采用双站点、分层汇聚的企业网结构。北京侧由Core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SW1汇聚各部门接入交换机和AP -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BJ，再经R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BJ接入跨区域链路；燕郊侧由Core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SW2汇聚各部门接入交换机、AP -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YJ和服务器区，并由R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YJ负责与北京互联。文件服务器和邮件服务器统一部署在燕郊服务器区VLAN190。</a:t>
                </a:r>
                <a:endParaRPr lang="en-US" sz="1100" dirty="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735372" y="1108972"/>
                <a:ext cx="3593300" cy="542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网络拓扑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06760" y="1263462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406760" y="2809108"/>
              <a:ext cx="3921912" cy="1991492"/>
              <a:chOff x="7406760" y="1528968"/>
              <a:chExt cx="3921912" cy="1991492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735372" y="2071489"/>
                <a:ext cx="3593300" cy="144897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地址规划采用“业务网段统一使用192.168.X.0/24、点到点互联使用10.0.X.X/30”的原则，保证业务网段清晰、路由互联节约、后期扩展简单。各VLAN默认网关统一设置为对应网段的.1地址。北京业务VLAN包括VLAN10、20、30、40、50、60、100，网段为192.168.10.0/24至192.168.100.0/24，北京各部门、无线和预留服务器区分别独立规划；燕郊业务VLAN包括VLAN120、130、140、150、160、170、180、190，网段为192.168.120.0/24至192.168.190.0/24，燕郊各部门、无线和服务器区独立规划；主备链路为10.0.0.0/30与10.0.0.4/30，用于R -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BJ与R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YJ之间的主备专线互联；核心上联链路为10.0.1.0/30与10.0.1.4/30，用于Core - SW1/R -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BJ和Core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SW2/R - YJ的三层互联；服务器地址为192.168.190.10与192.168.190.20，分别用于文件服务器和邮件服务器。</a:t>
                </a:r>
                <a:endParaRPr lang="en-US" sz="1100" dirty="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35372" y="1528968"/>
                <a:ext cx="3593300" cy="54252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数据规划</a:t>
                </a:r>
                <a:endParaRPr lang="en-US" sz="1100" dirty="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06760" y="1683458"/>
                <a:ext cx="328613" cy="38802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2" name="TextBox 22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实施前准备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c388c66-cc42-4cea-ae8d-e4b4fe9a4bd1"/>
          <p:cNvGrpSpPr/>
          <p:nvPr/>
        </p:nvGrpSpPr>
        <p:grpSpPr>
          <a:xfrm>
            <a:off x="660399" y="1130300"/>
            <a:ext cx="10858501" cy="4965700"/>
            <a:chOff x="660399" y="1130300"/>
            <a:chExt cx="10858501" cy="4965700"/>
          </a:xfrm>
        </p:grpSpPr>
        <p:grpSp>
          <p:nvGrpSpPr>
            <p:cNvPr id="3" name="Group 3"/>
            <p:cNvGrpSpPr/>
            <p:nvPr/>
          </p:nvGrpSpPr>
          <p:grpSpPr>
            <a:xfrm>
              <a:off x="660399" y="1782553"/>
              <a:ext cx="10858500" cy="4313447"/>
              <a:chOff x="660399" y="1782553"/>
              <a:chExt cx="10858500" cy="4313447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660399" y="1782553"/>
                <a:ext cx="10858500" cy="4313447"/>
              </a:xfrm>
              <a:prstGeom prst="plaque">
                <a:avLst>
                  <a:gd name="adj" fmla="val 5400"/>
                </a:avLst>
              </a:prstGeom>
              <a:ln w="6350">
                <a:solidFill>
                  <a:srgbClr val="2373F3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38911" y="185737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403982" y="185737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实施流程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403982" y="2251076"/>
                <a:ext cx="9111618" cy="262572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按照拓扑图完成设备上架、链路连线和设备命名，先建立物理连接，再进行逻辑配置。在各接入交换机上创建部门VLAN，并将部门PC、服务器和AP对应端口配置为Access端口。在接入交换机与核心交换机之间配置Trunk链路，确保对应VLAN能够跨交换机透传。在核心三层交换机上创建VLAN接口并启用ip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routing，使本地不同VLAN之间可以三层互通。为核心交换机与出口路由器、以及两台出口路由器之间配置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/30地址，形成清晰的点到点链路。在所有三层设备上启用OSPF Area 0，发布本地业务网段与互联链路网段。通过调整主备链路的OSPF Cost，确保正常情况下优先走主链路，故障时自动切换到备用链路。为AP和服务器配置静态地址、网关和业务参数，完成无线接入与服务器服务部署。最后使用ping、路由表和OSPF邻居关系命令进行验收测试，确认连通性和冗余切换效果。</a:t>
                </a:r>
                <a:endParaRPr lang="en-US" sz="1100" dirty="0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项目实施的具体流程和关键技术</a:t>
              </a:r>
              <a:endParaRPr lang="en-US" sz="1100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c388c66-cc42-4cea-ae8d-e4b4fe9a4bd1"/>
          <p:cNvGrpSpPr/>
          <p:nvPr/>
        </p:nvGrpSpPr>
        <p:grpSpPr>
          <a:xfrm>
            <a:off x="660400" y="1130300"/>
            <a:ext cx="10858500" cy="4203700"/>
            <a:chOff x="660400" y="1130300"/>
            <a:chExt cx="10858500" cy="4203700"/>
          </a:xfrm>
        </p:grpSpPr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项目实施的具体流程和关键技术</a:t>
              </a:r>
              <a:endParaRPr lang="en-US" sz="1100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738911" y="1981200"/>
              <a:ext cx="10640289" cy="3352800"/>
              <a:chOff x="738911" y="509588"/>
              <a:chExt cx="10640289" cy="335280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38911" y="509588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403982" y="509588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关键技术</a:t>
                </a:r>
                <a:endParaRPr lang="en-US" sz="1100" dirty="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403982" y="903290"/>
                <a:ext cx="9035418" cy="29590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VLAN、Access、Trunk用于将不同部门和业务划分到独立广播域，同时保证上联链路能够承载多VLAN通信；SVI与ip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routing在核心三层交换机上完成本地VLAN间路由，减少对路由器的依赖；OSPF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Area 0统一发布两地网络路由，减少静态路由维护工作量；OSPF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Cost优先级通过主备链路不同代价实现自动选路和自动切换；passive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- interface default减少接入侧不必要的OSPF邻居建立，提升配置规范性；静态IP与业务服务确保文件服务器、邮件服务器和无线终端地址稳定、访问明确。</a:t>
                </a:r>
                <a:endParaRPr lang="en-US" sz="1100" dirty="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</a:t>
            </a:r>
            <a:endParaRPr lang="en-US" sz="1100"/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697A70FC-7A4C-A57A-39DB-A7000A17C9BE}"/>
              </a:ext>
            </a:extLst>
          </p:cNvPr>
          <p:cNvSpPr/>
          <p:nvPr/>
        </p:nvSpPr>
        <p:spPr>
          <a:xfrm>
            <a:off x="660399" y="1782553"/>
            <a:ext cx="10858500" cy="4313447"/>
          </a:xfrm>
          <a:prstGeom prst="plaque">
            <a:avLst>
              <a:gd name="adj" fmla="val 5400"/>
            </a:avLst>
          </a:prstGeom>
          <a:ln w="6350">
            <a:solidFill>
              <a:srgbClr val="2373F3">
                <a:alpha val="100000"/>
              </a:srgbClr>
            </a:solidFill>
            <a:prstDash val="solid"/>
            <a:headEnd type="none"/>
            <a:tailEnd type="none"/>
          </a:ln>
        </p:spPr>
      </p:sp>
    </p:spTree>
    <p:extLst>
      <p:ext uri="{BB962C8B-B14F-4D97-AF65-F5344CB8AC3E}">
        <p14:creationId xmlns:p14="http://schemas.microsoft.com/office/powerpoint/2010/main" val="37411410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c388c66-cc42-4cea-ae8d-e4b4fe9a4bd1"/>
          <p:cNvGrpSpPr/>
          <p:nvPr/>
        </p:nvGrpSpPr>
        <p:grpSpPr>
          <a:xfrm>
            <a:off x="660400" y="1130300"/>
            <a:ext cx="10858500" cy="4597400"/>
            <a:chOff x="660400" y="1130300"/>
            <a:chExt cx="10858500" cy="4597400"/>
          </a:xfrm>
        </p:grpSpPr>
        <p:sp>
          <p:nvSpPr>
            <p:cNvPr id="8" name="TextBox 8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项目实施的具体流程和关键技术</a:t>
              </a:r>
              <a:endParaRPr lang="en-US" sz="1100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738911" y="1981200"/>
              <a:ext cx="10640289" cy="3746500"/>
              <a:chOff x="738911" y="-962024"/>
              <a:chExt cx="10640289" cy="3746500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738911" y="-962024"/>
                <a:ext cx="577670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8000"/>
                  </a:lnSpc>
                  <a:defRPr/>
                </a:pPr>
                <a:r>
                  <a:rPr lang="en-US" sz="19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403982" y="-962024"/>
                <a:ext cx="99752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主要设备的操作配置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03982" y="-568322"/>
                <a:ext cx="9035418" cy="3352798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Core - SW1启用ip routing，创建VLAN10/20/30/40/50/60/100的SVI，F0/24连接R -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BJ，并加入OSPF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Area 0，作为北京核心网关和路由发布设备；Core - SW2启用ip routing，创建VLAN120/130/140/150/160/170/180/190的SVI，F0/24连接R -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YJ，并加入OSPF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Area 0，作为燕郊核心网关和服务器区汇聚设备；R - BJ的G0/0作为主链路10.0.0.1/30，G0/1作为备用链路10.0.0.5/30，G0/2下联Core - SW1，主备链路设置不同OSPF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Cost，负责北京侧出口和跨区域转发；R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- YJ的G0/0作为主链路10.0.0.2/30，G0/1作为备用链路10.0.0.6/30，G0/2下联Core - SW2，主备链路设置不同OSPF Cost，负责燕郊侧出口和跨区域转发；接入交换机创建对应VLAN，将部门PC、服务器或AP端口设为Access，上联端口设为Trunk，完成终端和上联汇聚；AP -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BJ使用BJ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- WIFI、VLAN60；AP -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YJ使用YJ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- WIFI、VLAN180；File - </a:t>
                </a: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Server与Mail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 - Server分别配置192.168.190.10和192.168.190.20，完成无线接入和核心业务服务部署。</a:t>
                </a:r>
                <a:endParaRPr lang="en-US" sz="1100" dirty="0"/>
              </a:p>
            </p:txBody>
          </p:sp>
        </p:grpSp>
      </p:grpSp>
      <p:sp>
        <p:nvSpPr>
          <p:cNvPr id="19" name="TextBox 19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</a:t>
            </a:r>
            <a:endParaRPr lang="en-US" sz="1100"/>
          </a:p>
        </p:txBody>
      </p:sp>
      <p:sp>
        <p:nvSpPr>
          <p:cNvPr id="20" name="AutoShape 4">
            <a:extLst>
              <a:ext uri="{FF2B5EF4-FFF2-40B4-BE49-F238E27FC236}">
                <a16:creationId xmlns:a16="http://schemas.microsoft.com/office/drawing/2014/main" id="{C1BF3C92-3AA0-6FAB-1247-C6BDFDD2F048}"/>
              </a:ext>
            </a:extLst>
          </p:cNvPr>
          <p:cNvSpPr/>
          <p:nvPr/>
        </p:nvSpPr>
        <p:spPr>
          <a:xfrm>
            <a:off x="660399" y="1782553"/>
            <a:ext cx="10858500" cy="4313447"/>
          </a:xfrm>
          <a:prstGeom prst="plaque">
            <a:avLst>
              <a:gd name="adj" fmla="val 5400"/>
            </a:avLst>
          </a:prstGeom>
          <a:ln w="6350">
            <a:solidFill>
              <a:srgbClr val="2373F3">
                <a:alpha val="100000"/>
              </a:srgbClr>
            </a:solidFill>
            <a:prstDash val="solid"/>
            <a:headEnd type="none"/>
            <a:tailEnd type="none"/>
          </a:ln>
        </p:spPr>
      </p:sp>
    </p:spTree>
    <p:extLst>
      <p:ext uri="{BB962C8B-B14F-4D97-AF65-F5344CB8AC3E}">
        <p14:creationId xmlns:p14="http://schemas.microsoft.com/office/powerpoint/2010/main" val="106604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5049" y="1453953"/>
            <a:ext cx="6573850" cy="21795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工程实施规范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45049" y="3697781"/>
            <a:ext cx="6573850" cy="1086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8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规范项目实施的流程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30">
            <a:extLst>
              <a:ext uri="{FF2B5EF4-FFF2-40B4-BE49-F238E27FC236}">
                <a16:creationId xmlns:a16="http://schemas.microsoft.com/office/drawing/2014/main" id="{68231DED-C775-126C-90C6-7B8A137DE26D}"/>
              </a:ext>
            </a:extLst>
          </p:cNvPr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项目总体实施流程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EA4FF3-D7AA-3124-2FAB-A527343DE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33600"/>
            <a:ext cx="9906000" cy="345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347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9f166742-4e0f-4e75-8c6b-f4141e2eb6a2"/>
          <p:cNvGrpSpPr/>
          <p:nvPr/>
        </p:nvGrpSpPr>
        <p:grpSpPr>
          <a:xfrm>
            <a:off x="634109" y="1130300"/>
            <a:ext cx="10884790" cy="5004791"/>
            <a:chOff x="634109" y="1130300"/>
            <a:chExt cx="10884790" cy="5004791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52539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项目实施各阶段的主要工作内容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1077678" y="2528971"/>
              <a:ext cx="8954021" cy="1"/>
            </a:xfrm>
            <a:prstGeom prst="straightConnector1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634109" y="2221901"/>
              <a:ext cx="2068143" cy="3913190"/>
              <a:chOff x="625662" y="2221901"/>
              <a:chExt cx="2563699" cy="3913190"/>
            </a:xfrm>
          </p:grpSpPr>
          <p:sp>
            <p:nvSpPr>
              <p:cNvPr id="6" name="AutoShape 6"/>
              <p:cNvSpPr/>
              <p:nvPr/>
            </p:nvSpPr>
            <p:spPr>
              <a:xfrm flipV="1">
                <a:off x="669361" y="3187055"/>
                <a:ext cx="2520000" cy="2948036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373F3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024408" y="2221901"/>
                <a:ext cx="763106" cy="614141"/>
              </a:xfrm>
              <a:prstGeom prst="ellipse">
                <a:avLst/>
              </a:prstGeom>
              <a:solidFill>
                <a:srgbClr val="2373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01662" y="2895600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启动阶段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25662" y="3615600"/>
                <a:ext cx="2520000" cy="231127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成立项目组，任命项目经理，指定项目目标，指定项目组成员，明确成员各自的职责和任务；制定《项目总体计划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》，随着项目信息不断丰富和变更，内容包括项目描述、沟通管理计划、质量管理计划、项目实施计划等；召开项目启动会，宣布项目实施正式开始，包括实施时间等事宜沟通。</a:t>
                </a:r>
                <a:endParaRPr lang="en-US" sz="1100" dirty="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873523" y="2221901"/>
              <a:ext cx="2032891" cy="3913190"/>
              <a:chOff x="669361" y="2221901"/>
              <a:chExt cx="2520000" cy="3913190"/>
            </a:xfrm>
          </p:grpSpPr>
          <p:sp>
            <p:nvSpPr>
              <p:cNvPr id="11" name="AutoShape 11"/>
              <p:cNvSpPr/>
              <p:nvPr/>
            </p:nvSpPr>
            <p:spPr>
              <a:xfrm flipV="1">
                <a:off x="669361" y="3187055"/>
                <a:ext cx="2520000" cy="2948036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373F3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24408" y="2221901"/>
                <a:ext cx="763106" cy="614141"/>
              </a:xfrm>
              <a:prstGeom prst="ellipse">
                <a:avLst/>
              </a:prstGeom>
              <a:solidFill>
                <a:srgbClr val="2373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801663" y="2895600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需求调研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01663" y="3615601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编制需求调查计划；进行需求调查；编制需求分析报告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5077684" y="2221901"/>
              <a:ext cx="2032891" cy="3913190"/>
              <a:chOff x="669361" y="2221901"/>
              <a:chExt cx="2520000" cy="3913190"/>
            </a:xfrm>
          </p:grpSpPr>
          <p:sp>
            <p:nvSpPr>
              <p:cNvPr id="16" name="AutoShape 16"/>
              <p:cNvSpPr/>
              <p:nvPr/>
            </p:nvSpPr>
            <p:spPr>
              <a:xfrm flipV="1">
                <a:off x="669361" y="3187055"/>
                <a:ext cx="2520000" cy="2948036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373F3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024408" y="2221901"/>
                <a:ext cx="763106" cy="614141"/>
              </a:xfrm>
              <a:prstGeom prst="ellipse">
                <a:avLst/>
              </a:prstGeom>
              <a:solidFill>
                <a:srgbClr val="2373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01663" y="2895600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准备阶段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01663" y="3615601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编制及签署项目进度计划，进行资料收集准备，开展数据分析。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281846" y="2221901"/>
              <a:ext cx="2032891" cy="3913190"/>
              <a:chOff x="669361" y="2221901"/>
              <a:chExt cx="2520000" cy="3913190"/>
            </a:xfrm>
          </p:grpSpPr>
          <p:sp>
            <p:nvSpPr>
              <p:cNvPr id="21" name="AutoShape 21"/>
              <p:cNvSpPr/>
              <p:nvPr/>
            </p:nvSpPr>
            <p:spPr>
              <a:xfrm flipV="1">
                <a:off x="669361" y="3187055"/>
                <a:ext cx="2520000" cy="2948036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373F3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024408" y="2221901"/>
                <a:ext cx="763106" cy="614141"/>
              </a:xfrm>
              <a:prstGeom prst="ellipse">
                <a:avLst/>
              </a:prstGeom>
              <a:solidFill>
                <a:srgbClr val="2373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01663" y="2895600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实施阶段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01663" y="3615601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入驻现场，进行设备交接，搭建软硬件环境；进行培训，包括技术交底和质量管理；开展数据割接；进行测试及试运行；最后进行验收。</a:t>
                </a:r>
                <a:endParaRPr lang="en-US" sz="110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486008" y="2221901"/>
              <a:ext cx="2032891" cy="3913190"/>
              <a:chOff x="669361" y="2221901"/>
              <a:chExt cx="2520000" cy="3913190"/>
            </a:xfrm>
          </p:grpSpPr>
          <p:sp>
            <p:nvSpPr>
              <p:cNvPr id="26" name="AutoShape 26"/>
              <p:cNvSpPr/>
              <p:nvPr/>
            </p:nvSpPr>
            <p:spPr>
              <a:xfrm flipV="1">
                <a:off x="669361" y="3187055"/>
                <a:ext cx="2520000" cy="2948036"/>
              </a:xfrm>
              <a:prstGeom prst="wedgeRectCallout">
                <a:avLst>
                  <a:gd name="adj1" fmla="val -21306"/>
                  <a:gd name="adj2" fmla="val 57003"/>
                </a:avLst>
              </a:prstGeom>
              <a:solidFill>
                <a:srgbClr val="2373F3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24408" y="2221901"/>
                <a:ext cx="763106" cy="614141"/>
              </a:xfrm>
              <a:prstGeom prst="ellipse">
                <a:avLst/>
              </a:prstGeom>
              <a:solidFill>
                <a:srgbClr val="2373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05</a:t>
                </a:r>
                <a:endParaRPr lang="en-US" sz="1100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01663" y="2895600"/>
                <a:ext cx="2255397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项目移交及售后</a:t>
                </a:r>
                <a:endParaRPr lang="en-US" sz="1100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63" y="3615601"/>
                <a:ext cx="2255397" cy="1944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项目实施完成和验收结束后，项目经理提交所有项目资料，并由售后人员进行技术支持。</a:t>
                </a:r>
                <a:endParaRPr lang="en-US" sz="1100"/>
              </a:p>
            </p:txBody>
          </p:sp>
        </p:grpSp>
      </p:grpSp>
      <p:sp>
        <p:nvSpPr>
          <p:cNvPr id="30" name="TextBox 3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项目总体实施流程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5049" y="1453953"/>
            <a:ext cx="6573850" cy="21795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5400" b="1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</a:rPr>
              <a:t>具体项目实施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4945049" y="3697781"/>
            <a:ext cx="6573850" cy="1086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8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</a:t>
            </a:r>
            <a:r>
              <a:rPr lang="zh-CN" altLang="en-US" sz="28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的具体</a:t>
            </a:r>
            <a:r>
              <a:rPr lang="en-US" sz="28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实施</a:t>
            </a:r>
            <a:r>
              <a:rPr lang="zh-CN" altLang="en-US" sz="2800" b="0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展示</a:t>
            </a:r>
            <a:r>
              <a:rPr lang="en-US" sz="2800" b="0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和问题记录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226651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FE1D6A8A-E49D-8C4B-8DE3-9AFFE539B848}"/>
              </a:ext>
            </a:extLst>
          </p:cNvPr>
          <p:cNvSpPr txBox="1"/>
          <p:nvPr/>
        </p:nvSpPr>
        <p:spPr>
          <a:xfrm>
            <a:off x="660400" y="1371599"/>
            <a:ext cx="10858500" cy="4980921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i="0" strike="noStrike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总体网络架构搭建：高可用、高安全、易扩展</a:t>
            </a:r>
            <a:endParaRPr lang="en-US" sz="1100" dirty="0"/>
          </a:p>
        </p:txBody>
      </p:sp>
      <p:sp>
        <p:nvSpPr>
          <p:cNvPr id="47" name="AutoShape 4">
            <a:extLst>
              <a:ext uri="{FF2B5EF4-FFF2-40B4-BE49-F238E27FC236}">
                <a16:creationId xmlns:a16="http://schemas.microsoft.com/office/drawing/2014/main" id="{5CAF3D26-6EA7-3D49-B31B-8A20C43120C7}"/>
              </a:ext>
            </a:extLst>
          </p:cNvPr>
          <p:cNvSpPr/>
          <p:nvPr/>
        </p:nvSpPr>
        <p:spPr>
          <a:xfrm>
            <a:off x="381000" y="1665416"/>
            <a:ext cx="6096000" cy="1587500"/>
          </a:xfrm>
          <a:prstGeom prst="roundRect">
            <a:avLst>
              <a:gd name="adj" fmla="val 9600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8" name="Picture 5">
            <a:extLst>
              <a:ext uri="{FF2B5EF4-FFF2-40B4-BE49-F238E27FC236}">
                <a16:creationId xmlns:a16="http://schemas.microsoft.com/office/drawing/2014/main" id="{E8147FE7-48C4-C747-90F9-54EE9A17E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5000" y="1982916"/>
            <a:ext cx="508000" cy="508000"/>
          </a:xfrm>
          <a:prstGeom prst="rect">
            <a:avLst/>
          </a:prstGeom>
        </p:spPr>
      </p:pic>
      <p:sp>
        <p:nvSpPr>
          <p:cNvPr id="49" name="AutoShape 6">
            <a:extLst>
              <a:ext uri="{FF2B5EF4-FFF2-40B4-BE49-F238E27FC236}">
                <a16:creationId xmlns:a16="http://schemas.microsoft.com/office/drawing/2014/main" id="{BEBA6E99-5906-254C-BB89-E2DA92425082}"/>
              </a:ext>
            </a:extLst>
          </p:cNvPr>
          <p:cNvSpPr/>
          <p:nvPr/>
        </p:nvSpPr>
        <p:spPr>
          <a:xfrm>
            <a:off x="1397000" y="1792416"/>
            <a:ext cx="4953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三大核心设计原则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高可用性：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双核心、双链路冗余，消除单点故障，保障业务连续运行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高安全性：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基于VLAN技术实现网络逻辑隔离，严格控制访问边界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易扩展性：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采用模块化、层次化设计，支撑未来网络规模平滑扩容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0" name="AutoShape 7">
            <a:extLst>
              <a:ext uri="{FF2B5EF4-FFF2-40B4-BE49-F238E27FC236}">
                <a16:creationId xmlns:a16="http://schemas.microsoft.com/office/drawing/2014/main" id="{4C4DB91E-E160-C24D-9A1C-2F42995C9FEA}"/>
              </a:ext>
            </a:extLst>
          </p:cNvPr>
          <p:cNvSpPr/>
          <p:nvPr/>
        </p:nvSpPr>
        <p:spPr>
          <a:xfrm>
            <a:off x="381000" y="3443416"/>
            <a:ext cx="6096000" cy="1714500"/>
          </a:xfrm>
          <a:prstGeom prst="roundRect">
            <a:avLst>
              <a:gd name="adj" fmla="val 8888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51" name="Picture 8">
            <a:extLst>
              <a:ext uri="{FF2B5EF4-FFF2-40B4-BE49-F238E27FC236}">
                <a16:creationId xmlns:a16="http://schemas.microsoft.com/office/drawing/2014/main" id="{AE80E6C3-FF73-E847-BB11-A562C2D9B9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" y="3824416"/>
            <a:ext cx="508000" cy="508000"/>
          </a:xfrm>
          <a:prstGeom prst="rect">
            <a:avLst/>
          </a:prstGeom>
        </p:spPr>
      </p:pic>
      <p:sp>
        <p:nvSpPr>
          <p:cNvPr id="52" name="AutoShape 9">
            <a:extLst>
              <a:ext uri="{FF2B5EF4-FFF2-40B4-BE49-F238E27FC236}">
                <a16:creationId xmlns:a16="http://schemas.microsoft.com/office/drawing/2014/main" id="{E1DB83D7-811F-3C45-A34B-B1A4091049DA}"/>
              </a:ext>
            </a:extLst>
          </p:cNvPr>
          <p:cNvSpPr/>
          <p:nvPr/>
        </p:nvSpPr>
        <p:spPr>
          <a:xfrm>
            <a:off x="1397000" y="3570416"/>
            <a:ext cx="5207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经典三层交换架构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接入层：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终端接入网络的入口，严格执行端口级安全策略与限速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核心层：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网络数据的“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交通枢纽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负责全网数据的高速转发与VLAN间路由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出口层：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连接运营商专线，实现两地互联及主备链路的智能切换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3" name="AutoShape 10">
            <a:extLst>
              <a:ext uri="{FF2B5EF4-FFF2-40B4-BE49-F238E27FC236}">
                <a16:creationId xmlns:a16="http://schemas.microsoft.com/office/drawing/2014/main" id="{10A0608B-3356-814C-BF7A-82C3E05A0392}"/>
              </a:ext>
            </a:extLst>
          </p:cNvPr>
          <p:cNvSpPr/>
          <p:nvPr/>
        </p:nvSpPr>
        <p:spPr>
          <a:xfrm>
            <a:off x="381000" y="5284916"/>
            <a:ext cx="6096000" cy="1397000"/>
          </a:xfrm>
          <a:prstGeom prst="roundRect">
            <a:avLst>
              <a:gd name="adj" fmla="val 10909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bg1"/>
              </a:solidFill>
            </a:endParaRPr>
          </a:p>
        </p:txBody>
      </p:sp>
      <p:pic>
        <p:nvPicPr>
          <p:cNvPr id="54" name="Picture 11">
            <a:extLst>
              <a:ext uri="{FF2B5EF4-FFF2-40B4-BE49-F238E27FC236}">
                <a16:creationId xmlns:a16="http://schemas.microsoft.com/office/drawing/2014/main" id="{8F4EE713-6B66-0943-B356-D73C0F5967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" y="5602416"/>
            <a:ext cx="508000" cy="508000"/>
          </a:xfrm>
          <a:prstGeom prst="rect">
            <a:avLst/>
          </a:prstGeom>
        </p:spPr>
      </p:pic>
      <p:sp>
        <p:nvSpPr>
          <p:cNvPr id="55" name="AutoShape 12">
            <a:extLst>
              <a:ext uri="{FF2B5EF4-FFF2-40B4-BE49-F238E27FC236}">
                <a16:creationId xmlns:a16="http://schemas.microsoft.com/office/drawing/2014/main" id="{853E6C77-0E8D-0C41-9F8D-5BC864AA5976}"/>
              </a:ext>
            </a:extLst>
          </p:cNvPr>
          <p:cNvSpPr/>
          <p:nvPr/>
        </p:nvSpPr>
        <p:spPr>
          <a:xfrm>
            <a:off x="1397000" y="5411916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关键技术与部署策略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  <a:spcBef>
                <a:spcPts val="600"/>
              </a:spcBef>
            </a:pP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智能链路切换：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部署OSPF动态路由协议，实现主备链路毫秒级切换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资源集约化：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核心业务与邮件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文件服务器集中部署于燕郊机房，统一管理与防护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56" name="AutoShape 13">
            <a:extLst>
              <a:ext uri="{FF2B5EF4-FFF2-40B4-BE49-F238E27FC236}">
                <a16:creationId xmlns:a16="http://schemas.microsoft.com/office/drawing/2014/main" id="{A4AFFC55-52B6-D343-99CD-3A7FCE65525D}"/>
              </a:ext>
            </a:extLst>
          </p:cNvPr>
          <p:cNvSpPr/>
          <p:nvPr/>
        </p:nvSpPr>
        <p:spPr>
          <a:xfrm>
            <a:off x="6731000" y="1665416"/>
            <a:ext cx="4953000" cy="5016500"/>
          </a:xfrm>
          <a:prstGeom prst="roundRect">
            <a:avLst>
              <a:gd name="adj" fmla="val 3076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AutoShape 15">
            <a:extLst>
              <a:ext uri="{FF2B5EF4-FFF2-40B4-BE49-F238E27FC236}">
                <a16:creationId xmlns:a16="http://schemas.microsoft.com/office/drawing/2014/main" id="{F2793DA0-85A3-7B43-B03D-7A156408A6CE}"/>
              </a:ext>
            </a:extLst>
          </p:cNvPr>
          <p:cNvSpPr/>
          <p:nvPr/>
        </p:nvSpPr>
        <p:spPr>
          <a:xfrm>
            <a:off x="6917962" y="5437718"/>
            <a:ext cx="457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网络架构拓扑示意图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61" name="图形 60">
            <a:extLst>
              <a:ext uri="{FF2B5EF4-FFF2-40B4-BE49-F238E27FC236}">
                <a16:creationId xmlns:a16="http://schemas.microsoft.com/office/drawing/2014/main" id="{B32DA9C9-6F9F-5044-8FEA-60F81EEF95A9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t="6746"/>
          <a:stretch/>
        </p:blipFill>
        <p:spPr>
          <a:xfrm>
            <a:off x="6858000" y="2537708"/>
            <a:ext cx="4631962" cy="264770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FE1D6A8A-E49D-8C4B-8DE3-9AFFE539B848}"/>
              </a:ext>
            </a:extLst>
          </p:cNvPr>
          <p:cNvSpPr txBox="1"/>
          <p:nvPr/>
        </p:nvSpPr>
        <p:spPr>
          <a:xfrm>
            <a:off x="660400" y="1371599"/>
            <a:ext cx="10858500" cy="4980921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i="0" strike="noStrike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网络拓扑搭建情况</a:t>
            </a:r>
            <a:endParaRPr lang="en-US" sz="11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C402B0-C664-0A41-848E-7010F3BC11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" y="2212401"/>
            <a:ext cx="12192000" cy="3299315"/>
          </a:xfrm>
          <a:prstGeom prst="rect">
            <a:avLst/>
          </a:prstGeom>
        </p:spPr>
      </p:pic>
      <p:sp>
        <p:nvSpPr>
          <p:cNvPr id="5" name="圆角矩形 4">
            <a:extLst>
              <a:ext uri="{FF2B5EF4-FFF2-40B4-BE49-F238E27FC236}">
                <a16:creationId xmlns:a16="http://schemas.microsoft.com/office/drawing/2014/main" id="{09A6DFE6-17FE-F841-94DB-20062AE96660}"/>
              </a:ext>
            </a:extLst>
          </p:cNvPr>
          <p:cNvSpPr/>
          <p:nvPr/>
        </p:nvSpPr>
        <p:spPr>
          <a:xfrm>
            <a:off x="11430" y="2362200"/>
            <a:ext cx="5246370" cy="312420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8138A270-B855-E448-B533-3DBA8B455F21}"/>
              </a:ext>
            </a:extLst>
          </p:cNvPr>
          <p:cNvSpPr/>
          <p:nvPr/>
        </p:nvSpPr>
        <p:spPr>
          <a:xfrm>
            <a:off x="5261610" y="2362200"/>
            <a:ext cx="6906260" cy="3124202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AF4C5899-49C3-6549-B409-539E9D2E3047}"/>
              </a:ext>
            </a:extLst>
          </p:cNvPr>
          <p:cNvCxnSpPr>
            <a:cxnSpLocks/>
          </p:cNvCxnSpPr>
          <p:nvPr/>
        </p:nvCxnSpPr>
        <p:spPr>
          <a:xfrm>
            <a:off x="2819400" y="2514600"/>
            <a:ext cx="5638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连接符 24">
            <a:extLst>
              <a:ext uri="{FF2B5EF4-FFF2-40B4-BE49-F238E27FC236}">
                <a16:creationId xmlns:a16="http://schemas.microsoft.com/office/drawing/2014/main" id="{5EB8DDA8-66E9-A741-9EED-1A1684B36D15}"/>
              </a:ext>
            </a:extLst>
          </p:cNvPr>
          <p:cNvCxnSpPr>
            <a:cxnSpLocks/>
          </p:cNvCxnSpPr>
          <p:nvPr/>
        </p:nvCxnSpPr>
        <p:spPr>
          <a:xfrm>
            <a:off x="2819400" y="2667000"/>
            <a:ext cx="5638800" cy="0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>
            <a:extLst>
              <a:ext uri="{FF2B5EF4-FFF2-40B4-BE49-F238E27FC236}">
                <a16:creationId xmlns:a16="http://schemas.microsoft.com/office/drawing/2014/main" id="{02D07737-0D1C-F246-834F-09968ABBD9E2}"/>
              </a:ext>
            </a:extLst>
          </p:cNvPr>
          <p:cNvSpPr/>
          <p:nvPr/>
        </p:nvSpPr>
        <p:spPr>
          <a:xfrm>
            <a:off x="4114800" y="4038600"/>
            <a:ext cx="1066800" cy="144780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E3D03A0-44D2-D24E-A790-EC729A055FEA}"/>
              </a:ext>
            </a:extLst>
          </p:cNvPr>
          <p:cNvSpPr/>
          <p:nvPr/>
        </p:nvSpPr>
        <p:spPr>
          <a:xfrm>
            <a:off x="9956800" y="4063914"/>
            <a:ext cx="1066800" cy="1447802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7CF340D5-17E4-7647-AF40-93B1EC1BEFD9}"/>
              </a:ext>
            </a:extLst>
          </p:cNvPr>
          <p:cNvSpPr/>
          <p:nvPr/>
        </p:nvSpPr>
        <p:spPr>
          <a:xfrm>
            <a:off x="11064875" y="4038599"/>
            <a:ext cx="1066800" cy="1447802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7B153D6-F5FA-5E41-B8DD-81152A041756}"/>
              </a:ext>
            </a:extLst>
          </p:cNvPr>
          <p:cNvSpPr txBox="1"/>
          <p:nvPr/>
        </p:nvSpPr>
        <p:spPr>
          <a:xfrm>
            <a:off x="5226050" y="2664400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主</a:t>
            </a:r>
            <a:r>
              <a:rPr kumimoji="1" lang="en-US" altLang="zh-CN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/</a:t>
            </a:r>
            <a:r>
              <a:rPr kumimoji="1" lang="zh-CN" altLang="en-US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备链路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7177AFF-DB0E-3645-89FA-B8EEDE6A6B85}"/>
              </a:ext>
            </a:extLst>
          </p:cNvPr>
          <p:cNvSpPr txBox="1"/>
          <p:nvPr/>
        </p:nvSpPr>
        <p:spPr>
          <a:xfrm>
            <a:off x="660399" y="338469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有线网部分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85EA1D6-B315-5241-B76B-B08A4A799A23}"/>
              </a:ext>
            </a:extLst>
          </p:cNvPr>
          <p:cNvSpPr txBox="1"/>
          <p:nvPr/>
        </p:nvSpPr>
        <p:spPr>
          <a:xfrm>
            <a:off x="3978786" y="3639603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无线网部分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5D685E3-EBE9-6047-A2E5-79EF263680D3}"/>
              </a:ext>
            </a:extLst>
          </p:cNvPr>
          <p:cNvSpPr txBox="1"/>
          <p:nvPr/>
        </p:nvSpPr>
        <p:spPr>
          <a:xfrm>
            <a:off x="9781927" y="367739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无线网部分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0035B5E-C743-8A40-9333-2CD3F23B3471}"/>
              </a:ext>
            </a:extLst>
          </p:cNvPr>
          <p:cNvSpPr txBox="1"/>
          <p:nvPr/>
        </p:nvSpPr>
        <p:spPr>
          <a:xfrm>
            <a:off x="11023600" y="3677392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latin typeface="DengXian" panose="02010600030101010101" pitchFamily="2" charset="-122"/>
                <a:ea typeface="DengXian" panose="02010600030101010101" pitchFamily="2" charset="-122"/>
                <a:cs typeface="Arial" panose="020B0604020202020204" pitchFamily="34" charset="0"/>
              </a:rPr>
              <a:t>服务器区</a:t>
            </a:r>
          </a:p>
        </p:txBody>
      </p:sp>
    </p:spTree>
    <p:extLst>
      <p:ext uri="{BB962C8B-B14F-4D97-AF65-F5344CB8AC3E}">
        <p14:creationId xmlns:p14="http://schemas.microsoft.com/office/powerpoint/2010/main" val="3903145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1" name="TextBox 9">
            <a:extLst>
              <a:ext uri="{FF2B5EF4-FFF2-40B4-BE49-F238E27FC236}">
                <a16:creationId xmlns:a16="http://schemas.microsoft.com/office/drawing/2014/main" id="{FE1D6A8A-E49D-8C4B-8DE3-9AFFE539B848}"/>
              </a:ext>
            </a:extLst>
          </p:cNvPr>
          <p:cNvSpPr txBox="1"/>
          <p:nvPr/>
        </p:nvSpPr>
        <p:spPr>
          <a:xfrm>
            <a:off x="660400" y="1371599"/>
            <a:ext cx="10858500" cy="4980921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i="0" strike="noStrike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设备选型与角色划分：性能与成本的平衡</a:t>
            </a:r>
            <a:endParaRPr lang="en-US" sz="1100" dirty="0"/>
          </a:p>
        </p:txBody>
      </p:sp>
      <p:sp>
        <p:nvSpPr>
          <p:cNvPr id="16" name="AutoShape 3">
            <a:extLst>
              <a:ext uri="{FF2B5EF4-FFF2-40B4-BE49-F238E27FC236}">
                <a16:creationId xmlns:a16="http://schemas.microsoft.com/office/drawing/2014/main" id="{FE3E4BCA-E235-E94E-8CA8-E90800395512}"/>
              </a:ext>
            </a:extLst>
          </p:cNvPr>
          <p:cNvSpPr/>
          <p:nvPr/>
        </p:nvSpPr>
        <p:spPr>
          <a:xfrm>
            <a:off x="762000" y="1655698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0" i="0" u="none" strike="noStrike" dirty="0" err="1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我们选用了业界主流的Cisco系列网络设备，在性能与成本之间寻求最佳平衡点，确保网络的高稳定性与广泛兼容性</a:t>
            </a:r>
            <a:r>
              <a:rPr lang="en-US" sz="1500" b="0" i="0" u="none" strike="noStrike" dirty="0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accent5"/>
              </a:solidFill>
            </a:endParaRPr>
          </a:p>
        </p:txBody>
      </p:sp>
      <p:sp>
        <p:nvSpPr>
          <p:cNvPr id="17" name="AutoShape 4">
            <a:extLst>
              <a:ext uri="{FF2B5EF4-FFF2-40B4-BE49-F238E27FC236}">
                <a16:creationId xmlns:a16="http://schemas.microsoft.com/office/drawing/2014/main" id="{03E6D01A-144B-BC46-9027-FB9370D49CA6}"/>
              </a:ext>
            </a:extLst>
          </p:cNvPr>
          <p:cNvSpPr/>
          <p:nvPr/>
        </p:nvSpPr>
        <p:spPr>
          <a:xfrm>
            <a:off x="762000" y="2544698"/>
            <a:ext cx="2032000" cy="393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5">
            <a:extLst>
              <a:ext uri="{FF2B5EF4-FFF2-40B4-BE49-F238E27FC236}">
                <a16:creationId xmlns:a16="http://schemas.microsoft.com/office/drawing/2014/main" id="{6FA9E2B7-13C7-3840-BD0B-4529E20C62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93800" y="2798698"/>
            <a:ext cx="1168400" cy="1168400"/>
          </a:xfrm>
          <a:prstGeom prst="roundRect">
            <a:avLst>
              <a:gd name="adj" fmla="val 869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6">
            <a:extLst>
              <a:ext uri="{FF2B5EF4-FFF2-40B4-BE49-F238E27FC236}">
                <a16:creationId xmlns:a16="http://schemas.microsoft.com/office/drawing/2014/main" id="{4119DAF7-8132-8243-BDC3-4BCB8B81BA67}"/>
              </a:ext>
            </a:extLst>
          </p:cNvPr>
          <p:cNvSpPr/>
          <p:nvPr/>
        </p:nvSpPr>
        <p:spPr>
          <a:xfrm>
            <a:off x="889000" y="41321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路由器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DD7E6217-08DB-FD47-87F2-41703E0BDB87}"/>
              </a:ext>
            </a:extLst>
          </p:cNvPr>
          <p:cNvSpPr/>
          <p:nvPr/>
        </p:nvSpPr>
        <p:spPr>
          <a:xfrm>
            <a:off x="889000" y="4576698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Cisco 2911</a:t>
            </a:r>
            <a:endParaRPr lang="en-US" sz="1100" dirty="0">
              <a:solidFill>
                <a:srgbClr val="FFFF00"/>
              </a:solidFill>
            </a:endParaRPr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294DF558-57D5-A94E-936F-1D87737EE226}"/>
              </a:ext>
            </a:extLst>
          </p:cNvPr>
          <p:cNvSpPr/>
          <p:nvPr/>
        </p:nvSpPr>
        <p:spPr>
          <a:xfrm>
            <a:off x="889000" y="5084698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网络出口，负责路由决策和主备链路切换，保障核心连接。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22" name="AutoShape 9">
            <a:extLst>
              <a:ext uri="{FF2B5EF4-FFF2-40B4-BE49-F238E27FC236}">
                <a16:creationId xmlns:a16="http://schemas.microsoft.com/office/drawing/2014/main" id="{0BCFCA8F-906F-1640-BAC5-1FDC5AFE7A2B}"/>
              </a:ext>
            </a:extLst>
          </p:cNvPr>
          <p:cNvSpPr/>
          <p:nvPr/>
        </p:nvSpPr>
        <p:spPr>
          <a:xfrm>
            <a:off x="889000" y="6100698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📍 北京、燕郊各一台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23" name="AutoShape 10">
            <a:extLst>
              <a:ext uri="{FF2B5EF4-FFF2-40B4-BE49-F238E27FC236}">
                <a16:creationId xmlns:a16="http://schemas.microsoft.com/office/drawing/2014/main" id="{DB926195-8AE0-3248-9ADD-8C2B793A579F}"/>
              </a:ext>
            </a:extLst>
          </p:cNvPr>
          <p:cNvSpPr/>
          <p:nvPr/>
        </p:nvSpPr>
        <p:spPr>
          <a:xfrm>
            <a:off x="2921000" y="2544698"/>
            <a:ext cx="2032000" cy="393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11">
            <a:extLst>
              <a:ext uri="{FF2B5EF4-FFF2-40B4-BE49-F238E27FC236}">
                <a16:creationId xmlns:a16="http://schemas.microsoft.com/office/drawing/2014/main" id="{68E36A4A-BAAD-5A4F-80CC-7B33CD3B06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352800" y="2798698"/>
            <a:ext cx="1168400" cy="1168400"/>
          </a:xfrm>
          <a:prstGeom prst="roundRect">
            <a:avLst>
              <a:gd name="adj" fmla="val 869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12">
            <a:extLst>
              <a:ext uri="{FF2B5EF4-FFF2-40B4-BE49-F238E27FC236}">
                <a16:creationId xmlns:a16="http://schemas.microsoft.com/office/drawing/2014/main" id="{8531F579-E17F-664D-85B8-4442B6ADE842}"/>
              </a:ext>
            </a:extLst>
          </p:cNvPr>
          <p:cNvSpPr/>
          <p:nvPr/>
        </p:nvSpPr>
        <p:spPr>
          <a:xfrm>
            <a:off x="3048000" y="41321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核心交换机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6" name="AutoShape 13">
            <a:extLst>
              <a:ext uri="{FF2B5EF4-FFF2-40B4-BE49-F238E27FC236}">
                <a16:creationId xmlns:a16="http://schemas.microsoft.com/office/drawing/2014/main" id="{32A1EA1F-46D2-9A4C-8F5C-F232ED5F60C1}"/>
              </a:ext>
            </a:extLst>
          </p:cNvPr>
          <p:cNvSpPr/>
          <p:nvPr/>
        </p:nvSpPr>
        <p:spPr>
          <a:xfrm>
            <a:off x="3048000" y="4576698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Cisco 3560</a:t>
            </a:r>
            <a:endParaRPr lang="en-US" sz="1100">
              <a:solidFill>
                <a:srgbClr val="FFFF00"/>
              </a:solidFill>
            </a:endParaRPr>
          </a:p>
        </p:txBody>
      </p:sp>
      <p:sp>
        <p:nvSpPr>
          <p:cNvPr id="27" name="AutoShape 14">
            <a:extLst>
              <a:ext uri="{FF2B5EF4-FFF2-40B4-BE49-F238E27FC236}">
                <a16:creationId xmlns:a16="http://schemas.microsoft.com/office/drawing/2014/main" id="{992D311B-D600-814C-937A-FF4E1B837F0C}"/>
              </a:ext>
            </a:extLst>
          </p:cNvPr>
          <p:cNvSpPr/>
          <p:nvPr/>
        </p:nvSpPr>
        <p:spPr>
          <a:xfrm>
            <a:off x="3048000" y="5084698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网络数据交换中枢，负责VLAN间路由，实现高速数据转发。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28" name="AutoShape 15">
            <a:extLst>
              <a:ext uri="{FF2B5EF4-FFF2-40B4-BE49-F238E27FC236}">
                <a16:creationId xmlns:a16="http://schemas.microsoft.com/office/drawing/2014/main" id="{E15716F8-79BF-014E-9A0D-4263E3B63B05}"/>
              </a:ext>
            </a:extLst>
          </p:cNvPr>
          <p:cNvSpPr/>
          <p:nvPr/>
        </p:nvSpPr>
        <p:spPr>
          <a:xfrm>
            <a:off x="3048000" y="6100698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📍 北京、燕郊各一台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29" name="AutoShape 16">
            <a:extLst>
              <a:ext uri="{FF2B5EF4-FFF2-40B4-BE49-F238E27FC236}">
                <a16:creationId xmlns:a16="http://schemas.microsoft.com/office/drawing/2014/main" id="{8D687DA5-4028-1744-82EE-9B86D9AC6CD1}"/>
              </a:ext>
            </a:extLst>
          </p:cNvPr>
          <p:cNvSpPr/>
          <p:nvPr/>
        </p:nvSpPr>
        <p:spPr>
          <a:xfrm>
            <a:off x="5080000" y="2544698"/>
            <a:ext cx="2032000" cy="393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17">
            <a:extLst>
              <a:ext uri="{FF2B5EF4-FFF2-40B4-BE49-F238E27FC236}">
                <a16:creationId xmlns:a16="http://schemas.microsoft.com/office/drawing/2014/main" id="{01F9FCD3-6F4D-7C42-B8AF-9A31EBCA9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1800" y="2798698"/>
            <a:ext cx="1168400" cy="1168400"/>
          </a:xfrm>
          <a:prstGeom prst="rect">
            <a:avLst/>
          </a:prstGeom>
        </p:spPr>
      </p:pic>
      <p:sp>
        <p:nvSpPr>
          <p:cNvPr id="31" name="AutoShape 18">
            <a:extLst>
              <a:ext uri="{FF2B5EF4-FFF2-40B4-BE49-F238E27FC236}">
                <a16:creationId xmlns:a16="http://schemas.microsoft.com/office/drawing/2014/main" id="{522C83A0-2450-8F4E-B4FB-1EEE2E2922C5}"/>
              </a:ext>
            </a:extLst>
          </p:cNvPr>
          <p:cNvSpPr/>
          <p:nvPr/>
        </p:nvSpPr>
        <p:spPr>
          <a:xfrm>
            <a:off x="5207000" y="41321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接入交换机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2" name="AutoShape 19">
            <a:extLst>
              <a:ext uri="{FF2B5EF4-FFF2-40B4-BE49-F238E27FC236}">
                <a16:creationId xmlns:a16="http://schemas.microsoft.com/office/drawing/2014/main" id="{713DA4CB-0BC0-8A41-9D96-C7B630C1A5BF}"/>
              </a:ext>
            </a:extLst>
          </p:cNvPr>
          <p:cNvSpPr/>
          <p:nvPr/>
        </p:nvSpPr>
        <p:spPr>
          <a:xfrm>
            <a:off x="5207000" y="4576698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Cisco 2960</a:t>
            </a:r>
            <a:endParaRPr lang="en-US" sz="1100">
              <a:solidFill>
                <a:srgbClr val="FFFF00"/>
              </a:solidFill>
            </a:endParaRPr>
          </a:p>
        </p:txBody>
      </p:sp>
      <p:sp>
        <p:nvSpPr>
          <p:cNvPr id="33" name="AutoShape 20">
            <a:extLst>
              <a:ext uri="{FF2B5EF4-FFF2-40B4-BE49-F238E27FC236}">
                <a16:creationId xmlns:a16="http://schemas.microsoft.com/office/drawing/2014/main" id="{54804EF6-76AA-404A-8732-5874E527363C}"/>
              </a:ext>
            </a:extLst>
          </p:cNvPr>
          <p:cNvSpPr/>
          <p:nvPr/>
        </p:nvSpPr>
        <p:spPr>
          <a:xfrm>
            <a:off x="5207000" y="5084698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为办公终端提供接入端口，并严格执行接入层安全策略。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34" name="AutoShape 21">
            <a:extLst>
              <a:ext uri="{FF2B5EF4-FFF2-40B4-BE49-F238E27FC236}">
                <a16:creationId xmlns:a16="http://schemas.microsoft.com/office/drawing/2014/main" id="{C2DC9CC2-1C02-F146-940C-71DD50D9C558}"/>
              </a:ext>
            </a:extLst>
          </p:cNvPr>
          <p:cNvSpPr/>
          <p:nvPr/>
        </p:nvSpPr>
        <p:spPr>
          <a:xfrm>
            <a:off x="5207000" y="6100698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📍 各楼层弱电间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35" name="AutoShape 22">
            <a:extLst>
              <a:ext uri="{FF2B5EF4-FFF2-40B4-BE49-F238E27FC236}">
                <a16:creationId xmlns:a16="http://schemas.microsoft.com/office/drawing/2014/main" id="{91449ADD-2939-5244-AE0E-99FD58792E37}"/>
              </a:ext>
            </a:extLst>
          </p:cNvPr>
          <p:cNvSpPr/>
          <p:nvPr/>
        </p:nvSpPr>
        <p:spPr>
          <a:xfrm>
            <a:off x="7239000" y="2544698"/>
            <a:ext cx="2032000" cy="393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23">
            <a:extLst>
              <a:ext uri="{FF2B5EF4-FFF2-40B4-BE49-F238E27FC236}">
                <a16:creationId xmlns:a16="http://schemas.microsoft.com/office/drawing/2014/main" id="{14846D46-0DCE-B249-9977-8BC077AFAD3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500" r="12499"/>
          <a:stretch>
            <a:fillRect/>
          </a:stretch>
        </p:blipFill>
        <p:spPr>
          <a:xfrm>
            <a:off x="7670800" y="2798698"/>
            <a:ext cx="1168400" cy="1168400"/>
          </a:xfrm>
          <a:prstGeom prst="roundRect">
            <a:avLst>
              <a:gd name="adj" fmla="val 869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7" name="AutoShape 24">
            <a:extLst>
              <a:ext uri="{FF2B5EF4-FFF2-40B4-BE49-F238E27FC236}">
                <a16:creationId xmlns:a16="http://schemas.microsoft.com/office/drawing/2014/main" id="{463F3E97-A4E5-ED48-9225-A4C51A2330CE}"/>
              </a:ext>
            </a:extLst>
          </p:cNvPr>
          <p:cNvSpPr/>
          <p:nvPr/>
        </p:nvSpPr>
        <p:spPr>
          <a:xfrm>
            <a:off x="7366000" y="41321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无线AP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38" name="AutoShape 25">
            <a:extLst>
              <a:ext uri="{FF2B5EF4-FFF2-40B4-BE49-F238E27FC236}">
                <a16:creationId xmlns:a16="http://schemas.microsoft.com/office/drawing/2014/main" id="{0817C02B-8A33-4442-B451-96F5615549FC}"/>
              </a:ext>
            </a:extLst>
          </p:cNvPr>
          <p:cNvSpPr/>
          <p:nvPr/>
        </p:nvSpPr>
        <p:spPr>
          <a:xfrm>
            <a:off x="7366000" y="4576698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Access Point-PT</a:t>
            </a:r>
            <a:endParaRPr lang="en-US" sz="1100">
              <a:solidFill>
                <a:srgbClr val="FFFF00"/>
              </a:solidFill>
            </a:endParaRPr>
          </a:p>
        </p:txBody>
      </p:sp>
      <p:sp>
        <p:nvSpPr>
          <p:cNvPr id="39" name="AutoShape 26">
            <a:extLst>
              <a:ext uri="{FF2B5EF4-FFF2-40B4-BE49-F238E27FC236}">
                <a16:creationId xmlns:a16="http://schemas.microsoft.com/office/drawing/2014/main" id="{29812A36-610B-AD40-A129-449336E5534B}"/>
              </a:ext>
            </a:extLst>
          </p:cNvPr>
          <p:cNvSpPr/>
          <p:nvPr/>
        </p:nvSpPr>
        <p:spPr>
          <a:xfrm>
            <a:off x="7366000" y="5084698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覆盖办公区域，提供稳定、高速的无线网络接入服务。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40" name="AutoShape 27">
            <a:extLst>
              <a:ext uri="{FF2B5EF4-FFF2-40B4-BE49-F238E27FC236}">
                <a16:creationId xmlns:a16="http://schemas.microsoft.com/office/drawing/2014/main" id="{AFE78F57-E654-E345-BBE8-BB48C561FBA1}"/>
              </a:ext>
            </a:extLst>
          </p:cNvPr>
          <p:cNvSpPr/>
          <p:nvPr/>
        </p:nvSpPr>
        <p:spPr>
          <a:xfrm>
            <a:off x="7366000" y="6100698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📍 办公区域天花板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42" name="AutoShape 28">
            <a:extLst>
              <a:ext uri="{FF2B5EF4-FFF2-40B4-BE49-F238E27FC236}">
                <a16:creationId xmlns:a16="http://schemas.microsoft.com/office/drawing/2014/main" id="{9FBE6A6F-418C-D143-BF18-7F238C3A2D21}"/>
              </a:ext>
            </a:extLst>
          </p:cNvPr>
          <p:cNvSpPr/>
          <p:nvPr/>
        </p:nvSpPr>
        <p:spPr>
          <a:xfrm>
            <a:off x="9398000" y="2544698"/>
            <a:ext cx="2032000" cy="3937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3" name="Picture 29">
            <a:extLst>
              <a:ext uri="{FF2B5EF4-FFF2-40B4-BE49-F238E27FC236}">
                <a16:creationId xmlns:a16="http://schemas.microsoft.com/office/drawing/2014/main" id="{0A75A9D1-F590-E04F-BD57-9F266E2913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2500" r="12499"/>
          <a:stretch>
            <a:fillRect/>
          </a:stretch>
        </p:blipFill>
        <p:spPr>
          <a:xfrm>
            <a:off x="9829800" y="2798698"/>
            <a:ext cx="1168400" cy="1168400"/>
          </a:xfrm>
          <a:prstGeom prst="roundRect">
            <a:avLst>
              <a:gd name="adj" fmla="val 869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5" name="AutoShape 30">
            <a:extLst>
              <a:ext uri="{FF2B5EF4-FFF2-40B4-BE49-F238E27FC236}">
                <a16:creationId xmlns:a16="http://schemas.microsoft.com/office/drawing/2014/main" id="{49172316-367D-F64A-9552-2A2CCA2835CB}"/>
              </a:ext>
            </a:extLst>
          </p:cNvPr>
          <p:cNvSpPr/>
          <p:nvPr/>
        </p:nvSpPr>
        <p:spPr>
          <a:xfrm>
            <a:off x="9525000" y="4132198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46" name="AutoShape 31">
            <a:extLst>
              <a:ext uri="{FF2B5EF4-FFF2-40B4-BE49-F238E27FC236}">
                <a16:creationId xmlns:a16="http://schemas.microsoft.com/office/drawing/2014/main" id="{27567EC0-642E-8C43-AE2E-75AE06622B99}"/>
              </a:ext>
            </a:extLst>
          </p:cNvPr>
          <p:cNvSpPr/>
          <p:nvPr/>
        </p:nvSpPr>
        <p:spPr>
          <a:xfrm>
            <a:off x="9525000" y="4576698"/>
            <a:ext cx="177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Server-PT</a:t>
            </a:r>
            <a:endParaRPr lang="en-US" sz="1100">
              <a:solidFill>
                <a:srgbClr val="FFFF00"/>
              </a:solidFill>
            </a:endParaRPr>
          </a:p>
        </p:txBody>
      </p:sp>
      <p:sp>
        <p:nvSpPr>
          <p:cNvPr id="58" name="AutoShape 32">
            <a:extLst>
              <a:ext uri="{FF2B5EF4-FFF2-40B4-BE49-F238E27FC236}">
                <a16:creationId xmlns:a16="http://schemas.microsoft.com/office/drawing/2014/main" id="{0ACEA43C-C23C-FE42-882D-DBE998B17BF5}"/>
              </a:ext>
            </a:extLst>
          </p:cNvPr>
          <p:cNvSpPr/>
          <p:nvPr/>
        </p:nvSpPr>
        <p:spPr>
          <a:xfrm>
            <a:off x="9525000" y="5084698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业务核心支撑，承载并稳定运行公司邮件与文件存储服务。</a:t>
            </a:r>
            <a:endParaRPr lang="en-US" sz="1100">
              <a:solidFill>
                <a:schemeClr val="accent5"/>
              </a:solidFill>
            </a:endParaRPr>
          </a:p>
        </p:txBody>
      </p:sp>
      <p:sp>
        <p:nvSpPr>
          <p:cNvPr id="59" name="AutoShape 33">
            <a:extLst>
              <a:ext uri="{FF2B5EF4-FFF2-40B4-BE49-F238E27FC236}">
                <a16:creationId xmlns:a16="http://schemas.microsoft.com/office/drawing/2014/main" id="{7D9BF159-57A5-5F49-94FA-FBB7AB3EF6D3}"/>
              </a:ext>
            </a:extLst>
          </p:cNvPr>
          <p:cNvSpPr/>
          <p:nvPr/>
        </p:nvSpPr>
        <p:spPr>
          <a:xfrm>
            <a:off x="9525000" y="6100698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chemeClr val="accent5"/>
                </a:solidFill>
                <a:latin typeface="Noto Sans SC"/>
                <a:ea typeface="Noto Sans SC"/>
                <a:cs typeface="Noto Sans SC"/>
                <a:sym typeface="Noto Sans SC"/>
              </a:rPr>
              <a:t>📍 燕郊机房</a:t>
            </a:r>
            <a:endParaRPr lang="en-US" sz="11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624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i="0" strike="noStrike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接入层实施： 终端接入的第一道防线</a:t>
            </a:r>
            <a:endParaRPr lang="en-US" sz="1100" dirty="0"/>
          </a:p>
        </p:txBody>
      </p:sp>
      <p:sp>
        <p:nvSpPr>
          <p:cNvPr id="48" name="AutoShape 4">
            <a:extLst>
              <a:ext uri="{FF2B5EF4-FFF2-40B4-BE49-F238E27FC236}">
                <a16:creationId xmlns:a16="http://schemas.microsoft.com/office/drawing/2014/main" id="{9E9EC97A-B056-654B-BCCA-585B2BE4AA11}"/>
              </a:ext>
            </a:extLst>
          </p:cNvPr>
          <p:cNvSpPr/>
          <p:nvPr/>
        </p:nvSpPr>
        <p:spPr>
          <a:xfrm>
            <a:off x="6172200" y="1828800"/>
            <a:ext cx="5461000" cy="4419600"/>
          </a:xfrm>
          <a:prstGeom prst="roundRect">
            <a:avLst>
              <a:gd name="adj" fmla="val 5714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9" name="AutoShape 5">
            <a:extLst>
              <a:ext uri="{FF2B5EF4-FFF2-40B4-BE49-F238E27FC236}">
                <a16:creationId xmlns:a16="http://schemas.microsoft.com/office/drawing/2014/main" id="{AF9B712E-B03A-C84A-A1BC-229D81418D3D}"/>
              </a:ext>
            </a:extLst>
          </p:cNvPr>
          <p:cNvSpPr/>
          <p:nvPr/>
        </p:nvSpPr>
        <p:spPr>
          <a:xfrm>
            <a:off x="6172200" y="2057400"/>
            <a:ext cx="152400" cy="3962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0" name="AutoShape 6">
            <a:extLst>
              <a:ext uri="{FF2B5EF4-FFF2-40B4-BE49-F238E27FC236}">
                <a16:creationId xmlns:a16="http://schemas.microsoft.com/office/drawing/2014/main" id="{5B2D2DBB-12E2-1145-89BA-D7480F664C31}"/>
              </a:ext>
            </a:extLst>
          </p:cNvPr>
          <p:cNvSpPr/>
          <p:nvPr/>
        </p:nvSpPr>
        <p:spPr>
          <a:xfrm>
            <a:off x="6426200" y="19812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接入交换机配置规范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1" name="AutoShape 7">
            <a:extLst>
              <a:ext uri="{FF2B5EF4-FFF2-40B4-BE49-F238E27FC236}">
                <a16:creationId xmlns:a16="http://schemas.microsoft.com/office/drawing/2014/main" id="{C608A1D3-7327-2E48-86C9-961CFC5CC0CE}"/>
              </a:ext>
            </a:extLst>
          </p:cNvPr>
          <p:cNvSpPr/>
          <p:nvPr/>
        </p:nvSpPr>
        <p:spPr>
          <a:xfrm>
            <a:off x="6426200" y="2455799"/>
            <a:ext cx="4953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85750" indent="-285750" algn="l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端口模式</a:t>
            </a:r>
            <a:r>
              <a:rPr lang="en-US" sz="1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742950" lvl="1" indent="-285750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0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终端接入口</a:t>
            </a:r>
            <a:r>
              <a:rPr lang="en-US" sz="1600" b="0" i="0" u="none" strike="noStrike" dirty="0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(F0/1-23) </a:t>
            </a:r>
            <a:r>
              <a:rPr lang="en-US" sz="1600" b="0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设为</a:t>
            </a:r>
            <a:r>
              <a:rPr lang="en-US" sz="1600" b="0" i="0" u="none" strike="noStrike" dirty="0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Access </a:t>
            </a:r>
            <a:r>
              <a:rPr lang="en-US" sz="1600" b="0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模式并划分至部门VLAN</a:t>
            </a:r>
            <a:endParaRPr lang="en-US" sz="1600" b="0" i="0" u="none" strike="noStrike" dirty="0">
              <a:solidFill>
                <a:schemeClr val="accent5">
                  <a:lumMod val="20000"/>
                  <a:lumOff val="8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742950" lvl="1" indent="-285750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0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上行口</a:t>
            </a:r>
            <a:r>
              <a:rPr lang="en-US" sz="1600" b="0" i="0" u="none" strike="noStrike" dirty="0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(F0/24) </a:t>
            </a:r>
            <a:r>
              <a:rPr lang="en-US" sz="1600" b="0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设为</a:t>
            </a:r>
            <a:r>
              <a:rPr lang="en-US" sz="1600" b="0" i="0" u="none" strike="noStrike" dirty="0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 Trunk </a:t>
            </a:r>
            <a:r>
              <a:rPr lang="en-US" sz="1600" b="0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模式</a:t>
            </a:r>
            <a:endParaRPr lang="en-US" sz="1400" dirty="0">
              <a:solidFill>
                <a:schemeClr val="accent5">
                  <a:lumMod val="20000"/>
                  <a:lumOff val="80000"/>
                </a:schemeClr>
              </a:solidFill>
              <a:sym typeface="Noto Sans SC"/>
            </a:endParaRPr>
          </a:p>
          <a:p>
            <a:pPr marL="285750" indent="-285750">
              <a:lnSpc>
                <a:spcPct val="108333"/>
              </a:lnSpc>
              <a:buFont typeface="Arial" panose="020B0604020202020204" pitchFamily="34" charset="0"/>
              <a:buChar char="•"/>
              <a:defRPr/>
            </a:pPr>
            <a:r>
              <a:rPr lang="en-US" sz="1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Cisco IOS </a:t>
            </a:r>
            <a:r>
              <a:rPr lang="en-US" sz="16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配置示例</a:t>
            </a:r>
            <a:r>
              <a:rPr lang="en-US" sz="1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</p:txBody>
      </p:sp>
      <p:sp>
        <p:nvSpPr>
          <p:cNvPr id="52" name="AutoShape 4">
            <a:extLst>
              <a:ext uri="{FF2B5EF4-FFF2-40B4-BE49-F238E27FC236}">
                <a16:creationId xmlns:a16="http://schemas.microsoft.com/office/drawing/2014/main" id="{6318A070-2ECC-FF42-9682-CE59B7A3468B}"/>
              </a:ext>
            </a:extLst>
          </p:cNvPr>
          <p:cNvSpPr/>
          <p:nvPr/>
        </p:nvSpPr>
        <p:spPr>
          <a:xfrm>
            <a:off x="457200" y="1828800"/>
            <a:ext cx="5461000" cy="4419600"/>
          </a:xfrm>
          <a:prstGeom prst="roundRect">
            <a:avLst>
              <a:gd name="adj" fmla="val 5714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3A5BA2-F053-814D-9F7A-B37EE849C3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99" y="1985010"/>
            <a:ext cx="4953001" cy="1637468"/>
          </a:xfrm>
          <a:prstGeom prst="rect">
            <a:avLst/>
          </a:prstGeom>
        </p:spPr>
      </p:pic>
      <p:sp>
        <p:nvSpPr>
          <p:cNvPr id="54" name="AutoShape 6">
            <a:extLst>
              <a:ext uri="{FF2B5EF4-FFF2-40B4-BE49-F238E27FC236}">
                <a16:creationId xmlns:a16="http://schemas.microsoft.com/office/drawing/2014/main" id="{B21BD3CF-4F61-174C-96AE-F596D01FDA7B}"/>
              </a:ext>
            </a:extLst>
          </p:cNvPr>
          <p:cNvSpPr/>
          <p:nvPr/>
        </p:nvSpPr>
        <p:spPr>
          <a:xfrm>
            <a:off x="2730499" y="3568722"/>
            <a:ext cx="914400" cy="4199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dirty="0" err="1">
                <a:solidFill>
                  <a:schemeClr val="bg1"/>
                </a:solidFill>
              </a:rPr>
              <a:t>VLAN配置结果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52BC0E-45DA-474B-8CDF-7B8E276DB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98" y="4170299"/>
            <a:ext cx="4953001" cy="8200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7E2D31-B38A-0743-B4B8-6558E1420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98" y="5050652"/>
            <a:ext cx="4953001" cy="828207"/>
          </a:xfrm>
          <a:prstGeom prst="rect">
            <a:avLst/>
          </a:prstGeom>
        </p:spPr>
      </p:pic>
      <p:sp>
        <p:nvSpPr>
          <p:cNvPr id="55" name="AutoShape 6">
            <a:extLst>
              <a:ext uri="{FF2B5EF4-FFF2-40B4-BE49-F238E27FC236}">
                <a16:creationId xmlns:a16="http://schemas.microsoft.com/office/drawing/2014/main" id="{5E574738-6427-C54E-8BD9-42CC51C4DEC5}"/>
              </a:ext>
            </a:extLst>
          </p:cNvPr>
          <p:cNvSpPr/>
          <p:nvPr/>
        </p:nvSpPr>
        <p:spPr>
          <a:xfrm>
            <a:off x="2607942" y="5801590"/>
            <a:ext cx="1159511" cy="41993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dirty="0" err="1">
                <a:solidFill>
                  <a:schemeClr val="bg1"/>
                </a:solidFill>
              </a:rPr>
              <a:t>部分端口配置结果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6" name="AutoShape 13">
            <a:extLst>
              <a:ext uri="{FF2B5EF4-FFF2-40B4-BE49-F238E27FC236}">
                <a16:creationId xmlns:a16="http://schemas.microsoft.com/office/drawing/2014/main" id="{DE66E6B8-B4C9-C04F-AD8A-2FA8377B76E4}"/>
              </a:ext>
            </a:extLst>
          </p:cNvPr>
          <p:cNvSpPr/>
          <p:nvPr/>
        </p:nvSpPr>
        <p:spPr>
          <a:xfrm>
            <a:off x="6469380" y="4055999"/>
            <a:ext cx="4953000" cy="1963801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7" name="AutoShape 14">
            <a:extLst>
              <a:ext uri="{FF2B5EF4-FFF2-40B4-BE49-F238E27FC236}">
                <a16:creationId xmlns:a16="http://schemas.microsoft.com/office/drawing/2014/main" id="{582945D8-03DD-1046-B7F2-126A06FC15CF}"/>
              </a:ext>
            </a:extLst>
          </p:cNvPr>
          <p:cNvSpPr/>
          <p:nvPr/>
        </p:nvSpPr>
        <p:spPr>
          <a:xfrm>
            <a:off x="6705600" y="4035297"/>
            <a:ext cx="4673600" cy="202218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interface </a:t>
            </a:r>
            <a:r>
              <a:rPr lang="en-US" sz="8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fastEthernet</a:t>
            </a: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0/1</a:t>
            </a:r>
            <a:r>
              <a:rPr lang="zh-CN" alt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配置 </a:t>
            </a:r>
            <a:r>
              <a:rPr lang="en-US" altLang="zh-CN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F0/1，</a:t>
            </a:r>
            <a:r>
              <a:rPr lang="zh-CN" alt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连接 </a:t>
            </a:r>
            <a:r>
              <a:rPr lang="en-US" altLang="zh-CN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PC-CEO-1</a:t>
            </a:r>
            <a:endParaRPr lang="en-US" sz="800" b="0" i="0" u="none" strike="noStrike" dirty="0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switchport mode access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switchport access </a:t>
            </a:r>
            <a:r>
              <a:rPr lang="en-US" sz="8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vlan</a:t>
            </a: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10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spanning-tree </a:t>
            </a:r>
            <a:r>
              <a:rPr lang="en-US" sz="8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portfast</a:t>
            </a:r>
            <a:endParaRPr lang="en-US" sz="800" b="0" i="0" u="none" strike="noStrike" dirty="0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endParaRPr lang="en-US" sz="800" b="0" i="0" u="none" strike="noStrike" dirty="0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interface </a:t>
            </a:r>
            <a:r>
              <a:rPr lang="en-US" sz="8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fastEthernet</a:t>
            </a: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0/24</a:t>
            </a:r>
            <a:r>
              <a:rPr lang="zh-CN" alt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配置 </a:t>
            </a:r>
            <a:r>
              <a:rPr lang="en-US" altLang="zh-CN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F0/24，</a:t>
            </a:r>
            <a:r>
              <a:rPr lang="zh-CN" alt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上联核心交换机 </a:t>
            </a:r>
            <a:r>
              <a:rPr lang="en-US" altLang="zh-CN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Core-SW1</a:t>
            </a:r>
            <a:endParaRPr lang="en-US" sz="800" b="0" i="0" u="none" strike="noStrike" dirty="0">
              <a:solidFill>
                <a:srgbClr val="E5E7E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switchport mode trunk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switchport trunk allowed </a:t>
            </a:r>
            <a:r>
              <a:rPr lang="en-US" sz="8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vlan</a:t>
            </a:r>
            <a:r>
              <a:rPr lang="en-US" sz="8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10</a:t>
            </a:r>
          </a:p>
        </p:txBody>
      </p:sp>
    </p:spTree>
    <p:extLst>
      <p:ext uri="{BB962C8B-B14F-4D97-AF65-F5344CB8AC3E}">
        <p14:creationId xmlns:p14="http://schemas.microsoft.com/office/powerpoint/2010/main" val="2051147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i="0" strike="noStrike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核心层实施：网络的枢纽与大脑</a:t>
            </a:r>
            <a:endParaRPr lang="en-US" sz="1100" dirty="0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0BE0D968-642A-2348-B8AD-66890D3CBA45}"/>
              </a:ext>
            </a:extLst>
          </p:cNvPr>
          <p:cNvSpPr/>
          <p:nvPr/>
        </p:nvSpPr>
        <p:spPr>
          <a:xfrm>
            <a:off x="660399" y="1772539"/>
            <a:ext cx="5207000" cy="4826000"/>
          </a:xfrm>
          <a:prstGeom prst="roundRect">
            <a:avLst>
              <a:gd name="adj" fmla="val 3157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5">
            <a:extLst>
              <a:ext uri="{FF2B5EF4-FFF2-40B4-BE49-F238E27FC236}">
                <a16:creationId xmlns:a16="http://schemas.microsoft.com/office/drawing/2014/main" id="{E89968F1-6B3E-C54F-846B-2192333BDFDC}"/>
              </a:ext>
            </a:extLst>
          </p:cNvPr>
          <p:cNvSpPr/>
          <p:nvPr/>
        </p:nvSpPr>
        <p:spPr>
          <a:xfrm>
            <a:off x="965199" y="2077339"/>
            <a:ext cx="4597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核心交换机核心功能</a:t>
            </a:r>
            <a:endParaRPr lang="en-US" sz="1100"/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C96611F6-5720-4F4C-9D9D-9BAB1638B3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199" y="2915539"/>
            <a:ext cx="355600" cy="355600"/>
          </a:xfrm>
          <a:prstGeom prst="rect">
            <a:avLst/>
          </a:prstGeom>
        </p:spPr>
      </p:pic>
      <p:sp>
        <p:nvSpPr>
          <p:cNvPr id="17" name="AutoShape 7">
            <a:extLst>
              <a:ext uri="{FF2B5EF4-FFF2-40B4-BE49-F238E27FC236}">
                <a16:creationId xmlns:a16="http://schemas.microsoft.com/office/drawing/2014/main" id="{5A927BCA-9919-D64F-BF4A-E22FC9ED02D2}"/>
              </a:ext>
            </a:extLst>
          </p:cNvPr>
          <p:cNvSpPr/>
          <p:nvPr/>
        </p:nvSpPr>
        <p:spPr>
          <a:xfrm>
            <a:off x="1549399" y="2864739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启用 IP 路由能力</a:t>
            </a:r>
            <a:endParaRPr lang="en-US" sz="110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在两台核心交换机上开启 `ip routing`，使其具备三层转发能力，是网络通信的“大脑”。</a:t>
            </a:r>
          </a:p>
        </p:txBody>
      </p:sp>
      <p:pic>
        <p:nvPicPr>
          <p:cNvPr id="18" name="Picture 8">
            <a:extLst>
              <a:ext uri="{FF2B5EF4-FFF2-40B4-BE49-F238E27FC236}">
                <a16:creationId xmlns:a16="http://schemas.microsoft.com/office/drawing/2014/main" id="{5DF44438-F8F0-A747-8AB8-1F962B2074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199" y="4058539"/>
            <a:ext cx="355600" cy="355600"/>
          </a:xfrm>
          <a:prstGeom prst="rect">
            <a:avLst/>
          </a:prstGeom>
        </p:spPr>
      </p:pic>
      <p:sp>
        <p:nvSpPr>
          <p:cNvPr id="19" name="AutoShape 9">
            <a:extLst>
              <a:ext uri="{FF2B5EF4-FFF2-40B4-BE49-F238E27FC236}">
                <a16:creationId xmlns:a16="http://schemas.microsoft.com/office/drawing/2014/main" id="{D0097D9F-F8A3-7C49-B8B8-A3AC19FC548E}"/>
              </a:ext>
            </a:extLst>
          </p:cNvPr>
          <p:cNvSpPr/>
          <p:nvPr/>
        </p:nvSpPr>
        <p:spPr>
          <a:xfrm>
            <a:off x="1549399" y="4007739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</a:t>
            </a:r>
            <a:r>
              <a:rPr lang="en-US" sz="1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SVI </a:t>
            </a:r>
            <a:r>
              <a:rPr lang="en-US" sz="16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逻辑接口</a:t>
            </a:r>
            <a:r>
              <a:rPr lang="en-US" sz="1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16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网关</a:t>
            </a:r>
            <a:r>
              <a:rPr lang="en-US" sz="16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Core-SW1: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配置北京所有业务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VLAN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的网关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IP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Core-SW2: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配置燕郊所有业务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VLAN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的网关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IP</a:t>
            </a:r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id="{DC6585AB-D283-614F-BB19-FFF1783E29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5199" y="5455539"/>
            <a:ext cx="355600" cy="355600"/>
          </a:xfrm>
          <a:prstGeom prst="rect">
            <a:avLst/>
          </a:prstGeom>
        </p:spPr>
      </p:pic>
      <p:sp>
        <p:nvSpPr>
          <p:cNvPr id="21" name="AutoShape 11">
            <a:extLst>
              <a:ext uri="{FF2B5EF4-FFF2-40B4-BE49-F238E27FC236}">
                <a16:creationId xmlns:a16="http://schemas.microsoft.com/office/drawing/2014/main" id="{1E1B0609-6AFB-284F-BC5E-5F25BBFE7AD9}"/>
              </a:ext>
            </a:extLst>
          </p:cNvPr>
          <p:cNvSpPr/>
          <p:nvPr/>
        </p:nvSpPr>
        <p:spPr>
          <a:xfrm>
            <a:off x="1549399" y="5404739"/>
            <a:ext cx="393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三层物理接口互联</a:t>
            </a:r>
            <a:endParaRPr lang="en-US" sz="110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核心交换机与出口路由器之间，配置为三层接口模式进行点对点互联。</a:t>
            </a:r>
          </a:p>
        </p:txBody>
      </p:sp>
      <p:sp>
        <p:nvSpPr>
          <p:cNvPr id="22" name="AutoShape 13">
            <a:extLst>
              <a:ext uri="{FF2B5EF4-FFF2-40B4-BE49-F238E27FC236}">
                <a16:creationId xmlns:a16="http://schemas.microsoft.com/office/drawing/2014/main" id="{60B739FB-5E1D-CF49-AED1-7F331584DBB3}"/>
              </a:ext>
            </a:extLst>
          </p:cNvPr>
          <p:cNvSpPr/>
          <p:nvPr/>
        </p:nvSpPr>
        <p:spPr>
          <a:xfrm>
            <a:off x="6172199" y="4261739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14">
            <a:extLst>
              <a:ext uri="{FF2B5EF4-FFF2-40B4-BE49-F238E27FC236}">
                <a16:creationId xmlns:a16="http://schemas.microsoft.com/office/drawing/2014/main" id="{582945D8-03DD-1046-B7F2-126A06FC15CF}"/>
              </a:ext>
            </a:extLst>
          </p:cNvPr>
          <p:cNvSpPr/>
          <p:nvPr/>
        </p:nvSpPr>
        <p:spPr>
          <a:xfrm>
            <a:off x="6426199" y="4452239"/>
            <a:ext cx="4699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关键配置命令</a:t>
            </a:r>
            <a:r>
              <a:rPr lang="en-US" sz="1500" b="1" i="0" u="none" strike="noStrike" dirty="0">
                <a:solidFill>
                  <a:srgbClr val="6EE7B7"/>
                </a:solidFill>
                <a:latin typeface="Noto Sans SC"/>
                <a:ea typeface="Noto Sans SC"/>
                <a:cs typeface="Noto Sans SC"/>
                <a:sym typeface="Noto Sans SC"/>
              </a:rPr>
              <a:t> (Cisco IOS)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ip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routing !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开启三层路由功能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interface Vlan10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ip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address 192.168.10.1 255.255.255.0 !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网关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interface Fa0/24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no switchport ! </a:t>
            </a: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切换为三层接口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ip</a:t>
            </a:r>
            <a:r>
              <a:rPr lang="en-US" sz="1200" b="0" i="0" u="none" strike="noStrike" dirty="0">
                <a:solidFill>
                  <a:srgbClr val="E5E7EB"/>
                </a:solidFill>
                <a:latin typeface="Roboto Mono"/>
                <a:ea typeface="Roboto Mono"/>
                <a:cs typeface="Roboto Mono"/>
                <a:sym typeface="Roboto Mono"/>
              </a:rPr>
              <a:t> address 10.0.0.1 255.255.255.252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863CEC6-E426-C841-9458-87AC6568AE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199" y="1772539"/>
            <a:ext cx="5207000" cy="236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58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路由与主备链路实施：实现网络高可用</a:t>
            </a:r>
            <a:endParaRPr lang="en-US" sz="1100" dirty="0"/>
          </a:p>
        </p:txBody>
      </p:sp>
      <p:sp>
        <p:nvSpPr>
          <p:cNvPr id="24" name="AutoShape 4">
            <a:extLst>
              <a:ext uri="{FF2B5EF4-FFF2-40B4-BE49-F238E27FC236}">
                <a16:creationId xmlns:a16="http://schemas.microsoft.com/office/drawing/2014/main" id="{20ED907C-7AA4-0746-AA9C-33F3E2C1A0CB}"/>
              </a:ext>
            </a:extLst>
          </p:cNvPr>
          <p:cNvSpPr/>
          <p:nvPr/>
        </p:nvSpPr>
        <p:spPr>
          <a:xfrm>
            <a:off x="675639" y="1905000"/>
            <a:ext cx="5207000" cy="4572000"/>
          </a:xfrm>
          <a:prstGeom prst="roundRect">
            <a:avLst>
              <a:gd name="adj" fmla="val 3333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5">
            <a:extLst>
              <a:ext uri="{FF2B5EF4-FFF2-40B4-BE49-F238E27FC236}">
                <a16:creationId xmlns:a16="http://schemas.microsoft.com/office/drawing/2014/main" id="{761F1140-4EFB-5A4E-B1BF-06F6AA893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639" y="2159000"/>
            <a:ext cx="304800" cy="304800"/>
          </a:xfrm>
          <a:prstGeom prst="rect">
            <a:avLst/>
          </a:prstGeom>
        </p:spPr>
      </p:pic>
      <p:sp>
        <p:nvSpPr>
          <p:cNvPr id="26" name="AutoShape 6">
            <a:extLst>
              <a:ext uri="{FF2B5EF4-FFF2-40B4-BE49-F238E27FC236}">
                <a16:creationId xmlns:a16="http://schemas.microsoft.com/office/drawing/2014/main" id="{88D47302-0AFA-D941-9ED5-261F90C26131}"/>
              </a:ext>
            </a:extLst>
          </p:cNvPr>
          <p:cNvSpPr/>
          <p:nvPr/>
        </p:nvSpPr>
        <p:spPr>
          <a:xfrm>
            <a:off x="1361439" y="213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OSPF 动态路由协议部署</a:t>
            </a:r>
            <a:endParaRPr lang="en-US" sz="1100"/>
          </a:p>
        </p:txBody>
      </p:sp>
      <p:pic>
        <p:nvPicPr>
          <p:cNvPr id="27" name="Picture 7">
            <a:extLst>
              <a:ext uri="{FF2B5EF4-FFF2-40B4-BE49-F238E27FC236}">
                <a16:creationId xmlns:a16="http://schemas.microsoft.com/office/drawing/2014/main" id="{9AC0E2CC-53E7-DF40-AC9F-5F550B8AC6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191" b="20191"/>
          <a:stretch>
            <a:fillRect/>
          </a:stretch>
        </p:blipFill>
        <p:spPr>
          <a:xfrm>
            <a:off x="929639" y="2794000"/>
            <a:ext cx="4699000" cy="1651000"/>
          </a:xfrm>
          <a:prstGeom prst="roundRect">
            <a:avLst>
              <a:gd name="adj" fmla="val 615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8" name="AutoShape 8">
            <a:extLst>
              <a:ext uri="{FF2B5EF4-FFF2-40B4-BE49-F238E27FC236}">
                <a16:creationId xmlns:a16="http://schemas.microsoft.com/office/drawing/2014/main" id="{75BCD4D0-32C3-2A47-8726-D1DFECAD7957}"/>
              </a:ext>
            </a:extLst>
          </p:cNvPr>
          <p:cNvSpPr/>
          <p:nvPr/>
        </p:nvSpPr>
        <p:spPr>
          <a:xfrm>
            <a:off x="929639" y="46355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具备动态适应网络拓扑变化的能力，故障发生后能实现秒级快速收敛，同时支持多区域划分以优化网络架构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实施要点：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将网络中所有三层互联设备（路由器、核心交换机）的互联接口统一划入OSPF的</a:t>
            </a:r>
            <a:r>
              <a:rPr lang="zh-CN" alt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Area 0（骨干区域）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并在进程中宣告所有直连网段，确保全网路由可达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9" name="AutoShape 9">
            <a:extLst>
              <a:ext uri="{FF2B5EF4-FFF2-40B4-BE49-F238E27FC236}">
                <a16:creationId xmlns:a16="http://schemas.microsoft.com/office/drawing/2014/main" id="{B3EDB092-2099-9942-9070-BCE1B0CE55EB}"/>
              </a:ext>
            </a:extLst>
          </p:cNvPr>
          <p:cNvSpPr/>
          <p:nvPr/>
        </p:nvSpPr>
        <p:spPr>
          <a:xfrm>
            <a:off x="6136639" y="1905000"/>
            <a:ext cx="5207000" cy="4572000"/>
          </a:xfrm>
          <a:prstGeom prst="roundRect">
            <a:avLst>
              <a:gd name="adj" fmla="val 3333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0" name="Picture 10">
            <a:extLst>
              <a:ext uri="{FF2B5EF4-FFF2-40B4-BE49-F238E27FC236}">
                <a16:creationId xmlns:a16="http://schemas.microsoft.com/office/drawing/2014/main" id="{F6DBBD5D-E5F9-D041-8577-06F4910F48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90639" y="2159000"/>
            <a:ext cx="304800" cy="304800"/>
          </a:xfrm>
          <a:prstGeom prst="rect">
            <a:avLst/>
          </a:prstGeom>
        </p:spPr>
      </p:pic>
      <p:sp>
        <p:nvSpPr>
          <p:cNvPr id="31" name="AutoShape 11">
            <a:extLst>
              <a:ext uri="{FF2B5EF4-FFF2-40B4-BE49-F238E27FC236}">
                <a16:creationId xmlns:a16="http://schemas.microsoft.com/office/drawing/2014/main" id="{A54BB48C-EDE7-1949-9719-9264DFAC55F4}"/>
              </a:ext>
            </a:extLst>
          </p:cNvPr>
          <p:cNvSpPr/>
          <p:nvPr/>
        </p:nvSpPr>
        <p:spPr>
          <a:xfrm>
            <a:off x="6822439" y="2133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主备链路冗余与自动切换</a:t>
            </a:r>
            <a:endParaRPr lang="en-US" sz="1100"/>
          </a:p>
        </p:txBody>
      </p:sp>
      <p:sp>
        <p:nvSpPr>
          <p:cNvPr id="33" name="AutoShape 13">
            <a:extLst>
              <a:ext uri="{FF2B5EF4-FFF2-40B4-BE49-F238E27FC236}">
                <a16:creationId xmlns:a16="http://schemas.microsoft.com/office/drawing/2014/main" id="{1CDBC76F-7741-184F-8377-6991CD6C9527}"/>
              </a:ext>
            </a:extLst>
          </p:cNvPr>
          <p:cNvSpPr/>
          <p:nvPr/>
        </p:nvSpPr>
        <p:spPr>
          <a:xfrm>
            <a:off x="6390639" y="4635500"/>
            <a:ext cx="4699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流量控制原理：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通过调整OSPF接口的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Cost（开销）值，来定义路径的优先级。OSPF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协议默认选择开销总和最小的路径进行转发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配置策略：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主链路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(G0/0)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配置低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Cost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值（如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Cost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10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）作为优选；备用链路(G0/1)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配置高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Cost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值（如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Cost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100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）作为备份。当主链路故障时，OSPF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协议将自动触发收敛，流量毫秒级切换至备用链路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F9AE77-3FBE-7648-9987-DFE019CDEC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7867" y="2795067"/>
            <a:ext cx="4731772" cy="164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87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无线网络实施：提供灵活办公方式</a:t>
            </a:r>
            <a:endParaRPr lang="en-US" sz="1100" dirty="0"/>
          </a:p>
        </p:txBody>
      </p:sp>
      <p:sp>
        <p:nvSpPr>
          <p:cNvPr id="14" name="AutoShape 4">
            <a:extLst>
              <a:ext uri="{FF2B5EF4-FFF2-40B4-BE49-F238E27FC236}">
                <a16:creationId xmlns:a16="http://schemas.microsoft.com/office/drawing/2014/main" id="{F085051C-8FBC-0248-9799-1C9C98D43BED}"/>
              </a:ext>
            </a:extLst>
          </p:cNvPr>
          <p:cNvSpPr/>
          <p:nvPr/>
        </p:nvSpPr>
        <p:spPr>
          <a:xfrm>
            <a:off x="762000" y="1757299"/>
            <a:ext cx="5207000" cy="2286000"/>
          </a:xfrm>
          <a:prstGeom prst="roundRect">
            <a:avLst>
              <a:gd name="adj" fmla="val 4444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5">
            <a:extLst>
              <a:ext uri="{FF2B5EF4-FFF2-40B4-BE49-F238E27FC236}">
                <a16:creationId xmlns:a16="http://schemas.microsoft.com/office/drawing/2014/main" id="{5E5E5A92-CF32-554D-8A04-FF703139E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11299"/>
            <a:ext cx="355600" cy="355600"/>
          </a:xfrm>
          <a:prstGeom prst="rect">
            <a:avLst/>
          </a:prstGeom>
        </p:spPr>
      </p:pic>
      <p:sp>
        <p:nvSpPr>
          <p:cNvPr id="16" name="AutoShape 6">
            <a:extLst>
              <a:ext uri="{FF2B5EF4-FFF2-40B4-BE49-F238E27FC236}">
                <a16:creationId xmlns:a16="http://schemas.microsoft.com/office/drawing/2014/main" id="{49E5BAD4-7044-C446-81C9-459BA0E988FC}"/>
              </a:ext>
            </a:extLst>
          </p:cNvPr>
          <p:cNvSpPr/>
          <p:nvPr/>
        </p:nvSpPr>
        <p:spPr>
          <a:xfrm>
            <a:off x="1524000" y="1985899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无线接入设计</a:t>
            </a:r>
            <a:endParaRPr lang="en-US" sz="1100" dirty="0"/>
          </a:p>
        </p:txBody>
      </p:sp>
      <p:sp>
        <p:nvSpPr>
          <p:cNvPr id="17" name="AutoShape 7">
            <a:extLst>
              <a:ext uri="{FF2B5EF4-FFF2-40B4-BE49-F238E27FC236}">
                <a16:creationId xmlns:a16="http://schemas.microsoft.com/office/drawing/2014/main" id="{9BBFBF9F-A4C3-1B4B-81CD-2498146ED7CC}"/>
              </a:ext>
            </a:extLst>
          </p:cNvPr>
          <p:cNvSpPr/>
          <p:nvPr/>
        </p:nvSpPr>
        <p:spPr>
          <a:xfrm>
            <a:off x="1016000" y="2646299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● VLAN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逻辑隔离：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北京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AP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统一接入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VLAN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60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，燕郊 AP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统一接入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VLAN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180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，实现物理与逻辑双重隔离，保障网络访问安全。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架构模式：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采用胖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AP (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自治型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模式部署，每台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AP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独立配置与运行，避免单点故障，提升系统整体稳定性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AutoShape 8">
            <a:extLst>
              <a:ext uri="{FF2B5EF4-FFF2-40B4-BE49-F238E27FC236}">
                <a16:creationId xmlns:a16="http://schemas.microsoft.com/office/drawing/2014/main" id="{11AB074C-ABB8-CD4D-93BD-D9A2C58CF6CB}"/>
              </a:ext>
            </a:extLst>
          </p:cNvPr>
          <p:cNvSpPr/>
          <p:nvPr/>
        </p:nvSpPr>
        <p:spPr>
          <a:xfrm>
            <a:off x="762000" y="4297299"/>
            <a:ext cx="5207000" cy="2286000"/>
          </a:xfrm>
          <a:prstGeom prst="roundRect">
            <a:avLst>
              <a:gd name="adj" fmla="val 4444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9">
            <a:extLst>
              <a:ext uri="{FF2B5EF4-FFF2-40B4-BE49-F238E27FC236}">
                <a16:creationId xmlns:a16="http://schemas.microsoft.com/office/drawing/2014/main" id="{DDCE0F92-11AE-DE43-BD3D-EA8872F42E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551299"/>
            <a:ext cx="355600" cy="355600"/>
          </a:xfrm>
          <a:prstGeom prst="rect">
            <a:avLst/>
          </a:prstGeom>
        </p:spPr>
      </p:pic>
      <p:sp>
        <p:nvSpPr>
          <p:cNvPr id="20" name="AutoShape 10">
            <a:extLst>
              <a:ext uri="{FF2B5EF4-FFF2-40B4-BE49-F238E27FC236}">
                <a16:creationId xmlns:a16="http://schemas.microsoft.com/office/drawing/2014/main" id="{66609F86-48BD-F14C-917B-83D0D4032F3C}"/>
              </a:ext>
            </a:extLst>
          </p:cNvPr>
          <p:cNvSpPr/>
          <p:nvPr/>
        </p:nvSpPr>
        <p:spPr>
          <a:xfrm>
            <a:off x="1524000" y="4525899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AP 配置规范</a:t>
            </a:r>
            <a:endParaRPr lang="en-US" sz="1100"/>
          </a:p>
        </p:txBody>
      </p:sp>
      <p:sp>
        <p:nvSpPr>
          <p:cNvPr id="21" name="AutoShape 11">
            <a:extLst>
              <a:ext uri="{FF2B5EF4-FFF2-40B4-BE49-F238E27FC236}">
                <a16:creationId xmlns:a16="http://schemas.microsoft.com/office/drawing/2014/main" id="{0C518244-227B-CE47-B361-839BCB818BA7}"/>
              </a:ext>
            </a:extLst>
          </p:cNvPr>
          <p:cNvSpPr/>
          <p:nvPr/>
        </p:nvSpPr>
        <p:spPr>
          <a:xfrm>
            <a:off x="1016000" y="5186299"/>
            <a:ext cx="469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● 业务配置：</a:t>
            </a:r>
            <a:r>
              <a:rPr lang="en-US" sz="13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全网统一配置内部 SSID，统一使用 WPA2-PSK 高强度加密标准，确保接入认证的安全性。</a:t>
            </a:r>
            <a:endParaRPr lang="en-US" sz="110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● 端口互联：</a:t>
            </a:r>
            <a:r>
              <a:rPr lang="en-US" sz="1300" b="0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AP 的有线上行端口配置为 Access 模式，直接划入对应办公区的无线业务 VLAN，简化网络结构，便于维护管理。</a:t>
            </a: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273443A5-365C-B846-813C-30A86248F66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531" b="4531"/>
          <a:stretch>
            <a:fillRect/>
          </a:stretch>
        </p:blipFill>
        <p:spPr>
          <a:xfrm>
            <a:off x="6223000" y="2138299"/>
            <a:ext cx="5207000" cy="3556000"/>
          </a:xfrm>
          <a:prstGeom prst="roundRect">
            <a:avLst>
              <a:gd name="adj" fmla="val 4285"/>
            </a:avLst>
          </a:prstGeom>
          <a:noFill/>
          <a:ln w="38100" cap="flat" cmpd="sng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3" name="AutoShape 13">
            <a:extLst>
              <a:ext uri="{FF2B5EF4-FFF2-40B4-BE49-F238E27FC236}">
                <a16:creationId xmlns:a16="http://schemas.microsoft.com/office/drawing/2014/main" id="{59EA20F9-5167-4E4B-8559-999568D088BD}"/>
              </a:ext>
            </a:extLst>
          </p:cNvPr>
          <p:cNvSpPr/>
          <p:nvPr/>
        </p:nvSpPr>
        <p:spPr>
          <a:xfrm>
            <a:off x="6223000" y="5884799"/>
            <a:ext cx="520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规范统一的无线接入架构，助力随时随地高效办公</a:t>
            </a:r>
            <a:endParaRPr lang="en-US" sz="11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400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服务器区实施：核心数据中心</a:t>
            </a:r>
            <a:endParaRPr lang="en-US" sz="1100" dirty="0"/>
          </a:p>
        </p:txBody>
      </p:sp>
      <p:sp>
        <p:nvSpPr>
          <p:cNvPr id="33" name="AutoShape 4">
            <a:extLst>
              <a:ext uri="{FF2B5EF4-FFF2-40B4-BE49-F238E27FC236}">
                <a16:creationId xmlns:a16="http://schemas.microsoft.com/office/drawing/2014/main" id="{5EFACA37-5EA0-B447-8C36-13B5730ED08B}"/>
              </a:ext>
            </a:extLst>
          </p:cNvPr>
          <p:cNvSpPr/>
          <p:nvPr/>
        </p:nvSpPr>
        <p:spPr>
          <a:xfrm>
            <a:off x="762000" y="1757299"/>
            <a:ext cx="5207000" cy="2159000"/>
          </a:xfrm>
          <a:prstGeom prst="roundRect">
            <a:avLst>
              <a:gd name="adj" fmla="val 7058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4" name="Picture 5">
            <a:extLst>
              <a:ext uri="{FF2B5EF4-FFF2-40B4-BE49-F238E27FC236}">
                <a16:creationId xmlns:a16="http://schemas.microsoft.com/office/drawing/2014/main" id="{F10F2C80-4A7A-6449-AE72-87D8EB425D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11299"/>
            <a:ext cx="355600" cy="355600"/>
          </a:xfrm>
          <a:prstGeom prst="rect">
            <a:avLst/>
          </a:prstGeom>
        </p:spPr>
      </p:pic>
      <p:sp>
        <p:nvSpPr>
          <p:cNvPr id="35" name="AutoShape 6">
            <a:extLst>
              <a:ext uri="{FF2B5EF4-FFF2-40B4-BE49-F238E27FC236}">
                <a16:creationId xmlns:a16="http://schemas.microsoft.com/office/drawing/2014/main" id="{D675FC97-038A-8B44-A762-69D5C3413170}"/>
              </a:ext>
            </a:extLst>
          </p:cNvPr>
          <p:cNvSpPr/>
          <p:nvPr/>
        </p:nvSpPr>
        <p:spPr>
          <a:xfrm>
            <a:off x="1524000" y="1985899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服务器区网络设计</a:t>
            </a:r>
            <a:endParaRPr lang="en-US" sz="1100"/>
          </a:p>
        </p:txBody>
      </p:sp>
      <p:sp>
        <p:nvSpPr>
          <p:cNvPr id="36" name="AutoShape 7">
            <a:extLst>
              <a:ext uri="{FF2B5EF4-FFF2-40B4-BE49-F238E27FC236}">
                <a16:creationId xmlns:a16="http://schemas.microsoft.com/office/drawing/2014/main" id="{3801C7D7-5283-9C48-A0FE-19E1981A5E7B}"/>
              </a:ext>
            </a:extLst>
          </p:cNvPr>
          <p:cNvSpPr/>
          <p:nvPr/>
        </p:nvSpPr>
        <p:spPr>
          <a:xfrm>
            <a:off x="1016000" y="2646299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VLAN划分：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划分独立的</a:t>
            </a:r>
            <a:r>
              <a:rPr lang="en-US" sz="14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VLAN</a:t>
            </a: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 190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，与办公网实现严格的逻辑隔离，保障数据安全。</a:t>
            </a:r>
            <a:endParaRPr lang="en-US" sz="1100" dirty="0"/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网关配置：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核心交换机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Core-SW2 </a:t>
            </a:r>
            <a:r>
              <a:rPr lang="en-US" sz="14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上配置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SVI 接口作为网关，地址为</a:t>
            </a:r>
            <a:r>
              <a:rPr lang="en-US" sz="14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192.168.190.1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37" name="AutoShape 8">
            <a:extLst>
              <a:ext uri="{FF2B5EF4-FFF2-40B4-BE49-F238E27FC236}">
                <a16:creationId xmlns:a16="http://schemas.microsoft.com/office/drawing/2014/main" id="{E611B60F-FDA9-6643-A23B-A631987BAC37}"/>
              </a:ext>
            </a:extLst>
          </p:cNvPr>
          <p:cNvSpPr/>
          <p:nvPr/>
        </p:nvSpPr>
        <p:spPr>
          <a:xfrm>
            <a:off x="762000" y="4170299"/>
            <a:ext cx="5207000" cy="2413000"/>
          </a:xfrm>
          <a:prstGeom prst="roundRect">
            <a:avLst>
              <a:gd name="adj" fmla="val 6315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9">
            <a:extLst>
              <a:ext uri="{FF2B5EF4-FFF2-40B4-BE49-F238E27FC236}">
                <a16:creationId xmlns:a16="http://schemas.microsoft.com/office/drawing/2014/main" id="{C6D88D25-9661-9149-9B2F-E84C5D818F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24299"/>
            <a:ext cx="355600" cy="355600"/>
          </a:xfrm>
          <a:prstGeom prst="rect">
            <a:avLst/>
          </a:prstGeom>
        </p:spPr>
      </p:pic>
      <p:sp>
        <p:nvSpPr>
          <p:cNvPr id="39" name="AutoShape 10">
            <a:extLst>
              <a:ext uri="{FF2B5EF4-FFF2-40B4-BE49-F238E27FC236}">
                <a16:creationId xmlns:a16="http://schemas.microsoft.com/office/drawing/2014/main" id="{010116B1-0DC5-8141-AD61-28B27CFDBED9}"/>
              </a:ext>
            </a:extLst>
          </p:cNvPr>
          <p:cNvSpPr/>
          <p:nvPr/>
        </p:nvSpPr>
        <p:spPr>
          <a:xfrm>
            <a:off x="1524000" y="4398899"/>
            <a:ext cx="4191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核心服务器 IP 配置</a:t>
            </a:r>
            <a:endParaRPr lang="en-US" sz="1100"/>
          </a:p>
        </p:txBody>
      </p:sp>
      <p:sp>
        <p:nvSpPr>
          <p:cNvPr id="40" name="AutoShape 11">
            <a:extLst>
              <a:ext uri="{FF2B5EF4-FFF2-40B4-BE49-F238E27FC236}">
                <a16:creationId xmlns:a16="http://schemas.microsoft.com/office/drawing/2014/main" id="{95CD9ACC-E800-8B4B-8C2D-C1432D0335D0}"/>
              </a:ext>
            </a:extLst>
          </p:cNvPr>
          <p:cNvSpPr/>
          <p:nvPr/>
        </p:nvSpPr>
        <p:spPr>
          <a:xfrm>
            <a:off x="1016000" y="5059299"/>
            <a:ext cx="4699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▸ 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文件服务器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(File-Server)：</a:t>
            </a:r>
            <a:endParaRPr lang="en-US" sz="1100" dirty="0"/>
          </a:p>
          <a:p>
            <a:pPr marL="19050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IP: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192.168.190.10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网关: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192.168.190.1</a:t>
            </a:r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▸ </a:t>
            </a:r>
            <a:r>
              <a:rPr lang="en-US" sz="14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邮件服务器</a:t>
            </a:r>
            <a:r>
              <a:rPr lang="en-US" sz="14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(Mail-Server)：</a:t>
            </a:r>
          </a:p>
          <a:p>
            <a:pPr marL="190500"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IP: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192.168.190.20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网关: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192.168.190.1</a:t>
            </a:r>
          </a:p>
        </p:txBody>
      </p:sp>
      <p:sp>
        <p:nvSpPr>
          <p:cNvPr id="41" name="AutoShape 12">
            <a:extLst>
              <a:ext uri="{FF2B5EF4-FFF2-40B4-BE49-F238E27FC236}">
                <a16:creationId xmlns:a16="http://schemas.microsoft.com/office/drawing/2014/main" id="{B4131610-D452-774D-95ED-53EAB34C10F3}"/>
              </a:ext>
            </a:extLst>
          </p:cNvPr>
          <p:cNvSpPr/>
          <p:nvPr/>
        </p:nvSpPr>
        <p:spPr>
          <a:xfrm>
            <a:off x="6223000" y="1757299"/>
            <a:ext cx="5207000" cy="4826000"/>
          </a:xfrm>
          <a:prstGeom prst="roundRect">
            <a:avLst>
              <a:gd name="adj" fmla="val 3157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2" name="Picture 13">
            <a:extLst>
              <a:ext uri="{FF2B5EF4-FFF2-40B4-BE49-F238E27FC236}">
                <a16:creationId xmlns:a16="http://schemas.microsoft.com/office/drawing/2014/main" id="{7B49E31D-2350-FD4C-ACC2-CE035E01A9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0037" b="20037"/>
          <a:stretch>
            <a:fillRect/>
          </a:stretch>
        </p:blipFill>
        <p:spPr>
          <a:xfrm>
            <a:off x="6477000" y="2011299"/>
            <a:ext cx="4699000" cy="3683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</p:pic>
      <p:sp>
        <p:nvSpPr>
          <p:cNvPr id="43" name="AutoShape 14">
            <a:extLst>
              <a:ext uri="{FF2B5EF4-FFF2-40B4-BE49-F238E27FC236}">
                <a16:creationId xmlns:a16="http://schemas.microsoft.com/office/drawing/2014/main" id="{C545B73C-9590-CB44-B6FB-A8FF9B12A910}"/>
              </a:ext>
            </a:extLst>
          </p:cNvPr>
          <p:cNvSpPr/>
          <p:nvPr/>
        </p:nvSpPr>
        <p:spPr>
          <a:xfrm>
            <a:off x="6477000" y="5821299"/>
            <a:ext cx="469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图示：服务器网络参数配置示例界面</a:t>
            </a:r>
            <a:endParaRPr lang="en-US" sz="11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85605E4-5A75-6643-8CBE-DA4FF9C986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8602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2FF7A83-1E2F-A44C-86B7-6E3399B61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57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邮件服务实施：企业内外沟通枢纽</a:t>
            </a:r>
            <a:endParaRPr lang="en-US" sz="1100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F6CFFE00-6FC6-BE4A-A7BA-9F48D76CE5A1}"/>
              </a:ext>
            </a:extLst>
          </p:cNvPr>
          <p:cNvSpPr/>
          <p:nvPr/>
        </p:nvSpPr>
        <p:spPr>
          <a:xfrm>
            <a:off x="762000" y="55245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图：邮件服务器核心服务与域名配置</a:t>
            </a:r>
            <a:endParaRPr lang="en-US" sz="1100" b="1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03E95EB2-EA6A-F84B-959B-A9A3F639EFA2}"/>
              </a:ext>
            </a:extLst>
          </p:cNvPr>
          <p:cNvSpPr/>
          <p:nvPr/>
        </p:nvSpPr>
        <p:spPr>
          <a:xfrm>
            <a:off x="5842000" y="1778000"/>
            <a:ext cx="5588000" cy="2286000"/>
          </a:xfrm>
          <a:prstGeom prst="roundRect">
            <a:avLst>
              <a:gd name="adj" fmla="val 6666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4468E115-6A93-F64F-B4DC-16F3B9B90FEF}"/>
              </a:ext>
            </a:extLst>
          </p:cNvPr>
          <p:cNvSpPr/>
          <p:nvPr/>
        </p:nvSpPr>
        <p:spPr>
          <a:xfrm>
            <a:off x="5842000" y="2032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097EEF04-CE5B-2E4C-92EE-B413C684F54E}"/>
              </a:ext>
            </a:extLst>
          </p:cNvPr>
          <p:cNvSpPr/>
          <p:nvPr/>
        </p:nvSpPr>
        <p:spPr>
          <a:xfrm>
            <a:off x="6223000" y="1968500"/>
            <a:ext cx="4953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01 / </a:t>
            </a:r>
            <a:r>
              <a:rPr lang="en-US" sz="19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邮件服务器基础配置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服务组件：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开启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SMTP (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发送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)、POP3 (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接收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)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DNS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解析服务，构建完整的传输链路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域名映射：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设置企业域名为</a:t>
            </a:r>
            <a:r>
              <a:rPr lang="en-US" sz="1300" b="1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，并将子域名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mail.</a:t>
            </a:r>
            <a:r>
              <a:rPr lang="en-US" sz="1300" b="1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指向服务器IP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192.168.190.20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账号管理：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为所有员工创建专属邮箱账号（格式：user@</a:t>
            </a:r>
            <a:r>
              <a:rPr lang="en-US" sz="1300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），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并分配相应权限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2A13C8E6-D331-E849-9A76-8056857D5F9C}"/>
              </a:ext>
            </a:extLst>
          </p:cNvPr>
          <p:cNvSpPr/>
          <p:nvPr/>
        </p:nvSpPr>
        <p:spPr>
          <a:xfrm>
            <a:off x="5842000" y="4318000"/>
            <a:ext cx="5588000" cy="2032000"/>
          </a:xfrm>
          <a:prstGeom prst="roundRect">
            <a:avLst>
              <a:gd name="adj" fmla="val 7500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0">
            <a:extLst>
              <a:ext uri="{FF2B5EF4-FFF2-40B4-BE49-F238E27FC236}">
                <a16:creationId xmlns:a16="http://schemas.microsoft.com/office/drawing/2014/main" id="{E7890481-3335-064C-8139-87811159CEF7}"/>
              </a:ext>
            </a:extLst>
          </p:cNvPr>
          <p:cNvSpPr/>
          <p:nvPr/>
        </p:nvSpPr>
        <p:spPr>
          <a:xfrm>
            <a:off x="5842000" y="4572000"/>
            <a:ext cx="76200" cy="1524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CE57F0AC-448E-2B49-88A2-7275EBF4194A}"/>
              </a:ext>
            </a:extLst>
          </p:cNvPr>
          <p:cNvSpPr/>
          <p:nvPr/>
        </p:nvSpPr>
        <p:spPr>
          <a:xfrm>
            <a:off x="6223000" y="45085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9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02 / </a:t>
            </a:r>
            <a:r>
              <a:rPr lang="en-US" sz="19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客户端部署与连通性验证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客户端配置：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指导员工在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Outlook /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Foxmail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等软件中，统一配置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POP3/SMTP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服务器地址为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mail.</a:t>
            </a:r>
            <a:r>
              <a:rPr lang="en-US" sz="1300" b="1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功能验收：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组织内部员工互发邮件，全流程验证系统的邮件发送、接收、以及跨部门沟通的稳定性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5259BD6-31FE-9D4C-AFF8-EE4C0052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893015"/>
            <a:ext cx="5003800" cy="148453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0B74282-9823-8D46-A1A6-3BEAEE9B9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614862"/>
            <a:ext cx="5003800" cy="134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382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文件服务实施：集中化文件存储与共享</a:t>
            </a:r>
            <a:endParaRPr lang="en-US" sz="1100" dirty="0"/>
          </a:p>
        </p:txBody>
      </p:sp>
      <p:sp>
        <p:nvSpPr>
          <p:cNvPr id="14" name="AutoShape 3">
            <a:extLst>
              <a:ext uri="{FF2B5EF4-FFF2-40B4-BE49-F238E27FC236}">
                <a16:creationId xmlns:a16="http://schemas.microsoft.com/office/drawing/2014/main" id="{475F9690-3E08-E540-9DBE-292E9D3082DC}"/>
              </a:ext>
            </a:extLst>
          </p:cNvPr>
          <p:cNvSpPr/>
          <p:nvPr/>
        </p:nvSpPr>
        <p:spPr>
          <a:xfrm>
            <a:off x="660399" y="1905000"/>
            <a:ext cx="3302000" cy="4318000"/>
          </a:xfrm>
          <a:prstGeom prst="roundRect">
            <a:avLst>
              <a:gd name="adj" fmla="val 4615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4">
            <a:extLst>
              <a:ext uri="{FF2B5EF4-FFF2-40B4-BE49-F238E27FC236}">
                <a16:creationId xmlns:a16="http://schemas.microsoft.com/office/drawing/2014/main" id="{942B2818-9AC1-FC45-BC42-31E1759C96BD}"/>
              </a:ext>
            </a:extLst>
          </p:cNvPr>
          <p:cNvSpPr/>
          <p:nvPr/>
        </p:nvSpPr>
        <p:spPr>
          <a:xfrm>
            <a:off x="660399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5">
            <a:extLst>
              <a:ext uri="{FF2B5EF4-FFF2-40B4-BE49-F238E27FC236}">
                <a16:creationId xmlns:a16="http://schemas.microsoft.com/office/drawing/2014/main" id="{FA0FA30B-9224-4A4A-B7E1-B68695EDCD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5199" y="2413000"/>
            <a:ext cx="609600" cy="609600"/>
          </a:xfrm>
          <a:prstGeom prst="rect">
            <a:avLst/>
          </a:prstGeom>
        </p:spPr>
      </p:pic>
      <p:sp>
        <p:nvSpPr>
          <p:cNvPr id="17" name="AutoShape 6">
            <a:extLst>
              <a:ext uri="{FF2B5EF4-FFF2-40B4-BE49-F238E27FC236}">
                <a16:creationId xmlns:a16="http://schemas.microsoft.com/office/drawing/2014/main" id="{9D1299BD-CFB7-C146-B90A-B4CBAD5310C9}"/>
              </a:ext>
            </a:extLst>
          </p:cNvPr>
          <p:cNvSpPr/>
          <p:nvPr/>
        </p:nvSpPr>
        <p:spPr>
          <a:xfrm>
            <a:off x="1777999" y="2438400"/>
            <a:ext cx="190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文件服务器配置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18" name="AutoShape 7">
            <a:extLst>
              <a:ext uri="{FF2B5EF4-FFF2-40B4-BE49-F238E27FC236}">
                <a16:creationId xmlns:a16="http://schemas.microsoft.com/office/drawing/2014/main" id="{05847F8D-9868-5345-A060-2A8D94CE43FD}"/>
              </a:ext>
            </a:extLst>
          </p:cNvPr>
          <p:cNvSpPr/>
          <p:nvPr/>
        </p:nvSpPr>
        <p:spPr>
          <a:xfrm>
            <a:off x="914399" y="3429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服务组件：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开启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FTP（文件传输）和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HTTP（Web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访问）双重服务，满足不同场景需求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域名配置：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将统一访问域名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file.</a:t>
            </a:r>
            <a:r>
              <a:rPr lang="en-US" altLang="zh-CN" sz="1300" b="1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指向服务器IP：192.168.190.10，简化访问流程。</a:t>
            </a:r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68F462E3-FB92-EB4D-AE81-B20A3296D95B}"/>
              </a:ext>
            </a:extLst>
          </p:cNvPr>
          <p:cNvSpPr/>
          <p:nvPr/>
        </p:nvSpPr>
        <p:spPr>
          <a:xfrm>
            <a:off x="4343399" y="1905000"/>
            <a:ext cx="3302000" cy="4318000"/>
          </a:xfrm>
          <a:prstGeom prst="roundRect">
            <a:avLst>
              <a:gd name="adj" fmla="val 4615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9">
            <a:extLst>
              <a:ext uri="{FF2B5EF4-FFF2-40B4-BE49-F238E27FC236}">
                <a16:creationId xmlns:a16="http://schemas.microsoft.com/office/drawing/2014/main" id="{0FC142B7-42DD-8F45-AC40-4DA2C872BF7D}"/>
              </a:ext>
            </a:extLst>
          </p:cNvPr>
          <p:cNvSpPr/>
          <p:nvPr/>
        </p:nvSpPr>
        <p:spPr>
          <a:xfrm>
            <a:off x="4343399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10">
            <a:extLst>
              <a:ext uri="{FF2B5EF4-FFF2-40B4-BE49-F238E27FC236}">
                <a16:creationId xmlns:a16="http://schemas.microsoft.com/office/drawing/2014/main" id="{E202F940-FADB-8045-9207-637BB6C24E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48199" y="2413000"/>
            <a:ext cx="609600" cy="609600"/>
          </a:xfrm>
          <a:prstGeom prst="rect">
            <a:avLst/>
          </a:prstGeom>
        </p:spPr>
      </p:pic>
      <p:sp>
        <p:nvSpPr>
          <p:cNvPr id="22" name="AutoShape 11">
            <a:extLst>
              <a:ext uri="{FF2B5EF4-FFF2-40B4-BE49-F238E27FC236}">
                <a16:creationId xmlns:a16="http://schemas.microsoft.com/office/drawing/2014/main" id="{B958FE9F-0A35-6947-8F70-8BCB6D8A6F0F}"/>
              </a:ext>
            </a:extLst>
          </p:cNvPr>
          <p:cNvSpPr/>
          <p:nvPr/>
        </p:nvSpPr>
        <p:spPr>
          <a:xfrm>
            <a:off x="5460999" y="2438400"/>
            <a:ext cx="190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用户权限管理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3" name="AutoShape 12">
            <a:extLst>
              <a:ext uri="{FF2B5EF4-FFF2-40B4-BE49-F238E27FC236}">
                <a16:creationId xmlns:a16="http://schemas.microsoft.com/office/drawing/2014/main" id="{E6D81228-DA2B-9449-8449-C9751191ED79}"/>
              </a:ext>
            </a:extLst>
          </p:cNvPr>
          <p:cNvSpPr/>
          <p:nvPr/>
        </p:nvSpPr>
        <p:spPr>
          <a:xfrm>
            <a:off x="4597399" y="3429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精细化权限控制：</a:t>
            </a: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为保障核心数据资产安全，配置三级权限体系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spcBef>
                <a:spcPts val="1200"/>
              </a:spcBef>
            </a:pP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管理员组：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拥有完全控制权限，负责整体维护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读写用户组：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支持文件上传与下载，满足日常协作需求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16666"/>
              </a:lnSpc>
            </a:pP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只读用户组：</a:t>
            </a: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仅开放查看与下载，保护敏感信息不被篡改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4" name="AutoShape 13">
            <a:extLst>
              <a:ext uri="{FF2B5EF4-FFF2-40B4-BE49-F238E27FC236}">
                <a16:creationId xmlns:a16="http://schemas.microsoft.com/office/drawing/2014/main" id="{AA666EBF-323C-0C4C-B369-E769D0FAB365}"/>
              </a:ext>
            </a:extLst>
          </p:cNvPr>
          <p:cNvSpPr/>
          <p:nvPr/>
        </p:nvSpPr>
        <p:spPr>
          <a:xfrm>
            <a:off x="8026399" y="1905000"/>
            <a:ext cx="3302000" cy="4318000"/>
          </a:xfrm>
          <a:prstGeom prst="roundRect">
            <a:avLst>
              <a:gd name="adj" fmla="val 4615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14">
            <a:extLst>
              <a:ext uri="{FF2B5EF4-FFF2-40B4-BE49-F238E27FC236}">
                <a16:creationId xmlns:a16="http://schemas.microsoft.com/office/drawing/2014/main" id="{742916B6-DE69-8A40-AC29-A8261D0BC933}"/>
              </a:ext>
            </a:extLst>
          </p:cNvPr>
          <p:cNvSpPr/>
          <p:nvPr/>
        </p:nvSpPr>
        <p:spPr>
          <a:xfrm>
            <a:off x="8026399" y="1905000"/>
            <a:ext cx="3302000" cy="76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15">
            <a:extLst>
              <a:ext uri="{FF2B5EF4-FFF2-40B4-BE49-F238E27FC236}">
                <a16:creationId xmlns:a16="http://schemas.microsoft.com/office/drawing/2014/main" id="{3F80639E-4F9B-1642-ABCA-224493A86B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31199" y="2413000"/>
            <a:ext cx="609600" cy="609600"/>
          </a:xfrm>
          <a:prstGeom prst="rect">
            <a:avLst/>
          </a:prstGeom>
        </p:spPr>
      </p:pic>
      <p:sp>
        <p:nvSpPr>
          <p:cNvPr id="27" name="AutoShape 16">
            <a:extLst>
              <a:ext uri="{FF2B5EF4-FFF2-40B4-BE49-F238E27FC236}">
                <a16:creationId xmlns:a16="http://schemas.microsoft.com/office/drawing/2014/main" id="{E2780F8A-8B21-FA46-BD54-7B4C5876C001}"/>
              </a:ext>
            </a:extLst>
          </p:cNvPr>
          <p:cNvSpPr/>
          <p:nvPr/>
        </p:nvSpPr>
        <p:spPr>
          <a:xfrm>
            <a:off x="9143999" y="2438400"/>
            <a:ext cx="190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多端访问方式</a:t>
            </a:r>
            <a:endParaRPr lang="en-US" sz="1100">
              <a:solidFill>
                <a:schemeClr val="bg1"/>
              </a:solidFill>
            </a:endParaRPr>
          </a:p>
        </p:txBody>
      </p:sp>
      <p:sp>
        <p:nvSpPr>
          <p:cNvPr id="28" name="AutoShape 17">
            <a:extLst>
              <a:ext uri="{FF2B5EF4-FFF2-40B4-BE49-F238E27FC236}">
                <a16:creationId xmlns:a16="http://schemas.microsoft.com/office/drawing/2014/main" id="{3C81165B-951C-C94F-91CB-64565FB7779C}"/>
              </a:ext>
            </a:extLst>
          </p:cNvPr>
          <p:cNvSpPr/>
          <p:nvPr/>
        </p:nvSpPr>
        <p:spPr>
          <a:xfrm>
            <a:off x="8280399" y="3429000"/>
            <a:ext cx="279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客户端专用通道</a:t>
            </a:r>
            <a:r>
              <a:rPr lang="en-US" sz="14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在专业FTP客户端输入地址：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ftp</a:t>
            </a:r>
            <a:r>
              <a:rPr lang="en-US" sz="12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://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file.</a:t>
            </a:r>
            <a:r>
              <a:rPr lang="en-US" altLang="zh-CN" sz="1200" b="1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适合大文件传输与批量操作场景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33333"/>
              </a:lnSpc>
              <a:spcBef>
                <a:spcPts val="1600"/>
              </a:spcBef>
            </a:pPr>
            <a:r>
              <a:rPr lang="en-US" sz="14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浏览器快速访问</a:t>
            </a:r>
            <a:r>
              <a:rPr lang="en-US" sz="14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无需安装软件，直接在浏览器地址栏输入</a:t>
            </a:r>
            <a:r>
              <a:rPr lang="en-US" sz="13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http://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file.</a:t>
            </a:r>
            <a:r>
              <a:rPr lang="en-US" altLang="zh-CN" sz="1200" b="1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zkm</a:t>
            </a:r>
            <a:r>
              <a:rPr lang="en-US" sz="12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company.com</a:t>
            </a:r>
            <a:br>
              <a:rPr lang="en-US" sz="16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随时随地即点即用，便捷高效</a:t>
            </a:r>
            <a:r>
              <a:rPr lang="en-US" sz="12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63975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文件服务实施：集中化文件存储与共享</a:t>
            </a:r>
            <a:endParaRPr lang="en-US" sz="11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8E2F76-F730-AC4D-BD57-BB07ECE54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689988"/>
            <a:ext cx="6026909" cy="324778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DC4F483-1A20-3146-8660-B52A4EFAB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5168012"/>
            <a:ext cx="6026909" cy="1296870"/>
          </a:xfrm>
          <a:prstGeom prst="rect">
            <a:avLst/>
          </a:prstGeom>
        </p:spPr>
      </p:pic>
      <p:pic>
        <p:nvPicPr>
          <p:cNvPr id="29" name="Picture 10">
            <a:extLst>
              <a:ext uri="{FF2B5EF4-FFF2-40B4-BE49-F238E27FC236}">
                <a16:creationId xmlns:a16="http://schemas.microsoft.com/office/drawing/2014/main" id="{F5EE3E0C-0ED1-5D49-8031-ED595A20F0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000" y="2844800"/>
            <a:ext cx="609600" cy="609600"/>
          </a:xfrm>
          <a:prstGeom prst="rect">
            <a:avLst/>
          </a:prstGeom>
        </p:spPr>
      </p:pic>
      <p:sp>
        <p:nvSpPr>
          <p:cNvPr id="30" name="AutoShape 11">
            <a:extLst>
              <a:ext uri="{FF2B5EF4-FFF2-40B4-BE49-F238E27FC236}">
                <a16:creationId xmlns:a16="http://schemas.microsoft.com/office/drawing/2014/main" id="{5B78C197-67CF-7C4F-858D-4F637EBF7A3B}"/>
              </a:ext>
            </a:extLst>
          </p:cNvPr>
          <p:cNvSpPr/>
          <p:nvPr/>
        </p:nvSpPr>
        <p:spPr>
          <a:xfrm>
            <a:off x="2209800" y="2870200"/>
            <a:ext cx="190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用户权限管理</a:t>
            </a: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31" name="Picture 5">
            <a:extLst>
              <a:ext uri="{FF2B5EF4-FFF2-40B4-BE49-F238E27FC236}">
                <a16:creationId xmlns:a16="http://schemas.microsoft.com/office/drawing/2014/main" id="{CEDF4CE8-953F-8B46-B131-CBBD9EE632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7000" y="5422900"/>
            <a:ext cx="609600" cy="609600"/>
          </a:xfrm>
          <a:prstGeom prst="rect">
            <a:avLst/>
          </a:prstGeom>
        </p:spPr>
      </p:pic>
      <p:sp>
        <p:nvSpPr>
          <p:cNvPr id="32" name="AutoShape 6">
            <a:extLst>
              <a:ext uri="{FF2B5EF4-FFF2-40B4-BE49-F238E27FC236}">
                <a16:creationId xmlns:a16="http://schemas.microsoft.com/office/drawing/2014/main" id="{2D491409-7C5C-A241-A50A-E3F4DAEE3B10}"/>
              </a:ext>
            </a:extLst>
          </p:cNvPr>
          <p:cNvSpPr/>
          <p:nvPr/>
        </p:nvSpPr>
        <p:spPr>
          <a:xfrm>
            <a:off x="2209800" y="5448300"/>
            <a:ext cx="1905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DNS服务器配置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5412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全面验证网络功能</a:t>
            </a:r>
            <a:endParaRPr lang="en-US" sz="1100" dirty="0"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B5C5B4E4-D395-A249-BE41-0A86A6BD8DF3}"/>
              </a:ext>
            </a:extLst>
          </p:cNvPr>
          <p:cNvSpPr/>
          <p:nvPr/>
        </p:nvSpPr>
        <p:spPr>
          <a:xfrm>
            <a:off x="748030" y="1757299"/>
            <a:ext cx="5334000" cy="3576701"/>
          </a:xfrm>
          <a:prstGeom prst="roundRect">
            <a:avLst>
              <a:gd name="adj" fmla="val 3157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77C068B0-CEAA-664E-9AD6-865FAB87EB51}"/>
              </a:ext>
            </a:extLst>
          </p:cNvPr>
          <p:cNvSpPr/>
          <p:nvPr/>
        </p:nvSpPr>
        <p:spPr>
          <a:xfrm>
            <a:off x="1002030" y="2011299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测试方案：核心功能全覆盖</a:t>
            </a:r>
            <a:endParaRPr lang="en-US" sz="110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FD34B368-DEF9-DD4B-A2E0-629D2BD5427F}"/>
              </a:ext>
            </a:extLst>
          </p:cNvPr>
          <p:cNvSpPr/>
          <p:nvPr/>
        </p:nvSpPr>
        <p:spPr>
          <a:xfrm>
            <a:off x="1002030" y="2646299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9D4B5EE7-56F5-1247-83B8-71E1E837E50F}"/>
              </a:ext>
            </a:extLst>
          </p:cNvPr>
          <p:cNvSpPr/>
          <p:nvPr/>
        </p:nvSpPr>
        <p:spPr>
          <a:xfrm>
            <a:off x="1129030" y="2773299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VLAN内</a:t>
            </a:r>
            <a:r>
              <a:rPr lang="en-US" sz="14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间通信测试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内容：同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跨VLAN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PC互Ping，验证路由功能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结果：Ping通，时延正常，功能生效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4" name="AutoShape 8">
            <a:extLst>
              <a:ext uri="{FF2B5EF4-FFF2-40B4-BE49-F238E27FC236}">
                <a16:creationId xmlns:a16="http://schemas.microsoft.com/office/drawing/2014/main" id="{3872E0C5-E55A-AF43-9796-C11EC6DA3BED}"/>
              </a:ext>
            </a:extLst>
          </p:cNvPr>
          <p:cNvSpPr/>
          <p:nvPr/>
        </p:nvSpPr>
        <p:spPr>
          <a:xfrm>
            <a:off x="3542030" y="2646299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9">
            <a:extLst>
              <a:ext uri="{FF2B5EF4-FFF2-40B4-BE49-F238E27FC236}">
                <a16:creationId xmlns:a16="http://schemas.microsoft.com/office/drawing/2014/main" id="{A66EF7B4-9778-F84F-BB99-F27AA50971DB}"/>
              </a:ext>
            </a:extLst>
          </p:cNvPr>
          <p:cNvSpPr/>
          <p:nvPr/>
        </p:nvSpPr>
        <p:spPr>
          <a:xfrm>
            <a:off x="3669030" y="2773299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跨地域互通测试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内容：北京PC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访问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燕郊PC及服务器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结果：双向Ping通，验证OSPF动态路由功能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6" name="AutoShape 10">
            <a:extLst>
              <a:ext uri="{FF2B5EF4-FFF2-40B4-BE49-F238E27FC236}">
                <a16:creationId xmlns:a16="http://schemas.microsoft.com/office/drawing/2014/main" id="{F5816877-10BC-5144-B7B6-6D727AA77551}"/>
              </a:ext>
            </a:extLst>
          </p:cNvPr>
          <p:cNvSpPr/>
          <p:nvPr/>
        </p:nvSpPr>
        <p:spPr>
          <a:xfrm>
            <a:off x="1002030" y="3979799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1">
            <a:extLst>
              <a:ext uri="{FF2B5EF4-FFF2-40B4-BE49-F238E27FC236}">
                <a16:creationId xmlns:a16="http://schemas.microsoft.com/office/drawing/2014/main" id="{F1104382-B1DE-C54B-8AD0-FF666BE44491}"/>
              </a:ext>
            </a:extLst>
          </p:cNvPr>
          <p:cNvSpPr/>
          <p:nvPr/>
        </p:nvSpPr>
        <p:spPr>
          <a:xfrm>
            <a:off x="1129030" y="4106799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应用服务测试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内容：邮件收发，文件上传下载及权限验证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结果：无丢信，文件操作正常，权限控制有效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8" name="AutoShape 12">
            <a:extLst>
              <a:ext uri="{FF2B5EF4-FFF2-40B4-BE49-F238E27FC236}">
                <a16:creationId xmlns:a16="http://schemas.microsoft.com/office/drawing/2014/main" id="{8DC02692-B2F8-F946-B439-09993C4C9513}"/>
              </a:ext>
            </a:extLst>
          </p:cNvPr>
          <p:cNvSpPr/>
          <p:nvPr/>
        </p:nvSpPr>
        <p:spPr>
          <a:xfrm>
            <a:off x="3542030" y="3979799"/>
            <a:ext cx="2413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3">
            <a:extLst>
              <a:ext uri="{FF2B5EF4-FFF2-40B4-BE49-F238E27FC236}">
                <a16:creationId xmlns:a16="http://schemas.microsoft.com/office/drawing/2014/main" id="{FFC94612-37F8-A94D-955B-C09BC31721B5}"/>
              </a:ext>
            </a:extLst>
          </p:cNvPr>
          <p:cNvSpPr/>
          <p:nvPr/>
        </p:nvSpPr>
        <p:spPr>
          <a:xfrm>
            <a:off x="3669030" y="4106799"/>
            <a:ext cx="215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主备链路切换测试</a:t>
            </a:r>
            <a:endParaRPr lang="en-US" sz="1100" dirty="0"/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内容：手动断开主链路，观察业务状态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 dirty="0" err="1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结果：毫秒级切换，业务无感知中断</a:t>
            </a:r>
            <a:r>
              <a:rPr lang="en-US" sz="11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23" name="AutoShape 17">
            <a:extLst>
              <a:ext uri="{FF2B5EF4-FFF2-40B4-BE49-F238E27FC236}">
                <a16:creationId xmlns:a16="http://schemas.microsoft.com/office/drawing/2014/main" id="{6EEDB3AA-B6A3-5C48-9F0C-D35622FCD55F}"/>
              </a:ext>
            </a:extLst>
          </p:cNvPr>
          <p:cNvSpPr/>
          <p:nvPr/>
        </p:nvSpPr>
        <p:spPr>
          <a:xfrm>
            <a:off x="748030" y="5461000"/>
            <a:ext cx="5334000" cy="1333500"/>
          </a:xfrm>
          <a:prstGeom prst="roundRect">
            <a:avLst>
              <a:gd name="adj" fmla="val 7058"/>
            </a:avLst>
          </a:prstGeom>
          <a:noFill/>
          <a:ln w="254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18">
            <a:extLst>
              <a:ext uri="{FF2B5EF4-FFF2-40B4-BE49-F238E27FC236}">
                <a16:creationId xmlns:a16="http://schemas.microsoft.com/office/drawing/2014/main" id="{40B4B40D-CB4D-8740-9969-B1F26CDB0229}"/>
              </a:ext>
            </a:extLst>
          </p:cNvPr>
          <p:cNvSpPr/>
          <p:nvPr/>
        </p:nvSpPr>
        <p:spPr>
          <a:xfrm>
            <a:off x="938530" y="5651500"/>
            <a:ext cx="457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▍ </a:t>
            </a:r>
            <a:r>
              <a:rPr lang="en-US" sz="1800" b="1" i="0" u="none" strike="noStrike" dirty="0" err="1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关键测试工具与方法</a:t>
            </a:r>
            <a:endParaRPr lang="en-US" sz="1100" dirty="0"/>
          </a:p>
        </p:txBody>
      </p:sp>
      <p:pic>
        <p:nvPicPr>
          <p:cNvPr id="25" name="Picture 19">
            <a:extLst>
              <a:ext uri="{FF2B5EF4-FFF2-40B4-BE49-F238E27FC236}">
                <a16:creationId xmlns:a16="http://schemas.microsoft.com/office/drawing/2014/main" id="{6A384CB6-C915-EB41-807F-5E25BF8216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980" y="6146801"/>
            <a:ext cx="406400" cy="406400"/>
          </a:xfrm>
          <a:prstGeom prst="rect">
            <a:avLst/>
          </a:prstGeom>
        </p:spPr>
      </p:pic>
      <p:sp>
        <p:nvSpPr>
          <p:cNvPr id="26" name="AutoShape 20">
            <a:extLst>
              <a:ext uri="{FF2B5EF4-FFF2-40B4-BE49-F238E27FC236}">
                <a16:creationId xmlns:a16="http://schemas.microsoft.com/office/drawing/2014/main" id="{FF4A0625-9776-334E-9916-27593E4939AE}"/>
              </a:ext>
            </a:extLst>
          </p:cNvPr>
          <p:cNvSpPr/>
          <p:nvPr/>
        </p:nvSpPr>
        <p:spPr>
          <a:xfrm>
            <a:off x="1480820" y="59563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Ping </a:t>
            </a: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命令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测试基础连通性与时延</a:t>
            </a:r>
            <a:r>
              <a:rPr lang="en-US" sz="11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27" name="Picture 21">
            <a:extLst>
              <a:ext uri="{FF2B5EF4-FFF2-40B4-BE49-F238E27FC236}">
                <a16:creationId xmlns:a16="http://schemas.microsoft.com/office/drawing/2014/main" id="{812A9924-1543-1645-9FAC-52B5FE892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33980" y="6146801"/>
            <a:ext cx="406400" cy="406400"/>
          </a:xfrm>
          <a:prstGeom prst="rect">
            <a:avLst/>
          </a:prstGeom>
        </p:spPr>
      </p:pic>
      <p:sp>
        <p:nvSpPr>
          <p:cNvPr id="28" name="AutoShape 22">
            <a:extLst>
              <a:ext uri="{FF2B5EF4-FFF2-40B4-BE49-F238E27FC236}">
                <a16:creationId xmlns:a16="http://schemas.microsoft.com/office/drawing/2014/main" id="{5299FDE2-465B-1A4F-A037-AE2C56C76216}"/>
              </a:ext>
            </a:extLst>
          </p:cNvPr>
          <p:cNvSpPr/>
          <p:nvPr/>
        </p:nvSpPr>
        <p:spPr>
          <a:xfrm>
            <a:off x="3141980" y="5905500"/>
            <a:ext cx="114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Tracert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追踪数据包的完整路由路径</a:t>
            </a:r>
            <a:r>
              <a:rPr lang="en-US" sz="11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pic>
        <p:nvPicPr>
          <p:cNvPr id="33" name="Picture 23">
            <a:extLst>
              <a:ext uri="{FF2B5EF4-FFF2-40B4-BE49-F238E27FC236}">
                <a16:creationId xmlns:a16="http://schemas.microsoft.com/office/drawing/2014/main" id="{A745518E-5E7E-9848-8052-14978E4624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4980" y="6146801"/>
            <a:ext cx="406400" cy="406400"/>
          </a:xfrm>
          <a:prstGeom prst="rect">
            <a:avLst/>
          </a:prstGeom>
        </p:spPr>
      </p:pic>
      <p:sp>
        <p:nvSpPr>
          <p:cNvPr id="34" name="AutoShape 24">
            <a:extLst>
              <a:ext uri="{FF2B5EF4-FFF2-40B4-BE49-F238E27FC236}">
                <a16:creationId xmlns:a16="http://schemas.microsoft.com/office/drawing/2014/main" id="{AD5EE9AD-7AD2-A048-AA66-9526D49C6E84}"/>
              </a:ext>
            </a:extLst>
          </p:cNvPr>
          <p:cNvSpPr/>
          <p:nvPr/>
        </p:nvSpPr>
        <p:spPr>
          <a:xfrm>
            <a:off x="4729480" y="5919470"/>
            <a:ext cx="1380492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1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Route表</a:t>
            </a:r>
            <a:endParaRPr lang="en-US" sz="1100" dirty="0">
              <a:solidFill>
                <a:schemeClr val="bg1"/>
              </a:solidFill>
            </a:endParaRPr>
          </a:p>
          <a:p>
            <a:pPr indent="0" algn="l">
              <a:lnSpc>
                <a:spcPct val="108333"/>
              </a:lnSpc>
            </a:pPr>
            <a:r>
              <a:rPr lang="en-US" sz="1100" b="0" i="0" u="none" strike="noStrike" dirty="0" err="1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验证OSPF协议的路由学习情况</a:t>
            </a:r>
            <a:r>
              <a:rPr lang="en-US" sz="11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35" name="AutoShape 4">
            <a:extLst>
              <a:ext uri="{FF2B5EF4-FFF2-40B4-BE49-F238E27FC236}">
                <a16:creationId xmlns:a16="http://schemas.microsoft.com/office/drawing/2014/main" id="{14248660-8DD4-CF47-9ED2-7831D1B723D6}"/>
              </a:ext>
            </a:extLst>
          </p:cNvPr>
          <p:cNvSpPr/>
          <p:nvPr/>
        </p:nvSpPr>
        <p:spPr>
          <a:xfrm>
            <a:off x="6272530" y="1757298"/>
            <a:ext cx="5207000" cy="5037201"/>
          </a:xfrm>
          <a:prstGeom prst="roundRect">
            <a:avLst>
              <a:gd name="adj" fmla="val 3157"/>
            </a:avLst>
          </a:prstGeom>
          <a:noFill/>
          <a:ln w="12700" cap="flat" cmpd="sng">
            <a:solidFill>
              <a:srgbClr val="00B0F0"/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5">
            <a:extLst>
              <a:ext uri="{FF2B5EF4-FFF2-40B4-BE49-F238E27FC236}">
                <a16:creationId xmlns:a16="http://schemas.microsoft.com/office/drawing/2014/main" id="{5B802411-6027-0448-9A1F-3ADFCF98324D}"/>
              </a:ext>
            </a:extLst>
          </p:cNvPr>
          <p:cNvSpPr/>
          <p:nvPr/>
        </p:nvSpPr>
        <p:spPr>
          <a:xfrm>
            <a:off x="6526530" y="2011299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主备链路切换验证流程</a:t>
            </a:r>
            <a:endParaRPr lang="en-US" sz="1100"/>
          </a:p>
        </p:txBody>
      </p:sp>
      <p:sp>
        <p:nvSpPr>
          <p:cNvPr id="37" name="AutoShape 6">
            <a:extLst>
              <a:ext uri="{FF2B5EF4-FFF2-40B4-BE49-F238E27FC236}">
                <a16:creationId xmlns:a16="http://schemas.microsoft.com/office/drawing/2014/main" id="{BA1F2B0F-03A7-204C-9F5C-DBE753E7F436}"/>
              </a:ext>
            </a:extLst>
          </p:cNvPr>
          <p:cNvSpPr/>
          <p:nvPr/>
        </p:nvSpPr>
        <p:spPr>
          <a:xfrm>
            <a:off x="6526530" y="2646299"/>
            <a:ext cx="4699000" cy="660400"/>
          </a:xfrm>
          <a:prstGeom prst="roundRect">
            <a:avLst>
              <a:gd name="adj" fmla="val 1153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8" name="Picture 7">
            <a:extLst>
              <a:ext uri="{FF2B5EF4-FFF2-40B4-BE49-F238E27FC236}">
                <a16:creationId xmlns:a16="http://schemas.microsoft.com/office/drawing/2014/main" id="{457ACCEA-552F-A349-BDAA-4B26E49D46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8930" y="2773299"/>
            <a:ext cx="355600" cy="355600"/>
          </a:xfrm>
          <a:prstGeom prst="rect">
            <a:avLst/>
          </a:prstGeom>
        </p:spPr>
      </p:pic>
      <p:sp>
        <p:nvSpPr>
          <p:cNvPr id="39" name="AutoShape 8">
            <a:extLst>
              <a:ext uri="{FF2B5EF4-FFF2-40B4-BE49-F238E27FC236}">
                <a16:creationId xmlns:a16="http://schemas.microsoft.com/office/drawing/2014/main" id="{625554ED-7545-8E45-B30C-557E0A1C4092}"/>
              </a:ext>
            </a:extLst>
          </p:cNvPr>
          <p:cNvSpPr/>
          <p:nvPr/>
        </p:nvSpPr>
        <p:spPr>
          <a:xfrm>
            <a:off x="7161530" y="2722499"/>
            <a:ext cx="393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初始状态：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流量稳定通过主链路 (Cost 10) 传输，网络运行正常。</a:t>
            </a:r>
            <a:endParaRPr lang="en-US" sz="1100"/>
          </a:p>
        </p:txBody>
      </p:sp>
      <p:sp>
        <p:nvSpPr>
          <p:cNvPr id="40" name="AutoShape 9">
            <a:extLst>
              <a:ext uri="{FF2B5EF4-FFF2-40B4-BE49-F238E27FC236}">
                <a16:creationId xmlns:a16="http://schemas.microsoft.com/office/drawing/2014/main" id="{F121BE75-C5E9-A94F-ADBC-12612F8C862A}"/>
              </a:ext>
            </a:extLst>
          </p:cNvPr>
          <p:cNvSpPr/>
          <p:nvPr/>
        </p:nvSpPr>
        <p:spPr>
          <a:xfrm>
            <a:off x="6526530" y="3471799"/>
            <a:ext cx="4699000" cy="660400"/>
          </a:xfrm>
          <a:prstGeom prst="roundRect">
            <a:avLst>
              <a:gd name="adj" fmla="val 1153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1" name="Picture 10">
            <a:extLst>
              <a:ext uri="{FF2B5EF4-FFF2-40B4-BE49-F238E27FC236}">
                <a16:creationId xmlns:a16="http://schemas.microsoft.com/office/drawing/2014/main" id="{FED3DBF8-E2FF-C547-ADEF-BA347D9CC3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8930" y="3598799"/>
            <a:ext cx="355600" cy="355600"/>
          </a:xfrm>
          <a:prstGeom prst="rect">
            <a:avLst/>
          </a:prstGeom>
        </p:spPr>
      </p:pic>
      <p:sp>
        <p:nvSpPr>
          <p:cNvPr id="42" name="AutoShape 11">
            <a:extLst>
              <a:ext uri="{FF2B5EF4-FFF2-40B4-BE49-F238E27FC236}">
                <a16:creationId xmlns:a16="http://schemas.microsoft.com/office/drawing/2014/main" id="{6A4764EC-17D8-9941-8034-AEFC1F6D7A97}"/>
              </a:ext>
            </a:extLst>
          </p:cNvPr>
          <p:cNvSpPr/>
          <p:nvPr/>
        </p:nvSpPr>
        <p:spPr>
          <a:xfrm>
            <a:off x="7161530" y="3547999"/>
            <a:ext cx="393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模拟故障：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手动关闭主链路接口 `G0/0`，触发故障检测机制。</a:t>
            </a:r>
            <a:endParaRPr lang="en-US" sz="1100"/>
          </a:p>
        </p:txBody>
      </p:sp>
      <p:sp>
        <p:nvSpPr>
          <p:cNvPr id="43" name="AutoShape 12">
            <a:extLst>
              <a:ext uri="{FF2B5EF4-FFF2-40B4-BE49-F238E27FC236}">
                <a16:creationId xmlns:a16="http://schemas.microsoft.com/office/drawing/2014/main" id="{8047A7CD-9132-1548-8D3A-76C43AD7DA13}"/>
              </a:ext>
            </a:extLst>
          </p:cNvPr>
          <p:cNvSpPr/>
          <p:nvPr/>
        </p:nvSpPr>
        <p:spPr>
          <a:xfrm>
            <a:off x="6526530" y="4297299"/>
            <a:ext cx="4699000" cy="660400"/>
          </a:xfrm>
          <a:prstGeom prst="roundRect">
            <a:avLst>
              <a:gd name="adj" fmla="val 11538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5" name="Picture 13">
            <a:extLst>
              <a:ext uri="{FF2B5EF4-FFF2-40B4-BE49-F238E27FC236}">
                <a16:creationId xmlns:a16="http://schemas.microsoft.com/office/drawing/2014/main" id="{A28F77D5-3308-1648-9B80-5A4B579CD2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78930" y="4424299"/>
            <a:ext cx="355600" cy="355600"/>
          </a:xfrm>
          <a:prstGeom prst="rect">
            <a:avLst/>
          </a:prstGeom>
        </p:spPr>
      </p:pic>
      <p:sp>
        <p:nvSpPr>
          <p:cNvPr id="46" name="AutoShape 14">
            <a:extLst>
              <a:ext uri="{FF2B5EF4-FFF2-40B4-BE49-F238E27FC236}">
                <a16:creationId xmlns:a16="http://schemas.microsoft.com/office/drawing/2014/main" id="{01210FCF-24E1-D644-87AA-96D5C3B57433}"/>
              </a:ext>
            </a:extLst>
          </p:cNvPr>
          <p:cNvSpPr/>
          <p:nvPr/>
        </p:nvSpPr>
        <p:spPr>
          <a:xfrm>
            <a:off x="7161530" y="4373499"/>
            <a:ext cx="3937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自动切换：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OSPF 协议迅速检测到邻居失效，路由表自动切换至备用链路 (Cost 100)。</a:t>
            </a:r>
            <a:endParaRPr lang="en-US" sz="1100"/>
          </a:p>
        </p:txBody>
      </p:sp>
      <p:sp>
        <p:nvSpPr>
          <p:cNvPr id="47" name="AutoShape 15">
            <a:extLst>
              <a:ext uri="{FF2B5EF4-FFF2-40B4-BE49-F238E27FC236}">
                <a16:creationId xmlns:a16="http://schemas.microsoft.com/office/drawing/2014/main" id="{F5B43BA8-7A1E-A549-B28A-C77CE5446CAC}"/>
              </a:ext>
            </a:extLst>
          </p:cNvPr>
          <p:cNvSpPr/>
          <p:nvPr/>
        </p:nvSpPr>
        <p:spPr>
          <a:xfrm>
            <a:off x="6526530" y="5186299"/>
            <a:ext cx="4699000" cy="1206500"/>
          </a:xfrm>
          <a:prstGeom prst="roundRect">
            <a:avLst>
              <a:gd name="adj" fmla="val 6315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8" name="Picture 16">
            <a:extLst>
              <a:ext uri="{FF2B5EF4-FFF2-40B4-BE49-F238E27FC236}">
                <a16:creationId xmlns:a16="http://schemas.microsoft.com/office/drawing/2014/main" id="{4226E187-74EA-4F4F-9529-7A5177BBCA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78930" y="5338699"/>
            <a:ext cx="355600" cy="355600"/>
          </a:xfrm>
          <a:prstGeom prst="rect">
            <a:avLst/>
          </a:prstGeom>
        </p:spPr>
      </p:pic>
      <p:sp>
        <p:nvSpPr>
          <p:cNvPr id="49" name="AutoShape 17">
            <a:extLst>
              <a:ext uri="{FF2B5EF4-FFF2-40B4-BE49-F238E27FC236}">
                <a16:creationId xmlns:a16="http://schemas.microsoft.com/office/drawing/2014/main" id="{4717327A-2608-F640-9751-2A63EE183059}"/>
              </a:ext>
            </a:extLst>
          </p:cNvPr>
          <p:cNvSpPr/>
          <p:nvPr/>
        </p:nvSpPr>
        <p:spPr>
          <a:xfrm>
            <a:off x="7161530" y="5313299"/>
            <a:ext cx="3937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业务验证与回切：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切换期间邮件、文件等核心业务未中断；恢复主链路后，路由表自动完成回切。</a:t>
            </a:r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21158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en-US" altLang="zh-CN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VLAN</a:t>
            </a: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</a:t>
            </a:r>
            <a:r>
              <a:rPr lang="en-US" altLang="zh-CN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间通信测试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8E5B98F-CB47-D74D-8C22-C00140CF6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757299"/>
            <a:ext cx="3835400" cy="4521200"/>
          </a:xfrm>
          <a:prstGeom prst="rect">
            <a:avLst/>
          </a:prstGeom>
        </p:spPr>
      </p:pic>
      <p:sp>
        <p:nvSpPr>
          <p:cNvPr id="29" name="AutoShape 5">
            <a:extLst>
              <a:ext uri="{FF2B5EF4-FFF2-40B4-BE49-F238E27FC236}">
                <a16:creationId xmlns:a16="http://schemas.microsoft.com/office/drawing/2014/main" id="{2E0A4231-B184-7C42-B99E-50B868255CE0}"/>
              </a:ext>
            </a:extLst>
          </p:cNvPr>
          <p:cNvSpPr/>
          <p:nvPr/>
        </p:nvSpPr>
        <p:spPr>
          <a:xfrm>
            <a:off x="850900" y="6278499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同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VLAN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内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PC-FIN-3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ping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PC-FIN-4</a:t>
            </a:r>
            <a:endParaRPr lang="en-US" sz="12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F8891FA-B2FA-EE4F-8F68-122C2C5AA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757299"/>
            <a:ext cx="3898900" cy="4559300"/>
          </a:xfrm>
          <a:prstGeom prst="rect">
            <a:avLst/>
          </a:prstGeom>
        </p:spPr>
      </p:pic>
      <p:sp>
        <p:nvSpPr>
          <p:cNvPr id="30" name="AutoShape 5">
            <a:extLst>
              <a:ext uri="{FF2B5EF4-FFF2-40B4-BE49-F238E27FC236}">
                <a16:creationId xmlns:a16="http://schemas.microsoft.com/office/drawing/2014/main" id="{6179014C-4FE0-324F-857F-821D28D7DAB7}"/>
              </a:ext>
            </a:extLst>
          </p:cNvPr>
          <p:cNvSpPr/>
          <p:nvPr/>
        </p:nvSpPr>
        <p:spPr>
          <a:xfrm>
            <a:off x="6051549" y="632674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VLAN </a:t>
            </a:r>
            <a:r>
              <a:rPr lang="en-US" sz="1400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间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PC-ADM-3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ping</a:t>
            </a:r>
            <a:r>
              <a:rPr lang="zh-CN" altLang="en-US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 </a:t>
            </a:r>
            <a:r>
              <a:rPr lang="en-US" altLang="zh-CN" sz="1400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  <a:sym typeface="Noto Sans SC"/>
              </a:rPr>
              <a:t>PC-FIN-3</a:t>
            </a:r>
            <a:endParaRPr lang="en-US" sz="1200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084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跨地域互通测试</a:t>
            </a: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2E0A4231-B184-7C42-B99E-50B868255CE0}"/>
              </a:ext>
            </a:extLst>
          </p:cNvPr>
          <p:cNvSpPr/>
          <p:nvPr/>
        </p:nvSpPr>
        <p:spPr>
          <a:xfrm>
            <a:off x="694689" y="457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Laptop-BJ-1 ping PC-TS-2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6EF276-43AC-434F-A320-36E2C4C74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50" y="2546350"/>
            <a:ext cx="3594100" cy="17653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819F29F-0588-5943-B4A1-09344C105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2546349"/>
            <a:ext cx="3622132" cy="1765299"/>
          </a:xfrm>
          <a:prstGeom prst="rect">
            <a:avLst/>
          </a:prstGeom>
        </p:spPr>
      </p:pic>
      <p:sp>
        <p:nvSpPr>
          <p:cNvPr id="10" name="AutoShape 5">
            <a:extLst>
              <a:ext uri="{FF2B5EF4-FFF2-40B4-BE49-F238E27FC236}">
                <a16:creationId xmlns:a16="http://schemas.microsoft.com/office/drawing/2014/main" id="{62F6DD35-7112-7E4A-BD31-FE2A2D35C5F2}"/>
              </a:ext>
            </a:extLst>
          </p:cNvPr>
          <p:cNvSpPr/>
          <p:nvPr/>
        </p:nvSpPr>
        <p:spPr>
          <a:xfrm>
            <a:off x="6089649" y="4572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PC-RD-4 ping PC-CEO-1</a:t>
            </a:r>
          </a:p>
        </p:txBody>
      </p:sp>
    </p:spTree>
    <p:extLst>
      <p:ext uri="{BB962C8B-B14F-4D97-AF65-F5344CB8AC3E}">
        <p14:creationId xmlns:p14="http://schemas.microsoft.com/office/powerpoint/2010/main" val="21611883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主备链路切换测试</a:t>
            </a: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2E0A4231-B184-7C42-B99E-50B868255CE0}"/>
              </a:ext>
            </a:extLst>
          </p:cNvPr>
          <p:cNvSpPr/>
          <p:nvPr/>
        </p:nvSpPr>
        <p:spPr>
          <a:xfrm>
            <a:off x="228600" y="2057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在北京 </a:t>
            </a:r>
            <a:r>
              <a:rPr 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PC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上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 Ping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燕郊服务器：</a:t>
            </a:r>
            <a:endParaRPr lang="en-US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1" name="AutoShape 5">
            <a:extLst>
              <a:ext uri="{FF2B5EF4-FFF2-40B4-BE49-F238E27FC236}">
                <a16:creationId xmlns:a16="http://schemas.microsoft.com/office/drawing/2014/main" id="{8816891E-36EC-B24B-B337-EEC54B23AB77}"/>
              </a:ext>
            </a:extLst>
          </p:cNvPr>
          <p:cNvSpPr/>
          <p:nvPr/>
        </p:nvSpPr>
        <p:spPr>
          <a:xfrm>
            <a:off x="660399" y="6045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正常情况下走主用链路，即经过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R-BJ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的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G0/0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和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R-YJ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的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G0/0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89BC80-42C8-844B-910F-251390CB52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565400"/>
            <a:ext cx="3746500" cy="3225800"/>
          </a:xfrm>
          <a:prstGeom prst="rect">
            <a:avLst/>
          </a:prstGeom>
        </p:spPr>
      </p:pic>
      <p:sp>
        <p:nvSpPr>
          <p:cNvPr id="13" name="AutoShape 5">
            <a:extLst>
              <a:ext uri="{FF2B5EF4-FFF2-40B4-BE49-F238E27FC236}">
                <a16:creationId xmlns:a16="http://schemas.microsoft.com/office/drawing/2014/main" id="{C834FEFB-8E72-7646-86C1-026CBD769621}"/>
              </a:ext>
            </a:extLst>
          </p:cNvPr>
          <p:cNvSpPr/>
          <p:nvPr/>
        </p:nvSpPr>
        <p:spPr>
          <a:xfrm>
            <a:off x="5539742" y="2057400"/>
            <a:ext cx="5585458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在 </a:t>
            </a:r>
            <a:r>
              <a:rPr 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R-BJ 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上关闭主用链路接口，模拟故障后重新测试：</a:t>
            </a:r>
            <a:endParaRPr lang="en-US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A76BB42-7261-404E-A579-965FB876B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602" y="2547619"/>
            <a:ext cx="3987798" cy="3245243"/>
          </a:xfrm>
          <a:prstGeom prst="rect">
            <a:avLst/>
          </a:prstGeom>
        </p:spPr>
      </p:pic>
      <p:sp>
        <p:nvSpPr>
          <p:cNvPr id="16" name="AutoShape 5">
            <a:extLst>
              <a:ext uri="{FF2B5EF4-FFF2-40B4-BE49-F238E27FC236}">
                <a16:creationId xmlns:a16="http://schemas.microsoft.com/office/drawing/2014/main" id="{924C8EC8-2D54-354C-8F77-E36BADFC12EB}"/>
              </a:ext>
            </a:extLst>
          </p:cNvPr>
          <p:cNvSpPr/>
          <p:nvPr/>
        </p:nvSpPr>
        <p:spPr>
          <a:xfrm>
            <a:off x="5689602" y="6029081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/>
            </a:pP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到燕郊网段的路径应切换到备用链路下一跳</a:t>
            </a:r>
            <a:endParaRPr lang="en-US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252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项目实施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</a:t>
            </a:r>
            <a:endParaRPr lang="en-US" sz="1100" dirty="0"/>
          </a:p>
        </p:txBody>
      </p:sp>
      <p:sp>
        <p:nvSpPr>
          <p:cNvPr id="44" name="TextBox 3">
            <a:extLst>
              <a:ext uri="{FF2B5EF4-FFF2-40B4-BE49-F238E27FC236}">
                <a16:creationId xmlns:a16="http://schemas.microsoft.com/office/drawing/2014/main" id="{08C75805-F543-CA4C-944C-022C1A812548}"/>
              </a:ext>
            </a:extLst>
          </p:cNvPr>
          <p:cNvSpPr txBox="1"/>
          <p:nvPr/>
        </p:nvSpPr>
        <p:spPr>
          <a:xfrm>
            <a:off x="660399" y="1130300"/>
            <a:ext cx="10858500" cy="5253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ctr">
              <a:defRPr/>
            </a:pPr>
            <a:r>
              <a:rPr lang="zh-CN" altLang="en-US" sz="24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应用服务测试</a:t>
            </a: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2E0A4231-B184-7C42-B99E-50B868255CE0}"/>
              </a:ext>
            </a:extLst>
          </p:cNvPr>
          <p:cNvSpPr/>
          <p:nvPr/>
        </p:nvSpPr>
        <p:spPr>
          <a:xfrm>
            <a:off x="571499" y="1872877"/>
            <a:ext cx="523724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在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PC-CEO-1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 上发送邮件给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PC-FIN-1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的邮件账户</a:t>
            </a:r>
            <a:endParaRPr lang="en-US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2AEABD9-CBCD-2B41-998B-517E6CD3A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98057"/>
            <a:ext cx="4703843" cy="40386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963F971-AEC1-A046-BD64-D316BAE87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2598057"/>
            <a:ext cx="5105400" cy="4086005"/>
          </a:xfrm>
          <a:prstGeom prst="rect">
            <a:avLst/>
          </a:prstGeom>
        </p:spPr>
      </p:pic>
      <p:sp>
        <p:nvSpPr>
          <p:cNvPr id="15" name="AutoShape 5">
            <a:extLst>
              <a:ext uri="{FF2B5EF4-FFF2-40B4-BE49-F238E27FC236}">
                <a16:creationId xmlns:a16="http://schemas.microsoft.com/office/drawing/2014/main" id="{C4D39F35-08C2-DE46-A7BA-5D5F5D008DD2}"/>
              </a:ext>
            </a:extLst>
          </p:cNvPr>
          <p:cNvSpPr/>
          <p:nvPr/>
        </p:nvSpPr>
        <p:spPr>
          <a:xfrm>
            <a:off x="5808742" y="1872877"/>
            <a:ext cx="523724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b="1" dirty="0" err="1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普通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PC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 用户 </a:t>
            </a:r>
            <a:r>
              <a:rPr lang="en-US" altLang="zh-CN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FTP</a:t>
            </a:r>
            <a:r>
              <a:rPr lang="zh-CN" altLang="en-US" b="1" dirty="0">
                <a:solidFill>
                  <a:schemeClr val="bg1"/>
                </a:solidFill>
                <a:latin typeface="DengXian" panose="02010600030101010101" pitchFamily="2" charset="-122"/>
                <a:ea typeface="DengXian" panose="02010600030101010101" pitchFamily="2" charset="-122"/>
                <a:cs typeface="Courier New" panose="02070309020205020404" pitchFamily="49" charset="0"/>
              </a:rPr>
              <a:t> 服务连接、查看、上传</a:t>
            </a:r>
            <a:endParaRPr lang="en-US" b="1" dirty="0">
              <a:solidFill>
                <a:schemeClr val="bg1"/>
              </a:solidFill>
              <a:latin typeface="DengXian" panose="02010600030101010101" pitchFamily="2" charset="-122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46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cc176ec-2ed2-461c-80de-1ceab374a9ba"/>
          <p:cNvGrpSpPr/>
          <p:nvPr/>
        </p:nvGrpSpPr>
        <p:grpSpPr>
          <a:xfrm>
            <a:off x="0" y="1130301"/>
            <a:ext cx="11532301" cy="5575299"/>
            <a:chOff x="0" y="1130301"/>
            <a:chExt cx="11532301" cy="5575299"/>
          </a:xfrm>
        </p:grpSpPr>
        <p:sp>
          <p:nvSpPr>
            <p:cNvPr id="3" name="AutoShape 3"/>
            <p:cNvSpPr/>
            <p:nvPr/>
          </p:nvSpPr>
          <p:spPr>
            <a:xfrm flipH="1">
              <a:off x="0" y="1835072"/>
              <a:ext cx="10614452" cy="0"/>
            </a:xfrm>
            <a:prstGeom prst="line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 flipV="1">
              <a:off x="10614452" y="1835072"/>
              <a:ext cx="147995" cy="154422"/>
            </a:xfrm>
            <a:prstGeom prst="line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0762447" y="1989494"/>
              <a:ext cx="611725" cy="0"/>
            </a:xfrm>
            <a:prstGeom prst="line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1376844" y="1912116"/>
              <a:ext cx="154756" cy="154756"/>
            </a:xfrm>
            <a:prstGeom prst="rect">
              <a:avLst/>
            </a:prstGeom>
            <a:solidFill>
              <a:srgbClr val="2373F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399" y="1130301"/>
              <a:ext cx="10858500" cy="62487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记录项目实施过程中遇到的问题及解决方法</a:t>
              </a:r>
              <a:endParaRPr lang="en-US" sz="1100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660400" y="2146438"/>
              <a:ext cx="5338679" cy="2349362"/>
              <a:chOff x="660400" y="2146438"/>
              <a:chExt cx="5338679" cy="234936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1074321" y="2545030"/>
                <a:ext cx="4183479" cy="19507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现象为跨VLAN终端初次互ping失败，北京VLAN10无法访问VLAN20。原因为Core - SW1已配置各VLAN的SVI网关，但未开启三层交换功能，交换机只能进行二层转发，无法完成VLAN间路由。处理方法是，在Core - SW1上执行ip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routing，检查各SVI接口状态为up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/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up；随后再次测试同区域不同VLAN互通，ping恢复正常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074321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跨VLAN终端初次互ping失败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dirty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 dirty="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660400" y="4590820"/>
              <a:ext cx="5338679" cy="1886180"/>
              <a:chOff x="660400" y="4590820"/>
              <a:chExt cx="5338679" cy="188618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1074321" y="4989411"/>
                <a:ext cx="4183479" cy="148758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现象为部分部门PC无法ping通本VLAN网关，例如PC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CEO - 1无法访问192.168.10.1。原因为接入交换机上联口仍为access模式，或trunk口未允许对应VLAN通过，导致VLAN10报文无法正确上送到核心交换机。处理方法是，将接入交换机F0/24配置为trunk，并允许对应VLAN通过；终端接入口F0/1、F0/2保持access并加入部门VLAN。</a:t>
                </a:r>
                <a:endParaRPr lang="en-US" sz="1100" dirty="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74321" y="4590820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部分部门PC无法ping通本VLAN网关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400" y="4590820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6193622" y="2143916"/>
              <a:ext cx="5338679" cy="2123284"/>
              <a:chOff x="6193622" y="2143916"/>
              <a:chExt cx="5338679" cy="212328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607543" y="2542508"/>
                <a:ext cx="3831857" cy="172469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现象为Core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SW1与R - BJ直连链路无法互通，10.0.1.1 ping 10.0.1.2失败。原因为Core - SW1的F0/24作为三层上联接口使用，但初始仍处于二层交换口状态，无法直接配置三层IP地址参与路由。处理方法是，在Core - SW1 F0/24下执行no switchport，配置10.0.1.1/30；R - BJ G0/2配置10.0.1.2/30，并确认双方接口no shutdown。</a:t>
                </a:r>
                <a:endParaRPr lang="en-US" sz="1100" dirty="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07543" y="2143916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Core - SW1与R - </a:t>
                </a:r>
                <a:r>
                  <a:rPr lang="en-US" sz="16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BJ直连链路无法互通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193622" y="2143916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193622" y="4588298"/>
              <a:ext cx="5338679" cy="2117302"/>
              <a:chOff x="6193622" y="4588298"/>
              <a:chExt cx="5338679" cy="2117302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6607543" y="4986889"/>
                <a:ext cx="3831857" cy="171871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现象为OSPF邻居关系未建立，R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BJ上show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ip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ospf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neighbor看不到Core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SW1。原因为Core - SW1采用passive - interface default后，未对F0/24取消被动接口，导致该链路不发送OSPF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Hello报文。处理方法是，在Core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SW1的OSPF进程下增加no passive - interface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fastEthernet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0/24，保留其他终端VLAN接口为被动接口。</a:t>
                </a:r>
                <a:endParaRPr lang="en-US" sz="1100" dirty="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07543" y="458829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OSPF邻居关系未建立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193622" y="458829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项目实施问题记录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cc176ec-2ed2-461c-80de-1ceab374a9ba"/>
          <p:cNvGrpSpPr/>
          <p:nvPr/>
        </p:nvGrpSpPr>
        <p:grpSpPr>
          <a:xfrm>
            <a:off x="0" y="1130301"/>
            <a:ext cx="11887199" cy="5118099"/>
            <a:chOff x="0" y="1130301"/>
            <a:chExt cx="11887199" cy="5118099"/>
          </a:xfrm>
        </p:grpSpPr>
        <p:sp>
          <p:nvSpPr>
            <p:cNvPr id="3" name="AutoShape 3"/>
            <p:cNvSpPr/>
            <p:nvPr/>
          </p:nvSpPr>
          <p:spPr>
            <a:xfrm flipH="1">
              <a:off x="0" y="1835072"/>
              <a:ext cx="10614452" cy="0"/>
            </a:xfrm>
            <a:prstGeom prst="line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 flipH="1" flipV="1">
              <a:off x="10614452" y="1835072"/>
              <a:ext cx="147995" cy="154422"/>
            </a:xfrm>
            <a:prstGeom prst="line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AutoShape 5"/>
            <p:cNvSpPr/>
            <p:nvPr/>
          </p:nvSpPr>
          <p:spPr>
            <a:xfrm flipH="1">
              <a:off x="10762447" y="1989494"/>
              <a:ext cx="611725" cy="0"/>
            </a:xfrm>
            <a:prstGeom prst="line">
              <a:avLst/>
            </a:prstGeom>
            <a:ln w="12700">
              <a:solidFill>
                <a:srgbClr val="2373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1376844" y="1912116"/>
              <a:ext cx="154756" cy="154756"/>
            </a:xfrm>
            <a:prstGeom prst="rect">
              <a:avLst/>
            </a:prstGeom>
            <a:solidFill>
              <a:srgbClr val="2373F3">
                <a:alpha val="100000"/>
              </a:srgbClr>
            </a:solidFill>
            <a:ln>
              <a:headEnd type="none"/>
              <a:tailEnd type="none"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60399" y="1130301"/>
              <a:ext cx="10858500" cy="624871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记录项目实施过程中遇到的问题及解决方法</a:t>
              </a:r>
              <a:endParaRPr lang="en-US" sz="1100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81121" y="2146438"/>
              <a:ext cx="5338679" cy="2044562"/>
              <a:chOff x="681121" y="2146438"/>
              <a:chExt cx="5338679" cy="2044562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1095042" y="2545030"/>
                <a:ext cx="4238958" cy="164597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现象为北京侧无法学习到燕郊VLAN190服务器区路由，访问192.168.190.10失败。原因为Core - SW2的OSPF network宣告遗漏了192.168.190.0/24，导致服务器区网段没有发布到OSPF。处理方法是，在Core - SW2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OSPF中补充network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192.168.190.0 0.0.0.255 area 0；刷新路由表后，北京侧出现OSPF路由。</a:t>
                </a:r>
                <a:endParaRPr lang="en-US" sz="1100" dirty="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95042" y="214643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北京侧无法学习到燕郊VLAN190服务器区路由</a:t>
                </a:r>
                <a:endParaRPr lang="en-US" sz="1100" dirty="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81121" y="214643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dirty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 dirty="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681121" y="4495800"/>
              <a:ext cx="5338679" cy="1600200"/>
              <a:chOff x="681121" y="4495800"/>
              <a:chExt cx="5338679" cy="1600200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1095042" y="4894391"/>
                <a:ext cx="4238958" cy="120160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现象为两地互通正常，但tracert显示流量可能走备用链路，主备链路优先级不符合设计。原因为R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- BJ/R - YJ的G0/0与G0/1未设置差异化OSPF Cost，或两条链路代价接近，导致主备路径选择不明确。处理方法是，在主用链路G0/0设置ip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ospf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cost 10，在备用链路G0/1设置ip </a:t>
                </a:r>
                <a:r>
                  <a:rPr lang="en-US" sz="1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ospf</a:t>
                </a: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 cost 100；再次查看路由表确认下一跳优先为10.0.0.2。</a:t>
                </a:r>
                <a:endParaRPr lang="en-US" sz="1100" dirty="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95042" y="4495800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两地互通正常，但tracert显示流量可能走备用链路</a:t>
                </a:r>
                <a:endParaRPr lang="en-US" sz="1100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81121" y="4495800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dirty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6</a:t>
                </a:r>
                <a:endParaRPr lang="en-US" sz="1100" dirty="0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6172200" y="2155526"/>
              <a:ext cx="5714999" cy="2035474"/>
              <a:chOff x="6172200" y="2155526"/>
              <a:chExt cx="5714999" cy="2035474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6586121" y="2554118"/>
                <a:ext cx="4462879" cy="1636882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现象为关闭主用链路后，两地通信短暂中断且未切换到备用链路。原因为备用链路10.0.0.4/30的接口地址或OSPF宣告不完整，导致主链路故障时没有可用备份路由。处理方法是，检查R - BJ G0/1为10.0.0.5/30、R - YJ G0/1为10.0.0.6/30，并在两端OSPF中宣告network 10.0.0.4 0.0.0.3 area 0。</a:t>
                </a:r>
                <a:endParaRPr lang="en-US" sz="1100" dirty="0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586120" y="2155526"/>
                <a:ext cx="5301079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关闭主用链路后，两地通信短暂中断且未切换到备用链路</a:t>
                </a:r>
                <a:endParaRPr lang="en-US" sz="1100" dirty="0"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172200" y="2155526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dirty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7</a:t>
                </a:r>
                <a:endParaRPr lang="en-US" sz="1100" dirty="0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2200" y="4504888"/>
              <a:ext cx="5338679" cy="1743512"/>
              <a:chOff x="6172200" y="4504888"/>
              <a:chExt cx="5338679" cy="1743512"/>
            </a:xfrm>
          </p:grpSpPr>
          <p:sp>
            <p:nvSpPr>
              <p:cNvPr id="37" name="TextBox 37"/>
              <p:cNvSpPr txBox="1"/>
              <p:nvPr/>
            </p:nvSpPr>
            <p:spPr>
              <a:xfrm>
                <a:off x="6586121" y="4903479"/>
                <a:ext cx="4462879" cy="134492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现象为无线终端能关联AP，但无法访问同区域网关。原因为AP接入口VLAN配置与无线VLAN不一致，北京AP应接入VLAN60，燕郊AP应接入VLAN180；终端默认网关也需对应无线网段。处理方法是，将Core - SW1 F0/6配置为access VLAN60，将Core - SW2 F0/7配置为access VLAN180；无线终端分别配置192.168.60.1/192.168.180.1为网关。</a:t>
                </a:r>
                <a:endParaRPr lang="en-US" sz="1100" dirty="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586121" y="4504888"/>
                <a:ext cx="4924758" cy="39859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6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无线终端能关联AP，但无法访问同区域网关</a:t>
                </a:r>
                <a:endParaRPr lang="en-US" sz="1100" dirty="0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72200" y="4504888"/>
                <a:ext cx="413922" cy="39859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 dirty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8</a:t>
                </a:r>
                <a:endParaRPr lang="en-US" sz="1100" dirty="0"/>
              </a:p>
            </p:txBody>
          </p:sp>
        </p:grpSp>
      </p:grpSp>
      <p:sp>
        <p:nvSpPr>
          <p:cNvPr id="40" name="TextBox 40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项目实施问题记录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93705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5049" y="1453953"/>
            <a:ext cx="6573850" cy="21795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故障处理案例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45049" y="3697781"/>
            <a:ext cx="6573850" cy="1086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8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介绍项目中的故障处理过程</a:t>
            </a:r>
            <a:endParaRPr lang="en-US" sz="11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d193f6a-a947-4588-a307-40afdce2a03c"/>
          <p:cNvGrpSpPr/>
          <p:nvPr/>
        </p:nvGrpSpPr>
        <p:grpSpPr>
          <a:xfrm>
            <a:off x="660400" y="1129439"/>
            <a:ext cx="10864850" cy="5004660"/>
            <a:chOff x="660400" y="1129439"/>
            <a:chExt cx="10864850" cy="5004660"/>
          </a:xfrm>
        </p:grpSpPr>
        <p:sp>
          <p:nvSpPr>
            <p:cNvPr id="3" name="TextBox 3"/>
            <p:cNvSpPr txBox="1"/>
            <p:nvPr/>
          </p:nvSpPr>
          <p:spPr>
            <a:xfrm>
              <a:off x="666750" y="1129439"/>
              <a:ext cx="10858500" cy="6096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故障的具体表现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1841499"/>
              <a:ext cx="10858500" cy="4292600"/>
              <a:chOff x="660400" y="1831598"/>
              <a:chExt cx="10858500" cy="3188997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660400" y="1831598"/>
                <a:ext cx="10858500" cy="1562935"/>
                <a:chOff x="1362074" y="1831598"/>
                <a:chExt cx="10858500" cy="1562935"/>
              </a:xfrm>
            </p:grpSpPr>
            <p:sp>
              <p:nvSpPr>
                <p:cNvPr id="6" name="TextBox 6"/>
                <p:cNvSpPr txBox="1"/>
                <p:nvPr/>
              </p:nvSpPr>
              <p:spPr>
                <a:xfrm>
                  <a:off x="1362074" y="1942067"/>
                  <a:ext cx="425639" cy="315586"/>
                </a:xfrm>
                <a:prstGeom prst="roundRect">
                  <a:avLst>
                    <a:gd name="adj" fmla="val 8500"/>
                  </a:avLst>
                </a:prstGeom>
                <a:solidFill>
                  <a:srgbClr val="2373F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1852840" y="2295999"/>
                  <a:ext cx="10367734" cy="109853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在XX公司企业网项目完成基础配置并进入验收测试阶段后，正常情况下北京办公室终端能够访问燕郊服务器区，说明两地基础路由和业务VLAN大体配置正确。北京终端访问燕郊File - Server（192.168.190.10）和Mail - Server（192.168.190.20）时，ping测试可以成功。但在进行主备链路切换测试时，按照验收要求关闭北京出口路由器R - BJ的G0/0主用链路接口后，北京办公室到燕郊办公室的跨区域访问立即中断。北京总经办PC、研发部PC访问燕郊服务器区出现请求超时，燕郊终端访问北京VLAN10、VLAN40终端也无法连通。</a:t>
                  </a:r>
                  <a:endParaRPr lang="en-US" sz="1100"/>
                </a:p>
              </p:txBody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1852840" y="1831598"/>
                  <a:ext cx="10367734" cy="4644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跨区域访问中断</a:t>
                  </a:r>
                  <a:endParaRPr lang="en-US" sz="11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660400" y="3457660"/>
                <a:ext cx="10858500" cy="1562935"/>
                <a:chOff x="1362074" y="3457660"/>
                <a:chExt cx="10858500" cy="1562935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1362074" y="3568129"/>
                  <a:ext cx="425639" cy="315586"/>
                </a:xfrm>
                <a:prstGeom prst="roundRect">
                  <a:avLst>
                    <a:gd name="adj" fmla="val 8500"/>
                  </a:avLst>
                </a:prstGeom>
                <a:solidFill>
                  <a:srgbClr val="2373F3">
                    <a:alpha val="100000"/>
                  </a:srgbClr>
                </a:solidFill>
                <a:ln>
                  <a:prstDash val="solid"/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1800" b="0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1852840" y="3922061"/>
                  <a:ext cx="10367734" cy="109853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进一步观察发现，主链路关闭后，R - BJ路由表中到燕郊业务网段的OSPF路由消失或未切换到备用链路下一跳10.0.0.6，导致两地流量没有按照设计走备用链路。该现象与项目“主用链路故障时备用链路接管通信”的目标不一致。</a:t>
                  </a:r>
                  <a:endParaRPr lang="en-US" sz="1100"/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852840" y="3457660"/>
                  <a:ext cx="10367734" cy="46440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800" b="1" i="0">
                      <a:solidFill>
                        <a:srgbClr val="FFFFFF">
                          <a:alpha val="100000"/>
                        </a:srgbClr>
                      </a:solidFill>
                      <a:latin typeface="Arial" panose="020B0604020202020204"/>
                      <a:ea typeface="Arial" panose="020B0604020202020204"/>
                      <a:cs typeface="Arial" panose="020B0604020202020204"/>
                    </a:rPr>
                    <a:t>OSPF路由异常</a:t>
                  </a:r>
                  <a:endParaRPr lang="en-US" sz="1100"/>
                </a:p>
              </p:txBody>
            </p:sp>
          </p:grpSp>
        </p:grpSp>
      </p:grpSp>
      <p:sp>
        <p:nvSpPr>
          <p:cNvPr id="13" name="TextBox 13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问题现象</a:t>
            </a:r>
            <a:endParaRPr lang="en-US" sz="11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4a6da58-a1de-4923-b2a4-e7d55b7f9e99"/>
          <p:cNvGrpSpPr/>
          <p:nvPr/>
        </p:nvGrpSpPr>
        <p:grpSpPr>
          <a:xfrm>
            <a:off x="660427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48895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lnSpc>
                  <a:spcPct val="108000"/>
                </a:lnSpc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分析故障产生的原因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1747688"/>
              <a:ext cx="5346700" cy="4386412"/>
              <a:chOff x="4022615" y="1269727"/>
              <a:chExt cx="5346700" cy="4386412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4500563" y="1269727"/>
                <a:ext cx="4868752" cy="47094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网络架构与故障排查方向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4500563" y="1740672"/>
                <a:ext cx="4868752" cy="391546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本项目规划中，北京与燕郊通过两台Cisco 2911路由器互联，R - BJ与R - YJ之间有两条/30点到点链路：G0/0为主用链路，网段为10.0.0.0/30；G0/1为备用链路，网段为10.0.0.4/30。主用链路OSPF Cost设计为10，备用链路OSPF Cost设计为100，因此正常情况下应走主用链路，主链路故障后应自动切换到备用链路。排查方向包括终端与服务器地址、VLAN与网关、OSPF邻居、OSPF路由、接口Cost。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4022615" y="1269727"/>
                <a:ext cx="470996" cy="470947"/>
              </a:xfrm>
              <a:prstGeom prst="plaque">
                <a:avLst/>
              </a:prstGeom>
              <a:solidFill>
                <a:srgbClr val="2373F3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8640" bIns="7092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161403" y="1747688"/>
              <a:ext cx="5346700" cy="4386412"/>
              <a:chOff x="4022615" y="1269727"/>
              <a:chExt cx="5346700" cy="4386412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500563" y="1269727"/>
                <a:ext cx="4868752" cy="47094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排查结果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500563" y="1740672"/>
                <a:ext cx="4868752" cy="3915467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北京部门VLAN使用192.168.10.0/24、192.168.20.0/24、192.168.30.0/24、192.168.40.0/24、192.168.50.0/24等网段；燕郊服务器区为VLAN190，File - Server地址为192.168.190.10，Mail - Server地址为192.168.190.20，网关为192.168.190.1。终端IP、子网掩码、默认网关与规划一致，本地VLAN间互通正常，因此初步排除终端地址和服务器区VLAN接入错误。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Core - SW1到R - BJ使用10.0.1.0/30，Core - SW2到R - YJ使用10.0.1.4/30，相关接口状态正常，且北京和燕郊本地VLAN网段均已发布到OSPF中。主链路正常时业务可以访问，说明核心交换机到出口路由器的上联链路基本正常。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R - BJ上只能看到G0/0主链路对应的OSPF邻居，G0/1备用链路没有形成邻居关系。R - YJ的OSPF配置中备用链路网段10.0.0.4/30未正确加入OSPF，或G0/1备用链路接口未配置对应的OSPF Cost，导致备用链路没有参与OSPF选路。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022615" y="1269727"/>
                <a:ext cx="470996" cy="470947"/>
              </a:xfrm>
              <a:prstGeom prst="plaque">
                <a:avLst/>
              </a:prstGeom>
              <a:solidFill>
                <a:srgbClr val="2373F3">
                  <a:alpha val="100000"/>
                </a:srgbClr>
              </a:solidFill>
              <a:ln>
                <a:headEnd type="none"/>
                <a:tailEnd type="none"/>
              </a:ln>
            </p:spPr>
            <p:txBody>
              <a:bodyPr vert="horz" wrap="none" lIns="91440" tIns="45720" rIns="98640" bIns="70920" rtlCol="0" anchor="ctr" anchorCtr="0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en-US" sz="16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问题分析</a:t>
            </a:r>
            <a:endParaRPr lang="en-US" sz="11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7704408-5232-4d93-8ccf-1ced88984791"/>
          <p:cNvGrpSpPr/>
          <p:nvPr/>
        </p:nvGrpSpPr>
        <p:grpSpPr>
          <a:xfrm>
            <a:off x="660399" y="1130300"/>
            <a:ext cx="11094721" cy="5003800"/>
            <a:chOff x="660399" y="1130300"/>
            <a:chExt cx="11094721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566153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故障的处理措施及验证情况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399" y="2283325"/>
              <a:ext cx="5331461" cy="3850775"/>
              <a:chOff x="660399" y="2283325"/>
              <a:chExt cx="5331461" cy="3850775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0399" y="2283325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259842" y="2283325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配置修正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59842" y="2677026"/>
                <a:ext cx="4732018" cy="345707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根据问题定位结果，对R - BJ和R - YJ的备用链路OSPF配置进行修正，确保主备两条链路都加入OSPF Area 0，并通过Cost控制主备优先级。处理时重点恢复R - YJ侧G0/1备用链路的OSPF宣告，同时检查两端接口IP地址、接口启用状态和Cost参数。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6423659" y="2283325"/>
              <a:ext cx="5331461" cy="3850775"/>
              <a:chOff x="6423659" y="2283325"/>
              <a:chExt cx="5331461" cy="385077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423659" y="2283325"/>
                <a:ext cx="531374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l">
                  <a:lnSpc>
                    <a:spcPct val="108000"/>
                  </a:lnSpc>
                  <a:defRPr/>
                </a:pPr>
                <a:r>
                  <a:rPr lang="en-US" sz="19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2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023102" y="2283325"/>
                <a:ext cx="4732018" cy="393701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验证结果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023102" y="2677026"/>
                <a:ext cx="4732018" cy="3457074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在R - BJ和R - YJ上执行show ip ospf neighbor，确认主链路和备用链路均建立OSPF邻居关系；执行show ip ospf interface brief，确认G0/0 Cost为10，G0/1 Cost为100；执行show ip route ospf，确认北京侧可以学习到燕郊VLAN120至VLAN190等网段，燕郊侧可以学习到北京VLAN10至VLAN100等网段。</a:t>
                </a:r>
              </a:p>
              <a:p>
                <a:pPr algn="l">
                  <a:lnSpc>
                    <a:spcPct val="13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主链路正常时，北京访问燕郊File - Server和Mail - Server成功，tracert路径优先经过R - BJ G0/0和R - YJ G0/0；关闭R - BJ G0/0后，OSPF重新收敛，业务流量切换至G0/1备用链路，北京终端再次ping 192.168.190.10、192.168.190.20均成功；恢复R - BJ G0/0后，由于主链路Cost更低，OSPF自动回切至主用链路。</a:t>
                </a:r>
                <a:endParaRPr lang="en-US" sz="1100"/>
              </a:p>
            </p:txBody>
          </p:sp>
        </p:grpSp>
      </p:grpSp>
      <p:sp>
        <p:nvSpPr>
          <p:cNvPr id="12" name="TextBox 12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问题处理结果</a:t>
            </a:r>
            <a:endParaRPr lang="en-US" sz="11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45049" y="1453953"/>
            <a:ext cx="6573850" cy="217950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项目质量检查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945049" y="3697781"/>
            <a:ext cx="6573850" cy="1086205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2800" b="0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展示项目质量检查结果</a:t>
            </a:r>
            <a:endParaRPr lang="en-US" sz="11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6c8d1ac2-a2c4-4cb8-a955-8e2fce6d5e8d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63183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 strike="noStrike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项目质量检查的具体情况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197006"/>
              <a:ext cx="3386981" cy="3937094"/>
              <a:chOff x="660400" y="2197006"/>
              <a:chExt cx="3386981" cy="3937094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0400" y="3342082"/>
                <a:ext cx="3386981" cy="720000"/>
              </a:xfrm>
              <a:prstGeom prst="roundRect">
                <a:avLst/>
              </a:prstGeom>
              <a:ln w="12700">
                <a:solidFill>
                  <a:srgbClr val="2373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项目实施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0400" y="4154100"/>
                <a:ext cx="3386981" cy="198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项目结果验证方面，系统运行正常，各项功能测试通过，满足项目预期目标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；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项目实施按时完成，按照计划时间节点完成，无延期情况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；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项目实施完全符合实施方案，实际实施过程与设计方案一致，未出现重大偏差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；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项目人员遵守项目实施规范，项目成员严格遵守实施流程及安全规范，操作规范完整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2197006"/>
                <a:ext cx="3386981" cy="100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54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396160" y="2197006"/>
              <a:ext cx="3386981" cy="3937094"/>
              <a:chOff x="4651373" y="2197006"/>
              <a:chExt cx="3386981" cy="3937094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4651373" y="3342082"/>
                <a:ext cx="3386981" cy="720000"/>
              </a:xfrm>
              <a:prstGeom prst="roundRect">
                <a:avLst/>
              </a:prstGeom>
              <a:ln w="12700">
                <a:solidFill>
                  <a:srgbClr val="2373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文档检查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651373" y="4154100"/>
                <a:ext cx="3386981" cy="198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设计方案真实准确，项目设计内容真实可靠，配置及参数记录准确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；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项目输出文档完整，已提交实施报告、配置文档、测试记录等全部项目资料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；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项目文档按时输出，所有项目文档均在规定时间内完成并提交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；</a:t>
                </a:r>
              </a:p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项目输出文档规范无误，文档格式统一，内容完整，无明显错误和遗漏</a:t>
                </a: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4651373" y="2197006"/>
                <a:ext cx="3386981" cy="100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54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31919" y="2197006"/>
              <a:ext cx="3386981" cy="3937094"/>
              <a:chOff x="8642345" y="2197006"/>
              <a:chExt cx="3386981" cy="3937094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8642345" y="3342082"/>
                <a:ext cx="3386981" cy="720000"/>
              </a:xfrm>
              <a:prstGeom prst="roundRect">
                <a:avLst/>
              </a:prstGeom>
              <a:ln w="12700">
                <a:solidFill>
                  <a:srgbClr val="2373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800" b="1" i="0" strike="noStrike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检查结论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642345" y="4154100"/>
                <a:ext cx="3386981" cy="198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经检查，项目已按照实施方案要求顺利完成，系统运行稳定，各项功能测试结果符合预期。项目实施过程规范，相关文档资料完整、准确，满足项目验收要求，同意通过本次项目质量检查。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642345" y="2197006"/>
                <a:ext cx="3386981" cy="1008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5400" b="1" i="0">
                    <a:ln/>
                    <a:solidFill>
                      <a:srgbClr val="2373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 dirty="0" err="1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项目质量检查单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1240043-B9AC-E24B-0797-0180F1C02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009755"/>
              </p:ext>
            </p:extLst>
          </p:nvPr>
        </p:nvGraphicFramePr>
        <p:xfrm>
          <a:off x="228600" y="1295396"/>
          <a:ext cx="3551340" cy="462981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31178">
                  <a:extLst>
                    <a:ext uri="{9D8B030D-6E8A-4147-A177-3AD203B41FA5}">
                      <a16:colId xmlns:a16="http://schemas.microsoft.com/office/drawing/2014/main" val="70609252"/>
                    </a:ext>
                  </a:extLst>
                </a:gridCol>
                <a:gridCol w="744762">
                  <a:extLst>
                    <a:ext uri="{9D8B030D-6E8A-4147-A177-3AD203B41FA5}">
                      <a16:colId xmlns:a16="http://schemas.microsoft.com/office/drawing/2014/main" val="3911633174"/>
                    </a:ext>
                  </a:extLst>
                </a:gridCol>
                <a:gridCol w="1034828">
                  <a:extLst>
                    <a:ext uri="{9D8B030D-6E8A-4147-A177-3AD203B41FA5}">
                      <a16:colId xmlns:a16="http://schemas.microsoft.com/office/drawing/2014/main" val="3279707473"/>
                    </a:ext>
                  </a:extLst>
                </a:gridCol>
                <a:gridCol w="901554">
                  <a:extLst>
                    <a:ext uri="{9D8B030D-6E8A-4147-A177-3AD203B41FA5}">
                      <a16:colId xmlns:a16="http://schemas.microsoft.com/office/drawing/2014/main" val="1261076222"/>
                    </a:ext>
                  </a:extLst>
                </a:gridCol>
                <a:gridCol w="439018">
                  <a:extLst>
                    <a:ext uri="{9D8B030D-6E8A-4147-A177-3AD203B41FA5}">
                      <a16:colId xmlns:a16="http://schemas.microsoft.com/office/drawing/2014/main" val="3790194258"/>
                    </a:ext>
                  </a:extLst>
                </a:gridCol>
              </a:tblGrid>
              <a:tr h="13340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测试编号</a:t>
                      </a:r>
                      <a:endParaRPr lang="zh-CN" altLang="en-US" sz="7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测试项目</a:t>
                      </a:r>
                      <a:endParaRPr lang="zh-CN" altLang="en-US" sz="7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操作说明</a:t>
                      </a:r>
                      <a:endParaRPr lang="zh-CN" altLang="en-US" sz="7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预期结果</a:t>
                      </a:r>
                      <a:endParaRPr lang="zh-CN" altLang="en-US" sz="7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验收情况</a:t>
                      </a:r>
                      <a:endParaRPr lang="zh-CN" altLang="en-US" sz="7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4204320592"/>
                  </a:ext>
                </a:extLst>
              </a:tr>
              <a:tr h="642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T1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设备拓扑与连线校验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根据完成配置拓扑图检查 </a:t>
                      </a:r>
                      <a:r>
                        <a:rPr lang="en-US" altLang="zh-CN" sz="700" u="none" strike="noStrike" dirty="0">
                          <a:effectLst/>
                        </a:rPr>
                        <a:t>R-BJ</a:t>
                      </a:r>
                      <a:r>
                        <a:rPr lang="zh-CN" altLang="en-US" sz="700" u="none" strike="noStrike" dirty="0">
                          <a:effectLst/>
                        </a:rPr>
                        <a:t>、</a:t>
                      </a:r>
                      <a:r>
                        <a:rPr lang="en-US" altLang="zh-CN" sz="700" u="none" strike="noStrike" dirty="0">
                          <a:effectLst/>
                        </a:rPr>
                        <a:t>R-YJ</a:t>
                      </a:r>
                      <a:r>
                        <a:rPr lang="zh-CN" altLang="en-US" sz="700" u="none" strike="noStrike" dirty="0">
                          <a:effectLst/>
                        </a:rPr>
                        <a:t>、</a:t>
                      </a:r>
                      <a:r>
                        <a:rPr lang="en-US" altLang="zh-CN" sz="700" u="none" strike="noStrike" dirty="0">
                          <a:effectLst/>
                        </a:rPr>
                        <a:t>Core-SW1</a:t>
                      </a:r>
                      <a:r>
                        <a:rPr lang="zh-CN" altLang="en-US" sz="700" u="none" strike="noStrike" dirty="0">
                          <a:effectLst/>
                        </a:rPr>
                        <a:t>、</a:t>
                      </a:r>
                      <a:r>
                        <a:rPr lang="en-US" altLang="zh-CN" sz="700" u="none" strike="noStrike" dirty="0">
                          <a:effectLst/>
                        </a:rPr>
                        <a:t>Core-SW2</a:t>
                      </a:r>
                      <a:r>
                        <a:rPr lang="zh-CN" altLang="en-US" sz="700" u="none" strike="noStrike" dirty="0">
                          <a:effectLst/>
                        </a:rPr>
                        <a:t>、各接入交换机、</a:t>
                      </a:r>
                      <a:r>
                        <a:rPr lang="en-US" altLang="zh-CN" sz="700" u="none" strike="noStrike" dirty="0">
                          <a:effectLst/>
                        </a:rPr>
                        <a:t>AP</a:t>
                      </a:r>
                      <a:r>
                        <a:rPr lang="zh-CN" altLang="en-US" sz="700" u="none" strike="noStrike" dirty="0">
                          <a:effectLst/>
                        </a:rPr>
                        <a:t>、服务器和终端连接情况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所有设备连接关系与规划一致，接口状态正常，无错误连线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327209550"/>
                  </a:ext>
                </a:extLst>
              </a:tr>
              <a:tr h="7708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T2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创建完整性验证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在 </a:t>
                      </a:r>
                      <a:r>
                        <a:rPr lang="en-US" sz="700" u="none" strike="noStrike" dirty="0">
                          <a:effectLst/>
                        </a:rPr>
                        <a:t>Core-SW1、Core-SW2 </a:t>
                      </a:r>
                      <a:r>
                        <a:rPr lang="zh-CN" altLang="en-US" sz="700" u="none" strike="noStrike" dirty="0">
                          <a:effectLst/>
                        </a:rPr>
                        <a:t>和各接入交换机上执行 </a:t>
                      </a:r>
                      <a:r>
                        <a:rPr lang="en-US" sz="700" u="none" strike="noStrike" dirty="0">
                          <a:effectLst/>
                        </a:rPr>
                        <a:t>show </a:t>
                      </a:r>
                      <a:r>
                        <a:rPr lang="en-US" sz="700" u="none" strike="noStrike" dirty="0" err="1">
                          <a:effectLst/>
                        </a:rPr>
                        <a:t>vlan</a:t>
                      </a:r>
                      <a:r>
                        <a:rPr lang="en-US" sz="700" u="none" strike="noStrike" dirty="0">
                          <a:effectLst/>
                        </a:rPr>
                        <a:t> brief，</a:t>
                      </a:r>
                      <a:r>
                        <a:rPr lang="zh-CN" altLang="en-US" sz="700" u="none" strike="noStrike" dirty="0">
                          <a:effectLst/>
                        </a:rPr>
                        <a:t>检查 </a:t>
                      </a:r>
                      <a:r>
                        <a:rPr lang="en-US" sz="700" u="none" strike="noStrike" dirty="0">
                          <a:effectLst/>
                        </a:rPr>
                        <a:t>VLAN </a:t>
                      </a:r>
                      <a:r>
                        <a:rPr lang="zh-CN" altLang="en-US" sz="700" u="none" strike="noStrike" dirty="0">
                          <a:effectLst/>
                        </a:rPr>
                        <a:t>创建情况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北京侧 </a:t>
                      </a:r>
                      <a:r>
                        <a:rPr lang="en-US" sz="700" u="none" strike="noStrike">
                          <a:effectLst/>
                        </a:rPr>
                        <a:t>VLAN10、20、30、40、50、60、100 </a:t>
                      </a:r>
                      <a:r>
                        <a:rPr lang="zh-CN" altLang="en-US" sz="700" u="none" strike="noStrike">
                          <a:effectLst/>
                        </a:rPr>
                        <a:t>存在；燕郊侧 </a:t>
                      </a:r>
                      <a:r>
                        <a:rPr lang="en-US" sz="700" u="none" strike="noStrike">
                          <a:effectLst/>
                        </a:rPr>
                        <a:t>VLAN120、130、140、150、160、170、180、190 </a:t>
                      </a:r>
                      <a:r>
                        <a:rPr lang="zh-CN" altLang="en-US" sz="700" u="none" strike="noStrike">
                          <a:effectLst/>
                        </a:rPr>
                        <a:t>存在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3922063915"/>
                  </a:ext>
                </a:extLst>
              </a:tr>
              <a:tr h="770813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T3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接入端口 </a:t>
                      </a:r>
                      <a:r>
                        <a:rPr lang="en-US" altLang="zh-CN" sz="700" u="none" strike="noStrike" dirty="0">
                          <a:effectLst/>
                        </a:rPr>
                        <a:t>VLAN </a:t>
                      </a:r>
                      <a:r>
                        <a:rPr lang="zh-CN" altLang="en-US" sz="700" u="none" strike="noStrike" dirty="0">
                          <a:effectLst/>
                        </a:rPr>
                        <a:t>划分验证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检查各部门 </a:t>
                      </a:r>
                      <a:r>
                        <a:rPr lang="en-US" altLang="zh-CN" sz="700" u="none" strike="noStrike" dirty="0">
                          <a:effectLst/>
                        </a:rPr>
                        <a:t>PC</a:t>
                      </a:r>
                      <a:r>
                        <a:rPr lang="zh-CN" altLang="en-US" sz="700" u="none" strike="noStrike" dirty="0">
                          <a:effectLst/>
                        </a:rPr>
                        <a:t>、服务器和 </a:t>
                      </a:r>
                      <a:r>
                        <a:rPr lang="en-US" altLang="zh-CN" sz="700" u="none" strike="noStrike" dirty="0">
                          <a:effectLst/>
                        </a:rPr>
                        <a:t>AP </a:t>
                      </a:r>
                      <a:r>
                        <a:rPr lang="zh-CN" altLang="en-US" sz="700" u="none" strike="noStrike" dirty="0">
                          <a:effectLst/>
                        </a:rPr>
                        <a:t>接入口是否加入对应 </a:t>
                      </a:r>
                      <a:r>
                        <a:rPr lang="en-US" altLang="zh-CN" sz="700" u="none" strike="noStrike" dirty="0">
                          <a:effectLst/>
                        </a:rPr>
                        <a:t>VLAN</a:t>
                      </a:r>
                      <a:endParaRPr lang="en-US" altLang="zh-CN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各部门终端端口均为 </a:t>
                      </a:r>
                      <a:r>
                        <a:rPr lang="en-US" sz="700" u="none" strike="noStrike">
                          <a:effectLst/>
                        </a:rPr>
                        <a:t>Access </a:t>
                      </a:r>
                      <a:r>
                        <a:rPr lang="zh-CN" altLang="en-US" sz="700" u="none" strike="noStrike">
                          <a:effectLst/>
                        </a:rPr>
                        <a:t>模式，并加入对应部门 </a:t>
                      </a:r>
                      <a:r>
                        <a:rPr lang="en-US" sz="700" u="none" strike="noStrike">
                          <a:effectLst/>
                        </a:rPr>
                        <a:t>VLAN；</a:t>
                      </a:r>
                      <a:r>
                        <a:rPr lang="zh-CN" altLang="en-US" sz="700" u="none" strike="noStrike">
                          <a:effectLst/>
                        </a:rPr>
                        <a:t>服务器接入 </a:t>
                      </a:r>
                      <a:r>
                        <a:rPr lang="en-US" sz="700" u="none" strike="noStrike">
                          <a:effectLst/>
                        </a:rPr>
                        <a:t>VLAN190；AP-BJ </a:t>
                      </a:r>
                      <a:r>
                        <a:rPr lang="zh-CN" altLang="en-US" sz="700" u="none" strike="noStrike">
                          <a:effectLst/>
                        </a:rPr>
                        <a:t>接入 </a:t>
                      </a:r>
                      <a:r>
                        <a:rPr lang="en-US" sz="700" u="none" strike="noStrike">
                          <a:effectLst/>
                        </a:rPr>
                        <a:t>VLAN60，AP-YJ </a:t>
                      </a:r>
                      <a:r>
                        <a:rPr lang="zh-CN" altLang="en-US" sz="700" u="none" strike="noStrike">
                          <a:effectLst/>
                        </a:rPr>
                        <a:t>接入 </a:t>
                      </a:r>
                      <a:r>
                        <a:rPr lang="en-US" sz="700" u="none" strike="noStrike">
                          <a:effectLst/>
                        </a:rPr>
                        <a:t>VLAN180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875298557"/>
                  </a:ext>
                </a:extLst>
              </a:tr>
              <a:tr h="5138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T4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700" u="none" strike="noStrike">
                          <a:effectLst/>
                        </a:rPr>
                        <a:t>Trunk </a:t>
                      </a:r>
                      <a:r>
                        <a:rPr lang="zh-CN" altLang="en-US" sz="700" u="none" strike="noStrike">
                          <a:effectLst/>
                        </a:rPr>
                        <a:t>上联链路验证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检查接入交换机与核心交换机之间的上联端口配置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各接入交换机上联核心交换机的端口为 </a:t>
                      </a:r>
                      <a:r>
                        <a:rPr lang="en-US" altLang="zh-CN" sz="700" u="none" strike="noStrike">
                          <a:effectLst/>
                        </a:rPr>
                        <a:t>Trunk </a:t>
                      </a:r>
                      <a:r>
                        <a:rPr lang="zh-CN" altLang="en-US" sz="700" u="none" strike="noStrike">
                          <a:effectLst/>
                        </a:rPr>
                        <a:t>模式，对应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能够正常透传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2103458720"/>
                  </a:ext>
                </a:extLst>
              </a:tr>
              <a:tr h="642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T5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网关可达性测试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从各部门 </a:t>
                      </a:r>
                      <a:r>
                        <a:rPr lang="en-US" altLang="zh-CN" sz="700" u="none" strike="noStrike">
                          <a:effectLst/>
                        </a:rPr>
                        <a:t>PC ping </a:t>
                      </a:r>
                      <a:r>
                        <a:rPr lang="zh-CN" altLang="en-US" sz="700" u="none" strike="noStrike">
                          <a:effectLst/>
                        </a:rPr>
                        <a:t>本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默认网关，例如 </a:t>
                      </a:r>
                      <a:r>
                        <a:rPr lang="en-US" altLang="zh-CN" sz="700" u="none" strike="noStrike">
                          <a:effectLst/>
                        </a:rPr>
                        <a:t>192.168.10.1</a:t>
                      </a:r>
                      <a:r>
                        <a:rPr lang="zh-CN" altLang="en-US" sz="700" u="none" strike="noStrike">
                          <a:effectLst/>
                        </a:rPr>
                        <a:t>、</a:t>
                      </a:r>
                      <a:r>
                        <a:rPr lang="en-US" altLang="zh-CN" sz="700" u="none" strike="noStrike">
                          <a:effectLst/>
                        </a:rPr>
                        <a:t>192.168.120.1</a:t>
                      </a:r>
                      <a:r>
                        <a:rPr lang="zh-CN" altLang="en-US" sz="700" u="none" strike="noStrike">
                          <a:effectLst/>
                        </a:rPr>
                        <a:t>、</a:t>
                      </a:r>
                      <a:r>
                        <a:rPr lang="en-US" altLang="zh-CN" sz="700" u="none" strike="noStrike">
                          <a:effectLst/>
                        </a:rPr>
                        <a:t>192.168.190.1</a:t>
                      </a:r>
                      <a:endParaRPr lang="en-US" altLang="zh-CN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各终端均能 </a:t>
                      </a:r>
                      <a:r>
                        <a:rPr lang="en-US" altLang="zh-CN" sz="700" u="none" strike="noStrike">
                          <a:effectLst/>
                        </a:rPr>
                        <a:t>ping </a:t>
                      </a:r>
                      <a:r>
                        <a:rPr lang="zh-CN" altLang="en-US" sz="700" u="none" strike="noStrike">
                          <a:effectLst/>
                        </a:rPr>
                        <a:t>通本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网关，说明终端地址、网关和接入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配置正确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3066645206"/>
                  </a:ext>
                </a:extLst>
              </a:tr>
              <a:tr h="642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T6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本地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间互通测试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 dirty="0">
                          <a:effectLst/>
                        </a:rPr>
                        <a:t>在北京侧测试 </a:t>
                      </a:r>
                      <a:r>
                        <a:rPr lang="en-US" sz="700" u="none" strike="noStrike" dirty="0">
                          <a:effectLst/>
                        </a:rPr>
                        <a:t>VLAN10 </a:t>
                      </a:r>
                      <a:r>
                        <a:rPr lang="zh-CN" altLang="en-US" sz="700" u="none" strike="noStrike" dirty="0">
                          <a:effectLst/>
                        </a:rPr>
                        <a:t>与 </a:t>
                      </a:r>
                      <a:r>
                        <a:rPr lang="en-US" sz="700" u="none" strike="noStrike" dirty="0">
                          <a:effectLst/>
                        </a:rPr>
                        <a:t>VLAN20、VLAN40 </a:t>
                      </a:r>
                      <a:r>
                        <a:rPr lang="zh-CN" altLang="en-US" sz="700" u="none" strike="noStrike" dirty="0">
                          <a:effectLst/>
                        </a:rPr>
                        <a:t>等网段互通；在燕郊侧测试 </a:t>
                      </a:r>
                      <a:r>
                        <a:rPr lang="en-US" sz="700" u="none" strike="noStrike" dirty="0">
                          <a:effectLst/>
                        </a:rPr>
                        <a:t>VLAN120 </a:t>
                      </a:r>
                      <a:r>
                        <a:rPr lang="zh-CN" altLang="en-US" sz="700" u="none" strike="noStrike" dirty="0">
                          <a:effectLst/>
                        </a:rPr>
                        <a:t>与 </a:t>
                      </a:r>
                      <a:r>
                        <a:rPr lang="en-US" sz="700" u="none" strike="noStrike" dirty="0">
                          <a:effectLst/>
                        </a:rPr>
                        <a:t>VLAN150、VLAN190 </a:t>
                      </a:r>
                      <a:r>
                        <a:rPr lang="zh-CN" altLang="en-US" sz="700" u="none" strike="noStrike" dirty="0">
                          <a:effectLst/>
                        </a:rPr>
                        <a:t>等网段互通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北京本地各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能够通过 </a:t>
                      </a:r>
                      <a:r>
                        <a:rPr lang="en-US" altLang="zh-CN" sz="700" u="none" strike="noStrike">
                          <a:effectLst/>
                        </a:rPr>
                        <a:t>Core-SW1 </a:t>
                      </a:r>
                      <a:r>
                        <a:rPr lang="zh-CN" altLang="en-US" sz="700" u="none" strike="noStrike">
                          <a:effectLst/>
                        </a:rPr>
                        <a:t>实现互通；燕郊本地各 </a:t>
                      </a:r>
                      <a:r>
                        <a:rPr lang="en-US" altLang="zh-CN" sz="700" u="none" strike="noStrike">
                          <a:effectLst/>
                        </a:rPr>
                        <a:t>VLAN </a:t>
                      </a:r>
                      <a:r>
                        <a:rPr lang="zh-CN" altLang="en-US" sz="700" u="none" strike="noStrike">
                          <a:effectLst/>
                        </a:rPr>
                        <a:t>能够通过 </a:t>
                      </a:r>
                      <a:r>
                        <a:rPr lang="en-US" altLang="zh-CN" sz="700" u="none" strike="noStrike">
                          <a:effectLst/>
                        </a:rPr>
                        <a:t>Core-SW2 </a:t>
                      </a:r>
                      <a:r>
                        <a:rPr lang="zh-CN" altLang="en-US" sz="700" u="none" strike="noStrike">
                          <a:effectLst/>
                        </a:rPr>
                        <a:t>实现互通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>
                          <a:effectLst/>
                        </a:rPr>
                        <a:t>√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565634825"/>
                  </a:ext>
                </a:extLst>
              </a:tr>
              <a:tr h="5138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>
                          <a:effectLst/>
                        </a:rPr>
                        <a:t>T7</a:t>
                      </a:r>
                      <a:endParaRPr 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核心交换机与出口路由器互联验证</a:t>
                      </a:r>
                      <a:endParaRPr lang="zh-CN" altLang="en-US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700" u="none" strike="noStrike">
                          <a:effectLst/>
                        </a:rPr>
                        <a:t>在 </a:t>
                      </a:r>
                      <a:r>
                        <a:rPr lang="en-US" sz="700" u="none" strike="noStrike">
                          <a:effectLst/>
                        </a:rPr>
                        <a:t>Core-SW1 ping R-BJ G0/2 </a:t>
                      </a:r>
                      <a:r>
                        <a:rPr lang="zh-CN" altLang="en-US" sz="700" u="none" strike="noStrike">
                          <a:effectLst/>
                        </a:rPr>
                        <a:t>地址 </a:t>
                      </a:r>
                      <a:r>
                        <a:rPr lang="en-US" altLang="zh-CN" sz="700" u="none" strike="noStrike">
                          <a:effectLst/>
                        </a:rPr>
                        <a:t>10.0.1.2</a:t>
                      </a:r>
                      <a:r>
                        <a:rPr lang="zh-CN" altLang="en-US" sz="700" u="none" strike="noStrike">
                          <a:effectLst/>
                        </a:rPr>
                        <a:t>；在 </a:t>
                      </a:r>
                      <a:r>
                        <a:rPr lang="en-US" sz="700" u="none" strike="noStrike">
                          <a:effectLst/>
                        </a:rPr>
                        <a:t>Core-SW2 ping R-YJ G0/2 </a:t>
                      </a:r>
                      <a:r>
                        <a:rPr lang="zh-CN" altLang="en-US" sz="700" u="none" strike="noStrike">
                          <a:effectLst/>
                        </a:rPr>
                        <a:t>地址 </a:t>
                      </a:r>
                      <a:r>
                        <a:rPr lang="en-US" altLang="zh-CN" sz="700" u="none" strike="noStrike">
                          <a:effectLst/>
                        </a:rPr>
                        <a:t>10.0.1.6</a:t>
                      </a:r>
                      <a:endParaRPr lang="en-US" altLang="zh-CN" sz="7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u="none" strike="noStrike" dirty="0">
                          <a:effectLst/>
                        </a:rPr>
                        <a:t>Core-SW1 </a:t>
                      </a:r>
                      <a:r>
                        <a:rPr lang="zh-CN" altLang="en-US" sz="700" u="none" strike="noStrike" dirty="0">
                          <a:effectLst/>
                        </a:rPr>
                        <a:t>与 </a:t>
                      </a:r>
                      <a:r>
                        <a:rPr lang="en-US" sz="700" u="none" strike="noStrike" dirty="0">
                          <a:effectLst/>
                        </a:rPr>
                        <a:t>R-BJ </a:t>
                      </a:r>
                      <a:r>
                        <a:rPr lang="zh-CN" altLang="en-US" sz="700" u="none" strike="noStrike" dirty="0">
                          <a:effectLst/>
                        </a:rPr>
                        <a:t>三层链路正常，</a:t>
                      </a:r>
                      <a:r>
                        <a:rPr lang="en-US" sz="700" u="none" strike="noStrike" dirty="0">
                          <a:effectLst/>
                        </a:rPr>
                        <a:t>Core-SW2 </a:t>
                      </a:r>
                      <a:r>
                        <a:rPr lang="zh-CN" altLang="en-US" sz="700" u="none" strike="noStrike" dirty="0">
                          <a:effectLst/>
                        </a:rPr>
                        <a:t>与 </a:t>
                      </a:r>
                      <a:r>
                        <a:rPr lang="en-US" sz="700" u="none" strike="noStrike" dirty="0">
                          <a:effectLst/>
                        </a:rPr>
                        <a:t>R-YJ </a:t>
                      </a:r>
                      <a:r>
                        <a:rPr lang="zh-CN" altLang="en-US" sz="700" u="none" strike="noStrike" dirty="0">
                          <a:effectLst/>
                        </a:rPr>
                        <a:t>三层链路正常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700" u="none" strike="noStrike" dirty="0">
                          <a:effectLst/>
                        </a:rPr>
                        <a:t>√</a:t>
                      </a:r>
                      <a:endParaRPr lang="zh-CN" altLang="en-US" sz="7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4830" marR="4830" marT="4830" marB="0" anchor="ctr"/>
                </a:tc>
                <a:extLst>
                  <a:ext uri="{0D108BD9-81ED-4DB2-BD59-A6C34878D82A}">
                    <a16:rowId xmlns:a16="http://schemas.microsoft.com/office/drawing/2014/main" val="1641259259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3807ACA-CA03-484A-BF48-F50BE62D7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803476"/>
              </p:ext>
            </p:extLst>
          </p:nvPr>
        </p:nvGraphicFramePr>
        <p:xfrm>
          <a:off x="3810000" y="1295396"/>
          <a:ext cx="3840059" cy="4573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6232">
                  <a:extLst>
                    <a:ext uri="{9D8B030D-6E8A-4147-A177-3AD203B41FA5}">
                      <a16:colId xmlns:a16="http://schemas.microsoft.com/office/drawing/2014/main" val="2906949998"/>
                    </a:ext>
                  </a:extLst>
                </a:gridCol>
                <a:gridCol w="805310">
                  <a:extLst>
                    <a:ext uri="{9D8B030D-6E8A-4147-A177-3AD203B41FA5}">
                      <a16:colId xmlns:a16="http://schemas.microsoft.com/office/drawing/2014/main" val="754836105"/>
                    </a:ext>
                  </a:extLst>
                </a:gridCol>
                <a:gridCol w="1118957">
                  <a:extLst>
                    <a:ext uri="{9D8B030D-6E8A-4147-A177-3AD203B41FA5}">
                      <a16:colId xmlns:a16="http://schemas.microsoft.com/office/drawing/2014/main" val="2397672356"/>
                    </a:ext>
                  </a:extLst>
                </a:gridCol>
                <a:gridCol w="974850">
                  <a:extLst>
                    <a:ext uri="{9D8B030D-6E8A-4147-A177-3AD203B41FA5}">
                      <a16:colId xmlns:a16="http://schemas.microsoft.com/office/drawing/2014/main" val="3868272345"/>
                    </a:ext>
                  </a:extLst>
                </a:gridCol>
                <a:gridCol w="474710">
                  <a:extLst>
                    <a:ext uri="{9D8B030D-6E8A-4147-A177-3AD203B41FA5}">
                      <a16:colId xmlns:a16="http://schemas.microsoft.com/office/drawing/2014/main" val="901837601"/>
                    </a:ext>
                  </a:extLst>
                </a:gridCol>
              </a:tblGrid>
              <a:tr h="148027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测试编号</a:t>
                      </a:r>
                      <a:endParaRPr lang="zh-CN" altLang="en-US" sz="8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测试项目</a:t>
                      </a:r>
                      <a:endParaRPr lang="zh-CN" altLang="en-US" sz="8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操作说明</a:t>
                      </a:r>
                      <a:endParaRPr lang="zh-CN" altLang="en-US" sz="8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预期结果</a:t>
                      </a:r>
                      <a:endParaRPr lang="zh-CN" altLang="en-US" sz="8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验收情况</a:t>
                      </a:r>
                      <a:endParaRPr lang="zh-CN" altLang="en-US" sz="8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3008121057"/>
                  </a:ext>
                </a:extLst>
              </a:tr>
              <a:tr h="5701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T8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R-BJ </a:t>
                      </a:r>
                      <a:r>
                        <a:rPr lang="zh-CN" altLang="en-US" sz="800" u="none" strike="noStrike">
                          <a:effectLst/>
                        </a:rPr>
                        <a:t>与 </a:t>
                      </a:r>
                      <a:r>
                        <a:rPr lang="en-US" sz="800" u="none" strike="noStrike">
                          <a:effectLst/>
                        </a:rPr>
                        <a:t>R-YJ </a:t>
                      </a:r>
                      <a:r>
                        <a:rPr lang="zh-CN" altLang="en-US" sz="800" u="none" strike="noStrike">
                          <a:effectLst/>
                        </a:rPr>
                        <a:t>主备链路验证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分别在 </a:t>
                      </a:r>
                      <a:r>
                        <a:rPr lang="en-US" sz="800" u="none" strike="noStrike">
                          <a:effectLst/>
                        </a:rPr>
                        <a:t>R-BJ </a:t>
                      </a:r>
                      <a:r>
                        <a:rPr lang="zh-CN" altLang="en-US" sz="800" u="none" strike="noStrike">
                          <a:effectLst/>
                        </a:rPr>
                        <a:t>和 </a:t>
                      </a:r>
                      <a:r>
                        <a:rPr lang="en-US" sz="800" u="none" strike="noStrike">
                          <a:effectLst/>
                        </a:rPr>
                        <a:t>R-YJ </a:t>
                      </a:r>
                      <a:r>
                        <a:rPr lang="zh-CN" altLang="en-US" sz="800" u="none" strike="noStrike">
                          <a:effectLst/>
                        </a:rPr>
                        <a:t>上检查 </a:t>
                      </a:r>
                      <a:r>
                        <a:rPr lang="en-US" sz="800" u="none" strike="noStrike">
                          <a:effectLst/>
                        </a:rPr>
                        <a:t>G0/0、G0/1 </a:t>
                      </a:r>
                      <a:r>
                        <a:rPr lang="zh-CN" altLang="en-US" sz="800" u="none" strike="noStrike">
                          <a:effectLst/>
                        </a:rPr>
                        <a:t>接口状态，并互相 </a:t>
                      </a:r>
                      <a:r>
                        <a:rPr lang="en-US" sz="800" u="none" strike="noStrike">
                          <a:effectLst/>
                        </a:rPr>
                        <a:t>ping </a:t>
                      </a:r>
                      <a:r>
                        <a:rPr lang="zh-CN" altLang="en-US" sz="800" u="none" strike="noStrike">
                          <a:effectLst/>
                        </a:rPr>
                        <a:t>对端地址 </a:t>
                      </a:r>
                      <a:r>
                        <a:rPr lang="en-US" altLang="zh-CN" sz="800" u="none" strike="noStrike">
                          <a:effectLst/>
                        </a:rPr>
                        <a:t>10.0.0.2</a:t>
                      </a:r>
                      <a:r>
                        <a:rPr lang="zh-CN" altLang="en-US" sz="800" u="none" strike="noStrike">
                          <a:effectLst/>
                        </a:rPr>
                        <a:t>、</a:t>
                      </a:r>
                      <a:r>
                        <a:rPr lang="en-US" altLang="zh-CN" sz="800" u="none" strike="noStrike">
                          <a:effectLst/>
                        </a:rPr>
                        <a:t>10.0.0.6</a:t>
                      </a:r>
                      <a:endParaRPr lang="en-US" altLang="zh-CN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主用链路 </a:t>
                      </a:r>
                      <a:r>
                        <a:rPr lang="en-US" altLang="zh-CN" sz="800" u="none" strike="noStrike">
                          <a:effectLst/>
                        </a:rPr>
                        <a:t>10.0.0.0/30 </a:t>
                      </a:r>
                      <a:r>
                        <a:rPr lang="zh-CN" altLang="en-US" sz="800" u="none" strike="noStrike">
                          <a:effectLst/>
                        </a:rPr>
                        <a:t>和备用链路 </a:t>
                      </a:r>
                      <a:r>
                        <a:rPr lang="en-US" altLang="zh-CN" sz="800" u="none" strike="noStrike">
                          <a:effectLst/>
                        </a:rPr>
                        <a:t>10.0.0.4/30 </a:t>
                      </a:r>
                      <a:r>
                        <a:rPr lang="zh-CN" altLang="en-US" sz="800" u="none" strike="noStrike">
                          <a:effectLst/>
                        </a:rPr>
                        <a:t>均可达，接口状态正常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√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660631407"/>
                  </a:ext>
                </a:extLst>
              </a:tr>
              <a:tr h="577171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T9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</a:rPr>
                        <a:t>OSPF </a:t>
                      </a:r>
                      <a:r>
                        <a:rPr lang="zh-CN" altLang="en-US" sz="800" u="none" strike="noStrike">
                          <a:effectLst/>
                        </a:rPr>
                        <a:t>邻居关系验证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在 </a:t>
                      </a:r>
                      <a:r>
                        <a:rPr lang="en-US" sz="800" u="none" strike="noStrike">
                          <a:effectLst/>
                        </a:rPr>
                        <a:t>R-BJ、R-YJ、Core-SW1、Core-SW2 </a:t>
                      </a:r>
                      <a:r>
                        <a:rPr lang="zh-CN" altLang="en-US" sz="800" u="none" strike="noStrike">
                          <a:effectLst/>
                        </a:rPr>
                        <a:t>上执行 </a:t>
                      </a:r>
                      <a:r>
                        <a:rPr lang="en-US" sz="800" u="none" strike="noStrike">
                          <a:effectLst/>
                        </a:rPr>
                        <a:t>show ip ospf neighbor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</a:rPr>
                        <a:t>OSPF </a:t>
                      </a:r>
                      <a:r>
                        <a:rPr lang="zh-CN" altLang="en-US" sz="800" u="none" strike="noStrike">
                          <a:effectLst/>
                        </a:rPr>
                        <a:t>邻居关系正常建立，核心交换机与本地路由器、</a:t>
                      </a:r>
                      <a:r>
                        <a:rPr lang="en-US" altLang="zh-CN" sz="800" u="none" strike="noStrike">
                          <a:effectLst/>
                        </a:rPr>
                        <a:t>R-BJ </a:t>
                      </a:r>
                      <a:r>
                        <a:rPr lang="zh-CN" altLang="en-US" sz="800" u="none" strike="noStrike">
                          <a:effectLst/>
                        </a:rPr>
                        <a:t>与 </a:t>
                      </a:r>
                      <a:r>
                        <a:rPr lang="en-US" altLang="zh-CN" sz="800" u="none" strike="noStrike">
                          <a:effectLst/>
                        </a:rPr>
                        <a:t>R-YJ </a:t>
                      </a:r>
                      <a:r>
                        <a:rPr lang="zh-CN" altLang="en-US" sz="800" u="none" strike="noStrike">
                          <a:effectLst/>
                        </a:rPr>
                        <a:t>之间邻接状态正常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√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2420608256"/>
                  </a:ext>
                </a:extLst>
              </a:tr>
              <a:tr h="5701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T10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800" u="none" strike="noStrike">
                          <a:effectLst/>
                        </a:rPr>
                        <a:t>OSPF </a:t>
                      </a:r>
                      <a:r>
                        <a:rPr lang="zh-CN" altLang="en-US" sz="800" u="none" strike="noStrike">
                          <a:effectLst/>
                        </a:rPr>
                        <a:t>路由表完整性验证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</a:rPr>
                        <a:t>在 </a:t>
                      </a:r>
                      <a:r>
                        <a:rPr lang="en-US" sz="800" u="none" strike="noStrike" dirty="0">
                          <a:effectLst/>
                        </a:rPr>
                        <a:t>Core-SW1、R-BJ、R-YJ、Core-SW2 </a:t>
                      </a:r>
                      <a:r>
                        <a:rPr lang="zh-CN" altLang="en-US" sz="800" u="none" strike="noStrike" dirty="0">
                          <a:effectLst/>
                        </a:rPr>
                        <a:t>上执行 </a:t>
                      </a:r>
                      <a:r>
                        <a:rPr lang="en-US" sz="800" u="none" strike="noStrike" dirty="0">
                          <a:effectLst/>
                        </a:rPr>
                        <a:t>show </a:t>
                      </a:r>
                      <a:r>
                        <a:rPr lang="en-US" sz="800" u="none" strike="noStrike" dirty="0" err="1">
                          <a:effectLst/>
                        </a:rPr>
                        <a:t>ip</a:t>
                      </a:r>
                      <a:r>
                        <a:rPr lang="en-US" sz="800" u="none" strike="noStrike" dirty="0">
                          <a:effectLst/>
                        </a:rPr>
                        <a:t> route </a:t>
                      </a:r>
                      <a:r>
                        <a:rPr lang="zh-CN" altLang="en-US" sz="800" u="none" strike="noStrike" dirty="0">
                          <a:effectLst/>
                        </a:rPr>
                        <a:t>或 </a:t>
                      </a:r>
                      <a:r>
                        <a:rPr lang="en-US" sz="800" u="none" strike="noStrike" dirty="0">
                          <a:effectLst/>
                        </a:rPr>
                        <a:t>show </a:t>
                      </a:r>
                      <a:r>
                        <a:rPr lang="en-US" sz="800" u="none" strike="noStrike" dirty="0" err="1">
                          <a:effectLst/>
                        </a:rPr>
                        <a:t>ip</a:t>
                      </a:r>
                      <a:r>
                        <a:rPr lang="en-US" sz="800" u="none" strike="noStrike" dirty="0">
                          <a:effectLst/>
                        </a:rPr>
                        <a:t> route </a:t>
                      </a:r>
                      <a:r>
                        <a:rPr lang="en-US" sz="800" u="none" strike="noStrike" dirty="0" err="1">
                          <a:effectLst/>
                        </a:rPr>
                        <a:t>ospf</a:t>
                      </a:r>
                      <a:endParaRPr lang="en-US" sz="8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</a:rPr>
                        <a:t>北京侧能够学习到燕郊 </a:t>
                      </a:r>
                      <a:r>
                        <a:rPr lang="en-US" altLang="zh-CN" sz="800" u="none" strike="noStrike" dirty="0">
                          <a:effectLst/>
                        </a:rPr>
                        <a:t>VLAN120-190 </a:t>
                      </a:r>
                      <a:r>
                        <a:rPr lang="zh-CN" altLang="en-US" sz="800" u="none" strike="noStrike" dirty="0">
                          <a:effectLst/>
                        </a:rPr>
                        <a:t>网段，燕郊侧能够学习到北京 </a:t>
                      </a:r>
                      <a:r>
                        <a:rPr lang="en-US" altLang="zh-CN" sz="800" u="none" strike="noStrike" dirty="0">
                          <a:effectLst/>
                        </a:rPr>
                        <a:t>VLAN10-100 </a:t>
                      </a:r>
                      <a:r>
                        <a:rPr lang="zh-CN" altLang="en-US" sz="800" u="none" strike="noStrike" dirty="0">
                          <a:effectLst/>
                        </a:rPr>
                        <a:t>网段</a:t>
                      </a:r>
                      <a:endParaRPr lang="zh-CN" altLang="en-US" sz="8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√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2313372176"/>
                  </a:ext>
                </a:extLst>
              </a:tr>
              <a:tr h="7127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T11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跨区域部门互通测试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从北京部门 </a:t>
                      </a:r>
                      <a:r>
                        <a:rPr lang="en-US" sz="800" u="none" strike="noStrike">
                          <a:effectLst/>
                        </a:rPr>
                        <a:t>PC ping </a:t>
                      </a:r>
                      <a:r>
                        <a:rPr lang="zh-CN" altLang="en-US" sz="800" u="none" strike="noStrike">
                          <a:effectLst/>
                        </a:rPr>
                        <a:t>燕郊部门 </a:t>
                      </a:r>
                      <a:r>
                        <a:rPr lang="en-US" sz="800" u="none" strike="noStrike">
                          <a:effectLst/>
                        </a:rPr>
                        <a:t>PC，</a:t>
                      </a:r>
                      <a:r>
                        <a:rPr lang="zh-CN" altLang="en-US" sz="800" u="none" strike="noStrike">
                          <a:effectLst/>
                        </a:rPr>
                        <a:t>例如从 </a:t>
                      </a:r>
                      <a:r>
                        <a:rPr lang="en-US" altLang="zh-CN" sz="800" u="none" strike="noStrike">
                          <a:effectLst/>
                        </a:rPr>
                        <a:t>192.168.10.11 </a:t>
                      </a:r>
                      <a:r>
                        <a:rPr lang="en-US" sz="800" u="none" strike="noStrike">
                          <a:effectLst/>
                        </a:rPr>
                        <a:t>ping 192.168.120.11；</a:t>
                      </a:r>
                      <a:r>
                        <a:rPr lang="zh-CN" altLang="en-US" sz="800" u="none" strike="noStrike">
                          <a:effectLst/>
                        </a:rPr>
                        <a:t>再从燕郊 </a:t>
                      </a:r>
                      <a:r>
                        <a:rPr lang="en-US" sz="800" u="none" strike="noStrike">
                          <a:effectLst/>
                        </a:rPr>
                        <a:t>PC ping </a:t>
                      </a:r>
                      <a:r>
                        <a:rPr lang="zh-CN" altLang="en-US" sz="800" u="none" strike="noStrike">
                          <a:effectLst/>
                        </a:rPr>
                        <a:t>北京 </a:t>
                      </a:r>
                      <a:r>
                        <a:rPr lang="en-US" sz="800" u="none" strike="noStrike">
                          <a:effectLst/>
                        </a:rPr>
                        <a:t>PC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北京与燕郊各部门之间能够正常互通，说明两地 </a:t>
                      </a:r>
                      <a:r>
                        <a:rPr lang="en-US" altLang="zh-CN" sz="800" u="none" strike="noStrike">
                          <a:effectLst/>
                        </a:rPr>
                        <a:t>OSPF </a:t>
                      </a:r>
                      <a:r>
                        <a:rPr lang="zh-CN" altLang="en-US" sz="800" u="none" strike="noStrike">
                          <a:effectLst/>
                        </a:rPr>
                        <a:t>路由配置生效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√</a:t>
                      </a:r>
                      <a:endParaRPr lang="zh-CN" altLang="en-US" sz="8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1526498610"/>
                  </a:ext>
                </a:extLst>
              </a:tr>
              <a:tr h="7127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T12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服务器访问测试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从北京和燕郊各部门 </a:t>
                      </a:r>
                      <a:r>
                        <a:rPr lang="en-US" sz="800" u="none" strike="noStrike">
                          <a:effectLst/>
                        </a:rPr>
                        <a:t>PC ping File-Server：192.168.190.10，ping Mail-Server：192.168.190.20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北京和燕郊终端均能够访问燕郊服务器区，文件服务器和邮件服务器地址可达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√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3642434341"/>
                  </a:ext>
                </a:extLst>
              </a:tr>
              <a:tr h="712723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T13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无线终端接入测试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将北京无线终端连接 </a:t>
                      </a:r>
                      <a:r>
                        <a:rPr lang="en-US" altLang="zh-CN" sz="800" u="none" strike="noStrike">
                          <a:effectLst/>
                        </a:rPr>
                        <a:t>BJ-WIFI</a:t>
                      </a:r>
                      <a:r>
                        <a:rPr lang="zh-CN" altLang="en-US" sz="800" u="none" strike="noStrike">
                          <a:effectLst/>
                        </a:rPr>
                        <a:t>，将燕郊无线终端连接 </a:t>
                      </a:r>
                      <a:r>
                        <a:rPr lang="en-US" altLang="zh-CN" sz="800" u="none" strike="noStrike">
                          <a:effectLst/>
                        </a:rPr>
                        <a:t>YJ-WIFI</a:t>
                      </a:r>
                      <a:r>
                        <a:rPr lang="zh-CN" altLang="en-US" sz="800" u="none" strike="noStrike">
                          <a:effectLst/>
                        </a:rPr>
                        <a:t>，并测试其到网关和服务器的连通性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北京无线终端可接入 </a:t>
                      </a:r>
                      <a:r>
                        <a:rPr lang="en-US" altLang="zh-CN" sz="800" u="none" strike="noStrike">
                          <a:effectLst/>
                        </a:rPr>
                        <a:t>VLAN60</a:t>
                      </a:r>
                      <a:r>
                        <a:rPr lang="zh-CN" altLang="en-US" sz="800" u="none" strike="noStrike">
                          <a:effectLst/>
                        </a:rPr>
                        <a:t>，燕郊无线终端可接入 </a:t>
                      </a:r>
                      <a:r>
                        <a:rPr lang="en-US" altLang="zh-CN" sz="800" u="none" strike="noStrike">
                          <a:effectLst/>
                        </a:rPr>
                        <a:t>VLAN180</a:t>
                      </a:r>
                      <a:r>
                        <a:rPr lang="zh-CN" altLang="en-US" sz="800" u="none" strike="noStrike">
                          <a:effectLst/>
                        </a:rPr>
                        <a:t>，并能访问企业网和服务器区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>
                          <a:effectLst/>
                        </a:rPr>
                        <a:t>√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504460306"/>
                  </a:ext>
                </a:extLst>
              </a:tr>
              <a:tr h="57017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u="none" strike="noStrike">
                          <a:effectLst/>
                        </a:rPr>
                        <a:t>T14</a:t>
                      </a:r>
                      <a:endParaRPr 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主链路优先路径验证</a:t>
                      </a:r>
                      <a:endParaRPr lang="zh-CN" altLang="en-US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 dirty="0">
                          <a:effectLst/>
                        </a:rPr>
                        <a:t>在主备链路均正常时，从北京 </a:t>
                      </a:r>
                      <a:r>
                        <a:rPr lang="en-US" altLang="zh-CN" sz="800" u="none" strike="noStrike" dirty="0">
                          <a:effectLst/>
                        </a:rPr>
                        <a:t>PC </a:t>
                      </a:r>
                      <a:r>
                        <a:rPr lang="zh-CN" altLang="en-US" sz="800" u="none" strike="noStrike" dirty="0">
                          <a:effectLst/>
                        </a:rPr>
                        <a:t>使用 </a:t>
                      </a:r>
                      <a:r>
                        <a:rPr lang="en-US" altLang="zh-CN" sz="800" u="none" strike="noStrike" dirty="0" err="1">
                          <a:effectLst/>
                        </a:rPr>
                        <a:t>tracert</a:t>
                      </a:r>
                      <a:r>
                        <a:rPr lang="en-US" altLang="zh-CN" sz="800" u="none" strike="noStrike" dirty="0">
                          <a:effectLst/>
                        </a:rPr>
                        <a:t> 192.168.190.10 </a:t>
                      </a:r>
                      <a:r>
                        <a:rPr lang="zh-CN" altLang="en-US" sz="800" u="none" strike="noStrike" dirty="0">
                          <a:effectLst/>
                        </a:rPr>
                        <a:t>查看访问燕郊服务器路径</a:t>
                      </a:r>
                      <a:endParaRPr lang="zh-CN" altLang="en-US" sz="8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800" u="none" strike="noStrike">
                          <a:effectLst/>
                        </a:rPr>
                        <a:t>正常情况下流量优先经过 </a:t>
                      </a:r>
                      <a:r>
                        <a:rPr lang="en-US" sz="800" u="none" strike="noStrike">
                          <a:effectLst/>
                        </a:rPr>
                        <a:t>R-BJ G0/0 → R-YJ G0/0 </a:t>
                      </a:r>
                      <a:r>
                        <a:rPr lang="zh-CN" altLang="en-US" sz="800" u="none" strike="noStrike">
                          <a:effectLst/>
                        </a:rPr>
                        <a:t>主用链路，下一跳为 </a:t>
                      </a:r>
                      <a:r>
                        <a:rPr lang="en-US" altLang="zh-CN" sz="800" u="none" strike="noStrike">
                          <a:effectLst/>
                        </a:rPr>
                        <a:t>10.0.0.2</a:t>
                      </a:r>
                      <a:endParaRPr lang="en-US" altLang="zh-CN" sz="8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u="none" strike="noStrike" dirty="0">
                          <a:effectLst/>
                        </a:rPr>
                        <a:t>√</a:t>
                      </a:r>
                      <a:endParaRPr lang="zh-CN" altLang="en-US" sz="8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433" marR="5433" marT="5433" marB="0" anchor="ctr"/>
                </a:tc>
                <a:extLst>
                  <a:ext uri="{0D108BD9-81ED-4DB2-BD59-A6C34878D82A}">
                    <a16:rowId xmlns:a16="http://schemas.microsoft.com/office/drawing/2014/main" val="4132645248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97FAC5FD-A0C1-79B7-7A3A-2DA6494245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329797"/>
              </p:ext>
            </p:extLst>
          </p:nvPr>
        </p:nvGraphicFramePr>
        <p:xfrm>
          <a:off x="7696201" y="1295399"/>
          <a:ext cx="4267199" cy="4771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8091">
                  <a:extLst>
                    <a:ext uri="{9D8B030D-6E8A-4147-A177-3AD203B41FA5}">
                      <a16:colId xmlns:a16="http://schemas.microsoft.com/office/drawing/2014/main" val="1729168264"/>
                    </a:ext>
                  </a:extLst>
                </a:gridCol>
                <a:gridCol w="894887">
                  <a:extLst>
                    <a:ext uri="{9D8B030D-6E8A-4147-A177-3AD203B41FA5}">
                      <a16:colId xmlns:a16="http://schemas.microsoft.com/office/drawing/2014/main" val="2805625420"/>
                    </a:ext>
                  </a:extLst>
                </a:gridCol>
                <a:gridCol w="1243423">
                  <a:extLst>
                    <a:ext uri="{9D8B030D-6E8A-4147-A177-3AD203B41FA5}">
                      <a16:colId xmlns:a16="http://schemas.microsoft.com/office/drawing/2014/main" val="3228046613"/>
                    </a:ext>
                  </a:extLst>
                </a:gridCol>
                <a:gridCol w="1083285">
                  <a:extLst>
                    <a:ext uri="{9D8B030D-6E8A-4147-A177-3AD203B41FA5}">
                      <a16:colId xmlns:a16="http://schemas.microsoft.com/office/drawing/2014/main" val="4173731736"/>
                    </a:ext>
                  </a:extLst>
                </a:gridCol>
                <a:gridCol w="527513">
                  <a:extLst>
                    <a:ext uri="{9D8B030D-6E8A-4147-A177-3AD203B41FA5}">
                      <a16:colId xmlns:a16="http://schemas.microsoft.com/office/drawing/2014/main" val="2069053722"/>
                    </a:ext>
                  </a:extLst>
                </a:gridCol>
              </a:tblGrid>
              <a:tr h="268963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测试编号</a:t>
                      </a:r>
                      <a:endParaRPr lang="zh-CN" altLang="en-US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测试项目</a:t>
                      </a:r>
                      <a:endParaRPr lang="zh-CN" altLang="en-US" sz="10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操作说明</a:t>
                      </a:r>
                      <a:endParaRPr lang="zh-CN" altLang="en-US" sz="10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预期结果</a:t>
                      </a:r>
                      <a:endParaRPr lang="zh-CN" altLang="en-US" sz="1000" b="1" i="0" u="none" strike="noStrike" dirty="0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验收情况</a:t>
                      </a:r>
                      <a:endParaRPr lang="zh-CN" altLang="en-US" sz="1000" b="1" i="0" u="none" strike="noStrike">
                        <a:solidFill>
                          <a:srgbClr val="4472C4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3148870123"/>
                  </a:ext>
                </a:extLst>
              </a:tr>
              <a:tr h="79534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T15</a:t>
                      </a:r>
                      <a:endParaRPr lang="en-US" sz="10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主用链路故障切换测试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在 </a:t>
                      </a:r>
                      <a:r>
                        <a:rPr lang="en-US" sz="1000" u="none" strike="noStrike">
                          <a:effectLst/>
                        </a:rPr>
                        <a:t>R-BJ </a:t>
                      </a:r>
                      <a:r>
                        <a:rPr lang="zh-CN" altLang="en-US" sz="1000" u="none" strike="noStrike">
                          <a:effectLst/>
                        </a:rPr>
                        <a:t>上关闭 </a:t>
                      </a:r>
                      <a:r>
                        <a:rPr lang="en-US" sz="1000" u="none" strike="noStrike">
                          <a:effectLst/>
                        </a:rPr>
                        <a:t>G0/0 </a:t>
                      </a:r>
                      <a:r>
                        <a:rPr lang="zh-CN" altLang="en-US" sz="1000" u="none" strike="noStrike">
                          <a:effectLst/>
                        </a:rPr>
                        <a:t>主用链路：</a:t>
                      </a:r>
                      <a:r>
                        <a:rPr lang="en-US" sz="1000" u="none" strike="noStrike">
                          <a:effectLst/>
                        </a:rPr>
                        <a:t>shutdown，</a:t>
                      </a:r>
                      <a:r>
                        <a:rPr lang="zh-CN" altLang="en-US" sz="1000" u="none" strike="noStrike">
                          <a:effectLst/>
                        </a:rPr>
                        <a:t>然后从北京 </a:t>
                      </a:r>
                      <a:r>
                        <a:rPr lang="en-US" sz="1000" u="none" strike="noStrike">
                          <a:effectLst/>
                        </a:rPr>
                        <a:t>PC ping 192.168.190.10 </a:t>
                      </a:r>
                      <a:r>
                        <a:rPr lang="zh-CN" altLang="en-US" sz="1000" u="none" strike="noStrike">
                          <a:effectLst/>
                        </a:rPr>
                        <a:t>并查看路由表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主用链路断开后，业务流量自动切换至 </a:t>
                      </a:r>
                      <a:r>
                        <a:rPr lang="en-US" altLang="zh-CN" sz="1000" u="none" strike="noStrike">
                          <a:effectLst/>
                        </a:rPr>
                        <a:t>R-BJ G0/1 → R-YJ G0/1 </a:t>
                      </a:r>
                      <a:r>
                        <a:rPr lang="zh-CN" altLang="en-US" sz="1000" u="none" strike="noStrike">
                          <a:effectLst/>
                        </a:rPr>
                        <a:t>备用链路，服务器访问不中断或短暂中断后恢复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√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1637228677"/>
                  </a:ext>
                </a:extLst>
              </a:tr>
              <a:tr h="6058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T16</a:t>
                      </a:r>
                      <a:endParaRPr 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备用链路路由验证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主用链路关闭后，在 </a:t>
                      </a:r>
                      <a:r>
                        <a:rPr lang="en-US" sz="1000" u="none" strike="noStrike">
                          <a:effectLst/>
                        </a:rPr>
                        <a:t>R-BJ </a:t>
                      </a:r>
                      <a:r>
                        <a:rPr lang="zh-CN" altLang="en-US" sz="1000" u="none" strike="noStrike">
                          <a:effectLst/>
                        </a:rPr>
                        <a:t>上执行 </a:t>
                      </a:r>
                      <a:r>
                        <a:rPr lang="en-US" sz="1000" u="none" strike="noStrike">
                          <a:effectLst/>
                        </a:rPr>
                        <a:t>show ip route ospf，</a:t>
                      </a:r>
                      <a:r>
                        <a:rPr lang="zh-CN" altLang="en-US" sz="1000" u="none" strike="noStrike">
                          <a:effectLst/>
                        </a:rPr>
                        <a:t>检查到燕郊网段的下一跳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到燕郊业务网段和服务器区网段的路由切换到备用链路下一跳 </a:t>
                      </a:r>
                      <a:r>
                        <a:rPr lang="en-US" altLang="zh-CN" sz="1000" u="none" strike="noStrike">
                          <a:effectLst/>
                        </a:rPr>
                        <a:t>10.0.0.6</a:t>
                      </a:r>
                      <a:endParaRPr lang="en-US" altLang="zh-CN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√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1402497182"/>
                  </a:ext>
                </a:extLst>
              </a:tr>
              <a:tr h="6637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T17</a:t>
                      </a:r>
                      <a:endParaRPr 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主链路恢复回切测试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</a:rPr>
                        <a:t>在 </a:t>
                      </a:r>
                      <a:r>
                        <a:rPr lang="en-US" sz="1000" u="none" strike="noStrike" dirty="0">
                          <a:effectLst/>
                        </a:rPr>
                        <a:t>R-BJ </a:t>
                      </a:r>
                      <a:r>
                        <a:rPr lang="zh-CN" altLang="en-US" sz="1000" u="none" strike="noStrike" dirty="0">
                          <a:effectLst/>
                        </a:rPr>
                        <a:t>上恢复 </a:t>
                      </a:r>
                      <a:r>
                        <a:rPr lang="en-US" sz="1000" u="none" strike="noStrike" dirty="0">
                          <a:effectLst/>
                        </a:rPr>
                        <a:t>G0/0：no shutdown，</a:t>
                      </a:r>
                      <a:r>
                        <a:rPr lang="zh-CN" altLang="en-US" sz="1000" u="none" strike="noStrike" dirty="0">
                          <a:effectLst/>
                        </a:rPr>
                        <a:t>等待 </a:t>
                      </a:r>
                      <a:r>
                        <a:rPr lang="en-US" sz="1000" u="none" strike="noStrike" dirty="0">
                          <a:effectLst/>
                        </a:rPr>
                        <a:t>OSPF </a:t>
                      </a:r>
                      <a:r>
                        <a:rPr lang="zh-CN" altLang="en-US" sz="1000" u="none" strike="noStrike" dirty="0">
                          <a:effectLst/>
                        </a:rPr>
                        <a:t>收敛后再次查看路由表和 </a:t>
                      </a:r>
                      <a:r>
                        <a:rPr lang="en-US" sz="1000" u="none" strike="noStrike" dirty="0" err="1">
                          <a:effectLst/>
                        </a:rPr>
                        <a:t>tracert</a:t>
                      </a:r>
                      <a:r>
                        <a:rPr lang="en-US" sz="1000" u="none" strike="noStrike" dirty="0">
                          <a:effectLst/>
                        </a:rPr>
                        <a:t> </a:t>
                      </a:r>
                      <a:r>
                        <a:rPr lang="zh-CN" altLang="en-US" sz="1000" u="none" strike="noStrike" dirty="0">
                          <a:effectLst/>
                        </a:rPr>
                        <a:t>路径</a:t>
                      </a:r>
                      <a:endParaRPr lang="zh-CN" altLang="en-US" sz="10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主链路恢复后，由于 </a:t>
                      </a:r>
                      <a:r>
                        <a:rPr lang="en-US" altLang="zh-CN" sz="1000" u="none" strike="noStrike">
                          <a:effectLst/>
                        </a:rPr>
                        <a:t>Cost </a:t>
                      </a:r>
                      <a:r>
                        <a:rPr lang="zh-CN" altLang="en-US" sz="1000" u="none" strike="noStrike">
                          <a:effectLst/>
                        </a:rPr>
                        <a:t>更低，流量自动回切至主用链路，路径重新经过 </a:t>
                      </a:r>
                      <a:r>
                        <a:rPr lang="en-US" altLang="zh-CN" sz="1000" u="none" strike="noStrike">
                          <a:effectLst/>
                        </a:rPr>
                        <a:t>10.0.0.2</a:t>
                      </a:r>
                      <a:endParaRPr lang="en-US" altLang="zh-CN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√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305061990"/>
                  </a:ext>
                </a:extLst>
              </a:tr>
              <a:tr h="6637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T18</a:t>
                      </a:r>
                      <a:endParaRPr 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OSPF Cost </a:t>
                      </a:r>
                      <a:r>
                        <a:rPr lang="zh-CN" altLang="en-US" sz="1000" u="none" strike="noStrike">
                          <a:effectLst/>
                        </a:rPr>
                        <a:t>配置验证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在 </a:t>
                      </a:r>
                      <a:r>
                        <a:rPr lang="en-US" sz="1000" u="none" strike="noStrike">
                          <a:effectLst/>
                        </a:rPr>
                        <a:t>R-BJ、R-YJ </a:t>
                      </a:r>
                      <a:r>
                        <a:rPr lang="zh-CN" altLang="en-US" sz="1000" u="none" strike="noStrike">
                          <a:effectLst/>
                        </a:rPr>
                        <a:t>上执行 </a:t>
                      </a:r>
                      <a:r>
                        <a:rPr lang="en-US" sz="1000" u="none" strike="noStrike">
                          <a:effectLst/>
                        </a:rPr>
                        <a:t>show ip ospf interface brief，</a:t>
                      </a:r>
                      <a:r>
                        <a:rPr lang="zh-CN" altLang="en-US" sz="1000" u="none" strike="noStrike">
                          <a:effectLst/>
                        </a:rPr>
                        <a:t>检查 </a:t>
                      </a:r>
                      <a:r>
                        <a:rPr lang="en-US" sz="1000" u="none" strike="noStrike">
                          <a:effectLst/>
                        </a:rPr>
                        <a:t>G0/0、G0/1 </a:t>
                      </a:r>
                      <a:r>
                        <a:rPr lang="zh-CN" altLang="en-US" sz="1000" u="none" strike="noStrike">
                          <a:effectLst/>
                        </a:rPr>
                        <a:t>的 </a:t>
                      </a:r>
                      <a:r>
                        <a:rPr lang="en-US" sz="1000" u="none" strike="noStrike">
                          <a:effectLst/>
                        </a:rPr>
                        <a:t>Cost</a:t>
                      </a:r>
                      <a:endParaRPr 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主用链路 </a:t>
                      </a:r>
                      <a:r>
                        <a:rPr lang="en-US" sz="1000" u="none" strike="noStrike">
                          <a:effectLst/>
                        </a:rPr>
                        <a:t>G0/0 Cost </a:t>
                      </a:r>
                      <a:r>
                        <a:rPr lang="zh-CN" altLang="en-US" sz="1000" u="none" strike="noStrike">
                          <a:effectLst/>
                        </a:rPr>
                        <a:t>为 </a:t>
                      </a:r>
                      <a:r>
                        <a:rPr lang="en-US" altLang="zh-CN" sz="1000" u="none" strike="noStrike">
                          <a:effectLst/>
                        </a:rPr>
                        <a:t>10</a:t>
                      </a:r>
                      <a:r>
                        <a:rPr lang="zh-CN" altLang="en-US" sz="1000" u="none" strike="noStrike">
                          <a:effectLst/>
                        </a:rPr>
                        <a:t>，备用链路 </a:t>
                      </a:r>
                      <a:r>
                        <a:rPr lang="en-US" sz="1000" u="none" strike="noStrike">
                          <a:effectLst/>
                        </a:rPr>
                        <a:t>G0/1 Cost </a:t>
                      </a:r>
                      <a:r>
                        <a:rPr lang="zh-CN" altLang="en-US" sz="1000" u="none" strike="noStrike">
                          <a:effectLst/>
                        </a:rPr>
                        <a:t>为 </a:t>
                      </a:r>
                      <a:r>
                        <a:rPr lang="en-US" altLang="zh-CN" sz="1000" u="none" strike="noStrike">
                          <a:effectLst/>
                        </a:rPr>
                        <a:t>100</a:t>
                      </a:r>
                      <a:r>
                        <a:rPr lang="zh-CN" altLang="en-US" sz="1000" u="none" strike="noStrike">
                          <a:effectLst/>
                        </a:rPr>
                        <a:t>，符合链路优先级规划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√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3088259036"/>
                  </a:ext>
                </a:extLst>
              </a:tr>
              <a:tr h="66374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T19</a:t>
                      </a:r>
                      <a:endParaRPr 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</a:rPr>
                        <a:t>地址规划一致性校验</a:t>
                      </a:r>
                      <a:endParaRPr lang="zh-CN" altLang="en-US" sz="10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对照地址规划表检查各 </a:t>
                      </a:r>
                      <a:r>
                        <a:rPr lang="en-US" altLang="zh-CN" sz="1000" u="none" strike="noStrike">
                          <a:effectLst/>
                        </a:rPr>
                        <a:t>VLAN </a:t>
                      </a:r>
                      <a:r>
                        <a:rPr lang="zh-CN" altLang="en-US" sz="1000" u="none" strike="noStrike">
                          <a:effectLst/>
                        </a:rPr>
                        <a:t>网关、服务器地址、三层互联链路地址和终端地址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</a:rPr>
                        <a:t>所有接口地址、</a:t>
                      </a:r>
                      <a:r>
                        <a:rPr lang="en-US" altLang="zh-CN" sz="1000" u="none" strike="noStrike" dirty="0">
                          <a:effectLst/>
                        </a:rPr>
                        <a:t>VLAN </a:t>
                      </a:r>
                      <a:r>
                        <a:rPr lang="zh-CN" altLang="en-US" sz="1000" u="none" strike="noStrike" dirty="0">
                          <a:effectLst/>
                        </a:rPr>
                        <a:t>网关、服务器地址与地址规划表一致，无地址冲突</a:t>
                      </a:r>
                      <a:endParaRPr lang="zh-CN" altLang="en-US" sz="10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√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105127172"/>
                  </a:ext>
                </a:extLst>
              </a:tr>
              <a:tr h="60582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T20</a:t>
                      </a:r>
                      <a:endParaRPr 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配置保存与文档一致性检查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</a:rPr>
                        <a:t>检查设备配置是否保存，并核对配置文件、地址规划表、</a:t>
                      </a:r>
                      <a:r>
                        <a:rPr lang="en-US" altLang="zh-CN" sz="1000" u="none" strike="noStrike" dirty="0">
                          <a:effectLst/>
                        </a:rPr>
                        <a:t>VLAN </a:t>
                      </a:r>
                      <a:r>
                        <a:rPr lang="zh-CN" altLang="en-US" sz="1000" u="none" strike="noStrike" dirty="0">
                          <a:effectLst/>
                        </a:rPr>
                        <a:t>表、测试截图和报告内容</a:t>
                      </a:r>
                      <a:endParaRPr lang="zh-CN" altLang="en-US" sz="10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配置与文档一致，项目资料完整，可用于最终验收和汇报</a:t>
                      </a:r>
                      <a:endParaRPr lang="zh-CN" altLang="en-US" sz="1000" b="0" i="0" u="none" strike="noStrike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 dirty="0">
                          <a:effectLst/>
                        </a:rPr>
                        <a:t>√</a:t>
                      </a:r>
                      <a:endParaRPr lang="zh-CN" altLang="en-US" sz="1000" b="0" i="0" u="none" strike="noStrike" dirty="0">
                        <a:solidFill>
                          <a:srgbClr val="08090C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685" marR="6685" marT="6685" marB="0" anchor="ctr"/>
                </a:tc>
                <a:extLst>
                  <a:ext uri="{0D108BD9-81ED-4DB2-BD59-A6C34878D82A}">
                    <a16:rowId xmlns:a16="http://schemas.microsoft.com/office/drawing/2014/main" val="1559277395"/>
                  </a:ext>
                </a:extLst>
              </a:tr>
            </a:tbl>
          </a:graphicData>
        </a:graphic>
      </p:graphicFrame>
      <p:sp>
        <p:nvSpPr>
          <p:cNvPr id="11" name="TextBox 16">
            <a:extLst>
              <a:ext uri="{FF2B5EF4-FFF2-40B4-BE49-F238E27FC236}">
                <a16:creationId xmlns:a16="http://schemas.microsoft.com/office/drawing/2014/main" id="{CC864F2E-FA0A-D176-5A26-4327992B47AB}"/>
              </a:ext>
            </a:extLst>
          </p:cNvPr>
          <p:cNvSpPr txBox="1"/>
          <p:nvPr/>
        </p:nvSpPr>
        <p:spPr>
          <a:xfrm>
            <a:off x="660400" y="505479"/>
            <a:ext cx="10858500" cy="5232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测试验收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153353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0400" y="1591524"/>
            <a:ext cx="6299200" cy="23939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>
                <a:ln/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VALUE" val="1600*2712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40479651_1*d*1"/>
  <p:tag name="KSO_WM_TEMPLATE_CATEGORY" val="custom"/>
  <p:tag name="KSO_WM_TEMPLATE_INDEX" val="40479651"/>
  <p:tag name="KSO_WM_UNIT_LAYERLEVEL" val="1"/>
  <p:tag name="KSO_WM_TAG_VERSION" val="3.0"/>
  <p:tag name="KSO_WM_UNIT_PIC_EFFECT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3.9,&quot;left&quot;:61.196812499999986,&quot;top&quot;:141,&quot;width&quot;:240.4490125000000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93.6,&quot;left&quot;:54,&quot;top&quot;:306,&quot;width&quot;:759.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4.04999999999995,&quot;left&quot;:61.2,&quot;top&quot;:123.84,&quot;width&quot;:814.2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4,&quot;left&quot;:61.2,&quot;top&quot;:115.2,&quot;width&quot;:820.8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6.0292913385827,&quot;left&quot;:47.29732283464567,&quot;top&quot;:124.91015748031495,&quot;width&quot;:854.955511811023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96.64,&quot;left&quot;:68.4,&quot;top&quot;:118.8,&quot;width&quot;:738}"/>
</p:tagLst>
</file>

<file path=ppt/theme/theme1.xml><?xml version="1.0" encoding="utf-8"?>
<a:theme xmlns:a="http://schemas.openxmlformats.org/drawingml/2006/main" name="cb569385-4c9f-4b72-97a0-b826747131b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4917</Words>
  <Application>Microsoft Office PowerPoint</Application>
  <PresentationFormat>宽屏</PresentationFormat>
  <Paragraphs>807</Paragraphs>
  <Slides>55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5" baseType="lpstr">
      <vt:lpstr>Noto Sans SC</vt:lpstr>
      <vt:lpstr>DengXian</vt:lpstr>
      <vt:lpstr>DengXian</vt:lpstr>
      <vt:lpstr>宋体</vt:lpstr>
      <vt:lpstr>微软雅黑</vt:lpstr>
      <vt:lpstr>Arial</vt:lpstr>
      <vt:lpstr>Calibri</vt:lpstr>
      <vt:lpstr>Roboto Mono</vt:lpstr>
      <vt:lpstr>Wingdings</vt:lpstr>
      <vt:lpstr>cb569385-4c9f-4b72-97a0-b826747131b2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源旭 郭</cp:lastModifiedBy>
  <cp:revision>8</cp:revision>
  <dcterms:created xsi:type="dcterms:W3CDTF">2006-08-16T00:00:00Z</dcterms:created>
  <dcterms:modified xsi:type="dcterms:W3CDTF">2026-05-17T05:27:24Z</dcterms:modified>
</cp:coreProperties>
</file>