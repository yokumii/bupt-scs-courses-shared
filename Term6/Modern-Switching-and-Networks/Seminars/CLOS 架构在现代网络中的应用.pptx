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4"/>
  </p:notesMasterIdLst>
  <p:sldIdLst>
    <p:sldId id="256" r:id="rId3"/>
    <p:sldId id="257" r:id="rId4"/>
    <p:sldId id="258" r:id="rId5"/>
    <p:sldId id="259" r:id="rId6"/>
    <p:sldId id="277" r:id="rId7"/>
    <p:sldId id="260" r:id="rId8"/>
    <p:sldId id="261" r:id="rId9"/>
    <p:sldId id="262" r:id="rId10"/>
    <p:sldId id="278" r:id="rId11"/>
    <p:sldId id="264" r:id="rId12"/>
    <p:sldId id="265" r:id="rId13"/>
    <p:sldId id="266" r:id="rId14"/>
    <p:sldId id="267" r:id="rId15"/>
    <p:sldId id="268" r:id="rId16"/>
    <p:sldId id="270" r:id="rId17"/>
    <p:sldId id="271" r:id="rId18"/>
    <p:sldId id="272" r:id="rId19"/>
    <p:sldId id="273" r:id="rId20"/>
    <p:sldId id="274" r:id="rId21"/>
    <p:sldId id="275"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9"/>
    <p:restoredTop sz="89640"/>
  </p:normalViewPr>
  <p:slideViewPr>
    <p:cSldViewPr snapToGrid="0">
      <p:cViewPr varScale="1">
        <p:scale>
          <a:sx n="94" d="100"/>
          <a:sy n="94" d="100"/>
        </p:scale>
        <p:origin x="216" y="3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01.07.2026</a:t>
            </a:fld>
            <a:endParaRPr lang="cs-CZ" dirty="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dirty="0"/>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extLst>
      <p:ext uri="{BB962C8B-B14F-4D97-AF65-F5344CB8AC3E}">
        <p14:creationId xmlns:p14="http://schemas.microsoft.com/office/powerpoint/2010/main" val="644148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extLst>
      <p:ext uri="{BB962C8B-B14F-4D97-AF65-F5344CB8AC3E}">
        <p14:creationId xmlns:p14="http://schemas.microsoft.com/office/powerpoint/2010/main" val="2265068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Google Sans Tex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Google Sans Text"/>
            </a:endParaRPr>
          </a:p>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dirty="0"/>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dirty="0"/>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jpe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jpeg"/><Relationship Id="rId7" Type="http://schemas.openxmlformats.org/officeDocument/2006/relationships/image" Target="../media/image20.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jpeg"/><Relationship Id="rId7" Type="http://schemas.openxmlformats.org/officeDocument/2006/relationships/image" Target="../media/image25.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jpe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jpe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31.svg"/><Relationship Id="rId10" Type="http://schemas.openxmlformats.org/officeDocument/2006/relationships/image" Target="../media/image32.png"/><Relationship Id="rId4" Type="http://schemas.openxmlformats.org/officeDocument/2006/relationships/image" Target="../media/image30.png"/><Relationship Id="rId9" Type="http://schemas.openxmlformats.org/officeDocument/2006/relationships/image" Target="../media/image20.sv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jpeg"/><Relationship Id="rId7"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34.sv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4.jpe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18.sv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4.jpeg"/><Relationship Id="rId7"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jpeg"/><Relationship Id="rId7" Type="http://schemas.openxmlformats.org/officeDocument/2006/relationships/image" Target="../media/image42.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9" Type="http://schemas.openxmlformats.org/officeDocument/2006/relationships/image" Target="../media/image44.sv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3" Type="http://schemas.openxmlformats.org/officeDocument/2006/relationships/image" Target="../media/image4.jpe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6.svg"/><Relationship Id="rId2" Type="http://schemas.openxmlformats.org/officeDocument/2006/relationships/notesSlide" Target="../notesSlides/notesSlide14.xml"/><Relationship Id="rId16"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49.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52.svg"/><Relationship Id="rId1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jpeg"/><Relationship Id="rId7" Type="http://schemas.openxmlformats.org/officeDocument/2006/relationships/image" Target="../media/image12.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25.svg"/><Relationship Id="rId5" Type="http://schemas.openxmlformats.org/officeDocument/2006/relationships/image" Target="../media/image58.svg"/><Relationship Id="rId10" Type="http://schemas.openxmlformats.org/officeDocument/2006/relationships/image" Target="../media/image24.png"/><Relationship Id="rId4" Type="http://schemas.openxmlformats.org/officeDocument/2006/relationships/image" Target="../media/image57.png"/><Relationship Id="rId9" Type="http://schemas.openxmlformats.org/officeDocument/2006/relationships/image" Target="../media/image50.svg"/></Relationships>
</file>

<file path=ppt/slides/_rels/slide1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jpeg"/><Relationship Id="rId7" Type="http://schemas.openxmlformats.org/officeDocument/2006/relationships/image" Target="../media/image50.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60.svg"/><Relationship Id="rId10" Type="http://schemas.openxmlformats.org/officeDocument/2006/relationships/image" Target="../media/image63.png"/><Relationship Id="rId4" Type="http://schemas.openxmlformats.org/officeDocument/2006/relationships/image" Target="../media/image59.png"/><Relationship Id="rId9" Type="http://schemas.openxmlformats.org/officeDocument/2006/relationships/image" Target="../media/image62.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67.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6.jpeg"/><Relationship Id="rId5" Type="http://schemas.openxmlformats.org/officeDocument/2006/relationships/image" Target="../media/image65.svg"/><Relationship Id="rId4" Type="http://schemas.openxmlformats.org/officeDocument/2006/relationships/image" Target="../media/image64.png"/></Relationships>
</file>

<file path=ppt/slides/_rels/slide19.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1.png"/><Relationship Id="rId3" Type="http://schemas.openxmlformats.org/officeDocument/2006/relationships/image" Target="../media/image4.jpeg"/><Relationship Id="rId7" Type="http://schemas.openxmlformats.org/officeDocument/2006/relationships/image" Target="../media/image52.svg"/><Relationship Id="rId12"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51.png"/><Relationship Id="rId11" Type="http://schemas.openxmlformats.org/officeDocument/2006/relationships/image" Target="../media/image12.svg"/><Relationship Id="rId5" Type="http://schemas.openxmlformats.org/officeDocument/2006/relationships/image" Target="../media/image58.svg"/><Relationship Id="rId10" Type="http://schemas.openxmlformats.org/officeDocument/2006/relationships/image" Target="../media/image11.png"/><Relationship Id="rId4" Type="http://schemas.openxmlformats.org/officeDocument/2006/relationships/image" Target="../media/image57.png"/><Relationship Id="rId9" Type="http://schemas.openxmlformats.org/officeDocument/2006/relationships/image" Target="../media/image69.svg"/><Relationship Id="rId14" Type="http://schemas.openxmlformats.org/officeDocument/2006/relationships/image" Target="../media/image72.png"/></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jpeg"/><Relationship Id="rId7" Type="http://schemas.openxmlformats.org/officeDocument/2006/relationships/image" Target="../media/image76.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75.png"/><Relationship Id="rId5" Type="http://schemas.openxmlformats.org/officeDocument/2006/relationships/image" Target="../media/image74.svg"/><Relationship Id="rId4" Type="http://schemas.openxmlformats.org/officeDocument/2006/relationships/image" Target="../media/image73.png"/><Relationship Id="rId9" Type="http://schemas.openxmlformats.org/officeDocument/2006/relationships/image" Target="../media/image12.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72E">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5" name="AutoShape 5"/>
          <p:cNvSpPr/>
          <p:nvPr/>
        </p:nvSpPr>
        <p:spPr>
          <a:xfrm>
            <a:off x="508000" y="203200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3600" b="1" i="0" u="none" strike="noStrike" dirty="0">
                <a:solidFill>
                  <a:srgbClr val="FFFFFF"/>
                </a:solidFill>
                <a:latin typeface="Hei" pitchFamily="2" charset="-122"/>
                <a:ea typeface="Hei" pitchFamily="2" charset="-122"/>
                <a:cs typeface="Times New Roman" panose="02020603050405020304" pitchFamily="18" charset="0"/>
                <a:sym typeface="Noto Sans SC"/>
              </a:rPr>
              <a:t>现代网络中的 </a:t>
            </a:r>
            <a:r>
              <a:rPr lang="en-US" sz="3600" b="1" i="0" u="none" strike="noStrike" dirty="0">
                <a:solidFill>
                  <a:srgbClr val="FFFFFF"/>
                </a:solidFill>
                <a:latin typeface="Hei" pitchFamily="2" charset="-122"/>
                <a:ea typeface="Hei" pitchFamily="2" charset="-122"/>
                <a:cs typeface="Times New Roman" panose="02020603050405020304" pitchFamily="18" charset="0"/>
                <a:sym typeface="Noto Sans SC"/>
              </a:rPr>
              <a:t>CLOS </a:t>
            </a:r>
            <a:r>
              <a:rPr lang="zh-CN" altLang="en-US" sz="3600" b="1" i="0" u="none" strike="noStrike" dirty="0">
                <a:solidFill>
                  <a:srgbClr val="FFFFFF"/>
                </a:solidFill>
                <a:latin typeface="Hei" pitchFamily="2" charset="-122"/>
                <a:ea typeface="Hei" pitchFamily="2" charset="-122"/>
                <a:cs typeface="Times New Roman" panose="02020603050405020304" pitchFamily="18" charset="0"/>
                <a:sym typeface="Noto Sans SC"/>
              </a:rPr>
              <a:t>架构演进与应用</a:t>
            </a:r>
            <a:endParaRPr lang="en-US" sz="1100" dirty="0">
              <a:latin typeface="Hei" pitchFamily="2" charset="-122"/>
              <a:ea typeface="Hei" pitchFamily="2" charset="-122"/>
              <a:cs typeface="Times New Roman" panose="02020603050405020304" pitchFamily="18" charset="0"/>
            </a:endParaRPr>
          </a:p>
        </p:txBody>
      </p:sp>
      <p:sp>
        <p:nvSpPr>
          <p:cNvPr id="6" name="AutoShape 6"/>
          <p:cNvSpPr/>
          <p:nvPr/>
        </p:nvSpPr>
        <p:spPr>
          <a:xfrm>
            <a:off x="5334000" y="2921000"/>
            <a:ext cx="1524000" cy="508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8" name="AutoShape 8"/>
          <p:cNvSpPr/>
          <p:nvPr/>
        </p:nvSpPr>
        <p:spPr>
          <a:xfrm>
            <a:off x="4699000" y="4572000"/>
            <a:ext cx="2794000" cy="558800"/>
          </a:xfrm>
          <a:prstGeom prst="roundRect">
            <a:avLst>
              <a:gd name="adj" fmla="val 22727"/>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9710" y="4724400"/>
            <a:ext cx="254000" cy="254000"/>
          </a:xfrm>
          <a:prstGeom prst="rect">
            <a:avLst/>
          </a:prstGeom>
        </p:spPr>
      </p:pic>
      <p:sp>
        <p:nvSpPr>
          <p:cNvPr id="10" name="AutoShape 10"/>
          <p:cNvSpPr/>
          <p:nvPr/>
        </p:nvSpPr>
        <p:spPr>
          <a:xfrm>
            <a:off x="5210710" y="4699000"/>
            <a:ext cx="2032000" cy="3048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600" b="0" i="0" u="none" strike="noStrike" dirty="0" err="1">
                <a:solidFill>
                  <a:srgbClr val="FFFFFF"/>
                </a:solidFill>
                <a:latin typeface="Hei" pitchFamily="2" charset="-122"/>
                <a:ea typeface="Hei" pitchFamily="2" charset="-122"/>
                <a:cs typeface="Noto Sans SC"/>
                <a:sym typeface="Noto Sans SC"/>
              </a:rPr>
              <a:t>汇报人：Yokumi</a:t>
            </a:r>
            <a:endParaRPr lang="en-US" sz="1100" dirty="0">
              <a:latin typeface="Hei" pitchFamily="2" charset="-122"/>
              <a:ea typeface="Hei"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33962"/>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508000"/>
            <a:ext cx="1016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目录</a:t>
            </a:r>
            <a:endParaRPr lang="en-US" sz="1100" dirty="0">
              <a:latin typeface="Hei" pitchFamily="2" charset="-122"/>
              <a:ea typeface="Hei" pitchFamily="2" charset="-122"/>
            </a:endParaRPr>
          </a:p>
        </p:txBody>
      </p:sp>
      <p:sp>
        <p:nvSpPr>
          <p:cNvPr id="5" name="AutoShape 5"/>
          <p:cNvSpPr/>
          <p:nvPr/>
        </p:nvSpPr>
        <p:spPr>
          <a:xfrm>
            <a:off x="762000" y="1143000"/>
            <a:ext cx="76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6" name="AutoShape 6"/>
          <p:cNvSpPr/>
          <p:nvPr/>
        </p:nvSpPr>
        <p:spPr>
          <a:xfrm>
            <a:off x="762000" y="1667981"/>
            <a:ext cx="5080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60081"/>
            <a:ext cx="304800" cy="304800"/>
          </a:xfrm>
          <a:prstGeom prst="rect">
            <a:avLst/>
          </a:prstGeom>
        </p:spPr>
      </p:pic>
      <p:sp>
        <p:nvSpPr>
          <p:cNvPr id="8" name="AutoShape 8"/>
          <p:cNvSpPr/>
          <p:nvPr/>
        </p:nvSpPr>
        <p:spPr>
          <a:xfrm>
            <a:off x="1524000" y="1794981"/>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引言</a:t>
            </a:r>
            <a:endParaRPr lang="en-US" sz="1100" dirty="0">
              <a:latin typeface="Hei" pitchFamily="2" charset="-122"/>
              <a:ea typeface="Hei" pitchFamily="2" charset="-122"/>
            </a:endParaRPr>
          </a:p>
        </p:txBody>
      </p:sp>
      <p:sp>
        <p:nvSpPr>
          <p:cNvPr id="9" name="AutoShape 9"/>
          <p:cNvSpPr/>
          <p:nvPr/>
        </p:nvSpPr>
        <p:spPr>
          <a:xfrm>
            <a:off x="1524000" y="2150581"/>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a:solidFill>
                  <a:srgbClr val="CCCCCC"/>
                </a:solidFill>
                <a:latin typeface="Hei" pitchFamily="2" charset="-122"/>
                <a:ea typeface="Hei" pitchFamily="2" charset="-122"/>
                <a:sym typeface="Noto Sans SC"/>
              </a:rPr>
              <a:t>现代数据中心网络挑战</a:t>
            </a:r>
          </a:p>
        </p:txBody>
      </p:sp>
      <p:sp>
        <p:nvSpPr>
          <p:cNvPr id="10" name="AutoShape 10"/>
          <p:cNvSpPr/>
          <p:nvPr/>
        </p:nvSpPr>
        <p:spPr>
          <a:xfrm>
            <a:off x="762000" y="2747481"/>
            <a:ext cx="5080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039581"/>
            <a:ext cx="304800" cy="304800"/>
          </a:xfrm>
          <a:prstGeom prst="rect">
            <a:avLst/>
          </a:prstGeom>
        </p:spPr>
      </p:pic>
      <p:sp>
        <p:nvSpPr>
          <p:cNvPr id="12" name="AutoShape 12"/>
          <p:cNvSpPr/>
          <p:nvPr/>
        </p:nvSpPr>
        <p:spPr>
          <a:xfrm>
            <a:off x="1524000" y="2874481"/>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CLOS架构基础理论</a:t>
            </a:r>
            <a:endParaRPr lang="en-US" sz="1100" dirty="0">
              <a:latin typeface="Hei" pitchFamily="2" charset="-122"/>
              <a:ea typeface="Hei" pitchFamily="2" charset="-122"/>
            </a:endParaRPr>
          </a:p>
        </p:txBody>
      </p:sp>
      <p:sp>
        <p:nvSpPr>
          <p:cNvPr id="13" name="AutoShape 13"/>
          <p:cNvSpPr/>
          <p:nvPr/>
        </p:nvSpPr>
        <p:spPr>
          <a:xfrm>
            <a:off x="1524000" y="3230081"/>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CCCCC"/>
                </a:solidFill>
                <a:latin typeface="Hei" pitchFamily="2" charset="-122"/>
                <a:ea typeface="Hei" pitchFamily="2" charset="-122"/>
                <a:cs typeface="Noto Sans SC"/>
                <a:sym typeface="Noto Sans SC"/>
              </a:rPr>
              <a:t>起源、核心概念与数学模型</a:t>
            </a:r>
            <a:endParaRPr lang="en-US" sz="1100" dirty="0">
              <a:latin typeface="Hei" pitchFamily="2" charset="-122"/>
              <a:ea typeface="Hei" pitchFamily="2" charset="-122"/>
            </a:endParaRPr>
          </a:p>
        </p:txBody>
      </p:sp>
      <p:sp>
        <p:nvSpPr>
          <p:cNvPr id="14" name="AutoShape 14"/>
          <p:cNvSpPr/>
          <p:nvPr/>
        </p:nvSpPr>
        <p:spPr>
          <a:xfrm>
            <a:off x="762000" y="3826981"/>
            <a:ext cx="5080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119081"/>
            <a:ext cx="304800" cy="304800"/>
          </a:xfrm>
          <a:prstGeom prst="rect">
            <a:avLst/>
          </a:prstGeom>
        </p:spPr>
      </p:pic>
      <p:sp>
        <p:nvSpPr>
          <p:cNvPr id="16" name="AutoShape 16"/>
          <p:cNvSpPr/>
          <p:nvPr/>
        </p:nvSpPr>
        <p:spPr>
          <a:xfrm>
            <a:off x="1524000" y="3953981"/>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叶脊架构详解</a:t>
            </a:r>
            <a:endParaRPr lang="en-US" sz="1100" dirty="0">
              <a:latin typeface="Hei" pitchFamily="2" charset="-122"/>
              <a:ea typeface="Hei" pitchFamily="2" charset="-122"/>
            </a:endParaRPr>
          </a:p>
        </p:txBody>
      </p:sp>
      <p:sp>
        <p:nvSpPr>
          <p:cNvPr id="17" name="AutoShape 17"/>
          <p:cNvSpPr/>
          <p:nvPr/>
        </p:nvSpPr>
        <p:spPr>
          <a:xfrm>
            <a:off x="1524000" y="4309581"/>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CCCCC"/>
                </a:solidFill>
                <a:latin typeface="Hei" pitchFamily="2" charset="-122"/>
                <a:ea typeface="Hei" pitchFamily="2" charset="-122"/>
                <a:cs typeface="Noto Sans SC"/>
                <a:sym typeface="Noto Sans SC"/>
              </a:rPr>
              <a:t>工程实现、核心特性与优势分析</a:t>
            </a:r>
            <a:endParaRPr lang="en-US" sz="1100" dirty="0">
              <a:latin typeface="Hei" pitchFamily="2" charset="-122"/>
              <a:ea typeface="Hei" pitchFamily="2" charset="-122"/>
            </a:endParaRPr>
          </a:p>
        </p:txBody>
      </p:sp>
      <p:sp>
        <p:nvSpPr>
          <p:cNvPr id="18" name="AutoShape 18"/>
          <p:cNvSpPr/>
          <p:nvPr/>
        </p:nvSpPr>
        <p:spPr>
          <a:xfrm>
            <a:off x="6350000" y="1667981"/>
            <a:ext cx="5080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0" name="AutoShape 20"/>
          <p:cNvSpPr/>
          <p:nvPr/>
        </p:nvSpPr>
        <p:spPr>
          <a:xfrm>
            <a:off x="7112000" y="1794981"/>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Google</a:t>
            </a:r>
            <a:r>
              <a:rPr lang="en-US" altLang="zh-CN" sz="1800" b="1" i="0" u="none" strike="noStrike" dirty="0">
                <a:solidFill>
                  <a:srgbClr val="FFFFFF"/>
                </a:solidFill>
                <a:latin typeface="Hei" pitchFamily="2" charset="-122"/>
                <a:ea typeface="Hei" pitchFamily="2" charset="-122"/>
                <a:cs typeface="Noto Sans SC"/>
                <a:sym typeface="Noto Sans SC"/>
              </a:rPr>
              <a:t>/AWS</a:t>
            </a:r>
            <a:r>
              <a:rPr lang="zh-CN" altLang="en-US" sz="1800" b="1" i="0" u="none" strike="noStrike" dirty="0">
                <a:solidFill>
                  <a:srgbClr val="FFFFFF"/>
                </a:solidFill>
                <a:latin typeface="Hei" pitchFamily="2" charset="-122"/>
                <a:ea typeface="Hei" pitchFamily="2" charset="-122"/>
                <a:cs typeface="Noto Sans SC"/>
                <a:sym typeface="Noto Sans SC"/>
              </a:rPr>
              <a:t> </a:t>
            </a:r>
            <a:r>
              <a:rPr lang="en-US" sz="1800" b="1" i="0" u="none" strike="noStrike" dirty="0">
                <a:solidFill>
                  <a:srgbClr val="FFFFFF"/>
                </a:solidFill>
                <a:latin typeface="Hei" pitchFamily="2" charset="-122"/>
                <a:ea typeface="Hei" pitchFamily="2" charset="-122"/>
                <a:cs typeface="Noto Sans SC"/>
                <a:sym typeface="Noto Sans SC"/>
              </a:rPr>
              <a:t>数据中心CLOS演进</a:t>
            </a:r>
            <a:endParaRPr lang="en-US" sz="1100" dirty="0">
              <a:latin typeface="Hei" pitchFamily="2" charset="-122"/>
              <a:ea typeface="Hei" pitchFamily="2" charset="-122"/>
            </a:endParaRPr>
          </a:p>
        </p:txBody>
      </p:sp>
      <p:sp>
        <p:nvSpPr>
          <p:cNvPr id="21" name="AutoShape 21"/>
          <p:cNvSpPr/>
          <p:nvPr/>
        </p:nvSpPr>
        <p:spPr>
          <a:xfrm>
            <a:off x="7112000" y="2150581"/>
            <a:ext cx="4064000" cy="254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400" b="0" i="0" u="none" strike="noStrike" dirty="0" err="1">
                <a:solidFill>
                  <a:srgbClr val="CCCCCC"/>
                </a:solidFill>
                <a:latin typeface="Hei" pitchFamily="2" charset="-122"/>
                <a:ea typeface="Hei" pitchFamily="2" charset="-122"/>
                <a:cs typeface="Noto Sans SC"/>
                <a:sym typeface="Noto Sans SC"/>
              </a:rPr>
              <a:t>Jupiter网络与技术创新</a:t>
            </a:r>
            <a:r>
              <a:rPr lang="zh-CN" altLang="en-US" sz="1400" b="0" i="0" u="none" strike="noStrike" dirty="0">
                <a:solidFill>
                  <a:srgbClr val="CCCCCC"/>
                </a:solidFill>
                <a:latin typeface="Hei" pitchFamily="2" charset="-122"/>
                <a:ea typeface="Hei" pitchFamily="2" charset="-122"/>
                <a:cs typeface="Noto Sans SC"/>
                <a:sym typeface="Noto Sans SC"/>
              </a:rPr>
              <a:t> </a:t>
            </a:r>
            <a:r>
              <a:rPr lang="en-US" altLang="zh-CN" sz="1400" b="0" i="0" u="none" strike="noStrike" dirty="0">
                <a:solidFill>
                  <a:srgbClr val="CCCCCC"/>
                </a:solidFill>
                <a:latin typeface="Hei" pitchFamily="2" charset="-122"/>
                <a:ea typeface="Hei" pitchFamily="2" charset="-122"/>
                <a:cs typeface="Noto Sans SC"/>
                <a:sym typeface="Noto Sans SC"/>
              </a:rPr>
              <a:t>/</a:t>
            </a:r>
            <a:r>
              <a:rPr lang="zh-CN" altLang="en-US" sz="1400" b="0" i="0" u="none" strike="noStrike" dirty="0">
                <a:solidFill>
                  <a:srgbClr val="CCCCCC"/>
                </a:solidFill>
                <a:latin typeface="Hei" pitchFamily="2" charset="-122"/>
                <a:ea typeface="Hei" pitchFamily="2" charset="-122"/>
                <a:cs typeface="Noto Sans SC"/>
                <a:sym typeface="Noto Sans SC"/>
              </a:rPr>
              <a:t> </a:t>
            </a:r>
            <a:r>
              <a:rPr lang="en-US" altLang="zh-CN" sz="1400" b="0" i="0" u="none" strike="noStrike" dirty="0">
                <a:solidFill>
                  <a:srgbClr val="CCCCCC"/>
                </a:solidFill>
                <a:latin typeface="Hei" pitchFamily="2" charset="-122"/>
                <a:ea typeface="Hei" pitchFamily="2" charset="-122"/>
                <a:cs typeface="Noto Sans SC"/>
                <a:sym typeface="Noto Sans SC"/>
              </a:rPr>
              <a:t>Nitro</a:t>
            </a:r>
            <a:r>
              <a:rPr lang="zh-CN" altLang="en-US" sz="1400" b="0" i="0" u="none" strike="noStrike" dirty="0">
                <a:solidFill>
                  <a:srgbClr val="CCCCCC"/>
                </a:solidFill>
                <a:latin typeface="Hei" pitchFamily="2" charset="-122"/>
                <a:ea typeface="Hei" pitchFamily="2" charset="-122"/>
                <a:cs typeface="Noto Sans SC"/>
                <a:sym typeface="Noto Sans SC"/>
              </a:rPr>
              <a:t>系统与</a:t>
            </a:r>
            <a:r>
              <a:rPr lang="en-US" altLang="zh-CN" sz="1400" b="0" i="0" u="none" strike="noStrike" dirty="0">
                <a:solidFill>
                  <a:srgbClr val="CCCCCC"/>
                </a:solidFill>
                <a:latin typeface="Hei" pitchFamily="2" charset="-122"/>
                <a:ea typeface="Hei" pitchFamily="2" charset="-122"/>
                <a:cs typeface="Noto Sans SC"/>
                <a:sym typeface="Noto Sans SC"/>
              </a:rPr>
              <a:t>SRD</a:t>
            </a:r>
            <a:r>
              <a:rPr lang="zh-CN" altLang="en-US" sz="1400" b="0" i="0" u="none" strike="noStrike" dirty="0">
                <a:solidFill>
                  <a:srgbClr val="CCCCCC"/>
                </a:solidFill>
                <a:latin typeface="Hei" pitchFamily="2" charset="-122"/>
                <a:ea typeface="Hei" pitchFamily="2" charset="-122"/>
                <a:cs typeface="Noto Sans SC"/>
                <a:sym typeface="Noto Sans SC"/>
              </a:rPr>
              <a:t>协议</a:t>
            </a:r>
          </a:p>
        </p:txBody>
      </p:sp>
      <p:sp>
        <p:nvSpPr>
          <p:cNvPr id="30" name="AutoShape 30"/>
          <p:cNvSpPr/>
          <p:nvPr/>
        </p:nvSpPr>
        <p:spPr>
          <a:xfrm>
            <a:off x="6350000" y="2747481"/>
            <a:ext cx="5080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31" name="Picture 3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3039581"/>
            <a:ext cx="304800" cy="304800"/>
          </a:xfrm>
          <a:prstGeom prst="rect">
            <a:avLst/>
          </a:prstGeom>
        </p:spPr>
      </p:pic>
      <p:sp>
        <p:nvSpPr>
          <p:cNvPr id="32" name="AutoShape 32"/>
          <p:cNvSpPr/>
          <p:nvPr/>
        </p:nvSpPr>
        <p:spPr>
          <a:xfrm>
            <a:off x="7112000" y="2874481"/>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技术挑战与前沿趋势</a:t>
            </a:r>
            <a:endParaRPr lang="en-US" sz="1100" dirty="0">
              <a:latin typeface="Hei" pitchFamily="2" charset="-122"/>
              <a:ea typeface="Hei" pitchFamily="2" charset="-122"/>
            </a:endParaRPr>
          </a:p>
        </p:txBody>
      </p:sp>
      <p:sp>
        <p:nvSpPr>
          <p:cNvPr id="33" name="AutoShape 33"/>
          <p:cNvSpPr/>
          <p:nvPr/>
        </p:nvSpPr>
        <p:spPr>
          <a:xfrm>
            <a:off x="7112000" y="3230081"/>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CCCCC"/>
                </a:solidFill>
                <a:latin typeface="Hei" pitchFamily="2" charset="-122"/>
                <a:ea typeface="Hei" pitchFamily="2" charset="-122"/>
                <a:cs typeface="Noto Sans SC"/>
                <a:sym typeface="Noto Sans SC"/>
              </a:rPr>
              <a:t>当前挑战与未来方向</a:t>
            </a:r>
            <a:endParaRPr lang="en-US" sz="1100" dirty="0">
              <a:latin typeface="Hei" pitchFamily="2" charset="-122"/>
              <a:ea typeface="Hei" pitchFamily="2" charset="-122"/>
            </a:endParaRPr>
          </a:p>
        </p:txBody>
      </p:sp>
      <p:sp>
        <p:nvSpPr>
          <p:cNvPr id="34" name="AutoShape 34"/>
          <p:cNvSpPr/>
          <p:nvPr/>
        </p:nvSpPr>
        <p:spPr>
          <a:xfrm>
            <a:off x="6350000" y="3826981"/>
            <a:ext cx="5080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35" name="Picture 3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4119081"/>
            <a:ext cx="304800" cy="304800"/>
          </a:xfrm>
          <a:prstGeom prst="rect">
            <a:avLst/>
          </a:prstGeom>
        </p:spPr>
      </p:pic>
      <p:sp>
        <p:nvSpPr>
          <p:cNvPr id="36" name="AutoShape 36"/>
          <p:cNvSpPr/>
          <p:nvPr/>
        </p:nvSpPr>
        <p:spPr>
          <a:xfrm>
            <a:off x="7112000" y="3953981"/>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总结</a:t>
            </a:r>
            <a:endParaRPr lang="en-US" sz="1100" dirty="0">
              <a:latin typeface="Hei" pitchFamily="2" charset="-122"/>
              <a:ea typeface="Hei" pitchFamily="2" charset="-122"/>
            </a:endParaRPr>
          </a:p>
        </p:txBody>
      </p:sp>
      <p:sp>
        <p:nvSpPr>
          <p:cNvPr id="37" name="AutoShape 37"/>
          <p:cNvSpPr/>
          <p:nvPr/>
        </p:nvSpPr>
        <p:spPr>
          <a:xfrm>
            <a:off x="7112000" y="4309581"/>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CCCCC"/>
                </a:solidFill>
                <a:latin typeface="Hei" pitchFamily="2" charset="-122"/>
                <a:ea typeface="Hei" pitchFamily="2" charset="-122"/>
                <a:cs typeface="Noto Sans SC"/>
                <a:sym typeface="Noto Sans SC"/>
              </a:rPr>
              <a:t>核心结论与未来展望</a:t>
            </a:r>
            <a:endParaRPr lang="en-US" sz="1100" dirty="0">
              <a:latin typeface="Hei" pitchFamily="2" charset="-122"/>
              <a:ea typeface="Hei" pitchFamily="2" charset="-122"/>
            </a:endParaRPr>
          </a:p>
        </p:txBody>
      </p:sp>
      <p:sp>
        <p:nvSpPr>
          <p:cNvPr id="38" name="AutoShape 38"/>
          <p:cNvSpPr/>
          <p:nvPr/>
        </p:nvSpPr>
        <p:spPr>
          <a:xfrm>
            <a:off x="0" y="6350000"/>
            <a:ext cx="12192000" cy="25400"/>
          </a:xfrm>
          <a:prstGeom prst="roundRect">
            <a:avLst>
              <a:gd name="adj" fmla="val 0"/>
            </a:avLst>
          </a:prstGeom>
          <a:solidFill>
            <a:srgbClr val="00BFFF">
              <a:alpha val="2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39" name="Picture 23">
            <a:extLst>
              <a:ext uri="{FF2B5EF4-FFF2-40B4-BE49-F238E27FC236}">
                <a16:creationId xmlns:a16="http://schemas.microsoft.com/office/drawing/2014/main" id="{6333AF8D-25B5-D946-A2CB-6049DD8FEC2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1960081"/>
            <a:ext cx="304800" cy="30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257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引言 –</a:t>
            </a:r>
            <a:r>
              <a:rPr lang="zh-CN" altLang="en-US" sz="3600" b="1" i="0" u="none" strike="noStrike" dirty="0">
                <a:solidFill>
                  <a:srgbClr val="00BFFF"/>
                </a:solidFill>
                <a:latin typeface="Hei" pitchFamily="2" charset="-122"/>
                <a:ea typeface="Hei" pitchFamily="2" charset="-122"/>
                <a:cs typeface="Noto Sans SC"/>
                <a:sym typeface="Noto Sans SC"/>
              </a:rPr>
              <a:t> 网络流量范式转变</a:t>
            </a:r>
            <a:endParaRPr lang="en-US" sz="1100" dirty="0">
              <a:latin typeface="Hei" pitchFamily="2" charset="-122"/>
              <a:ea typeface="Hei" pitchFamily="2" charset="-122"/>
            </a:endParaRPr>
          </a:p>
        </p:txBody>
      </p:sp>
      <p:sp>
        <p:nvSpPr>
          <p:cNvPr id="5" name="AutoShape 5"/>
          <p:cNvSpPr/>
          <p:nvPr/>
        </p:nvSpPr>
        <p:spPr>
          <a:xfrm>
            <a:off x="762000" y="1905000"/>
            <a:ext cx="5334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146300"/>
            <a:ext cx="406400" cy="406400"/>
          </a:xfrm>
          <a:prstGeom prst="rect">
            <a:avLst/>
          </a:prstGeom>
        </p:spPr>
      </p:pic>
      <p:sp>
        <p:nvSpPr>
          <p:cNvPr id="7" name="AutoShape 7"/>
          <p:cNvSpPr/>
          <p:nvPr/>
        </p:nvSpPr>
        <p:spPr>
          <a:xfrm>
            <a:off x="1524000" y="1968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0BFFF"/>
                </a:solidFill>
                <a:latin typeface="Hei" pitchFamily="2" charset="-122"/>
                <a:ea typeface="Hei" pitchFamily="2" charset="-122"/>
                <a:cs typeface="Noto Sans SC"/>
                <a:sym typeface="Noto Sans SC"/>
              </a:rPr>
              <a:t>数据中心的角色转变</a:t>
            </a:r>
            <a:endParaRPr lang="en-US" sz="1100" dirty="0">
              <a:latin typeface="Hei" pitchFamily="2" charset="-122"/>
              <a:ea typeface="Hei" pitchFamily="2" charset="-122"/>
            </a:endParaRPr>
          </a:p>
          <a:p>
            <a:pPr>
              <a:lnSpc>
                <a:spcPct val="125000"/>
              </a:lnSpc>
            </a:pPr>
            <a:r>
              <a:rPr lang="en-US" sz="1400" b="0" i="0" u="none" strike="noStrike" dirty="0">
                <a:solidFill>
                  <a:srgbClr val="CCCCCC"/>
                </a:solidFill>
                <a:latin typeface="Hei" pitchFamily="2" charset="-122"/>
                <a:ea typeface="Hei" pitchFamily="2" charset="-122"/>
                <a:cs typeface="Noto Sans SC"/>
                <a:sym typeface="Noto Sans SC"/>
              </a:rPr>
              <a:t>从单一数据存储到</a:t>
            </a:r>
            <a:r>
              <a:rPr lang="zh-CN" altLang="en-US" sz="1400" b="0" i="0" u="none" strike="noStrike" dirty="0">
                <a:solidFill>
                  <a:srgbClr val="CCCCCC"/>
                </a:solidFill>
                <a:latin typeface="Hei" pitchFamily="2" charset="-122"/>
                <a:ea typeface="Hei" pitchFamily="2" charset="-122"/>
                <a:cs typeface="Noto Sans SC"/>
                <a:sym typeface="Noto Sans SC"/>
              </a:rPr>
              <a:t>生成式人工智能、大数据分析、超大规模云计算</a:t>
            </a:r>
            <a:endParaRPr lang="en-US" sz="1400" b="0" i="0" u="none" strike="noStrike" dirty="0">
              <a:solidFill>
                <a:srgbClr val="CCCCCC"/>
              </a:solidFill>
              <a:latin typeface="Hei" pitchFamily="2" charset="-122"/>
              <a:ea typeface="Hei" pitchFamily="2" charset="-122"/>
              <a:cs typeface="Noto Sans SC"/>
              <a:sym typeface="Noto Sans SC"/>
            </a:endParaRPr>
          </a:p>
        </p:txBody>
      </p:sp>
      <p:sp>
        <p:nvSpPr>
          <p:cNvPr id="8" name="AutoShape 8"/>
          <p:cNvSpPr/>
          <p:nvPr/>
        </p:nvSpPr>
        <p:spPr>
          <a:xfrm>
            <a:off x="6240695" y="1905000"/>
            <a:ext cx="5334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1195" y="2146300"/>
            <a:ext cx="406400" cy="406400"/>
          </a:xfrm>
          <a:prstGeom prst="rect">
            <a:avLst/>
          </a:prstGeom>
        </p:spPr>
      </p:pic>
      <p:sp>
        <p:nvSpPr>
          <p:cNvPr id="10" name="AutoShape 10"/>
          <p:cNvSpPr/>
          <p:nvPr/>
        </p:nvSpPr>
        <p:spPr>
          <a:xfrm>
            <a:off x="7002695" y="1968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0BFFF"/>
                </a:solidFill>
                <a:latin typeface="Hei" pitchFamily="2" charset="-122"/>
                <a:ea typeface="Hei" pitchFamily="2" charset="-122"/>
                <a:cs typeface="Noto Sans SC"/>
                <a:sym typeface="Noto Sans SC"/>
              </a:rPr>
              <a:t>流量模式的范式转移</a:t>
            </a:r>
            <a:endParaRPr lang="en-US" sz="1100" dirty="0">
              <a:latin typeface="Hei" pitchFamily="2" charset="-122"/>
              <a:ea typeface="Hei" pitchFamily="2" charset="-122"/>
            </a:endParaRPr>
          </a:p>
          <a:p>
            <a:pPr indent="0" algn="l">
              <a:lnSpc>
                <a:spcPct val="125000"/>
              </a:lnSpc>
            </a:pPr>
            <a:r>
              <a:rPr lang="en-US" sz="1400" b="0" i="0" u="none" strike="noStrike" dirty="0">
                <a:solidFill>
                  <a:srgbClr val="CCCCCC"/>
                </a:solidFill>
                <a:latin typeface="Hei" pitchFamily="2" charset="-122"/>
                <a:ea typeface="Hei" pitchFamily="2" charset="-122"/>
                <a:cs typeface="Noto Sans SC"/>
                <a:sym typeface="Noto Sans SC"/>
              </a:rPr>
              <a:t>从“南北向”流量主导，转变为“东西向”流量占比超80%。</a:t>
            </a:r>
          </a:p>
        </p:txBody>
      </p:sp>
      <p:sp>
        <p:nvSpPr>
          <p:cNvPr id="17" name="AutoShape 17"/>
          <p:cNvSpPr/>
          <p:nvPr/>
        </p:nvSpPr>
        <p:spPr>
          <a:xfrm>
            <a:off x="761999" y="2971801"/>
            <a:ext cx="10812695" cy="3446408"/>
          </a:xfrm>
          <a:prstGeom prst="roundRect">
            <a:avLst>
              <a:gd name="adj" fmla="val 4761"/>
            </a:avLst>
          </a:prstGeom>
          <a:solidFill>
            <a:srgbClr val="FFFFFF">
              <a:alpha val="100000"/>
            </a:srgbClr>
          </a:solidFill>
          <a:ln w="25400" cap="flat" cmpd="sng">
            <a:noFill/>
            <a:prstDash val="solid"/>
            <a:round/>
          </a:ln>
          <a:effectLst>
            <a:outerShdw blurRad="254000" dist="101600" dir="2700000" algn="tl" rotWithShape="0">
              <a:srgbClr val="00BFFF">
                <a:alpha val="40000"/>
              </a:srgbClr>
            </a:outerShdw>
          </a:effectLst>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19" name="AutoShape 19"/>
          <p:cNvSpPr/>
          <p:nvPr/>
        </p:nvSpPr>
        <p:spPr>
          <a:xfrm>
            <a:off x="761999" y="6418209"/>
            <a:ext cx="10812695"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a:solidFill>
                  <a:srgbClr val="CCCCCC"/>
                </a:solidFill>
                <a:latin typeface="Hei" pitchFamily="2" charset="-122"/>
                <a:ea typeface="Hei" pitchFamily="2" charset="-122"/>
                <a:cs typeface="Noto Sans SC"/>
                <a:sym typeface="Noto Sans SC"/>
              </a:rPr>
              <a:t>图示：传统三层架构与现代CLOS架构流量模式对比</a:t>
            </a:r>
            <a:endParaRPr lang="en-US" sz="1100" dirty="0">
              <a:latin typeface="Hei" pitchFamily="2" charset="-122"/>
              <a:ea typeface="Hei" pitchFamily="2" charset="-122"/>
            </a:endParaRPr>
          </a:p>
        </p:txBody>
      </p:sp>
      <p:pic>
        <p:nvPicPr>
          <p:cNvPr id="1026" name="Picture 2">
            <a:extLst>
              <a:ext uri="{FF2B5EF4-FFF2-40B4-BE49-F238E27FC236}">
                <a16:creationId xmlns:a16="http://schemas.microsoft.com/office/drawing/2014/main" id="{55CE78AD-6528-3449-8702-01B0DE67FE0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50000"/>
          <a:stretch/>
        </p:blipFill>
        <p:spPr bwMode="auto">
          <a:xfrm>
            <a:off x="1588285" y="3035297"/>
            <a:ext cx="3826196" cy="337183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a:extLst>
              <a:ext uri="{FF2B5EF4-FFF2-40B4-BE49-F238E27FC236}">
                <a16:creationId xmlns:a16="http://schemas.microsoft.com/office/drawing/2014/main" id="{DCE1FACB-EE7B-F148-AC89-D45D4040829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4915"/>
          <a:stretch/>
        </p:blipFill>
        <p:spPr bwMode="auto">
          <a:xfrm>
            <a:off x="7179139" y="3039503"/>
            <a:ext cx="3457111" cy="3378705"/>
          </a:xfrm>
          <a:prstGeom prst="rect">
            <a:avLst/>
          </a:prstGeom>
          <a:noFill/>
          <a:extLst>
            <a:ext uri="{909E8E84-426E-40DD-AFC4-6F175D3DCCD1}">
              <a14:hiddenFill xmlns:a14="http://schemas.microsoft.com/office/drawing/2010/main">
                <a:solidFill>
                  <a:srgbClr val="FFFFFF"/>
                </a:solidFill>
              </a14:hiddenFill>
            </a:ext>
          </a:extLst>
        </p:spPr>
      </p:pic>
      <p:sp>
        <p:nvSpPr>
          <p:cNvPr id="20" name="Right Arrow 19">
            <a:extLst>
              <a:ext uri="{FF2B5EF4-FFF2-40B4-BE49-F238E27FC236}">
                <a16:creationId xmlns:a16="http://schemas.microsoft.com/office/drawing/2014/main" id="{2037E13C-9DBB-7947-9E5A-94B6A45F7627}"/>
              </a:ext>
            </a:extLst>
          </p:cNvPr>
          <p:cNvSpPr/>
          <p:nvPr/>
        </p:nvSpPr>
        <p:spPr>
          <a:xfrm>
            <a:off x="5416335" y="4147904"/>
            <a:ext cx="1586359" cy="67809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CN">
              <a:latin typeface="Hei" pitchFamily="2" charset="-122"/>
              <a:ea typeface="Hei"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引言 – </a:t>
            </a:r>
            <a:r>
              <a:rPr lang="en-US" sz="3600" b="1" dirty="0">
                <a:solidFill>
                  <a:srgbClr val="00BFFF"/>
                </a:solidFill>
                <a:latin typeface="Hei" pitchFamily="2" charset="-122"/>
                <a:ea typeface="Hei" pitchFamily="2" charset="-122"/>
                <a:cs typeface="Noto Sans SC"/>
                <a:sym typeface="Noto Sans SC"/>
              </a:rPr>
              <a:t>传统</a:t>
            </a:r>
            <a:r>
              <a:rPr lang="en-US" sz="3600" b="1" i="0" u="none" strike="noStrike" dirty="0">
                <a:solidFill>
                  <a:srgbClr val="00BFFF"/>
                </a:solidFill>
                <a:latin typeface="Hei" pitchFamily="2" charset="-122"/>
                <a:ea typeface="Hei" pitchFamily="2" charset="-122"/>
                <a:cs typeface="Noto Sans SC"/>
                <a:sym typeface="Noto Sans SC"/>
              </a:rPr>
              <a:t>数据中心网络挑战</a:t>
            </a:r>
            <a:endParaRPr lang="en-US" sz="1100" dirty="0">
              <a:latin typeface="Hei" pitchFamily="2" charset="-122"/>
              <a:ea typeface="Hei" pitchFamily="2" charset="-122"/>
            </a:endParaRPr>
          </a:p>
        </p:txBody>
      </p:sp>
      <p:sp>
        <p:nvSpPr>
          <p:cNvPr id="5" name="AutoShape 5"/>
          <p:cNvSpPr/>
          <p:nvPr/>
        </p:nvSpPr>
        <p:spPr>
          <a:xfrm>
            <a:off x="762000" y="2286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8200" y="2540000"/>
            <a:ext cx="609600" cy="609600"/>
          </a:xfrm>
          <a:prstGeom prst="rect">
            <a:avLst/>
          </a:prstGeom>
        </p:spPr>
      </p:pic>
      <p:sp>
        <p:nvSpPr>
          <p:cNvPr id="7" name="AutoShape 7"/>
          <p:cNvSpPr/>
          <p:nvPr/>
        </p:nvSpPr>
        <p:spPr>
          <a:xfrm>
            <a:off x="889000" y="3302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流量爆炸</a:t>
            </a:r>
            <a:endParaRPr lang="en-US" sz="1100" dirty="0">
              <a:latin typeface="Hei" pitchFamily="2" charset="-122"/>
              <a:ea typeface="Hei" pitchFamily="2" charset="-122"/>
            </a:endParaRPr>
          </a:p>
        </p:txBody>
      </p:sp>
      <p:sp>
        <p:nvSpPr>
          <p:cNvPr id="8" name="AutoShape 8"/>
          <p:cNvSpPr/>
          <p:nvPr/>
        </p:nvSpPr>
        <p:spPr>
          <a:xfrm>
            <a:off x="889000" y="38100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数据量呈指数级增长，对网络带宽提出了极高要求。</a:t>
            </a:r>
            <a:endParaRPr lang="en-US" sz="1100" dirty="0">
              <a:latin typeface="Hei" pitchFamily="2" charset="-122"/>
              <a:ea typeface="Hei" pitchFamily="2" charset="-122"/>
            </a:endParaRPr>
          </a:p>
        </p:txBody>
      </p:sp>
      <p:sp>
        <p:nvSpPr>
          <p:cNvPr id="9" name="AutoShape 9"/>
          <p:cNvSpPr/>
          <p:nvPr/>
        </p:nvSpPr>
        <p:spPr>
          <a:xfrm>
            <a:off x="4445000" y="2286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91200" y="2540000"/>
            <a:ext cx="609600" cy="609600"/>
          </a:xfrm>
          <a:prstGeom prst="rect">
            <a:avLst/>
          </a:prstGeom>
        </p:spPr>
      </p:pic>
      <p:sp>
        <p:nvSpPr>
          <p:cNvPr id="11" name="AutoShape 11"/>
          <p:cNvSpPr/>
          <p:nvPr/>
        </p:nvSpPr>
        <p:spPr>
          <a:xfrm>
            <a:off x="4572000" y="3302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低延迟需求</a:t>
            </a:r>
            <a:endParaRPr lang="en-US" sz="1100" dirty="0">
              <a:latin typeface="Hei" pitchFamily="2" charset="-122"/>
              <a:ea typeface="Hei" pitchFamily="2" charset="-122"/>
            </a:endParaRPr>
          </a:p>
        </p:txBody>
      </p:sp>
      <p:sp>
        <p:nvSpPr>
          <p:cNvPr id="12" name="AutoShape 12"/>
          <p:cNvSpPr/>
          <p:nvPr/>
        </p:nvSpPr>
        <p:spPr>
          <a:xfrm>
            <a:off x="4572000" y="38100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实时应用、金融交易等场景对网络延迟极为敏感，要求微秒级响应。</a:t>
            </a:r>
            <a:endParaRPr lang="en-US" sz="1100" dirty="0">
              <a:latin typeface="Hei" pitchFamily="2" charset="-122"/>
              <a:ea typeface="Hei" pitchFamily="2" charset="-122"/>
            </a:endParaRPr>
          </a:p>
        </p:txBody>
      </p:sp>
      <p:sp>
        <p:nvSpPr>
          <p:cNvPr id="13" name="AutoShape 13"/>
          <p:cNvSpPr/>
          <p:nvPr/>
        </p:nvSpPr>
        <p:spPr>
          <a:xfrm>
            <a:off x="8128000" y="2286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4200" y="2540000"/>
            <a:ext cx="609600" cy="609600"/>
          </a:xfrm>
          <a:prstGeom prst="rect">
            <a:avLst/>
          </a:prstGeom>
        </p:spPr>
      </p:pic>
      <p:sp>
        <p:nvSpPr>
          <p:cNvPr id="15" name="AutoShape 15"/>
          <p:cNvSpPr/>
          <p:nvPr/>
        </p:nvSpPr>
        <p:spPr>
          <a:xfrm>
            <a:off x="8255000" y="3302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高可用要求</a:t>
            </a:r>
            <a:endParaRPr lang="en-US" sz="1100" dirty="0">
              <a:latin typeface="Hei" pitchFamily="2" charset="-122"/>
              <a:ea typeface="Hei" pitchFamily="2" charset="-122"/>
            </a:endParaRPr>
          </a:p>
        </p:txBody>
      </p:sp>
      <p:sp>
        <p:nvSpPr>
          <p:cNvPr id="16" name="AutoShape 16"/>
          <p:cNvSpPr/>
          <p:nvPr/>
        </p:nvSpPr>
        <p:spPr>
          <a:xfrm>
            <a:off x="8255000" y="38100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业务连续性至关重要，网络必须具备高可靠性和快速故障恢复能力。</a:t>
            </a:r>
            <a:endParaRPr lang="en-US" sz="1100" dirty="0">
              <a:latin typeface="Hei" pitchFamily="2" charset="-122"/>
              <a:ea typeface="Hei"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引言 –</a:t>
            </a:r>
            <a:r>
              <a:rPr lang="zh-CN" altLang="en-US" sz="3600" b="1" i="0" u="none" strike="noStrike" dirty="0">
                <a:solidFill>
                  <a:srgbClr val="00BFFF"/>
                </a:solidFill>
                <a:latin typeface="Hei" pitchFamily="2" charset="-122"/>
                <a:ea typeface="Hei" pitchFamily="2" charset="-122"/>
                <a:cs typeface="Noto Sans SC"/>
                <a:sym typeface="Noto Sans SC"/>
              </a:rPr>
              <a:t> </a:t>
            </a:r>
            <a:r>
              <a:rPr lang="en-US" altLang="zh-CN" sz="3600" b="1" dirty="0">
                <a:solidFill>
                  <a:srgbClr val="00BFFF"/>
                </a:solidFill>
                <a:latin typeface="Hei" pitchFamily="2" charset="-122"/>
                <a:ea typeface="Hei" pitchFamily="2" charset="-122"/>
                <a:cs typeface="Noto Sans SC"/>
                <a:sym typeface="Noto Sans SC"/>
              </a:rPr>
              <a:t>AI</a:t>
            </a:r>
            <a:r>
              <a:rPr lang="zh-CN" altLang="en-US" sz="3600" b="1" dirty="0">
                <a:solidFill>
                  <a:srgbClr val="00BFFF"/>
                </a:solidFill>
                <a:latin typeface="Hei" pitchFamily="2" charset="-122"/>
                <a:ea typeface="Hei" pitchFamily="2" charset="-122"/>
                <a:cs typeface="Noto Sans SC"/>
                <a:sym typeface="Noto Sans SC"/>
              </a:rPr>
              <a:t>时代对数据中心网络的需求</a:t>
            </a:r>
            <a:endParaRPr lang="en-US" sz="1100" dirty="0">
              <a:latin typeface="Hei" pitchFamily="2" charset="-122"/>
              <a:ea typeface="Hei" pitchFamily="2" charset="-122"/>
            </a:endParaRPr>
          </a:p>
        </p:txBody>
      </p:sp>
      <p:sp>
        <p:nvSpPr>
          <p:cNvPr id="20" name="AutoShape 5">
            <a:extLst>
              <a:ext uri="{FF2B5EF4-FFF2-40B4-BE49-F238E27FC236}">
                <a16:creationId xmlns:a16="http://schemas.microsoft.com/office/drawing/2014/main" id="{4040C84C-8A93-A643-ADBB-7E89191A5A2E}"/>
              </a:ext>
            </a:extLst>
          </p:cNvPr>
          <p:cNvSpPr/>
          <p:nvPr/>
        </p:nvSpPr>
        <p:spPr>
          <a:xfrm>
            <a:off x="762000" y="2286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2" name="AutoShape 7">
            <a:extLst>
              <a:ext uri="{FF2B5EF4-FFF2-40B4-BE49-F238E27FC236}">
                <a16:creationId xmlns:a16="http://schemas.microsoft.com/office/drawing/2014/main" id="{014DB740-DB4D-AE44-9ED7-9B45738BDD01}"/>
              </a:ext>
            </a:extLst>
          </p:cNvPr>
          <p:cNvSpPr/>
          <p:nvPr/>
        </p:nvSpPr>
        <p:spPr>
          <a:xfrm>
            <a:off x="889000" y="3302000"/>
            <a:ext cx="3048000" cy="381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zh-CN" altLang="en-US" sz="2200" b="1" i="0" u="none" strike="noStrike">
                <a:solidFill>
                  <a:srgbClr val="FFFFFF"/>
                </a:solidFill>
                <a:latin typeface="Hei" pitchFamily="2" charset="-122"/>
                <a:ea typeface="Hei" pitchFamily="2" charset="-122"/>
                <a:cs typeface="Noto Sans SC"/>
                <a:sym typeface="Noto Sans SC"/>
              </a:rPr>
              <a:t>可预测的低延迟</a:t>
            </a:r>
            <a:endParaRPr lang="en-US" sz="1100" dirty="0">
              <a:latin typeface="Hei" pitchFamily="2" charset="-122"/>
              <a:ea typeface="Hei" pitchFamily="2" charset="-122"/>
            </a:endParaRPr>
          </a:p>
        </p:txBody>
      </p:sp>
      <p:sp>
        <p:nvSpPr>
          <p:cNvPr id="23" name="AutoShape 8">
            <a:extLst>
              <a:ext uri="{FF2B5EF4-FFF2-40B4-BE49-F238E27FC236}">
                <a16:creationId xmlns:a16="http://schemas.microsoft.com/office/drawing/2014/main" id="{BB1DB704-401F-5A48-BD3A-A48BDB37E30E}"/>
              </a:ext>
            </a:extLst>
          </p:cNvPr>
          <p:cNvSpPr/>
          <p:nvPr/>
        </p:nvSpPr>
        <p:spPr>
          <a:xfrm>
            <a:off x="889000" y="38100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08333"/>
              </a:lnSpc>
              <a:defRPr/>
            </a:pPr>
            <a:endParaRPr lang="en-US" sz="1100" dirty="0">
              <a:latin typeface="Hei" pitchFamily="2" charset="-122"/>
              <a:ea typeface="Hei" pitchFamily="2" charset="-122"/>
            </a:endParaRPr>
          </a:p>
        </p:txBody>
      </p:sp>
      <p:sp>
        <p:nvSpPr>
          <p:cNvPr id="24" name="AutoShape 9">
            <a:extLst>
              <a:ext uri="{FF2B5EF4-FFF2-40B4-BE49-F238E27FC236}">
                <a16:creationId xmlns:a16="http://schemas.microsoft.com/office/drawing/2014/main" id="{90575BA2-1209-FA4D-867E-77C3062003C3}"/>
              </a:ext>
            </a:extLst>
          </p:cNvPr>
          <p:cNvSpPr/>
          <p:nvPr/>
        </p:nvSpPr>
        <p:spPr>
          <a:xfrm>
            <a:off x="4445000" y="2286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6" name="AutoShape 11">
            <a:extLst>
              <a:ext uri="{FF2B5EF4-FFF2-40B4-BE49-F238E27FC236}">
                <a16:creationId xmlns:a16="http://schemas.microsoft.com/office/drawing/2014/main" id="{CE1BCBE7-B413-B741-9129-1A8AC503E84C}"/>
              </a:ext>
            </a:extLst>
          </p:cNvPr>
          <p:cNvSpPr/>
          <p:nvPr/>
        </p:nvSpPr>
        <p:spPr>
          <a:xfrm>
            <a:off x="4572000" y="3302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大吞吐</a:t>
            </a:r>
            <a:endParaRPr lang="en-US" sz="1100" dirty="0">
              <a:latin typeface="Hei" pitchFamily="2" charset="-122"/>
              <a:ea typeface="Hei" pitchFamily="2" charset="-122"/>
            </a:endParaRPr>
          </a:p>
        </p:txBody>
      </p:sp>
      <p:sp>
        <p:nvSpPr>
          <p:cNvPr id="27" name="AutoShape 12">
            <a:extLst>
              <a:ext uri="{FF2B5EF4-FFF2-40B4-BE49-F238E27FC236}">
                <a16:creationId xmlns:a16="http://schemas.microsoft.com/office/drawing/2014/main" id="{60BBB7E0-F30D-3F4A-AEC1-4725480E8783}"/>
              </a:ext>
            </a:extLst>
          </p:cNvPr>
          <p:cNvSpPr/>
          <p:nvPr/>
        </p:nvSpPr>
        <p:spPr>
          <a:xfrm>
            <a:off x="4572000" y="3810000"/>
            <a:ext cx="3048000" cy="1016000"/>
          </a:xfrm>
          <a:prstGeom prst="rect">
            <a:avLst/>
          </a:prstGeom>
          <a:noFill/>
          <a:ln w="12700" cap="flat" cmpd="sng">
            <a:noFill/>
            <a:prstDash val="solid"/>
            <a:round/>
          </a:ln>
        </p:spPr>
        <p:txBody>
          <a:bodyPr vert="horz" wrap="square" lIns="0" tIns="0" rIns="0" bIns="0" rtlCol="0" anchor="t" anchorCtr="0"/>
          <a:lstStyle/>
          <a:p>
            <a:pPr algn="just">
              <a:lnSpc>
                <a:spcPct val="108333"/>
              </a:lnSpc>
              <a:defRPr/>
            </a:pPr>
            <a:r>
              <a:rPr lang="en-US" altLang="zh-CN" sz="1800" dirty="0">
                <a:solidFill>
                  <a:srgbClr val="CCCCCC"/>
                </a:solidFill>
                <a:latin typeface="Hei" pitchFamily="2" charset="-122"/>
                <a:ea typeface="Hei" pitchFamily="2" charset="-122"/>
                <a:sym typeface="Noto Sans SC"/>
              </a:rPr>
              <a:t>GPU</a:t>
            </a:r>
            <a:r>
              <a:rPr lang="zh-CN" altLang="en-US" sz="1800">
                <a:solidFill>
                  <a:srgbClr val="CCCCCC"/>
                </a:solidFill>
                <a:latin typeface="Hei" pitchFamily="2" charset="-122"/>
                <a:ea typeface="Hei" pitchFamily="2" charset="-122"/>
                <a:sym typeface="Noto Sans SC"/>
              </a:rPr>
              <a:t>集群之间大量、频繁的集合通信（如</a:t>
            </a:r>
            <a:r>
              <a:rPr lang="en-US" altLang="zh-CN" sz="1800" dirty="0">
                <a:solidFill>
                  <a:srgbClr val="CCCCCC"/>
                </a:solidFill>
                <a:latin typeface="Hei" pitchFamily="2" charset="-122"/>
                <a:ea typeface="Hei" pitchFamily="2" charset="-122"/>
                <a:sym typeface="Noto Sans SC"/>
              </a:rPr>
              <a:t>All-reduce/All-gather</a:t>
            </a:r>
            <a:r>
              <a:rPr lang="zh-CN" altLang="en-US" sz="1800">
                <a:solidFill>
                  <a:srgbClr val="CCCCCC"/>
                </a:solidFill>
                <a:latin typeface="Hei" pitchFamily="2" charset="-122"/>
                <a:ea typeface="Hei" pitchFamily="2" charset="-122"/>
                <a:sym typeface="Noto Sans SC"/>
              </a:rPr>
              <a:t>）</a:t>
            </a:r>
            <a:endParaRPr lang="en-US" sz="1100" dirty="0">
              <a:latin typeface="Hei" pitchFamily="2" charset="-122"/>
              <a:ea typeface="Hei" pitchFamily="2" charset="-122"/>
            </a:endParaRPr>
          </a:p>
        </p:txBody>
      </p:sp>
      <p:sp>
        <p:nvSpPr>
          <p:cNvPr id="28" name="AutoShape 13">
            <a:extLst>
              <a:ext uri="{FF2B5EF4-FFF2-40B4-BE49-F238E27FC236}">
                <a16:creationId xmlns:a16="http://schemas.microsoft.com/office/drawing/2014/main" id="{57339B0B-FE6E-BE4D-86D4-F9BCC14D8B57}"/>
              </a:ext>
            </a:extLst>
          </p:cNvPr>
          <p:cNvSpPr/>
          <p:nvPr/>
        </p:nvSpPr>
        <p:spPr>
          <a:xfrm>
            <a:off x="8128000" y="2286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30" name="AutoShape 15">
            <a:extLst>
              <a:ext uri="{FF2B5EF4-FFF2-40B4-BE49-F238E27FC236}">
                <a16:creationId xmlns:a16="http://schemas.microsoft.com/office/drawing/2014/main" id="{A65AE36C-58F1-C64A-A176-7308F39AC675}"/>
              </a:ext>
            </a:extLst>
          </p:cNvPr>
          <p:cNvSpPr/>
          <p:nvPr/>
        </p:nvSpPr>
        <p:spPr>
          <a:xfrm>
            <a:off x="8255000" y="3302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高并发</a:t>
            </a:r>
            <a:endParaRPr lang="en-US" sz="1100" dirty="0">
              <a:latin typeface="Hei" pitchFamily="2" charset="-122"/>
              <a:ea typeface="Hei" pitchFamily="2" charset="-122"/>
            </a:endParaRPr>
          </a:p>
        </p:txBody>
      </p:sp>
      <p:sp>
        <p:nvSpPr>
          <p:cNvPr id="31" name="AutoShape 16">
            <a:extLst>
              <a:ext uri="{FF2B5EF4-FFF2-40B4-BE49-F238E27FC236}">
                <a16:creationId xmlns:a16="http://schemas.microsoft.com/office/drawing/2014/main" id="{BD8DE7B4-0F98-0E4D-97DA-D9F501372C73}"/>
              </a:ext>
            </a:extLst>
          </p:cNvPr>
          <p:cNvSpPr/>
          <p:nvPr/>
        </p:nvSpPr>
        <p:spPr>
          <a:xfrm>
            <a:off x="8255000" y="38100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同步训练要求</a:t>
            </a:r>
            <a:r>
              <a:rPr lang="zh-CN" altLang="en-US" sz="1800" b="0" i="0" u="none" strike="noStrike" dirty="0">
                <a:solidFill>
                  <a:srgbClr val="CCCCCC"/>
                </a:solidFill>
                <a:latin typeface="Hei" pitchFamily="2" charset="-122"/>
                <a:ea typeface="Hei" pitchFamily="2" charset="-122"/>
                <a:cs typeface="Noto Sans SC"/>
                <a:sym typeface="Noto Sans SC"/>
              </a:rPr>
              <a:t> </a:t>
            </a:r>
            <a:r>
              <a:rPr lang="en-US" sz="1800" b="0" i="0" u="none" strike="noStrike" dirty="0">
                <a:solidFill>
                  <a:srgbClr val="CCCCCC"/>
                </a:solidFill>
                <a:latin typeface="Hei" pitchFamily="2" charset="-122"/>
                <a:ea typeface="Hei" pitchFamily="2" charset="-122"/>
                <a:cs typeface="Noto Sans SC"/>
                <a:sym typeface="Noto Sans SC"/>
              </a:rPr>
              <a:t>All-to-All</a:t>
            </a:r>
            <a:r>
              <a:rPr lang="zh-CN" altLang="en-US" sz="1800" b="0" i="0" u="none" strike="noStrike" dirty="0">
                <a:solidFill>
                  <a:srgbClr val="CCCCCC"/>
                </a:solidFill>
                <a:latin typeface="Hei" pitchFamily="2" charset="-122"/>
                <a:ea typeface="Hei" pitchFamily="2" charset="-122"/>
                <a:cs typeface="Noto Sans SC"/>
                <a:sym typeface="Noto Sans SC"/>
              </a:rPr>
              <a:t> 通信，容易造成 </a:t>
            </a:r>
            <a:r>
              <a:rPr lang="en-US" sz="1800" b="0" i="0" u="none" strike="noStrike" dirty="0">
                <a:solidFill>
                  <a:srgbClr val="CCCCCC"/>
                </a:solidFill>
                <a:latin typeface="Hei" pitchFamily="2" charset="-122"/>
                <a:ea typeface="Hei" pitchFamily="2" charset="-122"/>
                <a:cs typeface="Noto Sans SC"/>
                <a:sym typeface="Noto Sans SC"/>
              </a:rPr>
              <a:t>Incast </a:t>
            </a:r>
            <a:r>
              <a:rPr lang="zh-CN" altLang="en-US" sz="1800" b="0" i="0" u="none" strike="noStrike" dirty="0">
                <a:solidFill>
                  <a:srgbClr val="CCCCCC"/>
                </a:solidFill>
                <a:latin typeface="Hei" pitchFamily="2" charset="-122"/>
                <a:ea typeface="Hei" pitchFamily="2" charset="-122"/>
                <a:cs typeface="Noto Sans SC"/>
                <a:sym typeface="Noto Sans SC"/>
              </a:rPr>
              <a:t>拥塞。</a:t>
            </a:r>
            <a:endParaRPr lang="en-US" sz="1100" dirty="0">
              <a:latin typeface="Hei" pitchFamily="2" charset="-122"/>
              <a:ea typeface="Hei" pitchFamily="2" charset="-122"/>
            </a:endParaRPr>
          </a:p>
        </p:txBody>
      </p:sp>
      <p:pic>
        <p:nvPicPr>
          <p:cNvPr id="32" name="Picture 10">
            <a:extLst>
              <a:ext uri="{FF2B5EF4-FFF2-40B4-BE49-F238E27FC236}">
                <a16:creationId xmlns:a16="http://schemas.microsoft.com/office/drawing/2014/main" id="{E30E4B49-5BE0-3C48-8A8D-A2C74B0B38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6325" y="2489200"/>
            <a:ext cx="609600" cy="609600"/>
          </a:xfrm>
          <a:prstGeom prst="rect">
            <a:avLst/>
          </a:prstGeom>
        </p:spPr>
      </p:pic>
      <p:sp>
        <p:nvSpPr>
          <p:cNvPr id="33" name="AutoShape 12">
            <a:extLst>
              <a:ext uri="{FF2B5EF4-FFF2-40B4-BE49-F238E27FC236}">
                <a16:creationId xmlns:a16="http://schemas.microsoft.com/office/drawing/2014/main" id="{E768E37C-BAFB-FF47-9C2A-453B62740C3F}"/>
              </a:ext>
            </a:extLst>
          </p:cNvPr>
          <p:cNvSpPr/>
          <p:nvPr/>
        </p:nvSpPr>
        <p:spPr>
          <a:xfrm>
            <a:off x="889000" y="38100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08333"/>
              </a:lnSpc>
              <a:defRPr/>
            </a:pPr>
            <a:r>
              <a:rPr lang="en-US" sz="1800" dirty="0">
                <a:solidFill>
                  <a:srgbClr val="CCCCCC"/>
                </a:solidFill>
                <a:latin typeface="Hei" pitchFamily="2" charset="-122"/>
                <a:ea typeface="Hei" pitchFamily="2" charset="-122"/>
                <a:sym typeface="Noto Sans SC"/>
              </a:rPr>
              <a:t>以</a:t>
            </a:r>
            <a:r>
              <a:rPr lang="en-US" altLang="zh-CN" sz="1800" dirty="0">
                <a:solidFill>
                  <a:srgbClr val="CCCCCC"/>
                </a:solidFill>
                <a:latin typeface="Hei" pitchFamily="2" charset="-122"/>
                <a:ea typeface="Hei" pitchFamily="2" charset="-122"/>
                <a:sym typeface="Noto Sans SC"/>
              </a:rPr>
              <a:t>GPT-3</a:t>
            </a:r>
            <a:r>
              <a:rPr lang="zh-CN" altLang="en-US" sz="1800">
                <a:solidFill>
                  <a:srgbClr val="CCCCCC"/>
                </a:solidFill>
                <a:latin typeface="Hei" pitchFamily="2" charset="-122"/>
                <a:ea typeface="Hei" pitchFamily="2" charset="-122"/>
                <a:sym typeface="Noto Sans SC"/>
              </a:rPr>
              <a:t>为例，动态时延从</a:t>
            </a:r>
            <a:r>
              <a:rPr lang="en-US" altLang="zh-CN" sz="1800" dirty="0">
                <a:solidFill>
                  <a:srgbClr val="CCCCCC"/>
                </a:solidFill>
                <a:latin typeface="Hei" pitchFamily="2" charset="-122"/>
                <a:ea typeface="Hei" pitchFamily="2" charset="-122"/>
                <a:sym typeface="Noto Sans SC"/>
              </a:rPr>
              <a:t>10us</a:t>
            </a:r>
            <a:r>
              <a:rPr lang="zh-CN" altLang="en-US" sz="1800">
                <a:solidFill>
                  <a:srgbClr val="CCCCCC"/>
                </a:solidFill>
                <a:latin typeface="Hei" pitchFamily="2" charset="-122"/>
                <a:ea typeface="Hei" pitchFamily="2" charset="-122"/>
                <a:sym typeface="Noto Sans SC"/>
              </a:rPr>
              <a:t>提升至</a:t>
            </a:r>
            <a:r>
              <a:rPr lang="en-US" altLang="zh-CN" sz="1800" dirty="0">
                <a:solidFill>
                  <a:srgbClr val="CCCCCC"/>
                </a:solidFill>
                <a:latin typeface="Hei" pitchFamily="2" charset="-122"/>
                <a:ea typeface="Hei" pitchFamily="2" charset="-122"/>
                <a:sym typeface="Noto Sans SC"/>
              </a:rPr>
              <a:t>100us</a:t>
            </a:r>
            <a:r>
              <a:rPr lang="zh-CN" altLang="en-US" sz="1800">
                <a:solidFill>
                  <a:srgbClr val="CCCCCC"/>
                </a:solidFill>
                <a:latin typeface="Hei" pitchFamily="2" charset="-122"/>
                <a:ea typeface="Hei" pitchFamily="2" charset="-122"/>
                <a:sym typeface="Noto Sans SC"/>
              </a:rPr>
              <a:t>时，</a:t>
            </a:r>
            <a:r>
              <a:rPr lang="en-US" altLang="zh-CN" sz="1800" dirty="0">
                <a:solidFill>
                  <a:srgbClr val="CCCCCC"/>
                </a:solidFill>
                <a:latin typeface="Hei" pitchFamily="2" charset="-122"/>
                <a:ea typeface="Hei" pitchFamily="2" charset="-122"/>
                <a:sym typeface="Noto Sans SC"/>
              </a:rPr>
              <a:t>GPU</a:t>
            </a:r>
            <a:r>
              <a:rPr lang="zh-CN" altLang="en-US" sz="1800">
                <a:solidFill>
                  <a:srgbClr val="CCCCCC"/>
                </a:solidFill>
                <a:latin typeface="Hei" pitchFamily="2" charset="-122"/>
                <a:ea typeface="Hei" pitchFamily="2" charset="-122"/>
                <a:sym typeface="Noto Sans SC"/>
              </a:rPr>
              <a:t>有效计算时间占比降低近</a:t>
            </a:r>
            <a:r>
              <a:rPr lang="en-US" altLang="zh-CN" sz="1800" dirty="0">
                <a:solidFill>
                  <a:srgbClr val="CCCCCC"/>
                </a:solidFill>
                <a:latin typeface="Hei" pitchFamily="2" charset="-122"/>
                <a:ea typeface="Hei" pitchFamily="2" charset="-122"/>
                <a:sym typeface="Noto Sans SC"/>
              </a:rPr>
              <a:t>10%</a:t>
            </a:r>
            <a:r>
              <a:rPr lang="zh-CN" altLang="en-US" sz="1800">
                <a:solidFill>
                  <a:srgbClr val="CCCCCC"/>
                </a:solidFill>
                <a:latin typeface="Hei" pitchFamily="2" charset="-122"/>
                <a:ea typeface="Hei" pitchFamily="2" charset="-122"/>
                <a:sym typeface="Noto Sans SC"/>
              </a:rPr>
              <a:t>。</a:t>
            </a:r>
            <a:endParaRPr lang="en-US" sz="1100" dirty="0">
              <a:latin typeface="Hei" pitchFamily="2" charset="-122"/>
              <a:ea typeface="Hei" pitchFamily="2" charset="-122"/>
            </a:endParaRPr>
          </a:p>
        </p:txBody>
      </p:sp>
      <p:pic>
        <p:nvPicPr>
          <p:cNvPr id="34" name="Graphic 33">
            <a:extLst>
              <a:ext uri="{FF2B5EF4-FFF2-40B4-BE49-F238E27FC236}">
                <a16:creationId xmlns:a16="http://schemas.microsoft.com/office/drawing/2014/main" id="{C640EE0B-1A3A-F64F-9291-D4C32CBD1B5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91200" y="2489200"/>
            <a:ext cx="609600" cy="609600"/>
          </a:xfrm>
          <a:prstGeom prst="rect">
            <a:avLst/>
          </a:prstGeom>
        </p:spPr>
      </p:pic>
      <p:pic>
        <p:nvPicPr>
          <p:cNvPr id="35" name="Graphic 34">
            <a:extLst>
              <a:ext uri="{FF2B5EF4-FFF2-40B4-BE49-F238E27FC236}">
                <a16:creationId xmlns:a16="http://schemas.microsoft.com/office/drawing/2014/main" id="{95BE367C-8072-8F4E-9C8B-BD414DFF5A8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4200" y="2489200"/>
            <a:ext cx="609600" cy="609600"/>
          </a:xfrm>
          <a:prstGeom prst="rect">
            <a:avLst/>
          </a:prstGeom>
        </p:spPr>
      </p:pic>
    </p:spTree>
    <p:extLst>
      <p:ext uri="{BB962C8B-B14F-4D97-AF65-F5344CB8AC3E}">
        <p14:creationId xmlns:p14="http://schemas.microsoft.com/office/powerpoint/2010/main" val="2992543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508000"/>
            <a:ext cx="914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CLOS架构基础理论：起源与核心概念</a:t>
            </a:r>
            <a:endParaRPr lang="en-US" sz="1100" dirty="0">
              <a:latin typeface="Hei" pitchFamily="2" charset="-122"/>
              <a:ea typeface="Hei" pitchFamily="2" charset="-122"/>
            </a:endParaRPr>
          </a:p>
        </p:txBody>
      </p:sp>
      <p:sp>
        <p:nvSpPr>
          <p:cNvPr id="5" name="AutoShape 5"/>
          <p:cNvSpPr/>
          <p:nvPr/>
        </p:nvSpPr>
        <p:spPr>
          <a:xfrm>
            <a:off x="762000" y="1524000"/>
            <a:ext cx="5334000" cy="1270000"/>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406400" cy="406400"/>
          </a:xfrm>
          <a:prstGeom prst="rect">
            <a:avLst/>
          </a:prstGeom>
        </p:spPr>
      </p:pic>
      <p:sp>
        <p:nvSpPr>
          <p:cNvPr id="7" name="AutoShape 7"/>
          <p:cNvSpPr/>
          <p:nvPr/>
        </p:nvSpPr>
        <p:spPr>
          <a:xfrm>
            <a:off x="1524000" y="1676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起源与背景</a:t>
            </a:r>
            <a:endParaRPr lang="en-US" sz="1100" dirty="0">
              <a:latin typeface="Hei" pitchFamily="2" charset="-122"/>
              <a:ea typeface="Hei" pitchFamily="2" charset="-122"/>
            </a:endParaRPr>
          </a:p>
        </p:txBody>
      </p:sp>
      <p:sp>
        <p:nvSpPr>
          <p:cNvPr id="8" name="AutoShape 8"/>
          <p:cNvSpPr/>
          <p:nvPr/>
        </p:nvSpPr>
        <p:spPr>
          <a:xfrm>
            <a:off x="1524000" y="20574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CCCCCC"/>
                </a:solidFill>
                <a:latin typeface="Hei" pitchFamily="2" charset="-122"/>
                <a:ea typeface="Hei" pitchFamily="2" charset="-122"/>
                <a:cs typeface="Noto Sans SC"/>
                <a:sym typeface="Noto Sans SC"/>
              </a:rPr>
              <a:t>195</a:t>
            </a:r>
            <a:r>
              <a:rPr lang="en-US" altLang="zh-CN" sz="1600" b="0" i="0" u="none" strike="noStrike" dirty="0">
                <a:solidFill>
                  <a:srgbClr val="CCCCCC"/>
                </a:solidFill>
                <a:latin typeface="Hei" pitchFamily="2" charset="-122"/>
                <a:ea typeface="Hei" pitchFamily="2" charset="-122"/>
                <a:cs typeface="Noto Sans SC"/>
                <a:sym typeface="Noto Sans SC"/>
              </a:rPr>
              <a:t>2</a:t>
            </a:r>
            <a:r>
              <a:rPr lang="en-US" sz="1600" b="0" i="0" u="none" strike="noStrike" dirty="0">
                <a:solidFill>
                  <a:srgbClr val="CCCCCC"/>
                </a:solidFill>
                <a:latin typeface="Hei" pitchFamily="2" charset="-122"/>
                <a:ea typeface="Hei" pitchFamily="2" charset="-122"/>
                <a:cs typeface="Noto Sans SC"/>
                <a:sym typeface="Noto Sans SC"/>
              </a:rPr>
              <a:t>年由Charles Clos提出，旨在解决传统电话交换机在规模扩大时面临的成本与交叉点数量瓶颈。</a:t>
            </a:r>
            <a:endParaRPr lang="en-US" sz="1100" dirty="0">
              <a:latin typeface="Hei" pitchFamily="2" charset="-122"/>
              <a:ea typeface="Hei" pitchFamily="2" charset="-122"/>
            </a:endParaRPr>
          </a:p>
        </p:txBody>
      </p:sp>
      <p:sp>
        <p:nvSpPr>
          <p:cNvPr id="9" name="AutoShape 9"/>
          <p:cNvSpPr/>
          <p:nvPr/>
        </p:nvSpPr>
        <p:spPr>
          <a:xfrm>
            <a:off x="762000" y="3048000"/>
            <a:ext cx="5334000" cy="1270000"/>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238500"/>
            <a:ext cx="406400" cy="406400"/>
          </a:xfrm>
          <a:prstGeom prst="rect">
            <a:avLst/>
          </a:prstGeom>
        </p:spPr>
      </p:pic>
      <p:sp>
        <p:nvSpPr>
          <p:cNvPr id="11" name="AutoShape 11"/>
          <p:cNvSpPr/>
          <p:nvPr/>
        </p:nvSpPr>
        <p:spPr>
          <a:xfrm>
            <a:off x="1524000" y="3200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多级分解核心思想</a:t>
            </a:r>
            <a:endParaRPr lang="en-US" sz="1100" dirty="0">
              <a:latin typeface="Hei" pitchFamily="2" charset="-122"/>
              <a:ea typeface="Hei" pitchFamily="2" charset="-122"/>
            </a:endParaRPr>
          </a:p>
        </p:txBody>
      </p:sp>
      <p:sp>
        <p:nvSpPr>
          <p:cNvPr id="12" name="AutoShape 12"/>
          <p:cNvSpPr/>
          <p:nvPr/>
        </p:nvSpPr>
        <p:spPr>
          <a:xfrm>
            <a:off x="1524000" y="35814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CCCCCC"/>
                </a:solidFill>
                <a:latin typeface="Hei" pitchFamily="2" charset="-122"/>
                <a:ea typeface="Hei" pitchFamily="2" charset="-122"/>
                <a:cs typeface="Noto Sans SC"/>
                <a:sym typeface="Noto Sans SC"/>
              </a:rPr>
              <a:t>将单一大型交换矩阵分解为“输入级-中间级-输出级”三级互联结构，大幅减少硬件交叉点数量。</a:t>
            </a:r>
            <a:endParaRPr lang="en-US" sz="1100" dirty="0">
              <a:latin typeface="Hei" pitchFamily="2" charset="-122"/>
              <a:ea typeface="Hei" pitchFamily="2" charset="-122"/>
            </a:endParaRPr>
          </a:p>
        </p:txBody>
      </p:sp>
      <p:sp>
        <p:nvSpPr>
          <p:cNvPr id="13" name="AutoShape 13"/>
          <p:cNvSpPr/>
          <p:nvPr/>
        </p:nvSpPr>
        <p:spPr>
          <a:xfrm>
            <a:off x="762000" y="4572000"/>
            <a:ext cx="5334000" cy="1270000"/>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762500"/>
            <a:ext cx="406400" cy="406400"/>
          </a:xfrm>
          <a:prstGeom prst="rect">
            <a:avLst/>
          </a:prstGeom>
        </p:spPr>
      </p:pic>
      <p:sp>
        <p:nvSpPr>
          <p:cNvPr id="15" name="AutoShape 15"/>
          <p:cNvSpPr/>
          <p:nvPr/>
        </p:nvSpPr>
        <p:spPr>
          <a:xfrm>
            <a:off x="1524000" y="4724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严格非阻塞特性</a:t>
            </a:r>
            <a:endParaRPr lang="en-US" sz="1100" dirty="0">
              <a:latin typeface="Hei" pitchFamily="2" charset="-122"/>
              <a:ea typeface="Hei" pitchFamily="2" charset="-122"/>
            </a:endParaRPr>
          </a:p>
        </p:txBody>
      </p:sp>
      <p:sp>
        <p:nvSpPr>
          <p:cNvPr id="16" name="AutoShape 16"/>
          <p:cNvSpPr/>
          <p:nvPr/>
        </p:nvSpPr>
        <p:spPr>
          <a:xfrm>
            <a:off x="1524000" y="51054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CCCCCC"/>
                </a:solidFill>
                <a:latin typeface="Hei" pitchFamily="2" charset="-122"/>
                <a:ea typeface="Hei" pitchFamily="2" charset="-122"/>
                <a:cs typeface="Noto Sans SC"/>
                <a:sym typeface="Noto Sans SC"/>
              </a:rPr>
              <a:t>在满足特定条件下，任意空闲的输入端口与输出端口之间总能建立连接，不受网络其他流量影响。</a:t>
            </a:r>
            <a:endParaRPr lang="en-US" sz="1100" dirty="0">
              <a:latin typeface="Hei" pitchFamily="2" charset="-122"/>
              <a:ea typeface="Hei" pitchFamily="2" charset="-122"/>
            </a:endParaRPr>
          </a:p>
        </p:txBody>
      </p:sp>
      <p:sp>
        <p:nvSpPr>
          <p:cNvPr id="19" name="AutoShape 19"/>
          <p:cNvSpPr/>
          <p:nvPr/>
        </p:nvSpPr>
        <p:spPr>
          <a:xfrm>
            <a:off x="6620447" y="52324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a:solidFill>
                  <a:srgbClr val="96A0B4"/>
                </a:solidFill>
                <a:latin typeface="Hei" pitchFamily="2" charset="-122"/>
                <a:ea typeface="Hei" pitchFamily="2" charset="-122"/>
                <a:cs typeface="Noto Sans SC"/>
                <a:sym typeface="Noto Sans SC"/>
              </a:rPr>
              <a:t>图示：三级CLOS网络拓扑结构（输入/中间/输出级）</a:t>
            </a:r>
            <a:endParaRPr lang="en-US" sz="1100" dirty="0">
              <a:latin typeface="Hei" pitchFamily="2" charset="-122"/>
              <a:ea typeface="Hei" pitchFamily="2" charset="-122"/>
            </a:endParaRPr>
          </a:p>
        </p:txBody>
      </p:sp>
      <p:sp>
        <p:nvSpPr>
          <p:cNvPr id="22" name="AutoShape 17">
            <a:extLst>
              <a:ext uri="{FF2B5EF4-FFF2-40B4-BE49-F238E27FC236}">
                <a16:creationId xmlns:a16="http://schemas.microsoft.com/office/drawing/2014/main" id="{2CAF656C-7B85-6E49-90DB-9D039F6BC3D7}"/>
              </a:ext>
            </a:extLst>
          </p:cNvPr>
          <p:cNvSpPr/>
          <p:nvPr/>
        </p:nvSpPr>
        <p:spPr>
          <a:xfrm>
            <a:off x="6519553" y="1524000"/>
            <a:ext cx="5027789" cy="3581400"/>
          </a:xfrm>
          <a:prstGeom prst="roundRect">
            <a:avLst>
              <a:gd name="adj" fmla="val 4761"/>
            </a:avLst>
          </a:prstGeom>
          <a:solidFill>
            <a:srgbClr val="FFFFFF">
              <a:alpha val="100000"/>
            </a:srgbClr>
          </a:solidFill>
          <a:ln w="25400" cap="flat" cmpd="sng">
            <a:noFill/>
            <a:prstDash val="solid"/>
            <a:round/>
          </a:ln>
          <a:effectLst>
            <a:outerShdw blurRad="254000" dist="101600" dir="2700000" algn="tl" rotWithShape="0">
              <a:srgbClr val="00BFFF">
                <a:alpha val="40000"/>
              </a:srgbClr>
            </a:outerShdw>
          </a:effectLst>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2050" name="Picture 2">
            <a:extLst>
              <a:ext uri="{FF2B5EF4-FFF2-40B4-BE49-F238E27FC236}">
                <a16:creationId xmlns:a16="http://schemas.microsoft.com/office/drawing/2014/main" id="{FE43BED5-592F-9B4E-B1B0-D4FE4E098B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9553" y="1779567"/>
            <a:ext cx="5027789"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3794"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50F1E">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CLOS架构：数学模型与无阻塞特性</a:t>
            </a:r>
            <a:endParaRPr lang="en-US" sz="1100" dirty="0">
              <a:latin typeface="Hei" pitchFamily="2" charset="-122"/>
              <a:ea typeface="Hei" pitchFamily="2" charset="-122"/>
            </a:endParaRPr>
          </a:p>
        </p:txBody>
      </p:sp>
      <p:sp>
        <p:nvSpPr>
          <p:cNvPr id="5" name="AutoShape 5"/>
          <p:cNvSpPr/>
          <p:nvPr/>
        </p:nvSpPr>
        <p:spPr>
          <a:xfrm>
            <a:off x="762000" y="1650999"/>
            <a:ext cx="5080000" cy="2160979"/>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solidFill>
                <a:schemeClr val="bg1"/>
              </a:solidFill>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841500"/>
            <a:ext cx="406400" cy="406400"/>
          </a:xfrm>
          <a:prstGeom prst="rect">
            <a:avLst/>
          </a:prstGeom>
        </p:spPr>
      </p:pic>
      <p:sp>
        <p:nvSpPr>
          <p:cNvPr id="7" name="AutoShape 7"/>
          <p:cNvSpPr/>
          <p:nvPr/>
        </p:nvSpPr>
        <p:spPr>
          <a:xfrm>
            <a:off x="1460500" y="1803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严格非阻塞 (Strict Non-blocking)</a:t>
            </a:r>
            <a:endParaRPr lang="en-US" sz="1100" dirty="0">
              <a:latin typeface="Hei" pitchFamily="2" charset="-122"/>
              <a:ea typeface="Hei" pitchFamily="2" charset="-122"/>
            </a:endParaRPr>
          </a:p>
        </p:txBody>
      </p:sp>
      <p:sp>
        <p:nvSpPr>
          <p:cNvPr id="8" name="AutoShape 8"/>
          <p:cNvSpPr/>
          <p:nvPr/>
        </p:nvSpPr>
        <p:spPr>
          <a:xfrm>
            <a:off x="1460500" y="2184400"/>
            <a:ext cx="4191000" cy="635000"/>
          </a:xfrm>
          <a:prstGeom prst="rect">
            <a:avLst/>
          </a:prstGeom>
          <a:noFill/>
          <a:ln w="12700" cap="flat" cmpd="sng">
            <a:noFill/>
            <a:prstDash val="solid"/>
            <a:round/>
          </a:ln>
        </p:spPr>
        <p:txBody>
          <a:bodyPr vert="horz" wrap="square" lIns="0" tIns="0" rIns="0" bIns="0" rtlCol="0" anchor="ctr" anchorCtr="0"/>
          <a:lstStyle/>
          <a:p>
            <a:pPr>
              <a:defRPr/>
            </a:pPr>
            <a:r>
              <a:rPr lang="en-US" sz="2400" b="1" i="0" u="none" strike="noStrike" dirty="0">
                <a:solidFill>
                  <a:srgbClr val="DCDCDC"/>
                </a:solidFill>
                <a:latin typeface="Hei" pitchFamily="2" charset="-122"/>
                <a:ea typeface="Hei" pitchFamily="2" charset="-122"/>
                <a:cs typeface="Noto Sans SC"/>
                <a:sym typeface="Noto Sans SC"/>
              </a:rPr>
              <a:t>m ≥ 2n - 1</a:t>
            </a:r>
            <a:endParaRPr lang="en-US" sz="1600" b="1" dirty="0">
              <a:latin typeface="Hei" pitchFamily="2" charset="-122"/>
              <a:ea typeface="Hei" pitchFamily="2" charset="-122"/>
            </a:endParaRPr>
          </a:p>
        </p:txBody>
      </p:sp>
      <p:sp>
        <p:nvSpPr>
          <p:cNvPr id="9" name="AutoShape 9"/>
          <p:cNvSpPr/>
          <p:nvPr/>
        </p:nvSpPr>
        <p:spPr>
          <a:xfrm>
            <a:off x="762000" y="4319403"/>
            <a:ext cx="5080000" cy="2160979"/>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509904"/>
            <a:ext cx="406400" cy="406400"/>
          </a:xfrm>
          <a:prstGeom prst="rect">
            <a:avLst/>
          </a:prstGeom>
        </p:spPr>
      </p:pic>
      <p:sp>
        <p:nvSpPr>
          <p:cNvPr id="11" name="AutoShape 11"/>
          <p:cNvSpPr/>
          <p:nvPr/>
        </p:nvSpPr>
        <p:spPr>
          <a:xfrm>
            <a:off x="1460500" y="4471804"/>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可重排非阻塞 (Rearrangeable)</a:t>
            </a:r>
            <a:endParaRPr lang="en-US" sz="1100" dirty="0">
              <a:latin typeface="Hei" pitchFamily="2" charset="-122"/>
              <a:ea typeface="Hei" pitchFamily="2" charset="-122"/>
            </a:endParaRPr>
          </a:p>
        </p:txBody>
      </p:sp>
      <p:sp>
        <p:nvSpPr>
          <p:cNvPr id="12" name="AutoShape 12"/>
          <p:cNvSpPr/>
          <p:nvPr/>
        </p:nvSpPr>
        <p:spPr>
          <a:xfrm>
            <a:off x="1460500" y="5590393"/>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600" b="0" i="0" u="none" strike="noStrike" dirty="0">
                <a:solidFill>
                  <a:srgbClr val="DCDCDC"/>
                </a:solidFill>
                <a:latin typeface="Hei" pitchFamily="2" charset="-122"/>
                <a:ea typeface="Hei" pitchFamily="2" charset="-122"/>
                <a:cs typeface="Noto Sans SC"/>
                <a:sym typeface="Noto Sans SC"/>
              </a:rPr>
              <a:t>如果允许系统通过重新分配（重排）已有的连接路径来满足新的请求，则非阻塞的条件可以放宽，从而提升硬件利用率。</a:t>
            </a:r>
          </a:p>
        </p:txBody>
      </p:sp>
      <p:sp>
        <p:nvSpPr>
          <p:cNvPr id="13" name="AutoShape 13"/>
          <p:cNvSpPr/>
          <p:nvPr/>
        </p:nvSpPr>
        <p:spPr>
          <a:xfrm>
            <a:off x="6350000" y="1651000"/>
            <a:ext cx="5080000" cy="1778000"/>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1841500"/>
            <a:ext cx="406400" cy="406400"/>
          </a:xfrm>
          <a:prstGeom prst="rect">
            <a:avLst/>
          </a:prstGeom>
        </p:spPr>
      </p:pic>
      <p:sp>
        <p:nvSpPr>
          <p:cNvPr id="15" name="AutoShape 15"/>
          <p:cNvSpPr/>
          <p:nvPr/>
        </p:nvSpPr>
        <p:spPr>
          <a:xfrm>
            <a:off x="7048500" y="1803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复杂度与成本优势</a:t>
            </a:r>
            <a:endParaRPr lang="en-US" sz="1100" dirty="0">
              <a:latin typeface="Hei" pitchFamily="2" charset="-122"/>
              <a:ea typeface="Hei" pitchFamily="2" charset="-122"/>
            </a:endParaRPr>
          </a:p>
        </p:txBody>
      </p:sp>
      <p:sp>
        <p:nvSpPr>
          <p:cNvPr id="16" name="AutoShape 16"/>
          <p:cNvSpPr/>
          <p:nvPr/>
        </p:nvSpPr>
        <p:spPr>
          <a:xfrm>
            <a:off x="6845300" y="2501900"/>
            <a:ext cx="4191000" cy="635000"/>
          </a:xfrm>
          <a:prstGeom prst="rect">
            <a:avLst/>
          </a:prstGeom>
          <a:noFill/>
          <a:ln w="12700" cap="flat" cmpd="sng">
            <a:noFill/>
            <a:prstDash val="solid"/>
            <a:round/>
          </a:ln>
        </p:spPr>
        <p:txBody>
          <a:bodyPr vert="horz" wrap="square" lIns="0" tIns="0" rIns="0" bIns="0" rtlCol="0" anchor="ctr" anchorCtr="0"/>
          <a:lstStyle/>
          <a:p>
            <a:pPr>
              <a:defRPr/>
            </a:pPr>
            <a:r>
              <a:rPr lang="en-US" sz="1600" b="0" i="0" u="none" strike="noStrike" dirty="0">
                <a:solidFill>
                  <a:srgbClr val="DCDCDC"/>
                </a:solidFill>
                <a:latin typeface="Hei" pitchFamily="2" charset="-122"/>
                <a:ea typeface="Hei" pitchFamily="2" charset="-122"/>
                <a:cs typeface="Noto Sans SC"/>
                <a:sym typeface="Noto Sans SC"/>
              </a:rPr>
              <a:t>多级CLOS架构的交叉点数量远少于单级Crossbar，显著降低硬件成本。</a:t>
            </a:r>
            <a:r>
              <a:rPr lang="zh-CN" altLang="en-US" sz="1600" b="0" i="0" u="none" strike="noStrike" dirty="0">
                <a:solidFill>
                  <a:srgbClr val="DCDCDC"/>
                </a:solidFill>
                <a:latin typeface="Hei" pitchFamily="2" charset="-122"/>
                <a:ea typeface="Hei" pitchFamily="2" charset="-122"/>
                <a:cs typeface="Noto Sans SC"/>
                <a:sym typeface="Noto Sans SC"/>
              </a:rPr>
              <a:t>当 </a:t>
            </a:r>
            <a:r>
              <a:rPr lang="en-US" sz="1600" b="0" i="0" u="none" strike="noStrike" dirty="0">
                <a:solidFill>
                  <a:srgbClr val="DCDCDC"/>
                </a:solidFill>
                <a:latin typeface="Hei" pitchFamily="2" charset="-122"/>
                <a:ea typeface="Hei" pitchFamily="2" charset="-122"/>
                <a:cs typeface="Noto Sans SC"/>
                <a:sym typeface="Noto Sans SC"/>
              </a:rPr>
              <a:t>N </a:t>
            </a:r>
            <a:r>
              <a:rPr lang="zh-CN" altLang="en-US" sz="1600" b="0" i="0" u="none" strike="noStrike" dirty="0">
                <a:solidFill>
                  <a:srgbClr val="DCDCDC"/>
                </a:solidFill>
                <a:latin typeface="Hei" pitchFamily="2" charset="-122"/>
                <a:ea typeface="Hei" pitchFamily="2" charset="-122"/>
                <a:cs typeface="Noto Sans SC"/>
                <a:sym typeface="Noto Sans SC"/>
              </a:rPr>
              <a:t>足够大时，多级交换的优势呈指数级增长</a:t>
            </a:r>
            <a:endParaRPr lang="en-US" sz="1100" dirty="0">
              <a:latin typeface="Hei" pitchFamily="2" charset="-122"/>
              <a:ea typeface="Hei" pitchFamily="2" charset="-122"/>
            </a:endParaRPr>
          </a:p>
        </p:txBody>
      </p:sp>
      <p:sp>
        <p:nvSpPr>
          <p:cNvPr id="19" name="AutoShape 12">
            <a:extLst>
              <a:ext uri="{FF2B5EF4-FFF2-40B4-BE49-F238E27FC236}">
                <a16:creationId xmlns:a16="http://schemas.microsoft.com/office/drawing/2014/main" id="{6529F593-B265-5A49-B2B1-6C920658BA0A}"/>
              </a:ext>
            </a:extLst>
          </p:cNvPr>
          <p:cNvSpPr/>
          <p:nvPr/>
        </p:nvSpPr>
        <p:spPr>
          <a:xfrm>
            <a:off x="1155700" y="2921330"/>
            <a:ext cx="4191000" cy="635000"/>
          </a:xfrm>
          <a:prstGeom prst="rect">
            <a:avLst/>
          </a:prstGeom>
          <a:noFill/>
          <a:ln w="12700" cap="flat" cmpd="sng">
            <a:noFill/>
            <a:prstDash val="solid"/>
            <a:round/>
          </a:ln>
        </p:spPr>
        <p:txBody>
          <a:bodyPr vert="horz" wrap="square" lIns="0" tIns="0" rIns="0" bIns="0" rtlCol="0" anchor="ctr" anchorCtr="0"/>
          <a:lstStyle/>
          <a:p>
            <a:pPr>
              <a:defRPr/>
            </a:pPr>
            <a:r>
              <a:rPr lang="en-US" sz="1600" b="0" i="0" u="none" strike="noStrike" dirty="0">
                <a:solidFill>
                  <a:srgbClr val="DCDCDC"/>
                </a:solidFill>
                <a:latin typeface="Noto Sans SC"/>
                <a:ea typeface="Noto Sans SC"/>
                <a:cs typeface="Noto Sans SC"/>
                <a:sym typeface="Noto Sans SC"/>
              </a:rPr>
              <a:t>无论网络状态如何，总能建立新连接。 </a:t>
            </a:r>
            <a:r>
              <a:rPr lang="zh-CN" altLang="en-US" sz="1600" b="0" i="0" u="none" strike="noStrike" dirty="0">
                <a:solidFill>
                  <a:srgbClr val="DCDCDC"/>
                </a:solidFill>
                <a:latin typeface="Noto Sans SC"/>
                <a:ea typeface="Noto Sans SC"/>
                <a:cs typeface="Noto Sans SC"/>
                <a:sym typeface="Noto Sans SC"/>
              </a:rPr>
              <a:t>确保任意时刻的新连接请求都能被满足。</a:t>
            </a:r>
            <a:endParaRPr lang="en-US" sz="1100" dirty="0">
              <a:latin typeface="Hei" pitchFamily="2" charset="-122"/>
              <a:ea typeface="Hei" pitchFamily="2" charset="-122"/>
            </a:endParaRPr>
          </a:p>
        </p:txBody>
      </p:sp>
      <p:sp>
        <p:nvSpPr>
          <p:cNvPr id="20" name="AutoShape 8">
            <a:extLst>
              <a:ext uri="{FF2B5EF4-FFF2-40B4-BE49-F238E27FC236}">
                <a16:creationId xmlns:a16="http://schemas.microsoft.com/office/drawing/2014/main" id="{DEEB3D5B-BF63-8348-9AD3-8F0B85D2A41C}"/>
              </a:ext>
            </a:extLst>
          </p:cNvPr>
          <p:cNvSpPr/>
          <p:nvPr/>
        </p:nvSpPr>
        <p:spPr>
          <a:xfrm>
            <a:off x="1460500" y="4852804"/>
            <a:ext cx="4191000" cy="635000"/>
          </a:xfrm>
          <a:prstGeom prst="rect">
            <a:avLst/>
          </a:prstGeom>
          <a:noFill/>
          <a:ln w="12700" cap="flat" cmpd="sng">
            <a:noFill/>
            <a:prstDash val="solid"/>
            <a:round/>
          </a:ln>
        </p:spPr>
        <p:txBody>
          <a:bodyPr vert="horz" wrap="square" lIns="0" tIns="0" rIns="0" bIns="0" rtlCol="0" anchor="ctr" anchorCtr="0"/>
          <a:lstStyle/>
          <a:p>
            <a:pPr>
              <a:defRPr/>
            </a:pPr>
            <a:r>
              <a:rPr lang="en-US" sz="2400" b="1" i="0" u="none" strike="noStrike" dirty="0">
                <a:solidFill>
                  <a:srgbClr val="DCDCDC"/>
                </a:solidFill>
                <a:latin typeface="Hei" pitchFamily="2" charset="-122"/>
                <a:ea typeface="Hei" pitchFamily="2" charset="-122"/>
                <a:cs typeface="Noto Sans SC"/>
                <a:sym typeface="Noto Sans SC"/>
              </a:rPr>
              <a:t>m ≥ n</a:t>
            </a:r>
            <a:endParaRPr lang="en-US" sz="1600" b="1" dirty="0">
              <a:latin typeface="Hei" pitchFamily="2" charset="-122"/>
              <a:ea typeface="Hei" pitchFamily="2" charset="-122"/>
            </a:endParaRPr>
          </a:p>
        </p:txBody>
      </p:sp>
      <p:graphicFrame>
        <p:nvGraphicFramePr>
          <p:cNvPr id="21" name="Table 5">
            <a:extLst>
              <a:ext uri="{FF2B5EF4-FFF2-40B4-BE49-F238E27FC236}">
                <a16:creationId xmlns:a16="http://schemas.microsoft.com/office/drawing/2014/main" id="{C751E9BB-EABA-5346-9648-CDDF376D2C5C}"/>
              </a:ext>
            </a:extLst>
          </p:cNvPr>
          <p:cNvGraphicFramePr>
            <a:graphicFrameLocks noGrp="1"/>
          </p:cNvGraphicFramePr>
          <p:nvPr>
            <p:extLst>
              <p:ext uri="{D42A27DB-BD31-4B8C-83A1-F6EECF244321}">
                <p14:modId xmlns:p14="http://schemas.microsoft.com/office/powerpoint/2010/main" val="673970271"/>
              </p:ext>
            </p:extLst>
          </p:nvPr>
        </p:nvGraphicFramePr>
        <p:xfrm>
          <a:off x="6350000" y="3721908"/>
          <a:ext cx="5079999" cy="2758474"/>
        </p:xfrm>
        <a:graphic>
          <a:graphicData uri="http://schemas.openxmlformats.org/drawingml/2006/table">
            <a:tbl>
              <a:tblPr>
                <a:effectLst/>
              </a:tblPr>
              <a:tblGrid>
                <a:gridCol w="1440213">
                  <a:extLst>
                    <a:ext uri="{9D8B030D-6E8A-4147-A177-3AD203B41FA5}">
                      <a16:colId xmlns:a16="http://schemas.microsoft.com/office/drawing/2014/main" val="20000"/>
                    </a:ext>
                  </a:extLst>
                </a:gridCol>
                <a:gridCol w="1644072">
                  <a:extLst>
                    <a:ext uri="{9D8B030D-6E8A-4147-A177-3AD203B41FA5}">
                      <a16:colId xmlns:a16="http://schemas.microsoft.com/office/drawing/2014/main" val="20001"/>
                    </a:ext>
                  </a:extLst>
                </a:gridCol>
                <a:gridCol w="1995714">
                  <a:extLst>
                    <a:ext uri="{9D8B030D-6E8A-4147-A177-3AD203B41FA5}">
                      <a16:colId xmlns:a16="http://schemas.microsoft.com/office/drawing/2014/main" val="20002"/>
                    </a:ext>
                  </a:extLst>
                </a:gridCol>
              </a:tblGrid>
              <a:tr h="546416">
                <a:tc>
                  <a:txBody>
                    <a:bodyPr/>
                    <a:lstStyle/>
                    <a:p>
                      <a:pPr indent="0" algn="ctr">
                        <a:lnSpc>
                          <a:spcPct val="100000"/>
                        </a:lnSpc>
                        <a:defRPr/>
                      </a:pPr>
                      <a:r>
                        <a:rPr lang="en-US" sz="2000" b="1" i="0" u="none" strike="noStrike" dirty="0">
                          <a:solidFill>
                            <a:srgbClr val="00BFFF"/>
                          </a:solidFill>
                          <a:latin typeface="Noto Sans SC"/>
                          <a:ea typeface="Noto Sans SC"/>
                          <a:cs typeface="Noto Sans SC"/>
                          <a:sym typeface="Noto Sans SC"/>
                        </a:rPr>
                        <a:t>架构类型</a:t>
                      </a:r>
                      <a:endParaRPr lang="en-US" sz="1100" dirty="0"/>
                    </a:p>
                  </a:txBody>
                  <a:tcPr marL="101600" marR="101600" marT="101600" marB="101600" anchor="ctr">
                    <a:lnL>
                      <a:noFill/>
                    </a:lnL>
                    <a:lnR>
                      <a:noFill/>
                    </a:lnR>
                    <a:lnT>
                      <a:noFill/>
                    </a:lnT>
                    <a:lnB w="25400" cap="flat" cmpd="sng" algn="ctr">
                      <a:solidFill>
                        <a:srgbClr val="00BFFF"/>
                      </a:solidFill>
                      <a:prstDash val="solid"/>
                      <a:round/>
                      <a:headEnd type="none" w="med" len="med"/>
                      <a:tailEnd type="none" w="med" len="med"/>
                    </a:lnB>
                    <a:solidFill>
                      <a:srgbClr val="00BFFF">
                        <a:alpha val="20000"/>
                      </a:srgbClr>
                    </a:solidFill>
                  </a:tcPr>
                </a:tc>
                <a:tc>
                  <a:txBody>
                    <a:bodyPr/>
                    <a:lstStyle/>
                    <a:p>
                      <a:pPr indent="0" algn="ctr">
                        <a:lnSpc>
                          <a:spcPct val="100000"/>
                        </a:lnSpc>
                        <a:defRPr/>
                      </a:pPr>
                      <a:r>
                        <a:rPr lang="en-US" sz="2000" b="1" i="0" u="none" strike="noStrike" dirty="0">
                          <a:solidFill>
                            <a:srgbClr val="00BFFF"/>
                          </a:solidFill>
                          <a:latin typeface="Noto Sans SC"/>
                          <a:sym typeface="Noto Sans SC"/>
                        </a:rPr>
                        <a:t>单级CrossBar</a:t>
                      </a:r>
                      <a:endParaRPr lang="en-US" sz="1100" dirty="0"/>
                    </a:p>
                  </a:txBody>
                  <a:tcPr marL="101600" marR="101600" marT="101600" marB="101600" anchor="ctr">
                    <a:lnL>
                      <a:noFill/>
                    </a:lnL>
                    <a:lnR>
                      <a:noFill/>
                    </a:lnR>
                    <a:lnT>
                      <a:noFill/>
                    </a:lnT>
                    <a:lnB w="25400" cap="flat" cmpd="sng" algn="ctr">
                      <a:solidFill>
                        <a:srgbClr val="00BFFF"/>
                      </a:solidFill>
                      <a:prstDash val="solid"/>
                      <a:round/>
                      <a:headEnd type="none" w="med" len="med"/>
                      <a:tailEnd type="none" w="med" len="med"/>
                    </a:lnB>
                    <a:solidFill>
                      <a:srgbClr val="00BFFF">
                        <a:alpha val="20000"/>
                      </a:srgbClr>
                    </a:solidFill>
                  </a:tcPr>
                </a:tc>
                <a:tc>
                  <a:txBody>
                    <a:bodyPr/>
                    <a:lstStyle/>
                    <a:p>
                      <a:pPr indent="0" algn="ctr">
                        <a:lnSpc>
                          <a:spcPct val="100000"/>
                        </a:lnSpc>
                        <a:defRPr/>
                      </a:pPr>
                      <a:r>
                        <a:rPr lang="en-US" altLang="zh-CN" sz="2000" b="1" i="0" u="none" strike="noStrike" dirty="0">
                          <a:solidFill>
                            <a:srgbClr val="00BFFF"/>
                          </a:solidFill>
                          <a:latin typeface="Noto Sans SC"/>
                          <a:ea typeface="Noto Sans SC"/>
                          <a:cs typeface="Noto Sans SC"/>
                          <a:sym typeface="Noto Sans SC"/>
                        </a:rPr>
                        <a:t>3</a:t>
                      </a:r>
                      <a:r>
                        <a:rPr lang="zh-CN" altLang="en-US" sz="2000" b="1" i="0" u="none" strike="noStrike" dirty="0">
                          <a:solidFill>
                            <a:srgbClr val="00BFFF"/>
                          </a:solidFill>
                          <a:latin typeface="Noto Sans SC"/>
                          <a:ea typeface="Noto Sans SC"/>
                          <a:cs typeface="Noto Sans SC"/>
                          <a:sym typeface="Noto Sans SC"/>
                        </a:rPr>
                        <a:t>级严格</a:t>
                      </a:r>
                      <a:r>
                        <a:rPr lang="en-US" altLang="zh-CN" sz="2000" b="1" i="0" u="none" strike="noStrike" dirty="0">
                          <a:solidFill>
                            <a:srgbClr val="00BFFF"/>
                          </a:solidFill>
                          <a:latin typeface="Noto Sans SC"/>
                          <a:ea typeface="Noto Sans SC"/>
                          <a:cs typeface="Noto Sans SC"/>
                          <a:sym typeface="Noto Sans SC"/>
                        </a:rPr>
                        <a:t>CLOS</a:t>
                      </a:r>
                      <a:endParaRPr lang="en-US" sz="1100" dirty="0"/>
                    </a:p>
                  </a:txBody>
                  <a:tcPr marL="101600" marR="101600" marT="101600" marB="101600" anchor="ctr">
                    <a:lnL>
                      <a:noFill/>
                    </a:lnL>
                    <a:lnR>
                      <a:noFill/>
                    </a:lnR>
                    <a:lnT>
                      <a:noFill/>
                    </a:lnT>
                    <a:lnB w="25400" cap="flat" cmpd="sng" algn="ctr">
                      <a:solidFill>
                        <a:srgbClr val="00BFFF"/>
                      </a:solidFill>
                      <a:prstDash val="solid"/>
                      <a:round/>
                      <a:headEnd type="none" w="med" len="med"/>
                      <a:tailEnd type="none" w="med" len="med"/>
                    </a:lnB>
                    <a:solidFill>
                      <a:srgbClr val="00BFFF">
                        <a:alpha val="20000"/>
                      </a:srgbClr>
                    </a:solidFill>
                  </a:tcPr>
                </a:tc>
                <a:extLst>
                  <a:ext uri="{0D108BD9-81ED-4DB2-BD59-A6C34878D82A}">
                    <a16:rowId xmlns:a16="http://schemas.microsoft.com/office/drawing/2014/main" val="10000"/>
                  </a:ext>
                </a:extLst>
              </a:tr>
              <a:tr h="721657">
                <a:tc>
                  <a:txBody>
                    <a:bodyPr/>
                    <a:lstStyle/>
                    <a:p>
                      <a:pPr indent="0" algn="ctr">
                        <a:lnSpc>
                          <a:spcPct val="100000"/>
                        </a:lnSpc>
                        <a:defRPr/>
                      </a:pPr>
                      <a:r>
                        <a:rPr lang="en-US" sz="1800" b="1" i="0" u="none" strike="noStrike" dirty="0">
                          <a:solidFill>
                            <a:srgbClr val="CCCCCC"/>
                          </a:solidFill>
                          <a:latin typeface="Noto Sans SC"/>
                          <a:ea typeface="Noto Sans SC"/>
                          <a:cs typeface="Noto Sans SC"/>
                          <a:sym typeface="Noto Sans SC"/>
                        </a:rPr>
                        <a:t>交叉点总数</a:t>
                      </a:r>
                      <a:endParaRPr lang="en-US" sz="1100" dirty="0"/>
                    </a:p>
                  </a:txBody>
                  <a:tcPr marL="101600" marR="101600" marT="101600" marB="101600" anchor="ctr">
                    <a:lnL>
                      <a:noFill/>
                    </a:lnL>
                    <a:lnR>
                      <a:noFill/>
                    </a:lnR>
                    <a:lnT w="25400" cap="flat" cmpd="sng" algn="ctr">
                      <a:solidFill>
                        <a:srgbClr val="00B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800" b="0" i="0" u="none" strike="noStrike" dirty="0">
                          <a:solidFill>
                            <a:srgbClr val="FFFFFF"/>
                          </a:solidFill>
                          <a:latin typeface="Noto Sans SC"/>
                          <a:sym typeface="Noto Sans SC"/>
                        </a:rPr>
                        <a:t>N</a:t>
                      </a:r>
                      <a:r>
                        <a:rPr lang="en-US" altLang="zh-CN" sz="1800" b="0" i="0" u="none" strike="noStrike" baseline="30000" dirty="0">
                          <a:solidFill>
                            <a:srgbClr val="FFFFFF"/>
                          </a:solidFill>
                          <a:latin typeface="Noto Sans SC"/>
                          <a:sym typeface="Noto Sans SC"/>
                        </a:rPr>
                        <a:t>2</a:t>
                      </a:r>
                      <a:endParaRPr lang="en-US" sz="1100" dirty="0"/>
                    </a:p>
                  </a:txBody>
                  <a:tcPr marL="101600" marR="101600" marT="101600" marB="101600" anchor="ctr">
                    <a:lnL>
                      <a:noFill/>
                    </a:lnL>
                    <a:lnR>
                      <a:noFill/>
                    </a:lnR>
                    <a:lnT w="25400" cap="flat" cmpd="sng" algn="ctr">
                      <a:solidFill>
                        <a:srgbClr val="00B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dirty="0">
                          <a:solidFill>
                            <a:srgbClr val="FFFFFF"/>
                          </a:solidFill>
                          <a:latin typeface="Noto Sans SC"/>
                          <a:ea typeface="Noto Sans SC"/>
                          <a:cs typeface="Noto Sans SC"/>
                          <a:sym typeface="Noto Sans SC"/>
                        </a:rPr>
                        <a:t>3n</a:t>
                      </a:r>
                      <a:r>
                        <a:rPr lang="en-US" altLang="zh-CN" sz="1800" b="0" i="0" u="none" strike="noStrike" baseline="30000" dirty="0">
                          <a:solidFill>
                            <a:srgbClr val="FFFFFF"/>
                          </a:solidFill>
                          <a:latin typeface="Noto Sans SC"/>
                          <a:ea typeface="Noto Sans SC"/>
                          <a:cs typeface="Noto Sans SC"/>
                          <a:sym typeface="Noto Sans SC"/>
                        </a:rPr>
                        <a:t>2</a:t>
                      </a:r>
                      <a:r>
                        <a:rPr lang="en-US" sz="1800" b="0" i="0" u="none" strike="noStrike" dirty="0">
                          <a:solidFill>
                            <a:srgbClr val="FFFFFF"/>
                          </a:solidFill>
                          <a:latin typeface="Noto Sans SC"/>
                          <a:ea typeface="Noto Sans SC"/>
                          <a:cs typeface="Noto Sans SC"/>
                          <a:sym typeface="Noto Sans SC"/>
                        </a:rPr>
                        <a:t>(2n-1)</a:t>
                      </a:r>
                      <a:endParaRPr lang="en-US" sz="1100" dirty="0"/>
                    </a:p>
                  </a:txBody>
                  <a:tcPr marL="101600" marR="101600" marT="101600" marB="101600" anchor="ctr">
                    <a:lnL>
                      <a:noFill/>
                    </a:lnL>
                    <a:lnR>
                      <a:noFill/>
                    </a:lnR>
                    <a:lnT w="25400" cap="flat" cmpd="sng" algn="ctr">
                      <a:solidFill>
                        <a:srgbClr val="00B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1"/>
                  </a:ext>
                </a:extLst>
              </a:tr>
              <a:tr h="984965">
                <a:tc>
                  <a:txBody>
                    <a:bodyPr/>
                    <a:lstStyle/>
                    <a:p>
                      <a:pPr indent="0" algn="ctr">
                        <a:lnSpc>
                          <a:spcPct val="100000"/>
                        </a:lnSpc>
                        <a:defRPr/>
                      </a:pPr>
                      <a:r>
                        <a:rPr lang="zh-CN" altLang="en-US" sz="1800" b="1" i="0" u="none" strike="noStrike" dirty="0">
                          <a:solidFill>
                            <a:srgbClr val="CCCCCC"/>
                          </a:solidFill>
                          <a:latin typeface="Noto Sans SC"/>
                          <a:ea typeface="Noto Sans SC"/>
                          <a:cs typeface="Noto Sans SC"/>
                          <a:sym typeface="Noto Sans SC"/>
                        </a:rPr>
                        <a:t>示例</a:t>
                      </a:r>
                      <a:endParaRPr lang="en-US" altLang="zh-CN" sz="1800" b="1" i="0" u="none" strike="noStrike" dirty="0">
                        <a:solidFill>
                          <a:srgbClr val="CCCCCC"/>
                        </a:solidFill>
                        <a:latin typeface="Noto Sans SC"/>
                        <a:ea typeface="Noto Sans SC"/>
                        <a:cs typeface="Noto Sans SC"/>
                        <a:sym typeface="Noto Sans SC"/>
                      </a:endParaRPr>
                    </a:p>
                    <a:p>
                      <a:pPr indent="0" algn="ctr">
                        <a:lnSpc>
                          <a:spcPct val="100000"/>
                        </a:lnSpc>
                        <a:defRPr/>
                      </a:pPr>
                      <a:r>
                        <a:rPr lang="zh-CN" altLang="en-US" sz="1800" b="1" i="0" u="none" strike="noStrike" dirty="0">
                          <a:solidFill>
                            <a:srgbClr val="CCCCCC"/>
                          </a:solidFill>
                          <a:latin typeface="Noto Sans SC"/>
                          <a:ea typeface="Noto Sans SC"/>
                          <a:cs typeface="Noto Sans SC"/>
                          <a:sym typeface="Noto Sans SC"/>
                        </a:rPr>
                        <a:t> </a:t>
                      </a:r>
                      <a:r>
                        <a:rPr lang="en-US" altLang="zh-CN" sz="1400" b="1" i="0" u="none" strike="noStrike" dirty="0">
                          <a:solidFill>
                            <a:srgbClr val="CCCCCC"/>
                          </a:solidFill>
                          <a:latin typeface="Noto Sans SC"/>
                          <a:ea typeface="Noto Sans SC"/>
                          <a:cs typeface="Noto Sans SC"/>
                          <a:sym typeface="Noto Sans SC"/>
                        </a:rPr>
                        <a:t>(</a:t>
                      </a:r>
                      <a:r>
                        <a:rPr lang="en-US" sz="1400" b="1" i="0" u="none" strike="noStrike" dirty="0">
                          <a:solidFill>
                            <a:srgbClr val="CCCCCC"/>
                          </a:solidFill>
                          <a:latin typeface="Noto Sans SC"/>
                          <a:ea typeface="Noto Sans SC"/>
                          <a:cs typeface="Noto Sans SC"/>
                          <a:sym typeface="Noto Sans SC"/>
                        </a:rPr>
                        <a:t>N=1024, n=32)</a:t>
                      </a:r>
                      <a:endParaRPr lang="en-US" sz="1100" dirty="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dirty="0">
                          <a:solidFill>
                            <a:srgbClr val="FFFFFF"/>
                          </a:solidFill>
                          <a:latin typeface="Noto Sans SC"/>
                          <a:ea typeface="Noto Sans SC"/>
                          <a:cs typeface="Noto Sans SC"/>
                          <a:sym typeface="Noto Sans SC"/>
                        </a:rPr>
                        <a:t>1,048,576</a:t>
                      </a:r>
                      <a:endParaRPr lang="en-US" sz="1100" dirty="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sz="1800" b="0" i="0" u="none" strike="noStrike" dirty="0">
                          <a:solidFill>
                            <a:srgbClr val="FFFFFF"/>
                          </a:solidFill>
                          <a:latin typeface="Noto Sans SC"/>
                          <a:ea typeface="Noto Sans SC"/>
                          <a:cs typeface="Noto Sans SC"/>
                          <a:sym typeface="Noto Sans SC"/>
                        </a:rPr>
                        <a:t>约 </a:t>
                      </a:r>
                      <a:r>
                        <a:rPr lang="en-US" altLang="zh-CN" sz="1800" b="0" i="0" u="none" strike="noStrike" dirty="0">
                          <a:solidFill>
                            <a:srgbClr val="FFFFFF"/>
                          </a:solidFill>
                          <a:latin typeface="Noto Sans SC"/>
                          <a:ea typeface="Noto Sans SC"/>
                          <a:cs typeface="Noto Sans SC"/>
                          <a:sym typeface="Noto Sans SC"/>
                        </a:rPr>
                        <a:t>196,608</a:t>
                      </a:r>
                      <a:endParaRPr lang="en-US" sz="1100" dirty="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505436">
                <a:tc>
                  <a:txBody>
                    <a:bodyPr/>
                    <a:lstStyle/>
                    <a:p>
                      <a:pPr indent="0" algn="ctr">
                        <a:lnSpc>
                          <a:spcPct val="100000"/>
                        </a:lnSpc>
                        <a:defRPr/>
                      </a:pPr>
                      <a:r>
                        <a:rPr lang="en-US" sz="1800" b="1" i="0" u="none" strike="noStrike" dirty="0">
                          <a:solidFill>
                            <a:srgbClr val="CCCCCC"/>
                          </a:solidFill>
                          <a:latin typeface="Noto Sans SC"/>
                          <a:ea typeface="Noto Sans SC"/>
                          <a:cs typeface="Noto Sans SC"/>
                          <a:sym typeface="Noto Sans SC"/>
                        </a:rPr>
                        <a:t>复杂度</a:t>
                      </a:r>
                      <a:endParaRPr lang="en-US" sz="1100" dirty="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altLang="zh-CN" sz="1800" b="0" i="0" u="none" strike="noStrike" dirty="0">
                          <a:solidFill>
                            <a:srgbClr val="FFFFFF"/>
                          </a:solidFill>
                          <a:latin typeface="Noto Sans SC"/>
                          <a:sym typeface="Noto Sans SC"/>
                        </a:rPr>
                        <a:t>O(</a:t>
                      </a:r>
                      <a:r>
                        <a:rPr lang="en-US" sz="1800" b="0" i="0" u="none" strike="noStrike" dirty="0">
                          <a:solidFill>
                            <a:srgbClr val="FFFFFF"/>
                          </a:solidFill>
                          <a:latin typeface="Noto Sans SC"/>
                          <a:sym typeface="Noto Sans SC"/>
                        </a:rPr>
                        <a:t>N</a:t>
                      </a:r>
                      <a:r>
                        <a:rPr lang="en-US" altLang="zh-CN" sz="1800" b="0" i="0" u="none" strike="noStrike" baseline="30000" dirty="0">
                          <a:solidFill>
                            <a:srgbClr val="FFFFFF"/>
                          </a:solidFill>
                          <a:latin typeface="Noto Sans SC"/>
                          <a:sym typeface="Noto Sans SC"/>
                        </a:rPr>
                        <a:t>2</a:t>
                      </a:r>
                      <a:r>
                        <a:rPr lang="en-US" altLang="zh-CN" sz="1800" b="0" i="0" u="none" strike="noStrike" dirty="0">
                          <a:solidFill>
                            <a:srgbClr val="FFFFFF"/>
                          </a:solidFill>
                          <a:latin typeface="Noto Sans SC"/>
                          <a:sym typeface="Noto Sans SC"/>
                        </a:rPr>
                        <a:t>)</a:t>
                      </a:r>
                      <a:endParaRPr lang="en-US" sz="1100" dirty="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800" b="0" i="0" u="none" strike="noStrike" dirty="0">
                          <a:solidFill>
                            <a:srgbClr val="FFFFFF"/>
                          </a:solidFill>
                          <a:latin typeface="Noto Sans SC"/>
                          <a:ea typeface="Noto Sans SC"/>
                          <a:cs typeface="Noto Sans SC"/>
                          <a:sym typeface="Noto Sans SC"/>
                        </a:rPr>
                        <a:t>O(</a:t>
                      </a:r>
                      <a:r>
                        <a:rPr lang="en-US" sz="1800" b="0" i="0" u="none" strike="noStrike" dirty="0">
                          <a:solidFill>
                            <a:srgbClr val="FFFFFF"/>
                          </a:solidFill>
                          <a:latin typeface="Noto Sans SC"/>
                          <a:ea typeface="Noto Sans SC"/>
                          <a:cs typeface="Noto Sans SC"/>
                          <a:sym typeface="Noto Sans SC"/>
                        </a:rPr>
                        <a:t>N</a:t>
                      </a:r>
                      <a:r>
                        <a:rPr lang="en-US" altLang="zh-CN" sz="1800" b="0" i="0" u="none" strike="noStrike" baseline="30000" dirty="0">
                          <a:solidFill>
                            <a:srgbClr val="FFFFFF"/>
                          </a:solidFill>
                          <a:latin typeface="Noto Sans SC"/>
                          <a:ea typeface="Noto Sans SC"/>
                          <a:cs typeface="Noto Sans SC"/>
                          <a:sym typeface="Noto Sans SC"/>
                        </a:rPr>
                        <a:t>1.5</a:t>
                      </a:r>
                      <a:r>
                        <a:rPr lang="en-US" altLang="zh-CN" sz="1800" b="0" i="0" u="none" strike="noStrike" dirty="0">
                          <a:solidFill>
                            <a:srgbClr val="FFFFFF"/>
                          </a:solidFill>
                          <a:latin typeface="Noto Sans SC"/>
                          <a:ea typeface="Noto Sans SC"/>
                          <a:cs typeface="Noto Sans SC"/>
                          <a:sym typeface="Noto Sans SC"/>
                        </a:rPr>
                        <a:t>)</a:t>
                      </a:r>
                      <a:endParaRPr lang="en-US" sz="1100" dirty="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11074400" cy="635000"/>
          </a:xfrm>
          <a:prstGeom prst="rect">
            <a:avLst/>
          </a:prstGeom>
          <a:noFill/>
          <a:ln w="12700" cap="flat" cmpd="sng">
            <a:noFill/>
            <a:prstDash val="solid"/>
            <a:round/>
          </a:ln>
        </p:spPr>
        <p:txBody>
          <a:bodyPr vert="horz" wrap="none" lIns="0" tIns="0" rIns="0" bIns="0" rtlCol="0" anchor="ctr" anchorCtr="0"/>
          <a:lstStyle/>
          <a:p>
            <a:pPr>
              <a:lnSpc>
                <a:spcPct val="125000"/>
              </a:lnSpc>
              <a:defRPr/>
            </a:pPr>
            <a:r>
              <a:rPr lang="en-US" sz="3600" b="1" dirty="0">
                <a:solidFill>
                  <a:srgbClr val="00BFFF"/>
                </a:solidFill>
                <a:latin typeface="Hei" pitchFamily="2" charset="-122"/>
                <a:ea typeface="Hei" pitchFamily="2" charset="-122"/>
                <a:sym typeface="Noto Sans SC"/>
              </a:rPr>
              <a:t>传统</a:t>
            </a:r>
            <a:r>
              <a:rPr lang="zh-CN" altLang="en-US" sz="3600" b="1" dirty="0">
                <a:solidFill>
                  <a:srgbClr val="00BFFF"/>
                </a:solidFill>
                <a:latin typeface="Hei" pitchFamily="2" charset="-122"/>
                <a:ea typeface="Hei" pitchFamily="2" charset="-122"/>
                <a:sym typeface="Noto Sans SC"/>
              </a:rPr>
              <a:t> </a:t>
            </a:r>
            <a:r>
              <a:rPr lang="en-US" altLang="zh-CN" sz="3600" b="1" dirty="0">
                <a:solidFill>
                  <a:srgbClr val="00BFFF"/>
                </a:solidFill>
                <a:latin typeface="Hei" pitchFamily="2" charset="-122"/>
                <a:ea typeface="Hei" pitchFamily="2" charset="-122"/>
                <a:sym typeface="Noto Sans SC"/>
              </a:rPr>
              <a:t>CLOS</a:t>
            </a:r>
            <a:r>
              <a:rPr lang="zh-CN" altLang="en-US" sz="3600" b="1" dirty="0">
                <a:solidFill>
                  <a:srgbClr val="00BFFF"/>
                </a:solidFill>
                <a:latin typeface="Hei" pitchFamily="2" charset="-122"/>
                <a:ea typeface="Hei" pitchFamily="2" charset="-122"/>
                <a:sym typeface="Noto Sans SC"/>
              </a:rPr>
              <a:t>  </a:t>
            </a:r>
            <a:r>
              <a:rPr lang="en-US" altLang="zh-CN" sz="3600" b="1" dirty="0">
                <a:solidFill>
                  <a:srgbClr val="00BFFF"/>
                </a:solidFill>
                <a:latin typeface="Hei" pitchFamily="2" charset="-122"/>
                <a:ea typeface="Hei" pitchFamily="2" charset="-122"/>
                <a:sym typeface="Noto Sans SC"/>
              </a:rPr>
              <a:t>vs.</a:t>
            </a:r>
            <a:r>
              <a:rPr lang="zh-CN" altLang="en-US" sz="3600" b="1" dirty="0">
                <a:solidFill>
                  <a:srgbClr val="00BFFF"/>
                </a:solidFill>
                <a:latin typeface="Hei" pitchFamily="2" charset="-122"/>
                <a:ea typeface="Hei" pitchFamily="2" charset="-122"/>
                <a:sym typeface="Noto Sans SC"/>
              </a:rPr>
              <a:t> 折叠 </a:t>
            </a:r>
            <a:r>
              <a:rPr lang="en-US" altLang="zh-CN" sz="3600" b="1" dirty="0">
                <a:solidFill>
                  <a:srgbClr val="00BFFF"/>
                </a:solidFill>
                <a:latin typeface="Hei" pitchFamily="2" charset="-122"/>
                <a:ea typeface="Hei" pitchFamily="2" charset="-122"/>
                <a:sym typeface="Noto Sans SC"/>
              </a:rPr>
              <a:t>CLOS</a:t>
            </a:r>
            <a:r>
              <a:rPr lang="zh-CN" altLang="en-US" sz="3600" b="1" dirty="0">
                <a:solidFill>
                  <a:srgbClr val="00BFFF"/>
                </a:solidFill>
                <a:latin typeface="Hei" pitchFamily="2" charset="-122"/>
                <a:ea typeface="Hei" pitchFamily="2" charset="-122"/>
                <a:sym typeface="Noto Sans SC"/>
              </a:rPr>
              <a:t> 架构</a:t>
            </a:r>
            <a:endParaRPr lang="en-US" sz="1100" dirty="0">
              <a:latin typeface="Hei" pitchFamily="2" charset="-122"/>
              <a:ea typeface="Hei" pitchFamily="2" charset="-122"/>
            </a:endParaRPr>
          </a:p>
        </p:txBody>
      </p:sp>
      <p:sp>
        <p:nvSpPr>
          <p:cNvPr id="5" name="AutoShape 5"/>
          <p:cNvSpPr/>
          <p:nvPr/>
        </p:nvSpPr>
        <p:spPr>
          <a:xfrm>
            <a:off x="762000" y="2032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CCCCCC"/>
                </a:solidFill>
                <a:latin typeface="Hei" pitchFamily="2" charset="-122"/>
                <a:ea typeface="Hei" pitchFamily="2" charset="-122"/>
                <a:cs typeface="Noto Sans SC"/>
                <a:sym typeface="Noto Sans SC"/>
              </a:rPr>
              <a:t>对比维度</a:t>
            </a:r>
            <a:endParaRPr lang="en-US" sz="1100" dirty="0">
              <a:latin typeface="Hei" pitchFamily="2" charset="-122"/>
              <a:ea typeface="Hei" pitchFamily="2" charset="-122"/>
            </a:endParaRPr>
          </a:p>
        </p:txBody>
      </p:sp>
      <p:sp>
        <p:nvSpPr>
          <p:cNvPr id="6" name="AutoShape 6"/>
          <p:cNvSpPr/>
          <p:nvPr/>
        </p:nvSpPr>
        <p:spPr>
          <a:xfrm>
            <a:off x="3302000" y="2032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传统CLOS架构 (电路交换)</a:t>
            </a:r>
            <a:endParaRPr lang="en-US" sz="1100" dirty="0">
              <a:latin typeface="Hei" pitchFamily="2" charset="-122"/>
              <a:ea typeface="Hei" pitchFamily="2" charset="-122"/>
            </a:endParaRPr>
          </a:p>
        </p:txBody>
      </p:sp>
      <p:sp>
        <p:nvSpPr>
          <p:cNvPr id="7" name="AutoShape 7"/>
          <p:cNvSpPr/>
          <p:nvPr/>
        </p:nvSpPr>
        <p:spPr>
          <a:xfrm>
            <a:off x="7366000" y="2032000"/>
            <a:ext cx="4176816"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现代数据中心CLOS架构 (分组交换)</a:t>
            </a:r>
            <a:endParaRPr lang="en-US" sz="1100" dirty="0">
              <a:latin typeface="Hei" pitchFamily="2" charset="-122"/>
              <a:ea typeface="Hei" pitchFamily="2" charset="-122"/>
            </a:endParaRPr>
          </a:p>
        </p:txBody>
      </p:sp>
      <p:cxnSp>
        <p:nvCxnSpPr>
          <p:cNvPr id="8" name="Connector 8"/>
          <p:cNvCxnSpPr/>
          <p:nvPr/>
        </p:nvCxnSpPr>
        <p:spPr>
          <a:xfrm rot="-4092">
            <a:off x="762004" y="2533650"/>
            <a:ext cx="10668000" cy="12700"/>
          </a:xfrm>
          <a:prstGeom prst="line">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nvSpPr>
        <p:spPr>
          <a:xfrm>
            <a:off x="762000" y="2730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应用场景</a:t>
            </a:r>
            <a:endParaRPr lang="en-US" sz="1100" dirty="0">
              <a:latin typeface="Hei" pitchFamily="2" charset="-122"/>
              <a:ea typeface="Hei" pitchFamily="2" charset="-122"/>
            </a:endParaRPr>
          </a:p>
        </p:txBody>
      </p:sp>
      <p:sp>
        <p:nvSpPr>
          <p:cNvPr id="10" name="AutoShape 10"/>
          <p:cNvSpPr/>
          <p:nvPr/>
        </p:nvSpPr>
        <p:spPr>
          <a:xfrm>
            <a:off x="3302000" y="2730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电话交换机</a:t>
            </a:r>
            <a:endParaRPr lang="en-US" sz="1100" dirty="0">
              <a:latin typeface="Hei" pitchFamily="2" charset="-122"/>
              <a:ea typeface="Hei" pitchFamily="2" charset="-122"/>
            </a:endParaRPr>
          </a:p>
        </p:txBody>
      </p:sp>
      <p:sp>
        <p:nvSpPr>
          <p:cNvPr id="11" name="AutoShape 11"/>
          <p:cNvSpPr/>
          <p:nvPr/>
        </p:nvSpPr>
        <p:spPr>
          <a:xfrm>
            <a:off x="7366000" y="2730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数据中心网络</a:t>
            </a:r>
            <a:endParaRPr lang="en-US" sz="1100" dirty="0">
              <a:latin typeface="Hei" pitchFamily="2" charset="-122"/>
              <a:ea typeface="Hei" pitchFamily="2" charset="-122"/>
            </a:endParaRPr>
          </a:p>
        </p:txBody>
      </p:sp>
      <p:cxnSp>
        <p:nvCxnSpPr>
          <p:cNvPr id="12" name="Connector 12"/>
          <p:cNvCxnSpPr/>
          <p:nvPr/>
        </p:nvCxnSpPr>
        <p:spPr>
          <a:xfrm rot="-4092">
            <a:off x="762004" y="3324185"/>
            <a:ext cx="10668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3" name="AutoShape 13"/>
          <p:cNvSpPr/>
          <p:nvPr/>
        </p:nvSpPr>
        <p:spPr>
          <a:xfrm>
            <a:off x="762000" y="3492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交换模式</a:t>
            </a:r>
            <a:endParaRPr lang="en-US" sz="1100" dirty="0">
              <a:latin typeface="Hei" pitchFamily="2" charset="-122"/>
              <a:ea typeface="Hei" pitchFamily="2" charset="-122"/>
            </a:endParaRPr>
          </a:p>
        </p:txBody>
      </p:sp>
      <p:sp>
        <p:nvSpPr>
          <p:cNvPr id="14" name="AutoShape 14"/>
          <p:cNvSpPr/>
          <p:nvPr/>
        </p:nvSpPr>
        <p:spPr>
          <a:xfrm>
            <a:off x="3302000" y="3492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面向连接的电路交换</a:t>
            </a:r>
            <a:endParaRPr lang="en-US" sz="1100" dirty="0">
              <a:latin typeface="Hei" pitchFamily="2" charset="-122"/>
              <a:ea typeface="Hei" pitchFamily="2" charset="-122"/>
            </a:endParaRPr>
          </a:p>
        </p:txBody>
      </p:sp>
      <p:sp>
        <p:nvSpPr>
          <p:cNvPr id="15" name="AutoShape 15"/>
          <p:cNvSpPr/>
          <p:nvPr/>
        </p:nvSpPr>
        <p:spPr>
          <a:xfrm>
            <a:off x="7366000" y="3492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无连接的分组交换</a:t>
            </a:r>
            <a:endParaRPr lang="en-US" sz="1100" dirty="0">
              <a:latin typeface="Hei" pitchFamily="2" charset="-122"/>
              <a:ea typeface="Hei" pitchFamily="2" charset="-122"/>
            </a:endParaRPr>
          </a:p>
        </p:txBody>
      </p:sp>
      <p:cxnSp>
        <p:nvCxnSpPr>
          <p:cNvPr id="16" name="Connector 16"/>
          <p:cNvCxnSpPr/>
          <p:nvPr/>
        </p:nvCxnSpPr>
        <p:spPr>
          <a:xfrm rot="-4092">
            <a:off x="762004" y="4057650"/>
            <a:ext cx="10668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7" name="AutoShape 17"/>
          <p:cNvSpPr/>
          <p:nvPr/>
        </p:nvSpPr>
        <p:spPr>
          <a:xfrm>
            <a:off x="762000" y="42545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实现方式</a:t>
            </a:r>
            <a:endParaRPr lang="en-US" sz="1100" dirty="0">
              <a:latin typeface="Hei" pitchFamily="2" charset="-122"/>
              <a:ea typeface="Hei" pitchFamily="2" charset="-122"/>
            </a:endParaRPr>
          </a:p>
        </p:txBody>
      </p:sp>
      <p:sp>
        <p:nvSpPr>
          <p:cNvPr id="18" name="AutoShape 18"/>
          <p:cNvSpPr/>
          <p:nvPr/>
        </p:nvSpPr>
        <p:spPr>
          <a:xfrm>
            <a:off x="3302000" y="4254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物理上分为输入、中间、输出三级</a:t>
            </a:r>
            <a:endParaRPr lang="en-US" sz="1100" dirty="0">
              <a:latin typeface="Hei" pitchFamily="2" charset="-122"/>
              <a:ea typeface="Hei" pitchFamily="2" charset="-122"/>
            </a:endParaRPr>
          </a:p>
        </p:txBody>
      </p:sp>
      <p:sp>
        <p:nvSpPr>
          <p:cNvPr id="19" name="AutoShape 19"/>
          <p:cNvSpPr/>
          <p:nvPr/>
        </p:nvSpPr>
        <p:spPr>
          <a:xfrm>
            <a:off x="7366000" y="4254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逻辑上折叠为叶脊两层架构</a:t>
            </a:r>
            <a:endParaRPr lang="en-US" sz="1100" dirty="0">
              <a:latin typeface="Hei" pitchFamily="2" charset="-122"/>
              <a:ea typeface="Hei" pitchFamily="2" charset="-122"/>
            </a:endParaRPr>
          </a:p>
        </p:txBody>
      </p:sp>
      <p:cxnSp>
        <p:nvCxnSpPr>
          <p:cNvPr id="20" name="Connector 20"/>
          <p:cNvCxnSpPr/>
          <p:nvPr/>
        </p:nvCxnSpPr>
        <p:spPr>
          <a:xfrm rot="-4092">
            <a:off x="762004" y="4819650"/>
            <a:ext cx="10668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1" name="AutoShape 21"/>
          <p:cNvSpPr/>
          <p:nvPr/>
        </p:nvSpPr>
        <p:spPr>
          <a:xfrm>
            <a:off x="762000" y="5016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核心目标</a:t>
            </a:r>
            <a:endParaRPr lang="en-US" sz="1100" dirty="0">
              <a:latin typeface="Hei" pitchFamily="2" charset="-122"/>
              <a:ea typeface="Hei" pitchFamily="2" charset="-122"/>
            </a:endParaRPr>
          </a:p>
        </p:txBody>
      </p:sp>
      <p:sp>
        <p:nvSpPr>
          <p:cNvPr id="22" name="AutoShape 22"/>
          <p:cNvSpPr/>
          <p:nvPr/>
        </p:nvSpPr>
        <p:spPr>
          <a:xfrm>
            <a:off x="3302000" y="50165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降低交叉点成本，保证通话无阻塞</a:t>
            </a:r>
            <a:endParaRPr lang="en-US" sz="1100" dirty="0">
              <a:latin typeface="Hei" pitchFamily="2" charset="-122"/>
              <a:ea typeface="Hei" pitchFamily="2" charset="-122"/>
            </a:endParaRPr>
          </a:p>
        </p:txBody>
      </p:sp>
      <p:sp>
        <p:nvSpPr>
          <p:cNvPr id="23" name="AutoShape 23"/>
          <p:cNvSpPr/>
          <p:nvPr/>
        </p:nvSpPr>
        <p:spPr>
          <a:xfrm>
            <a:off x="7366000" y="50165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CCCCCC"/>
                </a:solidFill>
                <a:latin typeface="Hei" pitchFamily="2" charset="-122"/>
                <a:ea typeface="Hei" pitchFamily="2" charset="-122"/>
                <a:cs typeface="Noto Sans SC"/>
                <a:sym typeface="Noto Sans SC"/>
              </a:rPr>
              <a:t>实现高带宽、低延迟、高扩展性的数据转发</a:t>
            </a:r>
            <a:endParaRPr lang="en-US" sz="1100" dirty="0">
              <a:latin typeface="Hei" pitchFamily="2" charset="-122"/>
              <a:ea typeface="Hei"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81020">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618343"/>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叶脊架构详解 - 工程实现</a:t>
            </a:r>
            <a:endParaRPr lang="en-US" sz="1100" dirty="0">
              <a:latin typeface="Hei" pitchFamily="2" charset="-122"/>
              <a:ea typeface="Hei" pitchFamily="2" charset="-122"/>
            </a:endParaRPr>
          </a:p>
        </p:txBody>
      </p:sp>
      <p:sp>
        <p:nvSpPr>
          <p:cNvPr id="19" name="AutoShape 5">
            <a:extLst>
              <a:ext uri="{FF2B5EF4-FFF2-40B4-BE49-F238E27FC236}">
                <a16:creationId xmlns:a16="http://schemas.microsoft.com/office/drawing/2014/main" id="{D2AE7E3F-70D9-E947-B1D1-14628E2A3B87}"/>
              </a:ext>
            </a:extLst>
          </p:cNvPr>
          <p:cNvSpPr/>
          <p:nvPr/>
        </p:nvSpPr>
        <p:spPr>
          <a:xfrm>
            <a:off x="762000" y="1571006"/>
            <a:ext cx="3429990" cy="1600367"/>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solidFill>
                <a:schemeClr val="bg1"/>
              </a:solidFill>
              <a:latin typeface="Hei" pitchFamily="2" charset="-122"/>
              <a:ea typeface="Hei" pitchFamily="2" charset="-122"/>
            </a:endParaRPr>
          </a:p>
        </p:txBody>
      </p:sp>
      <p:sp>
        <p:nvSpPr>
          <p:cNvPr id="21" name="AutoShape 7">
            <a:extLst>
              <a:ext uri="{FF2B5EF4-FFF2-40B4-BE49-F238E27FC236}">
                <a16:creationId xmlns:a16="http://schemas.microsoft.com/office/drawing/2014/main" id="{364EE2A1-D04A-F944-8156-CB124E65A2F0}"/>
              </a:ext>
            </a:extLst>
          </p:cNvPr>
          <p:cNvSpPr/>
          <p:nvPr/>
        </p:nvSpPr>
        <p:spPr>
          <a:xfrm>
            <a:off x="1460500" y="1723407"/>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Leaf </a:t>
            </a:r>
            <a:r>
              <a:rPr lang="zh-CN" altLang="en-US" sz="2000" b="1" i="0" u="none" strike="noStrike" dirty="0">
                <a:solidFill>
                  <a:srgbClr val="00BFFF"/>
                </a:solidFill>
                <a:latin typeface="Hei" pitchFamily="2" charset="-122"/>
                <a:ea typeface="Hei" pitchFamily="2" charset="-122"/>
                <a:cs typeface="Noto Sans SC"/>
                <a:sym typeface="Noto Sans SC"/>
              </a:rPr>
              <a:t>层（接入层）</a:t>
            </a:r>
          </a:p>
        </p:txBody>
      </p:sp>
      <p:sp>
        <p:nvSpPr>
          <p:cNvPr id="23" name="AutoShape 12">
            <a:extLst>
              <a:ext uri="{FF2B5EF4-FFF2-40B4-BE49-F238E27FC236}">
                <a16:creationId xmlns:a16="http://schemas.microsoft.com/office/drawing/2014/main" id="{6529F593-B265-5A49-B2B1-6C920658BA0A}"/>
              </a:ext>
            </a:extLst>
          </p:cNvPr>
          <p:cNvSpPr/>
          <p:nvPr/>
        </p:nvSpPr>
        <p:spPr>
          <a:xfrm>
            <a:off x="1003299" y="2599870"/>
            <a:ext cx="303629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zh-CN" altLang="en-US" sz="1600" b="0" i="0" u="none" strike="noStrike" dirty="0">
                <a:solidFill>
                  <a:srgbClr val="DCDCDC"/>
                </a:solidFill>
                <a:latin typeface="Hei" pitchFamily="2" charset="-122"/>
                <a:ea typeface="Hei" pitchFamily="2" charset="-122"/>
                <a:cs typeface="Noto Sans SC"/>
                <a:sym typeface="Noto Sans SC"/>
              </a:rPr>
              <a:t>直接连接服务器、存储等终端设备，通过</a:t>
            </a:r>
            <a:r>
              <a:rPr lang="en-US" altLang="zh-CN" sz="1600" b="0" i="0" u="none" strike="noStrike" dirty="0">
                <a:solidFill>
                  <a:srgbClr val="DCDCDC"/>
                </a:solidFill>
                <a:latin typeface="Hei" pitchFamily="2" charset="-122"/>
                <a:ea typeface="Hei" pitchFamily="2" charset="-122"/>
                <a:cs typeface="Noto Sans SC"/>
                <a:sym typeface="Noto Sans SC"/>
              </a:rPr>
              <a:t>ECMP</a:t>
            </a:r>
            <a:r>
              <a:rPr lang="zh-CN" altLang="en-US" sz="1600" b="0" i="0" u="none" strike="noStrike" dirty="0">
                <a:solidFill>
                  <a:srgbClr val="DCDCDC"/>
                </a:solidFill>
                <a:latin typeface="Hei" pitchFamily="2" charset="-122"/>
                <a:ea typeface="Hei" pitchFamily="2" charset="-122"/>
                <a:cs typeface="Noto Sans SC"/>
                <a:sym typeface="Noto Sans SC"/>
              </a:rPr>
              <a:t>上联至所有</a:t>
            </a:r>
            <a:r>
              <a:rPr lang="en-US" altLang="zh-CN" sz="1600" b="0" i="0" u="none" strike="noStrike" dirty="0">
                <a:solidFill>
                  <a:srgbClr val="DCDCDC"/>
                </a:solidFill>
                <a:latin typeface="Hei" pitchFamily="2" charset="-122"/>
                <a:ea typeface="Hei" pitchFamily="2" charset="-122"/>
                <a:cs typeface="Noto Sans SC"/>
                <a:sym typeface="Noto Sans SC"/>
              </a:rPr>
              <a:t>Spine</a:t>
            </a:r>
            <a:r>
              <a:rPr lang="zh-CN" altLang="en-US" sz="1600" b="0" i="0" u="none" strike="noStrike" dirty="0">
                <a:solidFill>
                  <a:srgbClr val="DCDCDC"/>
                </a:solidFill>
                <a:latin typeface="Hei" pitchFamily="2" charset="-122"/>
                <a:ea typeface="Hei" pitchFamily="2" charset="-122"/>
                <a:cs typeface="Noto Sans SC"/>
                <a:sym typeface="Noto Sans SC"/>
              </a:rPr>
              <a:t>交换机，负责流量的接入。</a:t>
            </a:r>
          </a:p>
          <a:p>
            <a:pPr>
              <a:defRPr/>
            </a:pPr>
            <a:endParaRPr lang="zh-CN" altLang="en-US" sz="1600" b="0" i="0" u="none" strike="noStrike" dirty="0">
              <a:solidFill>
                <a:srgbClr val="DCDCDC"/>
              </a:solidFill>
              <a:latin typeface="Hei" pitchFamily="2" charset="-122"/>
              <a:ea typeface="Hei" pitchFamily="2" charset="-122"/>
              <a:cs typeface="Noto Sans SC"/>
              <a:sym typeface="Noto Sans SC"/>
            </a:endParaRPr>
          </a:p>
          <a:p>
            <a:pPr>
              <a:defRPr/>
            </a:pPr>
            <a:endParaRPr lang="en-US" sz="1100" dirty="0">
              <a:latin typeface="Hei" pitchFamily="2" charset="-122"/>
              <a:ea typeface="Hei" pitchFamily="2" charset="-122"/>
            </a:endParaRPr>
          </a:p>
        </p:txBody>
      </p:sp>
      <p:pic>
        <p:nvPicPr>
          <p:cNvPr id="24" name="Picture 8">
            <a:extLst>
              <a:ext uri="{FF2B5EF4-FFF2-40B4-BE49-F238E27FC236}">
                <a16:creationId xmlns:a16="http://schemas.microsoft.com/office/drawing/2014/main" id="{DDA1DB53-0E56-E540-A31A-5829029D82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3299" y="1761507"/>
            <a:ext cx="304800" cy="304800"/>
          </a:xfrm>
          <a:prstGeom prst="rect">
            <a:avLst/>
          </a:prstGeom>
        </p:spPr>
      </p:pic>
      <p:sp>
        <p:nvSpPr>
          <p:cNvPr id="25" name="AutoShape 5">
            <a:extLst>
              <a:ext uri="{FF2B5EF4-FFF2-40B4-BE49-F238E27FC236}">
                <a16:creationId xmlns:a16="http://schemas.microsoft.com/office/drawing/2014/main" id="{BEBDD723-A08A-D94C-B1C6-3B6651D03CA8}"/>
              </a:ext>
            </a:extLst>
          </p:cNvPr>
          <p:cNvSpPr/>
          <p:nvPr/>
        </p:nvSpPr>
        <p:spPr>
          <a:xfrm>
            <a:off x="762000" y="3489036"/>
            <a:ext cx="3429990" cy="1600367"/>
          </a:xfrm>
          <a:prstGeom prst="roundRect">
            <a:avLst>
              <a:gd name="adj" fmla="val 10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solidFill>
                <a:schemeClr val="bg1"/>
              </a:solidFill>
              <a:latin typeface="Hei" pitchFamily="2" charset="-122"/>
              <a:ea typeface="Hei" pitchFamily="2" charset="-122"/>
            </a:endParaRPr>
          </a:p>
        </p:txBody>
      </p:sp>
      <p:sp>
        <p:nvSpPr>
          <p:cNvPr id="26" name="AutoShape 7">
            <a:extLst>
              <a:ext uri="{FF2B5EF4-FFF2-40B4-BE49-F238E27FC236}">
                <a16:creationId xmlns:a16="http://schemas.microsoft.com/office/drawing/2014/main" id="{C2EEA08B-2C85-3A43-BE36-0FE3B96D1753}"/>
              </a:ext>
            </a:extLst>
          </p:cNvPr>
          <p:cNvSpPr/>
          <p:nvPr/>
        </p:nvSpPr>
        <p:spPr>
          <a:xfrm>
            <a:off x="1460500" y="3641437"/>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lang="en-US" altLang="zh-CN" sz="2000" b="1" i="0" u="none" strike="noStrike" dirty="0">
                <a:solidFill>
                  <a:srgbClr val="00BFFF"/>
                </a:solidFill>
                <a:latin typeface="Hei" pitchFamily="2" charset="-122"/>
                <a:ea typeface="Hei" pitchFamily="2" charset="-122"/>
                <a:cs typeface="Noto Sans SC"/>
                <a:sym typeface="Noto Sans SC"/>
              </a:rPr>
              <a:t>Spine</a:t>
            </a:r>
            <a:r>
              <a:rPr lang="en-US" sz="2000" b="1" i="0" u="none" strike="noStrike" dirty="0">
                <a:solidFill>
                  <a:srgbClr val="00BFFF"/>
                </a:solidFill>
                <a:latin typeface="Hei" pitchFamily="2" charset="-122"/>
                <a:ea typeface="Hei" pitchFamily="2" charset="-122"/>
                <a:cs typeface="Noto Sans SC"/>
                <a:sym typeface="Noto Sans SC"/>
              </a:rPr>
              <a:t> </a:t>
            </a:r>
            <a:r>
              <a:rPr lang="zh-CN" altLang="en-US" sz="2000" b="1" i="0" u="none" strike="noStrike" dirty="0">
                <a:solidFill>
                  <a:srgbClr val="00BFFF"/>
                </a:solidFill>
                <a:latin typeface="Hei" pitchFamily="2" charset="-122"/>
                <a:ea typeface="Hei" pitchFamily="2" charset="-122"/>
                <a:cs typeface="Noto Sans SC"/>
                <a:sym typeface="Noto Sans SC"/>
              </a:rPr>
              <a:t>层（骨干层）</a:t>
            </a:r>
          </a:p>
        </p:txBody>
      </p:sp>
      <p:sp>
        <p:nvSpPr>
          <p:cNvPr id="27" name="AutoShape 12">
            <a:extLst>
              <a:ext uri="{FF2B5EF4-FFF2-40B4-BE49-F238E27FC236}">
                <a16:creationId xmlns:a16="http://schemas.microsoft.com/office/drawing/2014/main" id="{7DBA80A5-0B7D-9A40-991D-F4D47C7B4C9B}"/>
              </a:ext>
            </a:extLst>
          </p:cNvPr>
          <p:cNvSpPr/>
          <p:nvPr/>
        </p:nvSpPr>
        <p:spPr>
          <a:xfrm>
            <a:off x="1155699" y="4441701"/>
            <a:ext cx="4390077"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endParaRPr lang="zh-CN" altLang="en-US" sz="1600" b="0" i="0" u="none" strike="noStrike" dirty="0">
              <a:solidFill>
                <a:srgbClr val="DCDCDC"/>
              </a:solidFill>
              <a:latin typeface="Hei" pitchFamily="2" charset="-122"/>
              <a:ea typeface="Hei" pitchFamily="2" charset="-122"/>
              <a:cs typeface="Noto Sans SC"/>
              <a:sym typeface="Noto Sans SC"/>
            </a:endParaRPr>
          </a:p>
          <a:p>
            <a:pPr>
              <a:defRPr/>
            </a:pPr>
            <a:endParaRPr lang="en-US" sz="1100" dirty="0">
              <a:latin typeface="Hei" pitchFamily="2" charset="-122"/>
              <a:ea typeface="Hei" pitchFamily="2" charset="-122"/>
            </a:endParaRPr>
          </a:p>
        </p:txBody>
      </p:sp>
      <p:pic>
        <p:nvPicPr>
          <p:cNvPr id="28" name="Picture 8">
            <a:extLst>
              <a:ext uri="{FF2B5EF4-FFF2-40B4-BE49-F238E27FC236}">
                <a16:creationId xmlns:a16="http://schemas.microsoft.com/office/drawing/2014/main" id="{D5890B1D-623B-AB4A-8A65-6497502990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3299" y="3679537"/>
            <a:ext cx="304800" cy="304800"/>
          </a:xfrm>
          <a:prstGeom prst="rect">
            <a:avLst/>
          </a:prstGeom>
        </p:spPr>
      </p:pic>
      <p:sp>
        <p:nvSpPr>
          <p:cNvPr id="29" name="AutoShape 12">
            <a:extLst>
              <a:ext uri="{FF2B5EF4-FFF2-40B4-BE49-F238E27FC236}">
                <a16:creationId xmlns:a16="http://schemas.microsoft.com/office/drawing/2014/main" id="{176C5BA0-154D-F643-BFCC-1D587304E8D8}"/>
              </a:ext>
            </a:extLst>
          </p:cNvPr>
          <p:cNvSpPr/>
          <p:nvPr/>
        </p:nvSpPr>
        <p:spPr>
          <a:xfrm>
            <a:off x="1003299" y="4303485"/>
            <a:ext cx="303629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zh-CN" altLang="en-US" sz="1600" b="0" i="0" u="none" strike="noStrike" dirty="0">
                <a:solidFill>
                  <a:srgbClr val="DCDCDC"/>
                </a:solidFill>
                <a:latin typeface="Hei" pitchFamily="2" charset="-122"/>
                <a:ea typeface="Hei" pitchFamily="2" charset="-122"/>
                <a:cs typeface="Noto Sans SC"/>
                <a:sym typeface="Noto Sans SC"/>
              </a:rPr>
              <a:t>不直接连接任何终端设备，而是作为所有 </a:t>
            </a:r>
            <a:r>
              <a:rPr lang="en-US" altLang="zh-CN" sz="1600" b="0" i="0" u="none" strike="noStrike" dirty="0">
                <a:solidFill>
                  <a:srgbClr val="DCDCDC"/>
                </a:solidFill>
                <a:latin typeface="Hei" pitchFamily="2" charset="-122"/>
                <a:ea typeface="Hei" pitchFamily="2" charset="-122"/>
                <a:cs typeface="Noto Sans SC"/>
                <a:sym typeface="Noto Sans SC"/>
              </a:rPr>
              <a:t>Leaf </a:t>
            </a:r>
            <a:r>
              <a:rPr lang="zh-CN" altLang="en-US" sz="1600" b="0" i="0" u="none" strike="noStrike" dirty="0">
                <a:solidFill>
                  <a:srgbClr val="DCDCDC"/>
                </a:solidFill>
                <a:latin typeface="Hei" pitchFamily="2" charset="-122"/>
                <a:ea typeface="Hei" pitchFamily="2" charset="-122"/>
                <a:cs typeface="Noto Sans SC"/>
                <a:sym typeface="Noto Sans SC"/>
              </a:rPr>
              <a:t>交换机的高速互联枢纽。</a:t>
            </a:r>
          </a:p>
        </p:txBody>
      </p:sp>
      <p:pic>
        <p:nvPicPr>
          <p:cNvPr id="2050" name="Picture 2">
            <a:extLst>
              <a:ext uri="{FF2B5EF4-FFF2-40B4-BE49-F238E27FC236}">
                <a16:creationId xmlns:a16="http://schemas.microsoft.com/office/drawing/2014/main" id="{A6235CC9-3E10-5343-BA33-91674D2EDE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2297" y="1571006"/>
            <a:ext cx="5684004" cy="3518397"/>
          </a:xfrm>
          <a:prstGeom prst="rect">
            <a:avLst/>
          </a:prstGeom>
          <a:noFill/>
          <a:extLst>
            <a:ext uri="{909E8E84-426E-40DD-AFC4-6F175D3DCCD1}">
              <a14:hiddenFill xmlns:a14="http://schemas.microsoft.com/office/drawing/2010/main">
                <a:solidFill>
                  <a:srgbClr val="FFFFFF"/>
                </a:solidFill>
              </a14:hiddenFill>
            </a:ext>
          </a:extLst>
        </p:spPr>
      </p:pic>
      <p:sp>
        <p:nvSpPr>
          <p:cNvPr id="31" name="AutoShape 18">
            <a:extLst>
              <a:ext uri="{FF2B5EF4-FFF2-40B4-BE49-F238E27FC236}">
                <a16:creationId xmlns:a16="http://schemas.microsoft.com/office/drawing/2014/main" id="{5CE80A21-CDFB-5541-A96D-7B2BBB80D317}"/>
              </a:ext>
            </a:extLst>
          </p:cNvPr>
          <p:cNvSpPr/>
          <p:nvPr/>
        </p:nvSpPr>
        <p:spPr>
          <a:xfrm>
            <a:off x="5908299" y="5216566"/>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a:solidFill>
                  <a:srgbClr val="FFFFFF">
                    <a:alpha val="60000"/>
                  </a:srgbClr>
                </a:solidFill>
                <a:latin typeface="Noto Sans SC"/>
                <a:ea typeface="Noto Sans SC"/>
                <a:cs typeface="Noto Sans SC"/>
                <a:sym typeface="Noto Sans SC"/>
              </a:rPr>
              <a:t>图：叶脊（Leaf-Spine）架构典型拓扑</a:t>
            </a:r>
            <a:r>
              <a:rPr lang="zh-CN" altLang="en-US" sz="1400" b="0" i="0" u="none" strike="noStrike" dirty="0">
                <a:solidFill>
                  <a:srgbClr val="FFFFFF">
                    <a:alpha val="60000"/>
                  </a:srgbClr>
                </a:solidFill>
                <a:latin typeface="Noto Sans SC"/>
                <a:ea typeface="Noto Sans SC"/>
                <a:cs typeface="Noto Sans SC"/>
                <a:sym typeface="Noto Sans SC"/>
              </a:rPr>
              <a:t>（</a:t>
            </a:r>
            <a:r>
              <a:rPr lang="en-US" altLang="zh-CN" sz="1400" b="0" i="0" u="none" strike="noStrike" dirty="0">
                <a:solidFill>
                  <a:srgbClr val="FFFFFF">
                    <a:alpha val="60000"/>
                  </a:srgbClr>
                </a:solidFill>
                <a:latin typeface="Noto Sans SC"/>
                <a:ea typeface="Noto Sans SC"/>
                <a:cs typeface="Noto Sans SC"/>
                <a:sym typeface="Noto Sans SC"/>
              </a:rPr>
              <a:t>Facebook</a:t>
            </a:r>
            <a:r>
              <a:rPr lang="zh-CN" altLang="en-US" sz="1400" b="0" i="0" u="none" strike="noStrike" dirty="0">
                <a:solidFill>
                  <a:srgbClr val="FFFFFF">
                    <a:alpha val="60000"/>
                  </a:srgbClr>
                </a:solidFill>
                <a:latin typeface="Noto Sans SC"/>
                <a:ea typeface="Noto Sans SC"/>
                <a:cs typeface="Noto Sans SC"/>
                <a:sym typeface="Noto Sans SC"/>
              </a:rPr>
              <a:t> 数据中心）</a:t>
            </a:r>
            <a:endParaRPr lang="en-US" sz="1100" dirty="0"/>
          </a:p>
        </p:txBody>
      </p:sp>
      <p:pic>
        <p:nvPicPr>
          <p:cNvPr id="32" name="Picture 14">
            <a:extLst>
              <a:ext uri="{FF2B5EF4-FFF2-40B4-BE49-F238E27FC236}">
                <a16:creationId xmlns:a16="http://schemas.microsoft.com/office/drawing/2014/main" id="{3BE8431B-F334-6A40-83A9-AE1F4AF685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708651"/>
            <a:ext cx="304800" cy="304800"/>
          </a:xfrm>
          <a:prstGeom prst="rect">
            <a:avLst/>
          </a:prstGeom>
        </p:spPr>
      </p:pic>
      <p:sp>
        <p:nvSpPr>
          <p:cNvPr id="33" name="AutoShape 15">
            <a:extLst>
              <a:ext uri="{FF2B5EF4-FFF2-40B4-BE49-F238E27FC236}">
                <a16:creationId xmlns:a16="http://schemas.microsoft.com/office/drawing/2014/main" id="{A26EF0A3-A983-3F4D-983F-E116F4A87FDB}"/>
              </a:ext>
            </a:extLst>
          </p:cNvPr>
          <p:cNvSpPr/>
          <p:nvPr/>
        </p:nvSpPr>
        <p:spPr>
          <a:xfrm>
            <a:off x="1143000" y="5657851"/>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Noto Sans SC"/>
                <a:ea typeface="Noto Sans SC"/>
                <a:cs typeface="Noto Sans SC"/>
                <a:sym typeface="Noto Sans SC"/>
              </a:rPr>
              <a:t>核心原则：ECMP 等价多路径</a:t>
            </a:r>
            <a:endParaRPr lang="en-US" sz="1100" dirty="0"/>
          </a:p>
        </p:txBody>
      </p:sp>
      <p:sp>
        <p:nvSpPr>
          <p:cNvPr id="34" name="AutoShape 16">
            <a:extLst>
              <a:ext uri="{FF2B5EF4-FFF2-40B4-BE49-F238E27FC236}">
                <a16:creationId xmlns:a16="http://schemas.microsoft.com/office/drawing/2014/main" id="{2523ACB3-6661-8745-BA32-40E623E56958}"/>
              </a:ext>
            </a:extLst>
          </p:cNvPr>
          <p:cNvSpPr/>
          <p:nvPr/>
        </p:nvSpPr>
        <p:spPr>
          <a:xfrm>
            <a:off x="1143000" y="6091797"/>
            <a:ext cx="9893301"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CCCCCC"/>
                </a:solidFill>
                <a:latin typeface="Noto Sans SC"/>
                <a:ea typeface="Noto Sans SC"/>
                <a:cs typeface="Noto Sans SC"/>
                <a:sym typeface="Noto Sans SC"/>
              </a:rPr>
              <a:t>任意两台服务器之间的通信路径长度完全一致，所有路径等价，实现流量负载均衡。</a:t>
            </a:r>
            <a:endParaRPr lang="en-US" sz="1100" dirty="0"/>
          </a:p>
        </p:txBody>
      </p:sp>
    </p:spTree>
    <p:extLst>
      <p:ext uri="{BB962C8B-B14F-4D97-AF65-F5344CB8AC3E}">
        <p14:creationId xmlns:p14="http://schemas.microsoft.com/office/powerpoint/2010/main" val="2171979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叶脊架构详解 - 核心特性</a:t>
            </a:r>
            <a:endParaRPr lang="en-US" sz="1100" dirty="0">
              <a:latin typeface="Hei" pitchFamily="2" charset="-122"/>
              <a:ea typeface="Hei" pitchFamily="2" charset="-122"/>
            </a:endParaRPr>
          </a:p>
        </p:txBody>
      </p:sp>
      <p:sp>
        <p:nvSpPr>
          <p:cNvPr id="5" name="AutoShape 5"/>
          <p:cNvSpPr/>
          <p:nvPr/>
        </p:nvSpPr>
        <p:spPr>
          <a:xfrm>
            <a:off x="762000" y="1714500"/>
            <a:ext cx="76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6" name="AutoShape 6"/>
          <p:cNvSpPr/>
          <p:nvPr/>
        </p:nvSpPr>
        <p:spPr>
          <a:xfrm>
            <a:off x="762000" y="2032000"/>
            <a:ext cx="5080000" cy="1651000"/>
          </a:xfrm>
          <a:prstGeom prst="roundRect">
            <a:avLst>
              <a:gd name="adj" fmla="val 7692"/>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22500"/>
            <a:ext cx="406400" cy="406400"/>
          </a:xfrm>
          <a:prstGeom prst="rect">
            <a:avLst/>
          </a:prstGeom>
        </p:spPr>
      </p:pic>
      <p:sp>
        <p:nvSpPr>
          <p:cNvPr id="8" name="AutoShape 8"/>
          <p:cNvSpPr/>
          <p:nvPr/>
        </p:nvSpPr>
        <p:spPr>
          <a:xfrm>
            <a:off x="1524000" y="2184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等价多路径（ECMP）</a:t>
            </a:r>
            <a:endParaRPr lang="en-US" sz="1100" dirty="0">
              <a:latin typeface="Hei" pitchFamily="2" charset="-122"/>
              <a:ea typeface="Hei" pitchFamily="2" charset="-122"/>
            </a:endParaRPr>
          </a:p>
        </p:txBody>
      </p:sp>
      <p:sp>
        <p:nvSpPr>
          <p:cNvPr id="9" name="AutoShape 9"/>
          <p:cNvSpPr/>
          <p:nvPr/>
        </p:nvSpPr>
        <p:spPr>
          <a:xfrm>
            <a:off x="1016000" y="2667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利用三层路由协议，在所有活跃链路上分发流量，实现链路带宽的最大化利用，理论上可达100%。</a:t>
            </a:r>
            <a:endParaRPr lang="en-US" sz="1100" dirty="0">
              <a:latin typeface="Hei" pitchFamily="2" charset="-122"/>
              <a:ea typeface="Hei" pitchFamily="2" charset="-122"/>
            </a:endParaRPr>
          </a:p>
        </p:txBody>
      </p:sp>
      <p:sp>
        <p:nvSpPr>
          <p:cNvPr id="10" name="AutoShape 10"/>
          <p:cNvSpPr/>
          <p:nvPr/>
        </p:nvSpPr>
        <p:spPr>
          <a:xfrm>
            <a:off x="762000" y="3937000"/>
            <a:ext cx="5080000" cy="1651000"/>
          </a:xfrm>
          <a:prstGeom prst="roundRect">
            <a:avLst>
              <a:gd name="adj" fmla="val 7692"/>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127500"/>
            <a:ext cx="406400" cy="406400"/>
          </a:xfrm>
          <a:prstGeom prst="rect">
            <a:avLst/>
          </a:prstGeom>
        </p:spPr>
      </p:pic>
      <p:sp>
        <p:nvSpPr>
          <p:cNvPr id="12" name="AutoShape 12"/>
          <p:cNvSpPr/>
          <p:nvPr/>
        </p:nvSpPr>
        <p:spPr>
          <a:xfrm>
            <a:off x="1524000" y="408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东西向流量优化</a:t>
            </a:r>
            <a:endParaRPr lang="en-US" sz="1100" dirty="0">
              <a:latin typeface="Hei" pitchFamily="2" charset="-122"/>
              <a:ea typeface="Hei" pitchFamily="2" charset="-122"/>
            </a:endParaRPr>
          </a:p>
        </p:txBody>
      </p:sp>
      <p:sp>
        <p:nvSpPr>
          <p:cNvPr id="13" name="AutoShape 13"/>
          <p:cNvSpPr/>
          <p:nvPr/>
        </p:nvSpPr>
        <p:spPr>
          <a:xfrm>
            <a:off x="1016000" y="4572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扁平拓扑缩短通信路径，有效解决“微阻塞”和“入向拥塞”，适配大规模并行计算需求。</a:t>
            </a:r>
            <a:endParaRPr lang="en-US" sz="1100" dirty="0">
              <a:latin typeface="Hei" pitchFamily="2" charset="-122"/>
              <a:ea typeface="Hei" pitchFamily="2" charset="-122"/>
            </a:endParaRPr>
          </a:p>
        </p:txBody>
      </p:sp>
      <p:sp>
        <p:nvSpPr>
          <p:cNvPr id="14" name="AutoShape 14"/>
          <p:cNvSpPr/>
          <p:nvPr/>
        </p:nvSpPr>
        <p:spPr>
          <a:xfrm>
            <a:off x="6350000" y="2032000"/>
            <a:ext cx="4826000" cy="2921000"/>
          </a:xfrm>
          <a:prstGeom prst="roundRect">
            <a:avLst>
              <a:gd name="adj" fmla="val 4347"/>
            </a:avLst>
          </a:prstGeom>
          <a:solidFill>
            <a:srgbClr val="FFF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5" name="Picture 15"/>
          <p:cNvPicPr>
            <a:picLocks noChangeAspect="1"/>
          </p:cNvPicPr>
          <p:nvPr/>
        </p:nvPicPr>
        <p:blipFill>
          <a:blip r:embed="rId8"/>
          <a:srcRect/>
          <a:stretch>
            <a:fillRect/>
          </a:stretch>
        </p:blipFill>
        <p:spPr>
          <a:xfrm>
            <a:off x="6477000" y="2197100"/>
            <a:ext cx="4572000" cy="2571750"/>
          </a:xfrm>
          <a:prstGeom prst="roundRect">
            <a:avLst>
              <a:gd name="adj" fmla="val 4938"/>
            </a:avLst>
          </a:prstGeom>
          <a:noFill/>
          <a:ln w="25400" cap="flat" cmpd="sng">
            <a:noFill/>
            <a:prstDash val="solid"/>
            <a:round/>
          </a:ln>
        </p:spPr>
      </p:pic>
      <p:sp>
        <p:nvSpPr>
          <p:cNvPr id="16" name="AutoShape 16"/>
          <p:cNvSpPr/>
          <p:nvPr/>
        </p:nvSpPr>
        <p:spPr>
          <a:xfrm>
            <a:off x="6350000" y="5080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a:solidFill>
                  <a:srgbClr val="00BFFF"/>
                </a:solidFill>
                <a:latin typeface="Hei" pitchFamily="2" charset="-122"/>
                <a:ea typeface="Hei" pitchFamily="2" charset="-122"/>
                <a:cs typeface="Noto Sans SC"/>
                <a:sym typeface="Noto Sans SC"/>
              </a:rPr>
              <a:t>图：ECMP 流量分发与路径选择原理</a:t>
            </a:r>
            <a:endParaRPr lang="en-US" sz="1100" dirty="0">
              <a:latin typeface="Hei" pitchFamily="2" charset="-122"/>
              <a:ea typeface="Hei"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223">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635000"/>
            <a:ext cx="7543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叶脊架构详解 - 优势分析</a:t>
            </a:r>
            <a:endParaRPr lang="en-US" sz="1100" dirty="0">
              <a:latin typeface="Hei" pitchFamily="2" charset="-122"/>
              <a:ea typeface="Hei" pitchFamily="2" charset="-122"/>
            </a:endParaRPr>
          </a:p>
        </p:txBody>
      </p:sp>
      <p:sp>
        <p:nvSpPr>
          <p:cNvPr id="5" name="AutoShape 5"/>
          <p:cNvSpPr/>
          <p:nvPr/>
        </p:nvSpPr>
        <p:spPr>
          <a:xfrm>
            <a:off x="762000" y="1905000"/>
            <a:ext cx="3302000" cy="3302000"/>
          </a:xfrm>
          <a:prstGeom prst="roundRect">
            <a:avLst>
              <a:gd name="adj" fmla="val 384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8200" y="2159000"/>
            <a:ext cx="609600" cy="609600"/>
          </a:xfrm>
          <a:prstGeom prst="rect">
            <a:avLst/>
          </a:prstGeom>
        </p:spPr>
      </p:pic>
      <p:sp>
        <p:nvSpPr>
          <p:cNvPr id="7" name="AutoShape 7"/>
          <p:cNvSpPr/>
          <p:nvPr/>
        </p:nvSpPr>
        <p:spPr>
          <a:xfrm>
            <a:off x="889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水平扩展性</a:t>
            </a:r>
            <a:endParaRPr lang="en-US" sz="1100" dirty="0">
              <a:latin typeface="Hei" pitchFamily="2" charset="-122"/>
              <a:ea typeface="Hei" pitchFamily="2" charset="-122"/>
            </a:endParaRPr>
          </a:p>
        </p:txBody>
      </p:sp>
      <p:sp>
        <p:nvSpPr>
          <p:cNvPr id="8" name="AutoShape 8"/>
          <p:cNvSpPr/>
          <p:nvPr/>
        </p:nvSpPr>
        <p:spPr>
          <a:xfrm>
            <a:off x="889000" y="34290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采用模块化设计，可通过增加Leaf或Spine交换机实现无缝扩展，避免了传统架构的“叉车式升级”。</a:t>
            </a:r>
            <a:endParaRPr lang="en-US" sz="1100" dirty="0">
              <a:latin typeface="Hei" pitchFamily="2" charset="-122"/>
              <a:ea typeface="Hei" pitchFamily="2" charset="-122"/>
            </a:endParaRPr>
          </a:p>
        </p:txBody>
      </p:sp>
      <p:sp>
        <p:nvSpPr>
          <p:cNvPr id="9" name="AutoShape 9"/>
          <p:cNvSpPr/>
          <p:nvPr/>
        </p:nvSpPr>
        <p:spPr>
          <a:xfrm>
            <a:off x="4445000" y="1905000"/>
            <a:ext cx="3302000" cy="3302000"/>
          </a:xfrm>
          <a:prstGeom prst="roundRect">
            <a:avLst>
              <a:gd name="adj" fmla="val 384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91200" y="2159000"/>
            <a:ext cx="609600" cy="609600"/>
          </a:xfrm>
          <a:prstGeom prst="rect">
            <a:avLst/>
          </a:prstGeom>
        </p:spPr>
      </p:pic>
      <p:sp>
        <p:nvSpPr>
          <p:cNvPr id="11" name="AutoShape 11"/>
          <p:cNvSpPr/>
          <p:nvPr/>
        </p:nvSpPr>
        <p:spPr>
          <a:xfrm>
            <a:off x="4572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低延迟与高可靠</a:t>
            </a:r>
            <a:endParaRPr lang="en-US" sz="1100" dirty="0">
              <a:latin typeface="Hei" pitchFamily="2" charset="-122"/>
              <a:ea typeface="Hei" pitchFamily="2" charset="-122"/>
            </a:endParaRPr>
          </a:p>
        </p:txBody>
      </p:sp>
      <p:sp>
        <p:nvSpPr>
          <p:cNvPr id="12" name="AutoShape 12"/>
          <p:cNvSpPr/>
          <p:nvPr/>
        </p:nvSpPr>
        <p:spPr>
          <a:xfrm>
            <a:off x="4572000" y="34290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任意节点间存在多条路径，单故障只会导致带宽下降，配合快速收敛技术，可实现毫秒级故障恢复。</a:t>
            </a:r>
            <a:endParaRPr lang="en-US" sz="1100" dirty="0">
              <a:latin typeface="Hei" pitchFamily="2" charset="-122"/>
              <a:ea typeface="Hei" pitchFamily="2" charset="-122"/>
            </a:endParaRPr>
          </a:p>
        </p:txBody>
      </p:sp>
      <p:sp>
        <p:nvSpPr>
          <p:cNvPr id="13" name="AutoShape 13"/>
          <p:cNvSpPr/>
          <p:nvPr/>
        </p:nvSpPr>
        <p:spPr>
          <a:xfrm>
            <a:off x="8128000" y="1905000"/>
            <a:ext cx="3302000" cy="3302000"/>
          </a:xfrm>
          <a:prstGeom prst="roundRect">
            <a:avLst>
              <a:gd name="adj" fmla="val 384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4200" y="2159000"/>
            <a:ext cx="609600" cy="609600"/>
          </a:xfrm>
          <a:prstGeom prst="rect">
            <a:avLst/>
          </a:prstGeom>
        </p:spPr>
      </p:pic>
      <p:sp>
        <p:nvSpPr>
          <p:cNvPr id="15" name="AutoShape 15"/>
          <p:cNvSpPr/>
          <p:nvPr/>
        </p:nvSpPr>
        <p:spPr>
          <a:xfrm>
            <a:off x="8255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故障域隔离</a:t>
            </a:r>
            <a:endParaRPr lang="en-US" sz="1100" dirty="0">
              <a:latin typeface="Hei" pitchFamily="2" charset="-122"/>
              <a:ea typeface="Hei" pitchFamily="2" charset="-122"/>
            </a:endParaRPr>
          </a:p>
        </p:txBody>
      </p:sp>
      <p:sp>
        <p:nvSpPr>
          <p:cNvPr id="16" name="AutoShape 16"/>
          <p:cNvSpPr/>
          <p:nvPr/>
        </p:nvSpPr>
        <p:spPr>
          <a:xfrm>
            <a:off x="8255000" y="34290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通过三层逻辑隔离，将故障限制在单个Leaf机架内，提升了网络的整体韧性。</a:t>
            </a:r>
            <a:endParaRPr lang="en-US" sz="1100" dirty="0">
              <a:latin typeface="Hei" pitchFamily="2" charset="-122"/>
              <a:ea typeface="Hei"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C1C38">
              <a:alpha val="9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4" name="AutoShape 4"/>
          <p:cNvSpPr/>
          <p:nvPr/>
        </p:nvSpPr>
        <p:spPr>
          <a:xfrm>
            <a:off x="762000" y="479631"/>
            <a:ext cx="10668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叶脊架构</a:t>
            </a:r>
            <a:r>
              <a:rPr lang="zh-CN" altLang="en-US" sz="3600" b="1" i="0" u="none" strike="noStrike" dirty="0">
                <a:solidFill>
                  <a:srgbClr val="00BFFF"/>
                </a:solidFill>
                <a:latin typeface="Hei" pitchFamily="2" charset="-122"/>
                <a:ea typeface="Hei" pitchFamily="2" charset="-122"/>
                <a:cs typeface="Noto Sans SC"/>
                <a:sym typeface="Noto Sans SC"/>
              </a:rPr>
              <a:t> </a:t>
            </a:r>
            <a:r>
              <a:rPr lang="en-US" altLang="zh-CN" sz="3600" b="1" i="0" u="none" strike="noStrike" dirty="0">
                <a:solidFill>
                  <a:srgbClr val="00BFFF"/>
                </a:solidFill>
                <a:latin typeface="Hei" pitchFamily="2" charset="-122"/>
                <a:ea typeface="Hei" pitchFamily="2" charset="-122"/>
                <a:cs typeface="Noto Sans SC"/>
                <a:sym typeface="Noto Sans SC"/>
              </a:rPr>
              <a:t>vs.</a:t>
            </a:r>
            <a:r>
              <a:rPr lang="zh-CN" altLang="en-US" sz="3600" b="1" i="0" u="none" strike="noStrike" dirty="0">
                <a:solidFill>
                  <a:srgbClr val="00BFFF"/>
                </a:solidFill>
                <a:latin typeface="Hei" pitchFamily="2" charset="-122"/>
                <a:ea typeface="Hei" pitchFamily="2" charset="-122"/>
                <a:cs typeface="Noto Sans SC"/>
                <a:sym typeface="Noto Sans SC"/>
              </a:rPr>
              <a:t> </a:t>
            </a:r>
            <a:r>
              <a:rPr lang="en-US" sz="3600" b="1" i="0" u="none" strike="noStrike" dirty="0">
                <a:solidFill>
                  <a:srgbClr val="00BFFF"/>
                </a:solidFill>
                <a:latin typeface="Hei" pitchFamily="2" charset="-122"/>
                <a:ea typeface="Hei" pitchFamily="2" charset="-122"/>
                <a:cs typeface="Noto Sans SC"/>
                <a:sym typeface="Noto Sans SC"/>
              </a:rPr>
              <a:t>传统三层架构</a:t>
            </a:r>
            <a:endParaRPr lang="en-US" sz="1100" dirty="0">
              <a:latin typeface="Hei" pitchFamily="2" charset="-122"/>
              <a:ea typeface="Hei" pitchFamily="2" charset="-122"/>
            </a:endParaRPr>
          </a:p>
        </p:txBody>
      </p:sp>
      <p:graphicFrame>
        <p:nvGraphicFramePr>
          <p:cNvPr id="5" name="Table 5"/>
          <p:cNvGraphicFramePr>
            <a:graphicFrameLocks noGrp="1"/>
          </p:cNvGraphicFramePr>
          <p:nvPr>
            <p:extLst>
              <p:ext uri="{D42A27DB-BD31-4B8C-83A1-F6EECF244321}">
                <p14:modId xmlns:p14="http://schemas.microsoft.com/office/powerpoint/2010/main" val="4196467457"/>
              </p:ext>
            </p:extLst>
          </p:nvPr>
        </p:nvGraphicFramePr>
        <p:xfrm>
          <a:off x="762000" y="1187532"/>
          <a:ext cx="10668000" cy="5372409"/>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1952517">
                <a:tc>
                  <a:txBody>
                    <a:bodyPr/>
                    <a:lstStyle/>
                    <a:p>
                      <a:pPr indent="0" algn="ctr">
                        <a:lnSpc>
                          <a:spcPct val="100000"/>
                        </a:lnSpc>
                        <a:defRPr/>
                      </a:pPr>
                      <a:r>
                        <a:rPr lang="en-US" sz="2000" b="1" i="0" u="none" strike="noStrike" dirty="0">
                          <a:solidFill>
                            <a:srgbClr val="00BFFF"/>
                          </a:solidFill>
                          <a:latin typeface="Hei" pitchFamily="2" charset="-122"/>
                          <a:ea typeface="Hei" pitchFamily="2" charset="-122"/>
                          <a:cs typeface="Noto Sans SC"/>
                          <a:sym typeface="Noto Sans SC"/>
                        </a:rPr>
                        <a:t>比较维度</a:t>
                      </a:r>
                      <a:endParaRPr lang="en-US" sz="1100" dirty="0">
                        <a:latin typeface="Hei" pitchFamily="2" charset="-122"/>
                        <a:ea typeface="Hei" pitchFamily="2" charset="-122"/>
                      </a:endParaRPr>
                    </a:p>
                  </a:txBody>
                  <a:tcPr marL="101600" marR="101600" marT="101600" marB="101600" anchor="b">
                    <a:lnL>
                      <a:noFill/>
                    </a:lnL>
                    <a:lnR>
                      <a:noFill/>
                    </a:lnR>
                    <a:lnT>
                      <a:noFill/>
                    </a:lnT>
                    <a:lnB w="25400" cap="flat" cmpd="sng" algn="ctr">
                      <a:solidFill>
                        <a:srgbClr val="00BFFF"/>
                      </a:solidFill>
                      <a:prstDash val="solid"/>
                      <a:round/>
                      <a:headEnd type="none" w="med" len="med"/>
                      <a:tailEnd type="none" w="med" len="med"/>
                    </a:lnB>
                    <a:solidFill>
                      <a:srgbClr val="00BFFF">
                        <a:alpha val="20000"/>
                      </a:srgbClr>
                    </a:solidFill>
                  </a:tcPr>
                </a:tc>
                <a:tc>
                  <a:txBody>
                    <a:bodyPr/>
                    <a:lstStyle/>
                    <a:p>
                      <a:pPr indent="0" algn="ctr">
                        <a:lnSpc>
                          <a:spcPct val="100000"/>
                        </a:lnSpc>
                        <a:defRPr/>
                      </a:pPr>
                      <a:r>
                        <a:rPr lang="en-US" sz="2000" b="1" i="0" u="none" strike="noStrike" dirty="0">
                          <a:solidFill>
                            <a:srgbClr val="00BFFF"/>
                          </a:solidFill>
                          <a:latin typeface="Hei" pitchFamily="2" charset="-122"/>
                          <a:ea typeface="Hei" pitchFamily="2" charset="-122"/>
                          <a:cs typeface="Noto Sans SC"/>
                          <a:sym typeface="Noto Sans SC"/>
                        </a:rPr>
                        <a:t>传统三层架构 (STP-based)</a:t>
                      </a:r>
                      <a:endParaRPr lang="en-US" sz="1100" dirty="0">
                        <a:latin typeface="Hei" pitchFamily="2" charset="-122"/>
                        <a:ea typeface="Hei" pitchFamily="2" charset="-122"/>
                      </a:endParaRPr>
                    </a:p>
                  </a:txBody>
                  <a:tcPr marL="101600" marR="101600" marT="101600" marB="101600" anchor="b">
                    <a:lnL>
                      <a:noFill/>
                    </a:lnL>
                    <a:lnR>
                      <a:noFill/>
                    </a:lnR>
                    <a:lnT>
                      <a:noFill/>
                    </a:lnT>
                    <a:lnB w="25400" cap="flat" cmpd="sng" algn="ctr">
                      <a:solidFill>
                        <a:srgbClr val="00BFFF"/>
                      </a:solidFill>
                      <a:prstDash val="solid"/>
                      <a:round/>
                      <a:headEnd type="none" w="med" len="med"/>
                      <a:tailEnd type="none" w="med" len="med"/>
                    </a:lnB>
                    <a:solidFill>
                      <a:srgbClr val="00BFFF">
                        <a:alpha val="20000"/>
                      </a:srgbClr>
                    </a:solidFill>
                  </a:tcPr>
                </a:tc>
                <a:tc>
                  <a:txBody>
                    <a:bodyPr/>
                    <a:lstStyle/>
                    <a:p>
                      <a:pPr indent="0" algn="ctr">
                        <a:lnSpc>
                          <a:spcPct val="100000"/>
                        </a:lnSpc>
                        <a:defRPr/>
                      </a:pPr>
                      <a:r>
                        <a:rPr lang="en-US" sz="2000" b="1" i="0" u="none" strike="noStrike" dirty="0">
                          <a:solidFill>
                            <a:srgbClr val="00BFFF"/>
                          </a:solidFill>
                          <a:latin typeface="Hei" pitchFamily="2" charset="-122"/>
                          <a:ea typeface="Hei" pitchFamily="2" charset="-122"/>
                          <a:cs typeface="Noto Sans SC"/>
                          <a:sym typeface="Noto Sans SC"/>
                        </a:rPr>
                        <a:t>现代叶脊架构 (CLOS-based)</a:t>
                      </a:r>
                      <a:endParaRPr lang="en-US" sz="1100" dirty="0">
                        <a:latin typeface="Hei" pitchFamily="2" charset="-122"/>
                        <a:ea typeface="Hei" pitchFamily="2" charset="-122"/>
                      </a:endParaRPr>
                    </a:p>
                  </a:txBody>
                  <a:tcPr marL="101600" marR="101600" marT="101600" marB="101600" anchor="b">
                    <a:lnL>
                      <a:noFill/>
                    </a:lnL>
                    <a:lnR>
                      <a:noFill/>
                    </a:lnR>
                    <a:lnT>
                      <a:noFill/>
                    </a:lnT>
                    <a:lnB w="25400" cap="flat" cmpd="sng" algn="ctr">
                      <a:solidFill>
                        <a:srgbClr val="00BFFF"/>
                      </a:solidFill>
                      <a:prstDash val="solid"/>
                      <a:round/>
                      <a:headEnd type="none" w="med" len="med"/>
                      <a:tailEnd type="none" w="med" len="med"/>
                    </a:lnB>
                    <a:solidFill>
                      <a:srgbClr val="00BFFF">
                        <a:alpha val="20000"/>
                      </a:srgbClr>
                    </a:solidFill>
                  </a:tcPr>
                </a:tc>
                <a:extLst>
                  <a:ext uri="{0D108BD9-81ED-4DB2-BD59-A6C34878D82A}">
                    <a16:rowId xmlns:a16="http://schemas.microsoft.com/office/drawing/2014/main" val="10000"/>
                  </a:ext>
                </a:extLst>
              </a:tr>
              <a:tr h="569982">
                <a:tc>
                  <a:txBody>
                    <a:bodyPr/>
                    <a:lstStyle/>
                    <a:p>
                      <a:pPr indent="0" algn="ctr">
                        <a:lnSpc>
                          <a:spcPct val="100000"/>
                        </a:lnSpc>
                        <a:defRPr/>
                      </a:pPr>
                      <a:r>
                        <a:rPr lang="en-US" sz="1600" b="1" i="0" u="none" strike="noStrike" dirty="0">
                          <a:solidFill>
                            <a:srgbClr val="CCCCCC"/>
                          </a:solidFill>
                          <a:latin typeface="Hei" pitchFamily="2" charset="-122"/>
                          <a:ea typeface="Hei" pitchFamily="2" charset="-122"/>
                          <a:cs typeface="Noto Sans SC"/>
                          <a:sym typeface="Noto Sans SC"/>
                        </a:rPr>
                        <a:t>逻辑拓扑</a:t>
                      </a:r>
                      <a:endParaRPr lang="en-US" sz="1050" dirty="0">
                        <a:latin typeface="Hei" pitchFamily="2" charset="-122"/>
                        <a:ea typeface="Hei" pitchFamily="2" charset="-122"/>
                      </a:endParaRPr>
                    </a:p>
                  </a:txBody>
                  <a:tcPr marL="101600" marR="101600" marT="101600" marB="101600" anchor="ctr">
                    <a:lnL>
                      <a:noFill/>
                    </a:lnL>
                    <a:lnR>
                      <a:noFill/>
                    </a:lnR>
                    <a:lnT w="25400" cap="flat" cmpd="sng" algn="ctr">
                      <a:solidFill>
                        <a:srgbClr val="00B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树状层级结构，层级分明</a:t>
                      </a:r>
                      <a:endParaRPr lang="en-US" sz="1050" dirty="0">
                        <a:latin typeface="Hei" pitchFamily="2" charset="-122"/>
                        <a:ea typeface="Hei" pitchFamily="2" charset="-122"/>
                      </a:endParaRPr>
                    </a:p>
                  </a:txBody>
                  <a:tcPr marL="101600" marR="101600" marT="101600" marB="101600" anchor="ctr">
                    <a:lnL>
                      <a:noFill/>
                    </a:lnL>
                    <a:lnR>
                      <a:noFill/>
                    </a:lnR>
                    <a:lnT w="25400" cap="flat" cmpd="sng" algn="ctr">
                      <a:solidFill>
                        <a:srgbClr val="00B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扁平全网状结构，任意互联</a:t>
                      </a:r>
                      <a:endParaRPr lang="en-US" sz="1050" dirty="0">
                        <a:latin typeface="Hei" pitchFamily="2" charset="-122"/>
                        <a:ea typeface="Hei" pitchFamily="2" charset="-122"/>
                      </a:endParaRPr>
                    </a:p>
                  </a:txBody>
                  <a:tcPr marL="101600" marR="101600" marT="101600" marB="101600" anchor="ctr">
                    <a:lnL>
                      <a:noFill/>
                    </a:lnL>
                    <a:lnR>
                      <a:noFill/>
                    </a:lnR>
                    <a:lnT w="25400" cap="flat" cmpd="sng" algn="ctr">
                      <a:solidFill>
                        <a:srgbClr val="00B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1"/>
                  </a:ext>
                </a:extLst>
              </a:tr>
              <a:tr h="569982">
                <a:tc>
                  <a:txBody>
                    <a:bodyPr/>
                    <a:lstStyle/>
                    <a:p>
                      <a:pPr indent="0" algn="ctr">
                        <a:lnSpc>
                          <a:spcPct val="100000"/>
                        </a:lnSpc>
                        <a:defRPr/>
                      </a:pPr>
                      <a:r>
                        <a:rPr lang="en-US" sz="1600" b="1" i="0" u="none" strike="noStrike" dirty="0">
                          <a:solidFill>
                            <a:srgbClr val="CCCCCC"/>
                          </a:solidFill>
                          <a:latin typeface="Hei" pitchFamily="2" charset="-122"/>
                          <a:ea typeface="Hei" pitchFamily="2" charset="-122"/>
                          <a:cs typeface="Noto Sans SC"/>
                          <a:sym typeface="Noto Sans SC"/>
                        </a:rPr>
                        <a:t>流量模式</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适合南北向 (80% 外部交互)</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适合东西向 (80% 服务器交互)</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569982">
                <a:tc>
                  <a:txBody>
                    <a:bodyPr/>
                    <a:lstStyle/>
                    <a:p>
                      <a:pPr indent="0" algn="ctr">
                        <a:lnSpc>
                          <a:spcPct val="100000"/>
                        </a:lnSpc>
                        <a:defRPr/>
                      </a:pPr>
                      <a:r>
                        <a:rPr lang="en-US" sz="1600" b="1" i="0" u="none" strike="noStrike" dirty="0">
                          <a:solidFill>
                            <a:srgbClr val="CCCCCC"/>
                          </a:solidFill>
                          <a:latin typeface="Hei" pitchFamily="2" charset="-122"/>
                          <a:ea typeface="Hei" pitchFamily="2" charset="-122"/>
                          <a:cs typeface="Noto Sans SC"/>
                          <a:sym typeface="Noto Sans SC"/>
                        </a:rPr>
                        <a:t>收敛速度</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秒级 (30-50s)，STP 计算慢</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毫秒级，路由感知快，故障自愈</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569982">
                <a:tc>
                  <a:txBody>
                    <a:bodyPr/>
                    <a:lstStyle/>
                    <a:p>
                      <a:pPr indent="0" algn="ctr">
                        <a:lnSpc>
                          <a:spcPct val="100000"/>
                        </a:lnSpc>
                        <a:defRPr/>
                      </a:pPr>
                      <a:r>
                        <a:rPr lang="en-US" sz="1600" b="1" i="0" u="none" strike="noStrike" dirty="0">
                          <a:solidFill>
                            <a:srgbClr val="CCCCCC"/>
                          </a:solidFill>
                          <a:latin typeface="Hei" pitchFamily="2" charset="-122"/>
                          <a:ea typeface="Hei" pitchFamily="2" charset="-122"/>
                          <a:cs typeface="Noto Sans SC"/>
                          <a:sym typeface="Noto Sans SC"/>
                        </a:rPr>
                        <a:t>设备选型</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依赖高成本模块化核心交换机</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依赖低成本、高密度盒式交换机</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r h="569982">
                <a:tc>
                  <a:txBody>
                    <a:bodyPr/>
                    <a:lstStyle/>
                    <a:p>
                      <a:pPr indent="0" algn="ctr">
                        <a:lnSpc>
                          <a:spcPct val="100000"/>
                        </a:lnSpc>
                        <a:defRPr/>
                      </a:pPr>
                      <a:r>
                        <a:rPr lang="en-US" sz="1600" b="1" i="0" u="none" strike="noStrike" dirty="0">
                          <a:solidFill>
                            <a:srgbClr val="CCCCCC"/>
                          </a:solidFill>
                          <a:latin typeface="Hei" pitchFamily="2" charset="-122"/>
                          <a:ea typeface="Hei" pitchFamily="2" charset="-122"/>
                          <a:cs typeface="Noto Sans SC"/>
                          <a:sym typeface="Noto Sans SC"/>
                        </a:rPr>
                        <a:t>多租户支持</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局限于 4096 个 VLAN 标识</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支持 1600万+ VXLAN 网络标识</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5"/>
                  </a:ext>
                </a:extLst>
              </a:tr>
              <a:tr h="569982">
                <a:tc>
                  <a:txBody>
                    <a:bodyPr/>
                    <a:lstStyle/>
                    <a:p>
                      <a:pPr indent="0" algn="ctr">
                        <a:lnSpc>
                          <a:spcPct val="100000"/>
                        </a:lnSpc>
                        <a:defRPr/>
                      </a:pPr>
                      <a:r>
                        <a:rPr lang="en-US" sz="1600" b="1" i="0" u="none" strike="noStrike" dirty="0">
                          <a:solidFill>
                            <a:srgbClr val="CCCCCC"/>
                          </a:solidFill>
                          <a:latin typeface="Hei" pitchFamily="2" charset="-122"/>
                          <a:ea typeface="Hei" pitchFamily="2" charset="-122"/>
                          <a:cs typeface="Noto Sans SC"/>
                          <a:sym typeface="Noto Sans SC"/>
                        </a:rPr>
                        <a:t>负载均衡</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主/备模式，带宽利用率低</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600" b="0" i="0" u="none" strike="noStrike" dirty="0">
                          <a:solidFill>
                            <a:srgbClr val="FFFFFF"/>
                          </a:solidFill>
                          <a:latin typeface="Hei" pitchFamily="2" charset="-122"/>
                          <a:ea typeface="Hei" pitchFamily="2" charset="-122"/>
                          <a:cs typeface="Noto Sans SC"/>
                          <a:sym typeface="Noto Sans SC"/>
                        </a:rPr>
                        <a:t>主/主模式，链路全负载利用</a:t>
                      </a:r>
                      <a:endParaRPr lang="en-US" sz="1050" dirty="0">
                        <a:latin typeface="Hei" pitchFamily="2" charset="-122"/>
                        <a:ea typeface="Hei" pitchFamily="2" charset="-122"/>
                      </a:endParaRPr>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pic>
        <p:nvPicPr>
          <p:cNvPr id="7" name="Picture 6">
            <a:extLst>
              <a:ext uri="{FF2B5EF4-FFF2-40B4-BE49-F238E27FC236}">
                <a16:creationId xmlns:a16="http://schemas.microsoft.com/office/drawing/2014/main" id="{C447D757-627E-C14A-83F0-08B3A7EC1C00}"/>
              </a:ext>
            </a:extLst>
          </p:cNvPr>
          <p:cNvPicPr>
            <a:picLocks noChangeAspect="1"/>
          </p:cNvPicPr>
          <p:nvPr/>
        </p:nvPicPr>
        <p:blipFill>
          <a:blip r:embed="rId4"/>
          <a:stretch>
            <a:fillRect/>
          </a:stretch>
        </p:blipFill>
        <p:spPr>
          <a:xfrm>
            <a:off x="4089730" y="1301668"/>
            <a:ext cx="1847932" cy="1305340"/>
          </a:xfrm>
          <a:prstGeom prst="rect">
            <a:avLst/>
          </a:prstGeom>
        </p:spPr>
      </p:pic>
      <p:pic>
        <p:nvPicPr>
          <p:cNvPr id="8" name="Picture 7">
            <a:extLst>
              <a:ext uri="{FF2B5EF4-FFF2-40B4-BE49-F238E27FC236}">
                <a16:creationId xmlns:a16="http://schemas.microsoft.com/office/drawing/2014/main" id="{BBEAC83D-1B30-C946-8DC0-3E3DA3129DD6}"/>
              </a:ext>
            </a:extLst>
          </p:cNvPr>
          <p:cNvPicPr>
            <a:picLocks noChangeAspect="1"/>
          </p:cNvPicPr>
          <p:nvPr/>
        </p:nvPicPr>
        <p:blipFill>
          <a:blip r:embed="rId5"/>
          <a:stretch>
            <a:fillRect/>
          </a:stretch>
        </p:blipFill>
        <p:spPr>
          <a:xfrm>
            <a:off x="8341426" y="1301668"/>
            <a:ext cx="1847932" cy="13053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62C">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425112"/>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Google Jupiter网络演进历程</a:t>
            </a:r>
            <a:endParaRPr lang="en-US" sz="1100" dirty="0">
              <a:latin typeface="Hei" pitchFamily="2" charset="-122"/>
              <a:ea typeface="Hei" pitchFamily="2" charset="-122"/>
            </a:endParaRPr>
          </a:p>
        </p:txBody>
      </p:sp>
      <p:sp>
        <p:nvSpPr>
          <p:cNvPr id="6" name="AutoShape 6"/>
          <p:cNvSpPr/>
          <p:nvPr/>
        </p:nvSpPr>
        <p:spPr>
          <a:xfrm>
            <a:off x="587664" y="6247656"/>
            <a:ext cx="216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7" name="AutoShape 7"/>
          <p:cNvSpPr/>
          <p:nvPr/>
        </p:nvSpPr>
        <p:spPr>
          <a:xfrm>
            <a:off x="587664" y="6195204"/>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8" name="AutoShape 8"/>
          <p:cNvSpPr/>
          <p:nvPr/>
        </p:nvSpPr>
        <p:spPr>
          <a:xfrm>
            <a:off x="633846" y="5134589"/>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2004年</a:t>
            </a:r>
            <a:endParaRPr lang="en-US" sz="1100" dirty="0">
              <a:latin typeface="Hei" pitchFamily="2" charset="-122"/>
              <a:ea typeface="Hei" pitchFamily="2" charset="-122"/>
            </a:endParaRPr>
          </a:p>
          <a:p>
            <a:pPr indent="0" algn="l">
              <a:lnSpc>
                <a:spcPct val="125000"/>
              </a:lnSpc>
            </a:pPr>
            <a:r>
              <a:rPr lang="en-US" sz="1600" b="1" i="0" u="none" strike="noStrike" dirty="0">
                <a:solidFill>
                  <a:srgbClr val="FFFFFF"/>
                </a:solidFill>
                <a:latin typeface="Hei" pitchFamily="2" charset="-122"/>
                <a:ea typeface="Hei" pitchFamily="2" charset="-122"/>
                <a:cs typeface="Noto Sans SC"/>
                <a:sym typeface="Noto Sans SC"/>
              </a:rPr>
              <a:t>传统商业交换机</a:t>
            </a:r>
          </a:p>
          <a:p>
            <a:pPr indent="0" algn="l">
              <a:lnSpc>
                <a:spcPct val="125000"/>
              </a:lnSpc>
            </a:pPr>
            <a:r>
              <a:rPr lang="en-US" sz="1400" b="0" i="0" u="none" strike="noStrike" dirty="0">
                <a:solidFill>
                  <a:srgbClr val="CCCCCC"/>
                </a:solidFill>
                <a:latin typeface="Hei" pitchFamily="2" charset="-122"/>
                <a:ea typeface="Hei" pitchFamily="2" charset="-122"/>
                <a:cs typeface="Noto Sans SC"/>
                <a:sym typeface="Noto Sans SC"/>
              </a:rPr>
              <a:t>起步阶段，依赖商用设备</a:t>
            </a:r>
          </a:p>
        </p:txBody>
      </p:sp>
      <p:sp>
        <p:nvSpPr>
          <p:cNvPr id="9" name="AutoShape 9"/>
          <p:cNvSpPr/>
          <p:nvPr/>
        </p:nvSpPr>
        <p:spPr>
          <a:xfrm>
            <a:off x="2675082" y="6195204"/>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10" name="AutoShape 10"/>
          <p:cNvSpPr/>
          <p:nvPr/>
        </p:nvSpPr>
        <p:spPr>
          <a:xfrm>
            <a:off x="2791701" y="3542145"/>
            <a:ext cx="1905000" cy="155500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2008年</a:t>
            </a:r>
            <a:endParaRPr lang="en-US" sz="1100" dirty="0">
              <a:latin typeface="Hei" pitchFamily="2" charset="-122"/>
              <a:ea typeface="Hei" pitchFamily="2" charset="-122"/>
            </a:endParaRPr>
          </a:p>
          <a:p>
            <a:pPr indent="0" algn="l">
              <a:lnSpc>
                <a:spcPct val="125000"/>
              </a:lnSpc>
            </a:pPr>
            <a:r>
              <a:rPr lang="en-US" sz="1600" b="1" i="0" u="none" strike="noStrike" dirty="0">
                <a:solidFill>
                  <a:srgbClr val="FFFFFF"/>
                </a:solidFill>
                <a:latin typeface="Hei" pitchFamily="2" charset="-122"/>
                <a:ea typeface="Hei" pitchFamily="2" charset="-122"/>
                <a:cs typeface="Noto Sans SC"/>
                <a:sym typeface="Noto Sans SC"/>
              </a:rPr>
              <a:t>第一代Jupiter</a:t>
            </a:r>
          </a:p>
          <a:p>
            <a:pPr indent="0" algn="l">
              <a:lnSpc>
                <a:spcPct val="125000"/>
              </a:lnSpc>
            </a:pPr>
            <a:r>
              <a:rPr lang="zh-CN" altLang="en-US" sz="1400" b="0" i="0" u="none" strike="noStrike" dirty="0">
                <a:solidFill>
                  <a:srgbClr val="CCCCCC"/>
                </a:solidFill>
                <a:latin typeface="Hei" pitchFamily="2" charset="-122"/>
                <a:ea typeface="Hei" pitchFamily="2" charset="-122"/>
                <a:cs typeface="Noto Sans SC"/>
                <a:sym typeface="Noto Sans SC"/>
              </a:rPr>
              <a:t>模块化革命，利用商用芯片配合光纤捆绑技术，降低</a:t>
            </a:r>
            <a:r>
              <a:rPr lang="en-US" altLang="zh-CN" sz="1400" b="0" i="0" u="none" strike="noStrike" dirty="0">
                <a:solidFill>
                  <a:srgbClr val="CCCCCC"/>
                </a:solidFill>
                <a:latin typeface="Hei" pitchFamily="2" charset="-122"/>
                <a:ea typeface="Hei" pitchFamily="2" charset="-122"/>
                <a:cs typeface="Noto Sans SC"/>
                <a:sym typeface="Noto Sans SC"/>
              </a:rPr>
              <a:t>40%</a:t>
            </a:r>
            <a:r>
              <a:rPr lang="zh-CN" altLang="en-US" sz="1400" b="0" i="0" u="none" strike="noStrike" dirty="0">
                <a:solidFill>
                  <a:srgbClr val="CCCCCC"/>
                </a:solidFill>
                <a:latin typeface="Hei" pitchFamily="2" charset="-122"/>
                <a:ea typeface="Hei" pitchFamily="2" charset="-122"/>
                <a:cs typeface="Noto Sans SC"/>
                <a:sym typeface="Noto Sans SC"/>
              </a:rPr>
              <a:t>布线成本。</a:t>
            </a:r>
            <a:endParaRPr lang="en-US" sz="1400" b="0" i="0" u="none" strike="noStrike" dirty="0">
              <a:solidFill>
                <a:srgbClr val="CCCCCC"/>
              </a:solidFill>
              <a:latin typeface="Hei" pitchFamily="2" charset="-122"/>
              <a:ea typeface="Hei" pitchFamily="2" charset="-122"/>
              <a:cs typeface="Noto Sans SC"/>
              <a:sym typeface="Noto Sans SC"/>
            </a:endParaRPr>
          </a:p>
        </p:txBody>
      </p:sp>
      <p:sp>
        <p:nvSpPr>
          <p:cNvPr id="12" name="AutoShape 12"/>
          <p:cNvSpPr/>
          <p:nvPr/>
        </p:nvSpPr>
        <p:spPr>
          <a:xfrm>
            <a:off x="4844318" y="1946729"/>
            <a:ext cx="1993900" cy="206208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2012年</a:t>
            </a:r>
            <a:endParaRPr lang="en-US" sz="1100" dirty="0">
              <a:latin typeface="Hei" pitchFamily="2" charset="-122"/>
              <a:ea typeface="Hei" pitchFamily="2" charset="-122"/>
            </a:endParaRPr>
          </a:p>
          <a:p>
            <a:pPr indent="0" algn="l">
              <a:lnSpc>
                <a:spcPct val="125000"/>
              </a:lnSpc>
            </a:pPr>
            <a:r>
              <a:rPr lang="en-US" sz="1600" b="1" i="0" u="none" strike="noStrike" dirty="0">
                <a:solidFill>
                  <a:srgbClr val="FFFFFF"/>
                </a:solidFill>
                <a:latin typeface="Hei" pitchFamily="2" charset="-122"/>
                <a:ea typeface="Hei" pitchFamily="2" charset="-122"/>
                <a:cs typeface="Noto Sans SC"/>
                <a:sym typeface="Noto Sans SC"/>
              </a:rPr>
              <a:t>多级CLOS架构</a:t>
            </a:r>
          </a:p>
          <a:p>
            <a:pPr>
              <a:lnSpc>
                <a:spcPct val="125000"/>
              </a:lnSpc>
            </a:pPr>
            <a:r>
              <a:rPr lang="en-US" sz="1400" b="0" i="0" u="none" strike="noStrike" dirty="0">
                <a:solidFill>
                  <a:srgbClr val="CCCCCC"/>
                </a:solidFill>
                <a:latin typeface="Hei" pitchFamily="2" charset="-122"/>
                <a:ea typeface="Hei" pitchFamily="2" charset="-122"/>
                <a:cs typeface="Noto Sans SC"/>
                <a:sym typeface="Noto Sans SC"/>
              </a:rPr>
              <a:t>Watchtower → Pluto</a:t>
            </a:r>
            <a:r>
              <a:rPr lang="zh-CN" altLang="en-US" sz="1400" b="0" i="0" u="none" strike="noStrike" dirty="0">
                <a:solidFill>
                  <a:srgbClr val="CCCCCC"/>
                </a:solidFill>
                <a:latin typeface="Hei" pitchFamily="2" charset="-122"/>
                <a:ea typeface="Hei" pitchFamily="2" charset="-122"/>
                <a:cs typeface="Noto Sans SC"/>
                <a:sym typeface="Noto Sans SC"/>
              </a:rPr>
              <a:t>，采用了 </a:t>
            </a:r>
            <a:r>
              <a:rPr lang="en-US" altLang="zh-CN" sz="1400" b="0" i="0" u="none" strike="noStrike" dirty="0">
                <a:solidFill>
                  <a:srgbClr val="CCCCCC"/>
                </a:solidFill>
                <a:latin typeface="Hei" pitchFamily="2" charset="-122"/>
                <a:ea typeface="Hei" pitchFamily="2" charset="-122"/>
                <a:cs typeface="Noto Sans SC"/>
                <a:sym typeface="Noto Sans SC"/>
              </a:rPr>
              <a:t>128x10G </a:t>
            </a:r>
            <a:r>
              <a:rPr lang="zh-CN" altLang="en-US" sz="1400" b="0" i="0" u="none" strike="noStrike" dirty="0">
                <a:solidFill>
                  <a:srgbClr val="CCCCCC"/>
                </a:solidFill>
                <a:latin typeface="Hei" pitchFamily="2" charset="-122"/>
                <a:ea typeface="Hei" pitchFamily="2" charset="-122"/>
                <a:cs typeface="Noto Sans SC"/>
                <a:sym typeface="Noto Sans SC"/>
              </a:rPr>
              <a:t>的单芯片交换机，体积大幅缩小，在更少的空间内实现更高的吞吐量。</a:t>
            </a:r>
            <a:endParaRPr lang="en-US" sz="1400" b="0" i="0" u="none" strike="noStrike" dirty="0">
              <a:solidFill>
                <a:srgbClr val="CCCCCC"/>
              </a:solidFill>
              <a:latin typeface="Hei" pitchFamily="2" charset="-122"/>
              <a:ea typeface="Hei" pitchFamily="2" charset="-122"/>
              <a:cs typeface="Noto Sans SC"/>
              <a:sym typeface="Noto Sans SC"/>
            </a:endParaRPr>
          </a:p>
        </p:txBody>
      </p:sp>
      <p:sp>
        <p:nvSpPr>
          <p:cNvPr id="14" name="AutoShape 14"/>
          <p:cNvSpPr/>
          <p:nvPr/>
        </p:nvSpPr>
        <p:spPr>
          <a:xfrm>
            <a:off x="6930937" y="1441519"/>
            <a:ext cx="2034897" cy="154144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2015年</a:t>
            </a:r>
            <a:endParaRPr lang="en-US" sz="1100" dirty="0">
              <a:latin typeface="Hei" pitchFamily="2" charset="-122"/>
              <a:ea typeface="Hei" pitchFamily="2" charset="-122"/>
            </a:endParaRPr>
          </a:p>
          <a:p>
            <a:pPr indent="0" algn="l">
              <a:lnSpc>
                <a:spcPct val="125000"/>
              </a:lnSpc>
            </a:pPr>
            <a:r>
              <a:rPr lang="en-US" sz="1600" b="1" i="0" u="none" strike="noStrike" dirty="0">
                <a:solidFill>
                  <a:srgbClr val="FFFFFF"/>
                </a:solidFill>
                <a:latin typeface="Hei" pitchFamily="2" charset="-122"/>
                <a:ea typeface="Hei" pitchFamily="2" charset="-122"/>
                <a:cs typeface="Noto Sans SC"/>
                <a:sym typeface="Noto Sans SC"/>
              </a:rPr>
              <a:t>Jupiter Rising</a:t>
            </a:r>
          </a:p>
          <a:p>
            <a:pPr indent="0" algn="l">
              <a:lnSpc>
                <a:spcPct val="125000"/>
              </a:lnSpc>
            </a:pPr>
            <a:r>
              <a:rPr lang="zh-CN" altLang="en-US" sz="1400" b="0" i="0" u="none" strike="noStrike" dirty="0">
                <a:solidFill>
                  <a:srgbClr val="CCCCCC"/>
                </a:solidFill>
                <a:latin typeface="Hei" pitchFamily="2" charset="-122"/>
                <a:ea typeface="Hei" pitchFamily="2" charset="-122"/>
                <a:cs typeface="Noto Sans SC"/>
                <a:sym typeface="Noto Sans SC"/>
              </a:rPr>
              <a:t>集中式 </a:t>
            </a:r>
            <a:r>
              <a:rPr lang="en-US" sz="1400" b="0" i="0" u="none" strike="noStrike" dirty="0">
                <a:solidFill>
                  <a:srgbClr val="CCCCCC"/>
                </a:solidFill>
                <a:latin typeface="Hei" pitchFamily="2" charset="-122"/>
                <a:ea typeface="Hei" pitchFamily="2" charset="-122"/>
                <a:cs typeface="Noto Sans SC"/>
                <a:sym typeface="Noto Sans SC"/>
              </a:rPr>
              <a:t>SDN </a:t>
            </a:r>
            <a:r>
              <a:rPr lang="zh-CN" altLang="en-US" sz="1400" b="0" i="0" u="none" strike="noStrike" dirty="0">
                <a:solidFill>
                  <a:srgbClr val="CCCCCC"/>
                </a:solidFill>
                <a:latin typeface="Hei" pitchFamily="2" charset="-122"/>
                <a:ea typeface="Hei" pitchFamily="2" charset="-122"/>
                <a:cs typeface="Noto Sans SC"/>
                <a:sym typeface="Noto Sans SC"/>
              </a:rPr>
              <a:t>控制的巨型 </a:t>
            </a:r>
            <a:r>
              <a:rPr lang="en-US" altLang="zh-CN" sz="1400" b="0" i="0" u="none" strike="noStrike" dirty="0">
                <a:solidFill>
                  <a:srgbClr val="CCCCCC"/>
                </a:solidFill>
                <a:latin typeface="Hei" pitchFamily="2" charset="-122"/>
                <a:ea typeface="Hei" pitchFamily="2" charset="-122"/>
                <a:cs typeface="Noto Sans SC"/>
                <a:sym typeface="Noto Sans SC"/>
              </a:rPr>
              <a:t>5</a:t>
            </a:r>
            <a:r>
              <a:rPr lang="zh-CN" altLang="en-US" sz="1400" b="0" i="0" u="none" strike="noStrike" dirty="0">
                <a:solidFill>
                  <a:srgbClr val="CCCCCC"/>
                </a:solidFill>
                <a:latin typeface="Hei" pitchFamily="2" charset="-122"/>
                <a:ea typeface="Hei" pitchFamily="2" charset="-122"/>
                <a:cs typeface="Noto Sans SC"/>
                <a:sym typeface="Noto Sans SC"/>
              </a:rPr>
              <a:t>级 </a:t>
            </a:r>
            <a:r>
              <a:rPr lang="en-US" sz="1400" b="0" i="0" u="none" strike="noStrike" dirty="0">
                <a:solidFill>
                  <a:srgbClr val="CCCCCC"/>
                </a:solidFill>
                <a:latin typeface="Hei" pitchFamily="2" charset="-122"/>
                <a:ea typeface="Hei" pitchFamily="2" charset="-122"/>
                <a:cs typeface="Noto Sans SC"/>
                <a:sym typeface="Noto Sans SC"/>
              </a:rPr>
              <a:t>CLOS，</a:t>
            </a:r>
            <a:r>
              <a:rPr lang="zh-CN" altLang="en-US" sz="1400" b="0" i="0" u="none" strike="noStrike" dirty="0">
                <a:solidFill>
                  <a:srgbClr val="CCCCCC"/>
                </a:solidFill>
                <a:latin typeface="Hei" pitchFamily="2" charset="-122"/>
                <a:ea typeface="Hei" pitchFamily="2" charset="-122"/>
                <a:cs typeface="Noto Sans SC"/>
                <a:sym typeface="Noto Sans SC"/>
              </a:rPr>
              <a:t>实现全球首个</a:t>
            </a:r>
            <a:r>
              <a:rPr lang="en-US" altLang="zh-CN" sz="1400" b="0" i="0" u="none" strike="noStrike" dirty="0">
                <a:solidFill>
                  <a:srgbClr val="CCCCCC"/>
                </a:solidFill>
                <a:latin typeface="Hei" pitchFamily="2" charset="-122"/>
                <a:ea typeface="Hei" pitchFamily="2" charset="-122"/>
                <a:cs typeface="Noto Sans SC"/>
                <a:sym typeface="Noto Sans SC"/>
              </a:rPr>
              <a:t>1.3 </a:t>
            </a:r>
            <a:r>
              <a:rPr lang="en-US" sz="1400" b="0" i="0" u="none" strike="noStrike" dirty="0">
                <a:solidFill>
                  <a:srgbClr val="CCCCCC"/>
                </a:solidFill>
                <a:latin typeface="Hei" pitchFamily="2" charset="-122"/>
                <a:ea typeface="Hei" pitchFamily="2" charset="-122"/>
                <a:cs typeface="Noto Sans SC"/>
                <a:sym typeface="Noto Sans SC"/>
              </a:rPr>
              <a:t>Pbps</a:t>
            </a:r>
            <a:r>
              <a:rPr lang="zh-CN" altLang="en-US" sz="1400" b="0" i="0" u="none" strike="noStrike" dirty="0">
                <a:solidFill>
                  <a:srgbClr val="CCCCCC"/>
                </a:solidFill>
                <a:latin typeface="Hei" pitchFamily="2" charset="-122"/>
                <a:ea typeface="Hei" pitchFamily="2" charset="-122"/>
                <a:cs typeface="Noto Sans SC"/>
                <a:sym typeface="Noto Sans SC"/>
              </a:rPr>
              <a:t>单体中心带宽。</a:t>
            </a:r>
            <a:endParaRPr lang="en-US" sz="1400" b="0" i="0" u="none" strike="noStrike" dirty="0">
              <a:solidFill>
                <a:srgbClr val="CCCCCC"/>
              </a:solidFill>
              <a:latin typeface="Hei" pitchFamily="2" charset="-122"/>
              <a:ea typeface="Hei" pitchFamily="2" charset="-122"/>
              <a:cs typeface="Noto Sans SC"/>
              <a:sym typeface="Noto Sans SC"/>
            </a:endParaRPr>
          </a:p>
        </p:txBody>
      </p:sp>
      <p:sp>
        <p:nvSpPr>
          <p:cNvPr id="16" name="AutoShape 16"/>
          <p:cNvSpPr/>
          <p:nvPr/>
        </p:nvSpPr>
        <p:spPr>
          <a:xfrm>
            <a:off x="8996218" y="261257"/>
            <a:ext cx="2134600" cy="168547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00BFFF"/>
                </a:solidFill>
                <a:latin typeface="Hei" pitchFamily="2" charset="-122"/>
                <a:ea typeface="Hei" pitchFamily="2" charset="-122"/>
                <a:cs typeface="Noto Sans SC"/>
                <a:sym typeface="Noto Sans SC"/>
              </a:rPr>
              <a:t>2022年</a:t>
            </a:r>
            <a:endParaRPr lang="en-US" sz="1100" dirty="0">
              <a:latin typeface="Hei" pitchFamily="2" charset="-122"/>
              <a:ea typeface="Hei" pitchFamily="2" charset="-122"/>
            </a:endParaRPr>
          </a:p>
          <a:p>
            <a:pPr indent="0" algn="l">
              <a:lnSpc>
                <a:spcPct val="125000"/>
              </a:lnSpc>
            </a:pPr>
            <a:r>
              <a:rPr lang="en-US" sz="1600" b="1" i="0" u="none" strike="noStrike" dirty="0">
                <a:solidFill>
                  <a:srgbClr val="FFFFFF"/>
                </a:solidFill>
                <a:latin typeface="Hei" pitchFamily="2" charset="-122"/>
                <a:ea typeface="Hei" pitchFamily="2" charset="-122"/>
                <a:cs typeface="Noto Sans SC"/>
                <a:sym typeface="Noto Sans SC"/>
              </a:rPr>
              <a:t>Jupiter Evolving</a:t>
            </a:r>
          </a:p>
          <a:p>
            <a:pPr indent="0" algn="l">
              <a:lnSpc>
                <a:spcPct val="125000"/>
              </a:lnSpc>
            </a:pPr>
            <a:r>
              <a:rPr lang="zh-CN" altLang="en-US" sz="1400" b="0" i="0" u="none" strike="noStrike" dirty="0">
                <a:solidFill>
                  <a:srgbClr val="CCCCCC"/>
                </a:solidFill>
                <a:latin typeface="Hei" pitchFamily="2" charset="-122"/>
                <a:ea typeface="Hei" pitchFamily="2" charset="-122"/>
                <a:cs typeface="Noto Sans SC"/>
                <a:sym typeface="Noto Sans SC"/>
              </a:rPr>
              <a:t>推出了基于 </a:t>
            </a:r>
            <a:r>
              <a:rPr lang="en-US" sz="1400" b="0" i="0" u="none" strike="noStrike" dirty="0">
                <a:solidFill>
                  <a:srgbClr val="CCCCCC"/>
                </a:solidFill>
                <a:latin typeface="Hei" pitchFamily="2" charset="-122"/>
                <a:ea typeface="Hei" pitchFamily="2" charset="-122"/>
                <a:cs typeface="Noto Sans SC"/>
                <a:sym typeface="Noto Sans SC"/>
              </a:rPr>
              <a:t>OCS（</a:t>
            </a:r>
            <a:r>
              <a:rPr lang="zh-CN" altLang="en-US" sz="1400" b="0" i="0" u="none" strike="noStrike" dirty="0">
                <a:solidFill>
                  <a:srgbClr val="CCCCCC"/>
                </a:solidFill>
                <a:latin typeface="Hei" pitchFamily="2" charset="-122"/>
                <a:ea typeface="Hei" pitchFamily="2" charset="-122"/>
                <a:cs typeface="Noto Sans SC"/>
                <a:sym typeface="Noto Sans SC"/>
              </a:rPr>
              <a:t>光电路交换） 的新一代 </a:t>
            </a:r>
            <a:r>
              <a:rPr lang="en-US" sz="1400" b="0" i="0" u="none" strike="noStrike" dirty="0">
                <a:solidFill>
                  <a:srgbClr val="CCCCCC"/>
                </a:solidFill>
                <a:latin typeface="Hei" pitchFamily="2" charset="-122"/>
                <a:ea typeface="Hei" pitchFamily="2" charset="-122"/>
                <a:cs typeface="Noto Sans SC"/>
                <a:sym typeface="Noto Sans SC"/>
              </a:rPr>
              <a:t>Jupiter</a:t>
            </a:r>
            <a:r>
              <a:rPr lang="zh-CN" altLang="en-US" sz="1400" b="0" i="0" u="none" strike="noStrike" dirty="0">
                <a:solidFill>
                  <a:srgbClr val="CCCCCC"/>
                </a:solidFill>
                <a:latin typeface="Hei" pitchFamily="2" charset="-122"/>
                <a:ea typeface="Hei" pitchFamily="2" charset="-122"/>
                <a:cs typeface="Noto Sans SC"/>
                <a:sym typeface="Noto Sans SC"/>
              </a:rPr>
              <a:t>，迈向光子时代，直逼</a:t>
            </a:r>
            <a:r>
              <a:rPr lang="en-US" altLang="zh-CN" sz="1400" b="0" i="0" u="none" strike="noStrike" dirty="0">
                <a:solidFill>
                  <a:srgbClr val="CCCCCC"/>
                </a:solidFill>
                <a:latin typeface="Hei" pitchFamily="2" charset="-122"/>
                <a:ea typeface="Hei" pitchFamily="2" charset="-122"/>
                <a:cs typeface="Noto Sans SC"/>
                <a:sym typeface="Noto Sans SC"/>
              </a:rPr>
              <a:t>13.1 Pbps</a:t>
            </a:r>
            <a:r>
              <a:rPr lang="zh-CN" altLang="en-US" sz="1400" b="0" i="0" u="none" strike="noStrike" dirty="0">
                <a:solidFill>
                  <a:srgbClr val="CCCCCC"/>
                </a:solidFill>
                <a:latin typeface="Hei" pitchFamily="2" charset="-122"/>
                <a:ea typeface="Hei" pitchFamily="2" charset="-122"/>
                <a:cs typeface="Noto Sans SC"/>
                <a:sym typeface="Noto Sans SC"/>
              </a:rPr>
              <a:t>带宽极限</a:t>
            </a:r>
            <a:endParaRPr lang="en-US" sz="1400" b="0" i="0" u="none" strike="noStrike" dirty="0">
              <a:solidFill>
                <a:srgbClr val="CCCCCC"/>
              </a:solidFill>
              <a:latin typeface="Hei" pitchFamily="2" charset="-122"/>
              <a:ea typeface="Hei" pitchFamily="2" charset="-122"/>
              <a:cs typeface="Noto Sans SC"/>
              <a:sym typeface="Noto Sans SC"/>
            </a:endParaRPr>
          </a:p>
        </p:txBody>
      </p:sp>
      <p:sp>
        <p:nvSpPr>
          <p:cNvPr id="19" name="AutoShape 19"/>
          <p:cNvSpPr/>
          <p:nvPr/>
        </p:nvSpPr>
        <p:spPr>
          <a:xfrm>
            <a:off x="5088236" y="4793912"/>
            <a:ext cx="6516100" cy="1714500"/>
          </a:xfrm>
          <a:prstGeom prst="roundRect">
            <a:avLst>
              <a:gd name="adj" fmla="val 7407"/>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0" name="AutoShape 20"/>
          <p:cNvSpPr/>
          <p:nvPr/>
        </p:nvSpPr>
        <p:spPr>
          <a:xfrm>
            <a:off x="5254336" y="4920912"/>
            <a:ext cx="62230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演进核心</a:t>
            </a:r>
            <a:endParaRPr lang="en-US" sz="1100" dirty="0">
              <a:latin typeface="Hei" pitchFamily="2" charset="-122"/>
              <a:ea typeface="Hei" pitchFamily="2" charset="-122"/>
            </a:endParaRPr>
          </a:p>
          <a:p>
            <a:pPr indent="0" algn="l">
              <a:lnSpc>
                <a:spcPct val="125000"/>
              </a:lnSpc>
            </a:pPr>
            <a:r>
              <a:rPr lang="en-US" sz="1600" b="0" i="0" u="none" strike="noStrike" dirty="0">
                <a:solidFill>
                  <a:srgbClr val="CCCCCC"/>
                </a:solidFill>
                <a:latin typeface="Hei" pitchFamily="2" charset="-122"/>
                <a:ea typeface="Hei" pitchFamily="2" charset="-122"/>
                <a:cs typeface="Noto Sans SC"/>
                <a:sym typeface="Noto Sans SC"/>
              </a:rPr>
              <a:t>1.</a:t>
            </a:r>
            <a:r>
              <a:rPr lang="en-US" sz="1600" b="1" i="0" u="none" strike="noStrike" dirty="0">
                <a:solidFill>
                  <a:srgbClr val="CCCCCC"/>
                </a:solidFill>
                <a:latin typeface="Hei" pitchFamily="2" charset="-122"/>
                <a:ea typeface="Hei" pitchFamily="2" charset="-122"/>
                <a:cs typeface="Noto Sans SC"/>
                <a:sym typeface="Noto Sans SC"/>
              </a:rPr>
              <a:t>性能突破：</a:t>
            </a:r>
            <a:r>
              <a:rPr lang="en-US" sz="1600" b="0" i="0" u="none" strike="noStrike" dirty="0">
                <a:solidFill>
                  <a:srgbClr val="CCCCCC"/>
                </a:solidFill>
                <a:latin typeface="Hei" pitchFamily="2" charset="-122"/>
                <a:ea typeface="Hei" pitchFamily="2" charset="-122"/>
                <a:cs typeface="Noto Sans SC"/>
                <a:sym typeface="Noto Sans SC"/>
              </a:rPr>
              <a:t>从商用设备的性能天花板到自研架构的无限可能。</a:t>
            </a:r>
          </a:p>
          <a:p>
            <a:pPr indent="0" algn="l">
              <a:lnSpc>
                <a:spcPct val="125000"/>
              </a:lnSpc>
            </a:pPr>
            <a:r>
              <a:rPr lang="en-US" sz="1600" b="0" i="0" u="none" strike="noStrike" dirty="0">
                <a:solidFill>
                  <a:srgbClr val="CCCCCC"/>
                </a:solidFill>
                <a:latin typeface="Hei" pitchFamily="2" charset="-122"/>
                <a:ea typeface="Hei" pitchFamily="2" charset="-122"/>
                <a:cs typeface="Noto Sans SC"/>
                <a:sym typeface="Noto Sans SC"/>
              </a:rPr>
              <a:t>2.</a:t>
            </a:r>
            <a:r>
              <a:rPr lang="en-US" sz="1600" b="1" i="0" u="none" strike="noStrike" dirty="0">
                <a:solidFill>
                  <a:srgbClr val="CCCCCC"/>
                </a:solidFill>
                <a:latin typeface="Hei" pitchFamily="2" charset="-122"/>
                <a:ea typeface="Hei" pitchFamily="2" charset="-122"/>
                <a:cs typeface="Noto Sans SC"/>
                <a:sym typeface="Noto Sans SC"/>
              </a:rPr>
              <a:t>架构升级：</a:t>
            </a:r>
            <a:r>
              <a:rPr lang="en-US" sz="1600" b="0" i="0" u="none" strike="noStrike" dirty="0">
                <a:solidFill>
                  <a:srgbClr val="CCCCCC"/>
                </a:solidFill>
                <a:latin typeface="Hei" pitchFamily="2" charset="-122"/>
                <a:ea typeface="Hei" pitchFamily="2" charset="-122"/>
                <a:cs typeface="Noto Sans SC"/>
                <a:sym typeface="Noto Sans SC"/>
              </a:rPr>
              <a:t>从简单交换到多级CLOS，再到光电融合的智能化网络。</a:t>
            </a:r>
          </a:p>
          <a:p>
            <a:pPr indent="0" algn="l">
              <a:lnSpc>
                <a:spcPct val="125000"/>
              </a:lnSpc>
            </a:pPr>
            <a:r>
              <a:rPr lang="en-US" sz="1600" b="0" i="0" u="none" strike="noStrike" dirty="0">
                <a:solidFill>
                  <a:srgbClr val="CCCCCC"/>
                </a:solidFill>
                <a:latin typeface="Hei" pitchFamily="2" charset="-122"/>
                <a:ea typeface="Hei" pitchFamily="2" charset="-122"/>
                <a:cs typeface="Noto Sans SC"/>
                <a:sym typeface="Noto Sans SC"/>
              </a:rPr>
              <a:t>3.</a:t>
            </a:r>
            <a:r>
              <a:rPr lang="en-US" sz="1600" b="1" i="0" u="none" strike="noStrike" dirty="0">
                <a:solidFill>
                  <a:srgbClr val="CCCCCC"/>
                </a:solidFill>
                <a:latin typeface="Hei" pitchFamily="2" charset="-122"/>
                <a:ea typeface="Hei" pitchFamily="2" charset="-122"/>
                <a:cs typeface="Noto Sans SC"/>
                <a:sym typeface="Noto Sans SC"/>
              </a:rPr>
              <a:t>成本控制：</a:t>
            </a:r>
            <a:r>
              <a:rPr lang="en-US" sz="1600" b="0" i="0" u="none" strike="noStrike" dirty="0">
                <a:solidFill>
                  <a:srgbClr val="CCCCCC"/>
                </a:solidFill>
                <a:latin typeface="Hei" pitchFamily="2" charset="-122"/>
                <a:ea typeface="Hei" pitchFamily="2" charset="-122"/>
                <a:cs typeface="Noto Sans SC"/>
                <a:sym typeface="Noto Sans SC"/>
              </a:rPr>
              <a:t>通用硬件+自研软件的解耦模式大幅降低TCO。</a:t>
            </a:r>
          </a:p>
        </p:txBody>
      </p:sp>
      <p:sp>
        <p:nvSpPr>
          <p:cNvPr id="21" name="AutoShape 6">
            <a:extLst>
              <a:ext uri="{FF2B5EF4-FFF2-40B4-BE49-F238E27FC236}">
                <a16:creationId xmlns:a16="http://schemas.microsoft.com/office/drawing/2014/main" id="{BF1A8E83-13C3-5F43-AC31-E51228786120}"/>
              </a:ext>
            </a:extLst>
          </p:cNvPr>
          <p:cNvSpPr/>
          <p:nvPr/>
        </p:nvSpPr>
        <p:spPr>
          <a:xfrm rot="5400000">
            <a:off x="2206664" y="5718704"/>
            <a:ext cx="108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2" name="AutoShape 6">
            <a:extLst>
              <a:ext uri="{FF2B5EF4-FFF2-40B4-BE49-F238E27FC236}">
                <a16:creationId xmlns:a16="http://schemas.microsoft.com/office/drawing/2014/main" id="{01E49698-CA95-714F-B30D-21903E2E9C45}"/>
              </a:ext>
            </a:extLst>
          </p:cNvPr>
          <p:cNvSpPr/>
          <p:nvPr/>
        </p:nvSpPr>
        <p:spPr>
          <a:xfrm>
            <a:off x="2675082" y="5188693"/>
            <a:ext cx="216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3" name="AutoShape 7">
            <a:extLst>
              <a:ext uri="{FF2B5EF4-FFF2-40B4-BE49-F238E27FC236}">
                <a16:creationId xmlns:a16="http://schemas.microsoft.com/office/drawing/2014/main" id="{80D3E863-85DF-C94A-A3F9-098270592F00}"/>
              </a:ext>
            </a:extLst>
          </p:cNvPr>
          <p:cNvSpPr/>
          <p:nvPr/>
        </p:nvSpPr>
        <p:spPr>
          <a:xfrm>
            <a:off x="2675082" y="5136241"/>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4" name="AutoShape 9">
            <a:extLst>
              <a:ext uri="{FF2B5EF4-FFF2-40B4-BE49-F238E27FC236}">
                <a16:creationId xmlns:a16="http://schemas.microsoft.com/office/drawing/2014/main" id="{99265059-7481-714B-95D7-228423DE040F}"/>
              </a:ext>
            </a:extLst>
          </p:cNvPr>
          <p:cNvSpPr/>
          <p:nvPr/>
        </p:nvSpPr>
        <p:spPr>
          <a:xfrm>
            <a:off x="4762500" y="5136241"/>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5" name="AutoShape 6">
            <a:extLst>
              <a:ext uri="{FF2B5EF4-FFF2-40B4-BE49-F238E27FC236}">
                <a16:creationId xmlns:a16="http://schemas.microsoft.com/office/drawing/2014/main" id="{1F7E6070-224A-584A-91CB-86543E4CF5C6}"/>
              </a:ext>
            </a:extLst>
          </p:cNvPr>
          <p:cNvSpPr/>
          <p:nvPr/>
        </p:nvSpPr>
        <p:spPr>
          <a:xfrm rot="5400000">
            <a:off x="4294082" y="4659741"/>
            <a:ext cx="108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26" name="AutoShape 6">
            <a:extLst>
              <a:ext uri="{FF2B5EF4-FFF2-40B4-BE49-F238E27FC236}">
                <a16:creationId xmlns:a16="http://schemas.microsoft.com/office/drawing/2014/main" id="{B7DBE96A-E805-C24A-9C75-EA705581DEE1}"/>
              </a:ext>
            </a:extLst>
          </p:cNvPr>
          <p:cNvSpPr/>
          <p:nvPr/>
        </p:nvSpPr>
        <p:spPr>
          <a:xfrm>
            <a:off x="4762500" y="4103669"/>
            <a:ext cx="216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27" name="AutoShape 7">
            <a:extLst>
              <a:ext uri="{FF2B5EF4-FFF2-40B4-BE49-F238E27FC236}">
                <a16:creationId xmlns:a16="http://schemas.microsoft.com/office/drawing/2014/main" id="{97E67CB8-273E-6F4E-B025-4161979E054A}"/>
              </a:ext>
            </a:extLst>
          </p:cNvPr>
          <p:cNvSpPr/>
          <p:nvPr/>
        </p:nvSpPr>
        <p:spPr>
          <a:xfrm>
            <a:off x="4762500" y="4051217"/>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28" name="AutoShape 9">
            <a:extLst>
              <a:ext uri="{FF2B5EF4-FFF2-40B4-BE49-F238E27FC236}">
                <a16:creationId xmlns:a16="http://schemas.microsoft.com/office/drawing/2014/main" id="{8BE5D6CF-7357-4349-B7A7-C80C3CF285B9}"/>
              </a:ext>
            </a:extLst>
          </p:cNvPr>
          <p:cNvSpPr/>
          <p:nvPr/>
        </p:nvSpPr>
        <p:spPr>
          <a:xfrm>
            <a:off x="6849918" y="4051217"/>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29" name="AutoShape 6">
            <a:extLst>
              <a:ext uri="{FF2B5EF4-FFF2-40B4-BE49-F238E27FC236}">
                <a16:creationId xmlns:a16="http://schemas.microsoft.com/office/drawing/2014/main" id="{BF1A8E83-13C3-5F43-AC31-E51228786120}"/>
              </a:ext>
            </a:extLst>
          </p:cNvPr>
          <p:cNvSpPr/>
          <p:nvPr/>
        </p:nvSpPr>
        <p:spPr>
          <a:xfrm rot="5400000">
            <a:off x="6381500" y="3574717"/>
            <a:ext cx="108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0" name="AutoShape 6">
            <a:extLst>
              <a:ext uri="{FF2B5EF4-FFF2-40B4-BE49-F238E27FC236}">
                <a16:creationId xmlns:a16="http://schemas.microsoft.com/office/drawing/2014/main" id="{2E33C836-7093-354B-AEF8-B27B909F07DE}"/>
              </a:ext>
            </a:extLst>
          </p:cNvPr>
          <p:cNvSpPr/>
          <p:nvPr/>
        </p:nvSpPr>
        <p:spPr>
          <a:xfrm>
            <a:off x="6849918" y="3055919"/>
            <a:ext cx="216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1" name="AutoShape 7">
            <a:extLst>
              <a:ext uri="{FF2B5EF4-FFF2-40B4-BE49-F238E27FC236}">
                <a16:creationId xmlns:a16="http://schemas.microsoft.com/office/drawing/2014/main" id="{21DF850F-4B98-FC4D-88E2-DAE4DF784800}"/>
              </a:ext>
            </a:extLst>
          </p:cNvPr>
          <p:cNvSpPr/>
          <p:nvPr/>
        </p:nvSpPr>
        <p:spPr>
          <a:xfrm>
            <a:off x="6849918" y="3003467"/>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2" name="AutoShape 9">
            <a:extLst>
              <a:ext uri="{FF2B5EF4-FFF2-40B4-BE49-F238E27FC236}">
                <a16:creationId xmlns:a16="http://schemas.microsoft.com/office/drawing/2014/main" id="{A022B05B-6256-6B41-A6BB-5D1927BD6E40}"/>
              </a:ext>
            </a:extLst>
          </p:cNvPr>
          <p:cNvSpPr/>
          <p:nvPr/>
        </p:nvSpPr>
        <p:spPr>
          <a:xfrm>
            <a:off x="8937336" y="3003467"/>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3" name="AutoShape 6">
            <a:extLst>
              <a:ext uri="{FF2B5EF4-FFF2-40B4-BE49-F238E27FC236}">
                <a16:creationId xmlns:a16="http://schemas.microsoft.com/office/drawing/2014/main" id="{BF1A8E83-13C3-5F43-AC31-E51228786120}"/>
              </a:ext>
            </a:extLst>
          </p:cNvPr>
          <p:cNvSpPr/>
          <p:nvPr/>
        </p:nvSpPr>
        <p:spPr>
          <a:xfrm rot="5400000">
            <a:off x="8468918" y="2526967"/>
            <a:ext cx="108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4" name="AutoShape 6">
            <a:extLst>
              <a:ext uri="{FF2B5EF4-FFF2-40B4-BE49-F238E27FC236}">
                <a16:creationId xmlns:a16="http://schemas.microsoft.com/office/drawing/2014/main" id="{DDC3DFB4-C06A-2640-ADF9-DA2598704221}"/>
              </a:ext>
            </a:extLst>
          </p:cNvPr>
          <p:cNvSpPr/>
          <p:nvPr/>
        </p:nvSpPr>
        <p:spPr>
          <a:xfrm>
            <a:off x="8933883" y="2029194"/>
            <a:ext cx="2160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5" name="AutoShape 7">
            <a:extLst>
              <a:ext uri="{FF2B5EF4-FFF2-40B4-BE49-F238E27FC236}">
                <a16:creationId xmlns:a16="http://schemas.microsoft.com/office/drawing/2014/main" id="{D5DE28E3-C014-414C-A331-FB2C2BBF291D}"/>
              </a:ext>
            </a:extLst>
          </p:cNvPr>
          <p:cNvSpPr/>
          <p:nvPr/>
        </p:nvSpPr>
        <p:spPr>
          <a:xfrm>
            <a:off x="8933883" y="1976742"/>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6" name="AutoShape 9">
            <a:extLst>
              <a:ext uri="{FF2B5EF4-FFF2-40B4-BE49-F238E27FC236}">
                <a16:creationId xmlns:a16="http://schemas.microsoft.com/office/drawing/2014/main" id="{E3F91C1C-963A-7E4F-9096-CF1E68CC3C78}"/>
              </a:ext>
            </a:extLst>
          </p:cNvPr>
          <p:cNvSpPr/>
          <p:nvPr/>
        </p:nvSpPr>
        <p:spPr>
          <a:xfrm>
            <a:off x="11021301" y="1976742"/>
            <a:ext cx="152400" cy="152400"/>
          </a:xfrm>
          <a:prstGeom prst="ellipse">
            <a:avLst/>
          </a:prstGeom>
          <a:solidFill>
            <a:srgbClr val="00BFFF">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pic>
        <p:nvPicPr>
          <p:cNvPr id="39" name="Picture 38">
            <a:extLst>
              <a:ext uri="{FF2B5EF4-FFF2-40B4-BE49-F238E27FC236}">
                <a16:creationId xmlns:a16="http://schemas.microsoft.com/office/drawing/2014/main" id="{74D89436-DEFE-274F-85E4-3CE7B6B28FCE}"/>
              </a:ext>
            </a:extLst>
          </p:cNvPr>
          <p:cNvPicPr>
            <a:picLocks noChangeAspect="1"/>
          </p:cNvPicPr>
          <p:nvPr/>
        </p:nvPicPr>
        <p:blipFill>
          <a:blip r:embed="rId4"/>
          <a:stretch>
            <a:fillRect/>
          </a:stretch>
        </p:blipFill>
        <p:spPr>
          <a:xfrm>
            <a:off x="2733964" y="2503838"/>
            <a:ext cx="1376169" cy="1016000"/>
          </a:xfrm>
          <a:prstGeom prst="rect">
            <a:avLst/>
          </a:prstGeom>
        </p:spPr>
      </p:pic>
      <p:pic>
        <p:nvPicPr>
          <p:cNvPr id="40" name="Picture 39">
            <a:extLst>
              <a:ext uri="{FF2B5EF4-FFF2-40B4-BE49-F238E27FC236}">
                <a16:creationId xmlns:a16="http://schemas.microsoft.com/office/drawing/2014/main" id="{9F09C57D-4D4B-D940-9EE3-E7FF52BAA8C2}"/>
              </a:ext>
            </a:extLst>
          </p:cNvPr>
          <p:cNvPicPr>
            <a:picLocks noChangeAspect="1"/>
          </p:cNvPicPr>
          <p:nvPr/>
        </p:nvPicPr>
        <p:blipFill>
          <a:blip r:embed="rId5"/>
          <a:stretch>
            <a:fillRect/>
          </a:stretch>
        </p:blipFill>
        <p:spPr>
          <a:xfrm>
            <a:off x="7002318" y="3207141"/>
            <a:ext cx="1903769" cy="12270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3958"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62C">
              <a:alpha val="85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Jupiter </a:t>
            </a:r>
            <a:r>
              <a:rPr lang="zh-CN" altLang="en-US" sz="3600" b="1" i="0" u="none" strike="noStrike" dirty="0">
                <a:solidFill>
                  <a:srgbClr val="00BFFF"/>
                </a:solidFill>
                <a:latin typeface="Hei" pitchFamily="2" charset="-122"/>
                <a:ea typeface="Hei" pitchFamily="2" charset="-122"/>
                <a:cs typeface="Noto Sans SC"/>
                <a:sym typeface="Noto Sans SC"/>
              </a:rPr>
              <a:t>技术底座：从电层瓶颈到光电路交换（</a:t>
            </a:r>
            <a:r>
              <a:rPr lang="en-US" sz="3600" b="1" i="0" u="none" strike="noStrike" dirty="0">
                <a:solidFill>
                  <a:srgbClr val="00BFFF"/>
                </a:solidFill>
                <a:latin typeface="Hei" pitchFamily="2" charset="-122"/>
                <a:ea typeface="Hei" pitchFamily="2" charset="-122"/>
                <a:cs typeface="Noto Sans SC"/>
                <a:sym typeface="Noto Sans SC"/>
              </a:rPr>
              <a:t>OCS）</a:t>
            </a:r>
            <a:endParaRPr lang="en-US" sz="1100" dirty="0">
              <a:latin typeface="Hei" pitchFamily="2" charset="-122"/>
              <a:ea typeface="Hei" pitchFamily="2" charset="-122"/>
            </a:endParaRPr>
          </a:p>
        </p:txBody>
      </p:sp>
      <p:sp>
        <p:nvSpPr>
          <p:cNvPr id="5" name="AutoShape 5"/>
          <p:cNvSpPr/>
          <p:nvPr/>
        </p:nvSpPr>
        <p:spPr>
          <a:xfrm>
            <a:off x="762000" y="1492992"/>
            <a:ext cx="3302000" cy="2794000"/>
          </a:xfrm>
          <a:prstGeom prst="roundRect">
            <a:avLst>
              <a:gd name="adj" fmla="val 384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8200" y="1746992"/>
            <a:ext cx="609600" cy="609600"/>
          </a:xfrm>
          <a:prstGeom prst="rect">
            <a:avLst/>
          </a:prstGeom>
        </p:spPr>
      </p:pic>
      <p:sp>
        <p:nvSpPr>
          <p:cNvPr id="7" name="AutoShape 7"/>
          <p:cNvSpPr/>
          <p:nvPr/>
        </p:nvSpPr>
        <p:spPr>
          <a:xfrm>
            <a:off x="889000" y="2508992"/>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管理平面</a:t>
            </a:r>
          </a:p>
          <a:p>
            <a:pPr indent="0" algn="ctr">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自研ASIC芯片 (Titan)</a:t>
            </a:r>
            <a:endParaRPr lang="en-US" sz="1100" dirty="0">
              <a:latin typeface="Hei" pitchFamily="2" charset="-122"/>
              <a:ea typeface="Hei" pitchFamily="2" charset="-122"/>
            </a:endParaRPr>
          </a:p>
        </p:txBody>
      </p:sp>
      <p:sp>
        <p:nvSpPr>
          <p:cNvPr id="8" name="AutoShape 8"/>
          <p:cNvSpPr/>
          <p:nvPr/>
        </p:nvSpPr>
        <p:spPr>
          <a:xfrm>
            <a:off x="889000" y="3042392"/>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负责硬件级根信任校验和精细化遥测，确保网络安全和可观测性。</a:t>
            </a:r>
            <a:endParaRPr lang="en-US" sz="1100" dirty="0">
              <a:latin typeface="Hei" pitchFamily="2" charset="-122"/>
              <a:ea typeface="Hei" pitchFamily="2" charset="-122"/>
            </a:endParaRPr>
          </a:p>
        </p:txBody>
      </p:sp>
      <p:sp>
        <p:nvSpPr>
          <p:cNvPr id="9" name="AutoShape 9"/>
          <p:cNvSpPr/>
          <p:nvPr/>
        </p:nvSpPr>
        <p:spPr>
          <a:xfrm>
            <a:off x="4445000" y="1492992"/>
            <a:ext cx="3302000" cy="2794000"/>
          </a:xfrm>
          <a:prstGeom prst="roundRect">
            <a:avLst>
              <a:gd name="adj" fmla="val 384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91200" y="1746992"/>
            <a:ext cx="609600" cy="609600"/>
          </a:xfrm>
          <a:prstGeom prst="rect">
            <a:avLst/>
          </a:prstGeom>
        </p:spPr>
      </p:pic>
      <p:sp>
        <p:nvSpPr>
          <p:cNvPr id="11" name="AutoShape 11"/>
          <p:cNvSpPr/>
          <p:nvPr/>
        </p:nvSpPr>
        <p:spPr>
          <a:xfrm>
            <a:off x="4572000" y="2508992"/>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控制平面 </a:t>
            </a:r>
          </a:p>
          <a:p>
            <a:pPr indent="0" algn="ctr">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(Orion</a:t>
            </a:r>
            <a:r>
              <a:rPr lang="zh-CN" altLang="en-US" sz="2000" b="1" i="0" u="none" strike="noStrike" dirty="0">
                <a:solidFill>
                  <a:srgbClr val="FFFFFF"/>
                </a:solidFill>
                <a:latin typeface="Hei" pitchFamily="2" charset="-122"/>
                <a:ea typeface="Hei" pitchFamily="2" charset="-122"/>
                <a:cs typeface="Noto Sans SC"/>
                <a:sym typeface="Noto Sans SC"/>
              </a:rPr>
              <a:t> </a:t>
            </a:r>
            <a:r>
              <a:rPr lang="en-US" altLang="zh-CN" sz="2000" b="1" i="0" u="none" strike="noStrike" dirty="0">
                <a:solidFill>
                  <a:srgbClr val="FFFFFF"/>
                </a:solidFill>
                <a:latin typeface="Hei" pitchFamily="2" charset="-122"/>
                <a:ea typeface="Hei" pitchFamily="2" charset="-122"/>
                <a:cs typeface="Noto Sans SC"/>
                <a:sym typeface="Noto Sans SC"/>
              </a:rPr>
              <a:t>SDN</a:t>
            </a:r>
            <a:r>
              <a:rPr lang="en-US" sz="2000" b="1" i="0" u="none" strike="noStrike" dirty="0">
                <a:solidFill>
                  <a:srgbClr val="FFFFFF"/>
                </a:solidFill>
                <a:latin typeface="Hei" pitchFamily="2" charset="-122"/>
                <a:ea typeface="Hei" pitchFamily="2" charset="-122"/>
                <a:cs typeface="Noto Sans SC"/>
                <a:sym typeface="Noto Sans SC"/>
              </a:rPr>
              <a:t>)</a:t>
            </a:r>
            <a:endParaRPr lang="en-US" sz="1100" dirty="0">
              <a:latin typeface="Hei" pitchFamily="2" charset="-122"/>
              <a:ea typeface="Hei" pitchFamily="2" charset="-122"/>
            </a:endParaRPr>
          </a:p>
        </p:txBody>
      </p:sp>
      <p:sp>
        <p:nvSpPr>
          <p:cNvPr id="12" name="AutoShape 12"/>
          <p:cNvSpPr/>
          <p:nvPr/>
        </p:nvSpPr>
        <p:spPr>
          <a:xfrm>
            <a:off x="4572000" y="2990437"/>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实现意图驱动的网络管理，</a:t>
            </a:r>
            <a:r>
              <a:rPr lang="zh-CN" altLang="en-US" sz="1800" b="0" i="0" u="none" strike="noStrike" dirty="0">
                <a:solidFill>
                  <a:srgbClr val="CCCCCC"/>
                </a:solidFill>
                <a:latin typeface="Hei" pitchFamily="2" charset="-122"/>
                <a:ea typeface="Hei" pitchFamily="2" charset="-122"/>
                <a:cs typeface="Noto Sans SC"/>
                <a:sym typeface="Noto Sans SC"/>
              </a:rPr>
              <a:t>动态重分配哈希拓扑，使</a:t>
            </a:r>
            <a:r>
              <a:rPr lang="en-US" altLang="zh-CN" sz="1800" b="0" i="0" u="none" strike="noStrike" dirty="0">
                <a:solidFill>
                  <a:srgbClr val="CCCCCC"/>
                </a:solidFill>
                <a:latin typeface="Hei" pitchFamily="2" charset="-122"/>
                <a:ea typeface="Hei" pitchFamily="2" charset="-122"/>
                <a:cs typeface="Noto Sans SC"/>
                <a:sym typeface="Noto Sans SC"/>
              </a:rPr>
              <a:t>60%</a:t>
            </a:r>
            <a:r>
              <a:rPr lang="zh-CN" altLang="en-US" sz="1800" b="0" i="0" u="none" strike="noStrike" dirty="0">
                <a:solidFill>
                  <a:srgbClr val="CCCCCC"/>
                </a:solidFill>
                <a:latin typeface="Hei" pitchFamily="2" charset="-122"/>
                <a:ea typeface="Hei" pitchFamily="2" charset="-122"/>
                <a:cs typeface="Noto Sans SC"/>
                <a:sym typeface="Noto Sans SC"/>
              </a:rPr>
              <a:t>流量实现一跳直达。</a:t>
            </a:r>
            <a:endParaRPr lang="en-US" sz="1100" dirty="0">
              <a:latin typeface="Hei" pitchFamily="2" charset="-122"/>
              <a:ea typeface="Hei" pitchFamily="2" charset="-122"/>
            </a:endParaRPr>
          </a:p>
        </p:txBody>
      </p:sp>
      <p:sp>
        <p:nvSpPr>
          <p:cNvPr id="13" name="AutoShape 13"/>
          <p:cNvSpPr/>
          <p:nvPr/>
        </p:nvSpPr>
        <p:spPr>
          <a:xfrm>
            <a:off x="8128000" y="1492992"/>
            <a:ext cx="3302000" cy="2794000"/>
          </a:xfrm>
          <a:prstGeom prst="roundRect">
            <a:avLst>
              <a:gd name="adj" fmla="val 384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4200" y="1746992"/>
            <a:ext cx="609600" cy="609600"/>
          </a:xfrm>
          <a:prstGeom prst="rect">
            <a:avLst/>
          </a:prstGeom>
        </p:spPr>
      </p:pic>
      <p:sp>
        <p:nvSpPr>
          <p:cNvPr id="15" name="AutoShape 15"/>
          <p:cNvSpPr/>
          <p:nvPr/>
        </p:nvSpPr>
        <p:spPr>
          <a:xfrm>
            <a:off x="8255000" y="2508992"/>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数据</a:t>
            </a:r>
            <a:r>
              <a:rPr lang="en-US" altLang="zh-CN" sz="2000" b="1" i="0" u="none" strike="noStrike" dirty="0">
                <a:solidFill>
                  <a:srgbClr val="FFFFFF"/>
                </a:solidFill>
                <a:latin typeface="Hei" pitchFamily="2" charset="-122"/>
                <a:ea typeface="Hei" pitchFamily="2" charset="-122"/>
                <a:cs typeface="Noto Sans SC"/>
                <a:sym typeface="Noto Sans SC"/>
              </a:rPr>
              <a:t>/</a:t>
            </a:r>
            <a:r>
              <a:rPr lang="zh-CN" altLang="en-US" sz="2000" b="1" i="0" u="none" strike="noStrike" dirty="0">
                <a:solidFill>
                  <a:srgbClr val="FFFFFF"/>
                </a:solidFill>
                <a:latin typeface="Hei" pitchFamily="2" charset="-122"/>
                <a:ea typeface="Hei" pitchFamily="2" charset="-122"/>
                <a:cs typeface="Noto Sans SC"/>
                <a:sym typeface="Noto Sans SC"/>
              </a:rPr>
              <a:t>物理层</a:t>
            </a:r>
            <a:endParaRPr lang="en-US" sz="2000" b="1" i="0" u="none" strike="noStrike" dirty="0">
              <a:solidFill>
                <a:srgbClr val="FFFFFF"/>
              </a:solidFill>
              <a:latin typeface="Hei" pitchFamily="2" charset="-122"/>
              <a:ea typeface="Hei" pitchFamily="2" charset="-122"/>
              <a:cs typeface="Noto Sans SC"/>
              <a:sym typeface="Noto Sans SC"/>
            </a:endParaRPr>
          </a:p>
          <a:p>
            <a:pPr indent="0" algn="ctr">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光电混合交换 (OCS)</a:t>
            </a:r>
            <a:endParaRPr lang="en-US" sz="1100" dirty="0">
              <a:latin typeface="Hei" pitchFamily="2" charset="-122"/>
              <a:ea typeface="Hei" pitchFamily="2" charset="-122"/>
            </a:endParaRPr>
          </a:p>
        </p:txBody>
      </p:sp>
      <p:sp>
        <p:nvSpPr>
          <p:cNvPr id="16" name="AutoShape 16"/>
          <p:cNvSpPr/>
          <p:nvPr/>
        </p:nvSpPr>
        <p:spPr>
          <a:xfrm>
            <a:off x="8255000" y="2979387"/>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a:solidFill>
                  <a:srgbClr val="CCCCCC"/>
                </a:solidFill>
                <a:latin typeface="Hei" pitchFamily="2" charset="-122"/>
                <a:ea typeface="Hei" pitchFamily="2" charset="-122"/>
                <a:cs typeface="Noto Sans SC"/>
                <a:sym typeface="Noto Sans SC"/>
              </a:rPr>
              <a:t>引入光电路交换机，降低功耗和成本，实现13.1Pbps的惊人带宽。</a:t>
            </a:r>
            <a:endParaRPr lang="en-US" sz="1100" dirty="0">
              <a:latin typeface="Hei" pitchFamily="2" charset="-122"/>
              <a:ea typeface="Hei" pitchFamily="2" charset="-122"/>
            </a:endParaRPr>
          </a:p>
        </p:txBody>
      </p:sp>
      <p:sp>
        <p:nvSpPr>
          <p:cNvPr id="17" name="AutoShape 17"/>
          <p:cNvSpPr/>
          <p:nvPr/>
        </p:nvSpPr>
        <p:spPr>
          <a:xfrm>
            <a:off x="758042" y="4483265"/>
            <a:ext cx="10668000" cy="254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74" name="AutoShape 5">
            <a:extLst>
              <a:ext uri="{FF2B5EF4-FFF2-40B4-BE49-F238E27FC236}">
                <a16:creationId xmlns:a16="http://schemas.microsoft.com/office/drawing/2014/main" id="{30538CEC-2AF1-BF4F-92E2-85DDA620B725}"/>
              </a:ext>
            </a:extLst>
          </p:cNvPr>
          <p:cNvSpPr/>
          <p:nvPr/>
        </p:nvSpPr>
        <p:spPr>
          <a:xfrm>
            <a:off x="653142" y="4704938"/>
            <a:ext cx="2540000" cy="1870364"/>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p>
        </p:txBody>
      </p:sp>
      <p:pic>
        <p:nvPicPr>
          <p:cNvPr id="75" name="Picture 6">
            <a:extLst>
              <a:ext uri="{FF2B5EF4-FFF2-40B4-BE49-F238E27FC236}">
                <a16:creationId xmlns:a16="http://schemas.microsoft.com/office/drawing/2014/main" id="{46415D97-DFDF-594D-B6A9-B25F679CB4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69142" y="4958938"/>
            <a:ext cx="508000" cy="508000"/>
          </a:xfrm>
          <a:prstGeom prst="rect">
            <a:avLst/>
          </a:prstGeom>
        </p:spPr>
      </p:pic>
      <p:sp>
        <p:nvSpPr>
          <p:cNvPr id="76" name="AutoShape 7">
            <a:extLst>
              <a:ext uri="{FF2B5EF4-FFF2-40B4-BE49-F238E27FC236}">
                <a16:creationId xmlns:a16="http://schemas.microsoft.com/office/drawing/2014/main" id="{1964454D-6BBF-9A44-940E-F09CDA35B676}"/>
              </a:ext>
            </a:extLst>
          </p:cNvPr>
          <p:cNvSpPr/>
          <p:nvPr/>
        </p:nvSpPr>
        <p:spPr>
          <a:xfrm>
            <a:off x="653142" y="5593938"/>
            <a:ext cx="254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800" b="1" i="0" u="none" strike="noStrike" dirty="0">
                <a:solidFill>
                  <a:srgbClr val="FFFFFF"/>
                </a:solidFill>
                <a:latin typeface="Noto Sans SC"/>
                <a:ea typeface="Noto Sans SC"/>
                <a:cs typeface="Noto Sans SC"/>
                <a:sym typeface="Noto Sans SC"/>
              </a:rPr>
              <a:t>13.1 Pbps</a:t>
            </a:r>
            <a:endParaRPr lang="en-US" sz="1100" dirty="0"/>
          </a:p>
        </p:txBody>
      </p:sp>
      <p:sp>
        <p:nvSpPr>
          <p:cNvPr id="77" name="AutoShape 8">
            <a:extLst>
              <a:ext uri="{FF2B5EF4-FFF2-40B4-BE49-F238E27FC236}">
                <a16:creationId xmlns:a16="http://schemas.microsoft.com/office/drawing/2014/main" id="{C45FF4BE-F016-3646-942C-9940E19C3475}"/>
              </a:ext>
            </a:extLst>
          </p:cNvPr>
          <p:cNvSpPr/>
          <p:nvPr/>
        </p:nvSpPr>
        <p:spPr>
          <a:xfrm>
            <a:off x="653142" y="6101938"/>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a:solidFill>
                  <a:srgbClr val="CCCCCC"/>
                </a:solidFill>
                <a:latin typeface="Noto Sans SC"/>
                <a:ea typeface="Noto Sans SC"/>
                <a:cs typeface="Noto Sans SC"/>
                <a:sym typeface="Noto Sans SC"/>
              </a:rPr>
              <a:t>单数据中心总带宽</a:t>
            </a:r>
            <a:endParaRPr lang="en-US" sz="1100" dirty="0"/>
          </a:p>
        </p:txBody>
      </p:sp>
      <p:sp>
        <p:nvSpPr>
          <p:cNvPr id="78" name="AutoShape 10">
            <a:extLst>
              <a:ext uri="{FF2B5EF4-FFF2-40B4-BE49-F238E27FC236}">
                <a16:creationId xmlns:a16="http://schemas.microsoft.com/office/drawing/2014/main" id="{96B8B31F-7944-8B4B-8171-B2DDFC117EF3}"/>
              </a:ext>
            </a:extLst>
          </p:cNvPr>
          <p:cNvSpPr/>
          <p:nvPr/>
        </p:nvSpPr>
        <p:spPr>
          <a:xfrm>
            <a:off x="3447142" y="4704938"/>
            <a:ext cx="2540000" cy="1870364"/>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p>
        </p:txBody>
      </p:sp>
      <p:pic>
        <p:nvPicPr>
          <p:cNvPr id="79" name="Picture 11">
            <a:extLst>
              <a:ext uri="{FF2B5EF4-FFF2-40B4-BE49-F238E27FC236}">
                <a16:creationId xmlns:a16="http://schemas.microsoft.com/office/drawing/2014/main" id="{0DBC6E9D-70E1-5743-A116-BD6B4EAD51D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63142" y="4958938"/>
            <a:ext cx="508000" cy="508000"/>
          </a:xfrm>
          <a:prstGeom prst="rect">
            <a:avLst/>
          </a:prstGeom>
        </p:spPr>
      </p:pic>
      <p:sp>
        <p:nvSpPr>
          <p:cNvPr id="80" name="AutoShape 12">
            <a:extLst>
              <a:ext uri="{FF2B5EF4-FFF2-40B4-BE49-F238E27FC236}">
                <a16:creationId xmlns:a16="http://schemas.microsoft.com/office/drawing/2014/main" id="{01FB1F42-74B3-064E-B170-DA20F836C02E}"/>
              </a:ext>
            </a:extLst>
          </p:cNvPr>
          <p:cNvSpPr/>
          <p:nvPr/>
        </p:nvSpPr>
        <p:spPr>
          <a:xfrm>
            <a:off x="3447142" y="5593938"/>
            <a:ext cx="254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800" b="1" i="0" u="none" strike="noStrike" dirty="0">
                <a:solidFill>
                  <a:srgbClr val="FFFFFF"/>
                </a:solidFill>
                <a:latin typeface="Noto Sans SC"/>
                <a:ea typeface="Noto Sans SC"/>
                <a:cs typeface="Noto Sans SC"/>
                <a:sym typeface="Noto Sans SC"/>
              </a:rPr>
              <a:t>41%</a:t>
            </a:r>
            <a:endParaRPr lang="en-US" sz="1100" dirty="0"/>
          </a:p>
        </p:txBody>
      </p:sp>
      <p:sp>
        <p:nvSpPr>
          <p:cNvPr id="81" name="AutoShape 13">
            <a:extLst>
              <a:ext uri="{FF2B5EF4-FFF2-40B4-BE49-F238E27FC236}">
                <a16:creationId xmlns:a16="http://schemas.microsoft.com/office/drawing/2014/main" id="{56F33E10-2E48-2E4C-896E-39760D8FBA86}"/>
              </a:ext>
            </a:extLst>
          </p:cNvPr>
          <p:cNvSpPr/>
          <p:nvPr/>
        </p:nvSpPr>
        <p:spPr>
          <a:xfrm>
            <a:off x="3447142" y="6101938"/>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a:solidFill>
                  <a:srgbClr val="CCCCCC"/>
                </a:solidFill>
                <a:latin typeface="Noto Sans SC"/>
                <a:ea typeface="Noto Sans SC"/>
                <a:cs typeface="Noto Sans SC"/>
                <a:sym typeface="Noto Sans SC"/>
              </a:rPr>
              <a:t>功耗降低</a:t>
            </a:r>
            <a:endParaRPr lang="en-US" sz="1100" dirty="0"/>
          </a:p>
        </p:txBody>
      </p:sp>
      <p:sp>
        <p:nvSpPr>
          <p:cNvPr id="82" name="AutoShape 15">
            <a:extLst>
              <a:ext uri="{FF2B5EF4-FFF2-40B4-BE49-F238E27FC236}">
                <a16:creationId xmlns:a16="http://schemas.microsoft.com/office/drawing/2014/main" id="{5949F70E-AF8D-7740-B7D2-191EAF1415D2}"/>
              </a:ext>
            </a:extLst>
          </p:cNvPr>
          <p:cNvSpPr/>
          <p:nvPr/>
        </p:nvSpPr>
        <p:spPr>
          <a:xfrm>
            <a:off x="6241142" y="4704938"/>
            <a:ext cx="2540000" cy="1870364"/>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p>
        </p:txBody>
      </p:sp>
      <p:pic>
        <p:nvPicPr>
          <p:cNvPr id="83" name="Picture 16">
            <a:extLst>
              <a:ext uri="{FF2B5EF4-FFF2-40B4-BE49-F238E27FC236}">
                <a16:creationId xmlns:a16="http://schemas.microsoft.com/office/drawing/2014/main" id="{7E66F9E2-A85C-A142-BD18-41E5E4A3AEE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57142" y="4958938"/>
            <a:ext cx="508000" cy="508000"/>
          </a:xfrm>
          <a:prstGeom prst="rect">
            <a:avLst/>
          </a:prstGeom>
        </p:spPr>
      </p:pic>
      <p:sp>
        <p:nvSpPr>
          <p:cNvPr id="84" name="AutoShape 17">
            <a:extLst>
              <a:ext uri="{FF2B5EF4-FFF2-40B4-BE49-F238E27FC236}">
                <a16:creationId xmlns:a16="http://schemas.microsoft.com/office/drawing/2014/main" id="{5286C49D-A41E-2B42-B51C-CD79FB3627CD}"/>
              </a:ext>
            </a:extLst>
          </p:cNvPr>
          <p:cNvSpPr/>
          <p:nvPr/>
        </p:nvSpPr>
        <p:spPr>
          <a:xfrm>
            <a:off x="6241142" y="5593938"/>
            <a:ext cx="254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800" b="1" i="0" u="none" strike="noStrike" dirty="0">
                <a:solidFill>
                  <a:srgbClr val="FFFFFF"/>
                </a:solidFill>
                <a:latin typeface="Noto Sans SC"/>
                <a:ea typeface="Noto Sans SC"/>
                <a:cs typeface="Noto Sans SC"/>
                <a:sym typeface="Noto Sans SC"/>
              </a:rPr>
              <a:t>1.4 跳</a:t>
            </a:r>
            <a:endParaRPr lang="en-US" sz="1100" dirty="0"/>
          </a:p>
        </p:txBody>
      </p:sp>
      <p:sp>
        <p:nvSpPr>
          <p:cNvPr id="85" name="AutoShape 18">
            <a:extLst>
              <a:ext uri="{FF2B5EF4-FFF2-40B4-BE49-F238E27FC236}">
                <a16:creationId xmlns:a16="http://schemas.microsoft.com/office/drawing/2014/main" id="{5D3FC0EF-504E-4842-B34B-C7487B909D94}"/>
              </a:ext>
            </a:extLst>
          </p:cNvPr>
          <p:cNvSpPr/>
          <p:nvPr/>
        </p:nvSpPr>
        <p:spPr>
          <a:xfrm>
            <a:off x="6241142" y="6101938"/>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a:solidFill>
                  <a:srgbClr val="CCCCCC"/>
                </a:solidFill>
                <a:latin typeface="Noto Sans SC"/>
                <a:ea typeface="Noto Sans SC"/>
                <a:cs typeface="Noto Sans SC"/>
                <a:sym typeface="Noto Sans SC"/>
              </a:rPr>
              <a:t>平均路径长度</a:t>
            </a:r>
            <a:endParaRPr lang="en-US" sz="1100" dirty="0"/>
          </a:p>
        </p:txBody>
      </p:sp>
      <p:sp>
        <p:nvSpPr>
          <p:cNvPr id="86" name="AutoShape 20">
            <a:extLst>
              <a:ext uri="{FF2B5EF4-FFF2-40B4-BE49-F238E27FC236}">
                <a16:creationId xmlns:a16="http://schemas.microsoft.com/office/drawing/2014/main" id="{58DA9A32-2724-6C46-88F1-46DDC03E8CBF}"/>
              </a:ext>
            </a:extLst>
          </p:cNvPr>
          <p:cNvSpPr/>
          <p:nvPr/>
        </p:nvSpPr>
        <p:spPr>
          <a:xfrm>
            <a:off x="9035142" y="4704938"/>
            <a:ext cx="2540000" cy="1870364"/>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p>
        </p:txBody>
      </p:sp>
      <p:pic>
        <p:nvPicPr>
          <p:cNvPr id="87" name="Picture 21">
            <a:extLst>
              <a:ext uri="{FF2B5EF4-FFF2-40B4-BE49-F238E27FC236}">
                <a16:creationId xmlns:a16="http://schemas.microsoft.com/office/drawing/2014/main" id="{B1D4D1E0-3AF9-5741-ADC2-72FB9AD9CDA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051142" y="4958938"/>
            <a:ext cx="508000" cy="508000"/>
          </a:xfrm>
          <a:prstGeom prst="rect">
            <a:avLst/>
          </a:prstGeom>
        </p:spPr>
      </p:pic>
      <p:sp>
        <p:nvSpPr>
          <p:cNvPr id="88" name="AutoShape 22">
            <a:extLst>
              <a:ext uri="{FF2B5EF4-FFF2-40B4-BE49-F238E27FC236}">
                <a16:creationId xmlns:a16="http://schemas.microsoft.com/office/drawing/2014/main" id="{70CBF2A0-E8FA-7F4E-BE03-7CCAC498A1EE}"/>
              </a:ext>
            </a:extLst>
          </p:cNvPr>
          <p:cNvSpPr/>
          <p:nvPr/>
        </p:nvSpPr>
        <p:spPr>
          <a:xfrm>
            <a:off x="9035142" y="5593938"/>
            <a:ext cx="254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800" b="1" i="0" u="none" strike="noStrike" dirty="0">
                <a:solidFill>
                  <a:srgbClr val="FFFFFF"/>
                </a:solidFill>
                <a:latin typeface="Noto Sans SC"/>
                <a:ea typeface="Noto Sans SC"/>
                <a:cs typeface="Noto Sans SC"/>
                <a:sym typeface="Noto Sans SC"/>
              </a:rPr>
              <a:t>50倍</a:t>
            </a:r>
            <a:endParaRPr lang="en-US" sz="1100" dirty="0"/>
          </a:p>
        </p:txBody>
      </p:sp>
      <p:sp>
        <p:nvSpPr>
          <p:cNvPr id="89" name="AutoShape 23">
            <a:extLst>
              <a:ext uri="{FF2B5EF4-FFF2-40B4-BE49-F238E27FC236}">
                <a16:creationId xmlns:a16="http://schemas.microsoft.com/office/drawing/2014/main" id="{DAC009D3-16CD-AE42-B69C-5A04CE53B9BC}"/>
              </a:ext>
            </a:extLst>
          </p:cNvPr>
          <p:cNvSpPr/>
          <p:nvPr/>
        </p:nvSpPr>
        <p:spPr>
          <a:xfrm>
            <a:off x="9035142" y="6101938"/>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a:solidFill>
                  <a:srgbClr val="CCCCCC"/>
                </a:solidFill>
                <a:latin typeface="Noto Sans SC"/>
                <a:ea typeface="Noto Sans SC"/>
                <a:cs typeface="Noto Sans SC"/>
                <a:sym typeface="Noto Sans SC"/>
              </a:rPr>
              <a:t>网络韧性提升</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5400" y="0"/>
            <a:ext cx="12192000" cy="6858000"/>
          </a:xfrm>
          <a:prstGeom prst="roundRect">
            <a:avLst>
              <a:gd name="adj" fmla="val 0"/>
            </a:avLst>
          </a:prstGeom>
          <a:solidFill>
            <a:srgbClr val="050F1E">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AWS </a:t>
            </a:r>
            <a:r>
              <a:rPr lang="zh-CN" altLang="en-US" sz="3600" b="1" i="0" u="none" strike="noStrike" dirty="0">
                <a:solidFill>
                  <a:srgbClr val="00BFFF"/>
                </a:solidFill>
                <a:latin typeface="Hei" pitchFamily="2" charset="-122"/>
                <a:ea typeface="Hei" pitchFamily="2" charset="-122"/>
                <a:cs typeface="Noto Sans SC"/>
                <a:sym typeface="Noto Sans SC"/>
              </a:rPr>
              <a:t>面临的独特挑战：多租户隔离与虚拟化税</a:t>
            </a:r>
            <a:endParaRPr lang="en-US" sz="1100" dirty="0">
              <a:latin typeface="Hei" pitchFamily="2" charset="-122"/>
              <a:ea typeface="Hei" pitchFamily="2" charset="-122"/>
            </a:endParaRPr>
          </a:p>
        </p:txBody>
      </p:sp>
      <p:sp>
        <p:nvSpPr>
          <p:cNvPr id="15" name="AutoShape 5">
            <a:extLst>
              <a:ext uri="{FF2B5EF4-FFF2-40B4-BE49-F238E27FC236}">
                <a16:creationId xmlns:a16="http://schemas.microsoft.com/office/drawing/2014/main" id="{5FCE329E-BD25-8147-BC2E-7FD819014DC1}"/>
              </a:ext>
            </a:extLst>
          </p:cNvPr>
          <p:cNvSpPr/>
          <p:nvPr/>
        </p:nvSpPr>
        <p:spPr>
          <a:xfrm>
            <a:off x="508000" y="1882776"/>
            <a:ext cx="4953000" cy="3403145"/>
          </a:xfrm>
          <a:prstGeom prst="roundRect">
            <a:avLst>
              <a:gd name="adj" fmla="val 384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16" name="AutoShape 6">
            <a:extLst>
              <a:ext uri="{FF2B5EF4-FFF2-40B4-BE49-F238E27FC236}">
                <a16:creationId xmlns:a16="http://schemas.microsoft.com/office/drawing/2014/main" id="{4C0FA79C-1191-9348-BEEA-2360858724FF}"/>
              </a:ext>
            </a:extLst>
          </p:cNvPr>
          <p:cNvSpPr/>
          <p:nvPr/>
        </p:nvSpPr>
        <p:spPr>
          <a:xfrm>
            <a:off x="762000" y="2073277"/>
            <a:ext cx="4445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核心痛点</a:t>
            </a:r>
            <a:endParaRPr lang="en-US" sz="1100" dirty="0">
              <a:latin typeface="Hei" pitchFamily="2" charset="-122"/>
              <a:ea typeface="Hei" pitchFamily="2" charset="-122"/>
            </a:endParaRPr>
          </a:p>
        </p:txBody>
      </p:sp>
      <p:pic>
        <p:nvPicPr>
          <p:cNvPr id="17" name="Graphic 16">
            <a:extLst>
              <a:ext uri="{FF2B5EF4-FFF2-40B4-BE49-F238E27FC236}">
                <a16:creationId xmlns:a16="http://schemas.microsoft.com/office/drawing/2014/main" id="{DAA8D434-3769-1543-9B66-73D40F428F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644777"/>
            <a:ext cx="304800" cy="304800"/>
          </a:xfrm>
          <a:prstGeom prst="rect">
            <a:avLst/>
          </a:prstGeom>
        </p:spPr>
      </p:pic>
      <p:sp>
        <p:nvSpPr>
          <p:cNvPr id="18" name="AutoShape 8">
            <a:extLst>
              <a:ext uri="{FF2B5EF4-FFF2-40B4-BE49-F238E27FC236}">
                <a16:creationId xmlns:a16="http://schemas.microsoft.com/office/drawing/2014/main" id="{D14B3C35-EDB2-6641-8593-194A0B5B94F9}"/>
              </a:ext>
            </a:extLst>
          </p:cNvPr>
          <p:cNvSpPr/>
          <p:nvPr/>
        </p:nvSpPr>
        <p:spPr>
          <a:xfrm>
            <a:off x="1143000" y="2425702"/>
            <a:ext cx="4064000" cy="1303109"/>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800" b="1" i="0" u="none" strike="noStrike" dirty="0">
                <a:solidFill>
                  <a:srgbClr val="CCCCCC"/>
                </a:solidFill>
                <a:latin typeface="Hei" pitchFamily="2" charset="-122"/>
                <a:ea typeface="Hei" pitchFamily="2" charset="-122"/>
                <a:cs typeface="Noto Sans SC"/>
                <a:sym typeface="Noto Sans SC"/>
              </a:rPr>
              <a:t>传统的软件网络处理（封装、路由、过滤）消耗大量服务器</a:t>
            </a:r>
            <a:r>
              <a:rPr lang="en-US" altLang="zh-CN" sz="1800" b="1" i="0" u="none" strike="noStrike" dirty="0">
                <a:solidFill>
                  <a:srgbClr val="CCCCCC"/>
                </a:solidFill>
                <a:latin typeface="Hei" pitchFamily="2" charset="-122"/>
                <a:ea typeface="Hei" pitchFamily="2" charset="-122"/>
                <a:cs typeface="Noto Sans SC"/>
                <a:sym typeface="Noto Sans SC"/>
              </a:rPr>
              <a:t>CPU</a:t>
            </a:r>
            <a:r>
              <a:rPr lang="zh-CN" altLang="en-US" sz="1800" b="1" i="0" u="none" strike="noStrike" dirty="0">
                <a:solidFill>
                  <a:srgbClr val="CCCCCC"/>
                </a:solidFill>
                <a:latin typeface="Hei" pitchFamily="2" charset="-122"/>
                <a:ea typeface="Hei" pitchFamily="2" charset="-122"/>
                <a:cs typeface="Noto Sans SC"/>
                <a:sym typeface="Noto Sans SC"/>
              </a:rPr>
              <a:t>周期，导致计算能力缩水且网络延迟极度不稳定。</a:t>
            </a:r>
            <a:endParaRPr lang="en-US" sz="1100" dirty="0">
              <a:latin typeface="Hei" pitchFamily="2" charset="-122"/>
              <a:ea typeface="Hei" pitchFamily="2" charset="-122"/>
            </a:endParaRPr>
          </a:p>
        </p:txBody>
      </p:sp>
      <p:pic>
        <p:nvPicPr>
          <p:cNvPr id="19" name="Graphic 18">
            <a:extLst>
              <a:ext uri="{FF2B5EF4-FFF2-40B4-BE49-F238E27FC236}">
                <a16:creationId xmlns:a16="http://schemas.microsoft.com/office/drawing/2014/main" id="{221CB0CD-9BD7-824A-88FF-C9F30E2D4A6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2095" y="3854453"/>
            <a:ext cx="304800" cy="304800"/>
          </a:xfrm>
          <a:prstGeom prst="rect">
            <a:avLst/>
          </a:prstGeom>
        </p:spPr>
      </p:pic>
      <p:sp>
        <p:nvSpPr>
          <p:cNvPr id="20" name="AutoShape 10">
            <a:extLst>
              <a:ext uri="{FF2B5EF4-FFF2-40B4-BE49-F238E27FC236}">
                <a16:creationId xmlns:a16="http://schemas.microsoft.com/office/drawing/2014/main" id="{57554BAB-F8C7-F742-9E7A-9AF240188CD0}"/>
              </a:ext>
            </a:extLst>
          </p:cNvPr>
          <p:cNvSpPr/>
          <p:nvPr/>
        </p:nvSpPr>
        <p:spPr>
          <a:xfrm>
            <a:off x="1143000" y="3829053"/>
            <a:ext cx="40640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altLang="zh-CN" sz="1800" b="1" i="0" u="none" strike="noStrike" dirty="0">
                <a:solidFill>
                  <a:srgbClr val="CCCCCC"/>
                </a:solidFill>
                <a:latin typeface="Hei" pitchFamily="2" charset="-122"/>
                <a:ea typeface="Hei" pitchFamily="2" charset="-122"/>
                <a:cs typeface="Noto Sans SC"/>
                <a:sym typeface="Noto Sans SC"/>
              </a:rPr>
              <a:t>AWS</a:t>
            </a:r>
            <a:r>
              <a:rPr lang="zh-CN" altLang="en-US" sz="1800" b="1" i="0" u="none" strike="noStrike" dirty="0">
                <a:solidFill>
                  <a:srgbClr val="CCCCCC"/>
                </a:solidFill>
                <a:latin typeface="Hei" pitchFamily="2" charset="-122"/>
                <a:ea typeface="Hei" pitchFamily="2" charset="-122"/>
                <a:cs typeface="Noto Sans SC"/>
                <a:sym typeface="Noto Sans SC"/>
              </a:rPr>
              <a:t>在多租户环境下面临性能保障与安全隔离的双重挑战，传统虚拟化带来了显著的性能开销。</a:t>
            </a:r>
          </a:p>
        </p:txBody>
      </p:sp>
      <p:sp>
        <p:nvSpPr>
          <p:cNvPr id="24" name="AutoShape 14">
            <a:extLst>
              <a:ext uri="{FF2B5EF4-FFF2-40B4-BE49-F238E27FC236}">
                <a16:creationId xmlns:a16="http://schemas.microsoft.com/office/drawing/2014/main" id="{1BB8FD04-2CCC-D94E-9BCD-0509A3BDB9ED}"/>
              </a:ext>
            </a:extLst>
          </p:cNvPr>
          <p:cNvSpPr/>
          <p:nvPr/>
        </p:nvSpPr>
        <p:spPr>
          <a:xfrm>
            <a:off x="6850744" y="1882777"/>
            <a:ext cx="4699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破局之路</a:t>
            </a:r>
            <a:endParaRPr lang="en-US" sz="1100" dirty="0">
              <a:latin typeface="Hei" pitchFamily="2" charset="-122"/>
              <a:ea typeface="Hei" pitchFamily="2" charset="-122"/>
            </a:endParaRPr>
          </a:p>
        </p:txBody>
      </p:sp>
      <p:sp>
        <p:nvSpPr>
          <p:cNvPr id="31" name="AutoShape 23">
            <a:extLst>
              <a:ext uri="{FF2B5EF4-FFF2-40B4-BE49-F238E27FC236}">
                <a16:creationId xmlns:a16="http://schemas.microsoft.com/office/drawing/2014/main" id="{DC15FD34-E4B9-E344-9094-3769E473DBC2}"/>
              </a:ext>
            </a:extLst>
          </p:cNvPr>
          <p:cNvSpPr/>
          <p:nvPr/>
        </p:nvSpPr>
        <p:spPr>
          <a:xfrm>
            <a:off x="508000" y="6343197"/>
            <a:ext cx="10922000" cy="254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dirty="0">
              <a:latin typeface="Hei" pitchFamily="2" charset="-122"/>
              <a:ea typeface="Hei" pitchFamily="2" charset="-122"/>
            </a:endParaRPr>
          </a:p>
        </p:txBody>
      </p:sp>
      <p:sp>
        <p:nvSpPr>
          <p:cNvPr id="35" name="Right Arrow 34">
            <a:extLst>
              <a:ext uri="{FF2B5EF4-FFF2-40B4-BE49-F238E27FC236}">
                <a16:creationId xmlns:a16="http://schemas.microsoft.com/office/drawing/2014/main" id="{59E8E366-2D8C-6843-A2A1-A3C9EBB341DC}"/>
              </a:ext>
            </a:extLst>
          </p:cNvPr>
          <p:cNvSpPr/>
          <p:nvPr/>
        </p:nvSpPr>
        <p:spPr>
          <a:xfrm>
            <a:off x="5666707" y="3089952"/>
            <a:ext cx="919152" cy="67809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CN">
              <a:latin typeface="Hei" pitchFamily="2" charset="-122"/>
              <a:ea typeface="Hei" pitchFamily="2" charset="-122"/>
            </a:endParaRPr>
          </a:p>
        </p:txBody>
      </p:sp>
      <p:sp>
        <p:nvSpPr>
          <p:cNvPr id="36" name="AutoShape 16">
            <a:extLst>
              <a:ext uri="{FF2B5EF4-FFF2-40B4-BE49-F238E27FC236}">
                <a16:creationId xmlns:a16="http://schemas.microsoft.com/office/drawing/2014/main" id="{1035E994-873C-EA4A-8CAC-07C6346AF368}"/>
              </a:ext>
            </a:extLst>
          </p:cNvPr>
          <p:cNvSpPr/>
          <p:nvPr/>
        </p:nvSpPr>
        <p:spPr>
          <a:xfrm>
            <a:off x="6850744" y="2385332"/>
            <a:ext cx="3962400" cy="542695"/>
          </a:xfrm>
          <a:prstGeom prst="rect">
            <a:avLst/>
          </a:prstGeom>
          <a:noFill/>
          <a:ln w="12700" cap="flat" cmpd="sng">
            <a:noFill/>
            <a:prstDash val="solid"/>
            <a:round/>
          </a:ln>
        </p:spPr>
        <p:txBody>
          <a:bodyPr vert="horz" wrap="square" lIns="0" tIns="0" rIns="0" bIns="0" rtlCol="0" anchor="ctr" anchorCtr="0"/>
          <a:lstStyle/>
          <a:p>
            <a:pPr indent="0" algn="just">
              <a:lnSpc>
                <a:spcPct val="125000"/>
              </a:lnSpc>
              <a:defRPr/>
            </a:pPr>
            <a:r>
              <a:rPr lang="zh-CN" altLang="en-US" sz="1800" b="1" i="0" u="none" strike="noStrike" dirty="0">
                <a:solidFill>
                  <a:srgbClr val="C8DCF0"/>
                </a:solidFill>
                <a:latin typeface="Hei" pitchFamily="2" charset="-122"/>
                <a:ea typeface="Hei" pitchFamily="2" charset="-122"/>
                <a:cs typeface="Noto Sans SC"/>
                <a:sym typeface="Noto Sans SC"/>
              </a:rPr>
              <a:t>从早期依赖商用设备转向自研硅片</a:t>
            </a:r>
            <a:endParaRPr lang="en-US" sz="1200" b="1" dirty="0">
              <a:latin typeface="Hei" pitchFamily="2" charset="-122"/>
              <a:ea typeface="Hei" pitchFamily="2" charset="-122"/>
            </a:endParaRPr>
          </a:p>
        </p:txBody>
      </p:sp>
      <p:pic>
        <p:nvPicPr>
          <p:cNvPr id="37" name="Picture 7">
            <a:extLst>
              <a:ext uri="{FF2B5EF4-FFF2-40B4-BE49-F238E27FC236}">
                <a16:creationId xmlns:a16="http://schemas.microsoft.com/office/drawing/2014/main" id="{75182DCD-8C1B-2D48-83C2-F89FB16115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1002" y="3051852"/>
            <a:ext cx="197394" cy="304800"/>
          </a:xfrm>
          <a:prstGeom prst="rect">
            <a:avLst/>
          </a:prstGeom>
        </p:spPr>
      </p:pic>
      <p:sp>
        <p:nvSpPr>
          <p:cNvPr id="38" name="AutoShape 8">
            <a:extLst>
              <a:ext uri="{FF2B5EF4-FFF2-40B4-BE49-F238E27FC236}">
                <a16:creationId xmlns:a16="http://schemas.microsoft.com/office/drawing/2014/main" id="{E635723C-AB9D-AE45-8EE1-A2CC8702A815}"/>
              </a:ext>
            </a:extLst>
          </p:cNvPr>
          <p:cNvSpPr/>
          <p:nvPr/>
        </p:nvSpPr>
        <p:spPr>
          <a:xfrm>
            <a:off x="7112002" y="2988352"/>
            <a:ext cx="3701142"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Nitro系统核心战略</a:t>
            </a:r>
            <a:endParaRPr lang="en-US" sz="1100" dirty="0">
              <a:latin typeface="Hei" pitchFamily="2" charset="-122"/>
              <a:ea typeface="Hei" pitchFamily="2" charset="-122"/>
            </a:endParaRPr>
          </a:p>
          <a:p>
            <a:pPr indent="0" algn="l">
              <a:lnSpc>
                <a:spcPct val="125000"/>
              </a:lnSpc>
            </a:pPr>
            <a:r>
              <a:rPr lang="en-US" sz="1400" b="0" i="0" u="none" strike="noStrike" dirty="0">
                <a:solidFill>
                  <a:srgbClr val="CCCCCC"/>
                </a:solidFill>
                <a:latin typeface="Hei" pitchFamily="2" charset="-122"/>
                <a:ea typeface="Hei" pitchFamily="2" charset="-122"/>
                <a:cs typeface="Noto Sans SC"/>
                <a:sym typeface="Noto Sans SC"/>
              </a:rPr>
              <a:t>将网络、存储和安全功能从通用CPU卸载到专用硬件，重构虚拟化底层架构。</a:t>
            </a:r>
          </a:p>
        </p:txBody>
      </p:sp>
      <p:pic>
        <p:nvPicPr>
          <p:cNvPr id="39" name="Picture 9">
            <a:extLst>
              <a:ext uri="{FF2B5EF4-FFF2-40B4-BE49-F238E27FC236}">
                <a16:creationId xmlns:a16="http://schemas.microsoft.com/office/drawing/2014/main" id="{8134F7D4-8D1C-2A40-949A-F085F54F0BC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2" y="4004352"/>
            <a:ext cx="197394" cy="304800"/>
          </a:xfrm>
          <a:prstGeom prst="rect">
            <a:avLst/>
          </a:prstGeom>
        </p:spPr>
      </p:pic>
      <p:sp>
        <p:nvSpPr>
          <p:cNvPr id="40" name="AutoShape 10">
            <a:extLst>
              <a:ext uri="{FF2B5EF4-FFF2-40B4-BE49-F238E27FC236}">
                <a16:creationId xmlns:a16="http://schemas.microsoft.com/office/drawing/2014/main" id="{48752B47-15D0-7847-8840-60FEB7970631}"/>
              </a:ext>
            </a:extLst>
          </p:cNvPr>
          <p:cNvSpPr/>
          <p:nvPr/>
        </p:nvSpPr>
        <p:spPr>
          <a:xfrm>
            <a:off x="7112002" y="3940852"/>
            <a:ext cx="3701142"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硬件级功能卸载</a:t>
            </a:r>
            <a:endParaRPr lang="en-US" sz="1100" dirty="0">
              <a:latin typeface="Hei" pitchFamily="2" charset="-122"/>
              <a:ea typeface="Hei" pitchFamily="2" charset="-122"/>
            </a:endParaRPr>
          </a:p>
          <a:p>
            <a:pPr indent="0" algn="l">
              <a:lnSpc>
                <a:spcPct val="125000"/>
              </a:lnSpc>
            </a:pPr>
            <a:r>
              <a:rPr lang="en-US" sz="1400" b="0" i="0" u="none" strike="noStrike" dirty="0">
                <a:solidFill>
                  <a:srgbClr val="CCCCCC"/>
                </a:solidFill>
                <a:latin typeface="Hei" pitchFamily="2" charset="-122"/>
                <a:ea typeface="Hei" pitchFamily="2" charset="-122"/>
                <a:cs typeface="Noto Sans SC"/>
                <a:sym typeface="Noto Sans SC"/>
              </a:rPr>
              <a:t>实现VPC网络卸载、硬件根信任与加密，使每个虚拟机成为独立的网络节点。</a:t>
            </a:r>
          </a:p>
        </p:txBody>
      </p:sp>
      <p:pic>
        <p:nvPicPr>
          <p:cNvPr id="41" name="Picture 11">
            <a:extLst>
              <a:ext uri="{FF2B5EF4-FFF2-40B4-BE49-F238E27FC236}">
                <a16:creationId xmlns:a16="http://schemas.microsoft.com/office/drawing/2014/main" id="{4581DF2E-2212-E947-94D0-5E44CEF24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31002" y="4956852"/>
            <a:ext cx="197394" cy="304800"/>
          </a:xfrm>
          <a:prstGeom prst="rect">
            <a:avLst/>
          </a:prstGeom>
        </p:spPr>
      </p:pic>
      <p:sp>
        <p:nvSpPr>
          <p:cNvPr id="42" name="AutoShape 12">
            <a:extLst>
              <a:ext uri="{FF2B5EF4-FFF2-40B4-BE49-F238E27FC236}">
                <a16:creationId xmlns:a16="http://schemas.microsoft.com/office/drawing/2014/main" id="{0D8AB51F-5192-0249-A1B9-8DFF8A9BFEE0}"/>
              </a:ext>
            </a:extLst>
          </p:cNvPr>
          <p:cNvSpPr/>
          <p:nvPr/>
        </p:nvSpPr>
        <p:spPr>
          <a:xfrm>
            <a:off x="7112002" y="4893352"/>
            <a:ext cx="3701142"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Hei" pitchFamily="2" charset="-122"/>
                <a:ea typeface="Hei" pitchFamily="2" charset="-122"/>
                <a:cs typeface="Noto Sans SC"/>
                <a:sym typeface="Noto Sans SC"/>
              </a:rPr>
              <a:t>价值与收益</a:t>
            </a:r>
            <a:endParaRPr lang="en-US" sz="1100" dirty="0">
              <a:latin typeface="Hei" pitchFamily="2" charset="-122"/>
              <a:ea typeface="Hei" pitchFamily="2" charset="-122"/>
            </a:endParaRPr>
          </a:p>
          <a:p>
            <a:pPr indent="0" algn="l">
              <a:lnSpc>
                <a:spcPct val="125000"/>
              </a:lnSpc>
            </a:pPr>
            <a:r>
              <a:rPr lang="en-US" sz="1400" b="0" i="0" u="none" strike="noStrike" dirty="0">
                <a:solidFill>
                  <a:srgbClr val="CCCCCC"/>
                </a:solidFill>
                <a:latin typeface="Hei" pitchFamily="2" charset="-122"/>
                <a:ea typeface="Hei" pitchFamily="2" charset="-122"/>
                <a:cs typeface="Noto Sans SC"/>
                <a:sym typeface="Noto Sans SC"/>
              </a:rPr>
              <a:t>彻底消除虚拟化性能开销，大幅提升网络吞吐性能与数据安全性。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D">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508000"/>
            <a:ext cx="115697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AWS数据中心CLOS演进 – Nitro芯片与SRD协议</a:t>
            </a:r>
            <a:endParaRPr lang="en-US" sz="1100" dirty="0">
              <a:latin typeface="Hei" pitchFamily="2" charset="-122"/>
              <a:ea typeface="Hei" pitchFamily="2" charset="-122"/>
            </a:endParaRPr>
          </a:p>
        </p:txBody>
      </p:sp>
      <p:sp>
        <p:nvSpPr>
          <p:cNvPr id="5" name="AutoShape 5"/>
          <p:cNvSpPr/>
          <p:nvPr/>
        </p:nvSpPr>
        <p:spPr>
          <a:xfrm>
            <a:off x="762000" y="1397000"/>
            <a:ext cx="5080000" cy="39116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304800" cy="304800"/>
          </a:xfrm>
          <a:prstGeom prst="rect">
            <a:avLst/>
          </a:prstGeom>
        </p:spPr>
      </p:pic>
      <p:sp>
        <p:nvSpPr>
          <p:cNvPr id="7" name="AutoShape 7"/>
          <p:cNvSpPr/>
          <p:nvPr/>
        </p:nvSpPr>
        <p:spPr>
          <a:xfrm>
            <a:off x="13335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自研芯片之路</a:t>
            </a:r>
            <a:r>
              <a:rPr lang="zh-CN" altLang="en-US" sz="2000" b="1" i="0" u="none" strike="noStrike" dirty="0">
                <a:solidFill>
                  <a:srgbClr val="FFFFFF"/>
                </a:solidFill>
                <a:latin typeface="Hei" pitchFamily="2" charset="-122"/>
                <a:ea typeface="Hei" pitchFamily="2" charset="-122"/>
                <a:cs typeface="Noto Sans SC"/>
                <a:sym typeface="Noto Sans SC"/>
              </a:rPr>
              <a:t>：</a:t>
            </a:r>
            <a:r>
              <a:rPr lang="en-US" altLang="zh-CN" sz="2000" b="1" i="0" u="none" strike="noStrike" dirty="0">
                <a:solidFill>
                  <a:srgbClr val="FFFFFF"/>
                </a:solidFill>
                <a:latin typeface="Hei" pitchFamily="2" charset="-122"/>
                <a:ea typeface="Hei" pitchFamily="2" charset="-122"/>
                <a:cs typeface="Noto Sans SC"/>
                <a:sym typeface="Noto Sans SC"/>
              </a:rPr>
              <a:t>Nitro</a:t>
            </a:r>
            <a:r>
              <a:rPr lang="zh-CN" altLang="en-US" sz="2000" b="1" i="0" u="none" strike="noStrike" dirty="0">
                <a:solidFill>
                  <a:srgbClr val="FFFFFF"/>
                </a:solidFill>
                <a:latin typeface="Hei" pitchFamily="2" charset="-122"/>
                <a:ea typeface="Hei" pitchFamily="2" charset="-122"/>
                <a:cs typeface="Noto Sans SC"/>
                <a:sym typeface="Noto Sans SC"/>
              </a:rPr>
              <a:t>系统</a:t>
            </a:r>
            <a:endParaRPr lang="en-US" sz="1100" dirty="0">
              <a:latin typeface="Hei" pitchFamily="2" charset="-122"/>
              <a:ea typeface="Hei" pitchFamily="2" charset="-122"/>
            </a:endParaRPr>
          </a:p>
        </p:txBody>
      </p:sp>
      <p:sp>
        <p:nvSpPr>
          <p:cNvPr id="8" name="AutoShape 8"/>
          <p:cNvSpPr/>
          <p:nvPr/>
        </p:nvSpPr>
        <p:spPr>
          <a:xfrm>
            <a:off x="952500" y="1968500"/>
            <a:ext cx="4699000" cy="1016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CCCCCC"/>
              </a:buClr>
              <a:buChar char="•"/>
              <a:defRPr/>
            </a:pPr>
            <a:r>
              <a:rPr lang="en-US" sz="1600" b="1" i="0" u="none" strike="noStrike" dirty="0">
                <a:solidFill>
                  <a:srgbClr val="CCCCCC"/>
                </a:solidFill>
                <a:latin typeface="Hei" pitchFamily="2" charset="-122"/>
                <a:ea typeface="Hei" pitchFamily="2" charset="-122"/>
                <a:cs typeface="Noto Sans SC"/>
                <a:sym typeface="Noto Sans SC"/>
              </a:rPr>
              <a:t>早期：</a:t>
            </a:r>
            <a:r>
              <a:rPr lang="en-US" sz="1600" b="0" i="0" u="none" strike="noStrike" dirty="0">
                <a:solidFill>
                  <a:srgbClr val="CCCCCC"/>
                </a:solidFill>
                <a:latin typeface="Hei" pitchFamily="2" charset="-122"/>
                <a:ea typeface="Hei" pitchFamily="2" charset="-122"/>
                <a:cs typeface="Noto Sans SC"/>
                <a:sym typeface="Noto Sans SC"/>
              </a:rPr>
              <a:t>依赖 Broadcom 商用芯片</a:t>
            </a:r>
            <a:endParaRPr lang="en-US" sz="1100" dirty="0">
              <a:latin typeface="Hei" pitchFamily="2" charset="-122"/>
              <a:ea typeface="Hei" pitchFamily="2" charset="-122"/>
            </a:endParaRPr>
          </a:p>
          <a:p>
            <a:pPr marL="203200" indent="-203200" algn="l">
              <a:lnSpc>
                <a:spcPct val="125000"/>
              </a:lnSpc>
              <a:buClr>
                <a:srgbClr val="CCCCCC"/>
              </a:buClr>
              <a:buChar char="•"/>
            </a:pPr>
            <a:r>
              <a:rPr lang="en-US" sz="1600" b="1" i="0" u="none" strike="noStrike" dirty="0">
                <a:solidFill>
                  <a:srgbClr val="CCCCCC"/>
                </a:solidFill>
                <a:latin typeface="Hei" pitchFamily="2" charset="-122"/>
                <a:ea typeface="Hei" pitchFamily="2" charset="-122"/>
                <a:cs typeface="Noto Sans SC"/>
                <a:sym typeface="Noto Sans SC"/>
              </a:rPr>
              <a:t>2015年：</a:t>
            </a:r>
            <a:r>
              <a:rPr lang="en-US" sz="1600" b="0" i="0" u="none" strike="noStrike" dirty="0">
                <a:solidFill>
                  <a:srgbClr val="CCCCCC"/>
                </a:solidFill>
                <a:latin typeface="Hei" pitchFamily="2" charset="-122"/>
                <a:ea typeface="Hei" pitchFamily="2" charset="-122"/>
                <a:cs typeface="Noto Sans SC"/>
                <a:sym typeface="Noto Sans SC"/>
              </a:rPr>
              <a:t>收购 Annapurna Labs，开启自研</a:t>
            </a:r>
          </a:p>
          <a:p>
            <a:pPr marL="203200" indent="-203200" algn="l">
              <a:lnSpc>
                <a:spcPct val="125000"/>
              </a:lnSpc>
              <a:buClr>
                <a:srgbClr val="CCCCCC"/>
              </a:buClr>
              <a:buChar char="•"/>
            </a:pPr>
            <a:r>
              <a:rPr lang="en-US" sz="1600" b="1" i="0" u="none" strike="noStrike" dirty="0">
                <a:solidFill>
                  <a:srgbClr val="CCCCCC"/>
                </a:solidFill>
                <a:latin typeface="Hei" pitchFamily="2" charset="-122"/>
                <a:ea typeface="Hei" pitchFamily="2" charset="-122"/>
                <a:cs typeface="Noto Sans SC"/>
                <a:sym typeface="Noto Sans SC"/>
              </a:rPr>
              <a:t>现状：</a:t>
            </a:r>
            <a:r>
              <a:rPr lang="en-US" sz="1600" b="0" i="0" u="none" strike="noStrike" dirty="0">
                <a:solidFill>
                  <a:srgbClr val="CCCCCC"/>
                </a:solidFill>
                <a:latin typeface="Hei" pitchFamily="2" charset="-122"/>
                <a:ea typeface="Hei" pitchFamily="2" charset="-122"/>
                <a:cs typeface="Noto Sans SC"/>
                <a:sym typeface="Noto Sans SC"/>
              </a:rPr>
              <a:t>全面部署 Graviton 与 Nitro 芯片</a:t>
            </a:r>
          </a:p>
        </p:txBody>
      </p:sp>
      <p:sp>
        <p:nvSpPr>
          <p:cNvPr id="9" name="AutoShape 9"/>
          <p:cNvSpPr/>
          <p:nvPr/>
        </p:nvSpPr>
        <p:spPr>
          <a:xfrm>
            <a:off x="6350000" y="1397000"/>
            <a:ext cx="5080000" cy="39116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587500"/>
            <a:ext cx="304800" cy="304800"/>
          </a:xfrm>
          <a:prstGeom prst="rect">
            <a:avLst/>
          </a:prstGeom>
        </p:spPr>
      </p:pic>
      <p:sp>
        <p:nvSpPr>
          <p:cNvPr id="11" name="AutoShape 11"/>
          <p:cNvSpPr/>
          <p:nvPr/>
        </p:nvSpPr>
        <p:spPr>
          <a:xfrm>
            <a:off x="69215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SRD协议：定制化传输方案</a:t>
            </a:r>
            <a:endParaRPr lang="en-US" sz="1100" dirty="0">
              <a:latin typeface="Hei" pitchFamily="2" charset="-122"/>
              <a:ea typeface="Hei" pitchFamily="2" charset="-122"/>
            </a:endParaRPr>
          </a:p>
        </p:txBody>
      </p:sp>
      <p:sp>
        <p:nvSpPr>
          <p:cNvPr id="12" name="AutoShape 12"/>
          <p:cNvSpPr/>
          <p:nvPr/>
        </p:nvSpPr>
        <p:spPr>
          <a:xfrm>
            <a:off x="6540500" y="1968500"/>
            <a:ext cx="4699000" cy="676729"/>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CCCCCC"/>
              </a:buClr>
              <a:buChar char="•"/>
              <a:defRPr/>
            </a:pPr>
            <a:r>
              <a:rPr lang="en-US" sz="1600" b="1" i="0" u="none" strike="noStrike" dirty="0">
                <a:solidFill>
                  <a:srgbClr val="CCCCCC"/>
                </a:solidFill>
                <a:latin typeface="Hei" pitchFamily="2" charset="-122"/>
                <a:ea typeface="Hei" pitchFamily="2" charset="-122"/>
                <a:cs typeface="Noto Sans SC"/>
                <a:sym typeface="Noto Sans SC"/>
              </a:rPr>
              <a:t>核心：</a:t>
            </a:r>
            <a:r>
              <a:rPr lang="en-US" sz="1600" b="0" i="0" u="none" strike="noStrike" dirty="0">
                <a:solidFill>
                  <a:srgbClr val="CCCCCC"/>
                </a:solidFill>
                <a:latin typeface="Hei" pitchFamily="2" charset="-122"/>
                <a:ea typeface="Hei" pitchFamily="2" charset="-122"/>
                <a:cs typeface="Noto Sans SC"/>
                <a:sym typeface="Noto Sans SC"/>
              </a:rPr>
              <a:t>乱序可靠传输 + “包喷淋”打散流量</a:t>
            </a:r>
            <a:endParaRPr lang="en-US" sz="1100" dirty="0">
              <a:latin typeface="Hei" pitchFamily="2" charset="-122"/>
              <a:ea typeface="Hei" pitchFamily="2" charset="-122"/>
            </a:endParaRPr>
          </a:p>
          <a:p>
            <a:pPr marL="203200" indent="-203200" algn="l">
              <a:lnSpc>
                <a:spcPct val="125000"/>
              </a:lnSpc>
              <a:buClr>
                <a:srgbClr val="CCCCCC"/>
              </a:buClr>
              <a:buChar char="•"/>
            </a:pPr>
            <a:r>
              <a:rPr lang="en-US" sz="1600" b="1" i="0" u="none" strike="noStrike" dirty="0">
                <a:solidFill>
                  <a:srgbClr val="CCCCCC"/>
                </a:solidFill>
                <a:latin typeface="Hei" pitchFamily="2" charset="-122"/>
                <a:ea typeface="Hei" pitchFamily="2" charset="-122"/>
                <a:cs typeface="Noto Sans SC"/>
                <a:sym typeface="Noto Sans SC"/>
              </a:rPr>
              <a:t>优势：</a:t>
            </a:r>
            <a:r>
              <a:rPr lang="en-US" sz="1600" b="0" i="0" u="none" strike="noStrike" dirty="0">
                <a:solidFill>
                  <a:srgbClr val="CCCCCC"/>
                </a:solidFill>
                <a:latin typeface="Hei" pitchFamily="2" charset="-122"/>
                <a:ea typeface="Hei" pitchFamily="2" charset="-122"/>
                <a:cs typeface="Noto Sans SC"/>
                <a:sym typeface="Noto Sans SC"/>
              </a:rPr>
              <a:t>解决TCP头端阻塞，吞吐量提升5倍</a:t>
            </a:r>
          </a:p>
        </p:txBody>
      </p:sp>
      <p:sp>
        <p:nvSpPr>
          <p:cNvPr id="15" name="AutoShape 15"/>
          <p:cNvSpPr/>
          <p:nvPr/>
        </p:nvSpPr>
        <p:spPr>
          <a:xfrm>
            <a:off x="762000" y="5588000"/>
            <a:ext cx="10668000" cy="254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16" name="AutoShape 16"/>
          <p:cNvSpPr/>
          <p:nvPr/>
        </p:nvSpPr>
        <p:spPr>
          <a:xfrm>
            <a:off x="762000" y="5778500"/>
            <a:ext cx="5080000" cy="71301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0" i="0" u="none" strike="noStrike" dirty="0">
                <a:solidFill>
                  <a:srgbClr val="C8DCF0"/>
                </a:solidFill>
                <a:latin typeface="Hei" pitchFamily="2" charset="-122"/>
                <a:ea typeface="Hei" pitchFamily="2" charset="-122"/>
                <a:cs typeface="Noto Sans SC"/>
                <a:sym typeface="Noto Sans SC"/>
              </a:rPr>
              <a:t>性能飞跃：采用乱序可靠传输</a:t>
            </a:r>
          </a:p>
          <a:p>
            <a:pPr indent="0" algn="ctr">
              <a:lnSpc>
                <a:spcPct val="125000"/>
              </a:lnSpc>
              <a:defRPr/>
            </a:pPr>
            <a:r>
              <a:rPr lang="zh-CN" altLang="en-US" sz="1600" b="0" i="0" u="none" strike="noStrike" dirty="0">
                <a:solidFill>
                  <a:srgbClr val="C8DCF0"/>
                </a:solidFill>
                <a:latin typeface="Hei" pitchFamily="2" charset="-122"/>
                <a:ea typeface="Hei" pitchFamily="2" charset="-122"/>
                <a:cs typeface="Noto Sans SC"/>
                <a:sym typeface="Noto Sans SC"/>
              </a:rPr>
              <a:t>单流吞吐量从 </a:t>
            </a:r>
            <a:r>
              <a:rPr lang="en-US" altLang="zh-CN" sz="1600" b="0" i="0" u="none" strike="noStrike" dirty="0">
                <a:solidFill>
                  <a:srgbClr val="C8DCF0"/>
                </a:solidFill>
                <a:latin typeface="Hei" pitchFamily="2" charset="-122"/>
                <a:ea typeface="Hei" pitchFamily="2" charset="-122"/>
                <a:cs typeface="Noto Sans SC"/>
                <a:sym typeface="Noto Sans SC"/>
              </a:rPr>
              <a:t>5 </a:t>
            </a:r>
            <a:r>
              <a:rPr lang="en-US" sz="1600" b="0" i="0" u="none" strike="noStrike" dirty="0">
                <a:solidFill>
                  <a:srgbClr val="C8DCF0"/>
                </a:solidFill>
                <a:latin typeface="Hei" pitchFamily="2" charset="-122"/>
                <a:ea typeface="Hei" pitchFamily="2" charset="-122"/>
                <a:cs typeface="Noto Sans SC"/>
                <a:sym typeface="Noto Sans SC"/>
              </a:rPr>
              <a:t>Gbps </a:t>
            </a:r>
            <a:r>
              <a:rPr lang="zh-CN" altLang="en-US" sz="1600" b="0" i="0" u="none" strike="noStrike" dirty="0">
                <a:solidFill>
                  <a:srgbClr val="C8DCF0"/>
                </a:solidFill>
                <a:latin typeface="Hei" pitchFamily="2" charset="-122"/>
                <a:ea typeface="Hei" pitchFamily="2" charset="-122"/>
                <a:cs typeface="Noto Sans SC"/>
                <a:sym typeface="Noto Sans SC"/>
              </a:rPr>
              <a:t>跃升至 </a:t>
            </a:r>
            <a:r>
              <a:rPr lang="en-US" altLang="zh-CN" sz="2400" b="1" i="0" u="none" strike="noStrike" dirty="0">
                <a:solidFill>
                  <a:srgbClr val="FFC000"/>
                </a:solidFill>
                <a:latin typeface="Hei" pitchFamily="2" charset="-122"/>
                <a:ea typeface="Hei" pitchFamily="2" charset="-122"/>
                <a:cs typeface="Noto Sans SC"/>
                <a:sym typeface="Noto Sans SC"/>
              </a:rPr>
              <a:t>25+</a:t>
            </a:r>
            <a:r>
              <a:rPr lang="en-US" sz="2400" b="1" i="0" u="none" strike="noStrike" dirty="0">
                <a:solidFill>
                  <a:srgbClr val="FFC000"/>
                </a:solidFill>
                <a:latin typeface="Hei" pitchFamily="2" charset="-122"/>
                <a:ea typeface="Hei" pitchFamily="2" charset="-122"/>
                <a:cs typeface="Noto Sans SC"/>
                <a:sym typeface="Noto Sans SC"/>
              </a:rPr>
              <a:t>Gbps</a:t>
            </a:r>
            <a:endParaRPr lang="en-US" sz="1100" b="1" dirty="0">
              <a:solidFill>
                <a:srgbClr val="FFC000"/>
              </a:solidFill>
              <a:latin typeface="Hei" pitchFamily="2" charset="-122"/>
              <a:ea typeface="Hei" pitchFamily="2" charset="-122"/>
            </a:endParaRPr>
          </a:p>
        </p:txBody>
      </p:sp>
      <p:pic>
        <p:nvPicPr>
          <p:cNvPr id="17" name="Picture 16">
            <a:extLst>
              <a:ext uri="{FF2B5EF4-FFF2-40B4-BE49-F238E27FC236}">
                <a16:creationId xmlns:a16="http://schemas.microsoft.com/office/drawing/2014/main" id="{7D5CE4F7-492E-8A41-89A6-82422485CEAC}"/>
              </a:ext>
            </a:extLst>
          </p:cNvPr>
          <p:cNvPicPr>
            <a:picLocks noChangeAspect="1"/>
          </p:cNvPicPr>
          <p:nvPr/>
        </p:nvPicPr>
        <p:blipFill>
          <a:blip r:embed="rId8"/>
          <a:stretch>
            <a:fillRect/>
          </a:stretch>
        </p:blipFill>
        <p:spPr>
          <a:xfrm>
            <a:off x="1603828" y="3035713"/>
            <a:ext cx="3396343" cy="1504372"/>
          </a:xfrm>
          <a:prstGeom prst="rect">
            <a:avLst/>
          </a:prstGeom>
        </p:spPr>
      </p:pic>
      <p:sp>
        <p:nvSpPr>
          <p:cNvPr id="18" name="AutoShape 14">
            <a:extLst>
              <a:ext uri="{FF2B5EF4-FFF2-40B4-BE49-F238E27FC236}">
                <a16:creationId xmlns:a16="http://schemas.microsoft.com/office/drawing/2014/main" id="{FFCFB11A-92FF-414D-BE3F-023F23991178}"/>
              </a:ext>
            </a:extLst>
          </p:cNvPr>
          <p:cNvSpPr/>
          <p:nvPr/>
        </p:nvSpPr>
        <p:spPr>
          <a:xfrm>
            <a:off x="762000" y="4705185"/>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dirty="0">
                <a:solidFill>
                  <a:srgbClr val="969696"/>
                </a:solidFill>
                <a:latin typeface="Hei" pitchFamily="2" charset="-122"/>
                <a:ea typeface="Hei" pitchFamily="2" charset="-122"/>
                <a:cs typeface="Noto Sans SC"/>
                <a:sym typeface="Noto Sans SC"/>
              </a:rPr>
              <a:t>图：AWS Nitro系统硬件加速架构示意</a:t>
            </a:r>
            <a:r>
              <a:rPr lang="zh-CN" altLang="en-US" sz="1200" dirty="0">
                <a:solidFill>
                  <a:srgbClr val="969696"/>
                </a:solidFill>
                <a:latin typeface="Hei" pitchFamily="2" charset="-122"/>
                <a:ea typeface="Hei" pitchFamily="2" charset="-122"/>
                <a:cs typeface="Noto Sans SC"/>
                <a:sym typeface="Noto Sans SC"/>
              </a:rPr>
              <a:t>，</a:t>
            </a:r>
            <a:r>
              <a:rPr lang="zh-CN" altLang="en-US" sz="1200" b="0" i="0" u="none" strike="noStrike" dirty="0">
                <a:solidFill>
                  <a:srgbClr val="969696"/>
                </a:solidFill>
                <a:latin typeface="Hei" pitchFamily="2" charset="-122"/>
                <a:ea typeface="Hei" pitchFamily="2" charset="-122"/>
                <a:cs typeface="Noto Sans SC"/>
                <a:sym typeface="Noto Sans SC"/>
              </a:rPr>
              <a:t>作为 </a:t>
            </a:r>
            <a:r>
              <a:rPr lang="en-US" altLang="zh-CN" sz="1200" b="0" i="0" u="none" strike="noStrike" dirty="0">
                <a:solidFill>
                  <a:srgbClr val="969696"/>
                </a:solidFill>
                <a:latin typeface="Hei" pitchFamily="2" charset="-122"/>
                <a:ea typeface="Hei" pitchFamily="2" charset="-122"/>
                <a:cs typeface="Noto Sans SC"/>
                <a:sym typeface="Noto Sans SC"/>
              </a:rPr>
              <a:t>CLOS </a:t>
            </a:r>
            <a:r>
              <a:rPr lang="zh-CN" altLang="en-US" sz="1200" b="0" i="0" u="none" strike="noStrike" dirty="0">
                <a:solidFill>
                  <a:srgbClr val="969696"/>
                </a:solidFill>
                <a:latin typeface="Hei" pitchFamily="2" charset="-122"/>
                <a:ea typeface="Hei" pitchFamily="2" charset="-122"/>
                <a:cs typeface="Noto Sans SC"/>
                <a:sym typeface="Noto Sans SC"/>
              </a:rPr>
              <a:t>架构的边缘节点，透明接管 </a:t>
            </a:r>
            <a:r>
              <a:rPr lang="en-US" altLang="zh-CN" sz="1200" b="0" i="0" u="none" strike="noStrike" dirty="0">
                <a:solidFill>
                  <a:srgbClr val="969696"/>
                </a:solidFill>
                <a:latin typeface="Hei" pitchFamily="2" charset="-122"/>
                <a:ea typeface="Hei" pitchFamily="2" charset="-122"/>
                <a:cs typeface="Noto Sans SC"/>
                <a:sym typeface="Noto Sans SC"/>
              </a:rPr>
              <a:t>VXLAN </a:t>
            </a:r>
            <a:r>
              <a:rPr lang="zh-CN" altLang="en-US" sz="1200" b="0" i="0" u="none" strike="noStrike" dirty="0">
                <a:solidFill>
                  <a:srgbClr val="969696"/>
                </a:solidFill>
                <a:latin typeface="Hei" pitchFamily="2" charset="-122"/>
                <a:ea typeface="Hei" pitchFamily="2" charset="-122"/>
                <a:cs typeface="Noto Sans SC"/>
                <a:sym typeface="Noto Sans SC"/>
              </a:rPr>
              <a:t>与</a:t>
            </a:r>
            <a:r>
              <a:rPr lang="en-US" altLang="zh-CN" sz="1200" b="0" i="0" u="none" strike="noStrike" dirty="0">
                <a:solidFill>
                  <a:srgbClr val="969696"/>
                </a:solidFill>
                <a:latin typeface="Hei" pitchFamily="2" charset="-122"/>
                <a:ea typeface="Hei" pitchFamily="2" charset="-122"/>
                <a:cs typeface="Noto Sans SC"/>
                <a:sym typeface="Noto Sans SC"/>
              </a:rPr>
              <a:t>AES-256-GCM </a:t>
            </a:r>
            <a:r>
              <a:rPr lang="zh-CN" altLang="en-US" sz="1200" b="0" i="0" u="none" strike="noStrike" dirty="0">
                <a:solidFill>
                  <a:srgbClr val="969696"/>
                </a:solidFill>
                <a:latin typeface="Hei" pitchFamily="2" charset="-122"/>
                <a:ea typeface="Hei" pitchFamily="2" charset="-122"/>
                <a:cs typeface="Noto Sans SC"/>
                <a:sym typeface="Noto Sans SC"/>
              </a:rPr>
              <a:t>硬件加密，实现零 </a:t>
            </a:r>
            <a:r>
              <a:rPr lang="en-US" altLang="zh-CN" sz="1200" b="0" i="0" u="none" strike="noStrike" dirty="0">
                <a:solidFill>
                  <a:srgbClr val="969696"/>
                </a:solidFill>
                <a:latin typeface="Hei" pitchFamily="2" charset="-122"/>
                <a:ea typeface="Hei" pitchFamily="2" charset="-122"/>
                <a:cs typeface="Noto Sans SC"/>
                <a:sym typeface="Noto Sans SC"/>
              </a:rPr>
              <a:t>CPU </a:t>
            </a:r>
            <a:r>
              <a:rPr lang="zh-CN" altLang="en-US" sz="1200" b="0" i="0" u="none" strike="noStrike" dirty="0">
                <a:solidFill>
                  <a:srgbClr val="969696"/>
                </a:solidFill>
                <a:latin typeface="Hei" pitchFamily="2" charset="-122"/>
                <a:ea typeface="Hei" pitchFamily="2" charset="-122"/>
                <a:cs typeface="Noto Sans SC"/>
                <a:sym typeface="Noto Sans SC"/>
              </a:rPr>
              <a:t>损耗。</a:t>
            </a:r>
            <a:endParaRPr lang="en-US" sz="1100" dirty="0">
              <a:latin typeface="Hei" pitchFamily="2" charset="-122"/>
              <a:ea typeface="Hei" pitchFamily="2" charset="-122"/>
            </a:endParaRPr>
          </a:p>
        </p:txBody>
      </p:sp>
      <p:pic>
        <p:nvPicPr>
          <p:cNvPr id="22" name="Picture 21">
            <a:extLst>
              <a:ext uri="{FF2B5EF4-FFF2-40B4-BE49-F238E27FC236}">
                <a16:creationId xmlns:a16="http://schemas.microsoft.com/office/drawing/2014/main" id="{83553327-D997-4242-9715-2A16C0B495BC}"/>
              </a:ext>
            </a:extLst>
          </p:cNvPr>
          <p:cNvPicPr>
            <a:picLocks noChangeAspect="1"/>
          </p:cNvPicPr>
          <p:nvPr/>
        </p:nvPicPr>
        <p:blipFill>
          <a:blip r:embed="rId9"/>
          <a:stretch>
            <a:fillRect/>
          </a:stretch>
        </p:blipFill>
        <p:spPr>
          <a:xfrm>
            <a:off x="7259864" y="2740610"/>
            <a:ext cx="3260272" cy="720140"/>
          </a:xfrm>
          <a:prstGeom prst="rect">
            <a:avLst/>
          </a:prstGeom>
        </p:spPr>
      </p:pic>
      <p:sp>
        <p:nvSpPr>
          <p:cNvPr id="23" name="AutoShape 14">
            <a:extLst>
              <a:ext uri="{FF2B5EF4-FFF2-40B4-BE49-F238E27FC236}">
                <a16:creationId xmlns:a16="http://schemas.microsoft.com/office/drawing/2014/main" id="{4C232724-7B87-F642-96C1-16A7924D2C7C}"/>
              </a:ext>
            </a:extLst>
          </p:cNvPr>
          <p:cNvSpPr/>
          <p:nvPr/>
        </p:nvSpPr>
        <p:spPr>
          <a:xfrm>
            <a:off x="6419850" y="3493407"/>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200" b="0" i="0" u="none" strike="noStrike" dirty="0">
                <a:solidFill>
                  <a:srgbClr val="969696"/>
                </a:solidFill>
                <a:latin typeface="Hei" pitchFamily="2" charset="-122"/>
                <a:ea typeface="Hei" pitchFamily="2" charset="-122"/>
                <a:cs typeface="Noto Sans SC"/>
                <a:sym typeface="Noto Sans SC"/>
              </a:rPr>
              <a:t>图：</a:t>
            </a:r>
            <a:r>
              <a:rPr lang="en-US" altLang="zh-CN" sz="1200" b="0" i="0" u="none" strike="noStrike" dirty="0">
                <a:solidFill>
                  <a:srgbClr val="969696"/>
                </a:solidFill>
                <a:latin typeface="Hei" pitchFamily="2" charset="-122"/>
                <a:ea typeface="Hei" pitchFamily="2" charset="-122"/>
                <a:cs typeface="Noto Sans SC"/>
                <a:sym typeface="Noto Sans SC"/>
              </a:rPr>
              <a:t>TCP</a:t>
            </a:r>
            <a:r>
              <a:rPr lang="zh-CN" altLang="en-US" sz="1200" b="0" i="0" u="none" strike="noStrike" dirty="0">
                <a:solidFill>
                  <a:srgbClr val="969696"/>
                </a:solidFill>
                <a:latin typeface="Hei" pitchFamily="2" charset="-122"/>
                <a:ea typeface="Hei" pitchFamily="2" charset="-122"/>
                <a:cs typeface="Noto Sans SC"/>
                <a:sym typeface="Noto Sans SC"/>
              </a:rPr>
              <a:t>下，单路径串行、头端阻塞拥塞</a:t>
            </a:r>
            <a:endParaRPr lang="en-US" sz="1100" dirty="0">
              <a:latin typeface="Hei" pitchFamily="2" charset="-122"/>
              <a:ea typeface="Hei" pitchFamily="2" charset="-122"/>
            </a:endParaRPr>
          </a:p>
        </p:txBody>
      </p:sp>
      <p:pic>
        <p:nvPicPr>
          <p:cNvPr id="24" name="Picture 23">
            <a:extLst>
              <a:ext uri="{FF2B5EF4-FFF2-40B4-BE49-F238E27FC236}">
                <a16:creationId xmlns:a16="http://schemas.microsoft.com/office/drawing/2014/main" id="{13EFC4CB-BD5D-F04F-8D71-61A8F8C13538}"/>
              </a:ext>
            </a:extLst>
          </p:cNvPr>
          <p:cNvPicPr>
            <a:picLocks noChangeAspect="1"/>
          </p:cNvPicPr>
          <p:nvPr/>
        </p:nvPicPr>
        <p:blipFill>
          <a:blip r:embed="rId10"/>
          <a:stretch>
            <a:fillRect/>
          </a:stretch>
        </p:blipFill>
        <p:spPr>
          <a:xfrm>
            <a:off x="7582201" y="3907064"/>
            <a:ext cx="2615598" cy="851230"/>
          </a:xfrm>
          <a:prstGeom prst="rect">
            <a:avLst/>
          </a:prstGeom>
        </p:spPr>
      </p:pic>
      <p:sp>
        <p:nvSpPr>
          <p:cNvPr id="25" name="AutoShape 14">
            <a:extLst>
              <a:ext uri="{FF2B5EF4-FFF2-40B4-BE49-F238E27FC236}">
                <a16:creationId xmlns:a16="http://schemas.microsoft.com/office/drawing/2014/main" id="{3D2632CD-AD15-4041-B1C6-CFB0F068B64A}"/>
              </a:ext>
            </a:extLst>
          </p:cNvPr>
          <p:cNvSpPr/>
          <p:nvPr/>
        </p:nvSpPr>
        <p:spPr>
          <a:xfrm>
            <a:off x="6350000" y="4794703"/>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200" b="0" i="0" u="none" strike="noStrike" dirty="0">
                <a:solidFill>
                  <a:srgbClr val="969696"/>
                </a:solidFill>
                <a:latin typeface="Hei" pitchFamily="2" charset="-122"/>
                <a:ea typeface="Hei" pitchFamily="2" charset="-122"/>
                <a:cs typeface="Noto Sans SC"/>
                <a:sym typeface="Noto Sans SC"/>
              </a:rPr>
              <a:t>图：</a:t>
            </a:r>
            <a:r>
              <a:rPr lang="en-US" altLang="zh-CN" sz="1200" b="0" i="0" u="none" strike="noStrike" dirty="0">
                <a:solidFill>
                  <a:srgbClr val="969696"/>
                </a:solidFill>
                <a:latin typeface="Hei" pitchFamily="2" charset="-122"/>
                <a:ea typeface="Hei" pitchFamily="2" charset="-122"/>
                <a:cs typeface="Noto Sans SC"/>
                <a:sym typeface="Noto Sans SC"/>
              </a:rPr>
              <a:t>SRD</a:t>
            </a:r>
            <a:r>
              <a:rPr lang="zh-CN" altLang="en-US" sz="1200" dirty="0">
                <a:solidFill>
                  <a:srgbClr val="969696"/>
                </a:solidFill>
                <a:latin typeface="Hei" pitchFamily="2" charset="-122"/>
                <a:ea typeface="Hei" pitchFamily="2" charset="-122"/>
                <a:cs typeface="Noto Sans SC"/>
                <a:sym typeface="Noto Sans SC"/>
              </a:rPr>
              <a:t>下，</a:t>
            </a:r>
            <a:r>
              <a:rPr lang="zh-CN" altLang="en-US" sz="1200" b="0" i="0" u="none" strike="noStrike" dirty="0">
                <a:solidFill>
                  <a:srgbClr val="969696"/>
                </a:solidFill>
                <a:latin typeface="Hei" pitchFamily="2" charset="-122"/>
                <a:ea typeface="Hei" pitchFamily="2" charset="-122"/>
                <a:cs typeface="Noto Sans SC"/>
                <a:sym typeface="Noto Sans SC"/>
              </a:rPr>
              <a:t>多条 </a:t>
            </a:r>
            <a:r>
              <a:rPr lang="en-US" altLang="zh-CN" sz="1200" b="0" i="0" u="none" strike="noStrike" dirty="0">
                <a:solidFill>
                  <a:srgbClr val="969696"/>
                </a:solidFill>
                <a:latin typeface="Hei" pitchFamily="2" charset="-122"/>
                <a:ea typeface="Hei" pitchFamily="2" charset="-122"/>
                <a:cs typeface="Noto Sans SC"/>
                <a:sym typeface="Noto Sans SC"/>
              </a:rPr>
              <a:t>ECMP </a:t>
            </a:r>
            <a:r>
              <a:rPr lang="zh-CN" altLang="en-US" sz="1200" b="0" i="0" u="none" strike="noStrike" dirty="0">
                <a:solidFill>
                  <a:srgbClr val="969696"/>
                </a:solidFill>
                <a:latin typeface="Hei" pitchFamily="2" charset="-122"/>
                <a:ea typeface="Hei" pitchFamily="2" charset="-122"/>
                <a:cs typeface="Noto Sans SC"/>
                <a:sym typeface="Noto Sans SC"/>
              </a:rPr>
              <a:t>路径同时进行包喷淋（</a:t>
            </a:r>
            <a:r>
              <a:rPr lang="en-US" altLang="zh-CN" sz="1200" b="0" i="0" u="none" strike="noStrike" dirty="0">
                <a:solidFill>
                  <a:srgbClr val="969696"/>
                </a:solidFill>
                <a:latin typeface="Hei" pitchFamily="2" charset="-122"/>
                <a:ea typeface="Hei" pitchFamily="2" charset="-122"/>
                <a:cs typeface="Noto Sans SC"/>
                <a:sym typeface="Noto Sans SC"/>
              </a:rPr>
              <a:t>Packet-Spraying</a:t>
            </a:r>
            <a:r>
              <a:rPr lang="zh-CN" altLang="en-US" sz="1200" b="0" i="0" u="none" strike="noStrike" dirty="0">
                <a:solidFill>
                  <a:srgbClr val="969696"/>
                </a:solidFill>
                <a:latin typeface="Hei" pitchFamily="2" charset="-122"/>
                <a:ea typeface="Hei" pitchFamily="2" charset="-122"/>
                <a:cs typeface="Noto Sans SC"/>
                <a:sym typeface="Noto Sans SC"/>
              </a:rPr>
              <a:t>）</a:t>
            </a:r>
            <a:endParaRPr lang="en-US" sz="1100" dirty="0">
              <a:latin typeface="Hei" pitchFamily="2" charset="-122"/>
              <a:ea typeface="Hei" pitchFamily="2" charset="-122"/>
            </a:endParaRPr>
          </a:p>
        </p:txBody>
      </p:sp>
      <p:sp>
        <p:nvSpPr>
          <p:cNvPr id="26" name="Up Arrow 25">
            <a:extLst>
              <a:ext uri="{FF2B5EF4-FFF2-40B4-BE49-F238E27FC236}">
                <a16:creationId xmlns:a16="http://schemas.microsoft.com/office/drawing/2014/main" id="{75BFED6E-AACA-4042-910A-2D9019E6EF22}"/>
              </a:ext>
            </a:extLst>
          </p:cNvPr>
          <p:cNvSpPr/>
          <p:nvPr/>
        </p:nvSpPr>
        <p:spPr>
          <a:xfrm>
            <a:off x="5366657" y="5778500"/>
            <a:ext cx="475343" cy="71301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
        <p:nvSpPr>
          <p:cNvPr id="27" name="AutoShape 16">
            <a:extLst>
              <a:ext uri="{FF2B5EF4-FFF2-40B4-BE49-F238E27FC236}">
                <a16:creationId xmlns:a16="http://schemas.microsoft.com/office/drawing/2014/main" id="{64FF4391-B5CB-AF49-B37A-2E691CDF828E}"/>
              </a:ext>
            </a:extLst>
          </p:cNvPr>
          <p:cNvSpPr/>
          <p:nvPr/>
        </p:nvSpPr>
        <p:spPr>
          <a:xfrm>
            <a:off x="6119585" y="5778500"/>
            <a:ext cx="5080000" cy="71301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1600" b="0" i="0" u="none" strike="noStrike" dirty="0">
                <a:solidFill>
                  <a:srgbClr val="C8DCF0"/>
                </a:solidFill>
                <a:latin typeface="Hei" pitchFamily="2" charset="-122"/>
                <a:ea typeface="Hei" pitchFamily="2" charset="-122"/>
                <a:cs typeface="Noto Sans SC"/>
                <a:sym typeface="Noto Sans SC"/>
              </a:rPr>
              <a:t>P99.9 </a:t>
            </a:r>
            <a:r>
              <a:rPr lang="zh-CN" altLang="en-US" sz="1600" b="0" i="0" u="none" strike="noStrike" dirty="0">
                <a:solidFill>
                  <a:srgbClr val="C8DCF0"/>
                </a:solidFill>
                <a:latin typeface="Hei" pitchFamily="2" charset="-122"/>
                <a:ea typeface="Hei" pitchFamily="2" charset="-122"/>
                <a:cs typeface="Noto Sans SC"/>
                <a:sym typeface="Noto Sans SC"/>
              </a:rPr>
              <a:t>尾部延迟削减 </a:t>
            </a:r>
            <a:r>
              <a:rPr lang="en-US" altLang="zh-CN" sz="2800" b="1" i="0" u="none" strike="noStrike" dirty="0">
                <a:solidFill>
                  <a:srgbClr val="FFC000"/>
                </a:solidFill>
                <a:latin typeface="Hei" pitchFamily="2" charset="-122"/>
                <a:ea typeface="Hei" pitchFamily="2" charset="-122"/>
                <a:cs typeface="Noto Sans SC"/>
                <a:sym typeface="Noto Sans SC"/>
              </a:rPr>
              <a:t>85% </a:t>
            </a:r>
            <a:r>
              <a:rPr lang="zh-CN" altLang="en-US" sz="1600" b="0" i="0" u="none" strike="noStrike" dirty="0">
                <a:solidFill>
                  <a:srgbClr val="C8DCF0"/>
                </a:solidFill>
                <a:latin typeface="Hei" pitchFamily="2" charset="-122"/>
                <a:ea typeface="Hei" pitchFamily="2" charset="-122"/>
                <a:cs typeface="Noto Sans SC"/>
                <a:sym typeface="Noto Sans SC"/>
              </a:rPr>
              <a:t>以上。</a:t>
            </a:r>
            <a:endParaRPr lang="en-US" sz="1100" b="1" dirty="0">
              <a:solidFill>
                <a:srgbClr val="FFC000"/>
              </a:solidFill>
              <a:latin typeface="Hei" pitchFamily="2" charset="-122"/>
              <a:ea typeface="Hei" pitchFamily="2" charset="-122"/>
            </a:endParaRPr>
          </a:p>
        </p:txBody>
      </p:sp>
      <p:sp>
        <p:nvSpPr>
          <p:cNvPr id="28" name="Up Arrow 27">
            <a:extLst>
              <a:ext uri="{FF2B5EF4-FFF2-40B4-BE49-F238E27FC236}">
                <a16:creationId xmlns:a16="http://schemas.microsoft.com/office/drawing/2014/main" id="{E0A4CEB3-F2E9-6343-A9A5-88DFF5F32993}"/>
              </a:ext>
            </a:extLst>
          </p:cNvPr>
          <p:cNvSpPr/>
          <p:nvPr/>
        </p:nvSpPr>
        <p:spPr>
          <a:xfrm rot="10800000">
            <a:off x="6428921" y="5778500"/>
            <a:ext cx="475343" cy="713014"/>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7257"/>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508000"/>
            <a:ext cx="1143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AWS</a:t>
            </a:r>
            <a:r>
              <a:rPr lang="zh-CN" altLang="en-US" sz="3600" b="1" i="0" u="none" strike="noStrike" dirty="0">
                <a:solidFill>
                  <a:srgbClr val="00BFFF"/>
                </a:solidFill>
                <a:latin typeface="Hei" pitchFamily="2" charset="-122"/>
                <a:ea typeface="Hei" pitchFamily="2" charset="-122"/>
                <a:cs typeface="Noto Sans SC"/>
                <a:sym typeface="Noto Sans SC"/>
              </a:rPr>
              <a:t> </a:t>
            </a:r>
            <a:r>
              <a:rPr lang="en-US" altLang="zh-CN" sz="3600" b="1" i="0" u="none" strike="noStrike" dirty="0">
                <a:solidFill>
                  <a:srgbClr val="00BFFF"/>
                </a:solidFill>
                <a:latin typeface="Hei" pitchFamily="2" charset="-122"/>
                <a:ea typeface="Hei" pitchFamily="2" charset="-122"/>
                <a:cs typeface="Noto Sans SC"/>
                <a:sym typeface="Noto Sans SC"/>
              </a:rPr>
              <a:t>vs.</a:t>
            </a:r>
            <a:r>
              <a:rPr lang="zh-CN" altLang="en-US" sz="3600" b="1" i="0" u="none" strike="noStrike" dirty="0">
                <a:solidFill>
                  <a:srgbClr val="00BFFF"/>
                </a:solidFill>
                <a:latin typeface="Hei" pitchFamily="2" charset="-122"/>
                <a:ea typeface="Hei" pitchFamily="2" charset="-122"/>
                <a:cs typeface="Noto Sans SC"/>
                <a:sym typeface="Noto Sans SC"/>
              </a:rPr>
              <a:t> </a:t>
            </a:r>
            <a:r>
              <a:rPr lang="en-US" sz="3600" b="1" i="0" u="none" strike="noStrike" dirty="0">
                <a:solidFill>
                  <a:srgbClr val="00BFFF"/>
                </a:solidFill>
                <a:latin typeface="Hei" pitchFamily="2" charset="-122"/>
                <a:ea typeface="Hei" pitchFamily="2" charset="-122"/>
                <a:cs typeface="Noto Sans SC"/>
                <a:sym typeface="Noto Sans SC"/>
              </a:rPr>
              <a:t>Google方案</a:t>
            </a:r>
            <a:endParaRPr lang="en-US" sz="1100" dirty="0">
              <a:latin typeface="Hei" pitchFamily="2" charset="-122"/>
              <a:ea typeface="Hei" pitchFamily="2" charset="-122"/>
            </a:endParaRPr>
          </a:p>
        </p:txBody>
      </p:sp>
      <p:graphicFrame>
        <p:nvGraphicFramePr>
          <p:cNvPr id="5" name="Table 5"/>
          <p:cNvGraphicFramePr>
            <a:graphicFrameLocks noGrp="1"/>
          </p:cNvGraphicFramePr>
          <p:nvPr>
            <p:extLst>
              <p:ext uri="{D42A27DB-BD31-4B8C-83A1-F6EECF244321}">
                <p14:modId xmlns:p14="http://schemas.microsoft.com/office/powerpoint/2010/main" val="4141260917"/>
              </p:ext>
            </p:extLst>
          </p:nvPr>
        </p:nvGraphicFramePr>
        <p:xfrm>
          <a:off x="762000" y="1397000"/>
          <a:ext cx="10922000" cy="41148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58800">
                <a:tc>
                  <a:txBody>
                    <a:bodyPr/>
                    <a:lstStyle/>
                    <a:p>
                      <a:pPr indent="0" algn="ctr">
                        <a:lnSpc>
                          <a:spcPct val="100000"/>
                        </a:lnSpc>
                        <a:defRPr/>
                      </a:pPr>
                      <a:r>
                        <a:rPr lang="en-US" sz="1800" b="1" i="0" u="none" strike="noStrike" dirty="0">
                          <a:solidFill>
                            <a:srgbClr val="FFFFFF"/>
                          </a:solidFill>
                          <a:latin typeface="Hei" pitchFamily="2" charset="-122"/>
                          <a:ea typeface="Hei" pitchFamily="2" charset="-122"/>
                          <a:cs typeface="Noto Sans SC"/>
                          <a:sym typeface="Noto Sans SC"/>
                        </a:rPr>
                        <a:t>对比维度</a:t>
                      </a:r>
                      <a:endParaRPr lang="en-US" sz="1100" dirty="0">
                        <a:latin typeface="Hei" pitchFamily="2" charset="-122"/>
                        <a:ea typeface="Hei" pitchFamily="2" charset="-122"/>
                      </a:endParaRPr>
                    </a:p>
                  </a:txBody>
                  <a:tcPr marL="101600" marR="101600" marT="101600" marB="101600" anchor="ctr">
                    <a:lnL>
                      <a:noFill/>
                    </a:lnL>
                    <a:lnR>
                      <a:noFill/>
                    </a:lnR>
                    <a:lnT>
                      <a:noFill/>
                    </a:lnT>
                    <a:lnB>
                      <a:noFill/>
                    </a:lnB>
                    <a:solidFill>
                      <a:srgbClr val="00BFFF">
                        <a:alpha val="100000"/>
                      </a:srgbClr>
                    </a:solidFill>
                  </a:tcPr>
                </a:tc>
                <a:tc>
                  <a:txBody>
                    <a:bodyPr/>
                    <a:lstStyle/>
                    <a:p>
                      <a:pPr indent="0" algn="ctr">
                        <a:lnSpc>
                          <a:spcPct val="100000"/>
                        </a:lnSpc>
                        <a:defRPr/>
                      </a:pPr>
                      <a:r>
                        <a:rPr lang="en-US" sz="1800" b="1" i="0" u="none" strike="noStrike" dirty="0">
                          <a:solidFill>
                            <a:srgbClr val="FFFFFF"/>
                          </a:solidFill>
                          <a:latin typeface="Hei" pitchFamily="2" charset="-122"/>
                          <a:ea typeface="Hei" pitchFamily="2" charset="-122"/>
                          <a:cs typeface="Noto Sans SC"/>
                          <a:sym typeface="Noto Sans SC"/>
                        </a:rPr>
                        <a:t>Google (Jupiter 范式)</a:t>
                      </a:r>
                      <a:endParaRPr lang="en-US" sz="1100" dirty="0">
                        <a:latin typeface="Hei" pitchFamily="2" charset="-122"/>
                        <a:ea typeface="Hei" pitchFamily="2" charset="-122"/>
                      </a:endParaRPr>
                    </a:p>
                  </a:txBody>
                  <a:tcPr marL="101600" marR="101600" marT="101600" marB="101600" anchor="ctr">
                    <a:lnL>
                      <a:noFill/>
                    </a:lnL>
                    <a:lnR>
                      <a:noFill/>
                    </a:lnR>
                    <a:lnT>
                      <a:noFill/>
                    </a:lnT>
                    <a:lnB>
                      <a:noFill/>
                    </a:lnB>
                    <a:solidFill>
                      <a:srgbClr val="00BFFF">
                        <a:alpha val="100000"/>
                      </a:srgbClr>
                    </a:solidFill>
                  </a:tcPr>
                </a:tc>
                <a:tc>
                  <a:txBody>
                    <a:bodyPr/>
                    <a:lstStyle/>
                    <a:p>
                      <a:pPr indent="0" algn="ctr">
                        <a:lnSpc>
                          <a:spcPct val="100000"/>
                        </a:lnSpc>
                        <a:defRPr/>
                      </a:pPr>
                      <a:r>
                        <a:rPr lang="en-US" sz="1800" b="1" i="0" u="none" strike="noStrike" dirty="0">
                          <a:solidFill>
                            <a:srgbClr val="FFFFFF"/>
                          </a:solidFill>
                          <a:latin typeface="Hei" pitchFamily="2" charset="-122"/>
                          <a:ea typeface="Hei" pitchFamily="2" charset="-122"/>
                          <a:cs typeface="Noto Sans SC"/>
                          <a:sym typeface="Noto Sans SC"/>
                        </a:rPr>
                        <a:t>AWS (Nitro 范式)</a:t>
                      </a:r>
                      <a:endParaRPr lang="en-US" sz="1100" dirty="0">
                        <a:latin typeface="Hei" pitchFamily="2" charset="-122"/>
                        <a:ea typeface="Hei" pitchFamily="2" charset="-122"/>
                      </a:endParaRPr>
                    </a:p>
                  </a:txBody>
                  <a:tcPr marL="101600" marR="101600" marT="101600" marB="101600" anchor="ctr">
                    <a:lnL>
                      <a:noFill/>
                    </a:lnL>
                    <a:lnR>
                      <a:noFill/>
                    </a:lnR>
                    <a:lnT>
                      <a:noFill/>
                    </a:lnT>
                    <a:lnB>
                      <a:noFill/>
                    </a:lnB>
                    <a:solidFill>
                      <a:srgbClr val="00BFFF">
                        <a:alpha val="100000"/>
                      </a:srgbClr>
                    </a:solidFill>
                  </a:tcPr>
                </a:tc>
                <a:extLst>
                  <a:ext uri="{0D108BD9-81ED-4DB2-BD59-A6C34878D82A}">
                    <a16:rowId xmlns:a16="http://schemas.microsoft.com/office/drawing/2014/main" val="10000"/>
                  </a:ext>
                </a:extLst>
              </a:tr>
              <a:tr h="711200">
                <a:tc>
                  <a:txBody>
                    <a:bodyPr/>
                    <a:lstStyle/>
                    <a:p>
                      <a:pPr indent="0" algn="ctr">
                        <a:lnSpc>
                          <a:spcPct val="100000"/>
                        </a:lnSpc>
                        <a:defRPr/>
                      </a:pPr>
                      <a:r>
                        <a:rPr lang="en-US" sz="1800" b="1" i="0" u="none" strike="noStrike" dirty="0">
                          <a:solidFill>
                            <a:srgbClr val="CCCCCC"/>
                          </a:solidFill>
                          <a:latin typeface="Hei" pitchFamily="2" charset="-122"/>
                          <a:ea typeface="Hei" pitchFamily="2" charset="-122"/>
                          <a:cs typeface="Noto Sans SC"/>
                          <a:sym typeface="Noto Sans SC"/>
                        </a:rPr>
                        <a:t>研发重点</a:t>
                      </a:r>
                      <a:endParaRPr lang="en-US" sz="1100" dirty="0">
                        <a:latin typeface="Hei" pitchFamily="2" charset="-122"/>
                        <a:ea typeface="Hei" pitchFamily="2" charset="-122"/>
                      </a:endParaRPr>
                    </a:p>
                  </a:txBody>
                  <a:tcPr marL="101600" marR="101600" marT="101600" marB="101600" anchor="ctr">
                    <a:lnL>
                      <a:noFill/>
                    </a:lnL>
                    <a:lnR>
                      <a:noFill/>
                    </a:lnR>
                    <a:lnT>
                      <a:noFill/>
                    </a:lnT>
                    <a:lnB w="12700" cap="flat" cmpd="sng" algn="ctr">
                      <a:solidFill>
                        <a:srgbClr val="00BFFF"/>
                      </a:solidFill>
                      <a:prstDash val="solid"/>
                      <a:round/>
                      <a:headEnd type="none" w="med" len="med"/>
                      <a:tailEnd type="none" w="med" len="med"/>
                    </a:lnB>
                    <a:solidFill>
                      <a:srgbClr val="FFFFFF">
                        <a:alpha val="8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核心互联层：突破电交换带宽墙 (OCS)</a:t>
                      </a:r>
                      <a:endParaRPr lang="en-US" sz="1100" dirty="0">
                        <a:latin typeface="Hei" pitchFamily="2" charset="-122"/>
                        <a:ea typeface="Hei" pitchFamily="2" charset="-122"/>
                      </a:endParaRPr>
                    </a:p>
                  </a:txBody>
                  <a:tcPr marL="101600" marR="101600" marT="101600" marB="101600" anchor="ctr">
                    <a:lnL>
                      <a:noFill/>
                    </a:lnL>
                    <a:lnR>
                      <a:noFill/>
                    </a:lnR>
                    <a:lnT>
                      <a:noFill/>
                    </a:lnT>
                    <a:lnB w="12700" cap="flat" cmpd="sng" algn="ctr">
                      <a:solidFill>
                        <a:srgbClr val="00B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主机边缘层：消除虚拟化损耗 (Nitro 卡)</a:t>
                      </a:r>
                      <a:endParaRPr lang="en-US" sz="1100" dirty="0">
                        <a:latin typeface="Hei" pitchFamily="2" charset="-122"/>
                        <a:ea typeface="Hei" pitchFamily="2" charset="-122"/>
                      </a:endParaRPr>
                    </a:p>
                  </a:txBody>
                  <a:tcPr marL="101600" marR="101600" marT="101600" marB="101600" anchor="ctr">
                    <a:lnL>
                      <a:noFill/>
                    </a:lnL>
                    <a:lnR>
                      <a:noFill/>
                    </a:lnR>
                    <a:lnT>
                      <a:noFill/>
                    </a:lnT>
                    <a:lnB w="12700" cap="flat" cmpd="sng" algn="ctr">
                      <a:solidFill>
                        <a:srgbClr val="00B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1"/>
                  </a:ext>
                </a:extLst>
              </a:tr>
              <a:tr h="711200">
                <a:tc>
                  <a:txBody>
                    <a:bodyPr/>
                    <a:lstStyle/>
                    <a:p>
                      <a:pPr indent="0" algn="ctr">
                        <a:lnSpc>
                          <a:spcPct val="100000"/>
                        </a:lnSpc>
                        <a:defRPr/>
                      </a:pPr>
                      <a:r>
                        <a:rPr lang="en-US" sz="1800" b="1" i="0" u="none" strike="noStrike" dirty="0">
                          <a:solidFill>
                            <a:srgbClr val="CCCCCC"/>
                          </a:solidFill>
                          <a:latin typeface="Hei" pitchFamily="2" charset="-122"/>
                          <a:ea typeface="Hei" pitchFamily="2" charset="-122"/>
                          <a:cs typeface="Noto Sans SC"/>
                          <a:sym typeface="Noto Sans SC"/>
                        </a:rPr>
                        <a:t>控制平面</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8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集中式 Orion SDN，重排全局流表</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分布式硬件控制，处理实例级策略</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2"/>
                  </a:ext>
                </a:extLst>
              </a:tr>
              <a:tr h="711200">
                <a:tc>
                  <a:txBody>
                    <a:bodyPr/>
                    <a:lstStyle/>
                    <a:p>
                      <a:pPr indent="0" algn="ctr">
                        <a:lnSpc>
                          <a:spcPct val="100000"/>
                        </a:lnSpc>
                        <a:defRPr/>
                      </a:pPr>
                      <a:r>
                        <a:rPr lang="en-US" sz="1800" b="1" i="0" u="none" strike="noStrike" dirty="0">
                          <a:solidFill>
                            <a:srgbClr val="CCCCCC"/>
                          </a:solidFill>
                          <a:latin typeface="Hei" pitchFamily="2" charset="-122"/>
                          <a:ea typeface="Hei" pitchFamily="2" charset="-122"/>
                          <a:cs typeface="Noto Sans SC"/>
                          <a:sym typeface="Noto Sans SC"/>
                        </a:rPr>
                        <a:t>协议栈</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8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Swift (延迟敏感型 TCP)</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SRD (硬件驱动乱序可靠协议)</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3"/>
                  </a:ext>
                </a:extLst>
              </a:tr>
              <a:tr h="711200">
                <a:tc>
                  <a:txBody>
                    <a:bodyPr/>
                    <a:lstStyle/>
                    <a:p>
                      <a:pPr indent="0" algn="ctr">
                        <a:lnSpc>
                          <a:spcPct val="100000"/>
                        </a:lnSpc>
                        <a:defRPr/>
                      </a:pPr>
                      <a:r>
                        <a:rPr lang="en-US" sz="1800" b="1" i="0" u="none" strike="noStrike" dirty="0">
                          <a:solidFill>
                            <a:srgbClr val="CCCCCC"/>
                          </a:solidFill>
                          <a:latin typeface="Hei" pitchFamily="2" charset="-122"/>
                          <a:ea typeface="Hei" pitchFamily="2" charset="-122"/>
                          <a:cs typeface="Noto Sans SC"/>
                          <a:sym typeface="Noto Sans SC"/>
                        </a:rPr>
                        <a:t>ASIC 策略</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8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交换芯片 (Centauri) + 管理芯片 (Titan)</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计算芯片 (Graviton) + 网络芯片 (Nitro)</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w="12700" cap="flat" cmpd="sng" algn="ctr">
                      <a:solidFill>
                        <a:srgbClr val="00B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4"/>
                  </a:ext>
                </a:extLst>
              </a:tr>
              <a:tr h="711200">
                <a:tc>
                  <a:txBody>
                    <a:bodyPr/>
                    <a:lstStyle/>
                    <a:p>
                      <a:pPr indent="0" algn="ctr">
                        <a:lnSpc>
                          <a:spcPct val="100000"/>
                        </a:lnSpc>
                        <a:defRPr/>
                      </a:pPr>
                      <a:r>
                        <a:rPr lang="en-US" sz="1800" b="1" i="0" u="none" strike="noStrike" dirty="0">
                          <a:solidFill>
                            <a:srgbClr val="CCCCCC"/>
                          </a:solidFill>
                          <a:latin typeface="Hei" pitchFamily="2" charset="-122"/>
                          <a:ea typeface="Hei" pitchFamily="2" charset="-122"/>
                          <a:cs typeface="Noto Sans SC"/>
                          <a:sym typeface="Noto Sans SC"/>
                        </a:rPr>
                        <a:t>可扩展性</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a:noFill/>
                    </a:lnB>
                    <a:solidFill>
                      <a:srgbClr val="FFFFFF">
                        <a:alpha val="8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侧重于支撑巨型 TPU 训练集群</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a:noFill/>
                    </a:lnB>
                    <a:solidFill>
                      <a:srgbClr val="FFFFFF">
                        <a:alpha val="5000"/>
                      </a:srgbClr>
                    </a:solidFill>
                  </a:tcPr>
                </a:tc>
                <a:tc>
                  <a:txBody>
                    <a:bodyPr/>
                    <a:lstStyle/>
                    <a:p>
                      <a:pPr marL="127000" indent="0" algn="l">
                        <a:lnSpc>
                          <a:spcPct val="100000"/>
                        </a:lnSpc>
                        <a:defRPr/>
                      </a:pPr>
                      <a:r>
                        <a:rPr lang="en-US" sz="1800" b="0" i="0" u="none" strike="noStrike" dirty="0">
                          <a:solidFill>
                            <a:srgbClr val="FFFFFF"/>
                          </a:solidFill>
                          <a:latin typeface="Hei" pitchFamily="2" charset="-122"/>
                          <a:ea typeface="Hei" pitchFamily="2" charset="-122"/>
                          <a:cs typeface="Noto Sans SC"/>
                          <a:sym typeface="Noto Sans SC"/>
                        </a:rPr>
                        <a:t>侧重于支撑百万级多租户 VPC 隔离</a:t>
                      </a:r>
                      <a:endParaRPr lang="en-US" sz="1100" dirty="0">
                        <a:latin typeface="Hei" pitchFamily="2" charset="-122"/>
                        <a:ea typeface="Hei" pitchFamily="2" charset="-122"/>
                      </a:endParaRPr>
                    </a:p>
                  </a:txBody>
                  <a:tcPr marL="101600" marR="101600" marT="101600" marB="101600" anchor="ctr">
                    <a:lnL>
                      <a:noFill/>
                    </a:lnL>
                    <a:lnR>
                      <a:noFill/>
                    </a:lnR>
                    <a:lnT w="12700" cap="flat" cmpd="sng" algn="ctr">
                      <a:solidFill>
                        <a:srgbClr val="00BFFF"/>
                      </a:solidFill>
                      <a:prstDash val="solid"/>
                      <a:round/>
                      <a:headEnd type="none" w="med" len="med"/>
                      <a:tailEnd type="none" w="med" len="med"/>
                    </a:lnT>
                    <a:lnB>
                      <a:noFill/>
                    </a:lnB>
                    <a:solidFill>
                      <a:srgbClr val="FFFFFF">
                        <a:alpha val="5000"/>
                      </a:srgbClr>
                    </a:solidFill>
                  </a:tcPr>
                </a:tc>
                <a:extLst>
                  <a:ext uri="{0D108BD9-81ED-4DB2-BD59-A6C34878D82A}">
                    <a16:rowId xmlns:a16="http://schemas.microsoft.com/office/drawing/2014/main" val="10005"/>
                  </a:ext>
                </a:extLst>
              </a:tr>
            </a:tbl>
          </a:graphicData>
        </a:graphic>
      </p:graphicFrame>
      <p:cxnSp>
        <p:nvCxnSpPr>
          <p:cNvPr id="6" name="Connector 6"/>
          <p:cNvCxnSpPr/>
          <p:nvPr/>
        </p:nvCxnSpPr>
        <p:spPr>
          <a:xfrm rot="-4092">
            <a:off x="762004" y="1200150"/>
            <a:ext cx="10668000" cy="12700"/>
          </a:xfrm>
          <a:prstGeom prst="straightConnector1">
            <a:avLst/>
          </a:prstGeom>
          <a:solidFill>
            <a:srgbClr val="DEE0E3">
              <a:alpha val="100000"/>
            </a:srgbClr>
          </a:solidFill>
          <a:ln w="25400" cap="flat" cmpd="sng">
            <a:solidFill>
              <a:srgbClr val="00BFFF">
                <a:alpha val="100000"/>
              </a:srgbClr>
            </a:solidFill>
            <a:prstDash val="solid"/>
            <a:round/>
            <a:headEnd type="none" w="lg" len="lg"/>
            <a:tailEnd type="none" w="lg" len="lg"/>
          </a:ln>
        </p:spPr>
      </p:cxnSp>
      <p:sp>
        <p:nvSpPr>
          <p:cNvPr id="7" name="AutoShape 15">
            <a:extLst>
              <a:ext uri="{FF2B5EF4-FFF2-40B4-BE49-F238E27FC236}">
                <a16:creationId xmlns:a16="http://schemas.microsoft.com/office/drawing/2014/main" id="{7F7DB42E-3E30-F846-9303-1A95B2803D9F}"/>
              </a:ext>
            </a:extLst>
          </p:cNvPr>
          <p:cNvSpPr/>
          <p:nvPr/>
        </p:nvSpPr>
        <p:spPr>
          <a:xfrm>
            <a:off x="762000" y="5736771"/>
            <a:ext cx="10668000" cy="254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8" name="AutoShape 16">
            <a:extLst>
              <a:ext uri="{FF2B5EF4-FFF2-40B4-BE49-F238E27FC236}">
                <a16:creationId xmlns:a16="http://schemas.microsoft.com/office/drawing/2014/main" id="{C8CBEB7F-40CB-1546-BCA9-A020F0BC0C5B}"/>
              </a:ext>
            </a:extLst>
          </p:cNvPr>
          <p:cNvSpPr/>
          <p:nvPr/>
        </p:nvSpPr>
        <p:spPr>
          <a:xfrm>
            <a:off x="762000" y="5983514"/>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400" b="1" i="0" u="none" strike="noStrike" dirty="0">
                <a:solidFill>
                  <a:srgbClr val="C8DCF0"/>
                </a:solidFill>
                <a:latin typeface="Hei" pitchFamily="2" charset="-122"/>
                <a:ea typeface="Hei" pitchFamily="2" charset="-122"/>
                <a:cs typeface="Noto Sans SC"/>
                <a:sym typeface="Noto Sans SC"/>
              </a:rPr>
              <a:t>核心结论：</a:t>
            </a:r>
            <a:r>
              <a:rPr lang="en-US" sz="2400" b="1" i="0" u="none" strike="noStrike" dirty="0">
                <a:solidFill>
                  <a:srgbClr val="C8DCF0"/>
                </a:solidFill>
                <a:latin typeface="Hei" pitchFamily="2" charset="-122"/>
                <a:ea typeface="Hei" pitchFamily="2" charset="-122"/>
                <a:cs typeface="Noto Sans SC"/>
                <a:sym typeface="Noto Sans SC"/>
              </a:rPr>
              <a:t>Google </a:t>
            </a:r>
            <a:r>
              <a:rPr lang="zh-CN" altLang="en-US" sz="2400" b="1" i="0" u="none" strike="noStrike" dirty="0">
                <a:solidFill>
                  <a:srgbClr val="C8DCF0"/>
                </a:solidFill>
                <a:latin typeface="Hei" pitchFamily="2" charset="-122"/>
                <a:ea typeface="Hei" pitchFamily="2" charset="-122"/>
                <a:cs typeface="Noto Sans SC"/>
                <a:sym typeface="Noto Sans SC"/>
              </a:rPr>
              <a:t>以“全局集中光络”逼近物理极限；</a:t>
            </a:r>
          </a:p>
          <a:p>
            <a:pPr indent="0" algn="ctr">
              <a:lnSpc>
                <a:spcPct val="125000"/>
              </a:lnSpc>
              <a:defRPr/>
            </a:pPr>
            <a:r>
              <a:rPr lang="en-US" sz="2400" b="1" i="0" u="none" strike="noStrike" dirty="0">
                <a:solidFill>
                  <a:srgbClr val="C8DCF0"/>
                </a:solidFill>
                <a:latin typeface="Hei" pitchFamily="2" charset="-122"/>
                <a:ea typeface="Hei" pitchFamily="2" charset="-122"/>
                <a:cs typeface="Noto Sans SC"/>
                <a:sym typeface="Noto Sans SC"/>
              </a:rPr>
              <a:t>AWS</a:t>
            </a:r>
            <a:r>
              <a:rPr lang="zh-CN" altLang="en-US" sz="2400" b="1" i="0" u="none" strike="noStrike" dirty="0">
                <a:solidFill>
                  <a:srgbClr val="C8DCF0"/>
                </a:solidFill>
                <a:latin typeface="Hei" pitchFamily="2" charset="-122"/>
                <a:ea typeface="Hei" pitchFamily="2" charset="-122"/>
                <a:cs typeface="Noto Sans SC"/>
                <a:sym typeface="Noto Sans SC"/>
              </a:rPr>
              <a:t>以“边缘分布式硬件”追求极致多租户确定性。</a:t>
            </a:r>
            <a:endParaRPr lang="en-US" sz="1600" b="1" dirty="0">
              <a:latin typeface="Hei" pitchFamily="2" charset="-122"/>
              <a:ea typeface="Hei"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4" name="AutoShape 4"/>
          <p:cNvSpPr/>
          <p:nvPr/>
        </p:nvSpPr>
        <p:spPr>
          <a:xfrm>
            <a:off x="751114" y="410029"/>
            <a:ext cx="90551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altLang="zh-CN" sz="3600" b="1" i="0" u="none" strike="noStrike" dirty="0">
                <a:solidFill>
                  <a:srgbClr val="00BFFF"/>
                </a:solidFill>
                <a:latin typeface="Hei" pitchFamily="2" charset="-122"/>
                <a:ea typeface="Hei" pitchFamily="2" charset="-122"/>
                <a:cs typeface="Noto Sans SC"/>
                <a:sym typeface="Noto Sans SC"/>
              </a:rPr>
              <a:t>2</a:t>
            </a:r>
            <a:r>
              <a:rPr lang="zh-CN" altLang="en-US" sz="3600" b="1" i="0" u="none" strike="noStrike" dirty="0">
                <a:solidFill>
                  <a:srgbClr val="00BFFF"/>
                </a:solidFill>
                <a:latin typeface="Hei" pitchFamily="2" charset="-122"/>
                <a:ea typeface="Hei" pitchFamily="2" charset="-122"/>
                <a:cs typeface="Noto Sans SC"/>
                <a:sym typeface="Noto Sans SC"/>
              </a:rPr>
              <a:t>层叶脊向</a:t>
            </a:r>
            <a:r>
              <a:rPr lang="en-US" altLang="zh-CN" sz="3600" b="1" i="0" u="none" strike="noStrike" dirty="0">
                <a:solidFill>
                  <a:srgbClr val="00BFFF"/>
                </a:solidFill>
                <a:latin typeface="Hei" pitchFamily="2" charset="-122"/>
                <a:ea typeface="Hei" pitchFamily="2" charset="-122"/>
                <a:cs typeface="Noto Sans SC"/>
                <a:sym typeface="Noto Sans SC"/>
              </a:rPr>
              <a:t>5</a:t>
            </a:r>
            <a:r>
              <a:rPr lang="zh-CN" altLang="en-US" sz="3600" b="1" i="0" u="none" strike="noStrike" dirty="0">
                <a:solidFill>
                  <a:srgbClr val="00BFFF"/>
                </a:solidFill>
                <a:latin typeface="Hei" pitchFamily="2" charset="-122"/>
                <a:ea typeface="Hei" pitchFamily="2" charset="-122"/>
                <a:cs typeface="Noto Sans SC"/>
                <a:sym typeface="Noto Sans SC"/>
              </a:rPr>
              <a:t>层多级</a:t>
            </a:r>
            <a:r>
              <a:rPr lang="en-US" sz="3600" b="1" i="0" u="none" strike="noStrike" dirty="0">
                <a:solidFill>
                  <a:srgbClr val="00BFFF"/>
                </a:solidFill>
                <a:latin typeface="Hei" pitchFamily="2" charset="-122"/>
                <a:ea typeface="Hei" pitchFamily="2" charset="-122"/>
                <a:cs typeface="Noto Sans SC"/>
                <a:sym typeface="Noto Sans SC"/>
              </a:rPr>
              <a:t>CLOS</a:t>
            </a:r>
            <a:r>
              <a:rPr lang="zh-CN" altLang="en-US" sz="3600" b="1" i="0" u="none" strike="noStrike" dirty="0">
                <a:solidFill>
                  <a:srgbClr val="00BFFF"/>
                </a:solidFill>
                <a:latin typeface="Hei" pitchFamily="2" charset="-122"/>
                <a:ea typeface="Hei" pitchFamily="2" charset="-122"/>
                <a:cs typeface="Noto Sans SC"/>
                <a:sym typeface="Noto Sans SC"/>
              </a:rPr>
              <a:t>的横向扩展</a:t>
            </a:r>
            <a:endParaRPr lang="en-US" sz="1100" dirty="0">
              <a:latin typeface="Hei" pitchFamily="2" charset="-122"/>
              <a:ea typeface="Hei" pitchFamily="2" charset="-122"/>
            </a:endParaRPr>
          </a:p>
        </p:txBody>
      </p:sp>
      <p:sp>
        <p:nvSpPr>
          <p:cNvPr id="9" name="AutoShape 9"/>
          <p:cNvSpPr/>
          <p:nvPr/>
        </p:nvSpPr>
        <p:spPr>
          <a:xfrm>
            <a:off x="762000" y="1320802"/>
            <a:ext cx="10414000" cy="4688112"/>
          </a:xfrm>
          <a:prstGeom prst="roundRect">
            <a:avLst>
              <a:gd name="adj" fmla="val 7142"/>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81200"/>
            <a:ext cx="406400" cy="406400"/>
          </a:xfrm>
          <a:prstGeom prst="rect">
            <a:avLst/>
          </a:prstGeom>
        </p:spPr>
      </p:pic>
      <p:sp>
        <p:nvSpPr>
          <p:cNvPr id="11" name="AutoShape 11"/>
          <p:cNvSpPr/>
          <p:nvPr/>
        </p:nvSpPr>
        <p:spPr>
          <a:xfrm>
            <a:off x="1524000" y="19431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FFFF"/>
                </a:solidFill>
                <a:latin typeface="Hei" pitchFamily="2" charset="-122"/>
                <a:ea typeface="Hei" pitchFamily="2" charset="-122"/>
                <a:cs typeface="Noto Sans SC"/>
                <a:sym typeface="Noto Sans SC"/>
              </a:rPr>
              <a:t>规模扩展路径</a:t>
            </a:r>
            <a:endParaRPr lang="en-US" sz="1100" dirty="0">
              <a:latin typeface="Hei" pitchFamily="2" charset="-122"/>
              <a:ea typeface="Hei" pitchFamily="2" charset="-122"/>
            </a:endParaRPr>
          </a:p>
        </p:txBody>
      </p:sp>
      <p:sp>
        <p:nvSpPr>
          <p:cNvPr id="12" name="AutoShape 12"/>
          <p:cNvSpPr/>
          <p:nvPr/>
        </p:nvSpPr>
        <p:spPr>
          <a:xfrm>
            <a:off x="1132113" y="2490270"/>
            <a:ext cx="5747657" cy="2863304"/>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CCCCCC"/>
              </a:buClr>
              <a:buChar char="•"/>
              <a:defRPr/>
            </a:pPr>
            <a:r>
              <a:rPr lang="en-US" sz="1600" b="1" i="0" u="none" strike="noStrike" dirty="0">
                <a:solidFill>
                  <a:srgbClr val="CCCCCC"/>
                </a:solidFill>
                <a:latin typeface="Hei" pitchFamily="2" charset="-122"/>
                <a:ea typeface="Hei" pitchFamily="2" charset="-122"/>
                <a:cs typeface="Noto Sans SC"/>
                <a:sym typeface="Noto Sans SC"/>
              </a:rPr>
              <a:t>二层叶脊：</a:t>
            </a:r>
            <a:r>
              <a:rPr lang="en-US" sz="1600" b="0" i="0" u="none" strike="noStrike" dirty="0">
                <a:solidFill>
                  <a:srgbClr val="CCCCCC"/>
                </a:solidFill>
                <a:latin typeface="Hei" pitchFamily="2" charset="-122"/>
                <a:ea typeface="Hei" pitchFamily="2" charset="-122"/>
                <a:cs typeface="Noto Sans SC"/>
                <a:sym typeface="Noto Sans SC"/>
              </a:rPr>
              <a:t>适用于</a:t>
            </a:r>
            <a:r>
              <a:rPr lang="en-US" sz="2000" b="1" i="0" u="none" strike="noStrike" dirty="0">
                <a:solidFill>
                  <a:srgbClr val="00B0F0"/>
                </a:solidFill>
                <a:latin typeface="Hei" pitchFamily="2" charset="-122"/>
                <a:ea typeface="Hei" pitchFamily="2" charset="-122"/>
                <a:cs typeface="Noto Sans SC"/>
                <a:sym typeface="Noto Sans SC"/>
              </a:rPr>
              <a:t>中小型私有云</a:t>
            </a:r>
            <a:r>
              <a:rPr lang="en-US" sz="1600" b="0" i="0" u="none" strike="noStrike" dirty="0">
                <a:solidFill>
                  <a:srgbClr val="CCCCCC"/>
                </a:solidFill>
                <a:latin typeface="Hei" pitchFamily="2" charset="-122"/>
                <a:ea typeface="Hei" pitchFamily="2" charset="-122"/>
                <a:cs typeface="Noto Sans SC"/>
                <a:sym typeface="Noto Sans SC"/>
              </a:rPr>
              <a:t>，规模受限于Spine交换机端口数。</a:t>
            </a:r>
          </a:p>
          <a:p>
            <a:pPr marL="203200" indent="-203200" algn="l">
              <a:lnSpc>
                <a:spcPct val="125000"/>
              </a:lnSpc>
              <a:buClr>
                <a:srgbClr val="CCCCCC"/>
              </a:buClr>
              <a:buChar char="•"/>
              <a:defRPr/>
            </a:pPr>
            <a:endParaRPr lang="en-US" sz="1100" dirty="0">
              <a:latin typeface="Hei" pitchFamily="2" charset="-122"/>
              <a:ea typeface="Hei" pitchFamily="2" charset="-122"/>
            </a:endParaRPr>
          </a:p>
          <a:p>
            <a:pPr marL="203200" indent="-203200" algn="l">
              <a:lnSpc>
                <a:spcPct val="125000"/>
              </a:lnSpc>
              <a:buClr>
                <a:srgbClr val="CCCCCC"/>
              </a:buClr>
              <a:buChar char="•"/>
            </a:pPr>
            <a:r>
              <a:rPr lang="en-US" sz="1600" b="1" i="0" u="none" strike="noStrike" dirty="0" err="1">
                <a:solidFill>
                  <a:srgbClr val="CCCCCC"/>
                </a:solidFill>
                <a:latin typeface="Hei" pitchFamily="2" charset="-122"/>
                <a:ea typeface="Hei" pitchFamily="2" charset="-122"/>
                <a:cs typeface="Noto Sans SC"/>
                <a:sym typeface="Noto Sans SC"/>
              </a:rPr>
              <a:t>五层CLOS：</a:t>
            </a:r>
            <a:r>
              <a:rPr lang="en-US" sz="1600" b="0" i="0" u="none" strike="noStrike" dirty="0" err="1">
                <a:solidFill>
                  <a:srgbClr val="CCCCCC"/>
                </a:solidFill>
                <a:latin typeface="Hei" pitchFamily="2" charset="-122"/>
                <a:ea typeface="Hei" pitchFamily="2" charset="-122"/>
                <a:cs typeface="Noto Sans SC"/>
                <a:sym typeface="Noto Sans SC"/>
              </a:rPr>
              <a:t>增加Super-Spine层，实现超大规模扩展，适配云厂商需求。适用于</a:t>
            </a:r>
            <a:r>
              <a:rPr lang="en-US" sz="2000" b="1" i="0" u="none" strike="noStrike" dirty="0" err="1">
                <a:solidFill>
                  <a:srgbClr val="00B0F0"/>
                </a:solidFill>
                <a:latin typeface="Hei" pitchFamily="2" charset="-122"/>
                <a:ea typeface="Hei" pitchFamily="2" charset="-122"/>
                <a:cs typeface="Noto Sans SC"/>
                <a:sym typeface="Noto Sans SC"/>
              </a:rPr>
              <a:t>超大规模公有云</a:t>
            </a:r>
            <a:r>
              <a:rPr lang="zh-CN" altLang="en-US" sz="1600" b="0" i="0" u="none" strike="noStrike" dirty="0">
                <a:solidFill>
                  <a:srgbClr val="CCCCCC"/>
                </a:solidFill>
                <a:latin typeface="Hei" pitchFamily="2" charset="-122"/>
                <a:ea typeface="Hei" pitchFamily="2" charset="-122"/>
                <a:cs typeface="Noto Sans SC"/>
                <a:sym typeface="Noto Sans SC"/>
              </a:rPr>
              <a:t>。</a:t>
            </a:r>
            <a:endParaRPr lang="en-US" altLang="zh-CN" sz="1600" b="0" i="0" u="none" strike="noStrike" dirty="0">
              <a:solidFill>
                <a:srgbClr val="CCCCCC"/>
              </a:solidFill>
              <a:latin typeface="Hei" pitchFamily="2" charset="-122"/>
              <a:ea typeface="Hei" pitchFamily="2" charset="-122"/>
              <a:cs typeface="Noto Sans SC"/>
              <a:sym typeface="Noto Sans SC"/>
            </a:endParaRPr>
          </a:p>
          <a:p>
            <a:pPr marL="203200" indent="-203200" algn="l">
              <a:lnSpc>
                <a:spcPct val="125000"/>
              </a:lnSpc>
              <a:buClr>
                <a:srgbClr val="CCCCCC"/>
              </a:buClr>
              <a:buChar char="•"/>
            </a:pPr>
            <a:endParaRPr lang="en-US" altLang="zh-CN" sz="1600" b="0" i="0" u="none" strike="noStrike" dirty="0">
              <a:solidFill>
                <a:srgbClr val="CCCCCC"/>
              </a:solidFill>
              <a:latin typeface="Hei" pitchFamily="2" charset="-122"/>
              <a:ea typeface="Hei" pitchFamily="2" charset="-122"/>
              <a:cs typeface="Noto Sans SC"/>
              <a:sym typeface="Noto Sans SC"/>
            </a:endParaRPr>
          </a:p>
          <a:p>
            <a:pPr marL="203200" indent="-203200" algn="l">
              <a:lnSpc>
                <a:spcPct val="125000"/>
              </a:lnSpc>
              <a:buClr>
                <a:srgbClr val="CCCCCC"/>
              </a:buClr>
              <a:buChar char="•"/>
            </a:pPr>
            <a:r>
              <a:rPr lang="zh-CN" altLang="en-US" sz="1600" b="1" dirty="0">
                <a:solidFill>
                  <a:srgbClr val="CCCCCC"/>
                </a:solidFill>
                <a:latin typeface="Hei" pitchFamily="2" charset="-122"/>
                <a:ea typeface="Hei" pitchFamily="2" charset="-122"/>
                <a:cs typeface="Noto Sans SC"/>
                <a:sym typeface="Noto Sans SC"/>
              </a:rPr>
              <a:t>无损纯净叶脊</a:t>
            </a:r>
            <a:r>
              <a:rPr lang="zh-CN" altLang="en-US" sz="1600" dirty="0">
                <a:solidFill>
                  <a:srgbClr val="CCCCCC"/>
                </a:solidFill>
                <a:latin typeface="Hei" pitchFamily="2" charset="-122"/>
                <a:ea typeface="Hei" pitchFamily="2" charset="-122"/>
                <a:cs typeface="Noto Sans SC"/>
                <a:sym typeface="Noto Sans SC"/>
              </a:rPr>
              <a:t>：适用于</a:t>
            </a:r>
            <a:r>
              <a:rPr lang="en-US" altLang="zh-CN" sz="2000" b="1" dirty="0">
                <a:solidFill>
                  <a:srgbClr val="00B0F0"/>
                </a:solidFill>
                <a:latin typeface="Hei" pitchFamily="2" charset="-122"/>
                <a:ea typeface="Hei" pitchFamily="2" charset="-122"/>
                <a:cs typeface="Noto Sans SC"/>
                <a:sym typeface="Noto Sans SC"/>
              </a:rPr>
              <a:t>AI </a:t>
            </a:r>
            <a:r>
              <a:rPr lang="zh-CN" altLang="en-US" sz="2000" b="1" dirty="0">
                <a:solidFill>
                  <a:srgbClr val="00B0F0"/>
                </a:solidFill>
                <a:latin typeface="Hei" pitchFamily="2" charset="-122"/>
                <a:ea typeface="Hei" pitchFamily="2" charset="-122"/>
                <a:cs typeface="Noto Sans SC"/>
                <a:sym typeface="Noto Sans SC"/>
              </a:rPr>
              <a:t>训练核心后端网</a:t>
            </a:r>
            <a:r>
              <a:rPr lang="zh-CN" altLang="en-US" sz="1600" dirty="0">
                <a:solidFill>
                  <a:srgbClr val="CCCCCC"/>
                </a:solidFill>
                <a:latin typeface="Hei" pitchFamily="2" charset="-122"/>
                <a:ea typeface="Hei" pitchFamily="2" charset="-122"/>
                <a:cs typeface="Noto Sans SC"/>
                <a:sym typeface="Noto Sans SC"/>
              </a:rPr>
              <a:t>，</a:t>
            </a:r>
            <a:r>
              <a:rPr lang="en-US" altLang="zh-CN" sz="1600" dirty="0">
                <a:solidFill>
                  <a:srgbClr val="CCCCCC"/>
                </a:solidFill>
                <a:latin typeface="Hei" pitchFamily="2" charset="-122"/>
                <a:ea typeface="Hei" pitchFamily="2" charset="-122"/>
                <a:cs typeface="Noto Sans SC"/>
                <a:sym typeface="Noto Sans SC"/>
              </a:rPr>
              <a:t>GPU/TPU </a:t>
            </a:r>
            <a:r>
              <a:rPr lang="zh-CN" altLang="en-US" sz="1600" dirty="0">
                <a:solidFill>
                  <a:srgbClr val="CCCCCC"/>
                </a:solidFill>
                <a:latin typeface="Hei" pitchFamily="2" charset="-122"/>
                <a:ea typeface="Hei" pitchFamily="2" charset="-122"/>
                <a:cs typeface="Noto Sans SC"/>
                <a:sym typeface="Noto Sans SC"/>
              </a:rPr>
              <a:t>直连，实现低延迟和</a:t>
            </a:r>
            <a:r>
              <a:rPr lang="zh-CN" altLang="en-CN" sz="1600" dirty="0">
                <a:solidFill>
                  <a:srgbClr val="CCCCCC"/>
                </a:solidFill>
                <a:latin typeface="Hei" pitchFamily="2" charset="-122"/>
                <a:ea typeface="Hei" pitchFamily="2" charset="-122"/>
                <a:cs typeface="Noto Sans SC"/>
                <a:sym typeface="Noto Sans SC"/>
              </a:rPr>
              <a:t>零丢包</a:t>
            </a:r>
            <a:r>
              <a:rPr lang="zh-CN" altLang="en-US" sz="1600" dirty="0">
                <a:solidFill>
                  <a:srgbClr val="CCCCCC"/>
                </a:solidFill>
                <a:latin typeface="Hei" pitchFamily="2" charset="-122"/>
                <a:ea typeface="Hei" pitchFamily="2" charset="-122"/>
                <a:cs typeface="Noto Sans SC"/>
                <a:sym typeface="Noto Sans SC"/>
              </a:rPr>
              <a:t>。</a:t>
            </a:r>
            <a:endParaRPr lang="en-US" sz="1600" b="0" i="0" u="none" strike="noStrike" dirty="0">
              <a:solidFill>
                <a:srgbClr val="CCCCCC"/>
              </a:solidFill>
              <a:latin typeface="Hei" pitchFamily="2" charset="-122"/>
              <a:ea typeface="Hei" pitchFamily="2" charset="-122"/>
              <a:cs typeface="Noto Sans SC"/>
              <a:sym typeface="Noto Sans SC"/>
            </a:endParaRPr>
          </a:p>
        </p:txBody>
      </p:sp>
      <p:sp>
        <p:nvSpPr>
          <p:cNvPr id="15" name="AutoShape 15"/>
          <p:cNvSpPr/>
          <p:nvPr/>
        </p:nvSpPr>
        <p:spPr>
          <a:xfrm>
            <a:off x="7230382" y="5619258"/>
            <a:ext cx="3304117" cy="45719"/>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a:solidFill>
                  <a:srgbClr val="FFFFFF">
                    <a:alpha val="60000"/>
                  </a:srgbClr>
                </a:solidFill>
                <a:latin typeface="Hei" pitchFamily="2" charset="-122"/>
                <a:ea typeface="Hei" pitchFamily="2" charset="-122"/>
                <a:cs typeface="Noto Sans SC"/>
                <a:sym typeface="Noto Sans SC"/>
              </a:rPr>
              <a:t>图：从二层叶脊到五层CLOS的规模演进</a:t>
            </a:r>
            <a:endParaRPr lang="en-US" sz="1100" dirty="0">
              <a:latin typeface="Hei" pitchFamily="2" charset="-122"/>
              <a:ea typeface="Hei" pitchFamily="2" charset="-122"/>
            </a:endParaRPr>
          </a:p>
        </p:txBody>
      </p:sp>
      <p:sp>
        <p:nvSpPr>
          <p:cNvPr id="16" name="AutoShape 16"/>
          <p:cNvSpPr/>
          <p:nvPr/>
        </p:nvSpPr>
        <p:spPr>
          <a:xfrm>
            <a:off x="751114" y="6317343"/>
            <a:ext cx="10668000" cy="254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3076" name="Picture 4">
            <a:extLst>
              <a:ext uri="{FF2B5EF4-FFF2-40B4-BE49-F238E27FC236}">
                <a16:creationId xmlns:a16="http://schemas.microsoft.com/office/drawing/2014/main" id="{413F8B87-D16A-D74A-A7DB-E7C02A546C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0" y="3581816"/>
            <a:ext cx="3452586" cy="18288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1E7997B9-D7FA-E643-A83C-0079738142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9000" y="1551383"/>
            <a:ext cx="3452586" cy="18217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762000"/>
            <a:ext cx="75438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技术挑战与前沿趋势</a:t>
            </a:r>
            <a:endParaRPr lang="en-US" sz="1100" dirty="0">
              <a:latin typeface="Hei" pitchFamily="2" charset="-122"/>
              <a:ea typeface="Hei" pitchFamily="2" charset="-122"/>
            </a:endParaRPr>
          </a:p>
        </p:txBody>
      </p:sp>
      <p:sp>
        <p:nvSpPr>
          <p:cNvPr id="5" name="AutoShape 5"/>
          <p:cNvSpPr/>
          <p:nvPr/>
        </p:nvSpPr>
        <p:spPr>
          <a:xfrm>
            <a:off x="762000" y="1777999"/>
            <a:ext cx="4953000" cy="4230915"/>
          </a:xfrm>
          <a:prstGeom prst="roundRect">
            <a:avLst>
              <a:gd name="adj" fmla="val 384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6" name="AutoShape 6"/>
          <p:cNvSpPr/>
          <p:nvPr/>
        </p:nvSpPr>
        <p:spPr>
          <a:xfrm>
            <a:off x="1016000" y="1968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当前挑战 (Challenges)</a:t>
            </a:r>
            <a:endParaRPr lang="en-US" sz="1100" dirty="0">
              <a:latin typeface="Hei" pitchFamily="2" charset="-122"/>
              <a:ea typeface="Hei" pitchFamily="2" charset="-122"/>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540000"/>
            <a:ext cx="304800" cy="304800"/>
          </a:xfrm>
          <a:prstGeom prst="rect">
            <a:avLst/>
          </a:prstGeom>
        </p:spPr>
      </p:pic>
      <p:sp>
        <p:nvSpPr>
          <p:cNvPr id="8" name="AutoShape 8"/>
          <p:cNvSpPr/>
          <p:nvPr/>
        </p:nvSpPr>
        <p:spPr>
          <a:xfrm>
            <a:off x="1397000" y="24892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CCCCCC"/>
                </a:solidFill>
                <a:latin typeface="Hei" pitchFamily="2" charset="-122"/>
                <a:ea typeface="Hei" pitchFamily="2" charset="-122"/>
                <a:cs typeface="Noto Sans SC"/>
                <a:sym typeface="Noto Sans SC"/>
              </a:rPr>
              <a:t>BGP </a:t>
            </a:r>
            <a:r>
              <a:rPr lang="zh-CN" altLang="en-US" sz="1800" b="1" i="0" u="none" strike="noStrike" dirty="0">
                <a:solidFill>
                  <a:srgbClr val="CCCCCC"/>
                </a:solidFill>
                <a:latin typeface="Hei" pitchFamily="2" charset="-122"/>
                <a:ea typeface="Hei" pitchFamily="2" charset="-122"/>
                <a:cs typeface="Noto Sans SC"/>
                <a:sym typeface="Noto Sans SC"/>
              </a:rPr>
              <a:t>路径狩猎</a:t>
            </a:r>
            <a:r>
              <a:rPr lang="zh-CN" altLang="en-US" sz="1800" i="0" u="none" strike="noStrike" dirty="0">
                <a:solidFill>
                  <a:srgbClr val="CCCCCC"/>
                </a:solidFill>
                <a:latin typeface="Hei" pitchFamily="2" charset="-122"/>
                <a:ea typeface="Hei" pitchFamily="2" charset="-122"/>
                <a:cs typeface="Noto Sans SC"/>
                <a:sym typeface="Noto Sans SC"/>
              </a:rPr>
              <a:t>：</a:t>
            </a:r>
            <a:r>
              <a:rPr lang="zh-CN" altLang="en-US" sz="1600" b="0" i="0" u="none" strike="noStrike" dirty="0">
                <a:solidFill>
                  <a:srgbClr val="CCCCCC"/>
                </a:solidFill>
                <a:latin typeface="Hei" pitchFamily="2" charset="-122"/>
                <a:ea typeface="Hei" pitchFamily="2" charset="-122"/>
                <a:cs typeface="Noto Sans SC"/>
                <a:sym typeface="Noto Sans SC"/>
              </a:rPr>
              <a:t>海量冗余导致节点失效时路由表疯狂重算，引发收敛风暴。</a:t>
            </a:r>
            <a:endParaRPr lang="en-US" sz="1100" dirty="0">
              <a:latin typeface="Hei" pitchFamily="2" charset="-122"/>
              <a:ea typeface="Hei" pitchFamily="2" charset="-122"/>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611334"/>
            <a:ext cx="304800" cy="304800"/>
          </a:xfrm>
          <a:prstGeom prst="rect">
            <a:avLst/>
          </a:prstGeom>
        </p:spPr>
      </p:pic>
      <p:sp>
        <p:nvSpPr>
          <p:cNvPr id="10" name="AutoShape 10"/>
          <p:cNvSpPr/>
          <p:nvPr/>
        </p:nvSpPr>
        <p:spPr>
          <a:xfrm>
            <a:off x="1397000" y="3375478"/>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dirty="0">
                <a:solidFill>
                  <a:srgbClr val="CCCCCC"/>
                </a:solidFill>
                <a:latin typeface="Hei" pitchFamily="2" charset="-122"/>
                <a:ea typeface="Hei" pitchFamily="2" charset="-122"/>
                <a:cs typeface="Noto Sans SC"/>
                <a:sym typeface="Noto Sans SC"/>
              </a:rPr>
              <a:t>光纤布线噩梦</a:t>
            </a:r>
            <a:r>
              <a:rPr lang="zh-CN" altLang="en-US" sz="1800" b="0" i="0" u="none" strike="noStrike" dirty="0">
                <a:solidFill>
                  <a:srgbClr val="CCCCCC"/>
                </a:solidFill>
                <a:latin typeface="Hei" pitchFamily="2" charset="-122"/>
                <a:ea typeface="Hei" pitchFamily="2" charset="-122"/>
                <a:cs typeface="Noto Sans SC"/>
                <a:sym typeface="Noto Sans SC"/>
              </a:rPr>
              <a:t>：</a:t>
            </a:r>
            <a:r>
              <a:rPr lang="zh-CN" altLang="en-US" sz="1600" b="0" i="0" u="none" strike="noStrike" dirty="0">
                <a:solidFill>
                  <a:srgbClr val="CCCCCC"/>
                </a:solidFill>
                <a:latin typeface="Hei" pitchFamily="2" charset="-122"/>
                <a:ea typeface="Hei" pitchFamily="2" charset="-122"/>
                <a:cs typeface="Noto Sans SC"/>
                <a:sym typeface="Noto Sans SC"/>
              </a:rPr>
              <a:t>数百万根光纤的物理连线与运维灾难，极大增加数据中心运营成本。</a:t>
            </a:r>
            <a:endParaRPr lang="en-US" sz="1100" dirty="0">
              <a:latin typeface="Hei" pitchFamily="2" charset="-122"/>
              <a:ea typeface="Hei" pitchFamily="2" charset="-122"/>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642756"/>
            <a:ext cx="304800" cy="304800"/>
          </a:xfrm>
          <a:prstGeom prst="rect">
            <a:avLst/>
          </a:prstGeom>
        </p:spPr>
      </p:pic>
      <p:sp>
        <p:nvSpPr>
          <p:cNvPr id="12" name="AutoShape 12"/>
          <p:cNvSpPr/>
          <p:nvPr/>
        </p:nvSpPr>
        <p:spPr>
          <a:xfrm>
            <a:off x="1397000" y="489857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dirty="0">
                <a:solidFill>
                  <a:srgbClr val="CCCCCC"/>
                </a:solidFill>
                <a:latin typeface="Hei" pitchFamily="2" charset="-122"/>
                <a:ea typeface="Hei" pitchFamily="2" charset="-122"/>
                <a:cs typeface="Noto Sans SC"/>
                <a:sym typeface="Noto Sans SC"/>
              </a:rPr>
              <a:t>灰度故障</a:t>
            </a:r>
            <a:r>
              <a:rPr lang="zh-CN" altLang="en-US" sz="1800" b="0" i="0" u="none" strike="noStrike" dirty="0">
                <a:solidFill>
                  <a:srgbClr val="CCCCCC"/>
                </a:solidFill>
                <a:latin typeface="Hei" pitchFamily="2" charset="-122"/>
                <a:ea typeface="Hei" pitchFamily="2" charset="-122"/>
                <a:cs typeface="Noto Sans SC"/>
                <a:sym typeface="Noto Sans SC"/>
              </a:rPr>
              <a:t>：</a:t>
            </a:r>
            <a:r>
              <a:rPr lang="zh-CN" altLang="en-US" sz="1600" b="0" i="0" u="none" strike="noStrike" dirty="0">
                <a:solidFill>
                  <a:srgbClr val="CCCCCC"/>
                </a:solidFill>
                <a:latin typeface="Hei" pitchFamily="2" charset="-122"/>
                <a:ea typeface="Hei" pitchFamily="2" charset="-122"/>
                <a:cs typeface="Noto Sans SC"/>
                <a:sym typeface="Noto Sans SC"/>
              </a:rPr>
              <a:t>基于哈希分发的流量遇到静默丟包链路时不触发硬断开告警，导致系统级性能无征兆暴跌，极难定位。</a:t>
            </a:r>
            <a:endParaRPr lang="en-US" sz="1100" dirty="0">
              <a:latin typeface="Hei" pitchFamily="2" charset="-122"/>
              <a:ea typeface="Hei" pitchFamily="2" charset="-122"/>
            </a:endParaRPr>
          </a:p>
        </p:txBody>
      </p:sp>
      <p:sp>
        <p:nvSpPr>
          <p:cNvPr id="13" name="AutoShape 13"/>
          <p:cNvSpPr/>
          <p:nvPr/>
        </p:nvSpPr>
        <p:spPr>
          <a:xfrm>
            <a:off x="5969000" y="1778000"/>
            <a:ext cx="5994400" cy="4230914"/>
          </a:xfrm>
          <a:prstGeom prst="roundRect">
            <a:avLst>
              <a:gd name="adj" fmla="val 384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sp>
        <p:nvSpPr>
          <p:cNvPr id="14" name="AutoShape 14"/>
          <p:cNvSpPr/>
          <p:nvPr/>
        </p:nvSpPr>
        <p:spPr>
          <a:xfrm>
            <a:off x="6223000" y="1968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FFFFFF"/>
                </a:solidFill>
                <a:latin typeface="Hei" pitchFamily="2" charset="-122"/>
                <a:ea typeface="Hei" pitchFamily="2" charset="-122"/>
                <a:cs typeface="Noto Sans SC"/>
                <a:sym typeface="Noto Sans SC"/>
              </a:rPr>
              <a:t>前沿趋势 (Trends)</a:t>
            </a:r>
            <a:endParaRPr lang="en-US" sz="1100" dirty="0">
              <a:latin typeface="Hei" pitchFamily="2" charset="-122"/>
              <a:ea typeface="Hei" pitchFamily="2" charset="-122"/>
            </a:endParaR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3000" y="2540000"/>
            <a:ext cx="304800" cy="304800"/>
          </a:xfrm>
          <a:prstGeom prst="rect">
            <a:avLst/>
          </a:prstGeom>
        </p:spPr>
      </p:pic>
      <p:sp>
        <p:nvSpPr>
          <p:cNvPr id="16" name="AutoShape 16"/>
          <p:cNvSpPr/>
          <p:nvPr/>
        </p:nvSpPr>
        <p:spPr>
          <a:xfrm>
            <a:off x="6604000" y="2489200"/>
            <a:ext cx="3381195" cy="990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dirty="0">
                <a:solidFill>
                  <a:srgbClr val="CCCCCC"/>
                </a:solidFill>
                <a:latin typeface="Hei" pitchFamily="2" charset="-122"/>
                <a:ea typeface="Hei" pitchFamily="2" charset="-122"/>
                <a:cs typeface="Noto Sans SC"/>
                <a:sym typeface="Noto Sans SC"/>
              </a:rPr>
              <a:t>光电共封装</a:t>
            </a:r>
            <a:r>
              <a:rPr lang="en-US" sz="1800" b="0" i="0" u="none" strike="noStrike" dirty="0">
                <a:solidFill>
                  <a:srgbClr val="CCCCCC"/>
                </a:solidFill>
                <a:latin typeface="Hei" pitchFamily="2" charset="-122"/>
                <a:ea typeface="Hei" pitchFamily="2" charset="-122"/>
                <a:cs typeface="Noto Sans SC"/>
                <a:sym typeface="Noto Sans SC"/>
              </a:rPr>
              <a:t>：</a:t>
            </a:r>
            <a:r>
              <a:rPr lang="zh-CN" altLang="en-US" sz="1600" b="0" i="0" u="none" strike="noStrike" dirty="0">
                <a:solidFill>
                  <a:srgbClr val="CCCCCC"/>
                </a:solidFill>
                <a:latin typeface="Hei" pitchFamily="2" charset="-122"/>
                <a:ea typeface="Hei" pitchFamily="2" charset="-122"/>
                <a:cs typeface="Noto Sans SC"/>
                <a:sym typeface="Noto Sans SC"/>
              </a:rPr>
              <a:t>芯片突破 </a:t>
            </a:r>
            <a:r>
              <a:rPr lang="en-US" altLang="zh-CN" sz="1600" b="0" i="0" u="none" strike="noStrike" dirty="0">
                <a:solidFill>
                  <a:srgbClr val="CCCCCC"/>
                </a:solidFill>
                <a:latin typeface="Hei" pitchFamily="2" charset="-122"/>
                <a:ea typeface="Hei" pitchFamily="2" charset="-122"/>
                <a:cs typeface="Noto Sans SC"/>
                <a:sym typeface="Noto Sans SC"/>
              </a:rPr>
              <a:t>102.4 </a:t>
            </a:r>
            <a:r>
              <a:rPr lang="en-US" sz="1600" b="0" i="0" u="none" strike="noStrike" dirty="0">
                <a:solidFill>
                  <a:srgbClr val="CCCCCC"/>
                </a:solidFill>
                <a:latin typeface="Hei" pitchFamily="2" charset="-122"/>
                <a:ea typeface="Hei" pitchFamily="2" charset="-122"/>
                <a:cs typeface="Noto Sans SC"/>
                <a:sym typeface="Noto Sans SC"/>
              </a:rPr>
              <a:t>Tbps，</a:t>
            </a:r>
            <a:r>
              <a:rPr lang="zh-CN" altLang="en-US" sz="1600" b="0" i="0" u="none" strike="noStrike" dirty="0">
                <a:solidFill>
                  <a:srgbClr val="CCCCCC"/>
                </a:solidFill>
                <a:latin typeface="Hei" pitchFamily="2" charset="-122"/>
                <a:ea typeface="Hei" pitchFamily="2" charset="-122"/>
                <a:cs typeface="Noto Sans SC"/>
                <a:sym typeface="Noto Sans SC"/>
              </a:rPr>
              <a:t>将光模块直接植入 </a:t>
            </a:r>
            <a:r>
              <a:rPr lang="en-US" sz="1600" b="0" i="0" u="none" strike="noStrike" dirty="0">
                <a:solidFill>
                  <a:srgbClr val="CCCCCC"/>
                </a:solidFill>
                <a:latin typeface="Hei" pitchFamily="2" charset="-122"/>
                <a:ea typeface="Hei" pitchFamily="2" charset="-122"/>
                <a:cs typeface="Noto Sans SC"/>
                <a:sym typeface="Noto Sans SC"/>
              </a:rPr>
              <a:t>ASIC </a:t>
            </a:r>
            <a:r>
              <a:rPr lang="zh-CN" altLang="en-US" sz="1600" b="0" i="0" u="none" strike="noStrike" dirty="0">
                <a:solidFill>
                  <a:srgbClr val="CCCCCC"/>
                </a:solidFill>
                <a:latin typeface="Hei" pitchFamily="2" charset="-122"/>
                <a:ea typeface="Hei" pitchFamily="2" charset="-122"/>
                <a:cs typeface="Noto Sans SC"/>
                <a:sym typeface="Noto Sans SC"/>
              </a:rPr>
              <a:t>封装内，化解电信号能耗与阻抗极限。</a:t>
            </a:r>
            <a:endParaRPr lang="en-US" sz="1100" dirty="0">
              <a:latin typeface="Hei" pitchFamily="2" charset="-122"/>
              <a:ea typeface="Hei" pitchFamily="2" charset="-122"/>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3000" y="3651250"/>
            <a:ext cx="304800" cy="304800"/>
          </a:xfrm>
          <a:prstGeom prst="rect">
            <a:avLst/>
          </a:prstGeom>
        </p:spPr>
      </p:pic>
      <p:sp>
        <p:nvSpPr>
          <p:cNvPr id="18" name="AutoShape 18"/>
          <p:cNvSpPr/>
          <p:nvPr/>
        </p:nvSpPr>
        <p:spPr>
          <a:xfrm>
            <a:off x="6604000" y="3606800"/>
            <a:ext cx="3457395" cy="100602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CCCCCC"/>
                </a:solidFill>
                <a:latin typeface="Hei" pitchFamily="2" charset="-122"/>
                <a:ea typeface="Hei" pitchFamily="2" charset="-122"/>
                <a:cs typeface="Noto Sans SC"/>
                <a:sym typeface="Noto Sans SC"/>
              </a:rPr>
              <a:t>AI驱动调度</a:t>
            </a:r>
            <a:r>
              <a:rPr lang="en-US" sz="1800" b="0" i="0" u="none" strike="noStrike" dirty="0">
                <a:solidFill>
                  <a:srgbClr val="CCCCCC"/>
                </a:solidFill>
                <a:latin typeface="Hei" pitchFamily="2" charset="-122"/>
                <a:ea typeface="Hei" pitchFamily="2" charset="-122"/>
                <a:cs typeface="Noto Sans SC"/>
                <a:sym typeface="Noto Sans SC"/>
              </a:rPr>
              <a:t>：</a:t>
            </a:r>
            <a:r>
              <a:rPr lang="zh-CN" altLang="en-US" sz="1600" b="0" i="0" u="none" strike="noStrike" dirty="0">
                <a:solidFill>
                  <a:srgbClr val="CCCCCC"/>
                </a:solidFill>
                <a:latin typeface="Hei" pitchFamily="2" charset="-122"/>
                <a:ea typeface="Hei" pitchFamily="2" charset="-122"/>
                <a:cs typeface="Noto Sans SC"/>
                <a:sym typeface="Noto Sans SC"/>
              </a:rPr>
              <a:t>摒弃静态哈希，基于</a:t>
            </a:r>
            <a:r>
              <a:rPr lang="en-US" altLang="zh-CN" sz="1600" b="0" i="0" u="none" strike="noStrike" dirty="0">
                <a:solidFill>
                  <a:srgbClr val="CCCCCC"/>
                </a:solidFill>
                <a:latin typeface="Hei" pitchFamily="2" charset="-122"/>
                <a:ea typeface="Hei" pitchFamily="2" charset="-122"/>
                <a:cs typeface="Noto Sans SC"/>
                <a:sym typeface="Noto Sans SC"/>
              </a:rPr>
              <a:t>ML</a:t>
            </a:r>
            <a:r>
              <a:rPr lang="zh-CN" altLang="en-US" sz="1600" b="0" i="0" u="none" strike="noStrike" dirty="0">
                <a:solidFill>
                  <a:srgbClr val="CCCCCC"/>
                </a:solidFill>
                <a:latin typeface="Hei" pitchFamily="2" charset="-122"/>
                <a:ea typeface="Hei" pitchFamily="2" charset="-122"/>
                <a:cs typeface="Noto Sans SC"/>
                <a:sym typeface="Noto Sans SC"/>
              </a:rPr>
              <a:t>预测集群并行计算的流量骨架 ，实现意图驱动的动态路径映射。</a:t>
            </a:r>
            <a:endParaRPr lang="en-US" sz="1100" dirty="0">
              <a:latin typeface="Hei" pitchFamily="2" charset="-122"/>
              <a:ea typeface="Hei" pitchFamily="2" charset="-122"/>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23000" y="4724400"/>
            <a:ext cx="304800" cy="304800"/>
          </a:xfrm>
          <a:prstGeom prst="rect">
            <a:avLst/>
          </a:prstGeom>
        </p:spPr>
      </p:pic>
      <p:sp>
        <p:nvSpPr>
          <p:cNvPr id="22" name="AutoShape 22"/>
          <p:cNvSpPr/>
          <p:nvPr/>
        </p:nvSpPr>
        <p:spPr>
          <a:xfrm>
            <a:off x="6604000" y="4673600"/>
            <a:ext cx="3457395" cy="109582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CCCCCC"/>
                </a:solidFill>
                <a:latin typeface="Hei" pitchFamily="2" charset="-122"/>
                <a:ea typeface="Hei" pitchFamily="2" charset="-122"/>
                <a:cs typeface="Noto Sans SC"/>
                <a:sym typeface="Noto Sans SC"/>
              </a:rPr>
              <a:t>In-Network </a:t>
            </a:r>
            <a:r>
              <a:rPr lang="en-US" sz="1800" b="1" i="0" u="none" strike="noStrike" dirty="0" err="1">
                <a:solidFill>
                  <a:srgbClr val="CCCCCC"/>
                </a:solidFill>
                <a:latin typeface="Hei" pitchFamily="2" charset="-122"/>
                <a:ea typeface="Hei" pitchFamily="2" charset="-122"/>
                <a:cs typeface="Noto Sans SC"/>
                <a:sym typeface="Noto Sans SC"/>
              </a:rPr>
              <a:t>Computing</a:t>
            </a:r>
            <a:r>
              <a:rPr lang="en-US" sz="1800" b="0" i="0" u="none" strike="noStrike" dirty="0" err="1">
                <a:solidFill>
                  <a:srgbClr val="CCCCCC"/>
                </a:solidFill>
                <a:latin typeface="Hei" pitchFamily="2" charset="-122"/>
                <a:ea typeface="Hei" pitchFamily="2" charset="-122"/>
                <a:cs typeface="Noto Sans SC"/>
                <a:sym typeface="Noto Sans SC"/>
              </a:rPr>
              <a:t>：</a:t>
            </a:r>
            <a:r>
              <a:rPr lang="en-US" sz="1600" b="0" i="0" u="none" strike="noStrike" dirty="0" err="1">
                <a:solidFill>
                  <a:srgbClr val="CCCCCC"/>
                </a:solidFill>
                <a:latin typeface="Hei" pitchFamily="2" charset="-122"/>
                <a:ea typeface="Hei" pitchFamily="2" charset="-122"/>
                <a:cs typeface="Noto Sans SC"/>
                <a:sym typeface="Noto Sans SC"/>
              </a:rPr>
              <a:t>算力下沉</a:t>
            </a:r>
            <a:r>
              <a:rPr lang="zh-CN" altLang="en-US" sz="1600" b="0" i="0" u="none" strike="noStrike" dirty="0">
                <a:solidFill>
                  <a:srgbClr val="CCCCCC"/>
                </a:solidFill>
                <a:latin typeface="Hei" pitchFamily="2" charset="-122"/>
                <a:ea typeface="Hei" pitchFamily="2" charset="-122"/>
                <a:cs typeface="Noto Sans SC"/>
                <a:sym typeface="Noto Sans SC"/>
              </a:rPr>
              <a:t>，在交换机内直接完成 </a:t>
            </a:r>
            <a:r>
              <a:rPr lang="en-US" altLang="zh-CN" sz="1600" b="0" i="0" u="none" strike="noStrike" dirty="0">
                <a:solidFill>
                  <a:srgbClr val="CCCCCC"/>
                </a:solidFill>
                <a:latin typeface="Hei" pitchFamily="2" charset="-122"/>
                <a:ea typeface="Hei" pitchFamily="2" charset="-122"/>
                <a:cs typeface="Noto Sans SC"/>
                <a:sym typeface="Noto Sans SC"/>
              </a:rPr>
              <a:t>AI </a:t>
            </a:r>
            <a:r>
              <a:rPr lang="zh-CN" altLang="en-US" sz="1600" b="0" i="0" u="none" strike="noStrike" dirty="0">
                <a:solidFill>
                  <a:srgbClr val="CCCCCC"/>
                </a:solidFill>
                <a:latin typeface="Hei" pitchFamily="2" charset="-122"/>
                <a:ea typeface="Hei" pitchFamily="2" charset="-122"/>
                <a:cs typeface="Noto Sans SC"/>
                <a:sym typeface="Noto Sans SC"/>
              </a:rPr>
              <a:t>训练梯度求和，消灭服务器间同步延迟。</a:t>
            </a:r>
            <a:endParaRPr lang="en-US" sz="1100" dirty="0">
              <a:latin typeface="Hei" pitchFamily="2" charset="-122"/>
              <a:ea typeface="Hei" pitchFamily="2" charset="-122"/>
            </a:endParaRPr>
          </a:p>
        </p:txBody>
      </p:sp>
      <p:sp>
        <p:nvSpPr>
          <p:cNvPr id="23" name="AutoShape 23"/>
          <p:cNvSpPr/>
          <p:nvPr/>
        </p:nvSpPr>
        <p:spPr>
          <a:xfrm>
            <a:off x="762000" y="6238420"/>
            <a:ext cx="10922000" cy="254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24" name="Picture 23">
            <a:extLst>
              <a:ext uri="{FF2B5EF4-FFF2-40B4-BE49-F238E27FC236}">
                <a16:creationId xmlns:a16="http://schemas.microsoft.com/office/drawing/2014/main" id="{1D0BF37B-0C79-1246-9272-557796284977}"/>
              </a:ext>
            </a:extLst>
          </p:cNvPr>
          <p:cNvPicPr>
            <a:picLocks noChangeAspect="1"/>
          </p:cNvPicPr>
          <p:nvPr/>
        </p:nvPicPr>
        <p:blipFill>
          <a:blip r:embed="rId12"/>
          <a:stretch>
            <a:fillRect/>
          </a:stretch>
        </p:blipFill>
        <p:spPr>
          <a:xfrm>
            <a:off x="10061395" y="2540000"/>
            <a:ext cx="1815901" cy="1006022"/>
          </a:xfrm>
          <a:prstGeom prst="rect">
            <a:avLst/>
          </a:prstGeom>
          <a:ln>
            <a:noFill/>
          </a:ln>
          <a:effectLst>
            <a:softEdge rad="112500"/>
          </a:effectLst>
        </p:spPr>
      </p:pic>
      <p:pic>
        <p:nvPicPr>
          <p:cNvPr id="25" name="Picture 24">
            <a:extLst>
              <a:ext uri="{FF2B5EF4-FFF2-40B4-BE49-F238E27FC236}">
                <a16:creationId xmlns:a16="http://schemas.microsoft.com/office/drawing/2014/main" id="{9E14C852-482A-E64B-B915-8B4C0F6798FC}"/>
              </a:ext>
            </a:extLst>
          </p:cNvPr>
          <p:cNvPicPr>
            <a:picLocks noChangeAspect="1"/>
          </p:cNvPicPr>
          <p:nvPr/>
        </p:nvPicPr>
        <p:blipFill>
          <a:blip r:embed="rId13"/>
          <a:stretch>
            <a:fillRect/>
          </a:stretch>
        </p:blipFill>
        <p:spPr>
          <a:xfrm>
            <a:off x="10052148" y="3644901"/>
            <a:ext cx="1825147" cy="978807"/>
          </a:xfrm>
          <a:prstGeom prst="rect">
            <a:avLst/>
          </a:prstGeom>
          <a:ln>
            <a:noFill/>
          </a:ln>
          <a:effectLst>
            <a:softEdge rad="112500"/>
          </a:effectLst>
        </p:spPr>
      </p:pic>
      <p:pic>
        <p:nvPicPr>
          <p:cNvPr id="26" name="Picture 25">
            <a:extLst>
              <a:ext uri="{FF2B5EF4-FFF2-40B4-BE49-F238E27FC236}">
                <a16:creationId xmlns:a16="http://schemas.microsoft.com/office/drawing/2014/main" id="{72810EED-C2CF-9841-8985-10E54A156845}"/>
              </a:ext>
            </a:extLst>
          </p:cNvPr>
          <p:cNvPicPr>
            <a:picLocks noChangeAspect="1"/>
          </p:cNvPicPr>
          <p:nvPr/>
        </p:nvPicPr>
        <p:blipFill>
          <a:blip r:embed="rId14"/>
          <a:stretch>
            <a:fillRect/>
          </a:stretch>
        </p:blipFill>
        <p:spPr>
          <a:xfrm>
            <a:off x="10061395" y="4678589"/>
            <a:ext cx="1825146" cy="1124585"/>
          </a:xfrm>
          <a:prstGeom prst="rect">
            <a:avLst/>
          </a:prstGeom>
          <a:ln>
            <a:noFill/>
          </a:ln>
          <a:effectLst>
            <a:softEdge rad="11250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730">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1016000"/>
            <a:ext cx="3530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BFFF"/>
                </a:solidFill>
                <a:latin typeface="Hei" pitchFamily="2" charset="-122"/>
                <a:ea typeface="Hei" pitchFamily="2" charset="-122"/>
                <a:cs typeface="Noto Sans SC"/>
                <a:sym typeface="Noto Sans SC"/>
              </a:rPr>
              <a:t>总结</a:t>
            </a:r>
            <a:endParaRPr lang="en-US" sz="1100" dirty="0">
              <a:latin typeface="Hei" pitchFamily="2" charset="-122"/>
              <a:ea typeface="Hei" pitchFamily="2" charset="-122"/>
            </a:endParaRPr>
          </a:p>
        </p:txBody>
      </p:sp>
      <p:cxnSp>
        <p:nvCxnSpPr>
          <p:cNvPr id="5" name="Connector 5"/>
          <p:cNvCxnSpPr/>
          <p:nvPr/>
        </p:nvCxnSpPr>
        <p:spPr>
          <a:xfrm rot="-57290">
            <a:off x="762053" y="1708150"/>
            <a:ext cx="762000" cy="12700"/>
          </a:xfrm>
          <a:prstGeom prst="line">
            <a:avLst/>
          </a:prstGeom>
          <a:solidFill>
            <a:srgbClr val="DEE0E3">
              <a:alpha val="100000"/>
            </a:srgbClr>
          </a:solidFill>
          <a:ln w="38100" cap="flat" cmpd="sng">
            <a:solidFill>
              <a:srgbClr val="00BFFF">
                <a:alpha val="100000"/>
              </a:srgbClr>
            </a:solidFill>
            <a:prstDash val="solid"/>
            <a:round/>
            <a:headEnd type="none" w="lg" len="lg"/>
            <a:tailEnd type="none" w="lg" len="lg"/>
          </a:ln>
        </p:spPr>
      </p:cxnSp>
      <p:sp>
        <p:nvSpPr>
          <p:cNvPr id="6" name="AutoShape 6"/>
          <p:cNvSpPr/>
          <p:nvPr/>
        </p:nvSpPr>
        <p:spPr>
          <a:xfrm>
            <a:off x="762000" y="2159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13000"/>
            <a:ext cx="406400" cy="406400"/>
          </a:xfrm>
          <a:prstGeom prst="rect">
            <a:avLst/>
          </a:prstGeom>
        </p:spPr>
      </p:pic>
      <p:sp>
        <p:nvSpPr>
          <p:cNvPr id="8" name="AutoShape 8"/>
          <p:cNvSpPr/>
          <p:nvPr/>
        </p:nvSpPr>
        <p:spPr>
          <a:xfrm>
            <a:off x="1524000" y="2413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dirty="0">
                <a:solidFill>
                  <a:srgbClr val="FFFFFF"/>
                </a:solidFill>
                <a:latin typeface="Hei" pitchFamily="2" charset="-122"/>
                <a:ea typeface="Hei" pitchFamily="2" charset="-122"/>
                <a:cs typeface="Noto Sans SC"/>
                <a:sym typeface="Noto Sans SC"/>
              </a:rPr>
              <a:t>数学逻辑的永恒性</a:t>
            </a:r>
            <a:endParaRPr lang="en-US" sz="1100" dirty="0">
              <a:latin typeface="Hei" pitchFamily="2" charset="-122"/>
              <a:ea typeface="Hei" pitchFamily="2" charset="-122"/>
            </a:endParaRPr>
          </a:p>
        </p:txBody>
      </p:sp>
      <p:sp>
        <p:nvSpPr>
          <p:cNvPr id="9" name="AutoShape 9"/>
          <p:cNvSpPr/>
          <p:nvPr/>
        </p:nvSpPr>
        <p:spPr>
          <a:xfrm>
            <a:off x="1016000" y="2921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800" b="0" i="0" u="none" strike="noStrike" dirty="0">
                <a:solidFill>
                  <a:srgbClr val="FFFFFF">
                    <a:alpha val="90196"/>
                  </a:srgbClr>
                </a:solidFill>
                <a:latin typeface="Hei" pitchFamily="2" charset="-122"/>
                <a:ea typeface="Hei" pitchFamily="2" charset="-122"/>
                <a:cs typeface="Noto Sans SC"/>
                <a:sym typeface="Noto Sans SC"/>
              </a:rPr>
              <a:t>CLOS </a:t>
            </a:r>
            <a:r>
              <a:rPr lang="zh-CN" altLang="en-US" sz="1800" b="0" i="0" u="none" strike="noStrike" dirty="0">
                <a:solidFill>
                  <a:srgbClr val="FFFFFF">
                    <a:alpha val="90196"/>
                  </a:srgbClr>
                </a:solidFill>
                <a:latin typeface="Hei" pitchFamily="2" charset="-122"/>
                <a:ea typeface="Hei" pitchFamily="2" charset="-122"/>
                <a:cs typeface="Noto Sans SC"/>
                <a:sym typeface="Noto Sans SC"/>
              </a:rPr>
              <a:t>架构跨越</a:t>
            </a:r>
            <a:r>
              <a:rPr lang="en-US" altLang="zh-CN" sz="1800" b="0" i="0" u="none" strike="noStrike" dirty="0">
                <a:solidFill>
                  <a:srgbClr val="FFFFFF">
                    <a:alpha val="90196"/>
                  </a:srgbClr>
                </a:solidFill>
                <a:latin typeface="Hei" pitchFamily="2" charset="-122"/>
                <a:ea typeface="Hei" pitchFamily="2" charset="-122"/>
                <a:cs typeface="Noto Sans SC"/>
                <a:sym typeface="Noto Sans SC"/>
              </a:rPr>
              <a:t>70</a:t>
            </a:r>
            <a:r>
              <a:rPr lang="zh-CN" altLang="en-US" sz="1800" b="0" i="0" u="none" strike="noStrike" dirty="0">
                <a:solidFill>
                  <a:srgbClr val="FFFFFF">
                    <a:alpha val="90196"/>
                  </a:srgbClr>
                </a:solidFill>
                <a:latin typeface="Hei" pitchFamily="2" charset="-122"/>
                <a:ea typeface="Hei" pitchFamily="2" charset="-122"/>
                <a:cs typeface="Noto Sans SC"/>
                <a:sym typeface="Noto Sans SC"/>
              </a:rPr>
              <a:t>年，从机电电路交换到 </a:t>
            </a:r>
            <a:r>
              <a:rPr lang="en-US" sz="1800" b="0" i="0" u="none" strike="noStrike" dirty="0">
                <a:solidFill>
                  <a:srgbClr val="FFFFFF">
                    <a:alpha val="90196"/>
                  </a:srgbClr>
                </a:solidFill>
                <a:latin typeface="Hei" pitchFamily="2" charset="-122"/>
                <a:ea typeface="Hei" pitchFamily="2" charset="-122"/>
                <a:cs typeface="Noto Sans SC"/>
                <a:sym typeface="Noto Sans SC"/>
              </a:rPr>
              <a:t>IP </a:t>
            </a:r>
            <a:r>
              <a:rPr lang="zh-CN" altLang="en-US" sz="1800" b="0" i="0" u="none" strike="noStrike" dirty="0">
                <a:solidFill>
                  <a:srgbClr val="FFFFFF">
                    <a:alpha val="90196"/>
                  </a:srgbClr>
                </a:solidFill>
                <a:latin typeface="Hei" pitchFamily="2" charset="-122"/>
                <a:ea typeface="Hei" pitchFamily="2" charset="-122"/>
                <a:cs typeface="Noto Sans SC"/>
                <a:sym typeface="Noto Sans SC"/>
              </a:rPr>
              <a:t>分组网络，再到光电混合拓扑，证明了优雅数学模型的绝对生命力。</a:t>
            </a:r>
            <a:endParaRPr lang="en-US" sz="1100" dirty="0">
              <a:latin typeface="Hei" pitchFamily="2" charset="-122"/>
              <a:ea typeface="Hei" pitchFamily="2" charset="-122"/>
            </a:endParaRPr>
          </a:p>
        </p:txBody>
      </p:sp>
      <p:sp>
        <p:nvSpPr>
          <p:cNvPr id="10" name="AutoShape 10"/>
          <p:cNvSpPr/>
          <p:nvPr/>
        </p:nvSpPr>
        <p:spPr>
          <a:xfrm>
            <a:off x="4445000" y="2159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413000"/>
            <a:ext cx="406400" cy="406400"/>
          </a:xfrm>
          <a:prstGeom prst="rect">
            <a:avLst/>
          </a:prstGeom>
        </p:spPr>
      </p:pic>
      <p:sp>
        <p:nvSpPr>
          <p:cNvPr id="12" name="AutoShape 12"/>
          <p:cNvSpPr/>
          <p:nvPr/>
        </p:nvSpPr>
        <p:spPr>
          <a:xfrm>
            <a:off x="5207000" y="2413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dirty="0">
                <a:solidFill>
                  <a:srgbClr val="FFFFFF"/>
                </a:solidFill>
                <a:latin typeface="Hei" pitchFamily="2" charset="-122"/>
                <a:ea typeface="Hei" pitchFamily="2" charset="-122"/>
                <a:cs typeface="Noto Sans SC"/>
                <a:sym typeface="Noto Sans SC"/>
              </a:rPr>
              <a:t>架构价值的重塑</a:t>
            </a:r>
            <a:endParaRPr lang="en-US" sz="1100" dirty="0">
              <a:latin typeface="Hei" pitchFamily="2" charset="-122"/>
              <a:ea typeface="Hei" pitchFamily="2" charset="-122"/>
            </a:endParaRPr>
          </a:p>
        </p:txBody>
      </p:sp>
      <p:sp>
        <p:nvSpPr>
          <p:cNvPr id="13" name="AutoShape 13"/>
          <p:cNvSpPr/>
          <p:nvPr/>
        </p:nvSpPr>
        <p:spPr>
          <a:xfrm>
            <a:off x="4699000" y="2921000"/>
            <a:ext cx="2823029" cy="1524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zh-CN" altLang="en-US" sz="1800" b="0" i="0" u="none" strike="noStrike" dirty="0">
                <a:solidFill>
                  <a:srgbClr val="FFFFFF">
                    <a:alpha val="90196"/>
                  </a:srgbClr>
                </a:solidFill>
                <a:latin typeface="Hei" pitchFamily="2" charset="-122"/>
                <a:ea typeface="Hei" pitchFamily="2" charset="-122"/>
                <a:cs typeface="Noto Sans SC"/>
                <a:sym typeface="Noto Sans SC"/>
              </a:rPr>
              <a:t>如今 </a:t>
            </a:r>
            <a:r>
              <a:rPr lang="en-US" sz="1800" b="0" i="0" u="none" strike="noStrike" dirty="0">
                <a:solidFill>
                  <a:srgbClr val="FFFFFF">
                    <a:alpha val="90196"/>
                  </a:srgbClr>
                </a:solidFill>
                <a:latin typeface="Hei" pitchFamily="2" charset="-122"/>
                <a:ea typeface="Hei" pitchFamily="2" charset="-122"/>
                <a:cs typeface="Noto Sans SC"/>
                <a:sym typeface="Noto Sans SC"/>
              </a:rPr>
              <a:t>CLOS </a:t>
            </a:r>
            <a:r>
              <a:rPr lang="zh-CN" altLang="en-US" sz="1800" b="0" i="0" u="none" strike="noStrike" dirty="0">
                <a:solidFill>
                  <a:srgbClr val="FFFFFF">
                    <a:alpha val="90196"/>
                  </a:srgbClr>
                </a:solidFill>
                <a:latin typeface="Hei" pitchFamily="2" charset="-122"/>
                <a:ea typeface="Hei" pitchFamily="2" charset="-122"/>
                <a:cs typeface="Noto Sans SC"/>
                <a:sym typeface="Noto Sans SC"/>
              </a:rPr>
              <a:t>已超越节约物理端口的初衷，成为分布式计算集群极极致韧性、可预测性与无限水平弹性的关键</a:t>
            </a:r>
            <a:r>
              <a:rPr lang="en-US" sz="1800" b="0" i="0" u="none" strike="noStrike" dirty="0">
                <a:solidFill>
                  <a:srgbClr val="FFFFFF">
                    <a:alpha val="90196"/>
                  </a:srgbClr>
                </a:solidFill>
                <a:latin typeface="Hei" pitchFamily="2" charset="-122"/>
                <a:ea typeface="Hei" pitchFamily="2" charset="-122"/>
                <a:cs typeface="Noto Sans SC"/>
                <a:sym typeface="Noto Sans SC"/>
              </a:rPr>
              <a:t>，支撑了云计算、大数据和AI等新兴业务的发展。</a:t>
            </a:r>
            <a:endParaRPr lang="en-US" sz="1100" dirty="0">
              <a:latin typeface="Hei" pitchFamily="2" charset="-122"/>
              <a:ea typeface="Hei" pitchFamily="2" charset="-122"/>
            </a:endParaRPr>
          </a:p>
        </p:txBody>
      </p:sp>
      <p:sp>
        <p:nvSpPr>
          <p:cNvPr id="14" name="AutoShape 14"/>
          <p:cNvSpPr/>
          <p:nvPr/>
        </p:nvSpPr>
        <p:spPr>
          <a:xfrm>
            <a:off x="8128000" y="2159000"/>
            <a:ext cx="3302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dirty="0">
              <a:latin typeface="Hei" pitchFamily="2" charset="-122"/>
              <a:ea typeface="Hei" pitchFamily="2" charset="-122"/>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413000"/>
            <a:ext cx="406400" cy="406400"/>
          </a:xfrm>
          <a:prstGeom prst="rect">
            <a:avLst/>
          </a:prstGeom>
        </p:spPr>
      </p:pic>
      <p:sp>
        <p:nvSpPr>
          <p:cNvPr id="16" name="AutoShape 16"/>
          <p:cNvSpPr/>
          <p:nvPr/>
        </p:nvSpPr>
        <p:spPr>
          <a:xfrm>
            <a:off x="8890000" y="2413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dirty="0">
                <a:solidFill>
                  <a:srgbClr val="FFFFFF"/>
                </a:solidFill>
                <a:latin typeface="Hei" pitchFamily="2" charset="-122"/>
                <a:ea typeface="Hei" pitchFamily="2" charset="-122"/>
                <a:cs typeface="Noto Sans SC"/>
                <a:sym typeface="Noto Sans SC"/>
              </a:rPr>
              <a:t>未来远景</a:t>
            </a:r>
            <a:endParaRPr lang="en-US" sz="1100" dirty="0">
              <a:latin typeface="Hei" pitchFamily="2" charset="-122"/>
              <a:ea typeface="Hei" pitchFamily="2" charset="-122"/>
            </a:endParaRPr>
          </a:p>
        </p:txBody>
      </p:sp>
      <p:sp>
        <p:nvSpPr>
          <p:cNvPr id="17" name="AutoShape 17"/>
          <p:cNvSpPr/>
          <p:nvPr/>
        </p:nvSpPr>
        <p:spPr>
          <a:xfrm>
            <a:off x="8382000" y="2921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zh-CN" altLang="en-US" sz="1800" b="0" i="0" u="none" strike="noStrike" dirty="0">
                <a:solidFill>
                  <a:srgbClr val="FFFFFF">
                    <a:alpha val="90196"/>
                  </a:srgbClr>
                </a:solidFill>
                <a:latin typeface="Hei" pitchFamily="2" charset="-122"/>
                <a:ea typeface="Hei" pitchFamily="2" charset="-122"/>
                <a:cs typeface="Noto Sans SC"/>
                <a:sym typeface="Noto Sans SC"/>
              </a:rPr>
              <a:t>在 </a:t>
            </a:r>
            <a:r>
              <a:rPr lang="en-US" sz="1800" b="0" i="0" u="none" strike="noStrike" dirty="0">
                <a:solidFill>
                  <a:srgbClr val="FFFFFF">
                    <a:alpha val="90196"/>
                  </a:srgbClr>
                </a:solidFill>
                <a:latin typeface="Hei" pitchFamily="2" charset="-122"/>
                <a:ea typeface="Hei" pitchFamily="2" charset="-122"/>
                <a:cs typeface="Noto Sans SC"/>
                <a:sym typeface="Noto Sans SC"/>
              </a:rPr>
              <a:t>AI </a:t>
            </a:r>
            <a:r>
              <a:rPr lang="zh-CN" altLang="en-US" sz="1800" b="0" i="0" u="none" strike="noStrike" dirty="0">
                <a:solidFill>
                  <a:srgbClr val="FFFFFF">
                    <a:alpha val="90196"/>
                  </a:srgbClr>
                </a:solidFill>
                <a:latin typeface="Hei" pitchFamily="2" charset="-122"/>
                <a:ea typeface="Hei" pitchFamily="2" charset="-122"/>
                <a:cs typeface="Noto Sans SC"/>
                <a:sym typeface="Noto Sans SC"/>
              </a:rPr>
              <a:t>大模型时代，数据中心网络已不再是计算背后的无形基础设施</a:t>
            </a:r>
            <a:r>
              <a:rPr lang="en-US" altLang="zh-CN" sz="1800" dirty="0">
                <a:solidFill>
                  <a:srgbClr val="FFFFFF">
                    <a:alpha val="90196"/>
                  </a:srgbClr>
                </a:solidFill>
                <a:latin typeface="Hei" pitchFamily="2" charset="-122"/>
                <a:ea typeface="Hei" pitchFamily="2" charset="-122"/>
                <a:cs typeface="Noto Sans SC"/>
                <a:sym typeface="Noto Sans SC"/>
              </a:rPr>
              <a:t>——</a:t>
            </a:r>
            <a:r>
              <a:rPr lang="zh-CN" altLang="en-US" sz="1800" b="0" i="0" u="none" strike="noStrike" dirty="0">
                <a:solidFill>
                  <a:srgbClr val="FFFFFF">
                    <a:alpha val="90196"/>
                  </a:srgbClr>
                </a:solidFill>
                <a:latin typeface="Hei" pitchFamily="2" charset="-122"/>
                <a:ea typeface="Hei" pitchFamily="2" charset="-122"/>
                <a:cs typeface="Noto Sans SC"/>
                <a:sym typeface="Noto Sans SC"/>
              </a:rPr>
              <a:t>网络本身，即是超级计算机的物理形态。</a:t>
            </a:r>
            <a:endParaRPr lang="en-US" sz="1100" dirty="0">
              <a:latin typeface="Hei" pitchFamily="2" charset="-122"/>
              <a:ea typeface="Hei"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2667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dirty="0">
                <a:solidFill>
                  <a:srgbClr val="FFFFFF"/>
                </a:solidFill>
                <a:latin typeface="Noto Sans SC"/>
                <a:ea typeface="Noto Sans SC"/>
                <a:cs typeface="Noto Sans SC"/>
                <a:sym typeface="Noto Sans SC"/>
              </a:rPr>
              <a:t>感谢聆听</a:t>
            </a:r>
            <a:endParaRPr lang="en-US" sz="1100" dirty="0"/>
          </a:p>
        </p:txBody>
      </p:sp>
      <p:sp>
        <p:nvSpPr>
          <p:cNvPr id="5" name="AutoShape 5"/>
          <p:cNvSpPr/>
          <p:nvPr/>
        </p:nvSpPr>
        <p:spPr>
          <a:xfrm>
            <a:off x="5588000" y="3619500"/>
            <a:ext cx="1016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8" name="AutoShape 8"/>
          <p:cNvSpPr/>
          <p:nvPr/>
        </p:nvSpPr>
        <p:spPr>
          <a:xfrm>
            <a:off x="508000" y="6096000"/>
            <a:ext cx="508000" cy="25400"/>
          </a:xfrm>
          <a:prstGeom prst="roundRect">
            <a:avLst>
              <a:gd name="adj" fmla="val 0"/>
            </a:avLst>
          </a:prstGeom>
          <a:solidFill>
            <a:srgbClr val="00BFFF">
              <a:alpha val="5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9" name="AutoShape 9"/>
          <p:cNvSpPr/>
          <p:nvPr/>
        </p:nvSpPr>
        <p:spPr>
          <a:xfrm>
            <a:off x="508000" y="5613400"/>
            <a:ext cx="25400" cy="508000"/>
          </a:xfrm>
          <a:prstGeom prst="roundRect">
            <a:avLst>
              <a:gd name="adj" fmla="val 0"/>
            </a:avLst>
          </a:prstGeom>
          <a:solidFill>
            <a:srgbClr val="00BFFF">
              <a:alpha val="5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0" name="AutoShape 10"/>
          <p:cNvSpPr/>
          <p:nvPr/>
        </p:nvSpPr>
        <p:spPr>
          <a:xfrm>
            <a:off x="11176000" y="6096000"/>
            <a:ext cx="508000" cy="25400"/>
          </a:xfrm>
          <a:prstGeom prst="roundRect">
            <a:avLst>
              <a:gd name="adj" fmla="val 0"/>
            </a:avLst>
          </a:prstGeom>
          <a:solidFill>
            <a:srgbClr val="00BFFF">
              <a:alpha val="5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1" name="AutoShape 11"/>
          <p:cNvSpPr/>
          <p:nvPr/>
        </p:nvSpPr>
        <p:spPr>
          <a:xfrm>
            <a:off x="11658600" y="5613400"/>
            <a:ext cx="25400" cy="508000"/>
          </a:xfrm>
          <a:prstGeom prst="roundRect">
            <a:avLst>
              <a:gd name="adj" fmla="val 0"/>
            </a:avLst>
          </a:prstGeom>
          <a:solidFill>
            <a:srgbClr val="00BFFF">
              <a:alpha val="5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TotalTime>
  <Words>1535</Words>
  <Application>Microsoft Macintosh PowerPoint</Application>
  <PresentationFormat>宽屏</PresentationFormat>
  <Paragraphs>277</Paragraphs>
  <Slides>21</Slides>
  <Notes>21</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21</vt:i4>
      </vt:variant>
    </vt:vector>
  </HeadingPairs>
  <TitlesOfParts>
    <vt:vector size="27" baseType="lpstr">
      <vt:lpstr>Google Sans Text</vt:lpstr>
      <vt:lpstr>Hei</vt: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keming zhang</cp:lastModifiedBy>
  <cp:revision>18</cp:revision>
  <dcterms:modified xsi:type="dcterms:W3CDTF">2026-07-01T12:26:44Z</dcterms:modified>
</cp:coreProperties>
</file>