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9" r:id="rId3"/>
    <p:sldId id="569" r:id="rId4"/>
    <p:sldId id="570" r:id="rId5"/>
    <p:sldId id="572" r:id="rId6"/>
    <p:sldId id="571" r:id="rId7"/>
    <p:sldId id="575" r:id="rId8"/>
    <p:sldId id="574" r:id="rId9"/>
    <p:sldId id="573" r:id="rId10"/>
    <p:sldId id="577" r:id="rId11"/>
    <p:sldId id="576" r:id="rId12"/>
    <p:sldId id="5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2E8E366-A768-4CB4-A548-FEBB1894CE69}">
          <p14:sldIdLst>
            <p14:sldId id="259"/>
            <p14:sldId id="569"/>
            <p14:sldId id="570"/>
            <p14:sldId id="572"/>
            <p14:sldId id="571"/>
            <p14:sldId id="575"/>
            <p14:sldId id="574"/>
            <p14:sldId id="573"/>
            <p14:sldId id="577"/>
            <p14:sldId id="576"/>
            <p14:sldId id="578"/>
          </p14:sldIdLst>
        </p14:section>
        <p14:section name="无标题节" id="{735AD14D-5830-47E7-903F-7124C25CE3D5}">
          <p14:sldIdLst/>
        </p14:section>
        <p14:section name="无标题节" id="{B7351177-79EB-40A8-B483-E26B95C81D6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F18B8"/>
    <a:srgbClr val="0066FF"/>
    <a:srgbClr val="CC00FF"/>
    <a:srgbClr val="0033CC"/>
    <a:srgbClr val="9E9AF8"/>
    <a:srgbClr val="F2F2F2"/>
    <a:srgbClr val="4D81BB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82" autoAdjust="0"/>
    <p:restoredTop sz="94660"/>
  </p:normalViewPr>
  <p:slideViewPr>
    <p:cSldViewPr snapToGrid="0">
      <p:cViewPr varScale="1">
        <p:scale>
          <a:sx n="96" d="100"/>
          <a:sy n="96" d="100"/>
        </p:scale>
        <p:origin x="3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B2277-4FA8-46DF-AE09-9B8548B6C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553FB-5533-48F3-9CC9-C3DB84C96C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tiff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hidden="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41" y="0"/>
            <a:ext cx="9131518" cy="6858000"/>
          </a:xfrm>
          <a:prstGeom prst="rect">
            <a:avLst/>
          </a:prstGeom>
        </p:spPr>
      </p:pic>
      <p:sp>
        <p:nvSpPr>
          <p:cNvPr id="14" name="文本占位符 50"/>
          <p:cNvSpPr>
            <a:spLocks noGrp="1"/>
          </p:cNvSpPr>
          <p:nvPr>
            <p:ph type="body" sz="quarter" idx="10" hasCustomPrompt="1"/>
          </p:nvPr>
        </p:nvSpPr>
        <p:spPr>
          <a:xfrm>
            <a:off x="718594" y="1748542"/>
            <a:ext cx="5946155" cy="19993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600"/>
              </a:spcBef>
              <a:buNone/>
              <a:defRPr sz="3600" b="1" spc="30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算法概论</a:t>
            </a:r>
            <a:endParaRPr kumimoji="1" lang="en-US" altLang="zh-CN" dirty="0"/>
          </a:p>
          <a:p>
            <a:pPr lvl="0"/>
            <a:r>
              <a:rPr kumimoji="1" lang="en-US" altLang="zh-CN" dirty="0"/>
              <a:t>  —</a:t>
            </a:r>
            <a:r>
              <a:rPr kumimoji="1" lang="zh-CN" altLang="en-US" dirty="0"/>
              <a:t>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章</a:t>
            </a:r>
            <a:endParaRPr kumimoji="1" lang="zh-CN" alt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287969"/>
            <a:ext cx="6171741" cy="1576867"/>
          </a:xfrm>
        </p:spPr>
        <p:txBody>
          <a:bodyPr lIns="0" tIns="0" rIns="0" bIns="0">
            <a:normAutofit/>
          </a:bodyPr>
          <a:lstStyle>
            <a:lvl1pPr marL="179705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en-US" altLang="zh-CN" dirty="0"/>
          </a:p>
          <a:p>
            <a:r>
              <a:rPr lang="zh-CN" altLang="en-US" dirty="0"/>
              <a:t>汇报人</a:t>
            </a:r>
            <a:endParaRPr lang="en-US" altLang="zh-CN" dirty="0"/>
          </a:p>
          <a:p>
            <a:r>
              <a:rPr lang="zh-CN" altLang="en-US" dirty="0"/>
              <a:t>计算机学院（国家示范性软件学院）</a:t>
            </a:r>
            <a:endParaRPr lang="en-US" altLang="zh-CN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899174" y="4185029"/>
            <a:ext cx="4901882" cy="829796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 err="1"/>
              <a:t>xxxx</a:t>
            </a:r>
            <a:r>
              <a:rPr lang="zh-CN" altLang="en-US" dirty="0"/>
              <a:t>年 </a:t>
            </a:r>
            <a:r>
              <a:rPr lang="en-US" altLang="zh-CN" dirty="0"/>
              <a:t>x</a:t>
            </a:r>
            <a:r>
              <a:rPr lang="zh-CN" altLang="en-US" dirty="0"/>
              <a:t>月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99230" y="6244606"/>
            <a:ext cx="1930165" cy="5214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516" y="89558"/>
            <a:ext cx="7886700" cy="619760"/>
          </a:xfrm>
        </p:spPr>
        <p:txBody>
          <a:bodyPr>
            <a:normAutofit/>
          </a:bodyPr>
          <a:lstStyle>
            <a:lvl1pPr algn="ctr">
              <a:defRPr lang="en-US" sz="2800" b="1" kern="1200" dirty="0">
                <a:solidFill>
                  <a:srgbClr val="CC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32" y="764364"/>
            <a:ext cx="8897136" cy="576840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 sz="2400">
                <a:latin typeface="+mn-lt"/>
                <a:ea typeface="微软雅黑 Light" panose="020B0502040204020203" pitchFamily="34" charset="-122"/>
              </a:defRPr>
            </a:lvl1pPr>
            <a:lvl2pPr marL="536575" indent="-26860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SzPct val="50000"/>
              <a:buFont typeface="Wingdings" panose="05000000000000000000" pitchFamily="2" charset="2"/>
              <a:buChar char="p"/>
              <a:defRPr sz="2400">
                <a:latin typeface="+mn-lt"/>
                <a:ea typeface="微软雅黑 Light" panose="020B0502040204020203" pitchFamily="34" charset="-122"/>
              </a:defRPr>
            </a:lvl2pPr>
            <a:lvl3pPr marL="806450" indent="-269875">
              <a:lnSpc>
                <a:spcPct val="120000"/>
              </a:lnSpc>
              <a:spcBef>
                <a:spcPts val="500"/>
              </a:spcBef>
              <a:buClr>
                <a:srgbClr val="C00000"/>
              </a:buClr>
              <a:buFont typeface="微软雅黑 Light" panose="020B0502040204020203" pitchFamily="34" charset="-122"/>
              <a:buChar char="-"/>
              <a:defRPr sz="2400">
                <a:latin typeface="+mn-lt"/>
                <a:ea typeface="微软雅黑 Light" panose="020B0502040204020203" pitchFamily="34" charset="-122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32775"/>
            <a:ext cx="2057400" cy="30905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532775"/>
            <a:ext cx="2057400" cy="31157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22085" y="709318"/>
            <a:ext cx="8153909" cy="0"/>
          </a:xfrm>
          <a:prstGeom prst="line">
            <a:avLst/>
          </a:prstGeom>
          <a:ln w="28575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48" y="164237"/>
            <a:ext cx="8897136" cy="6478351"/>
          </a:xfr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536575" indent="-268605">
              <a:lnSpc>
                <a:spcPct val="110000"/>
              </a:lnSpc>
              <a:spcBef>
                <a:spcPts val="500"/>
              </a:spcBef>
              <a:buClr>
                <a:srgbClr val="FF0000"/>
              </a:buClr>
              <a:buSzPct val="50000"/>
              <a:buFont typeface="Wingdings" panose="05000000000000000000" pitchFamily="2" charset="2"/>
              <a:buChar char="p"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806450" indent="-269875">
              <a:lnSpc>
                <a:spcPct val="110000"/>
              </a:lnSpc>
              <a:spcBef>
                <a:spcPts val="500"/>
              </a:spcBef>
              <a:buClr>
                <a:srgbClr val="C00000"/>
              </a:buClr>
              <a:buFont typeface="微软雅黑 Light" panose="020B0502040204020203" pitchFamily="34" charset="-122"/>
              <a:buChar char="-"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2588"/>
            <a:ext cx="2057400" cy="265185"/>
          </a:xfrm>
        </p:spPr>
        <p:txBody>
          <a:bodyPr/>
          <a:lstStyle>
            <a:lvl1pPr>
              <a:defRPr sz="1000"/>
            </a:lvl1pPr>
          </a:lstStyle>
          <a:p>
            <a:fld id="{E745593C-C1A7-4136-94F2-334F3909D5E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066" y="6504740"/>
            <a:ext cx="3086100" cy="365125"/>
          </a:xfrm>
        </p:spPr>
        <p:txBody>
          <a:bodyPr/>
          <a:lstStyle>
            <a:lvl1pPr>
              <a:defRPr sz="1000"/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53760" y="6680129"/>
            <a:ext cx="2057400" cy="234499"/>
          </a:xfrm>
        </p:spPr>
        <p:txBody>
          <a:bodyPr/>
          <a:lstStyle>
            <a:lvl1pPr>
              <a:defRPr sz="1000"/>
            </a:lvl1pPr>
          </a:lstStyle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: 圆角 7"/>
          <p:cNvSpPr/>
          <p:nvPr userDrawn="1"/>
        </p:nvSpPr>
        <p:spPr>
          <a:xfrm>
            <a:off x="122548" y="126696"/>
            <a:ext cx="8897136" cy="6515892"/>
          </a:xfrm>
          <a:prstGeom prst="roundRect">
            <a:avLst>
              <a:gd name="adj" fmla="val 2219"/>
            </a:avLst>
          </a:prstGeom>
          <a:noFill/>
          <a:ln>
            <a:solidFill>
              <a:srgbClr val="92D05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A1EC3-99C5-43EA-9C8E-A8079CE30BD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7A08-6084-4EE0-BAB9-300C6783233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2776-8847-46EE-A6D1-33ED05CE277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感谢页">
    <p:bg>
      <p:bgPr>
        <a:solidFill>
          <a:schemeClr val="bg1">
            <a:lumMod val="95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4227" y="1467870"/>
            <a:ext cx="3560519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050" b="0" i="0" baseline="0">
                <a:solidFill>
                  <a:srgbClr val="A80000"/>
                </a:solidFill>
                <a:latin typeface="+mj-ea"/>
                <a:ea typeface="+mj-ea"/>
              </a:defRPr>
            </a:lvl1pPr>
          </a:lstStyle>
          <a:p>
            <a:r>
              <a:rPr lang="en-US" dirty="0"/>
              <a:t>T</a:t>
            </a:r>
            <a:r>
              <a:rPr lang="en-US" altLang="zh-CN" dirty="0"/>
              <a:t>hank you.</a:t>
            </a:r>
            <a:endParaRPr lang="en-US" dirty="0"/>
          </a:p>
        </p:txBody>
      </p:sp>
      <p:pic>
        <p:nvPicPr>
          <p:cNvPr id="6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257" y="4831652"/>
            <a:ext cx="1406700" cy="405914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4831652"/>
            <a:ext cx="9144000" cy="2026348"/>
          </a:xfrm>
          <a:prstGeom prst="rect">
            <a:avLst/>
          </a:prstGeom>
          <a:solidFill>
            <a:srgbClr val="FEF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 userDrawn="1"/>
        </p:nvSpPr>
        <p:spPr>
          <a:xfrm>
            <a:off x="0" y="5606474"/>
            <a:ext cx="9144000" cy="1251527"/>
          </a:xfrm>
          <a:prstGeom prst="rect">
            <a:avLst/>
          </a:prstGeom>
          <a:solidFill>
            <a:srgbClr val="002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67904" y="6232236"/>
            <a:ext cx="1866677" cy="52147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4D43C-5EE8-470F-AFF7-4F360C5DB76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58A3B-43CE-4AA0-90B5-EB47AFAFEB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48256" y="1838977"/>
            <a:ext cx="5946155" cy="1999320"/>
          </a:xfrm>
        </p:spPr>
        <p:txBody>
          <a:bodyPr>
            <a:normAutofit/>
          </a:bodyPr>
          <a:lstStyle/>
          <a:p>
            <a:r>
              <a:rPr lang="zh-CN" altLang="en-US" dirty="0"/>
              <a:t>算法设计与分析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考试与复习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日期：</a:t>
            </a: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试题类型：多道大题，无选择、填空</a:t>
            </a:r>
            <a:endParaRPr lang="en-US" altLang="zh-CN" dirty="0"/>
          </a:p>
          <a:p>
            <a:pPr lvl="1"/>
            <a:r>
              <a:rPr kumimoji="0" lang="zh-CN" altLang="en-US" dirty="0"/>
              <a:t>计算</a:t>
            </a:r>
            <a:r>
              <a:rPr kumimoji="0" lang="en-US" altLang="zh-CN" dirty="0"/>
              <a:t>/</a:t>
            </a:r>
            <a:r>
              <a:rPr kumimoji="0" lang="zh-CN" altLang="en-US" dirty="0"/>
              <a:t>证明题</a:t>
            </a:r>
            <a:endParaRPr kumimoji="0" lang="en-US" altLang="zh-CN" dirty="0"/>
          </a:p>
          <a:p>
            <a:pPr lvl="1"/>
            <a:r>
              <a:rPr kumimoji="0" lang="zh-CN" altLang="en-US" dirty="0"/>
              <a:t>设计分析题</a:t>
            </a:r>
            <a:endParaRPr kumimoji="0" lang="en-US" altLang="zh-CN" dirty="0"/>
          </a:p>
          <a:p>
            <a:pPr eaLnBrk="1" hangingPunct="1"/>
            <a:r>
              <a:rPr kumimoji="0" lang="zh-CN" altLang="en-US" dirty="0"/>
              <a:t>计算</a:t>
            </a:r>
            <a:r>
              <a:rPr kumimoji="0" lang="en-US" altLang="zh-CN" dirty="0"/>
              <a:t>/</a:t>
            </a:r>
            <a:r>
              <a:rPr kumimoji="0" lang="zh-CN" altLang="en-US" dirty="0"/>
              <a:t>证明题</a:t>
            </a:r>
            <a:endParaRPr kumimoji="0" lang="en-US" altLang="zh-CN" dirty="0"/>
          </a:p>
          <a:p>
            <a:pPr lvl="1" eaLnBrk="1" hangingPunct="1"/>
            <a:r>
              <a:rPr kumimoji="0" lang="zh-CN" altLang="en-US" dirty="0"/>
              <a:t>算法渐进复杂性分析</a:t>
            </a:r>
            <a:endParaRPr kumimoji="0" lang="en-US" altLang="zh-CN" dirty="0"/>
          </a:p>
          <a:p>
            <a:pPr lvl="1"/>
            <a:r>
              <a:rPr lang="zh-CN" altLang="en-US" dirty="0"/>
              <a:t>递归方程求解（第</a:t>
            </a:r>
            <a:r>
              <a:rPr lang="en-US" altLang="zh-CN" dirty="0"/>
              <a:t>2</a:t>
            </a:r>
            <a:r>
              <a:rPr lang="zh-CN" altLang="en-US" dirty="0"/>
              <a:t>章）</a:t>
            </a:r>
            <a:endParaRPr lang="en-US" altLang="zh-CN" dirty="0"/>
          </a:p>
          <a:p>
            <a:pPr lvl="2"/>
            <a:r>
              <a:rPr lang="zh-CN" altLang="en-US" dirty="0"/>
              <a:t>线性齐次递归方程</a:t>
            </a:r>
            <a:endParaRPr lang="en-US" altLang="zh-CN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不考</a:t>
            </a:r>
            <a:r>
              <a:rPr lang="zh-CN" altLang="en-US" u="sng" dirty="0"/>
              <a:t>线性非齐次递归方程</a:t>
            </a:r>
            <a:endParaRPr lang="en-US" altLang="zh-CN" u="sng" dirty="0"/>
          </a:p>
          <a:p>
            <a:pPr lvl="1" eaLnBrk="1" hangingPunct="1"/>
            <a:r>
              <a:rPr kumimoji="0" lang="zh-CN" altLang="en-US" dirty="0"/>
              <a:t>问题</a:t>
            </a:r>
            <a:r>
              <a:rPr kumimoji="0" lang="en-US" altLang="zh-CN" dirty="0"/>
              <a:t>/</a:t>
            </a:r>
            <a:r>
              <a:rPr kumimoji="0" lang="zh-CN" altLang="en-US" dirty="0"/>
              <a:t>算法性质的证明</a:t>
            </a:r>
            <a:r>
              <a:rPr kumimoji="0" lang="en-US" altLang="zh-CN" dirty="0"/>
              <a:t>/</a:t>
            </a:r>
            <a:r>
              <a:rPr kumimoji="0" lang="zh-CN" altLang="en-US" dirty="0"/>
              <a:t>说明，如贪心选择、最优子结构性质</a:t>
            </a:r>
            <a:endParaRPr kumimoji="0" lang="en-US" altLang="zh-CN" dirty="0"/>
          </a:p>
          <a:p>
            <a:pPr eaLnBrk="1" hangingPunct="1"/>
            <a:r>
              <a:rPr kumimoji="0" lang="zh-CN" altLang="en-US" dirty="0"/>
              <a:t>设计分析题</a:t>
            </a:r>
            <a:endParaRPr kumimoji="0" lang="en-US" altLang="zh-CN" dirty="0"/>
          </a:p>
          <a:p>
            <a:pPr lvl="1" eaLnBrk="1" hangingPunct="1"/>
            <a:r>
              <a:rPr kumimoji="0" lang="zh-CN" altLang="en-US" dirty="0"/>
              <a:t>类型：分治，动态规划，贪心，回溯</a:t>
            </a:r>
            <a:endParaRPr kumimoji="0" lang="en-US" altLang="zh-CN" dirty="0"/>
          </a:p>
          <a:p>
            <a:pPr lvl="1" eaLnBrk="1" hangingPunct="1"/>
            <a:r>
              <a:rPr kumimoji="0" lang="zh-CN" altLang="en-US" dirty="0"/>
              <a:t>课堂上讲过、</a:t>
            </a:r>
            <a:r>
              <a:rPr lang="zh-CN" altLang="en-US" dirty="0"/>
              <a:t>或编程</a:t>
            </a:r>
            <a:r>
              <a:rPr kumimoji="0" lang="zh-CN" altLang="en-US" dirty="0"/>
              <a:t>实验</a:t>
            </a:r>
            <a:r>
              <a:rPr lang="zh-CN" altLang="en-US" dirty="0"/>
              <a:t>涉及的</a:t>
            </a:r>
            <a:r>
              <a:rPr kumimoji="0" lang="zh-CN" altLang="en-US" dirty="0"/>
              <a:t>面向具体问题的典型算法</a:t>
            </a:r>
            <a:endParaRPr kumimoji="0"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itchFamily="18" charset="0"/>
              </a:rPr>
              <a:t>第一章 算法及其复杂性分析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算法概念及性质</a:t>
            </a:r>
            <a:endParaRPr lang="en-US" altLang="zh-CN" dirty="0"/>
          </a:p>
          <a:p>
            <a:pPr lvl="1"/>
            <a:r>
              <a:rPr lang="zh-CN" altLang="en-US" dirty="0"/>
              <a:t>解决特定问题的一种方法，或一个业务逻辑</a:t>
            </a:r>
            <a:r>
              <a:rPr lang="en-US" altLang="zh-CN" dirty="0"/>
              <a:t>/</a:t>
            </a:r>
            <a:r>
              <a:rPr lang="zh-CN" altLang="en-US" dirty="0"/>
              <a:t>处理流程</a:t>
            </a:r>
            <a:endParaRPr lang="en-US" altLang="zh-CN" dirty="0"/>
          </a:p>
          <a:p>
            <a:pPr lvl="1"/>
            <a:r>
              <a:rPr lang="zh-CN" altLang="en-US" sz="2400" dirty="0"/>
              <a:t>从计算机角度，形式化、半形式化描述</a:t>
            </a:r>
            <a:endParaRPr lang="en-US" altLang="zh-CN" sz="2400" dirty="0"/>
          </a:p>
          <a:p>
            <a:pPr lvl="1"/>
            <a:r>
              <a:rPr lang="zh-CN" altLang="en-US" dirty="0"/>
              <a:t>性质：</a:t>
            </a:r>
            <a:r>
              <a:rPr lang="zh-CN" altLang="en-US" sz="2400" dirty="0"/>
              <a:t>输入，输出，确定性，有限性</a:t>
            </a:r>
            <a:endParaRPr lang="zh-CN" altLang="en-US" sz="2400" dirty="0"/>
          </a:p>
          <a:p>
            <a:pPr marL="228600" lvl="1" indent="-228600">
              <a:lnSpc>
                <a:spcPct val="130000"/>
              </a:lnSpc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/>
              <a:t>算法复杂性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概念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时间复杂性，空间复杂性，渐近复杂性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T(n), T(n, I)</a:t>
            </a:r>
            <a:endParaRPr lang="en-US" altLang="zh-CN" dirty="0"/>
          </a:p>
          <a:p>
            <a:pPr lvl="1">
              <a:defRPr/>
            </a:pPr>
            <a:r>
              <a:rPr kumimoji="0" lang="zh-CN" altLang="en-US" dirty="0">
                <a:cs typeface="Times New Roman" pitchFamily="18" charset="0"/>
              </a:rPr>
              <a:t>最好、最坏、平均复杂性</a:t>
            </a:r>
            <a:endParaRPr kumimoji="0" lang="en-US" altLang="zh-CN" dirty="0">
              <a:cs typeface="Times New Roman" pitchFamily="18" charset="0"/>
            </a:endParaRPr>
          </a:p>
          <a:p>
            <a:pPr lvl="1">
              <a:defRPr/>
            </a:pPr>
            <a:r>
              <a:rPr lang="zh-CN" altLang="en-US" dirty="0">
                <a:cs typeface="Times New Roman" pitchFamily="18" charset="0"/>
              </a:rPr>
              <a:t>最优算法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itchFamily="18" charset="0"/>
              </a:rPr>
              <a:t>算法及其复杂性分析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 indent="-228600"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/>
              <a:t>渐进复杂性</a:t>
            </a:r>
            <a:endParaRPr lang="zh-CN" altLang="en-US" b="1" dirty="0">
              <a:solidFill>
                <a:srgbClr val="3907F1"/>
              </a:solidFill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CN" dirty="0"/>
              <a:t>5</a:t>
            </a:r>
            <a:r>
              <a:rPr lang="zh-CN" altLang="en-US" dirty="0"/>
              <a:t>种：</a:t>
            </a:r>
            <a:r>
              <a:rPr lang="en-US" altLang="zh-CN" sz="2800" b="1" dirty="0">
                <a:solidFill>
                  <a:srgbClr val="FF0000"/>
                </a:solidFill>
                <a:cs typeface="Times New Roman" pitchFamily="18" charset="0"/>
              </a:rPr>
              <a:t>O</a:t>
            </a:r>
            <a:r>
              <a:rPr lang="en-US" altLang="zh-CN" dirty="0">
                <a:cs typeface="Times New Roman" pitchFamily="18" charset="0"/>
              </a:rPr>
              <a:t>, o, </a:t>
            </a:r>
            <a:r>
              <a:rPr lang="zh-CN" altLang="en-US" b="1" dirty="0">
                <a:solidFill>
                  <a:srgbClr val="3907F1"/>
                </a:solidFill>
                <a:cs typeface="Times New Roman" pitchFamily="18" charset="0"/>
                <a:sym typeface="Symbol" pitchFamily="18" charset="2"/>
              </a:rPr>
              <a:t></a:t>
            </a:r>
            <a:r>
              <a:rPr lang="en-US" altLang="zh-CN" b="1" dirty="0">
                <a:solidFill>
                  <a:srgbClr val="3907F1"/>
                </a:solidFill>
                <a:cs typeface="Times New Roman" pitchFamily="18" charset="0"/>
                <a:sym typeface="Symbol" pitchFamily="18" charset="2"/>
              </a:rPr>
              <a:t>,</a:t>
            </a:r>
            <a:r>
              <a:rPr lang="zh-CN" altLang="en-US" b="1" dirty="0">
                <a:solidFill>
                  <a:srgbClr val="3907F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rgbClr val="3907F1"/>
                </a:solidFill>
                <a:cs typeface="Times New Roman" pitchFamily="18" charset="0"/>
                <a:sym typeface="Symbol" pitchFamily="18" charset="2"/>
              </a:rPr>
              <a:t></a:t>
            </a:r>
            <a:r>
              <a:rPr lang="en-US" altLang="zh-CN" b="1" i="1" dirty="0">
                <a:solidFill>
                  <a:srgbClr val="3907F1"/>
                </a:solidFill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b="1" dirty="0">
                <a:solidFill>
                  <a:srgbClr val="3907F1"/>
                </a:solidFill>
                <a:cs typeface="Times New Roman" pitchFamily="18" charset="0"/>
                <a:sym typeface="Symbol" pitchFamily="18" charset="2"/>
              </a:rPr>
              <a:t></a:t>
            </a:r>
            <a:r>
              <a:rPr lang="zh-CN" altLang="en-US" b="1" dirty="0">
                <a:solidFill>
                  <a:srgbClr val="3907F1"/>
                </a:solidFill>
                <a:cs typeface="Times New Roman" pitchFamily="18" charset="0"/>
              </a:rPr>
              <a:t> 的概念、定义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(n) = &amp;(</a:t>
            </a: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(n))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的含义，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e.g. </a:t>
            </a: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(n) = O(</a:t>
            </a: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(n))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2">
              <a:defRPr/>
            </a:pPr>
            <a:r>
              <a:rPr lang="en-US" altLang="zh-CN" dirty="0">
                <a:cs typeface="Times New Roman" pitchFamily="18" charset="0"/>
              </a:rPr>
              <a:t>&amp;: 5</a:t>
            </a:r>
            <a:r>
              <a:rPr lang="zh-CN" altLang="en-US" dirty="0">
                <a:cs typeface="Times New Roman" pitchFamily="18" charset="0"/>
              </a:rPr>
              <a:t>种渐近复杂性记号</a:t>
            </a:r>
            <a:endParaRPr lang="zh-CN" altLang="en-US" dirty="0">
              <a:cs typeface="Times New Roman" pitchFamily="18" charset="0"/>
            </a:endParaRPr>
          </a:p>
          <a:p>
            <a:pPr marL="228600" lvl="1" indent="-228600"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en-US" altLang="zh-CN" dirty="0"/>
          </a:p>
          <a:p>
            <a:pPr marL="228600" lvl="1" indent="-228600"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en-US" altLang="zh-CN" dirty="0"/>
          </a:p>
          <a:p>
            <a:pPr marL="228600" lvl="1" indent="-228600"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en-US" altLang="zh-CN" dirty="0"/>
          </a:p>
          <a:p>
            <a:pPr marL="228600" lvl="1" indent="-228600"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en-US" altLang="zh-CN" dirty="0"/>
          </a:p>
          <a:p>
            <a:pPr marL="228600" lvl="1" indent="-228600">
              <a:spcBef>
                <a:spcPts val="50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/>
              <a:t>注意</a:t>
            </a:r>
            <a:r>
              <a:rPr kumimoji="0" lang="zh-CN" altLang="en-US" dirty="0">
                <a:cs typeface="Times New Roman" pitchFamily="18" charset="0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O</a:t>
            </a:r>
            <a:r>
              <a:rPr lang="zh-CN" altLang="en-US" i="1" dirty="0">
                <a:cs typeface="Times New Roman" pitchFamily="18" charset="0"/>
                <a:sym typeface="Symbol" pitchFamily="18" charset="2"/>
              </a:rPr>
              <a:t>、</a:t>
            </a:r>
            <a:r>
              <a:rPr lang="en-US" altLang="zh-CN" dirty="0">
                <a:cs typeface="Times New Roman" pitchFamily="18" charset="0"/>
                <a:sym typeface="Symbol" pitchFamily="18" charset="2"/>
              </a:rPr>
              <a:t> </a:t>
            </a:r>
            <a:r>
              <a:rPr lang="zh-CN" altLang="en-US" dirty="0">
                <a:cs typeface="Times New Roman" pitchFamily="18" charset="0"/>
                <a:sym typeface="Symbol" pitchFamily="18" charset="2"/>
              </a:rPr>
              <a:t>与</a:t>
            </a:r>
            <a:r>
              <a:rPr lang="en-US" altLang="zh-CN" dirty="0">
                <a:cs typeface="Times New Roman" pitchFamily="18" charset="0"/>
                <a:sym typeface="Symbol" pitchFamily="18" charset="2"/>
              </a:rPr>
              <a:t>o</a:t>
            </a:r>
            <a:r>
              <a:rPr lang="zh-CN" altLang="en-US" dirty="0">
                <a:cs typeface="Times New Roman" pitchFamily="18" charset="0"/>
                <a:sym typeface="Symbol" pitchFamily="18" charset="2"/>
              </a:rPr>
              <a:t>、</a:t>
            </a:r>
            <a:r>
              <a:rPr lang="en-US" altLang="zh-CN" i="1" dirty="0">
                <a:cs typeface="Times New Roman" pitchFamily="18" charset="0"/>
                <a:sym typeface="Symbol" pitchFamily="18" charset="2"/>
              </a:rPr>
              <a:t></a:t>
            </a:r>
            <a:r>
              <a:rPr lang="zh-CN" altLang="en-US" dirty="0">
                <a:cs typeface="Times New Roman" pitchFamily="18" charset="0"/>
                <a:sym typeface="Symbol" pitchFamily="18" charset="2"/>
              </a:rPr>
              <a:t>在定义上的区别</a:t>
            </a:r>
            <a:endParaRPr lang="zh-CN" altLang="en-US" dirty="0"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zh-CN" altLang="en-US" dirty="0">
                <a:cs typeface="Times New Roman" pitchFamily="18" charset="0"/>
              </a:rPr>
              <a:t>大</a:t>
            </a:r>
            <a:r>
              <a:rPr lang="en-US" altLang="zh-CN" dirty="0">
                <a:cs typeface="Times New Roman" pitchFamily="18" charset="0"/>
              </a:rPr>
              <a:t>O: </a:t>
            </a:r>
            <a:r>
              <a:rPr lang="zh-CN" altLang="en-US" dirty="0">
                <a:cs typeface="Times New Roman" pitchFamily="18" charset="0"/>
              </a:rPr>
              <a:t>存在正常数</a:t>
            </a:r>
            <a:r>
              <a:rPr lang="en-US" altLang="zh-CN" i="1" dirty="0">
                <a:cs typeface="Times New Roman" pitchFamily="18" charset="0"/>
              </a:rPr>
              <a:t>c</a:t>
            </a:r>
            <a:r>
              <a:rPr lang="zh-CN" altLang="en-US" dirty="0">
                <a:cs typeface="Times New Roman" pitchFamily="18" charset="0"/>
              </a:rPr>
              <a:t>和</a:t>
            </a:r>
            <a:r>
              <a:rPr lang="en-US" altLang="zh-CN" i="1" dirty="0">
                <a:cs typeface="Times New Roman" pitchFamily="18" charset="0"/>
              </a:rPr>
              <a:t>n</a:t>
            </a:r>
            <a:r>
              <a:rPr lang="en-US" altLang="zh-CN" baseline="-25000" dirty="0">
                <a:cs typeface="Times New Roman" pitchFamily="18" charset="0"/>
              </a:rPr>
              <a:t>0 </a:t>
            </a:r>
            <a:r>
              <a:rPr lang="zh-CN" altLang="en-US" dirty="0">
                <a:cs typeface="Times New Roman" pitchFamily="18" charset="0"/>
              </a:rPr>
              <a:t>，使得对所有</a:t>
            </a:r>
            <a:r>
              <a:rPr lang="en-US" altLang="zh-CN" i="1" dirty="0">
                <a:cs typeface="Times New Roman" pitchFamily="18" charset="0"/>
              </a:rPr>
              <a:t>n </a:t>
            </a:r>
            <a:r>
              <a:rPr lang="en-US" altLang="zh-CN" dirty="0">
                <a:cs typeface="Times New Roman" pitchFamily="18" charset="0"/>
                <a:sym typeface="Symbol" pitchFamily="18" charset="2"/>
              </a:rPr>
              <a:t> </a:t>
            </a:r>
            <a:r>
              <a:rPr lang="en-US" altLang="zh-CN" i="1" dirty="0">
                <a:cs typeface="Times New Roman" pitchFamily="18" charset="0"/>
              </a:rPr>
              <a:t>n</a:t>
            </a:r>
            <a:r>
              <a:rPr lang="en-US" altLang="zh-CN" baseline="-25000" dirty="0">
                <a:cs typeface="Times New Roman" pitchFamily="18" charset="0"/>
              </a:rPr>
              <a:t>0</a:t>
            </a:r>
            <a:r>
              <a:rPr lang="zh-CN" altLang="en-US" dirty="0">
                <a:cs typeface="Times New Roman" pitchFamily="18" charset="0"/>
              </a:rPr>
              <a:t>，有</a:t>
            </a:r>
            <a:r>
              <a:rPr lang="en-US" altLang="zh-CN" dirty="0">
                <a:cs typeface="Times New Roman" pitchFamily="18" charset="0"/>
              </a:rPr>
              <a:t>…</a:t>
            </a:r>
            <a:endParaRPr lang="en-US" altLang="zh-CN" dirty="0"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zh-CN" altLang="en-US" dirty="0">
                <a:cs typeface="Times New Roman" pitchFamily="18" charset="0"/>
              </a:rPr>
              <a:t>小</a:t>
            </a:r>
            <a:r>
              <a:rPr lang="en-US" altLang="zh-CN" dirty="0">
                <a:cs typeface="Times New Roman" pitchFamily="18" charset="0"/>
              </a:rPr>
              <a:t>o: </a:t>
            </a:r>
            <a:r>
              <a:rPr lang="zh-CN" altLang="en-US" dirty="0">
                <a:cs typeface="Times New Roman" pitchFamily="18" charset="0"/>
              </a:rPr>
              <a:t>对于任何正常数</a:t>
            </a:r>
            <a:r>
              <a:rPr lang="en-US" altLang="zh-CN" i="1" dirty="0">
                <a:cs typeface="Times New Roman" pitchFamily="18" charset="0"/>
              </a:rPr>
              <a:t>c</a:t>
            </a:r>
            <a:r>
              <a:rPr lang="en-US" altLang="zh-CN" dirty="0">
                <a:cs typeface="Times New Roman" pitchFamily="18" charset="0"/>
              </a:rPr>
              <a:t>&gt;0</a:t>
            </a:r>
            <a:r>
              <a:rPr lang="zh-CN" altLang="en-US" i="1" dirty="0">
                <a:cs typeface="Times New Roman" pitchFamily="18" charset="0"/>
              </a:rPr>
              <a:t>，</a:t>
            </a:r>
            <a:r>
              <a:rPr lang="zh-CN" altLang="en-US" dirty="0">
                <a:cs typeface="Times New Roman" pitchFamily="18" charset="0"/>
              </a:rPr>
              <a:t>存在正数</a:t>
            </a:r>
            <a:r>
              <a:rPr lang="en-US" altLang="zh-CN" i="1" dirty="0">
                <a:cs typeface="Times New Roman" pitchFamily="18" charset="0"/>
              </a:rPr>
              <a:t>n</a:t>
            </a:r>
            <a:r>
              <a:rPr lang="en-US" altLang="zh-CN" baseline="-25000" dirty="0">
                <a:cs typeface="Times New Roman" pitchFamily="18" charset="0"/>
              </a:rPr>
              <a:t>0</a:t>
            </a:r>
            <a:r>
              <a:rPr lang="en-US" altLang="zh-CN" dirty="0">
                <a:cs typeface="Times New Roman" pitchFamily="18" charset="0"/>
              </a:rPr>
              <a:t>&gt;0</a:t>
            </a:r>
            <a:r>
              <a:rPr lang="zh-CN" altLang="en-US" dirty="0">
                <a:cs typeface="Times New Roman" pitchFamily="18" charset="0"/>
              </a:rPr>
              <a:t>，使得</a:t>
            </a:r>
            <a:r>
              <a:rPr lang="en-US" altLang="zh-CN" dirty="0">
                <a:cs typeface="Times New Roman" pitchFamily="18" charset="0"/>
              </a:rPr>
              <a:t>…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07298" y="2298339"/>
            <a:ext cx="4013270" cy="252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93675" indent="-193675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)= </a:t>
            </a:r>
            <a:r>
              <a:rPr lang="en-US" altLang="zh-CN" sz="1800" i="1" dirty="0">
                <a:sym typeface="Symbol" pitchFamily="18" charset="2"/>
              </a:rPr>
              <a:t>O</a:t>
            </a:r>
            <a:r>
              <a:rPr lang="en-US" altLang="zh-CN" sz="1800" dirty="0"/>
              <a:t>(</a:t>
            </a:r>
            <a:r>
              <a:rPr lang="en-US" altLang="zh-CN" sz="1800" i="1" dirty="0"/>
              <a:t>g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)) </a:t>
            </a:r>
            <a:r>
              <a:rPr lang="en-US" altLang="zh-CN" sz="1800" dirty="0">
                <a:sym typeface="Symbol" pitchFamily="18" charset="2"/>
              </a:rPr>
              <a:t></a:t>
            </a:r>
            <a:r>
              <a:rPr lang="en-US" altLang="zh-CN" sz="1800" dirty="0"/>
              <a:t> a </a:t>
            </a:r>
            <a:r>
              <a:rPr lang="en-US" altLang="zh-CN" sz="1800" dirty="0">
                <a:sym typeface="Symbol" pitchFamily="18" charset="2"/>
              </a:rPr>
              <a:t> b;   </a:t>
            </a:r>
            <a:r>
              <a:rPr lang="zh-CN" altLang="en-US" sz="1800" b="1" dirty="0">
                <a:solidFill>
                  <a:srgbClr val="3907F1"/>
                </a:solidFill>
              </a:rPr>
              <a:t>渐近上界</a:t>
            </a:r>
            <a:endParaRPr lang="zh-CN" altLang="en-US" sz="1800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)= </a:t>
            </a:r>
            <a:r>
              <a:rPr lang="en-US" altLang="zh-CN" sz="1800" dirty="0">
                <a:sym typeface="Symbol" pitchFamily="18" charset="2"/>
              </a:rPr>
              <a:t></a:t>
            </a:r>
            <a:r>
              <a:rPr lang="en-US" altLang="zh-CN" sz="1800" dirty="0"/>
              <a:t>(</a:t>
            </a:r>
            <a:r>
              <a:rPr lang="en-US" altLang="zh-CN" sz="1800" i="1" dirty="0"/>
              <a:t>g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)) </a:t>
            </a:r>
            <a:r>
              <a:rPr lang="en-US" altLang="zh-CN" sz="1800" dirty="0">
                <a:sym typeface="Symbol" pitchFamily="18" charset="2"/>
              </a:rPr>
              <a:t></a:t>
            </a:r>
            <a:r>
              <a:rPr lang="en-US" altLang="zh-CN" sz="1800" dirty="0"/>
              <a:t> a </a:t>
            </a:r>
            <a:r>
              <a:rPr lang="en-US" altLang="zh-CN" sz="1800" dirty="0">
                <a:sym typeface="Symbol" pitchFamily="18" charset="2"/>
              </a:rPr>
              <a:t> b;   </a:t>
            </a:r>
            <a:r>
              <a:rPr lang="zh-CN" altLang="en-US" sz="1800" b="1" dirty="0">
                <a:solidFill>
                  <a:srgbClr val="3907F1"/>
                </a:solidFill>
              </a:rPr>
              <a:t>渐近下界</a:t>
            </a:r>
            <a:r>
              <a:rPr lang="zh-CN" altLang="en-US" sz="1800" dirty="0"/>
              <a:t> </a:t>
            </a:r>
            <a:endParaRPr lang="zh-CN" altLang="en-US" sz="1800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)= </a:t>
            </a:r>
            <a:r>
              <a:rPr lang="en-US" altLang="zh-CN" sz="1800" dirty="0">
                <a:sym typeface="Symbol" pitchFamily="18" charset="2"/>
              </a:rPr>
              <a:t></a:t>
            </a:r>
            <a:r>
              <a:rPr lang="en-US" altLang="zh-CN" sz="1800" dirty="0"/>
              <a:t>(</a:t>
            </a:r>
            <a:r>
              <a:rPr lang="en-US" altLang="zh-CN" sz="1800" i="1" dirty="0"/>
              <a:t>g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)) </a:t>
            </a:r>
            <a:r>
              <a:rPr lang="en-US" altLang="zh-CN" sz="1800" dirty="0">
                <a:sym typeface="Symbol" pitchFamily="18" charset="2"/>
              </a:rPr>
              <a:t></a:t>
            </a:r>
            <a:r>
              <a:rPr lang="en-US" altLang="zh-CN" sz="1800" dirty="0"/>
              <a:t> a </a:t>
            </a:r>
            <a:r>
              <a:rPr lang="en-US" altLang="zh-CN" sz="1800" dirty="0">
                <a:sym typeface="Symbol" pitchFamily="18" charset="2"/>
              </a:rPr>
              <a:t>= b;   </a:t>
            </a:r>
            <a:r>
              <a:rPr lang="zh-CN" altLang="en-US" sz="1800" b="1" dirty="0">
                <a:solidFill>
                  <a:srgbClr val="3907F1"/>
                </a:solidFill>
              </a:rPr>
              <a:t>紧渐近界</a:t>
            </a:r>
            <a:endParaRPr lang="zh-CN" altLang="en-US" sz="1800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)= </a:t>
            </a:r>
            <a:r>
              <a:rPr lang="en-US" altLang="zh-CN" sz="1800" i="1" dirty="0"/>
              <a:t>o</a:t>
            </a:r>
            <a:r>
              <a:rPr lang="en-US" altLang="zh-CN" sz="1800" dirty="0"/>
              <a:t>(</a:t>
            </a:r>
            <a:r>
              <a:rPr lang="en-US" altLang="zh-CN" sz="1800" i="1" dirty="0"/>
              <a:t>g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)) </a:t>
            </a:r>
            <a:r>
              <a:rPr lang="en-US" altLang="zh-CN" sz="1800" dirty="0">
                <a:sym typeface="Symbol" pitchFamily="18" charset="2"/>
              </a:rPr>
              <a:t></a:t>
            </a:r>
            <a:r>
              <a:rPr lang="en-US" altLang="zh-CN" sz="1800" dirty="0"/>
              <a:t> a </a:t>
            </a:r>
            <a:r>
              <a:rPr lang="en-US" altLang="zh-CN" sz="1800" dirty="0">
                <a:sym typeface="Symbol" pitchFamily="18" charset="2"/>
              </a:rPr>
              <a:t>&lt; b;    </a:t>
            </a:r>
            <a:r>
              <a:rPr lang="zh-CN" altLang="en-US" sz="1800" b="1" dirty="0">
                <a:solidFill>
                  <a:srgbClr val="3907F1"/>
                </a:solidFill>
              </a:rPr>
              <a:t>非紧上界</a:t>
            </a:r>
            <a:endParaRPr lang="zh-CN" altLang="en-US" sz="1800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)= </a:t>
            </a:r>
            <a:r>
              <a:rPr lang="en-US" altLang="zh-CN" sz="1800" i="1" dirty="0">
                <a:sym typeface="Symbol" pitchFamily="18" charset="2"/>
              </a:rPr>
              <a:t></a:t>
            </a:r>
            <a:r>
              <a:rPr lang="en-US" altLang="zh-CN" sz="1800" dirty="0"/>
              <a:t>(</a:t>
            </a:r>
            <a:r>
              <a:rPr lang="en-US" altLang="zh-CN" sz="1800" i="1" dirty="0"/>
              <a:t>g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)) </a:t>
            </a:r>
            <a:r>
              <a:rPr lang="en-US" altLang="zh-CN" sz="1800" dirty="0">
                <a:sym typeface="Symbol" pitchFamily="18" charset="2"/>
              </a:rPr>
              <a:t></a:t>
            </a:r>
            <a:r>
              <a:rPr lang="en-US" altLang="zh-CN" sz="1800" dirty="0"/>
              <a:t> a </a:t>
            </a:r>
            <a:r>
              <a:rPr lang="en-US" altLang="zh-CN" sz="1800" dirty="0">
                <a:sym typeface="Symbol" pitchFamily="18" charset="2"/>
              </a:rPr>
              <a:t>&gt; b.   </a:t>
            </a:r>
            <a:r>
              <a:rPr lang="zh-CN" altLang="en-US" sz="1800" b="1" dirty="0">
                <a:solidFill>
                  <a:srgbClr val="3907F1"/>
                </a:solidFill>
              </a:rPr>
              <a:t>非紧下界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itchFamily="18" charset="0"/>
              </a:rPr>
              <a:t>算法及其复杂性分析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zh-CN" altLang="en-US" dirty="0">
                <a:latin typeface="Times New Roman" pitchFamily="18" charset="0"/>
              </a:rPr>
              <a:t>时间复杂性分析方法</a:t>
            </a:r>
            <a:endParaRPr lang="zh-CN" altLang="en-US" dirty="0">
              <a:latin typeface="Times New Roman" pitchFamily="18" charset="0"/>
            </a:endParaRPr>
          </a:p>
          <a:p>
            <a:pPr lvl="1" eaLnBrk="1" hangingPunct="1"/>
            <a:r>
              <a:rPr lang="zh-CN" altLang="en-US" dirty="0"/>
              <a:t>给定算法步骤，分析各步执行时间，分析算法时间复杂性</a:t>
            </a:r>
            <a:endParaRPr lang="zh-CN" altLang="en-US" dirty="0"/>
          </a:p>
          <a:p>
            <a:pPr marL="0" indent="0" eaLnBrk="1" hangingPunct="1">
              <a:buNone/>
            </a:pPr>
            <a:r>
              <a:rPr kumimoji="0" lang="en-US" altLang="zh-CN" dirty="0">
                <a:latin typeface="Times New Roman" pitchFamily="18" charset="0"/>
              </a:rPr>
              <a:t> </a:t>
            </a:r>
            <a:endParaRPr kumimoji="0" lang="en-US" altLang="zh-CN" dirty="0">
              <a:latin typeface="Times New Roman" pitchFamily="18" charset="0"/>
            </a:endParaRPr>
          </a:p>
          <a:p>
            <a:pPr eaLnBrk="1" hangingPunct="1"/>
            <a:r>
              <a:rPr kumimoji="0" lang="zh-CN" altLang="en-US" dirty="0"/>
              <a:t>例题与作业</a:t>
            </a:r>
            <a:endParaRPr kumimoji="0" lang="en-US" altLang="zh-CN" dirty="0"/>
          </a:p>
          <a:p>
            <a:pPr lvl="1" eaLnBrk="1" hangingPunct="1"/>
            <a:r>
              <a:rPr kumimoji="0" lang="zh-CN" altLang="en-US" dirty="0"/>
              <a:t>分析证明渐进时间复杂性间</a:t>
            </a:r>
            <a:endParaRPr kumimoji="0" lang="en-US" altLang="zh-CN" dirty="0"/>
          </a:p>
          <a:p>
            <a:pPr lvl="1" eaLnBrk="1" hangingPunct="1"/>
            <a:r>
              <a:rPr lang="zh-CN" altLang="en-US" dirty="0"/>
              <a:t>两种类型</a:t>
            </a:r>
            <a:endParaRPr lang="en-US" altLang="zh-CN" dirty="0"/>
          </a:p>
          <a:p>
            <a:pPr lvl="2"/>
            <a:r>
              <a:rPr kumimoji="0" lang="en-US" altLang="zh-CN" dirty="0"/>
              <a:t>e.g.1   2n + 5n</a:t>
            </a:r>
            <a:r>
              <a:rPr kumimoji="0" lang="en-US" altLang="zh-CN" baseline="30000" dirty="0"/>
              <a:t>2 </a:t>
            </a:r>
            <a:r>
              <a:rPr kumimoji="0" lang="en-US" altLang="zh-CN" dirty="0"/>
              <a:t>= </a:t>
            </a:r>
            <a:r>
              <a:rPr kumimoji="0" lang="en-US" altLang="zh-CN" i="1" dirty="0"/>
              <a:t>O</a:t>
            </a:r>
            <a:r>
              <a:rPr kumimoji="0" lang="en-US" altLang="zh-CN" dirty="0"/>
              <a:t>(n</a:t>
            </a:r>
            <a:r>
              <a:rPr kumimoji="0" lang="en-US" altLang="zh-CN" baseline="30000" dirty="0"/>
              <a:t>2</a:t>
            </a:r>
            <a:r>
              <a:rPr kumimoji="0" lang="en-US" altLang="zh-CN" dirty="0"/>
              <a:t>)</a:t>
            </a:r>
            <a:endParaRPr kumimoji="0" lang="en-US" altLang="zh-CN" dirty="0"/>
          </a:p>
          <a:p>
            <a:pPr lvl="2"/>
            <a:r>
              <a:rPr kumimoji="0" lang="en-US" altLang="zh-CN" dirty="0"/>
              <a:t>e.g.2   f(n) + g(n) = </a:t>
            </a:r>
            <a:r>
              <a:rPr kumimoji="0" lang="en-US" altLang="zh-CN" i="1" dirty="0"/>
              <a:t>O</a:t>
            </a:r>
            <a:r>
              <a:rPr kumimoji="0" lang="en-US" altLang="zh-CN" dirty="0"/>
              <a:t>(max{f(n), g(n)})</a:t>
            </a:r>
            <a:endParaRPr kumimoji="0"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只考大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O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、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大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【???】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递归与分治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了解</a:t>
            </a:r>
            <a:r>
              <a:rPr lang="en-US" altLang="zh-CN" dirty="0"/>
              <a:t>】</a:t>
            </a:r>
            <a:endParaRPr lang="en-US" altLang="zh-CN" dirty="0"/>
          </a:p>
          <a:p>
            <a:pPr lvl="1"/>
            <a:r>
              <a:rPr lang="zh-CN" altLang="en-US" dirty="0"/>
              <a:t>递归过程、递归函数概念</a:t>
            </a:r>
            <a:endParaRPr lang="en-US" altLang="zh-CN" dirty="0"/>
          </a:p>
          <a:p>
            <a:pPr lvl="1"/>
            <a:r>
              <a:rPr lang="zh-CN" altLang="en-US" dirty="0"/>
              <a:t>递归法的原理</a:t>
            </a:r>
            <a:r>
              <a:rPr lang="en-US" altLang="zh-CN" dirty="0"/>
              <a:t>/</a:t>
            </a:r>
            <a:r>
              <a:rPr lang="zh-CN" altLang="en-US" dirty="0"/>
              <a:t>步骤</a:t>
            </a:r>
            <a:endParaRPr lang="zh-CN" altLang="en-US" dirty="0">
              <a:latin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</a:rPr>
              <a:t>分治法</a:t>
            </a:r>
            <a:r>
              <a:rPr lang="zh-CN" altLang="en-US" dirty="0"/>
              <a:t>基本原理</a:t>
            </a:r>
            <a:r>
              <a:rPr lang="en-US" altLang="zh-CN" dirty="0"/>
              <a:t>/</a:t>
            </a:r>
            <a:r>
              <a:rPr lang="zh-CN" altLang="en-US" dirty="0"/>
              <a:t>步骤、</a:t>
            </a:r>
            <a:r>
              <a:rPr lang="zh-CN" altLang="en-US" dirty="0">
                <a:latin typeface="Times New Roman" pitchFamily="18" charset="0"/>
              </a:rPr>
              <a:t>适用条件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  <a:p>
            <a:pPr eaLnBrk="1" hangingPunct="1"/>
            <a:r>
              <a:rPr kumimoji="0" lang="zh-CN" altLang="en-US" dirty="0"/>
              <a:t>用特征方程解递归方程</a:t>
            </a:r>
            <a:endParaRPr kumimoji="0" lang="en-US" altLang="zh-CN" dirty="0"/>
          </a:p>
          <a:p>
            <a:pPr lvl="1"/>
            <a:r>
              <a:rPr kumimoji="0" lang="zh-CN" altLang="en-US" dirty="0"/>
              <a:t>线性齐次递归方程</a:t>
            </a:r>
            <a:endParaRPr lang="en-US" altLang="zh-CN" dirty="0"/>
          </a:p>
          <a:p>
            <a:pPr lvl="2"/>
            <a:r>
              <a:rPr kumimoji="0" lang="zh-CN" altLang="en-US" dirty="0"/>
              <a:t>例题，作业</a:t>
            </a:r>
            <a:endParaRPr kumimoji="0" lang="en-US" altLang="zh-CN" dirty="0"/>
          </a:p>
          <a:p>
            <a:pPr lvl="2"/>
            <a:r>
              <a:rPr kumimoji="0" lang="zh-CN" altLang="en-US" dirty="0"/>
              <a:t>注意</a:t>
            </a:r>
            <a:r>
              <a:rPr lang="zh-CN" altLang="en-US" dirty="0"/>
              <a:t>：</a:t>
            </a:r>
            <a:r>
              <a:rPr kumimoji="0" lang="zh-CN" altLang="en-US" dirty="0"/>
              <a:t>特征方程有重根的情况</a:t>
            </a:r>
            <a:endParaRPr kumimoji="0"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不做要求：</a:t>
            </a:r>
            <a:r>
              <a:rPr kumimoji="0" lang="zh-CN" altLang="en-US" dirty="0"/>
              <a:t>线性非齐次递归方程，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递归与分治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432" y="764364"/>
            <a:ext cx="8897136" cy="5591988"/>
          </a:xfrm>
        </p:spPr>
        <p:txBody>
          <a:bodyPr>
            <a:normAutofit/>
          </a:bodyPr>
          <a:lstStyle/>
          <a:p>
            <a:r>
              <a:rPr lang="zh-CN" altLang="en-US" dirty="0"/>
              <a:t>要求：面向特定问题的具体算法</a:t>
            </a:r>
            <a:endParaRPr lang="en-US" altLang="zh-CN" dirty="0"/>
          </a:p>
          <a:p>
            <a:pPr lvl="1"/>
            <a:r>
              <a:rPr lang="zh-CN" altLang="en-US" dirty="0"/>
              <a:t>原理</a:t>
            </a:r>
            <a:endParaRPr lang="en-US" altLang="zh-CN" dirty="0"/>
          </a:p>
          <a:p>
            <a:pPr lvl="1"/>
            <a:r>
              <a:rPr lang="zh-CN" altLang="en-US" dirty="0"/>
              <a:t>流程</a:t>
            </a:r>
            <a:r>
              <a:rPr lang="en-US" altLang="zh-CN" dirty="0"/>
              <a:t>/</a:t>
            </a:r>
            <a:r>
              <a:rPr lang="zh-CN" altLang="en-US" dirty="0"/>
              <a:t>步骤，或代码</a:t>
            </a:r>
            <a:r>
              <a:rPr lang="en-US" altLang="zh-CN" dirty="0"/>
              <a:t>/</a:t>
            </a:r>
            <a:r>
              <a:rPr lang="zh-CN" altLang="en-US" dirty="0"/>
              <a:t>伪代码，</a:t>
            </a:r>
            <a:r>
              <a:rPr lang="en-US" altLang="zh-CN" dirty="0"/>
              <a:t> C/C++/Java/Python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说明时间复杂性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最好</a:t>
            </a:r>
            <a:r>
              <a:rPr lang="en-US" altLang="zh-CN" dirty="0"/>
              <a:t>/</a:t>
            </a:r>
            <a:r>
              <a:rPr lang="zh-CN" altLang="en-US" dirty="0"/>
              <a:t>最坏</a:t>
            </a:r>
            <a:r>
              <a:rPr lang="en-US" altLang="zh-CN" dirty="0"/>
              <a:t>/</a:t>
            </a:r>
            <a:r>
              <a:rPr lang="zh-CN" altLang="en-US" dirty="0"/>
              <a:t>平均时间复杂性，大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/>
              <a:t>计算示例：针对给定输入，给出算法执行步骤、执行结果</a:t>
            </a: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掌握以下四种算法，应用算法解决具体问题</a:t>
            </a:r>
            <a:r>
              <a:rPr lang="en-US" altLang="zh-CN" dirty="0"/>
              <a:t>【</a:t>
            </a:r>
            <a:r>
              <a:rPr lang="zh-CN" altLang="en-US" dirty="0"/>
              <a:t>算法拓展</a:t>
            </a:r>
            <a:r>
              <a:rPr lang="en-US" altLang="zh-CN" dirty="0"/>
              <a:t>】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二分搜索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快速排序</a:t>
            </a:r>
            <a:endParaRPr lang="zh-CN" altLang="en-US" dirty="0"/>
          </a:p>
          <a:p>
            <a:pPr lvl="1">
              <a:defRPr/>
            </a:pPr>
            <a:r>
              <a:rPr lang="zh-CN" altLang="en-US" dirty="0"/>
              <a:t>合并排序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线性时间选择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 三章 动态规划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432" y="764364"/>
            <a:ext cx="8897136" cy="600407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了解</a:t>
            </a:r>
            <a:r>
              <a:rPr lang="en-US" altLang="zh-CN" dirty="0"/>
              <a:t>】</a:t>
            </a:r>
            <a:endParaRPr lang="en-US" altLang="zh-CN" dirty="0"/>
          </a:p>
          <a:p>
            <a:pPr lvl="1"/>
            <a:r>
              <a:rPr lang="zh-CN" altLang="en-US" dirty="0"/>
              <a:t>动态规划法的原理、要素，</a:t>
            </a:r>
            <a:r>
              <a:rPr lang="zh-CN" altLang="en-US" dirty="0">
                <a:latin typeface="Times New Roman" pitchFamily="18" charset="0"/>
              </a:rPr>
              <a:t>最优子结构性质</a:t>
            </a:r>
            <a:endParaRPr lang="zh-CN" altLang="en-US" dirty="0"/>
          </a:p>
          <a:p>
            <a:pPr eaLnBrk="1" hangingPunct="1"/>
            <a:r>
              <a:rPr lang="zh-CN" altLang="en-US" dirty="0"/>
              <a:t>要求：面向特定问题的具体算法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原理</a:t>
            </a:r>
            <a:endParaRPr lang="en-US" altLang="zh-CN" dirty="0"/>
          </a:p>
          <a:p>
            <a:pPr lvl="1"/>
            <a:r>
              <a:rPr lang="zh-CN" altLang="en-US" dirty="0"/>
              <a:t>说明</a:t>
            </a:r>
            <a:r>
              <a:rPr lang="en-US" altLang="zh-CN" dirty="0"/>
              <a:t>/</a:t>
            </a:r>
            <a:r>
              <a:rPr lang="zh-CN" altLang="en-US" dirty="0"/>
              <a:t>证明问题具有最优子结构性质，推导</a:t>
            </a:r>
            <a:r>
              <a:rPr lang="zh-CN" altLang="en-US" b="1" dirty="0">
                <a:solidFill>
                  <a:srgbClr val="FF0000"/>
                </a:solidFill>
              </a:rPr>
              <a:t>递推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状态方程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/>
              <a:t>流程</a:t>
            </a:r>
            <a:r>
              <a:rPr lang="en-US" altLang="zh-CN" dirty="0"/>
              <a:t>/</a:t>
            </a:r>
            <a:r>
              <a:rPr lang="zh-CN" altLang="en-US" dirty="0"/>
              <a:t>步骤，填写递推表格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说明</a:t>
            </a:r>
            <a:r>
              <a:rPr lang="en-US" altLang="zh-CN" dirty="0"/>
              <a:t>/</a:t>
            </a:r>
            <a:r>
              <a:rPr lang="zh-CN" altLang="en-US" dirty="0"/>
              <a:t>分析时间复杂性，大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计算示例：针对给定输入，按照状态方程，给出算法执行步骤、执行结果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</a:t>
            </a:r>
            <a:endParaRPr lang="en-US" altLang="zh-CN" dirty="0"/>
          </a:p>
          <a:p>
            <a:pPr lvl="1"/>
            <a:r>
              <a:rPr lang="zh-CN" altLang="en-US" dirty="0"/>
              <a:t>矩阵连乘</a:t>
            </a:r>
            <a:endParaRPr lang="en-US" altLang="zh-CN" dirty="0"/>
          </a:p>
          <a:p>
            <a:pPr lvl="1"/>
            <a:r>
              <a:rPr lang="zh-CN" altLang="en-US" dirty="0"/>
              <a:t>最长公共子序列</a:t>
            </a:r>
            <a:endParaRPr lang="en-US" altLang="zh-CN" dirty="0"/>
          </a:p>
          <a:p>
            <a:pPr lvl="1"/>
            <a:r>
              <a:rPr lang="zh-CN" altLang="en-US" dirty="0"/>
              <a:t>最大子段和</a:t>
            </a:r>
            <a:endParaRPr lang="en-US" altLang="zh-CN" dirty="0"/>
          </a:p>
          <a:p>
            <a:pPr lvl="1"/>
            <a:r>
              <a:rPr lang="en-US" altLang="zh-CN" dirty="0"/>
              <a:t>0-1</a:t>
            </a:r>
            <a:r>
              <a:rPr lang="zh-CN" altLang="en-US" dirty="0"/>
              <a:t>背包问题</a:t>
            </a:r>
            <a:endParaRPr lang="en-US" altLang="zh-CN" strike="sngStrike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itchFamily="18" charset="0"/>
              </a:rPr>
              <a:t>第 四章 贪心法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432" y="764364"/>
            <a:ext cx="8897136" cy="600407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【</a:t>
            </a:r>
            <a:r>
              <a:rPr lang="zh-CN" altLang="en-US" dirty="0">
                <a:solidFill>
                  <a:srgbClr val="000000"/>
                </a:solidFill>
              </a:rPr>
              <a:t>了解</a:t>
            </a:r>
            <a:r>
              <a:rPr lang="en-US" altLang="zh-CN" dirty="0">
                <a:solidFill>
                  <a:srgbClr val="000000"/>
                </a:solidFill>
              </a:rPr>
              <a:t>】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zh-CN" altLang="en-US" dirty="0">
                <a:solidFill>
                  <a:srgbClr val="000000"/>
                </a:solidFill>
              </a:rPr>
              <a:t>贪心算法基础</a:t>
            </a:r>
            <a:endParaRPr lang="en-US" altLang="zh-CN" dirty="0">
              <a:solidFill>
                <a:srgbClr val="000000"/>
              </a:solidFill>
            </a:endParaRPr>
          </a:p>
          <a:p>
            <a:pPr lvl="2"/>
            <a:r>
              <a:rPr lang="zh-CN" altLang="en-US" dirty="0">
                <a:solidFill>
                  <a:srgbClr val="000000"/>
                </a:solidFill>
              </a:rPr>
              <a:t>基本要素：最优子结构性质、贪心选择性质</a:t>
            </a:r>
            <a:endParaRPr lang="en-US" altLang="zh-CN" dirty="0">
              <a:solidFill>
                <a:srgbClr val="000000"/>
              </a:solidFill>
            </a:endParaRPr>
          </a:p>
          <a:p>
            <a:pPr lvl="2"/>
            <a:r>
              <a:rPr lang="zh-CN" altLang="en-US" dirty="0">
                <a:solidFill>
                  <a:srgbClr val="000000"/>
                </a:solidFill>
              </a:rPr>
              <a:t>贪心算法与动态规划算法的差异</a:t>
            </a:r>
            <a:endParaRPr lang="zh-CN" altLang="en-US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/>
              <a:t>要求：面向特定问题的具体算法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原理，采用的贪心策略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说明</a:t>
            </a:r>
            <a:r>
              <a:rPr lang="en-US" altLang="zh-CN" dirty="0"/>
              <a:t>/</a:t>
            </a:r>
            <a:r>
              <a:rPr lang="zh-CN" altLang="en-US" dirty="0"/>
              <a:t>证明问题满足贪心选择性质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/>
              <a:t>流程</a:t>
            </a:r>
            <a:r>
              <a:rPr lang="en-US" altLang="zh-CN" dirty="0"/>
              <a:t>/</a:t>
            </a:r>
            <a:r>
              <a:rPr lang="zh-CN" altLang="en-US" dirty="0"/>
              <a:t>步骤，或代码</a:t>
            </a:r>
            <a:r>
              <a:rPr lang="en-US" altLang="zh-CN" dirty="0"/>
              <a:t>/</a:t>
            </a:r>
            <a:r>
              <a:rPr lang="zh-CN" altLang="en-US" dirty="0"/>
              <a:t>伪代码，</a:t>
            </a:r>
            <a:r>
              <a:rPr lang="en-US" altLang="zh-CN" dirty="0"/>
              <a:t>c/</a:t>
            </a:r>
            <a:r>
              <a:rPr lang="en-US" altLang="zh-CN" dirty="0" err="1"/>
              <a:t>c++</a:t>
            </a:r>
            <a:r>
              <a:rPr lang="en-US" altLang="zh-CN" dirty="0"/>
              <a:t>/Java/Python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说明</a:t>
            </a:r>
            <a:r>
              <a:rPr lang="en-US" altLang="zh-CN" dirty="0"/>
              <a:t>/</a:t>
            </a:r>
            <a:r>
              <a:rPr lang="zh-CN" altLang="en-US" dirty="0"/>
              <a:t>分析时间复杂性，大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endParaRPr lang="en-US" altLang="zh-CN" dirty="0"/>
          </a:p>
          <a:p>
            <a:pPr lvl="1"/>
            <a:r>
              <a:rPr lang="zh-CN" altLang="en-US" dirty="0"/>
              <a:t>计算示例：针对给定输入，给出算法执行步骤、执行结果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</a:t>
            </a:r>
            <a:endParaRPr lang="en-US" altLang="zh-CN" dirty="0"/>
          </a:p>
          <a:p>
            <a:pPr lvl="1"/>
            <a:r>
              <a:rPr lang="zh-CN" altLang="en-US" dirty="0"/>
              <a:t>活动安排</a:t>
            </a:r>
            <a:endParaRPr lang="en-US" altLang="zh-CN" dirty="0"/>
          </a:p>
          <a:p>
            <a:pPr lvl="1"/>
            <a:r>
              <a:rPr lang="zh-CN" altLang="en-US" dirty="0"/>
              <a:t>最优装载问题</a:t>
            </a:r>
            <a:endParaRPr lang="en-US" altLang="zh-CN" dirty="0"/>
          </a:p>
          <a:p>
            <a:pPr lvl="1"/>
            <a:r>
              <a:rPr lang="zh-CN" altLang="en-US" dirty="0"/>
              <a:t>单源最短路径</a:t>
            </a:r>
            <a:endParaRPr lang="en-US" altLang="zh-CN" dirty="0"/>
          </a:p>
          <a:p>
            <a:pPr lvl="1"/>
            <a:r>
              <a:rPr lang="zh-CN" altLang="en-US" dirty="0"/>
              <a:t>背包问题</a:t>
            </a:r>
            <a:endParaRPr lang="en-US" altLang="zh-CN" dirty="0"/>
          </a:p>
          <a:p>
            <a:pPr marL="0" indent="0" eaLnBrk="1" hangingPunct="1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itchFamily="18" charset="0"/>
              </a:rPr>
              <a:t>第五章 回溯法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</a:rPr>
              <a:t>【</a:t>
            </a:r>
            <a:r>
              <a:rPr lang="zh-CN" altLang="en-US" dirty="0">
                <a:latin typeface="Times New Roman" pitchFamily="18" charset="0"/>
              </a:rPr>
              <a:t>了解</a:t>
            </a:r>
            <a:r>
              <a:rPr lang="en-US" altLang="zh-CN" dirty="0">
                <a:latin typeface="Times New Roman" pitchFamily="18" charset="0"/>
              </a:rPr>
              <a:t>】</a:t>
            </a:r>
            <a:endParaRPr lang="en-US" altLang="zh-CN" dirty="0">
              <a:latin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</a:rPr>
              <a:t>回溯法原理，</a:t>
            </a:r>
            <a:endParaRPr lang="en-US" altLang="zh-CN" dirty="0">
              <a:latin typeface="Times New Roman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itchFamily="18" charset="0"/>
              </a:rPr>
              <a:t>问题表示，完全</a:t>
            </a:r>
            <a:r>
              <a:rPr lang="en-US" altLang="zh-CN" dirty="0">
                <a:latin typeface="Times New Roman" pitchFamily="18" charset="0"/>
              </a:rPr>
              <a:t>/</a:t>
            </a:r>
            <a:r>
              <a:rPr lang="zh-CN" altLang="en-US" dirty="0">
                <a:latin typeface="Times New Roman" pitchFamily="18" charset="0"/>
              </a:rPr>
              <a:t>部分</a:t>
            </a:r>
            <a:r>
              <a:rPr lang="en-US" altLang="zh-CN" dirty="0">
                <a:latin typeface="Times New Roman" pitchFamily="18" charset="0"/>
              </a:rPr>
              <a:t>/</a:t>
            </a:r>
            <a:r>
              <a:rPr lang="zh-CN" altLang="en-US" dirty="0">
                <a:latin typeface="Times New Roman" pitchFamily="18" charset="0"/>
              </a:rPr>
              <a:t>可行</a:t>
            </a:r>
            <a:r>
              <a:rPr lang="en-US" altLang="zh-CN" dirty="0">
                <a:latin typeface="Times New Roman" pitchFamily="18" charset="0"/>
              </a:rPr>
              <a:t>/</a:t>
            </a:r>
            <a:r>
              <a:rPr lang="zh-CN" altLang="en-US" dirty="0">
                <a:latin typeface="Times New Roman" pitchFamily="18" charset="0"/>
              </a:rPr>
              <a:t>最优</a:t>
            </a:r>
            <a:r>
              <a:rPr lang="en-US" altLang="zh-CN" dirty="0">
                <a:latin typeface="Times New Roman" pitchFamily="18" charset="0"/>
              </a:rPr>
              <a:t>/</a:t>
            </a:r>
            <a:r>
              <a:rPr lang="zh-CN" altLang="en-US" dirty="0">
                <a:latin typeface="Times New Roman" pitchFamily="18" charset="0"/>
              </a:rPr>
              <a:t>不可行解，搜索空间</a:t>
            </a:r>
            <a:endParaRPr lang="en-US" altLang="zh-CN" dirty="0">
              <a:latin typeface="Times New Roman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itchFamily="18" charset="0"/>
              </a:rPr>
              <a:t>深度优先搜索策略</a:t>
            </a:r>
            <a:endParaRPr lang="en-US" altLang="zh-CN" dirty="0">
              <a:latin typeface="Times New Roman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itchFamily="18" charset="0"/>
              </a:rPr>
              <a:t>子集树、排列树问题</a:t>
            </a:r>
            <a:endParaRPr lang="en-US" altLang="zh-CN" dirty="0"/>
          </a:p>
          <a:p>
            <a:pPr eaLnBrk="1" hangingPunct="1"/>
            <a:endParaRPr lang="zh-CN" altLang="en-US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算法框架，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不做要求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itchFamily="18" charset="0"/>
              </a:rPr>
              <a:t>递归回溯框架</a:t>
            </a:r>
            <a:endParaRPr lang="en-US" altLang="zh-CN" dirty="0">
              <a:latin typeface="Times New Roman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itchFamily="18" charset="0"/>
              </a:rPr>
              <a:t>迭代回溯框架</a:t>
            </a:r>
            <a:endParaRPr lang="en-US" altLang="zh-CN" dirty="0">
              <a:latin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itchFamily="18" charset="0"/>
              </a:rPr>
              <a:t>回溯法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432" y="764364"/>
            <a:ext cx="8897136" cy="5957112"/>
          </a:xfrm>
        </p:spPr>
        <p:txBody>
          <a:bodyPr>
            <a:normAutofit/>
          </a:bodyPr>
          <a:lstStyle/>
          <a:p>
            <a:r>
              <a:rPr lang="zh-CN" altLang="en-US" dirty="0"/>
              <a:t>要求：面向特定问题的具体算法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原理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解向量设计，剪枝函数设计</a:t>
            </a:r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trike="sngStrike" dirty="0"/>
              <a:t>步骤，或代码</a:t>
            </a:r>
            <a:r>
              <a:rPr lang="en-US" altLang="zh-CN" strike="sngStrike" dirty="0"/>
              <a:t>/</a:t>
            </a:r>
            <a:r>
              <a:rPr lang="zh-CN" altLang="en-US" strike="sngStrike" dirty="0"/>
              <a:t>伪代码，</a:t>
            </a:r>
            <a:r>
              <a:rPr lang="en-US" altLang="zh-CN" strike="sngStrike" dirty="0"/>
              <a:t>C/C++/Java/Python</a:t>
            </a:r>
            <a:r>
              <a:rPr lang="en-US" altLang="zh-CN" dirty="0"/>
              <a:t>【</a:t>
            </a:r>
            <a:r>
              <a:rPr lang="zh-CN" altLang="en-US" dirty="0">
                <a:solidFill>
                  <a:srgbClr val="FF0000"/>
                </a:solidFill>
              </a:rPr>
              <a:t>不做要求</a:t>
            </a:r>
            <a:r>
              <a:rPr lang="en-US" altLang="zh-CN" dirty="0"/>
              <a:t>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说明</a:t>
            </a:r>
            <a:r>
              <a:rPr lang="en-US" altLang="zh-CN" dirty="0"/>
              <a:t>/</a:t>
            </a:r>
            <a:r>
              <a:rPr lang="zh-CN" altLang="en-US" dirty="0"/>
              <a:t>给出时间复杂性，大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endParaRPr lang="en-US" altLang="zh-CN" dirty="0"/>
          </a:p>
          <a:p>
            <a:pPr lvl="1"/>
            <a:r>
              <a:rPr lang="zh-CN" altLang="en-US" dirty="0"/>
              <a:t>计算示例：针对给定输入，</a:t>
            </a:r>
            <a:r>
              <a:rPr lang="zh-CN" altLang="en-US" b="1" u="sng" dirty="0">
                <a:solidFill>
                  <a:srgbClr val="FF0000"/>
                </a:solidFill>
              </a:rPr>
              <a:t>画出搜索</a:t>
            </a:r>
            <a:r>
              <a:rPr lang="en-US" altLang="zh-CN" b="1" u="sng" dirty="0">
                <a:solidFill>
                  <a:srgbClr val="FF0000"/>
                </a:solidFill>
              </a:rPr>
              <a:t>/</a:t>
            </a:r>
            <a:r>
              <a:rPr lang="zh-CN" altLang="en-US" b="1" u="sng" dirty="0">
                <a:solidFill>
                  <a:srgbClr val="FF0000"/>
                </a:solidFill>
              </a:rPr>
              <a:t>剪枝过程及解空间树</a:t>
            </a:r>
            <a:r>
              <a:rPr lang="zh-CN" altLang="en-US" dirty="0"/>
              <a:t>，给出执行结果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</a:t>
            </a:r>
            <a:endParaRPr lang="en-US" altLang="zh-CN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皇后问题，</a:t>
            </a:r>
            <a:endParaRPr lang="en-US" altLang="zh-CN" dirty="0"/>
          </a:p>
          <a:p>
            <a:pPr lvl="1"/>
            <a:r>
              <a:rPr lang="en-US" altLang="zh-CN" dirty="0"/>
              <a:t>0-1</a:t>
            </a:r>
            <a:r>
              <a:rPr lang="zh-CN" altLang="en-US" dirty="0"/>
              <a:t>背包问题</a:t>
            </a:r>
            <a:endParaRPr lang="en-US" altLang="zh-CN" dirty="0"/>
          </a:p>
          <a:p>
            <a:pPr lvl="1"/>
            <a:r>
              <a:rPr lang="zh-CN" altLang="en-US" dirty="0"/>
              <a:t>旅行商问题</a:t>
            </a:r>
            <a:r>
              <a:rPr lang="en-US" altLang="zh-CN" dirty="0"/>
              <a:t>TSP</a:t>
            </a:r>
            <a:endParaRPr lang="en-US" altLang="zh-CN" dirty="0"/>
          </a:p>
          <a:p>
            <a:pPr lvl="1"/>
            <a:r>
              <a:rPr lang="zh-CN" altLang="en-US" dirty="0"/>
              <a:t>图的</a:t>
            </a:r>
            <a:r>
              <a:rPr lang="en-US" altLang="zh-CN" dirty="0"/>
              <a:t>m</a:t>
            </a:r>
            <a:r>
              <a:rPr lang="zh-CN" altLang="en-US" dirty="0"/>
              <a:t>着色问题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2E49-C8A5-40DA-A458-EF224B2665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58A3B-43CE-4AA0-90B5-EB47AFAFEB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1574</Words>
  <Application>WPS 演示</Application>
  <PresentationFormat>全屏显示(4:3)</PresentationFormat>
  <Paragraphs>202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7" baseType="lpstr">
      <vt:lpstr>Arial</vt:lpstr>
      <vt:lpstr>宋体</vt:lpstr>
      <vt:lpstr>Wingdings</vt:lpstr>
      <vt:lpstr>FT Thymes</vt:lpstr>
      <vt:lpstr>微软雅黑</vt:lpstr>
      <vt:lpstr>方正雅意黑 GB18030L2 R</vt:lpstr>
      <vt:lpstr>FTToken</vt:lpstr>
      <vt:lpstr>微软雅黑 Light</vt:lpstr>
      <vt:lpstr>黑体-简</vt:lpstr>
      <vt:lpstr>Cambria Math</vt:lpstr>
      <vt:lpstr>DejaVu Math TeX Gyre</vt:lpstr>
      <vt:lpstr>Times New Roman</vt:lpstr>
      <vt:lpstr>Symbol</vt:lpstr>
      <vt:lpstr>Tahoma</vt:lpstr>
      <vt:lpstr>宋体</vt:lpstr>
      <vt:lpstr>Arial Unicode MS</vt:lpstr>
      <vt:lpstr>书宋-简</vt:lpstr>
      <vt:lpstr>Kingsoft Sign</vt:lpstr>
      <vt:lpstr>noto sans thai</vt:lpstr>
      <vt:lpstr>等线 Light</vt:lpstr>
      <vt:lpstr>鸿蒙黑体</vt:lpstr>
      <vt:lpstr>Calibri Light</vt:lpstr>
      <vt:lpstr>等线</vt:lpstr>
      <vt:lpstr>方正等线-简</vt:lpstr>
      <vt:lpstr>Calibri</vt:lpstr>
      <vt:lpstr>Office 主题​​</vt:lpstr>
      <vt:lpstr>PowerPoint 演示文稿</vt:lpstr>
      <vt:lpstr>考试范围</vt:lpstr>
      <vt:lpstr>第一章 算法及其复杂性分析</vt:lpstr>
      <vt:lpstr>算法及其复杂性分析</vt:lpstr>
      <vt:lpstr>算法及其复杂性分析</vt:lpstr>
      <vt:lpstr>第二章 递归与分治</vt:lpstr>
      <vt:lpstr>递归与分治</vt:lpstr>
      <vt:lpstr>第 三章 动态规划</vt:lpstr>
      <vt:lpstr>第 四章 贪心法</vt:lpstr>
      <vt:lpstr>第五章 回溯法</vt:lpstr>
      <vt:lpstr>回溯法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王晓茹</cp:lastModifiedBy>
  <cp:revision>611</cp:revision>
  <dcterms:created xsi:type="dcterms:W3CDTF">2025-12-26T06:01:32Z</dcterms:created>
  <dcterms:modified xsi:type="dcterms:W3CDTF">2025-12-26T06:01:32Z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AB691A0D4B1642A7C6684D6973999525_42</vt:lpwstr>
  </property>
  <property fmtid="{D5CDD505-2E9C-101B-9397-08002B2CF9AE}" pid="3" name="KSOProductBuildVer">
    <vt:lpwstr>2052-12.1.3.24046</vt:lpwstr>
  </property>
</Properties>
</file>