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26"/>
  </p:handoutMasterIdLst>
  <p:sldIdLst>
    <p:sldId id="257" r:id="rId3"/>
    <p:sldId id="272" r:id="rId4"/>
    <p:sldId id="265" r:id="rId5"/>
    <p:sldId id="266" r:id="rId6"/>
    <p:sldId id="267" r:id="rId7"/>
    <p:sldId id="268" r:id="rId8"/>
    <p:sldId id="269" r:id="rId9"/>
    <p:sldId id="270" r:id="rId11"/>
    <p:sldId id="260" r:id="rId12"/>
    <p:sldId id="278" r:id="rId13"/>
    <p:sldId id="277" r:id="rId14"/>
    <p:sldId id="276" r:id="rId15"/>
    <p:sldId id="258" r:id="rId16"/>
    <p:sldId id="259" r:id="rId17"/>
    <p:sldId id="261" r:id="rId18"/>
    <p:sldId id="262" r:id="rId19"/>
    <p:sldId id="271" r:id="rId20"/>
    <p:sldId id="263" r:id="rId21"/>
    <p:sldId id="264" r:id="rId22"/>
    <p:sldId id="275" r:id="rId23"/>
    <p:sldId id="274" r:id="rId24"/>
    <p:sldId id="273" r:id="rId25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DC85943-F0C0-4F6E-A8D3-68CEFE9A8C4A}" type="datetime1">
              <a:rPr lang="zh-CN" alt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1A8EE09-76CC-4000-B080-9F213DA7DCE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26C13B-BD21-4B80-938C-32EFDDB696FF}" type="datetime1">
              <a:rPr lang="zh-CN" alt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US"/>
              <a:t>单击此处编辑母版文本样式</a:t>
            </a:r>
            <a:endParaRPr lang="en-US"/>
          </a:p>
          <a:p>
            <a:pPr lvl="1" rtl="0"/>
            <a:r>
              <a:rPr lang="en-US"/>
              <a:t>第二级</a:t>
            </a:r>
            <a:endParaRPr lang="en-US"/>
          </a:p>
          <a:p>
            <a:pPr lvl="2" rtl="0"/>
            <a:r>
              <a:rPr lang="en-US"/>
              <a:t>第三级</a:t>
            </a:r>
            <a:endParaRPr lang="en-US"/>
          </a:p>
          <a:p>
            <a:pPr lvl="3" rtl="0"/>
            <a:r>
              <a:rPr lang="en-US"/>
              <a:t>第四级</a:t>
            </a:r>
            <a:endParaRPr lang="en-US"/>
          </a:p>
          <a:p>
            <a:pPr lvl="4" rtl="0"/>
            <a:r>
              <a:rPr 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8E40627-AA7D-471F-B5F2-0BF9E4C68EB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之所以</a:t>
            </a:r>
            <a:r>
              <a:rPr lang="en-US" altLang="zh-CN">
                <a:sym typeface="+mn-ea"/>
              </a:rPr>
              <a:t>m+n</a:t>
            </a:r>
            <a:r>
              <a:rPr lang="zh-CN" altLang="en-US">
                <a:sym typeface="+mn-ea"/>
              </a:rPr>
              <a:t>后面要再加</a:t>
            </a:r>
            <a:r>
              <a:rPr lang="en-US" altLang="zh-CN">
                <a:sym typeface="+mn-ea"/>
              </a:rPr>
              <a:t>1,</a:t>
            </a:r>
            <a:r>
              <a:rPr lang="zh-CN" altLang="en-US">
                <a:sym typeface="+mn-ea"/>
              </a:rPr>
              <a:t>是为了应对大数组长度为奇数的情况。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直白地说，就是最大的绿色元素小于或等于最小的橙色元素。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rtl="0"/>
            <a:fld id="{7726C13B-BD21-4B80-938C-32EFDDB696FF}" type="datetime1">
              <a:rPr lang="zh-CN" altLang="en-US" smtClean="0"/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rtl="0"/>
            <a:fld id="{98E40627-AA7D-471F-B5F2-0BF9E4C68EB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长方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长方形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长方形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长方形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组 6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直接连接符​​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​​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FCDE75C-B71D-40C1-B819-91C9FA9D7E53}" type="datetime1">
              <a:rPr lang="zh-CN" altLang="en-US" smtClean="0"/>
            </a:fld>
            <a:endParaRPr lang="en-US" dirty="0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22" name="幻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4B7E4EF-A1BD-40F4-AB7B-04F084DD991D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626913"/>
          </a:xfrm>
        </p:spPr>
        <p:txBody>
          <a:bodyPr rtlCol="0">
            <a:normAutofit/>
          </a:bodyPr>
          <a:lstStyle>
            <a:lvl1pPr algn="ctr">
              <a:defRPr sz="3200" b="1"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6800" y="1491449"/>
            <a:ext cx="10058400" cy="4461295"/>
          </a:xfrm>
        </p:spPr>
        <p:txBody>
          <a:bodyPr rtlCol="0"/>
          <a:lstStyle>
            <a:lvl1pPr>
              <a:defRPr sz="2400" b="1"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  <a:lvl2pPr>
              <a:defRPr sz="2000" b="1">
                <a:latin typeface="华文仿宋" panose="02010600040101010101" pitchFamily="2" charset="-122"/>
                <a:ea typeface="华文仿宋" panose="02010600040101010101" pitchFamily="2" charset="-122"/>
              </a:defRPr>
            </a:lvl2pPr>
            <a:lvl3pPr>
              <a:defRPr sz="2000" b="1">
                <a:latin typeface="华文仿宋" panose="02010600040101010101" pitchFamily="2" charset="-122"/>
                <a:ea typeface="华文仿宋" panose="02010600040101010101" pitchFamily="2" charset="-122"/>
              </a:defRPr>
            </a:lvl3pPr>
            <a:lvl4pPr>
              <a:defRPr sz="2000" b="1">
                <a:latin typeface="华文仿宋" panose="02010600040101010101" pitchFamily="2" charset="-122"/>
                <a:ea typeface="华文仿宋" panose="02010600040101010101" pitchFamily="2" charset="-122"/>
              </a:defRPr>
            </a:lvl4pPr>
            <a:lvl5pPr>
              <a:defRPr sz="2000" b="1">
                <a:latin typeface="华文仿宋" panose="02010600040101010101" pitchFamily="2" charset="-122"/>
                <a:ea typeface="华文仿宋" panose="02010600040101010101" pitchFamily="2" charset="-122"/>
              </a:defRPr>
            </a:lvl5pPr>
          </a:lstStyle>
          <a:p>
            <a:pPr lvl="0" rt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rtl="0"/>
            <a:r>
              <a:rPr lang="zh-CN" altLang="en-US" dirty="0"/>
              <a:t>二级</a:t>
            </a:r>
            <a:endParaRPr lang="zh-CN" altLang="en-US" dirty="0"/>
          </a:p>
          <a:p>
            <a:pPr lvl="2" rtl="0"/>
            <a:r>
              <a:rPr lang="zh-CN" altLang="en-US" dirty="0"/>
              <a:t>三级</a:t>
            </a:r>
            <a:endParaRPr lang="zh-CN" altLang="en-US" dirty="0"/>
          </a:p>
          <a:p>
            <a:pPr lvl="3" rtl="0"/>
            <a:r>
              <a:rPr lang="zh-CN" altLang="en-US" dirty="0"/>
              <a:t>四级</a:t>
            </a:r>
            <a:endParaRPr lang="zh-CN" altLang="en-US" dirty="0"/>
          </a:p>
          <a:p>
            <a:pPr lvl="4" rtl="0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E57809-0EA1-4261-AE7A-8956509DBB23}" type="datetime1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长方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长方形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长方形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长方形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5400" b="1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defRPr>
            </a:lvl1pPr>
          </a:lstStyle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grpSp>
        <p:nvGrpSpPr>
          <p:cNvPr id="16" name="组 15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​​(S)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629156" y="4367814"/>
            <a:ext cx="8939784" cy="771448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345" algn="l"/>
              </a:tabLst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</a:lstStyle>
          <a:p>
            <a:fld id="{26061C7C-6751-4636-8DE1-8458C05064A7}" type="datetime1">
              <a:rPr lang="zh-CN" altLang="en-US" smtClean="0"/>
            </a:fld>
            <a:endParaRPr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4B7E4EF-A1BD-40F4-AB7B-04F084DD991D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2B1DAD-13E2-42E6-B9D8-ACD801D84229}" type="datetime1">
              <a:rPr lang="zh-CN" alt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E49154-3FC3-4E99-B1C7-806A1BE810AD}" type="datetime1">
              <a:rPr lang="zh-CN" alt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E3F6B1-AB2C-4FE9-9465-A12169B9FE93}" type="datetime1">
              <a:rPr lang="zh-CN" alt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4E604B-F6EE-4DE3-9F26-10AAFE4A8162}" type="datetime1">
              <a:rPr lang="zh-CN" alt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矩形 12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1FDE3E57-7890-4A1C-9346-1B43487A6F43}" type="datetime1">
              <a:rPr lang="zh-CN" altLang="en-US" smtClean="0"/>
            </a:fld>
            <a:endParaRPr 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D197156-3C99-457F-8943-2278A8613E02}" type="datetime1">
              <a:rPr lang="zh-CN" alt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4B7E4EF-A1BD-40F4-AB7B-04F084DD991D}" type="slidenum">
              <a:rPr lang="en-US" smtClean="0"/>
            </a:fld>
            <a:endParaRPr lang="en-US"/>
          </a:p>
        </p:txBody>
      </p:sp>
      <p:sp>
        <p:nvSpPr>
          <p:cNvPr id="12" name="长方形 11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E69617-53A9-406A-817D-C94A5C246153}" type="datetime1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745DA5-4C9D-4D4A-AB08-30D0EBD192B1}" type="datetime1">
              <a:rPr lang="zh-CN" alt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长方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矩形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/>
              <a:t>单击此处编辑母版文本样式</a:t>
            </a:r>
            <a:endParaRPr lang="en-US"/>
          </a:p>
          <a:p>
            <a:pPr lvl="1" rtl="0"/>
            <a:r>
              <a:rPr lang="en-US"/>
              <a:t>第二级</a:t>
            </a:r>
            <a:endParaRPr lang="en-US"/>
          </a:p>
          <a:p>
            <a:pPr lvl="2" rtl="0"/>
            <a:r>
              <a:rPr lang="en-US"/>
              <a:t>第三级</a:t>
            </a:r>
            <a:endParaRPr lang="en-US"/>
          </a:p>
          <a:p>
            <a:pPr lvl="3" rtl="0"/>
            <a:r>
              <a:rPr lang="en-US"/>
              <a:t>第四级</a:t>
            </a:r>
            <a:endParaRPr lang="en-US"/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00D77E9-5805-4003-AF46-590DFDEAE27A}" type="datetime1">
              <a:rPr lang="zh-CN" alt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4B7E4EF-A1BD-40F4-AB7B-04F084DD991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一张显示了织物、桌子、红色和覆盖物的图片&#10;&#10;说明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长方形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长方形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4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分治法</a:t>
            </a:r>
            <a:br>
              <a:rPr lang="en-US" altLang="zh-CN" sz="4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4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活学活用</a:t>
            </a:r>
            <a:endParaRPr lang="en-US" sz="4400" b="1" dirty="0">
              <a:solidFill>
                <a:schemeClr val="tx1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北邮</a:t>
            </a:r>
            <a:r>
              <a:rPr lang="en-US" altLang="zh-CN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•</a:t>
            </a:r>
            <a:r>
              <a:rPr lang="zh-CN" altLang="en-US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计算机学院</a:t>
            </a:r>
            <a:r>
              <a:rPr lang="en-US" altLang="zh-CN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•</a:t>
            </a:r>
            <a:r>
              <a:rPr lang="zh-CN" altLang="en-US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王晓茹</a:t>
            </a:r>
            <a:endParaRPr lang="en-US" b="1" dirty="0">
              <a:solidFill>
                <a:schemeClr val="tx1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给定两个升序数组，如何找出这两个数组归并后的新升序数组的中位数？</a:t>
            </a:r>
            <a:endParaRPr lang="zh-CN" altLang="en-US" sz="400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629156" y="4682060"/>
            <a:ext cx="8939784" cy="771448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烧脑问题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：如何求两个数组的中位数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E57809-0EA1-4261-AE7A-8956509DBB23}" type="datetime1">
              <a:rPr lang="zh-CN" alt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048" y="389744"/>
            <a:ext cx="6453318" cy="222163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61" y="3016112"/>
            <a:ext cx="5964091" cy="26809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52" y="4246623"/>
            <a:ext cx="5058779" cy="21133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452" y="371048"/>
            <a:ext cx="5369028" cy="196741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52" y="2589096"/>
            <a:ext cx="5961358" cy="21477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537" y="3032072"/>
            <a:ext cx="5102184" cy="192967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638269" y="5456420"/>
            <a:ext cx="8094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直接归并求去中位数？ </a:t>
            </a:r>
            <a:endParaRPr lang="en-US" altLang="zh-CN" sz="2400" b="1" dirty="0"/>
          </a:p>
          <a:p>
            <a:r>
              <a:rPr lang="zh-CN" altLang="en-US" sz="2400" b="1" dirty="0"/>
              <a:t>复杂度为</a:t>
            </a:r>
            <a:r>
              <a:rPr lang="en-US" altLang="zh-CN" sz="2400" b="1" dirty="0"/>
              <a:t>O(</a:t>
            </a:r>
            <a:r>
              <a:rPr lang="en-US" altLang="zh-CN" sz="2400" b="1" dirty="0" err="1"/>
              <a:t>m+n</a:t>
            </a:r>
            <a:r>
              <a:rPr lang="en-US" altLang="zh-CN" sz="2400" b="1" dirty="0"/>
              <a:t>), m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分别是两个数组的长度。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58300"/>
          <a:stretch>
            <a:fillRect/>
          </a:stretch>
        </p:blipFill>
        <p:spPr>
          <a:xfrm>
            <a:off x="404495" y="471805"/>
            <a:ext cx="5592445" cy="25793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7798" b="48579"/>
          <a:stretch>
            <a:fillRect/>
          </a:stretch>
        </p:blipFill>
        <p:spPr>
          <a:xfrm>
            <a:off x="6005830" y="471805"/>
            <a:ext cx="5803265" cy="25793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6725" y="3157855"/>
            <a:ext cx="5467985" cy="3338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ts val="3660"/>
              </a:lnSpc>
            </a:pPr>
            <a:r>
              <a:rPr lang="zh-CN" altLang="en-US" sz="2800" b="1">
                <a:solidFill>
                  <a:srgbClr val="C00000"/>
                </a:solidFill>
              </a:rPr>
              <a:t>对于偶数长度的数组</a:t>
            </a:r>
            <a:endParaRPr lang="zh-CN" altLang="en-US" sz="2800">
              <a:solidFill>
                <a:srgbClr val="C00000"/>
              </a:solidFill>
            </a:endParaRPr>
          </a:p>
          <a:p>
            <a:pPr indent="0" fontAlgn="auto">
              <a:lnSpc>
                <a:spcPts val="3660"/>
              </a:lnSpc>
            </a:pPr>
            <a:r>
              <a:rPr lang="zh-CN" altLang="en-US" sz="2800"/>
              <a:t>可以根据中位数分成长度相等的两部分</a:t>
            </a:r>
            <a:r>
              <a:rPr lang="en-US" altLang="zh-CN" sz="2800"/>
              <a:t>:</a:t>
            </a:r>
            <a:endParaRPr lang="en-US" altLang="zh-CN" sz="2800"/>
          </a:p>
          <a:p>
            <a:pPr marL="285750" indent="-285750" fontAlgn="auto">
              <a:lnSpc>
                <a:spcPts val="3660"/>
              </a:lnSpc>
              <a:buFont typeface="Arial" panose="02080604020202020204" pitchFamily="34" charset="0"/>
              <a:buChar char="•"/>
            </a:pPr>
            <a:r>
              <a:rPr lang="zh-CN" altLang="en-US" sz="2800"/>
              <a:t>左半部分的最大元素</a:t>
            </a:r>
            <a:r>
              <a:rPr lang="en-US" altLang="zh-CN" sz="2800"/>
              <a:t>(6)</a:t>
            </a:r>
            <a:r>
              <a:rPr lang="zh-CN" altLang="en-US" sz="2800"/>
              <a:t>，永远</a:t>
            </a:r>
            <a:r>
              <a:rPr lang="zh-CN" altLang="en-US" sz="2800" b="1">
                <a:solidFill>
                  <a:srgbClr val="00B0F0"/>
                </a:solidFill>
              </a:rPr>
              <a:t>小于或等于</a:t>
            </a:r>
            <a:r>
              <a:rPr lang="zh-CN" altLang="en-US" sz="2800"/>
              <a:t>右半部分的最小元素</a:t>
            </a:r>
            <a:r>
              <a:rPr lang="en-US" altLang="zh-CN" sz="2800"/>
              <a:t>(7)</a:t>
            </a:r>
            <a:r>
              <a:rPr lang="zh-CN" altLang="en-US" sz="2800"/>
              <a:t>。</a:t>
            </a:r>
            <a:endParaRPr lang="zh-CN" altLang="en-US" sz="2800"/>
          </a:p>
          <a:p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6052820" y="3157855"/>
            <a:ext cx="5756910" cy="3286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ts val="3560"/>
              </a:lnSpc>
            </a:pPr>
            <a:r>
              <a:rPr lang="zh-CN" altLang="en-US" sz="2800" b="1">
                <a:solidFill>
                  <a:srgbClr val="C00000"/>
                </a:solidFill>
              </a:rPr>
              <a:t>对于奇数长度的数组</a:t>
            </a:r>
            <a:endParaRPr lang="zh-CN" altLang="en-US" sz="2800"/>
          </a:p>
          <a:p>
            <a:pPr indent="0" fontAlgn="auto">
              <a:lnSpc>
                <a:spcPts val="3560"/>
              </a:lnSpc>
            </a:pPr>
            <a:r>
              <a:rPr lang="zh-CN" altLang="en-US" sz="2800"/>
              <a:t>可以根据中位数分成两部分：</a:t>
            </a:r>
            <a:endParaRPr lang="zh-CN" altLang="en-US" sz="2800"/>
          </a:p>
          <a:p>
            <a:pPr indent="0" fontAlgn="auto">
              <a:lnSpc>
                <a:spcPts val="3560"/>
              </a:lnSpc>
            </a:pPr>
            <a:r>
              <a:rPr lang="zh-CN" altLang="en-US" sz="2800"/>
              <a:t>奇数长度的数组，如果把中位数本身归入左半部分，则左半边长度=右半边长度+1。</a:t>
            </a:r>
            <a:endParaRPr lang="zh-CN" altLang="en-US" sz="2800"/>
          </a:p>
          <a:p>
            <a:pPr indent="0" fontAlgn="auto">
              <a:lnSpc>
                <a:spcPts val="3560"/>
              </a:lnSpc>
            </a:pPr>
            <a:r>
              <a:rPr lang="zh-CN" altLang="en-US" sz="2800"/>
              <a:t>左半部分的最大元素(5),永远</a:t>
            </a:r>
            <a:r>
              <a:rPr lang="zh-CN" altLang="en-US" sz="2800" b="1">
                <a:solidFill>
                  <a:srgbClr val="00B0F0"/>
                </a:solidFill>
              </a:rPr>
              <a:t>小于或等于</a:t>
            </a:r>
            <a:r>
              <a:rPr lang="zh-CN" altLang="en-US" sz="2800"/>
              <a:t>右半部分的最小元素</a:t>
            </a:r>
            <a:endParaRPr lang="zh-CN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50000"/>
          <a:stretch>
            <a:fillRect/>
          </a:stretch>
        </p:blipFill>
        <p:spPr>
          <a:xfrm>
            <a:off x="408305" y="1492250"/>
            <a:ext cx="6146800" cy="3005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679565" y="1327150"/>
            <a:ext cx="509841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 fontAlgn="auto">
              <a:lnSpc>
                <a:spcPts val="3840"/>
              </a:lnSpc>
            </a:pPr>
            <a:r>
              <a:rPr lang="zh-CN" altLang="en-US" sz="3200" b="1"/>
              <a:t>原始数组</a:t>
            </a:r>
            <a:r>
              <a:rPr lang="en-US" altLang="zh-CN" sz="3200" b="1"/>
              <a:t>A</a:t>
            </a:r>
            <a:r>
              <a:rPr lang="zh-CN" altLang="en-US" sz="3200" b="1"/>
              <a:t>和数组</a:t>
            </a:r>
            <a:r>
              <a:rPr lang="en-US" altLang="zh-CN" sz="3200" b="1"/>
              <a:t>B</a:t>
            </a:r>
            <a:endParaRPr lang="en-US" altLang="zh-CN" sz="3200" b="1"/>
          </a:p>
          <a:p>
            <a:pPr indent="0" algn="just" fontAlgn="auto">
              <a:lnSpc>
                <a:spcPts val="3840"/>
              </a:lnSpc>
            </a:pPr>
            <a:r>
              <a:rPr lang="zh-CN" altLang="en-US" sz="3200" b="1"/>
              <a:t>各自分成绿色和橙色两部分：</a:t>
            </a:r>
            <a:endParaRPr lang="zh-CN" altLang="en-US" sz="3200" b="1"/>
          </a:p>
          <a:p>
            <a:pPr marL="457200" indent="-457200" algn="just" fontAlgn="auto">
              <a:lnSpc>
                <a:spcPts val="3840"/>
              </a:lnSpc>
              <a:buFont typeface="Arial" panose="02080604020202020204" pitchFamily="34" charset="0"/>
              <a:buChar char="•"/>
            </a:pPr>
            <a:r>
              <a:rPr lang="zh-CN" altLang="en-US" sz="3200" b="1">
                <a:solidFill>
                  <a:srgbClr val="00B050"/>
                </a:solidFill>
              </a:rPr>
              <a:t>数值较小的绿色元素</a:t>
            </a:r>
            <a:r>
              <a:rPr lang="zh-CN" altLang="en-US" sz="3200" b="1"/>
              <a:t>组成了大数组的</a:t>
            </a:r>
            <a:r>
              <a:rPr lang="zh-CN" altLang="en-US" sz="3200" b="1">
                <a:solidFill>
                  <a:srgbClr val="00B050"/>
                </a:solidFill>
              </a:rPr>
              <a:t>左半</a:t>
            </a:r>
            <a:r>
              <a:rPr lang="zh-CN" altLang="en-US" sz="3200" b="1"/>
              <a:t>部分，</a:t>
            </a:r>
            <a:endParaRPr lang="zh-CN" altLang="en-US" sz="3200" b="1"/>
          </a:p>
          <a:p>
            <a:pPr marL="457200" indent="-457200" algn="just" fontAlgn="auto">
              <a:lnSpc>
                <a:spcPts val="3840"/>
              </a:lnSpc>
              <a:buFont typeface="Arial" panose="02080604020202020204" pitchFamily="34" charset="0"/>
              <a:buChar char="•"/>
            </a:pPr>
            <a:r>
              <a:rPr lang="zh-CN" altLang="en-US" sz="3200" b="1">
                <a:solidFill>
                  <a:schemeClr val="accent4">
                    <a:lumMod val="75000"/>
                  </a:schemeClr>
                </a:solidFill>
              </a:rPr>
              <a:t>数值较大的橙色元素</a:t>
            </a:r>
            <a:r>
              <a:rPr lang="zh-CN" altLang="en-US" sz="3200" b="1"/>
              <a:t>组成了大数组的</a:t>
            </a:r>
            <a:r>
              <a:rPr lang="zh-CN" altLang="en-US" sz="3200" b="1">
                <a:solidFill>
                  <a:schemeClr val="accent4">
                    <a:lumMod val="75000"/>
                  </a:schemeClr>
                </a:solidFill>
              </a:rPr>
              <a:t>右半</a:t>
            </a:r>
            <a:r>
              <a:rPr lang="zh-CN" altLang="en-US" sz="3200" b="1"/>
              <a:t>部分。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835" y="1746250"/>
            <a:ext cx="5107940" cy="22675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69570" y="398780"/>
            <a:ext cx="6094095" cy="603123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 indent="0" algn="just" fontAlgn="auto">
              <a:lnSpc>
                <a:spcPts val="3660"/>
              </a:lnSpc>
            </a:pPr>
            <a:r>
              <a:rPr lang="zh-CN" altLang="en-US" sz="2800"/>
              <a:t>最重要的是</a:t>
            </a:r>
            <a:r>
              <a:rPr lang="en-US" altLang="zh-CN" sz="2800">
                <a:sym typeface="+mn-ea"/>
              </a:rPr>
              <a:t>(</a:t>
            </a:r>
            <a:r>
              <a:rPr lang="zh-CN" altLang="en-US" sz="2800">
                <a:sym typeface="+mn-ea"/>
              </a:rPr>
              <a:t>偶数情况</a:t>
            </a:r>
            <a:r>
              <a:rPr lang="en-US" altLang="zh-CN" sz="2800">
                <a:sym typeface="+mn-ea"/>
              </a:rPr>
              <a:t>)</a:t>
            </a:r>
            <a:r>
              <a:rPr lang="zh-CN" altLang="en-US" sz="2800"/>
              <a:t>：</a:t>
            </a:r>
            <a:endParaRPr lang="zh-CN" altLang="en-US" sz="2800"/>
          </a:p>
          <a:p>
            <a:pPr marL="457200" indent="-457200" algn="just" fontAlgn="auto">
              <a:lnSpc>
                <a:spcPts val="3660"/>
              </a:lnSpc>
              <a:buFont typeface="Arial" panose="02080604020202020204" pitchFamily="34" charset="0"/>
              <a:buChar char="•"/>
            </a:pPr>
            <a:r>
              <a:rPr lang="zh-CN" altLang="en-US" sz="2800" b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</a:rPr>
              <a:t>绿色</a:t>
            </a:r>
            <a:r>
              <a:rPr lang="zh-CN" altLang="en-US" sz="2800"/>
              <a:t>元素和</a:t>
            </a:r>
            <a:r>
              <a:rPr lang="zh-CN" altLang="en-US" sz="2800" b="1">
                <a:solidFill>
                  <a:schemeClr val="accent4">
                    <a:lumMod val="75000"/>
                  </a:schemeClr>
                </a:solidFill>
              </a:rPr>
              <a:t>橙色</a:t>
            </a:r>
            <a:r>
              <a:rPr lang="zh-CN" altLang="en-US" sz="2800"/>
              <a:t>元素的</a:t>
            </a:r>
            <a:r>
              <a:rPr lang="zh-CN" altLang="en-US" sz="28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数量相</a:t>
            </a:r>
            <a:endParaRPr lang="zh-CN" altLang="en-US" sz="28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457200" indent="-457200" algn="just" fontAlgn="auto">
              <a:lnSpc>
                <a:spcPts val="3660"/>
              </a:lnSpc>
              <a:buFont typeface="Arial" panose="02080604020202020204" pitchFamily="34" charset="0"/>
              <a:buChar char="•"/>
            </a:pPr>
            <a:r>
              <a:rPr lang="zh-CN" altLang="en-US" sz="2800"/>
              <a:t>最大的绿色元素</a:t>
            </a:r>
            <a:r>
              <a:rPr lang="zh-CN" altLang="en-US" sz="28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小于或等于</a:t>
            </a:r>
            <a:r>
              <a:rPr lang="zh-CN" altLang="en-US" sz="2800"/>
              <a:t>最小的橙色元素。</a:t>
            </a:r>
            <a:endParaRPr lang="zh-CN" altLang="en-US" sz="2800"/>
          </a:p>
          <a:p>
            <a:pPr indent="0" algn="just" fontAlgn="auto">
              <a:lnSpc>
                <a:spcPts val="3660"/>
              </a:lnSpc>
            </a:pPr>
            <a:r>
              <a:rPr lang="zh-CN" altLang="en-US" sz="2800"/>
              <a:t>假设数组</a:t>
            </a:r>
            <a:r>
              <a:rPr lang="en-US" altLang="zh-CN" sz="2800"/>
              <a:t>A</a:t>
            </a:r>
            <a:r>
              <a:rPr lang="zh-CN" altLang="en-US" sz="2800"/>
              <a:t>的长度是</a:t>
            </a:r>
            <a:r>
              <a:rPr lang="en-US" altLang="zh-CN" sz="2800"/>
              <a:t>m,</a:t>
            </a:r>
            <a:endParaRPr lang="en-US" altLang="zh-CN" sz="2800"/>
          </a:p>
          <a:p>
            <a:pPr marL="457200" indent="-457200" algn="just" fontAlgn="auto">
              <a:lnSpc>
                <a:spcPts val="3660"/>
              </a:lnSpc>
              <a:buFont typeface="Arial" panose="02080604020202020204" pitchFamily="34" charset="0"/>
              <a:buChar char="•"/>
            </a:pPr>
            <a:r>
              <a:rPr lang="zh-CN" altLang="en-US" sz="2800" b="1"/>
              <a:t>绿色和橙色元素的分界点是</a:t>
            </a:r>
            <a:r>
              <a:rPr lang="en-US" altLang="zh-CN" sz="28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i</a:t>
            </a:r>
            <a:r>
              <a:rPr lang="en-US" altLang="zh-CN" sz="2800" b="1"/>
              <a:t>,</a:t>
            </a:r>
            <a:endParaRPr lang="en-US" altLang="zh-CN" sz="2800"/>
          </a:p>
          <a:p>
            <a:pPr indent="0" algn="just" fontAlgn="auto">
              <a:lnSpc>
                <a:spcPts val="3660"/>
              </a:lnSpc>
            </a:pPr>
            <a:r>
              <a:rPr lang="zh-CN" altLang="en-US" sz="2800"/>
              <a:t>数组</a:t>
            </a:r>
            <a:r>
              <a:rPr lang="en-US" altLang="zh-CN" sz="2800"/>
              <a:t>B</a:t>
            </a:r>
            <a:r>
              <a:rPr lang="zh-CN" altLang="en-US" sz="2800"/>
              <a:t>的长度是</a:t>
            </a:r>
            <a:r>
              <a:rPr lang="en-US" altLang="zh-CN" sz="2800"/>
              <a:t>n,</a:t>
            </a:r>
            <a:endParaRPr lang="en-US" altLang="zh-CN" sz="2800"/>
          </a:p>
          <a:p>
            <a:pPr marL="457200" indent="-457200" algn="just" fontAlgn="auto">
              <a:lnSpc>
                <a:spcPts val="3660"/>
              </a:lnSpc>
              <a:buFont typeface="Arial" panose="02080604020202020204" pitchFamily="34" charset="0"/>
              <a:buChar char="•"/>
            </a:pPr>
            <a:r>
              <a:rPr lang="zh-CN" altLang="en-US" sz="2800"/>
              <a:t>绿色和橙色元素的分界点是</a:t>
            </a:r>
            <a:r>
              <a:rPr lang="en-US" altLang="zh-CN" sz="2800" b="1">
                <a:solidFill>
                  <a:schemeClr val="accent4">
                    <a:lumMod val="75000"/>
                  </a:schemeClr>
                </a:solidFill>
              </a:rPr>
              <a:t>j</a:t>
            </a:r>
            <a:r>
              <a:rPr lang="en-US" altLang="zh-CN" sz="2800"/>
              <a:t>,</a:t>
            </a:r>
            <a:endParaRPr lang="en-US" altLang="zh-CN" sz="2800"/>
          </a:p>
          <a:p>
            <a:pPr indent="0" algn="just" fontAlgn="auto">
              <a:lnSpc>
                <a:spcPts val="3660"/>
              </a:lnSpc>
            </a:pPr>
            <a:r>
              <a:rPr lang="zh-CN" altLang="en-US" sz="2800"/>
              <a:t>为了让大数组的左右两部分长度相等，则</a:t>
            </a:r>
            <a:r>
              <a:rPr lang="en-US" altLang="zh-CN" sz="2800"/>
              <a:t>i</a:t>
            </a:r>
            <a:r>
              <a:rPr lang="zh-CN" altLang="en-US" sz="2800"/>
              <a:t>和</a:t>
            </a:r>
            <a:r>
              <a:rPr lang="en-US" altLang="zh-CN" sz="2800"/>
              <a:t>j</a:t>
            </a:r>
            <a:r>
              <a:rPr lang="zh-CN" altLang="en-US" sz="2800"/>
              <a:t>需要符合如下两个条件：</a:t>
            </a:r>
            <a:endParaRPr lang="zh-CN" altLang="en-US" sz="2800"/>
          </a:p>
          <a:p>
            <a:pPr indent="0" algn="ctr" fontAlgn="auto">
              <a:lnSpc>
                <a:spcPts val="3660"/>
              </a:lnSpc>
            </a:pPr>
            <a:r>
              <a:rPr lang="en-US" altLang="zh-CN" sz="2800" b="1" i="1">
                <a:sym typeface="+mn-ea"/>
              </a:rPr>
              <a:t>i+j=(m+n+1)/2</a:t>
            </a:r>
            <a:endParaRPr lang="en-US" altLang="zh-CN" sz="2800" b="1" i="1">
              <a:sym typeface="+mn-ea"/>
            </a:endParaRPr>
          </a:p>
          <a:p>
            <a:pPr indent="0" algn="ctr" fontAlgn="auto">
              <a:lnSpc>
                <a:spcPts val="3660"/>
              </a:lnSpc>
            </a:pPr>
            <a:endParaRPr lang="en-US" altLang="zh-CN" sz="2800">
              <a:sym typeface="+mn-ea"/>
            </a:endParaRPr>
          </a:p>
          <a:p>
            <a:pPr indent="0" algn="ctr" fontAlgn="auto">
              <a:lnSpc>
                <a:spcPts val="3660"/>
              </a:lnSpc>
            </a:pPr>
            <a:r>
              <a:rPr lang="en-US" altLang="zh-CN" sz="2800" b="1">
                <a:sym typeface="+mn-ea"/>
              </a:rPr>
              <a:t>Max(A[i-1],B[j-1])&lt;=Min(A[i],B[j])</a:t>
            </a:r>
            <a:endParaRPr lang="en-US" altLang="zh-CN" sz="2800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75425" y="127889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4566" y="3927423"/>
            <a:ext cx="3684453" cy="24658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67" y="464695"/>
            <a:ext cx="5404736" cy="3308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598" y="464695"/>
            <a:ext cx="5608070" cy="3252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1" y="320948"/>
            <a:ext cx="4636001" cy="62161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7" y="505918"/>
            <a:ext cx="5830112" cy="218152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67" y="2990984"/>
            <a:ext cx="5830112" cy="34765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794" y="315251"/>
            <a:ext cx="4658946" cy="622749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740" y="2059849"/>
            <a:ext cx="6710763" cy="2738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663995" y="491494"/>
            <a:ext cx="7334444" cy="1022513"/>
            <a:chOff x="445451" y="476503"/>
            <a:chExt cx="10536120" cy="163306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5451" y="476503"/>
              <a:ext cx="6144482" cy="83831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4943" y="490091"/>
              <a:ext cx="4039164" cy="838317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5451" y="1328408"/>
              <a:ext cx="4391638" cy="78115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089" y="1366828"/>
              <a:ext cx="6144482" cy="724001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74" y="1578084"/>
            <a:ext cx="3695003" cy="478842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6341" y="1546571"/>
            <a:ext cx="3697350" cy="478842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7855" y="5375004"/>
            <a:ext cx="3295336" cy="8680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705" y="309820"/>
            <a:ext cx="5980494" cy="62383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94" y="2473377"/>
            <a:ext cx="5089801" cy="1418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在一个无序数组里有</a:t>
            </a:r>
            <a:r>
              <a:rPr lang="en-US" altLang="zh-CN" sz="3600" dirty="0"/>
              <a:t>99</a:t>
            </a:r>
            <a:r>
              <a:rPr lang="zh-CN" altLang="en-US" sz="3600" dirty="0"/>
              <a:t>个不重复的正整数，范围是</a:t>
            </a:r>
            <a:r>
              <a:rPr lang="en-US" altLang="zh-CN" sz="3600" dirty="0"/>
              <a:t>1~100</a:t>
            </a:r>
            <a:r>
              <a:rPr lang="zh-CN" altLang="en-US" sz="3600" dirty="0"/>
              <a:t>，唯独缺少</a:t>
            </a:r>
            <a:r>
              <a:rPr lang="en-US" altLang="zh-CN" sz="3600" dirty="0"/>
              <a:t>1</a:t>
            </a:r>
            <a:r>
              <a:rPr lang="zh-CN" altLang="en-US" sz="3600" dirty="0"/>
              <a:t>个数，这个数在</a:t>
            </a:r>
            <a:r>
              <a:rPr lang="en-US" altLang="zh-CN" sz="3600" dirty="0"/>
              <a:t>1~100</a:t>
            </a:r>
            <a:r>
              <a:rPr lang="zh-CN" altLang="en-US" sz="3600" dirty="0"/>
              <a:t>之间的整数。</a:t>
            </a:r>
            <a:br>
              <a:rPr lang="en-US" altLang="zh-CN" sz="3600" dirty="0"/>
            </a:br>
            <a:r>
              <a:rPr lang="zh-CN" altLang="en-US" sz="3600" dirty="0"/>
              <a:t>如何找出这个缺失的整数？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>
          <a:xfrm>
            <a:off x="1629156" y="4682060"/>
            <a:ext cx="8939784" cy="457202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烧脑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：寻找缺失的整数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E57809-0EA1-4261-AE7A-8956509DBB23}" type="datetime1">
              <a:rPr lang="zh-CN" alt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1C7C-6751-4636-8DE1-8458C05064A7}" type="datetime1">
              <a:rPr lang="en-US" altLang="zh-CN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814" y="399628"/>
            <a:ext cx="6656339" cy="2326061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1407459" y="2756643"/>
            <a:ext cx="7109012" cy="1866569"/>
            <a:chOff x="1709125" y="2919918"/>
            <a:chExt cx="8773749" cy="221010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9125" y="2919918"/>
              <a:ext cx="8773749" cy="14194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9125" y="4339341"/>
              <a:ext cx="8767135" cy="790685"/>
            </a:xfrm>
            <a:prstGeom prst="rect">
              <a:avLst/>
            </a:prstGeom>
          </p:spPr>
        </p:pic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176" y="4623213"/>
            <a:ext cx="8046138" cy="18699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626108" y="4243269"/>
            <a:ext cx="8939784" cy="771448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烧脑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>
                <a:solidFill>
                  <a:srgbClr val="FF0000"/>
                </a:solidFill>
              </a:rPr>
              <a:t>：把上题扩展一下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E57809-0EA1-4261-AE7A-8956509DBB23}" type="datetime1">
              <a:rPr lang="zh-CN" alt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929" y="2815490"/>
            <a:ext cx="9228918" cy="8784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779" y="372820"/>
            <a:ext cx="7993766" cy="6112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626108" y="4243269"/>
            <a:ext cx="8939784" cy="771448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烧脑</a:t>
            </a:r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r>
              <a:rPr lang="zh-CN" altLang="en-US" sz="2800" dirty="0">
                <a:solidFill>
                  <a:srgbClr val="FF0000"/>
                </a:solidFill>
              </a:rPr>
              <a:t>：把上题再扩展一下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E57809-0EA1-4261-AE7A-8956509DBB23}" type="datetime1">
              <a:rPr lang="zh-CN" alt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494" y="2614731"/>
            <a:ext cx="8507012" cy="7621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632" y="403295"/>
            <a:ext cx="8487960" cy="16766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705" y="2148804"/>
            <a:ext cx="8507012" cy="317226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705" y="5321072"/>
            <a:ext cx="8507012" cy="11336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90" y="410070"/>
            <a:ext cx="7065345" cy="40834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80018"/>
            <a:ext cx="7683910" cy="18679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9156" y="2095870"/>
            <a:ext cx="8933688" cy="2406895"/>
          </a:xfrm>
        </p:spPr>
        <p:txBody>
          <a:bodyPr>
            <a:noAutofit/>
          </a:bodyPr>
          <a:lstStyle/>
          <a:p>
            <a:pPr algn="just"/>
            <a:r>
              <a:rPr lang="zh-CN" altLang="en-US" sz="2400" dirty="0"/>
              <a:t>在某个农场里，农场主饲养了很多动物。某天，农场主的女儿拿着一个塑料动物（塑料小黄鸭）问农场主：“爸爸，这是什么动物？”农场主没有直接回答，而是提示他的女儿：“农场里有鸡、鸭、鹅、鸟、牛、马、羊、狗、猫，每种动物都有</a:t>
            </a:r>
            <a:r>
              <a:rPr lang="en-US" altLang="zh-CN" sz="2400" dirty="0"/>
              <a:t>10</a:t>
            </a:r>
            <a:r>
              <a:rPr lang="zh-CN" altLang="en-US" sz="2400" dirty="0"/>
              <a:t>只左右，你能根据这些动物确定你手里的塑料动物是什么吗？”</a:t>
            </a:r>
            <a:br>
              <a:rPr lang="zh-CN" altLang="en-US" sz="2400" dirty="0"/>
            </a:br>
            <a:r>
              <a:rPr lang="zh-CN" altLang="en-US" sz="2400" dirty="0"/>
              <a:t>请根据以上对话，编写一个算法，帮助农场主的小女儿确定拿着的塑料动物是小黄鸭吗？</a:t>
            </a:r>
            <a:endParaRPr lang="zh-CN" altLang="en-US" sz="24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39508" y="4682060"/>
            <a:ext cx="8939784" cy="771448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烧脑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： 神奇的</a:t>
            </a:r>
            <a:r>
              <a:rPr lang="en-US" altLang="zh-CN" dirty="0">
                <a:solidFill>
                  <a:srgbClr val="FF0000"/>
                </a:solidFill>
              </a:rPr>
              <a:t>KNN</a:t>
            </a:r>
            <a:r>
              <a:rPr lang="zh-CN" altLang="en-US" dirty="0">
                <a:solidFill>
                  <a:srgbClr val="FF0000"/>
                </a:solidFill>
              </a:rPr>
              <a:t>分类算法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2116978" y="396642"/>
            <a:ext cx="8540750" cy="966787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Nearest Neighbor Classifiers</a:t>
            </a:r>
            <a:endParaRPr lang="en-US" dirty="0">
              <a:ea typeface="+mj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120153" y="1322947"/>
            <a:ext cx="8153400" cy="449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b="1" kern="120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000" b="1" kern="120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000" b="1" kern="120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000" b="1" kern="120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000" b="1" kern="120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Hannotate SC Regular" charset="-122"/>
              </a:rPr>
              <a:t>Basic idea:</a:t>
            </a:r>
            <a:endParaRPr lang="en-US" altLang="zh-CN">
              <a:latin typeface="Hannotate SC Regular" charset="-122"/>
            </a:endParaRPr>
          </a:p>
          <a:p>
            <a:pPr lvl="1"/>
            <a:r>
              <a:rPr lang="en-US" altLang="zh-CN">
                <a:latin typeface="HanziPen SC Regular" charset="-122"/>
                <a:ea typeface="MS PGothic" panose="020B0600070205080204" pitchFamily="34" charset="-128"/>
              </a:rPr>
              <a:t>If it walks like a duck, quacks like a duck, then it</a:t>
            </a:r>
            <a:r>
              <a:rPr lang="ja-JP" altLang="en-US">
                <a:latin typeface="Arial" panose="02080604020202020204" pitchFamily="34" charset="0"/>
                <a:ea typeface="MS PGothic" panose="020B0600070205080204" pitchFamily="34" charset="-128"/>
              </a:rPr>
              <a:t>’</a:t>
            </a:r>
            <a:r>
              <a:rPr lang="en-US" altLang="ja-JP">
                <a:latin typeface="HanziPen SC Regular" charset="-122"/>
                <a:ea typeface="MS PGothic" panose="020B0600070205080204" pitchFamily="34" charset="-128"/>
              </a:rPr>
              <a:t>s probably a duck</a:t>
            </a:r>
            <a:endParaRPr lang="en-US" altLang="zh-CN" dirty="0">
              <a:latin typeface="HanziPen SC Regular" charset="-122"/>
              <a:ea typeface="MS PGothic" panose="020B0600070205080204" pitchFamily="34" charset="-128"/>
            </a:endParaRPr>
          </a:p>
        </p:txBody>
      </p:sp>
      <p:grpSp>
        <p:nvGrpSpPr>
          <p:cNvPr id="4" name="Group 4"/>
          <p:cNvGrpSpPr/>
          <p:nvPr/>
        </p:nvGrpSpPr>
        <p:grpSpPr bwMode="auto">
          <a:xfrm>
            <a:off x="2043953" y="3115235"/>
            <a:ext cx="8229600" cy="3429000"/>
            <a:chOff x="192" y="1776"/>
            <a:chExt cx="5184" cy="2160"/>
          </a:xfrm>
        </p:grpSpPr>
        <p:pic>
          <p:nvPicPr>
            <p:cNvPr id="5" name="Picture 5" descr="j0345807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160"/>
              <a:ext cx="528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74997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6" name="Picture 6" descr="j0239589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6" y="2640"/>
              <a:ext cx="720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74997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7" name="Picture 7" descr="j035038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1968"/>
              <a:ext cx="44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74997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8" name="Picture 8" descr="j033063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976"/>
              <a:ext cx="373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74997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9" name="Picture 9" descr="j035038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10" descr="j035035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448"/>
              <a:ext cx="720" cy="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74997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80604020202020204" pitchFamily="34" charset="0"/>
                <a:ea typeface="MS PGothic" charset="0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latin typeface="Arial" panose="02080604020202020204" pitchFamily="34" charset="0"/>
                  <a:ea typeface="MS PGothic" charset="0"/>
                </a:rPr>
                <a:t>Training Records</a:t>
              </a:r>
              <a:endParaRPr lang="en-US" sz="1800">
                <a:latin typeface="Arial" panose="02080604020202020204" pitchFamily="34" charset="0"/>
                <a:ea typeface="MS PGothic" charset="0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800">
                  <a:latin typeface="Arial" panose="02080604020202020204" pitchFamily="34" charset="0"/>
                  <a:ea typeface="MS PGothic" charset="0"/>
                </a:rPr>
                <a:t>Test Record</a:t>
              </a:r>
              <a:endParaRPr lang="en-US" sz="1800">
                <a:latin typeface="Arial" panose="02080604020202020204" pitchFamily="34" charset="0"/>
                <a:ea typeface="MS PGothic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4406153" y="3343835"/>
            <a:ext cx="4572000" cy="2286000"/>
            <a:chOff x="1680" y="1920"/>
            <a:chExt cx="2880" cy="1440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800">
                  <a:latin typeface="Arial" panose="02080604020202020204" pitchFamily="34" charset="0"/>
                  <a:ea typeface="MS PGothic" charset="0"/>
                </a:rPr>
                <a:t>Compute Distance</a:t>
              </a:r>
              <a:endParaRPr lang="en-US" sz="1800">
                <a:latin typeface="Arial" panose="02080604020202020204" pitchFamily="34" charset="0"/>
                <a:ea typeface="MS PGothic" charset="0"/>
              </a:endParaRPr>
            </a:p>
          </p:txBody>
        </p:sp>
        <p:grpSp>
          <p:nvGrpSpPr>
            <p:cNvPr id="16" name="Group 16"/>
            <p:cNvGrpSpPr/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17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anose="02080604020202020204" pitchFamily="34" charset="0"/>
                  <a:ea typeface="MS PGothic" charset="0"/>
                </a:endParaRPr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anose="02080604020202020204" pitchFamily="34" charset="0"/>
                  <a:ea typeface="MS PGothic" charset="0"/>
                </a:endParaRPr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anose="02080604020202020204" pitchFamily="34" charset="0"/>
                  <a:ea typeface="MS PGothic" charset="0"/>
                </a:endParaRPr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anose="02080604020202020204" pitchFamily="34" charset="0"/>
                  <a:ea typeface="MS PGothic" charset="0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anose="0208060402020202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22" name="Group 22"/>
          <p:cNvGrpSpPr/>
          <p:nvPr/>
        </p:nvGrpSpPr>
        <p:grpSpPr bwMode="auto">
          <a:xfrm>
            <a:off x="5777753" y="4867835"/>
            <a:ext cx="3352800" cy="1327150"/>
            <a:chOff x="2544" y="2880"/>
            <a:chExt cx="2112" cy="836"/>
          </a:xfrm>
        </p:grpSpPr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8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/>
                <a:t>Choose k of the </a:t>
              </a:r>
              <a:r>
                <a:rPr lang="ja-JP" altLang="en-US" sz="1800"/>
                <a:t>“</a:t>
              </a:r>
              <a:r>
                <a:rPr lang="en-US" altLang="ja-JP" sz="1800"/>
                <a:t>nearest</a:t>
              </a:r>
              <a:r>
                <a:rPr lang="ja-JP" altLang="en-US" sz="1800"/>
                <a:t>”</a:t>
              </a:r>
              <a:r>
                <a:rPr lang="en-US" altLang="ja-JP" sz="1800"/>
                <a:t> records</a:t>
              </a:r>
              <a:endParaRPr lang="en-US" altLang="zh-CN" sz="1800"/>
            </a:p>
          </p:txBody>
        </p:sp>
        <p:grpSp>
          <p:nvGrpSpPr>
            <p:cNvPr id="24" name="Group 24"/>
            <p:cNvGrpSpPr/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anose="02080604020202020204" pitchFamily="34" charset="0"/>
                  <a:ea typeface="MS PGothic" charset="0"/>
                </a:endParaRPr>
              </a:p>
            </p:txBody>
          </p:sp>
          <p:sp>
            <p:nvSpPr>
              <p:cNvPr id="26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anose="02080604020202020204" pitchFamily="34" charset="0"/>
                  <a:ea typeface="MS PGothic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燃烧吧！大脑！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{F69ECFF7-BFE8-48BF-98EB-ABE94501DB35}tf56410444_win32</Template>
  <TotalTime>0</TotalTime>
  <Words>980</Words>
  <Application>WPS 演示</Application>
  <PresentationFormat>宽屏</PresentationFormat>
  <Paragraphs>77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8" baseType="lpstr">
      <vt:lpstr>Arial</vt:lpstr>
      <vt:lpstr>宋体</vt:lpstr>
      <vt:lpstr>Wingdings</vt:lpstr>
      <vt:lpstr>Microsoft YaHei UI</vt:lpstr>
      <vt:lpstr>Noto Sans CJK JP</vt:lpstr>
      <vt:lpstr>Garamond</vt:lpstr>
      <vt:lpstr>鸿蒙黑体</vt:lpstr>
      <vt:lpstr>华文仿宋</vt:lpstr>
      <vt:lpstr>仿宋-简</vt:lpstr>
      <vt:lpstr>Avenir Next LT Pro</vt:lpstr>
      <vt:lpstr>微软雅黑</vt:lpstr>
      <vt:lpstr>方正雅意黑 GB18030L2 R</vt:lpstr>
      <vt:lpstr>Hannotate SC Regular</vt:lpstr>
      <vt:lpstr>HanziPen SC Regular</vt:lpstr>
      <vt:lpstr>MS PGothic</vt:lpstr>
      <vt:lpstr>MS PGothic</vt:lpstr>
      <vt:lpstr>宋体</vt:lpstr>
      <vt:lpstr>Arial Unicode MS</vt:lpstr>
      <vt:lpstr>Calibri</vt:lpstr>
      <vt:lpstr>FT Thymes</vt:lpstr>
      <vt:lpstr>等线</vt:lpstr>
      <vt:lpstr>方正等线-简</vt:lpstr>
      <vt:lpstr>书宋-简</vt:lpstr>
      <vt:lpstr>FTToken</vt:lpstr>
      <vt:lpstr>Avenir Next LT Pro Light</vt:lpstr>
      <vt:lpstr>SavonVTI</vt:lpstr>
      <vt:lpstr>分治法 活学活用</vt:lpstr>
      <vt:lpstr>给定两个升序数组，如何找出这两个数组归并后的新升序数组的中位数？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在一个无序数组里有99个不重复的正整数，范围是1~100，唯独缺少1个数，这个数在1~100之间的整数。 如何找出这个缺失的整数？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在某个农场里，农场主饲养了很多动物。某天，农场主的女儿拿着一个塑料动物（塑料小黄鸭）问农场主：“爸爸，这是什么动物？”农场主没有直接回答，而是提示他的女儿：“农场里有鸡、鸭、鹅、鸟、牛、马、羊、狗、猫，每种动物都有10只左右，你能根据这些动物确定你手里的塑料动物是什么吗？” 请根据以上对话，编写一个算法，帮助农场主的小女儿确定拿着的塑料动物是小黄鸭吗？</vt:lpstr>
      <vt:lpstr>Nearest Neighbor Classifiers</vt:lpstr>
      <vt:lpstr>燃烧吧！大脑！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分治法 活学活用</dc:title>
  <dc:creator>yyxxyy</dc:creator>
  <cp:lastModifiedBy>王晓茹</cp:lastModifiedBy>
  <cp:revision>22</cp:revision>
  <dcterms:created xsi:type="dcterms:W3CDTF">2025-10-24T00:49:54Z</dcterms:created>
  <dcterms:modified xsi:type="dcterms:W3CDTF">2025-10-24T00:49:54Z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AE3C07EB00CCBEE8C161FA6829495D66_42</vt:lpwstr>
  </property>
  <property fmtid="{D5CDD505-2E9C-101B-9397-08002B2CF9AE}" pid="3" name="KSOProductBuildVer">
    <vt:lpwstr>2052-12.1.3.23132</vt:lpwstr>
  </property>
</Properties>
</file>