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8" r:id="rId1"/>
  </p:sldMasterIdLst>
  <p:notesMasterIdLst>
    <p:notesMasterId r:id="rId6"/>
  </p:notesMasterIdLst>
  <p:sldIdLst>
    <p:sldId id="394" r:id="rId2"/>
    <p:sldId id="399" r:id="rId3"/>
    <p:sldId id="400" r:id="rId4"/>
    <p:sldId id="401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5833" autoAdjust="0"/>
  </p:normalViewPr>
  <p:slideViewPr>
    <p:cSldViewPr snapToGrid="0" showGuides="1">
      <p:cViewPr varScale="1">
        <p:scale>
          <a:sx n="75" d="100"/>
          <a:sy n="75" d="100"/>
        </p:scale>
        <p:origin x="40" y="28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8" d="100"/>
          <a:sy n="68" d="100"/>
        </p:scale>
        <p:origin x="2808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36CE1C-7C47-4A4F-A52B-6122212AAF5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6C8093-EA5F-4B89-833D-A959DBC10B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206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6C8093-EA5F-4B89-833D-A959DBC10BD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2184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6C8093-EA5F-4B89-833D-A959DBC10BD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515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6C8093-EA5F-4B89-833D-A959DBC10BD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07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00EB8-8762-5E1E-8B19-24B549406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CA67080-72D0-4063-3B83-D8A22F79B3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A7D47A8-6318-4ACB-2D24-E9808C430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D5F382-0F62-F73F-910F-7AFA2D751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6C8093-EA5F-4B89-833D-A959DBC10BD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698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/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CF7052B4-D68C-4CDF-A534-9DC7C569DB7B}" type="datetime1">
              <a:rPr lang="en-US" altLang="zh-CN" smtClean="0"/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5221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6AC16187-D77E-4F77-9ABE-1149ADB470CA}" type="datetime1">
              <a:rPr lang="en-US" altLang="zh-CN" smtClean="0"/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 useBgFill="1">
        <p:nvSpPr>
          <p:cNvPr id="7" name="Rectangle 7">
            <a:extLst>
              <a:ext uri="{FF2B5EF4-FFF2-40B4-BE49-F238E27FC236}">
                <a16:creationId xmlns:a16="http://schemas.microsoft.com/office/drawing/2014/main" id="{4A7BFACF-6BDE-2FD1-E8E4-D81CAF563276}"/>
              </a:ext>
            </a:extLst>
          </p:cNvPr>
          <p:cNvSpPr/>
          <p:nvPr userDrawn="1"/>
        </p:nvSpPr>
        <p:spPr>
          <a:xfrm>
            <a:off x="558209" y="0"/>
            <a:ext cx="11633791" cy="1618247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9" name="Rectangle 9">
            <a:extLst>
              <a:ext uri="{FF2B5EF4-FFF2-40B4-BE49-F238E27FC236}">
                <a16:creationId xmlns:a16="http://schemas.microsoft.com/office/drawing/2014/main" id="{7E2805D1-A65E-2AE9-2973-B66915794941}"/>
              </a:ext>
            </a:extLst>
          </p:cNvPr>
          <p:cNvSpPr/>
          <p:nvPr userDrawn="1"/>
        </p:nvSpPr>
        <p:spPr>
          <a:xfrm>
            <a:off x="574165" y="0"/>
            <a:ext cx="11617835" cy="1552074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3CD04B44-676F-B272-CE45-56F82F66ED80}"/>
              </a:ext>
            </a:extLst>
          </p:cNvPr>
          <p:cNvSpPr/>
          <p:nvPr userDrawn="1"/>
        </p:nvSpPr>
        <p:spPr>
          <a:xfrm>
            <a:off x="510157" y="460089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83B5462-194F-1544-1830-70B1B56C5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9" y="212723"/>
            <a:ext cx="9772444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BE1242DE-3E2D-3889-22EE-E63C245EF0E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46" b="2711"/>
          <a:stretch/>
        </p:blipFill>
        <p:spPr bwMode="auto">
          <a:xfrm>
            <a:off x="10914455" y="288587"/>
            <a:ext cx="1097617" cy="1027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0680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02A54-803E-47A9-9469-637008E2E3B4}" type="datetime1">
              <a:rPr lang="en-US" altLang="zh-CN" smtClean="0"/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953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1E1E6C57-233F-42B7-9D36-68EBA1263D36}" type="datetime1">
              <a:rPr lang="en-US" altLang="zh-CN" smtClean="0"/>
              <a:t>11/17/2025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875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A5DFDC63-1EAF-4599-819E-88EBFA6CC404}" type="datetime1">
              <a:rPr lang="en-US" altLang="zh-CN" smtClean="0"/>
              <a:t>11/17/2025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681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D4649-F958-4A5E-9083-EC2463F1D56C}" type="datetime1">
              <a:rPr lang="en-US" altLang="zh-CN" smtClean="0"/>
              <a:t>11/17/2025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433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02D4-E06F-42FD-8473-3DC50E990388}" type="datetime1">
              <a:rPr lang="en-US" altLang="zh-CN" smtClean="0"/>
              <a:t>11/17/2025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534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134C000A-687E-4874-98BB-FB89ACF0C992}" type="datetime1">
              <a:rPr lang="en-US" altLang="zh-CN" smtClean="0"/>
              <a:t>11/17/2025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447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93FD8636-5BCC-49C3-92C5-0218458BE11B}" type="datetime1">
              <a:rPr lang="en-US" altLang="zh-CN" smtClean="0"/>
              <a:t>11/17/2025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755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B94BD-DCF6-4EF6-94A1-FCFB50254060}" type="datetime1">
              <a:rPr lang="en-US" altLang="zh-CN" smtClean="0"/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460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635-F520-4EFE-A140-EDA47F278C0E}" type="datetime1">
              <a:rPr lang="en-US" altLang="zh-CN" smtClean="0"/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567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200" spc="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FED83-33C4-4F3D-9B07-04DA74233E1C}" type="datetime1">
              <a:rPr lang="en-US" altLang="zh-CN" smtClean="0"/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ctr">
              <a:defRPr sz="1200" spc="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200" spc="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36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37" r:id="rId5"/>
    <p:sldLayoutId id="2147483742" r:id="rId6"/>
    <p:sldLayoutId id="2147483738" r:id="rId7"/>
    <p:sldLayoutId id="2147483739" r:id="rId8"/>
    <p:sldLayoutId id="2147483740" r:id="rId9"/>
    <p:sldLayoutId id="2147483741" r:id="rId10"/>
    <p:sldLayoutId id="2147483743" r:id="rId11"/>
  </p:sldLayoutIdLst>
  <p:hf hdr="0" ftr="0" dt="0"/>
  <p:txStyles>
    <p:titleStyle>
      <a:lvl1pPr algn="l" defTabSz="914400" rtl="0" eaLnBrk="1" latinLnBrk="0" hangingPunct="1">
        <a:lnSpc>
          <a:spcPct val="105000"/>
        </a:lnSpc>
        <a:spcBef>
          <a:spcPct val="0"/>
        </a:spcBef>
        <a:buNone/>
        <a:defRPr sz="4400" b="1" kern="1200" spc="17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600" kern="1200" spc="14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200" kern="1200" spc="14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spc="14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14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14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s://bj.lianjia.com/ershoufang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ovie.douban.com/top250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ucloud.bupt.edu.cn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D0E573-0EBA-43CA-8238-5954E7877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A74FB8F2-E1FD-272F-E764-A7A4239CF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小作业</a:t>
            </a:r>
            <a:r>
              <a:rPr lang="en-US" altLang="zh-CN" dirty="0"/>
              <a:t>(1)</a:t>
            </a:r>
            <a:r>
              <a:rPr lang="zh-CN" altLang="en-US" dirty="0"/>
              <a:t> 数据获取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B3DB4A7-AC93-FCD3-2869-1A8A41D617F1}"/>
              </a:ext>
            </a:extLst>
          </p:cNvPr>
          <p:cNvSpPr txBox="1"/>
          <p:nvPr/>
        </p:nvSpPr>
        <p:spPr>
          <a:xfrm>
            <a:off x="1115569" y="2082709"/>
            <a:ext cx="10375150" cy="1446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spcAft>
                <a:spcPts val="1200"/>
              </a:spcAft>
            </a:pPr>
            <a:r>
              <a:rPr lang="zh-CN" altLang="en-US" sz="2800" spc="-35" dirty="0">
                <a:latin typeface="等线"/>
                <a:cs typeface="等线"/>
              </a:rPr>
              <a:t>本次作业含两组题目，请同学们任选其中一组完成。</a:t>
            </a:r>
            <a:endParaRPr lang="en-US" altLang="zh-CN" sz="2800" spc="-35" dirty="0">
              <a:latin typeface="等线"/>
              <a:cs typeface="等线"/>
            </a:endParaRPr>
          </a:p>
          <a:p>
            <a:pPr marL="12700">
              <a:spcAft>
                <a:spcPts val="1200"/>
              </a:spcAft>
            </a:pPr>
            <a:r>
              <a:rPr lang="zh-CN" altLang="en-US" sz="2800" dirty="0">
                <a:latin typeface="等线"/>
                <a:cs typeface="等线"/>
              </a:rPr>
              <a:t>两组题目满分均为</a:t>
            </a:r>
            <a:r>
              <a:rPr lang="en-US" altLang="zh-CN" sz="2800" dirty="0">
                <a:latin typeface="等线"/>
                <a:cs typeface="等线"/>
              </a:rPr>
              <a:t>10</a:t>
            </a:r>
            <a:r>
              <a:rPr lang="zh-CN" altLang="en-US" sz="2800" dirty="0">
                <a:latin typeface="等线"/>
                <a:cs typeface="等线"/>
              </a:rPr>
              <a:t>分。同时完成两组题目的同学以第一组题目得分作为本次作业成绩，不以两组题目的最高得分作为作业成绩。</a:t>
            </a:r>
            <a:endParaRPr sz="2800" dirty="0">
              <a:latin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3944593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92A8E72-DEFB-DB2F-BD04-382E392B5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063" y="4903194"/>
            <a:ext cx="9558866" cy="1974031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D0E573-0EBA-43CA-8238-5954E7877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DC290C3B-2772-60F3-61CE-AD1220AD1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第一组</a:t>
            </a:r>
            <a:endParaRPr lang="zh-CN" altLang="en-US" dirty="0"/>
          </a:p>
        </p:txBody>
      </p:sp>
      <p:sp>
        <p:nvSpPr>
          <p:cNvPr id="19" name="object 3">
            <a:extLst>
              <a:ext uri="{FF2B5EF4-FFF2-40B4-BE49-F238E27FC236}">
                <a16:creationId xmlns:a16="http://schemas.microsoft.com/office/drawing/2014/main" id="{014DBCFE-000C-44C4-8689-4E22BB4D4C9F}"/>
              </a:ext>
            </a:extLst>
          </p:cNvPr>
          <p:cNvSpPr txBox="1"/>
          <p:nvPr/>
        </p:nvSpPr>
        <p:spPr>
          <a:xfrm>
            <a:off x="771323" y="1737876"/>
            <a:ext cx="11141274" cy="3093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spcAft>
                <a:spcPts val="1200"/>
              </a:spcAft>
            </a:pPr>
            <a:r>
              <a:rPr lang="zh-CN" altLang="en-US" sz="2800" spc="-35" dirty="0">
                <a:latin typeface="等线"/>
                <a:cs typeface="等线"/>
              </a:rPr>
              <a:t>任务：爬取北京链家官网二手房数据</a:t>
            </a:r>
            <a:endParaRPr sz="2800" dirty="0">
              <a:latin typeface="等线"/>
              <a:cs typeface="等线"/>
            </a:endParaRPr>
          </a:p>
          <a:p>
            <a:pPr marL="12700">
              <a:spcAft>
                <a:spcPts val="1200"/>
              </a:spcAft>
            </a:pPr>
            <a:r>
              <a:rPr sz="2800" spc="-20" dirty="0">
                <a:latin typeface="等线"/>
                <a:cs typeface="等线"/>
                <a:hlinkClick r:id="rId4"/>
              </a:rPr>
              <a:t>https://bj.lianjia.com/</a:t>
            </a:r>
            <a:r>
              <a:rPr lang="en-US" sz="2800" spc="-20" dirty="0">
                <a:latin typeface="等线"/>
                <a:cs typeface="等线"/>
                <a:hlinkClick r:id="rId4"/>
              </a:rPr>
              <a:t>ershoufang</a:t>
            </a:r>
            <a:r>
              <a:rPr sz="2800" spc="-15" dirty="0">
                <a:latin typeface="等线"/>
                <a:cs typeface="等线"/>
                <a:hlinkClick r:id="rId4"/>
              </a:rPr>
              <a:t>/</a:t>
            </a:r>
            <a:endParaRPr lang="en-US" altLang="zh-CN" sz="2800" spc="-15" dirty="0">
              <a:latin typeface="等线"/>
              <a:cs typeface="等线"/>
            </a:endParaRPr>
          </a:p>
          <a:p>
            <a:pPr marL="12700">
              <a:spcBef>
                <a:spcPts val="600"/>
              </a:spcBef>
              <a:spcAft>
                <a:spcPts val="1200"/>
              </a:spcAft>
            </a:pPr>
            <a:r>
              <a:rPr lang="zh-CN" altLang="en-US" sz="2800" spc="-15" dirty="0">
                <a:latin typeface="等线"/>
                <a:cs typeface="等线"/>
              </a:rPr>
              <a:t>具体爬取信息及存储要求：</a:t>
            </a:r>
            <a:endParaRPr sz="2800" dirty="0">
              <a:latin typeface="等线"/>
              <a:cs typeface="等线"/>
            </a:endParaRPr>
          </a:p>
          <a:p>
            <a:pPr marL="812165" indent="-342900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469265" algn="l"/>
              </a:tabLst>
            </a:pPr>
            <a:r>
              <a:rPr lang="zh-CN" altLang="en-US" sz="2400" dirty="0">
                <a:latin typeface="等线"/>
              </a:rPr>
              <a:t>要求爬取东城、西城、海淀、朝阳四个城区的二手房数据（每个城区爬取前</a:t>
            </a:r>
            <a:r>
              <a:rPr lang="en-US" altLang="zh-CN" sz="2400" dirty="0">
                <a:latin typeface="等线"/>
              </a:rPr>
              <a:t>3</a:t>
            </a:r>
            <a:r>
              <a:rPr lang="zh-CN" altLang="en-US" sz="2400" dirty="0">
                <a:latin typeface="等线"/>
              </a:rPr>
              <a:t>页），提取城区、房源编号、小区名称、平米数、总价、单价（位置见下图）</a:t>
            </a:r>
          </a:p>
          <a:p>
            <a:pPr marL="812165" indent="-342900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469265" algn="l"/>
              </a:tabLst>
            </a:pPr>
            <a:r>
              <a:rPr lang="zh-CN" altLang="en-US" sz="2400" dirty="0">
                <a:latin typeface="等线"/>
              </a:rPr>
              <a:t>将信息保存在同一个 </a:t>
            </a:r>
            <a:r>
              <a:rPr lang="en-US" altLang="zh-CN" sz="2400" dirty="0">
                <a:latin typeface="等线"/>
              </a:rPr>
              <a:t>csv </a:t>
            </a:r>
            <a:r>
              <a:rPr lang="zh-CN" altLang="en-US" sz="2400" dirty="0">
                <a:latin typeface="等线"/>
              </a:rPr>
              <a:t>文件中</a:t>
            </a:r>
            <a:endParaRPr lang="zh-CN" altLang="en-US" sz="2400" dirty="0">
              <a:latin typeface="等线"/>
              <a:cs typeface="等线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446799F-51CF-9B03-7CBD-4C564DB72CA0}"/>
              </a:ext>
            </a:extLst>
          </p:cNvPr>
          <p:cNvSpPr/>
          <p:nvPr/>
        </p:nvSpPr>
        <p:spPr>
          <a:xfrm>
            <a:off x="3997242" y="5379869"/>
            <a:ext cx="777956" cy="307846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C1E32DD-AC54-C12A-AE85-76D4C053862A}"/>
              </a:ext>
            </a:extLst>
          </p:cNvPr>
          <p:cNvSpPr/>
          <p:nvPr/>
        </p:nvSpPr>
        <p:spPr>
          <a:xfrm>
            <a:off x="4609400" y="5761605"/>
            <a:ext cx="676099" cy="307846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BC1BD5-D3D5-A8F0-B226-0CCF0C03C41C}"/>
              </a:ext>
            </a:extLst>
          </p:cNvPr>
          <p:cNvSpPr/>
          <p:nvPr/>
        </p:nvSpPr>
        <p:spPr>
          <a:xfrm>
            <a:off x="9458513" y="5356112"/>
            <a:ext cx="1004564" cy="40549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FEADA03-E1B7-C84F-0E10-E69E07D8FD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3805" y="4991337"/>
            <a:ext cx="4544059" cy="28579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89EBE792-7102-D1FF-B842-911C8B78A836}"/>
              </a:ext>
            </a:extLst>
          </p:cNvPr>
          <p:cNvSpPr/>
          <p:nvPr/>
        </p:nvSpPr>
        <p:spPr>
          <a:xfrm>
            <a:off x="10000107" y="5010104"/>
            <a:ext cx="1215853" cy="26702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27AF18D-7A84-4E68-F174-8BAB9662E34E}"/>
              </a:ext>
            </a:extLst>
          </p:cNvPr>
          <p:cNvCxnSpPr/>
          <p:nvPr/>
        </p:nvCxnSpPr>
        <p:spPr>
          <a:xfrm>
            <a:off x="10549464" y="489864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2EC3BE5B-49BC-EC43-8904-1757A209D0E9}"/>
              </a:ext>
            </a:extLst>
          </p:cNvPr>
          <p:cNvSpPr/>
          <p:nvPr/>
        </p:nvSpPr>
        <p:spPr>
          <a:xfrm>
            <a:off x="9458513" y="5807846"/>
            <a:ext cx="1004564" cy="261606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419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C16A7D6-CC87-B848-7CFE-CF3E2D303A9D}"/>
              </a:ext>
            </a:extLst>
          </p:cNvPr>
          <p:cNvGrpSpPr/>
          <p:nvPr/>
        </p:nvGrpSpPr>
        <p:grpSpPr>
          <a:xfrm>
            <a:off x="1100488" y="5046764"/>
            <a:ext cx="6839571" cy="1702970"/>
            <a:chOff x="5237493" y="4913594"/>
            <a:chExt cx="6839571" cy="170297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3B344335-B482-E63F-9C60-EE3FF1894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37493" y="4913594"/>
              <a:ext cx="6839571" cy="1702970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BB499614-433A-54DF-AA3E-EB54F165D7E8}"/>
                </a:ext>
              </a:extLst>
            </p:cNvPr>
            <p:cNvSpPr/>
            <p:nvPr/>
          </p:nvSpPr>
          <p:spPr>
            <a:xfrm>
              <a:off x="6701246" y="5027632"/>
              <a:ext cx="1023605" cy="296091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A8C711B-E9FC-FD4A-B5AB-DCF5F27ADD42}"/>
                </a:ext>
              </a:extLst>
            </p:cNvPr>
            <p:cNvSpPr/>
            <p:nvPr/>
          </p:nvSpPr>
          <p:spPr>
            <a:xfrm>
              <a:off x="6906072" y="6221353"/>
              <a:ext cx="914101" cy="296091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ABE9B6F-C8EA-0331-BD92-DF808CA82E3C}"/>
                </a:ext>
              </a:extLst>
            </p:cNvPr>
            <p:cNvSpPr/>
            <p:nvPr/>
          </p:nvSpPr>
          <p:spPr>
            <a:xfrm>
              <a:off x="7377749" y="5923774"/>
              <a:ext cx="296507" cy="225737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BA04FAD-09E3-D654-B76F-A28F04742E1B}"/>
                </a:ext>
              </a:extLst>
            </p:cNvPr>
            <p:cNvSpPr/>
            <p:nvPr/>
          </p:nvSpPr>
          <p:spPr>
            <a:xfrm>
              <a:off x="7709478" y="5922613"/>
              <a:ext cx="534997" cy="219917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3BE6DF3-E550-0E88-0571-5BBF4EF66B28}"/>
                </a:ext>
              </a:extLst>
            </p:cNvPr>
            <p:cNvSpPr/>
            <p:nvPr/>
          </p:nvSpPr>
          <p:spPr>
            <a:xfrm>
              <a:off x="6701454" y="5606879"/>
              <a:ext cx="381954" cy="228952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D0E573-0EBA-43CA-8238-5954E7877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</a:t>
            </a:fld>
            <a:endParaRPr lang="en-US" dirty="0"/>
          </a:p>
        </p:txBody>
      </p:sp>
      <p:sp>
        <p:nvSpPr>
          <p:cNvPr id="19" name="object 3">
            <a:extLst>
              <a:ext uri="{FF2B5EF4-FFF2-40B4-BE49-F238E27FC236}">
                <a16:creationId xmlns:a16="http://schemas.microsoft.com/office/drawing/2014/main" id="{014DBCFE-000C-44C4-8689-4E22BB4D4C9F}"/>
              </a:ext>
            </a:extLst>
          </p:cNvPr>
          <p:cNvSpPr txBox="1"/>
          <p:nvPr/>
        </p:nvSpPr>
        <p:spPr>
          <a:xfrm>
            <a:off x="1115569" y="1792473"/>
            <a:ext cx="10686363" cy="3195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2800" spc="-35" dirty="0">
                <a:latin typeface="等线"/>
                <a:cs typeface="等线"/>
              </a:rPr>
              <a:t>任务</a:t>
            </a:r>
            <a:r>
              <a:rPr sz="2800" spc="-35" dirty="0">
                <a:latin typeface="等线"/>
                <a:cs typeface="等线"/>
              </a:rPr>
              <a:t>：</a:t>
            </a:r>
            <a:r>
              <a:rPr lang="zh-CN" altLang="en-US" sz="2800" spc="-35" dirty="0">
                <a:latin typeface="等线"/>
                <a:cs typeface="等线"/>
              </a:rPr>
              <a:t>爬取豆瓣电影</a:t>
            </a:r>
            <a:r>
              <a:rPr lang="en-US" altLang="zh-CN" sz="2800" spc="-35" dirty="0">
                <a:latin typeface="等线"/>
                <a:cs typeface="等线"/>
              </a:rPr>
              <a:t>Top 250</a:t>
            </a:r>
            <a:r>
              <a:rPr lang="zh-CN" altLang="en-US" sz="2800" spc="-35" dirty="0">
                <a:latin typeface="等线"/>
                <a:cs typeface="等线"/>
              </a:rPr>
              <a:t>数据</a:t>
            </a:r>
            <a:endParaRPr sz="2800" dirty="0">
              <a:latin typeface="等线"/>
              <a:cs typeface="等线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lang="en-US" sz="2800" spc="-20" dirty="0">
                <a:latin typeface="等线"/>
                <a:cs typeface="等线"/>
                <a:hlinkClick r:id="rId4"/>
              </a:rPr>
              <a:t>https://movie.douban.com/top250</a:t>
            </a:r>
            <a:endParaRPr lang="en-US" sz="2800" spc="-20" dirty="0">
              <a:latin typeface="等线"/>
              <a:cs typeface="等线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lang="zh-CN" altLang="en-US" sz="2800" spc="-15" dirty="0">
                <a:latin typeface="等线"/>
                <a:cs typeface="等线"/>
              </a:rPr>
              <a:t>具体爬取信息及存储要求：</a:t>
            </a:r>
            <a:endParaRPr sz="2800" dirty="0">
              <a:latin typeface="等线"/>
              <a:cs typeface="等线"/>
            </a:endParaRPr>
          </a:p>
          <a:p>
            <a:pPr marL="812165" indent="-342900">
              <a:spcBef>
                <a:spcPts val="1440"/>
              </a:spcBef>
              <a:buFont typeface="Arial" panose="020B0604020202020204" pitchFamily="34" charset="0"/>
              <a:buChar char="•"/>
              <a:tabLst>
                <a:tab pos="469265" algn="l"/>
              </a:tabLst>
            </a:pPr>
            <a:r>
              <a:rPr lang="zh-CN" altLang="en-US" sz="2400" dirty="0">
                <a:latin typeface="等线"/>
              </a:rPr>
              <a:t>要求爬取全部</a:t>
            </a:r>
            <a:r>
              <a:rPr lang="en-US" altLang="zh-CN" sz="2400" dirty="0">
                <a:latin typeface="等线"/>
              </a:rPr>
              <a:t>250</a:t>
            </a:r>
            <a:r>
              <a:rPr lang="zh-CN" altLang="en-US" sz="2400" dirty="0">
                <a:latin typeface="等线"/>
              </a:rPr>
              <a:t>部电影的数据，提取电影的排名、中文片名、宣传语、上映年份、评分、评价人数（各项信息的位置如下图框中所示）</a:t>
            </a:r>
          </a:p>
          <a:p>
            <a:pPr marL="812165" indent="-342900">
              <a:spcBef>
                <a:spcPts val="1440"/>
              </a:spcBef>
              <a:buFont typeface="Arial" panose="020B0604020202020204" pitchFamily="34" charset="0"/>
              <a:buChar char="•"/>
              <a:tabLst>
                <a:tab pos="469265" algn="l"/>
              </a:tabLst>
            </a:pPr>
            <a:r>
              <a:rPr lang="zh-CN" altLang="en-US" sz="2400" dirty="0">
                <a:latin typeface="等线"/>
              </a:rPr>
              <a:t>将信息保存在同一个 </a:t>
            </a:r>
            <a:r>
              <a:rPr lang="en-US" altLang="zh-CN" sz="2400" dirty="0">
                <a:latin typeface="等线"/>
              </a:rPr>
              <a:t>csv </a:t>
            </a:r>
            <a:r>
              <a:rPr lang="zh-CN" altLang="en-US" sz="2400" dirty="0">
                <a:latin typeface="等线"/>
              </a:rPr>
              <a:t>文件中</a:t>
            </a:r>
            <a:endParaRPr lang="zh-CN" altLang="en-US" sz="2400" dirty="0">
              <a:latin typeface="等线"/>
              <a:cs typeface="等线"/>
            </a:endParaRPr>
          </a:p>
        </p:txBody>
      </p:sp>
      <p:sp>
        <p:nvSpPr>
          <p:cNvPr id="3" name="标题 4">
            <a:extLst>
              <a:ext uri="{FF2B5EF4-FFF2-40B4-BE49-F238E27FC236}">
                <a16:creationId xmlns:a16="http://schemas.microsoft.com/office/drawing/2014/main" id="{F25ED533-98AE-AE0C-1EDA-AD7D40526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9" y="212723"/>
            <a:ext cx="9772444" cy="1179576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第</a:t>
            </a:r>
            <a:r>
              <a:rPr lang="zh-CN" altLang="en-US" dirty="0"/>
              <a:t>二</a:t>
            </a:r>
            <a:r>
              <a:rPr lang="zh-CN" altLang="en-US" sz="4000" dirty="0"/>
              <a:t>组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B053C49-C95A-216D-BAA1-C5D52D427033}"/>
              </a:ext>
            </a:extLst>
          </p:cNvPr>
          <p:cNvSpPr/>
          <p:nvPr/>
        </p:nvSpPr>
        <p:spPr>
          <a:xfrm>
            <a:off x="1108955" y="5193343"/>
            <a:ext cx="159224" cy="246616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107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F6D8E-F2D2-85A3-B2AE-877ABDD5F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8FC716-E8BB-C35A-8661-F2E24B8DF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</a:t>
            </a:fld>
            <a:endParaRPr lang="en-US" dirty="0"/>
          </a:p>
        </p:txBody>
      </p:sp>
      <p:sp>
        <p:nvSpPr>
          <p:cNvPr id="25" name="object 3">
            <a:extLst>
              <a:ext uri="{FF2B5EF4-FFF2-40B4-BE49-F238E27FC236}">
                <a16:creationId xmlns:a16="http://schemas.microsoft.com/office/drawing/2014/main" id="{A80D5972-B9C1-0EF0-2A6C-70D184795A11}"/>
              </a:ext>
            </a:extLst>
          </p:cNvPr>
          <p:cNvSpPr txBox="1"/>
          <p:nvPr/>
        </p:nvSpPr>
        <p:spPr>
          <a:xfrm>
            <a:off x="908304" y="1745898"/>
            <a:ext cx="10885763" cy="50415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20000"/>
              </a:lnSpc>
              <a:spcAft>
                <a:spcPts val="600"/>
              </a:spcAft>
            </a:pPr>
            <a:r>
              <a:rPr lang="zh-CN" altLang="en-US" sz="2000" b="1" spc="-30" dirty="0">
                <a:latin typeface="等线" panose="02010600030101010101" pitchFamily="2" charset="-122"/>
                <a:ea typeface="等线" panose="02010600030101010101" pitchFamily="2" charset="-122"/>
                <a:cs typeface="等线"/>
              </a:rPr>
              <a:t>提交方式和内容要求</a:t>
            </a:r>
            <a:endParaRPr lang="en-US" sz="2000" b="1" spc="-30" dirty="0">
              <a:latin typeface="等线" panose="02010600030101010101" pitchFamily="2" charset="-122"/>
              <a:ea typeface="等线" panose="02010600030101010101" pitchFamily="2" charset="-122"/>
              <a:cs typeface="等线"/>
            </a:endParaRPr>
          </a:p>
          <a:p>
            <a:pPr marL="12700">
              <a:lnSpc>
                <a:spcPct val="120000"/>
              </a:lnSpc>
              <a:spcAft>
                <a:spcPts val="600"/>
              </a:spcAft>
            </a:pPr>
            <a:r>
              <a:rPr spc="-30" dirty="0" err="1">
                <a:latin typeface="等线"/>
                <a:cs typeface="等线"/>
              </a:rPr>
              <a:t>作业</a:t>
            </a:r>
            <a:r>
              <a:rPr lang="zh-CN" altLang="en-US" spc="-30" dirty="0">
                <a:latin typeface="等线"/>
                <a:cs typeface="等线"/>
              </a:rPr>
              <a:t>在教学云平台</a:t>
            </a:r>
            <a:r>
              <a:rPr lang="en-US" altLang="zh-CN" spc="-30" dirty="0">
                <a:latin typeface="等线"/>
                <a:cs typeface="等线"/>
              </a:rPr>
              <a:t>-</a:t>
            </a:r>
            <a:r>
              <a:rPr lang="zh-CN" altLang="en-US" spc="-30" dirty="0">
                <a:latin typeface="等线"/>
                <a:cs typeface="等线"/>
              </a:rPr>
              <a:t>云邮教学空间 </a:t>
            </a:r>
            <a:r>
              <a:rPr lang="en-US" altLang="zh-CN" spc="-30" dirty="0">
                <a:latin typeface="等线"/>
                <a:cs typeface="等线"/>
                <a:hlinkClick r:id="rId3"/>
              </a:rPr>
              <a:t>https://ucloud.bupt.edu.cn/</a:t>
            </a:r>
            <a:r>
              <a:rPr lang="en-US" altLang="zh-CN" spc="-30" dirty="0">
                <a:latin typeface="等线"/>
                <a:cs typeface="等线"/>
              </a:rPr>
              <a:t> </a:t>
            </a:r>
            <a:r>
              <a:rPr lang="zh-CN" altLang="en-US" spc="-30" dirty="0">
                <a:latin typeface="等线"/>
                <a:cs typeface="等线"/>
              </a:rPr>
              <a:t>上</a:t>
            </a:r>
            <a:r>
              <a:rPr lang="zh-CN" altLang="en-US" spc="-25" dirty="0">
                <a:latin typeface="等线"/>
                <a:cs typeface="等线"/>
              </a:rPr>
              <a:t>提</a:t>
            </a:r>
            <a:r>
              <a:rPr lang="zh-CN" altLang="en-US" spc="-30" dirty="0">
                <a:latin typeface="等线"/>
                <a:cs typeface="等线"/>
              </a:rPr>
              <a:t>交，包括报告和源代码包两部分。</a:t>
            </a:r>
            <a:endParaRPr lang="en-US" altLang="zh-CN" spc="-30" dirty="0">
              <a:latin typeface="等线"/>
              <a:cs typeface="等线"/>
            </a:endParaRPr>
          </a:p>
          <a:p>
            <a:pPr marL="12700">
              <a:lnSpc>
                <a:spcPct val="120000"/>
              </a:lnSpc>
              <a:spcAft>
                <a:spcPts val="600"/>
              </a:spcAft>
            </a:pPr>
            <a:r>
              <a:rPr lang="zh-CN" altLang="en-US" spc="-30" dirty="0">
                <a:latin typeface="等线"/>
                <a:cs typeface="等线"/>
              </a:rPr>
              <a:t>报告中要求包含：</a:t>
            </a:r>
            <a:endParaRPr lang="en-US" altLang="zh-CN" spc="-30" dirty="0">
              <a:latin typeface="等线"/>
              <a:cs typeface="等线"/>
            </a:endParaRPr>
          </a:p>
          <a:p>
            <a:pPr marL="12700">
              <a:lnSpc>
                <a:spcPct val="120000"/>
              </a:lnSpc>
              <a:spcAft>
                <a:spcPts val="600"/>
              </a:spcAft>
            </a:pPr>
            <a:r>
              <a:rPr lang="zh-CN" altLang="en-US" spc="-30" dirty="0">
                <a:latin typeface="等线"/>
                <a:cs typeface="等线"/>
              </a:rPr>
              <a:t>（</a:t>
            </a:r>
            <a:r>
              <a:rPr lang="en-US" altLang="zh-CN" spc="-30" dirty="0">
                <a:latin typeface="等线"/>
                <a:cs typeface="等线"/>
              </a:rPr>
              <a:t>1</a:t>
            </a:r>
            <a:r>
              <a:rPr lang="zh-CN" altLang="en-US" spc="-30" dirty="0">
                <a:latin typeface="等线"/>
                <a:cs typeface="等线"/>
              </a:rPr>
              <a:t>）程序实现思路说明（仅有代码注释是不够的），并展示对应的核心源代码</a:t>
            </a:r>
            <a:endParaRPr lang="en-US" altLang="zh-CN" spc="-30" dirty="0">
              <a:latin typeface="等线"/>
              <a:cs typeface="等线"/>
            </a:endParaRPr>
          </a:p>
          <a:p>
            <a:pPr marL="12700">
              <a:lnSpc>
                <a:spcPct val="120000"/>
              </a:lnSpc>
              <a:spcAft>
                <a:spcPts val="600"/>
              </a:spcAft>
            </a:pPr>
            <a:r>
              <a:rPr lang="zh-CN" altLang="en-US" spc="-30" dirty="0">
                <a:latin typeface="等线"/>
                <a:cs typeface="等线"/>
              </a:rPr>
              <a:t>（</a:t>
            </a:r>
            <a:r>
              <a:rPr lang="en-US" altLang="zh-CN" spc="-30" dirty="0">
                <a:latin typeface="等线"/>
                <a:cs typeface="等线"/>
              </a:rPr>
              <a:t>2</a:t>
            </a:r>
            <a:r>
              <a:rPr lang="zh-CN" altLang="en-US" spc="-30" dirty="0">
                <a:latin typeface="等线"/>
                <a:cs typeface="等线"/>
              </a:rPr>
              <a:t>）</a:t>
            </a:r>
            <a:r>
              <a:rPr lang="zh-CN" altLang="en-US" spc="-35" dirty="0">
                <a:latin typeface="等线"/>
                <a:cs typeface="等线"/>
              </a:rPr>
              <a:t>存储的文件内容</a:t>
            </a:r>
            <a:endParaRPr lang="en-US" altLang="zh-CN" spc="-30" dirty="0">
              <a:latin typeface="等线"/>
              <a:cs typeface="等线"/>
            </a:endParaRPr>
          </a:p>
          <a:p>
            <a:pPr marL="12700">
              <a:lnSpc>
                <a:spcPct val="120000"/>
              </a:lnSpc>
              <a:spcAft>
                <a:spcPts val="600"/>
              </a:spcAft>
            </a:pPr>
            <a:r>
              <a:rPr lang="zh-CN" altLang="en-US" spc="-30" dirty="0">
                <a:latin typeface="等线"/>
                <a:cs typeface="等线"/>
              </a:rPr>
              <a:t>注意：源代码包仅作为在必要时验证程序正确性的备用手段，</a:t>
            </a:r>
            <a:r>
              <a:rPr lang="zh-CN" altLang="en-US" spc="-30" dirty="0">
                <a:solidFill>
                  <a:srgbClr val="FF0000"/>
                </a:solidFill>
                <a:latin typeface="等线"/>
                <a:cs typeface="等线"/>
              </a:rPr>
              <a:t>老师批改作业时不一定会看每一位同学的源代码包。希望老师批改作业时看到的内容请务必写在报告里</a:t>
            </a:r>
            <a:r>
              <a:rPr lang="zh-CN" altLang="en-US" spc="-30" dirty="0">
                <a:latin typeface="等线"/>
                <a:cs typeface="等线"/>
              </a:rPr>
              <a:t>。</a:t>
            </a:r>
            <a:endParaRPr lang="en-US" altLang="zh-CN" spc="-30" dirty="0">
              <a:latin typeface="等线"/>
              <a:cs typeface="等线"/>
            </a:endParaRPr>
          </a:p>
          <a:p>
            <a:pPr marL="1270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</a:pPr>
            <a:r>
              <a:rPr lang="zh-CN" altLang="en-US" sz="2000" b="1" spc="-30" dirty="0">
                <a:latin typeface="等线" panose="02010600030101010101" pitchFamily="2" charset="-122"/>
                <a:ea typeface="等线" panose="02010600030101010101" pitchFamily="2" charset="-122"/>
              </a:rPr>
              <a:t>文件格式和命名规则</a:t>
            </a:r>
            <a:endParaRPr lang="en-US" altLang="zh-CN" sz="2000" b="1" spc="-3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984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pc="-30" dirty="0">
                <a:latin typeface="等线"/>
                <a:cs typeface="等线"/>
              </a:rPr>
              <a:t>报告要求为 </a:t>
            </a:r>
            <a:r>
              <a:rPr lang="en-US" altLang="zh-CN" spc="-15" dirty="0">
                <a:latin typeface="等线"/>
                <a:cs typeface="等线"/>
              </a:rPr>
              <a:t>pd</a:t>
            </a:r>
            <a:r>
              <a:rPr lang="en-US" altLang="zh-CN" spc="-10" dirty="0">
                <a:latin typeface="等线"/>
                <a:cs typeface="等线"/>
              </a:rPr>
              <a:t>f </a:t>
            </a:r>
            <a:r>
              <a:rPr lang="zh-CN" altLang="en-US" spc="-10" dirty="0">
                <a:latin typeface="等线"/>
                <a:cs typeface="等线"/>
              </a:rPr>
              <a:t>格式，</a:t>
            </a:r>
            <a:r>
              <a:rPr lang="zh-CN" altLang="en-US" spc="-30" dirty="0">
                <a:latin typeface="等线"/>
                <a:cs typeface="等线"/>
              </a:rPr>
              <a:t>文件名为“</a:t>
            </a:r>
            <a:r>
              <a:rPr lang="en-US" altLang="zh-CN" spc="-30" dirty="0">
                <a:latin typeface="等线"/>
                <a:cs typeface="等线"/>
              </a:rPr>
              <a:t>&lt;</a:t>
            </a:r>
            <a:r>
              <a:rPr lang="zh-CN" altLang="en-US" spc="-30" dirty="0">
                <a:latin typeface="等线"/>
                <a:cs typeface="等线"/>
              </a:rPr>
              <a:t>学号</a:t>
            </a:r>
            <a:r>
              <a:rPr lang="en-US" altLang="zh-CN" spc="-30" dirty="0">
                <a:latin typeface="等线"/>
                <a:cs typeface="等线"/>
              </a:rPr>
              <a:t>&gt;_&lt;</a:t>
            </a:r>
            <a:r>
              <a:rPr lang="zh-CN" altLang="en-US" spc="-30" dirty="0">
                <a:latin typeface="等线"/>
                <a:cs typeface="等线"/>
              </a:rPr>
              <a:t>姓名</a:t>
            </a:r>
            <a:r>
              <a:rPr lang="en-US" altLang="zh-CN" spc="-30" dirty="0">
                <a:latin typeface="等线"/>
                <a:cs typeface="等线"/>
              </a:rPr>
              <a:t>&gt;_</a:t>
            </a:r>
            <a:r>
              <a:rPr lang="zh-CN" altLang="en-US" spc="-30" dirty="0">
                <a:latin typeface="等线"/>
                <a:cs typeface="等线"/>
              </a:rPr>
              <a:t>小作业</a:t>
            </a:r>
            <a:r>
              <a:rPr lang="en-US" altLang="zh-CN" spc="-30" dirty="0">
                <a:latin typeface="等线"/>
                <a:cs typeface="等线"/>
              </a:rPr>
              <a:t>1</a:t>
            </a:r>
            <a:r>
              <a:rPr lang="zh-CN" altLang="en-US" spc="-30" dirty="0">
                <a:latin typeface="等线"/>
                <a:cs typeface="等线"/>
              </a:rPr>
              <a:t>”，例如：</a:t>
            </a:r>
            <a:r>
              <a:rPr lang="en-US" altLang="zh-CN" spc="-30" dirty="0">
                <a:latin typeface="等线"/>
                <a:cs typeface="等线"/>
              </a:rPr>
              <a:t>2021211353_</a:t>
            </a:r>
            <a:r>
              <a:rPr lang="zh-CN" altLang="en-US" spc="-30" dirty="0">
                <a:latin typeface="等线"/>
                <a:cs typeface="等线"/>
              </a:rPr>
              <a:t>李永琰</a:t>
            </a:r>
            <a:r>
              <a:rPr lang="en-US" altLang="zh-CN" spc="-30" dirty="0">
                <a:latin typeface="等线"/>
                <a:cs typeface="等线"/>
              </a:rPr>
              <a:t>_</a:t>
            </a:r>
            <a:r>
              <a:rPr lang="zh-CN" altLang="en-US" spc="-30" dirty="0">
                <a:latin typeface="等线"/>
                <a:cs typeface="等线"/>
              </a:rPr>
              <a:t>小作业</a:t>
            </a:r>
            <a:r>
              <a:rPr lang="en-US" altLang="zh-CN" spc="-30" dirty="0">
                <a:latin typeface="等线"/>
                <a:cs typeface="等线"/>
              </a:rPr>
              <a:t>1.pdf</a:t>
            </a:r>
          </a:p>
          <a:p>
            <a:pPr marL="2984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pc="-30" dirty="0">
                <a:latin typeface="等线"/>
                <a:cs typeface="等线"/>
              </a:rPr>
              <a:t>源代码包要求为 </a:t>
            </a:r>
            <a:r>
              <a:rPr lang="en-US" altLang="zh-CN" spc="-30" dirty="0">
                <a:latin typeface="等线"/>
                <a:cs typeface="等线"/>
              </a:rPr>
              <a:t>zip </a:t>
            </a:r>
            <a:r>
              <a:rPr lang="zh-CN" altLang="en-US" spc="-30" dirty="0">
                <a:latin typeface="等线"/>
                <a:cs typeface="等线"/>
              </a:rPr>
              <a:t>格式，文件名为“</a:t>
            </a:r>
            <a:r>
              <a:rPr lang="en-US" altLang="zh-CN" spc="-30" dirty="0">
                <a:latin typeface="等线"/>
                <a:cs typeface="等线"/>
              </a:rPr>
              <a:t>&lt;</a:t>
            </a:r>
            <a:r>
              <a:rPr lang="zh-CN" altLang="en-US" spc="-30" dirty="0">
                <a:latin typeface="等线"/>
                <a:cs typeface="等线"/>
              </a:rPr>
              <a:t>学号</a:t>
            </a:r>
            <a:r>
              <a:rPr lang="en-US" altLang="zh-CN" spc="-30" dirty="0">
                <a:latin typeface="等线"/>
                <a:cs typeface="等线"/>
              </a:rPr>
              <a:t>&gt;_&lt;</a:t>
            </a:r>
            <a:r>
              <a:rPr lang="zh-CN" altLang="en-US" spc="-30" dirty="0">
                <a:latin typeface="等线"/>
                <a:cs typeface="等线"/>
              </a:rPr>
              <a:t>姓名</a:t>
            </a:r>
            <a:r>
              <a:rPr lang="en-US" altLang="zh-CN" spc="-30" dirty="0">
                <a:latin typeface="等线"/>
                <a:cs typeface="等线"/>
              </a:rPr>
              <a:t>&gt;_</a:t>
            </a:r>
            <a:r>
              <a:rPr lang="zh-CN" altLang="en-US" spc="-30" dirty="0">
                <a:latin typeface="等线"/>
                <a:cs typeface="等线"/>
              </a:rPr>
              <a:t>小作业</a:t>
            </a:r>
            <a:r>
              <a:rPr lang="en-US" altLang="zh-CN" spc="-30" dirty="0">
                <a:latin typeface="等线"/>
                <a:cs typeface="等线"/>
              </a:rPr>
              <a:t>1_</a:t>
            </a:r>
            <a:r>
              <a:rPr lang="zh-CN" altLang="en-US" spc="-30" dirty="0">
                <a:latin typeface="等线"/>
                <a:cs typeface="等线"/>
              </a:rPr>
              <a:t>代码”，例如：</a:t>
            </a:r>
            <a:r>
              <a:rPr lang="en-US" altLang="zh-CN" spc="-30" dirty="0">
                <a:latin typeface="等线"/>
                <a:cs typeface="等线"/>
              </a:rPr>
              <a:t>2021211353_</a:t>
            </a:r>
            <a:r>
              <a:rPr lang="zh-CN" altLang="en-US" spc="-30" dirty="0">
                <a:latin typeface="等线"/>
                <a:cs typeface="等线"/>
              </a:rPr>
              <a:t>李永琰</a:t>
            </a:r>
            <a:r>
              <a:rPr lang="en-US" altLang="zh-CN" spc="-30" dirty="0">
                <a:latin typeface="等线"/>
                <a:cs typeface="等线"/>
              </a:rPr>
              <a:t>_</a:t>
            </a:r>
            <a:r>
              <a:rPr lang="zh-CN" altLang="en-US" spc="-30" dirty="0">
                <a:latin typeface="等线"/>
                <a:cs typeface="等线"/>
              </a:rPr>
              <a:t>小作业</a:t>
            </a:r>
            <a:r>
              <a:rPr lang="en-US" altLang="zh-CN" spc="-30" dirty="0">
                <a:latin typeface="等线"/>
                <a:cs typeface="等线"/>
              </a:rPr>
              <a:t>1_</a:t>
            </a:r>
            <a:r>
              <a:rPr lang="zh-CN" altLang="en-US" spc="-30" dirty="0">
                <a:latin typeface="等线"/>
                <a:cs typeface="等线"/>
              </a:rPr>
              <a:t>代码</a:t>
            </a:r>
            <a:r>
              <a:rPr lang="en-US" altLang="zh-CN" spc="-30" dirty="0">
                <a:latin typeface="等线"/>
                <a:cs typeface="等线"/>
              </a:rPr>
              <a:t>.zip</a:t>
            </a:r>
          </a:p>
          <a:p>
            <a:pPr marL="12700">
              <a:lnSpc>
                <a:spcPct val="120000"/>
              </a:lnSpc>
              <a:spcBef>
                <a:spcPts val="1200"/>
              </a:spcBef>
            </a:pPr>
            <a:r>
              <a:rPr spc="-30" dirty="0">
                <a:solidFill>
                  <a:srgbClr val="FF0000"/>
                </a:solidFill>
                <a:latin typeface="等线"/>
                <a:cs typeface="等线"/>
              </a:rPr>
              <a:t>作业提交截止时间：</a:t>
            </a:r>
            <a:r>
              <a:rPr lang="en-US" spc="-30" dirty="0">
                <a:solidFill>
                  <a:srgbClr val="FF0000"/>
                </a:solidFill>
                <a:latin typeface="等线"/>
                <a:cs typeface="等线"/>
              </a:rPr>
              <a:t>2025.</a:t>
            </a:r>
            <a:r>
              <a:rPr spc="-15" dirty="0">
                <a:solidFill>
                  <a:srgbClr val="FF0000"/>
                </a:solidFill>
                <a:latin typeface="等线"/>
                <a:cs typeface="等线"/>
              </a:rPr>
              <a:t>1</a:t>
            </a:r>
            <a:r>
              <a:rPr lang="en-US" spc="-15" dirty="0">
                <a:solidFill>
                  <a:srgbClr val="FF0000"/>
                </a:solidFill>
                <a:latin typeface="等线"/>
                <a:cs typeface="等线"/>
              </a:rPr>
              <a:t>2</a:t>
            </a:r>
            <a:r>
              <a:rPr spc="-15" dirty="0">
                <a:solidFill>
                  <a:srgbClr val="FF0000"/>
                </a:solidFill>
                <a:latin typeface="等线"/>
                <a:cs typeface="等线"/>
              </a:rPr>
              <a:t>.</a:t>
            </a:r>
            <a:r>
              <a:rPr lang="en-US" spc="-15" dirty="0">
                <a:solidFill>
                  <a:srgbClr val="FF0000"/>
                </a:solidFill>
                <a:latin typeface="等线"/>
                <a:cs typeface="等线"/>
              </a:rPr>
              <a:t>07(</a:t>
            </a:r>
            <a:r>
              <a:rPr lang="zh-CN" altLang="en-US" spc="-15" dirty="0">
                <a:solidFill>
                  <a:srgbClr val="FF0000"/>
                </a:solidFill>
                <a:latin typeface="等线"/>
                <a:cs typeface="等线"/>
              </a:rPr>
              <a:t>星期日</a:t>
            </a:r>
            <a:r>
              <a:rPr lang="en-US" altLang="zh-CN" spc="-15" dirty="0">
                <a:solidFill>
                  <a:srgbClr val="FF0000"/>
                </a:solidFill>
                <a:latin typeface="等线"/>
                <a:cs typeface="等线"/>
              </a:rPr>
              <a:t>)</a:t>
            </a:r>
            <a:r>
              <a:rPr spc="30" dirty="0">
                <a:solidFill>
                  <a:srgbClr val="FF0000"/>
                </a:solidFill>
                <a:latin typeface="等线"/>
                <a:cs typeface="等线"/>
              </a:rPr>
              <a:t> </a:t>
            </a:r>
            <a:r>
              <a:rPr spc="-15" dirty="0">
                <a:solidFill>
                  <a:srgbClr val="FF0000"/>
                </a:solidFill>
                <a:latin typeface="等线"/>
                <a:cs typeface="等线"/>
              </a:rPr>
              <a:t>2</a:t>
            </a:r>
            <a:r>
              <a:rPr spc="-10" dirty="0">
                <a:solidFill>
                  <a:srgbClr val="FF0000"/>
                </a:solidFill>
                <a:latin typeface="等线"/>
                <a:cs typeface="等线"/>
              </a:rPr>
              <a:t>4</a:t>
            </a:r>
            <a:r>
              <a:rPr spc="-30" dirty="0">
                <a:solidFill>
                  <a:srgbClr val="FF0000"/>
                </a:solidFill>
                <a:latin typeface="等线"/>
                <a:cs typeface="等线"/>
              </a:rPr>
              <a:t>点</a:t>
            </a:r>
            <a:endParaRPr dirty="0">
              <a:solidFill>
                <a:srgbClr val="FF0000"/>
              </a:solidFill>
              <a:latin typeface="等线"/>
              <a:cs typeface="等线"/>
            </a:endParaRPr>
          </a:p>
        </p:txBody>
      </p:sp>
      <p:sp>
        <p:nvSpPr>
          <p:cNvPr id="3" name="标题 4">
            <a:extLst>
              <a:ext uri="{FF2B5EF4-FFF2-40B4-BE49-F238E27FC236}">
                <a16:creationId xmlns:a16="http://schemas.microsoft.com/office/drawing/2014/main" id="{317C05A8-01CC-EA92-6D33-87B6DF086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9" y="212723"/>
            <a:ext cx="9772444" cy="1179576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作业提交要求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2254226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Microsoft YaHei Light"/>
        <a:ea typeface=""/>
        <a:cs typeface=""/>
      </a:majorFont>
      <a:minorFont>
        <a:latin typeface="Microsoft YaHe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4143</TotalTime>
  <Words>436</Words>
  <Application>Microsoft Office PowerPoint</Application>
  <PresentationFormat>宽屏</PresentationFormat>
  <Paragraphs>34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Microsoft YaHei</vt:lpstr>
      <vt:lpstr>Microsoft YaHei Light</vt:lpstr>
      <vt:lpstr>Arial</vt:lpstr>
      <vt:lpstr>Calibri</vt:lpstr>
      <vt:lpstr>AccentBoxVTI</vt:lpstr>
      <vt:lpstr>小作业(1) 数据获取</vt:lpstr>
      <vt:lpstr>第一组</vt:lpstr>
      <vt:lpstr>第二组</vt:lpstr>
      <vt:lpstr>作业提交要求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李炜</dc:creator>
  <cp:lastModifiedBy>炜 李</cp:lastModifiedBy>
  <cp:revision>388</cp:revision>
  <dcterms:created xsi:type="dcterms:W3CDTF">2021-06-11T09:41:18Z</dcterms:created>
  <dcterms:modified xsi:type="dcterms:W3CDTF">2025-11-17T14:27:16Z</dcterms:modified>
</cp:coreProperties>
</file>