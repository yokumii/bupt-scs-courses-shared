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  <p:sldMasterId id="2147483660" r:id="rId2"/>
  </p:sldMasterIdLst>
  <p:notesMasterIdLst>
    <p:notesMasterId r:id="rId30"/>
  </p:notesMasterIdLst>
  <p:handoutMasterIdLst>
    <p:handoutMasterId r:id="rId31"/>
  </p:handoutMasterIdLst>
  <p:sldIdLst>
    <p:sldId id="256" r:id="rId3"/>
    <p:sldId id="289" r:id="rId4"/>
    <p:sldId id="290" r:id="rId5"/>
    <p:sldId id="825" r:id="rId6"/>
    <p:sldId id="824" r:id="rId7"/>
    <p:sldId id="846" r:id="rId8"/>
    <p:sldId id="822" r:id="rId9"/>
    <p:sldId id="826" r:id="rId10"/>
    <p:sldId id="827" r:id="rId11"/>
    <p:sldId id="828" r:id="rId12"/>
    <p:sldId id="829" r:id="rId13"/>
    <p:sldId id="830" r:id="rId14"/>
    <p:sldId id="831" r:id="rId15"/>
    <p:sldId id="832" r:id="rId16"/>
    <p:sldId id="833" r:id="rId17"/>
    <p:sldId id="834" r:id="rId18"/>
    <p:sldId id="835" r:id="rId19"/>
    <p:sldId id="836" r:id="rId20"/>
    <p:sldId id="837" r:id="rId21"/>
    <p:sldId id="838" r:id="rId22"/>
    <p:sldId id="839" r:id="rId23"/>
    <p:sldId id="840" r:id="rId24"/>
    <p:sldId id="841" r:id="rId25"/>
    <p:sldId id="842" r:id="rId26"/>
    <p:sldId id="843" r:id="rId27"/>
    <p:sldId id="844" r:id="rId28"/>
    <p:sldId id="845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8108" initials="1" lastIdx="1" clrIdx="0">
    <p:extLst>
      <p:ext uri="{19B8F6BF-5375-455C-9EA6-DF929625EA0E}">
        <p15:presenceInfo xmlns:p15="http://schemas.microsoft.com/office/powerpoint/2012/main" userId="18108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F8D4B"/>
    <a:srgbClr val="FF9933"/>
    <a:srgbClr val="72BD60"/>
    <a:srgbClr val="8BC97D"/>
    <a:srgbClr val="DEEE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014" autoAdjust="0"/>
  </p:normalViewPr>
  <p:slideViewPr>
    <p:cSldViewPr snapToGrid="0">
      <p:cViewPr varScale="1">
        <p:scale>
          <a:sx n="80" d="100"/>
          <a:sy n="80" d="100"/>
        </p:scale>
        <p:origin x="4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249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E39A80-D6B7-4E26-B22E-327D37299CB1}" type="doc">
      <dgm:prSet loTypeId="urn:microsoft.com/office/officeart/2008/layout/BendingPictureSemiTransparentText" loCatId="pictur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F4DCAFF9-3CD8-4192-92EC-2050EBC96D81}">
      <dgm:prSet phldrT="[Text]"/>
      <dgm:spPr>
        <a:noFill/>
      </dgm:spPr>
      <dgm:t>
        <a:bodyPr/>
        <a:lstStyle/>
        <a:p>
          <a:pPr rtl="0"/>
          <a:endParaRPr lang="en-US" dirty="0"/>
        </a:p>
      </dgm:t>
    </dgm:pt>
    <dgm:pt modelId="{5670A9B4-EF79-4194-B2F8-D0D0B5D9F166}" type="sibTrans" cxnId="{2A678D74-5D28-4772-9694-380BDCB05326}">
      <dgm:prSet/>
      <dgm:spPr/>
      <dgm:t>
        <a:bodyPr/>
        <a:lstStyle/>
        <a:p>
          <a:pPr rtl="0"/>
          <a:endParaRPr lang="en-US"/>
        </a:p>
      </dgm:t>
    </dgm:pt>
    <dgm:pt modelId="{896C2910-71E4-4E18-81DA-428510306E45}" type="parTrans" cxnId="{2A678D74-5D28-4772-9694-380BDCB05326}">
      <dgm:prSet/>
      <dgm:spPr/>
      <dgm:t>
        <a:bodyPr/>
        <a:lstStyle/>
        <a:p>
          <a:pPr rtl="0"/>
          <a:endParaRPr lang="en-US"/>
        </a:p>
      </dgm:t>
    </dgm:pt>
    <dgm:pt modelId="{BDA71D6A-C3D1-411E-9EAC-6386FFEE52C2}" type="pres">
      <dgm:prSet presAssocID="{B3E39A80-D6B7-4E26-B22E-327D37299CB1}" presName="Name0" presStyleCnt="0">
        <dgm:presLayoutVars>
          <dgm:dir/>
          <dgm:resizeHandles val="exact"/>
        </dgm:presLayoutVars>
      </dgm:prSet>
      <dgm:spPr/>
    </dgm:pt>
    <dgm:pt modelId="{0B2273E3-B9E3-4A02-93CF-275511BE0699}" type="pres">
      <dgm:prSet presAssocID="{F4DCAFF9-3CD8-4192-92EC-2050EBC96D81}" presName="composite" presStyleCnt="0"/>
      <dgm:spPr/>
    </dgm:pt>
    <dgm:pt modelId="{367DAC4B-08E7-4BA7-A970-D0115453FB5A}" type="pres">
      <dgm:prSet presAssocID="{F4DCAFF9-3CD8-4192-92EC-2050EBC96D81}" presName="rect1" presStyleLbl="bgShp" presStyleIdx="0" presStyleCnt="1" custScaleX="100006" custScaleY="114927" custLinFactX="-100000" custLinFactNeighborX="-136549" custLinFactNeighborY="41592"/>
      <dgm:spPr>
        <a:prstGeom prst="diamond">
          <a:avLst/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AC81859-B11C-4EE9-8379-B9AF70890D88}" type="pres">
      <dgm:prSet presAssocID="{F4DCAFF9-3CD8-4192-92EC-2050EBC96D81}" presName="rect2" presStyleLbl="trBgShp" presStyleIdx="0" presStyleCnt="1">
        <dgm:presLayoutVars>
          <dgm:bulletEnabled val="1"/>
        </dgm:presLayoutVars>
      </dgm:prSet>
      <dgm:spPr/>
    </dgm:pt>
  </dgm:ptLst>
  <dgm:cxnLst>
    <dgm:cxn modelId="{7776CD35-51FD-48C0-B75A-BAFD76E81534}" type="presOf" srcId="{B3E39A80-D6B7-4E26-B22E-327D37299CB1}" destId="{BDA71D6A-C3D1-411E-9EAC-6386FFEE52C2}" srcOrd="0" destOrd="0" presId="urn:microsoft.com/office/officeart/2008/layout/BendingPictureSemiTransparentText"/>
    <dgm:cxn modelId="{2A678D74-5D28-4772-9694-380BDCB05326}" srcId="{B3E39A80-D6B7-4E26-B22E-327D37299CB1}" destId="{F4DCAFF9-3CD8-4192-92EC-2050EBC96D81}" srcOrd="0" destOrd="0" parTransId="{896C2910-71E4-4E18-81DA-428510306E45}" sibTransId="{5670A9B4-EF79-4194-B2F8-D0D0B5D9F166}"/>
    <dgm:cxn modelId="{1A424AF5-CB2A-4E4C-8EAA-5995D4492764}" type="presOf" srcId="{F4DCAFF9-3CD8-4192-92EC-2050EBC96D81}" destId="{7AC81859-B11C-4EE9-8379-B9AF70890D88}" srcOrd="0" destOrd="0" presId="urn:microsoft.com/office/officeart/2008/layout/BendingPictureSemiTransparentText"/>
    <dgm:cxn modelId="{9F9C4B50-F065-423B-965D-D616381780B8}" type="presParOf" srcId="{BDA71D6A-C3D1-411E-9EAC-6386FFEE52C2}" destId="{0B2273E3-B9E3-4A02-93CF-275511BE0699}" srcOrd="0" destOrd="0" presId="urn:microsoft.com/office/officeart/2008/layout/BendingPictureSemiTransparentText"/>
    <dgm:cxn modelId="{4FE875E8-C167-468A-B917-1CE95EFC16A3}" type="presParOf" srcId="{0B2273E3-B9E3-4A02-93CF-275511BE0699}" destId="{367DAC4B-08E7-4BA7-A970-D0115453FB5A}" srcOrd="0" destOrd="0" presId="urn:microsoft.com/office/officeart/2008/layout/BendingPictureSemiTransparentText"/>
    <dgm:cxn modelId="{81CD4251-9E80-43F4-9115-C14C8ECD5701}" type="presParOf" srcId="{0B2273E3-B9E3-4A02-93CF-275511BE0699}" destId="{7AC81859-B11C-4EE9-8379-B9AF70890D88}" srcOrd="1" destOrd="0" presId="urn:microsoft.com/office/officeart/2008/layout/BendingPictureSemiTransparentTex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E39A80-D6B7-4E26-B22E-327D37299CB1}" type="doc">
      <dgm:prSet loTypeId="urn:microsoft.com/office/officeart/2008/layout/BendingPictureSemiTransparentText" loCatId="picture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F4DCAFF9-3CD8-4192-92EC-2050EBC96D81}">
      <dgm:prSet phldrT="[Text]"/>
      <dgm:spPr>
        <a:noFill/>
      </dgm:spPr>
      <dgm:t>
        <a:bodyPr/>
        <a:lstStyle/>
        <a:p>
          <a:pPr rtl="0"/>
          <a:endParaRPr lang="en-US" dirty="0"/>
        </a:p>
      </dgm:t>
    </dgm:pt>
    <dgm:pt modelId="{5670A9B4-EF79-4194-B2F8-D0D0B5D9F166}" type="sibTrans" cxnId="{2A678D74-5D28-4772-9694-380BDCB05326}">
      <dgm:prSet/>
      <dgm:spPr/>
      <dgm:t>
        <a:bodyPr/>
        <a:lstStyle/>
        <a:p>
          <a:pPr rtl="0"/>
          <a:endParaRPr lang="en-US"/>
        </a:p>
      </dgm:t>
    </dgm:pt>
    <dgm:pt modelId="{896C2910-71E4-4E18-81DA-428510306E45}" type="parTrans" cxnId="{2A678D74-5D28-4772-9694-380BDCB05326}">
      <dgm:prSet/>
      <dgm:spPr/>
      <dgm:t>
        <a:bodyPr/>
        <a:lstStyle/>
        <a:p>
          <a:pPr rtl="0"/>
          <a:endParaRPr lang="en-US"/>
        </a:p>
      </dgm:t>
    </dgm:pt>
    <dgm:pt modelId="{BDA71D6A-C3D1-411E-9EAC-6386FFEE52C2}" type="pres">
      <dgm:prSet presAssocID="{B3E39A80-D6B7-4E26-B22E-327D37299CB1}" presName="Name0" presStyleCnt="0">
        <dgm:presLayoutVars>
          <dgm:dir/>
          <dgm:resizeHandles val="exact"/>
        </dgm:presLayoutVars>
      </dgm:prSet>
      <dgm:spPr/>
    </dgm:pt>
    <dgm:pt modelId="{0B2273E3-B9E3-4A02-93CF-275511BE0699}" type="pres">
      <dgm:prSet presAssocID="{F4DCAFF9-3CD8-4192-92EC-2050EBC96D81}" presName="composite" presStyleCnt="0"/>
      <dgm:spPr/>
    </dgm:pt>
    <dgm:pt modelId="{367DAC4B-08E7-4BA7-A970-D0115453FB5A}" type="pres">
      <dgm:prSet presAssocID="{F4DCAFF9-3CD8-4192-92EC-2050EBC96D81}" presName="rect1" presStyleLbl="bgShp" presStyleIdx="0" presStyleCnt="1" custScaleX="100006" custScaleY="114927" custLinFactNeighborX="-486" custLinFactNeighborY="65"/>
      <dgm:spPr>
        <a:prstGeom prst="diamond">
          <a:avLst/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AC81859-B11C-4EE9-8379-B9AF70890D88}" type="pres">
      <dgm:prSet presAssocID="{F4DCAFF9-3CD8-4192-92EC-2050EBC96D81}" presName="rect2" presStyleLbl="trBgShp" presStyleIdx="0" presStyleCnt="1">
        <dgm:presLayoutVars>
          <dgm:bulletEnabled val="1"/>
        </dgm:presLayoutVars>
      </dgm:prSet>
      <dgm:spPr/>
    </dgm:pt>
  </dgm:ptLst>
  <dgm:cxnLst>
    <dgm:cxn modelId="{2A678D74-5D28-4772-9694-380BDCB05326}" srcId="{B3E39A80-D6B7-4E26-B22E-327D37299CB1}" destId="{F4DCAFF9-3CD8-4192-92EC-2050EBC96D81}" srcOrd="0" destOrd="0" parTransId="{896C2910-71E4-4E18-81DA-428510306E45}" sibTransId="{5670A9B4-EF79-4194-B2F8-D0D0B5D9F166}"/>
    <dgm:cxn modelId="{AB2779C3-7238-472B-877E-BAEEA6DC72FE}" type="presOf" srcId="{B3E39A80-D6B7-4E26-B22E-327D37299CB1}" destId="{BDA71D6A-C3D1-411E-9EAC-6386FFEE52C2}" srcOrd="0" destOrd="0" presId="urn:microsoft.com/office/officeart/2008/layout/BendingPictureSemiTransparentText"/>
    <dgm:cxn modelId="{9E667CF7-AD4E-435D-9C3E-EBFE2A038D39}" type="presOf" srcId="{F4DCAFF9-3CD8-4192-92EC-2050EBC96D81}" destId="{7AC81859-B11C-4EE9-8379-B9AF70890D88}" srcOrd="0" destOrd="0" presId="urn:microsoft.com/office/officeart/2008/layout/BendingPictureSemiTransparentText"/>
    <dgm:cxn modelId="{98E4F13E-2B8A-4D6A-A084-82BCB106EDB1}" type="presParOf" srcId="{BDA71D6A-C3D1-411E-9EAC-6386FFEE52C2}" destId="{0B2273E3-B9E3-4A02-93CF-275511BE0699}" srcOrd="0" destOrd="0" presId="urn:microsoft.com/office/officeart/2008/layout/BendingPictureSemiTransparentText"/>
    <dgm:cxn modelId="{EBE9E022-CD58-4246-92E2-4DF95F5663DA}" type="presParOf" srcId="{0B2273E3-B9E3-4A02-93CF-275511BE0699}" destId="{367DAC4B-08E7-4BA7-A970-D0115453FB5A}" srcOrd="0" destOrd="0" presId="urn:microsoft.com/office/officeart/2008/layout/BendingPictureSemiTransparentText"/>
    <dgm:cxn modelId="{0380E458-F948-485A-A22F-2960307F82ED}" type="presParOf" srcId="{0B2273E3-B9E3-4A02-93CF-275511BE0699}" destId="{7AC81859-B11C-4EE9-8379-B9AF70890D88}" srcOrd="1" destOrd="0" presId="urn:microsoft.com/office/officeart/2008/layout/BendingPictureSemiTransparentTex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3E39A80-D6B7-4E26-B22E-327D37299CB1}" type="doc">
      <dgm:prSet loTypeId="urn:microsoft.com/office/officeart/2008/layout/BendingPictureSemiTransparentText" loCatId="picture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F4DCAFF9-3CD8-4192-92EC-2050EBC96D81}">
      <dgm:prSet phldrT="[Text]"/>
      <dgm:spPr>
        <a:noFill/>
      </dgm:spPr>
      <dgm:t>
        <a:bodyPr/>
        <a:lstStyle/>
        <a:p>
          <a:pPr rtl="0"/>
          <a:endParaRPr lang="en-US" dirty="0"/>
        </a:p>
      </dgm:t>
    </dgm:pt>
    <dgm:pt modelId="{5670A9B4-EF79-4194-B2F8-D0D0B5D9F166}" type="sibTrans" cxnId="{2A678D74-5D28-4772-9694-380BDCB05326}">
      <dgm:prSet/>
      <dgm:spPr/>
      <dgm:t>
        <a:bodyPr/>
        <a:lstStyle/>
        <a:p>
          <a:pPr rtl="0"/>
          <a:endParaRPr lang="en-US"/>
        </a:p>
      </dgm:t>
    </dgm:pt>
    <dgm:pt modelId="{896C2910-71E4-4E18-81DA-428510306E45}" type="parTrans" cxnId="{2A678D74-5D28-4772-9694-380BDCB05326}">
      <dgm:prSet/>
      <dgm:spPr/>
      <dgm:t>
        <a:bodyPr/>
        <a:lstStyle/>
        <a:p>
          <a:pPr rtl="0"/>
          <a:endParaRPr lang="en-US"/>
        </a:p>
      </dgm:t>
    </dgm:pt>
    <dgm:pt modelId="{BDA71D6A-C3D1-411E-9EAC-6386FFEE52C2}" type="pres">
      <dgm:prSet presAssocID="{B3E39A80-D6B7-4E26-B22E-327D37299CB1}" presName="Name0" presStyleCnt="0">
        <dgm:presLayoutVars>
          <dgm:dir/>
          <dgm:resizeHandles val="exact"/>
        </dgm:presLayoutVars>
      </dgm:prSet>
      <dgm:spPr/>
    </dgm:pt>
    <dgm:pt modelId="{0B2273E3-B9E3-4A02-93CF-275511BE0699}" type="pres">
      <dgm:prSet presAssocID="{F4DCAFF9-3CD8-4192-92EC-2050EBC96D81}" presName="composite" presStyleCnt="0"/>
      <dgm:spPr/>
    </dgm:pt>
    <dgm:pt modelId="{367DAC4B-08E7-4BA7-A970-D0115453FB5A}" type="pres">
      <dgm:prSet presAssocID="{F4DCAFF9-3CD8-4192-92EC-2050EBC96D81}" presName="rect1" presStyleLbl="bgShp" presStyleIdx="0" presStyleCnt="1" custScaleX="100000" custScaleY="114921" custLinFactNeighborX="-3" custLinFactNeighborY="-609"/>
      <dgm:spPr>
        <a:prstGeom prst="diamond">
          <a:avLst/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AC81859-B11C-4EE9-8379-B9AF70890D88}" type="pres">
      <dgm:prSet presAssocID="{F4DCAFF9-3CD8-4192-92EC-2050EBC96D81}" presName="rect2" presStyleLbl="trBgShp" presStyleIdx="0" presStyleCnt="1">
        <dgm:presLayoutVars>
          <dgm:bulletEnabled val="1"/>
        </dgm:presLayoutVars>
      </dgm:prSet>
      <dgm:spPr/>
    </dgm:pt>
  </dgm:ptLst>
  <dgm:cxnLst>
    <dgm:cxn modelId="{66FE1000-47EF-42DF-BFE8-BDCFED900A1A}" type="presOf" srcId="{B3E39A80-D6B7-4E26-B22E-327D37299CB1}" destId="{BDA71D6A-C3D1-411E-9EAC-6386FFEE52C2}" srcOrd="0" destOrd="0" presId="urn:microsoft.com/office/officeart/2008/layout/BendingPictureSemiTransparentText"/>
    <dgm:cxn modelId="{2A678D74-5D28-4772-9694-380BDCB05326}" srcId="{B3E39A80-D6B7-4E26-B22E-327D37299CB1}" destId="{F4DCAFF9-3CD8-4192-92EC-2050EBC96D81}" srcOrd="0" destOrd="0" parTransId="{896C2910-71E4-4E18-81DA-428510306E45}" sibTransId="{5670A9B4-EF79-4194-B2F8-D0D0B5D9F166}"/>
    <dgm:cxn modelId="{4BE6EBC3-EE39-4A0A-92E4-856641EEAAE1}" type="presOf" srcId="{F4DCAFF9-3CD8-4192-92EC-2050EBC96D81}" destId="{7AC81859-B11C-4EE9-8379-B9AF70890D88}" srcOrd="0" destOrd="0" presId="urn:microsoft.com/office/officeart/2008/layout/BendingPictureSemiTransparentText"/>
    <dgm:cxn modelId="{642F9F45-268F-4106-8C62-B0B23C5EF48D}" type="presParOf" srcId="{BDA71D6A-C3D1-411E-9EAC-6386FFEE52C2}" destId="{0B2273E3-B9E3-4A02-93CF-275511BE0699}" srcOrd="0" destOrd="0" presId="urn:microsoft.com/office/officeart/2008/layout/BendingPictureSemiTransparentText"/>
    <dgm:cxn modelId="{92E6AC2C-2AE2-4933-8D85-50A712BE9130}" type="presParOf" srcId="{0B2273E3-B9E3-4A02-93CF-275511BE0699}" destId="{367DAC4B-08E7-4BA7-A970-D0115453FB5A}" srcOrd="0" destOrd="0" presId="urn:microsoft.com/office/officeart/2008/layout/BendingPictureSemiTransparentText"/>
    <dgm:cxn modelId="{DBFCC118-E845-4E12-BDD0-84F9A5C1C2DF}" type="presParOf" srcId="{0B2273E3-B9E3-4A02-93CF-275511BE0699}" destId="{7AC81859-B11C-4EE9-8379-B9AF70890D88}" srcOrd="1" destOrd="0" presId="urn:microsoft.com/office/officeart/2008/layout/BendingPictureSemiTransparentText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DAC4B-08E7-4BA7-A970-D0115453FB5A}">
      <dsp:nvSpPr>
        <dsp:cNvPr id="0" name=""/>
        <dsp:cNvSpPr/>
      </dsp:nvSpPr>
      <dsp:spPr>
        <a:xfrm>
          <a:off x="0" y="1"/>
          <a:ext cx="3651970" cy="3597195"/>
        </a:xfrm>
        <a:prstGeom prst="diamond">
          <a:avLst/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C81859-B11C-4EE9-8379-B9AF70890D88}">
      <dsp:nvSpPr>
        <dsp:cNvPr id="0" name=""/>
        <dsp:cNvSpPr/>
      </dsp:nvSpPr>
      <dsp:spPr>
        <a:xfrm>
          <a:off x="32210" y="2424595"/>
          <a:ext cx="3651751" cy="751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 dirty="0"/>
        </a:p>
      </dsp:txBody>
      <dsp:txXfrm>
        <a:off x="32210" y="2424595"/>
        <a:ext cx="3651751" cy="7511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DAC4B-08E7-4BA7-A970-D0115453FB5A}">
      <dsp:nvSpPr>
        <dsp:cNvPr id="0" name=""/>
        <dsp:cNvSpPr/>
      </dsp:nvSpPr>
      <dsp:spPr>
        <a:xfrm>
          <a:off x="0" y="2426"/>
          <a:ext cx="2191548" cy="2158678"/>
        </a:xfrm>
        <a:prstGeom prst="diamond">
          <a:avLst/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C81859-B11C-4EE9-8379-B9AF70890D88}">
      <dsp:nvSpPr>
        <dsp:cNvPr id="0" name=""/>
        <dsp:cNvSpPr/>
      </dsp:nvSpPr>
      <dsp:spPr>
        <a:xfrm>
          <a:off x="1293" y="1456213"/>
          <a:ext cx="2191417" cy="450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>
        <a:off x="1293" y="1456213"/>
        <a:ext cx="2191417" cy="4507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DAC4B-08E7-4BA7-A970-D0115453FB5A}">
      <dsp:nvSpPr>
        <dsp:cNvPr id="0" name=""/>
        <dsp:cNvSpPr/>
      </dsp:nvSpPr>
      <dsp:spPr>
        <a:xfrm>
          <a:off x="0" y="0"/>
          <a:ext cx="2265652" cy="2231688"/>
        </a:xfrm>
        <a:prstGeom prst="diamond">
          <a:avLst/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C81859-B11C-4EE9-8379-B9AF70890D88}">
      <dsp:nvSpPr>
        <dsp:cNvPr id="0" name=""/>
        <dsp:cNvSpPr/>
      </dsp:nvSpPr>
      <dsp:spPr>
        <a:xfrm>
          <a:off x="64" y="1504289"/>
          <a:ext cx="2265652" cy="466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dirty="0"/>
        </a:p>
      </dsp:txBody>
      <dsp:txXfrm>
        <a:off x="64" y="1504289"/>
        <a:ext cx="2265652" cy="4660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SemiTransparentText">
  <dgm:title val=""/>
  <dgm:desc val=""/>
  <dgm:catLst>
    <dgm:cat type="picture" pri="7000"/>
    <dgm:cat type="pictureconvert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19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1667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"/>
          <dgm:constr type="w" for="ch" forName="rect1" refType="w"/>
          <dgm:constr type="h" for="ch" forName="rect1" refType="h"/>
          <dgm:constr type="l" for="ch" forName="rect2" refType="w" fact="0"/>
          <dgm:constr type="t" for="ch" forName="rect2" refType="h" fact="0.7"/>
          <dgm:constr type="w" for="ch" forName="rect2" refType="w"/>
          <dgm:constr type="h" for="ch" forName="rect2" refType="h" fact="0.24"/>
        </dgm:constrLst>
        <dgm:layoutNode name="rect1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trBgShp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BendingPictureSemiTransparentText">
  <dgm:title val=""/>
  <dgm:desc val=""/>
  <dgm:catLst>
    <dgm:cat type="picture" pri="7000"/>
    <dgm:cat type="pictureconvert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19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1667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"/>
          <dgm:constr type="w" for="ch" forName="rect1" refType="w"/>
          <dgm:constr type="h" for="ch" forName="rect1" refType="h"/>
          <dgm:constr type="l" for="ch" forName="rect2" refType="w" fact="0"/>
          <dgm:constr type="t" for="ch" forName="rect2" refType="h" fact="0.7"/>
          <dgm:constr type="w" for="ch" forName="rect2" refType="w"/>
          <dgm:constr type="h" for="ch" forName="rect2" refType="h" fact="0.24"/>
        </dgm:constrLst>
        <dgm:layoutNode name="rect1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trBgShp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BendingPictureSemiTransparentText">
  <dgm:title val=""/>
  <dgm:desc val=""/>
  <dgm:catLst>
    <dgm:cat type="picture" pri="7000"/>
    <dgm:cat type="pictureconvert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19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1667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"/>
          <dgm:constr type="w" for="ch" forName="rect1" refType="w"/>
          <dgm:constr type="h" for="ch" forName="rect1" refType="h"/>
          <dgm:constr type="l" for="ch" forName="rect2" refType="w" fact="0"/>
          <dgm:constr type="t" for="ch" forName="rect2" refType="h" fact="0.7"/>
          <dgm:constr type="w" for="ch" forName="rect2" refType="w"/>
          <dgm:constr type="h" for="ch" forName="rect2" refType="h" fact="0.24"/>
        </dgm:constrLst>
        <dgm:layoutNode name="rect1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trBgShp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EF229D-C719-4C8C-B661-50BDF05ACC2F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8EFB7-B68B-4BCF-AD39-D17B04268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9480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A28504-E160-4DDA-B73E-8A11AA154918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9CD91-924F-4921-8B6D-CD37637B5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255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AD18E1-3F22-4F84-B00F-0BA447281B1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941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9CD91-924F-4921-8B6D-CD37637B56D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973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9CD91-924F-4921-8B6D-CD37637B56D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020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9CD91-924F-4921-8B6D-CD37637B56D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687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9CD91-924F-4921-8B6D-CD37637B56DE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124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708803" y="1437437"/>
            <a:ext cx="10515600" cy="435133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FB0099-A8A4-43A4-BFC4-0CAEE9022DF6}"/>
              </a:ext>
            </a:extLst>
          </p:cNvPr>
          <p:cNvSpPr/>
          <p:nvPr userDrawn="1"/>
        </p:nvSpPr>
        <p:spPr>
          <a:xfrm>
            <a:off x="0" y="1"/>
            <a:ext cx="12192000" cy="8626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2" descr="https://www.bupt.edu.cn/__local/C/8E/F7/EE902059AE32E0E6325EFEE8F46_B2D41D06_CD58.png">
            <a:extLst>
              <a:ext uri="{FF2B5EF4-FFF2-40B4-BE49-F238E27FC236}">
                <a16:creationId xmlns:a16="http://schemas.microsoft.com/office/drawing/2014/main" id="{84A9470D-D338-4BBB-BB13-B7FA4E611C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906" y="102510"/>
            <a:ext cx="2232000" cy="60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316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547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630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2968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6239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7870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4874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5477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7414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2102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7516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63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F81CF1-9E70-4031-A934-7289E3E67718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42735-F907-4E78-8BAC-DEE94870AD24}" type="datetimeFigureOut">
              <a:rPr lang="zh-CN" altLang="en-US" smtClean="0"/>
              <a:t>2025/5/4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1F0BA-9E20-4F25-98ED-AEF27E976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09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6" Type="http://schemas.openxmlformats.org/officeDocument/2006/relationships/diagramColors" Target="../diagrams/colors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83481" y="657756"/>
            <a:ext cx="9937104" cy="2736284"/>
            <a:chOff x="3104283" y="1000170"/>
            <a:chExt cx="6019602" cy="1808930"/>
          </a:xfrm>
        </p:grpSpPr>
        <p:grpSp>
          <p:nvGrpSpPr>
            <p:cNvPr id="5" name="组合 4"/>
            <p:cNvGrpSpPr/>
            <p:nvPr/>
          </p:nvGrpSpPr>
          <p:grpSpPr>
            <a:xfrm>
              <a:off x="3104283" y="1000170"/>
              <a:ext cx="743383" cy="744278"/>
              <a:chOff x="2819400" y="751114"/>
              <a:chExt cx="805543" cy="707572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2819400" y="751114"/>
                <a:ext cx="805543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2819400" y="751114"/>
                <a:ext cx="0" cy="70757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组合 5"/>
            <p:cNvGrpSpPr/>
            <p:nvPr/>
          </p:nvGrpSpPr>
          <p:grpSpPr>
            <a:xfrm rot="10800000">
              <a:off x="8380502" y="2064822"/>
              <a:ext cx="743383" cy="744278"/>
              <a:chOff x="2819400" y="751114"/>
              <a:chExt cx="805543" cy="707572"/>
            </a:xfrm>
          </p:grpSpPr>
          <p:cxnSp>
            <p:nvCxnSpPr>
              <p:cNvPr id="7" name="直接连接符 6"/>
              <p:cNvCxnSpPr/>
              <p:nvPr/>
            </p:nvCxnSpPr>
            <p:spPr>
              <a:xfrm>
                <a:off x="2819400" y="751114"/>
                <a:ext cx="805543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2819400" y="751114"/>
                <a:ext cx="0" cy="707572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1" name="直接连接符 10"/>
          <p:cNvCxnSpPr/>
          <p:nvPr/>
        </p:nvCxnSpPr>
        <p:spPr>
          <a:xfrm>
            <a:off x="794" y="4893251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583695" y="673085"/>
            <a:ext cx="918055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计算机组织与结构实验</a:t>
            </a:r>
            <a:endParaRPr lang="en-US" sz="50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WC Mano Negra Bt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62785" y="1612160"/>
            <a:ext cx="480146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WC Mano Negra Bta"/>
              </a:rPr>
              <a:t>北京邮电大学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WC Mano Negra Bta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WC Mano Negra Bta"/>
              </a:rPr>
              <a:t>计算机学院（国家示范性软件学院）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WC Mano Negra Bta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WC Mano Negra Bta"/>
              </a:rPr>
              <a:t>刁 婷 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WC Mano Negra Bta"/>
              </a:rPr>
              <a:t>diaoting@bupt.edu.cn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WC Mano Negra Bta"/>
            </a:endParaRPr>
          </a:p>
        </p:txBody>
      </p:sp>
      <p:graphicFrame>
        <p:nvGraphicFramePr>
          <p:cNvPr id="14" name="Diagram 6"/>
          <p:cNvGraphicFramePr/>
          <p:nvPr/>
        </p:nvGraphicFramePr>
        <p:xfrm>
          <a:off x="4238708" y="3094654"/>
          <a:ext cx="3716172" cy="35971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5" name="Diagram 8"/>
          <p:cNvGraphicFramePr/>
          <p:nvPr/>
        </p:nvGraphicFramePr>
        <p:xfrm>
          <a:off x="8046058" y="3812700"/>
          <a:ext cx="2194004" cy="2161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6" name="Diagram 10"/>
          <p:cNvGraphicFramePr/>
          <p:nvPr/>
        </p:nvGraphicFramePr>
        <p:xfrm>
          <a:off x="1836916" y="3777348"/>
          <a:ext cx="2265782" cy="22318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17" name="矩形 16"/>
          <p:cNvSpPr/>
          <p:nvPr/>
        </p:nvSpPr>
        <p:spPr>
          <a:xfrm rot="18932297">
            <a:off x="1078775" y="4741661"/>
            <a:ext cx="297536" cy="30318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 rot="18932297">
            <a:off x="10601753" y="4741661"/>
            <a:ext cx="297536" cy="30318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Graphic spid="14" grpId="0">
        <p:bldAsOne/>
      </p:bldGraphic>
      <p:bldGraphic spid="15" grpId="0">
        <p:bldAsOne/>
      </p:bldGraphic>
      <p:bldGraphic spid="16" grpId="0">
        <p:bldAsOne/>
      </p:bldGraphic>
      <p:bldP spid="17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F6B22D5-5963-45B5-A581-2D79E6E484A0}"/>
              </a:ext>
            </a:extLst>
          </p:cNvPr>
          <p:cNvGrpSpPr/>
          <p:nvPr/>
        </p:nvGrpSpPr>
        <p:grpSpPr>
          <a:xfrm>
            <a:off x="1903222" y="2751891"/>
            <a:ext cx="8385556" cy="1354217"/>
            <a:chOff x="6031012" y="5439523"/>
            <a:chExt cx="2379595" cy="1354217"/>
          </a:xfrm>
        </p:grpSpPr>
        <p:sp>
          <p:nvSpPr>
            <p:cNvPr id="5" name="矩形: 圆角 10">
              <a:extLst>
                <a:ext uri="{FF2B5EF4-FFF2-40B4-BE49-F238E27FC236}">
                  <a16:creationId xmlns:a16="http://schemas.microsoft.com/office/drawing/2014/main" id="{9B9BB20E-87D8-41F1-BE2B-0911042B5714}"/>
                </a:ext>
              </a:extLst>
            </p:cNvPr>
            <p:cNvSpPr/>
            <p:nvPr/>
          </p:nvSpPr>
          <p:spPr>
            <a:xfrm>
              <a:off x="6799919" y="5551489"/>
              <a:ext cx="117084" cy="426997"/>
            </a:xfrm>
            <a:prstGeom prst="roundRect">
              <a:avLst>
                <a:gd name="adj" fmla="val 40501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>
              <a:outerShdw blurRad="152400" dist="63500" dir="5400000" sx="104000" sy="104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265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165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7430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0330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2595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4860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7760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0025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267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文本框 3">
              <a:extLst>
                <a:ext uri="{FF2B5EF4-FFF2-40B4-BE49-F238E27FC236}">
                  <a16:creationId xmlns:a16="http://schemas.microsoft.com/office/drawing/2014/main" id="{69BB6226-F4D6-423A-9EBA-34F5B90BEEB0}"/>
                </a:ext>
              </a:extLst>
            </p:cNvPr>
            <p:cNvSpPr txBox="1"/>
            <p:nvPr/>
          </p:nvSpPr>
          <p:spPr>
            <a:xfrm>
              <a:off x="6031012" y="5439523"/>
              <a:ext cx="2379595" cy="13542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实验五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lvl="0" algn="ctr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en-US" altLang="zh-CN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CPU</a:t>
              </a:r>
              <a:r>
                <a:rPr lang="zh-CN" altLang="en-US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组成与机器指令的执行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5107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944657E-3887-468A-B6C2-04C5A751CD5C}"/>
              </a:ext>
            </a:extLst>
          </p:cNvPr>
          <p:cNvSpPr txBox="1"/>
          <p:nvPr/>
        </p:nvSpPr>
        <p:spPr>
          <a:xfrm>
            <a:off x="224589" y="138188"/>
            <a:ext cx="858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组成与机器指令的执行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536937-76C7-4720-8190-533CE95B1E5F}"/>
              </a:ext>
            </a:extLst>
          </p:cNvPr>
          <p:cNvSpPr/>
          <p:nvPr/>
        </p:nvSpPr>
        <p:spPr>
          <a:xfrm>
            <a:off x="866692" y="1538609"/>
            <a:ext cx="10877385" cy="4050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4000"/>
              </a:lnSpc>
              <a:spcBef>
                <a:spcPts val="2400"/>
              </a:spcBef>
              <a:spcAft>
                <a:spcPts val="1200"/>
              </a:spcAft>
              <a:buClr>
                <a:srgbClr val="0070C0"/>
              </a:buClr>
              <a:buSzPct val="100000"/>
              <a:buFont typeface="+mj-ea"/>
              <a:buAutoNum type="circleNumDbPlain"/>
            </a:pP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用微程序控制器控制数据通路，将相应的信号线连接，构成一台能够运行测试程序的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CPU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。</a:t>
            </a:r>
          </a:p>
          <a:p>
            <a:pPr marL="457200" indent="-457200">
              <a:lnSpc>
                <a:spcPts val="4000"/>
              </a:lnSpc>
              <a:spcBef>
                <a:spcPts val="2400"/>
              </a:spcBef>
              <a:spcAft>
                <a:spcPts val="1200"/>
              </a:spcAft>
              <a:buClr>
                <a:srgbClr val="0070C0"/>
              </a:buClr>
              <a:buSzPct val="100000"/>
              <a:buFont typeface="+mj-ea"/>
              <a:buAutoNum type="circleNumDbPlain"/>
            </a:pP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执行一个简单的程序，掌握机器指令与微指令的关系。</a:t>
            </a:r>
          </a:p>
          <a:p>
            <a:pPr marL="457200" indent="-457200">
              <a:lnSpc>
                <a:spcPts val="4000"/>
              </a:lnSpc>
              <a:spcBef>
                <a:spcPts val="2400"/>
              </a:spcBef>
              <a:spcAft>
                <a:spcPts val="1200"/>
              </a:spcAft>
              <a:buClr>
                <a:srgbClr val="0070C0"/>
              </a:buClr>
              <a:buSzPct val="100000"/>
              <a:buFont typeface="+mj-ea"/>
              <a:buAutoNum type="circleNumDbPlain"/>
            </a:pP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理解计算机如何取出指令、如何执行指令、如何在一条指令执行结束之后自动取出下一条指令并执行，从而牢固建立计算机整机概念。</a:t>
            </a:r>
          </a:p>
        </p:txBody>
      </p:sp>
    </p:spTree>
    <p:extLst>
      <p:ext uri="{BB962C8B-B14F-4D97-AF65-F5344CB8AC3E}">
        <p14:creationId xmlns:p14="http://schemas.microsoft.com/office/powerpoint/2010/main" val="3170260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9218198-62C6-475E-85C5-2A439DB6222A}"/>
              </a:ext>
            </a:extLst>
          </p:cNvPr>
          <p:cNvSpPr txBox="1"/>
          <p:nvPr/>
        </p:nvSpPr>
        <p:spPr>
          <a:xfrm>
            <a:off x="224589" y="138188"/>
            <a:ext cx="858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组成与机器指令的执行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实验任务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5156AE0-C33C-417B-92FF-2A52AFA7B6BF}"/>
              </a:ext>
            </a:extLst>
          </p:cNvPr>
          <p:cNvSpPr txBox="1">
            <a:spLocks noChangeArrowheads="1"/>
          </p:cNvSpPr>
          <p:nvPr/>
        </p:nvSpPr>
        <p:spPr>
          <a:xfrm>
            <a:off x="992777" y="1402080"/>
            <a:ext cx="10950082" cy="4641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预习任务：完成对给定程序的手工汇编。</a:t>
            </a:r>
            <a:endParaRPr kumimoji="0" lang="en-US" altLang="zh-CN" sz="28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通过简单的连线构成能够运行程序的</a:t>
            </a: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TEC-8</a:t>
            </a:r>
            <a:r>
              <a:rPr lang="en-US" altLang="zh-CN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/TEC-Plus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模型计算机。</a:t>
            </a:r>
            <a:endParaRPr kumimoji="0" lang="en-US" altLang="zh-CN" sz="28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将程序写入存储器，给寄存器</a:t>
            </a:r>
            <a:r>
              <a:rPr lang="en-US" altLang="zh-CN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  <a:r>
              <a:rPr lang="zh-CN" altLang="en-US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R3</a:t>
            </a:r>
            <a:r>
              <a:rPr lang="zh-CN" altLang="en-US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赋初值。</a:t>
            </a:r>
            <a:endParaRPr lang="en-US" altLang="zh-CN" sz="28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跟踪执行程序，用单拍方式运行一遍，用连续方式运行一遍，详细记录实验过程及结果。</a:t>
            </a:r>
            <a:endParaRPr lang="en-US" altLang="zh-CN" sz="28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用实验台操作检查程序运行结果。</a:t>
            </a:r>
            <a:endParaRPr lang="en-US" altLang="zh-CN" sz="28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7063" marR="0" lvl="0" indent="-269875" algn="l" defTabSz="914400" rtl="0" eaLnBrk="1" fontAlgn="auto" latinLnBrk="0" hangingPunct="1">
              <a:lnSpc>
                <a:spcPts val="3500"/>
              </a:lnSpc>
              <a:spcBef>
                <a:spcPts val="600"/>
              </a:spcBef>
              <a:spcAft>
                <a:spcPts val="0"/>
              </a:spcAft>
              <a:buClr>
                <a:srgbClr val="FFC000"/>
              </a:buClr>
              <a:buSzPct val="80000"/>
              <a:buFont typeface="+mj-ea"/>
              <a:buAutoNum type="circleNumDbPlain"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SzPct val="80000"/>
              <a:buFont typeface="Wingdings" panose="05000000000000000000" pitchFamily="2" charset="2"/>
              <a:buChar char="p"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105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4C04A9C1-0D04-4D82-A921-4B141289C81C}"/>
              </a:ext>
            </a:extLst>
          </p:cNvPr>
          <p:cNvSpPr txBox="1"/>
          <p:nvPr/>
        </p:nvSpPr>
        <p:spPr>
          <a:xfrm>
            <a:off x="224589" y="138188"/>
            <a:ext cx="8919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Tec-Plus/Tec-8</a:t>
            </a:r>
            <a:r>
              <a:rPr lang="zh-CN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模型计算机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1B403B0-5A5F-4585-A5EB-F79DBA5E7350}"/>
              </a:ext>
            </a:extLst>
          </p:cNvPr>
          <p:cNvGraphicFramePr>
            <a:graphicFrameLocks noGrp="1"/>
          </p:cNvGraphicFramePr>
          <p:nvPr/>
        </p:nvGraphicFramePr>
        <p:xfrm>
          <a:off x="801354" y="878972"/>
          <a:ext cx="10708098" cy="593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143">
                  <a:extLst>
                    <a:ext uri="{9D8B030D-6E8A-4147-A177-3AD203B41FA5}">
                      <a16:colId xmlns:a16="http://schemas.microsoft.com/office/drawing/2014/main" val="1018326190"/>
                    </a:ext>
                  </a:extLst>
                </a:gridCol>
                <a:gridCol w="1862791">
                  <a:extLst>
                    <a:ext uri="{9D8B030D-6E8A-4147-A177-3AD203B41FA5}">
                      <a16:colId xmlns:a16="http://schemas.microsoft.com/office/drawing/2014/main" val="3815695987"/>
                    </a:ext>
                  </a:extLst>
                </a:gridCol>
                <a:gridCol w="3244925">
                  <a:extLst>
                    <a:ext uri="{9D8B030D-6E8A-4147-A177-3AD203B41FA5}">
                      <a16:colId xmlns:a16="http://schemas.microsoft.com/office/drawing/2014/main" val="2653766138"/>
                    </a:ext>
                  </a:extLst>
                </a:gridCol>
                <a:gridCol w="1423852">
                  <a:extLst>
                    <a:ext uri="{9D8B030D-6E8A-4147-A177-3AD203B41FA5}">
                      <a16:colId xmlns:a16="http://schemas.microsoft.com/office/drawing/2014/main" val="409082311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713507787"/>
                    </a:ext>
                  </a:extLst>
                </a:gridCol>
                <a:gridCol w="1280159">
                  <a:extLst>
                    <a:ext uri="{9D8B030D-6E8A-4147-A177-3AD203B41FA5}">
                      <a16:colId xmlns:a16="http://schemas.microsoft.com/office/drawing/2014/main" val="269333354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名称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助记符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功能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指令格式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1736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IR7——IR4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IR3  IR2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IR1  IR0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6889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加法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ADD </a:t>
                      </a:r>
                      <a:r>
                        <a:rPr lang="en-US" altLang="zh-CN" sz="1800" dirty="0" err="1"/>
                        <a:t>Rd,Rs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Rd      </a:t>
                      </a:r>
                      <a:r>
                        <a:rPr lang="en-US" altLang="zh-CN" sz="1800" dirty="0" err="1"/>
                        <a:t>Rd+Rs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0001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Rd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Rs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138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减法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SUB </a:t>
                      </a:r>
                      <a:r>
                        <a:rPr lang="en-US" altLang="zh-CN" sz="1800" dirty="0" err="1"/>
                        <a:t>Rd,Rs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Rd      </a:t>
                      </a:r>
                      <a:r>
                        <a:rPr lang="en-US" altLang="zh-CN" sz="1800" dirty="0" err="1"/>
                        <a:t>Rd</a:t>
                      </a:r>
                      <a:r>
                        <a:rPr lang="en-US" altLang="zh-CN" sz="1800" dirty="0"/>
                        <a:t>- Rs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0010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Rd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Rs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7715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逻辑与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AND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altLang="zh-CN" sz="1800" dirty="0" err="1"/>
                        <a:t>Rd,Rs</a:t>
                      </a:r>
                      <a:endParaRPr lang="en-US" altLang="zh-CN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Rd      </a:t>
                      </a:r>
                      <a:r>
                        <a:rPr lang="en-US" altLang="zh-CN" sz="1800" dirty="0" err="1"/>
                        <a:t>Rd</a:t>
                      </a:r>
                      <a:r>
                        <a:rPr lang="en-US" altLang="zh-CN" sz="1800" dirty="0"/>
                        <a:t> and Rs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0011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Rd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Rs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7326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加</a:t>
                      </a:r>
                      <a:r>
                        <a:rPr lang="en-US" altLang="zh-CN" sz="1800" dirty="0"/>
                        <a:t>1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INC Rd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Rd      Rd+1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0100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Rd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XX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416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取数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LD Rd,[Rs]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Rd      [Rs]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0101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Rd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Rs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006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存数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ST Rs,[Rd]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Rs      [Rd]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0110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Rd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Rs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481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</a:t>
                      </a:r>
                      <a:r>
                        <a:rPr lang="zh-CN" altLang="en-US" sz="1800" dirty="0"/>
                        <a:t>条件转移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JC </a:t>
                      </a:r>
                      <a:r>
                        <a:rPr lang="en-US" altLang="zh-CN" sz="1800" dirty="0" err="1"/>
                        <a:t>addr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C=1</a:t>
                      </a:r>
                      <a:r>
                        <a:rPr lang="zh-CN" altLang="en-US" sz="1800" dirty="0"/>
                        <a:t>时，</a:t>
                      </a:r>
                      <a:r>
                        <a:rPr lang="en-US" altLang="zh-CN" sz="1800" dirty="0"/>
                        <a:t>PC     @+offset</a:t>
                      </a:r>
                      <a:endParaRPr lang="en-US" altLang="zh-CN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0111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offset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2825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Z</a:t>
                      </a:r>
                      <a:r>
                        <a:rPr lang="zh-CN" altLang="en-US" sz="1800" dirty="0"/>
                        <a:t>条件转移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JZ </a:t>
                      </a:r>
                      <a:r>
                        <a:rPr lang="en-US" altLang="zh-CN" sz="1800" dirty="0" err="1"/>
                        <a:t>addr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Z=1</a:t>
                      </a:r>
                      <a:r>
                        <a:rPr lang="zh-CN" altLang="en-US" sz="1800" dirty="0"/>
                        <a:t>时，</a:t>
                      </a:r>
                      <a:r>
                        <a:rPr lang="en-US" altLang="zh-CN" sz="1800" dirty="0"/>
                        <a:t>PC     @+offset</a:t>
                      </a:r>
                      <a:endParaRPr lang="en-US" altLang="zh-CN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1000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offset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1370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无条件转移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JMP Rd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PC      Rd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1001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Rd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XX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650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输出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OUT Rs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DBUS      Rs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1010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XX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Rs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717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中断返回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IRET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返回断点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1011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XX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XX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857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关中断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DI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禁止中断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1100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XX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XX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963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开中断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EI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允许中断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1101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XX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XX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945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停机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STP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暂停运行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1110</a:t>
                      </a: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XX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XX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577128"/>
                  </a:ext>
                </a:extLst>
              </a:tr>
            </a:tbl>
          </a:graphicData>
        </a:graphic>
      </p:graphicFrame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5E90B17-328D-4656-A904-733DB284BCBF}"/>
              </a:ext>
            </a:extLst>
          </p:cNvPr>
          <p:cNvCxnSpPr/>
          <p:nvPr/>
        </p:nvCxnSpPr>
        <p:spPr>
          <a:xfrm flipH="1">
            <a:off x="5362216" y="1800454"/>
            <a:ext cx="21336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3456505-1B62-4DB5-9E90-4DD02E231314}"/>
              </a:ext>
            </a:extLst>
          </p:cNvPr>
          <p:cNvCxnSpPr/>
          <p:nvPr/>
        </p:nvCxnSpPr>
        <p:spPr>
          <a:xfrm flipH="1">
            <a:off x="5362216" y="2187985"/>
            <a:ext cx="21336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E3B379D-BA72-4CA6-BD21-AC55B98BF050}"/>
              </a:ext>
            </a:extLst>
          </p:cNvPr>
          <p:cNvCxnSpPr/>
          <p:nvPr/>
        </p:nvCxnSpPr>
        <p:spPr>
          <a:xfrm flipH="1">
            <a:off x="5174982" y="2553746"/>
            <a:ext cx="21336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05A48E5-04B5-43BA-ABD8-DD4F47E330C9}"/>
              </a:ext>
            </a:extLst>
          </p:cNvPr>
          <p:cNvCxnSpPr/>
          <p:nvPr/>
        </p:nvCxnSpPr>
        <p:spPr>
          <a:xfrm flipH="1">
            <a:off x="5427531" y="2915151"/>
            <a:ext cx="21336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23305A8-FE1E-41C5-88EF-428B2F7B1B5C}"/>
              </a:ext>
            </a:extLst>
          </p:cNvPr>
          <p:cNvCxnSpPr>
            <a:cxnSpLocks/>
          </p:cNvCxnSpPr>
          <p:nvPr/>
        </p:nvCxnSpPr>
        <p:spPr>
          <a:xfrm>
            <a:off x="5492846" y="3672797"/>
            <a:ext cx="23513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9A8403D-4D57-438C-A4CE-4D2AC8B66ED8}"/>
              </a:ext>
            </a:extLst>
          </p:cNvPr>
          <p:cNvCxnSpPr/>
          <p:nvPr/>
        </p:nvCxnSpPr>
        <p:spPr>
          <a:xfrm flipH="1">
            <a:off x="5540743" y="3276556"/>
            <a:ext cx="21336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B853925-3C0F-4747-8032-5254EA7FEDCF}"/>
              </a:ext>
            </a:extLst>
          </p:cNvPr>
          <p:cNvCxnSpPr/>
          <p:nvPr/>
        </p:nvCxnSpPr>
        <p:spPr>
          <a:xfrm flipH="1">
            <a:off x="5673549" y="4029847"/>
            <a:ext cx="21336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F785325-4740-4859-A505-AF88DB95997A}"/>
              </a:ext>
            </a:extLst>
          </p:cNvPr>
          <p:cNvCxnSpPr/>
          <p:nvPr/>
        </p:nvCxnSpPr>
        <p:spPr>
          <a:xfrm flipH="1">
            <a:off x="5673549" y="4399960"/>
            <a:ext cx="21336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7221663-4A16-4D77-B8F0-E02EFAF82D5F}"/>
              </a:ext>
            </a:extLst>
          </p:cNvPr>
          <p:cNvCxnSpPr/>
          <p:nvPr/>
        </p:nvCxnSpPr>
        <p:spPr>
          <a:xfrm flipH="1">
            <a:off x="5549450" y="4765721"/>
            <a:ext cx="21336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E931358-65DA-4DCA-A878-403690E81BE9}"/>
              </a:ext>
            </a:extLst>
          </p:cNvPr>
          <p:cNvCxnSpPr/>
          <p:nvPr/>
        </p:nvCxnSpPr>
        <p:spPr>
          <a:xfrm flipH="1">
            <a:off x="5764988" y="5127126"/>
            <a:ext cx="21336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323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F9CF700-82FC-4467-99F1-CFBB6EA16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7CC2DFD-1277-4DEB-A113-6F3C5154D6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66219"/>
              </p:ext>
            </p:extLst>
          </p:nvPr>
        </p:nvGraphicFramePr>
        <p:xfrm>
          <a:off x="793170" y="1409934"/>
          <a:ext cx="5198448" cy="4860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208">
                  <a:extLst>
                    <a:ext uri="{9D8B030D-6E8A-4147-A177-3AD203B41FA5}">
                      <a16:colId xmlns:a16="http://schemas.microsoft.com/office/drawing/2014/main" val="1389066113"/>
                    </a:ext>
                  </a:extLst>
                </a:gridCol>
                <a:gridCol w="1865418">
                  <a:extLst>
                    <a:ext uri="{9D8B030D-6E8A-4147-A177-3AD203B41FA5}">
                      <a16:colId xmlns:a16="http://schemas.microsoft.com/office/drawing/2014/main" val="673928015"/>
                    </a:ext>
                  </a:extLst>
                </a:gridCol>
                <a:gridCol w="2340822">
                  <a:extLst>
                    <a:ext uri="{9D8B030D-6E8A-4147-A177-3AD203B41FA5}">
                      <a16:colId xmlns:a16="http://schemas.microsoft.com/office/drawing/2014/main" val="1778697810"/>
                    </a:ext>
                  </a:extLst>
                </a:gridCol>
              </a:tblGrid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地址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指令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二进制机器代码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330985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LD R0,[R3]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0940674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01H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INC</a:t>
                      </a:r>
                      <a:r>
                        <a:rPr lang="zh-CN" alt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R3</a:t>
                      </a:r>
                      <a:endParaRPr lang="en-US" altLang="zh-C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2884906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02H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LD</a:t>
                      </a:r>
                      <a:r>
                        <a:rPr lang="zh-CN" alt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R1,[R3]</a:t>
                      </a:r>
                      <a:endParaRPr lang="en-US" altLang="zh-C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5645617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03H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SUB R0,R1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429584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04H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JZ 0BH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7023040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05H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 R0,[R2]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036354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06H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INC</a:t>
                      </a:r>
                      <a:r>
                        <a:rPr lang="zh-CN" alt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R3</a:t>
                      </a:r>
                      <a:endParaRPr lang="en-US" altLang="zh-C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2498121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07H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LD R0,[R3]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014223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08H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ADD R0,R1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4357619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09H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JC 0CH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7062673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2AB7DE2-9533-4341-8EA7-F609F3357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810716"/>
              </p:ext>
            </p:extLst>
          </p:nvPr>
        </p:nvGraphicFramePr>
        <p:xfrm>
          <a:off x="6237664" y="1409934"/>
          <a:ext cx="5198448" cy="4819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499">
                  <a:extLst>
                    <a:ext uri="{9D8B030D-6E8A-4147-A177-3AD203B41FA5}">
                      <a16:colId xmlns:a16="http://schemas.microsoft.com/office/drawing/2014/main" val="1389066113"/>
                    </a:ext>
                  </a:extLst>
                </a:gridCol>
                <a:gridCol w="1874127">
                  <a:extLst>
                    <a:ext uri="{9D8B030D-6E8A-4147-A177-3AD203B41FA5}">
                      <a16:colId xmlns:a16="http://schemas.microsoft.com/office/drawing/2014/main" val="673928015"/>
                    </a:ext>
                  </a:extLst>
                </a:gridCol>
                <a:gridCol w="2340822">
                  <a:extLst>
                    <a:ext uri="{9D8B030D-6E8A-4147-A177-3AD203B41FA5}">
                      <a16:colId xmlns:a16="http://schemas.microsoft.com/office/drawing/2014/main" val="1778697810"/>
                    </a:ext>
                  </a:extLst>
                </a:gridCol>
              </a:tblGrid>
              <a:tr h="43814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地址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指令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二进制机器代码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330985"/>
                  </a:ext>
                </a:extLst>
              </a:tr>
              <a:tr h="43814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0AH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INC</a:t>
                      </a:r>
                      <a:r>
                        <a:rPr lang="zh-CN" alt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R2</a:t>
                      </a:r>
                      <a:endParaRPr lang="en-US" altLang="zh-C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7062673"/>
                  </a:ext>
                </a:extLst>
              </a:tr>
              <a:tr h="43814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0BH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 R2,[R2]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7649193"/>
                  </a:ext>
                </a:extLst>
              </a:tr>
              <a:tr h="43814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0CH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AND R0,R1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5453230"/>
                  </a:ext>
                </a:extLst>
              </a:tr>
              <a:tr h="43814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0DH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OUT R2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5399896"/>
                  </a:ext>
                </a:extLst>
              </a:tr>
              <a:tr h="43814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0EH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STP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085342"/>
                  </a:ext>
                </a:extLst>
              </a:tr>
              <a:tr h="43814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0FH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85H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81463"/>
                  </a:ext>
                </a:extLst>
              </a:tr>
              <a:tr h="43814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10H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23H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2853832"/>
                  </a:ext>
                </a:extLst>
              </a:tr>
              <a:tr h="43814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11H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EFH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840128"/>
                  </a:ext>
                </a:extLst>
              </a:tr>
              <a:tr h="43814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12H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7968947"/>
                  </a:ext>
                </a:extLst>
              </a:tr>
              <a:tr h="43814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13H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368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FB9C506-8F78-4F6E-8C35-A48AED018D56}"/>
              </a:ext>
            </a:extLst>
          </p:cNvPr>
          <p:cNvSpPr txBox="1"/>
          <p:nvPr/>
        </p:nvSpPr>
        <p:spPr>
          <a:xfrm>
            <a:off x="224589" y="138188"/>
            <a:ext cx="858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组成与机器指令的执行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实验任务</a:t>
            </a:r>
          </a:p>
        </p:txBody>
      </p:sp>
    </p:spTree>
    <p:extLst>
      <p:ext uri="{BB962C8B-B14F-4D97-AF65-F5344CB8AC3E}">
        <p14:creationId xmlns:p14="http://schemas.microsoft.com/office/powerpoint/2010/main" val="1270885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33B89EA0-213F-4A86-AFCD-0E47494FD813}"/>
              </a:ext>
            </a:extLst>
          </p:cNvPr>
          <p:cNvGraphicFramePr>
            <a:graphicFrameLocks/>
          </p:cNvGraphicFramePr>
          <p:nvPr/>
        </p:nvGraphicFramePr>
        <p:xfrm>
          <a:off x="1932877" y="0"/>
          <a:ext cx="10789211" cy="7750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Visio" r:id="rId4" imgW="7496014" imgH="6067266" progId="Visio.Drawing.11">
                  <p:embed/>
                </p:oleObj>
              </mc:Choice>
              <mc:Fallback>
                <p:oleObj name="Visio" r:id="rId4" imgW="7496014" imgH="6067266" progId="Visio.Drawing.11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33B89EA0-213F-4A86-AFCD-0E47494FD813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2877" y="0"/>
                        <a:ext cx="10789211" cy="77500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9E5BEAA5-B48A-4603-B01E-DD1CE0B5BC05}"/>
              </a:ext>
            </a:extLst>
          </p:cNvPr>
          <p:cNvSpPr/>
          <p:nvPr/>
        </p:nvSpPr>
        <p:spPr>
          <a:xfrm>
            <a:off x="4483851" y="6279077"/>
            <a:ext cx="2116002" cy="324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、写存储器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63BBE2-5BA9-4C9F-A182-3F475194F975}"/>
              </a:ext>
            </a:extLst>
          </p:cNvPr>
          <p:cNvSpPr/>
          <p:nvPr/>
        </p:nvSpPr>
        <p:spPr>
          <a:xfrm>
            <a:off x="9302162" y="779631"/>
            <a:ext cx="1163216" cy="236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0101 0011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7EC5AB-F251-4514-A771-D9678E4C362A}"/>
              </a:ext>
            </a:extLst>
          </p:cNvPr>
          <p:cNvSpPr/>
          <p:nvPr/>
        </p:nvSpPr>
        <p:spPr>
          <a:xfrm>
            <a:off x="8685279" y="779632"/>
            <a:ext cx="616883" cy="236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00H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9F2FEA-EB9C-4BBE-8941-BC6C63F28CBC}"/>
              </a:ext>
            </a:extLst>
          </p:cNvPr>
          <p:cNvSpPr/>
          <p:nvPr/>
        </p:nvSpPr>
        <p:spPr>
          <a:xfrm>
            <a:off x="9302162" y="1024711"/>
            <a:ext cx="1163216" cy="236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0100 1100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FE72AE-182F-45C4-871C-40954A842421}"/>
              </a:ext>
            </a:extLst>
          </p:cNvPr>
          <p:cNvSpPr/>
          <p:nvPr/>
        </p:nvSpPr>
        <p:spPr>
          <a:xfrm>
            <a:off x="8685279" y="1024712"/>
            <a:ext cx="616883" cy="236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01H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761BE3-6A69-4DE4-8185-B7456FCD7CA4}"/>
              </a:ext>
            </a:extLst>
          </p:cNvPr>
          <p:cNvSpPr/>
          <p:nvPr/>
        </p:nvSpPr>
        <p:spPr>
          <a:xfrm>
            <a:off x="9302162" y="1261086"/>
            <a:ext cx="1163216" cy="236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…………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913978-B399-4E4A-9D43-9747FB572AEB}"/>
              </a:ext>
            </a:extLst>
          </p:cNvPr>
          <p:cNvSpPr/>
          <p:nvPr/>
        </p:nvSpPr>
        <p:spPr>
          <a:xfrm>
            <a:off x="8685279" y="1261087"/>
            <a:ext cx="616883" cy="236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E2249F7-2ACE-4424-BE4F-388279D2CCA4}"/>
              </a:ext>
            </a:extLst>
          </p:cNvPr>
          <p:cNvSpPr/>
          <p:nvPr/>
        </p:nvSpPr>
        <p:spPr>
          <a:xfrm>
            <a:off x="8683895" y="2113453"/>
            <a:ext cx="616883" cy="236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00H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565A639-219D-4B45-BD91-9D75178979B7}"/>
              </a:ext>
            </a:extLst>
          </p:cNvPr>
          <p:cNvSpPr/>
          <p:nvPr/>
        </p:nvSpPr>
        <p:spPr>
          <a:xfrm>
            <a:off x="4483851" y="6279077"/>
            <a:ext cx="2116002" cy="324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、读存储器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FCB1AF6-56D0-4A5A-B23F-C7B9243E1CEB}"/>
              </a:ext>
            </a:extLst>
          </p:cNvPr>
          <p:cNvSpPr/>
          <p:nvPr/>
        </p:nvSpPr>
        <p:spPr>
          <a:xfrm>
            <a:off x="4483851" y="6285731"/>
            <a:ext cx="2116002" cy="324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、写寄存器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SWD23H">
            <a:extLst>
              <a:ext uri="{FF2B5EF4-FFF2-40B4-BE49-F238E27FC236}">
                <a16:creationId xmlns:a16="http://schemas.microsoft.com/office/drawing/2014/main" id="{B3D03532-E6A4-481D-A23F-C113AD2707D6}"/>
              </a:ext>
            </a:extLst>
          </p:cNvPr>
          <p:cNvGrpSpPr/>
          <p:nvPr/>
        </p:nvGrpSpPr>
        <p:grpSpPr>
          <a:xfrm>
            <a:off x="6607035" y="3295499"/>
            <a:ext cx="492930" cy="248916"/>
            <a:chOff x="3047758" y="4844585"/>
            <a:chExt cx="619934" cy="444089"/>
          </a:xfrm>
        </p:grpSpPr>
        <p:sp>
          <p:nvSpPr>
            <p:cNvPr id="19" name="Oval 66">
              <a:extLst>
                <a:ext uri="{FF2B5EF4-FFF2-40B4-BE49-F238E27FC236}">
                  <a16:creationId xmlns:a16="http://schemas.microsoft.com/office/drawing/2014/main" id="{6D2E300C-0191-49FE-9A0B-005725D8C069}"/>
                </a:ext>
              </a:extLst>
            </p:cNvPr>
            <p:cNvSpPr/>
            <p:nvPr/>
          </p:nvSpPr>
          <p:spPr>
            <a:xfrm>
              <a:off x="3058306" y="4856674"/>
              <a:ext cx="432000" cy="432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/>
            </a:p>
          </p:txBody>
        </p:sp>
        <p:sp>
          <p:nvSpPr>
            <p:cNvPr id="20" name="TextBox 67">
              <a:extLst>
                <a:ext uri="{FF2B5EF4-FFF2-40B4-BE49-F238E27FC236}">
                  <a16:creationId xmlns:a16="http://schemas.microsoft.com/office/drawing/2014/main" id="{1068D59C-0194-4336-B152-F09296EAC384}"/>
                </a:ext>
              </a:extLst>
            </p:cNvPr>
            <p:cNvSpPr txBox="1"/>
            <p:nvPr/>
          </p:nvSpPr>
          <p:spPr>
            <a:xfrm>
              <a:off x="3047758" y="4844585"/>
              <a:ext cx="619934" cy="411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b="1" dirty="0">
                  <a:solidFill>
                    <a:schemeClr val="bg1"/>
                  </a:solidFill>
                </a:rPr>
                <a:t>0FH</a:t>
              </a:r>
              <a:endParaRPr lang="zh-CN" altLang="en-US" sz="9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SWD23H">
            <a:extLst>
              <a:ext uri="{FF2B5EF4-FFF2-40B4-BE49-F238E27FC236}">
                <a16:creationId xmlns:a16="http://schemas.microsoft.com/office/drawing/2014/main" id="{6A42040B-E9C8-4151-A450-C4065FA3D069}"/>
              </a:ext>
            </a:extLst>
          </p:cNvPr>
          <p:cNvGrpSpPr/>
          <p:nvPr/>
        </p:nvGrpSpPr>
        <p:grpSpPr>
          <a:xfrm>
            <a:off x="5454963" y="3304541"/>
            <a:ext cx="492930" cy="248918"/>
            <a:chOff x="3047758" y="4844582"/>
            <a:chExt cx="619934" cy="444092"/>
          </a:xfrm>
        </p:grpSpPr>
        <p:sp>
          <p:nvSpPr>
            <p:cNvPr id="22" name="Oval 66">
              <a:extLst>
                <a:ext uri="{FF2B5EF4-FFF2-40B4-BE49-F238E27FC236}">
                  <a16:creationId xmlns:a16="http://schemas.microsoft.com/office/drawing/2014/main" id="{DA6A275B-6728-465D-B1B4-BCCB5C4127EB}"/>
                </a:ext>
              </a:extLst>
            </p:cNvPr>
            <p:cNvSpPr/>
            <p:nvPr/>
          </p:nvSpPr>
          <p:spPr>
            <a:xfrm>
              <a:off x="3058306" y="4856674"/>
              <a:ext cx="432000" cy="432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/>
            </a:p>
          </p:txBody>
        </p:sp>
        <p:sp>
          <p:nvSpPr>
            <p:cNvPr id="23" name="TextBox 67">
              <a:extLst>
                <a:ext uri="{FF2B5EF4-FFF2-40B4-BE49-F238E27FC236}">
                  <a16:creationId xmlns:a16="http://schemas.microsoft.com/office/drawing/2014/main" id="{F9BE349C-5673-410B-9943-B228AFB9A41A}"/>
                </a:ext>
              </a:extLst>
            </p:cNvPr>
            <p:cNvSpPr txBox="1"/>
            <p:nvPr/>
          </p:nvSpPr>
          <p:spPr>
            <a:xfrm>
              <a:off x="3047758" y="4844582"/>
              <a:ext cx="619934" cy="411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b="1" dirty="0">
                  <a:solidFill>
                    <a:schemeClr val="bg1"/>
                  </a:solidFill>
                </a:rPr>
                <a:t>12H</a:t>
              </a:r>
              <a:endParaRPr lang="zh-CN" altLang="en-US" sz="9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447994A-9716-49A7-B467-9A86CB885FF8}"/>
              </a:ext>
            </a:extLst>
          </p:cNvPr>
          <p:cNvSpPr/>
          <p:nvPr/>
        </p:nvSpPr>
        <p:spPr>
          <a:xfrm>
            <a:off x="4470450" y="6285731"/>
            <a:ext cx="2116002" cy="324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、读寄存器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E756029-B430-4C8D-A559-BD797B17636C}"/>
              </a:ext>
            </a:extLst>
          </p:cNvPr>
          <p:cNvSpPr/>
          <p:nvPr/>
        </p:nvSpPr>
        <p:spPr>
          <a:xfrm>
            <a:off x="4470712" y="6285946"/>
            <a:ext cx="2116002" cy="324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、程序运行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8488D8-5D63-4632-8AEF-2AD9B9E4BB81}"/>
              </a:ext>
            </a:extLst>
          </p:cNvPr>
          <p:cNvSpPr/>
          <p:nvPr/>
        </p:nvSpPr>
        <p:spPr>
          <a:xfrm>
            <a:off x="3288888" y="6007994"/>
            <a:ext cx="207731" cy="188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0410B8E-D257-4517-A6A3-21EE1307B8B5}"/>
              </a:ext>
            </a:extLst>
          </p:cNvPr>
          <p:cNvSpPr/>
          <p:nvPr/>
        </p:nvSpPr>
        <p:spPr>
          <a:xfrm>
            <a:off x="9974964" y="2113453"/>
            <a:ext cx="616883" cy="236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00H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02BF719A-D98D-468F-9734-22D9E34ADBA0}"/>
              </a:ext>
            </a:extLst>
          </p:cNvPr>
          <p:cNvSpPr/>
          <p:nvPr/>
        </p:nvSpPr>
        <p:spPr>
          <a:xfrm>
            <a:off x="4484797" y="6284283"/>
            <a:ext cx="2116002" cy="324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、读寄存器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C6FFD40-1A9B-4925-8817-D4F528DFAF26}"/>
              </a:ext>
            </a:extLst>
          </p:cNvPr>
          <p:cNvSpPr/>
          <p:nvPr/>
        </p:nvSpPr>
        <p:spPr>
          <a:xfrm>
            <a:off x="4475500" y="6280759"/>
            <a:ext cx="2116002" cy="324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、读存储器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249A59E-2A65-4742-8B30-AE4E6A21145A}"/>
              </a:ext>
            </a:extLst>
          </p:cNvPr>
          <p:cNvSpPr/>
          <p:nvPr/>
        </p:nvSpPr>
        <p:spPr>
          <a:xfrm>
            <a:off x="8683894" y="2113017"/>
            <a:ext cx="616883" cy="236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12H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BFD4165-6623-4039-9302-54306D79C1D9}"/>
              </a:ext>
            </a:extLst>
          </p:cNvPr>
          <p:cNvSpPr/>
          <p:nvPr/>
        </p:nvSpPr>
        <p:spPr>
          <a:xfrm>
            <a:off x="70009" y="4508927"/>
            <a:ext cx="6645487" cy="21668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在连续方式下运行：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、重新设置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的值，重新设置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存储单元的值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DP=0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、使程序自动运行到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、检查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个寄存器中的数据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、检查存储器中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两个存储单元的数据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E5526BE-B93B-44A4-87B7-8413F964E75B}"/>
              </a:ext>
            </a:extLst>
          </p:cNvPr>
          <p:cNvSpPr/>
          <p:nvPr/>
        </p:nvSpPr>
        <p:spPr>
          <a:xfrm>
            <a:off x="70009" y="2323055"/>
            <a:ext cx="6645487" cy="21668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在单拍方式下运行：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、写存储器：写入程序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、读存储器：检查写入是否正确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、写寄存器：将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0FH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R3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、都存储器：检查写入是否正确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、单拍方式运行程序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、读取四个寄存器的值，读取存储器地址为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832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6" presetClass="entr" presetSubtype="2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xit" presetSubtype="21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0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0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4" grpId="1" animBg="1"/>
      <p:bldP spid="14" grpId="2" animBg="1"/>
      <p:bldP spid="14" grpId="3" animBg="1"/>
      <p:bldP spid="16" grpId="0" animBg="1"/>
      <p:bldP spid="16" grpId="1" animBg="1"/>
      <p:bldP spid="17" grpId="0" animBg="1"/>
      <p:bldP spid="17" grpId="1" animBg="1"/>
      <p:bldP spid="24" grpId="0" animBg="1"/>
      <p:bldP spid="24" grpId="1" animBg="1"/>
      <p:bldP spid="25" grpId="0" animBg="1"/>
      <p:bldP spid="25" grpId="1" animBg="1"/>
      <p:bldP spid="26" grpId="0"/>
      <p:bldP spid="26" grpId="1"/>
      <p:bldP spid="27" grpId="0" animBg="1"/>
      <p:bldP spid="27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3" grpId="0" animBg="1"/>
      <p:bldP spid="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4FF4F44-699C-48CF-A99E-9ED568A917EA}"/>
              </a:ext>
            </a:extLst>
          </p:cNvPr>
          <p:cNvSpPr txBox="1"/>
          <p:nvPr/>
        </p:nvSpPr>
        <p:spPr>
          <a:xfrm>
            <a:off x="224589" y="138188"/>
            <a:ext cx="858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组成与机器指令的执行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实验步骤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BF0BD3C-42E2-4512-B730-9FF872360F5F}"/>
              </a:ext>
            </a:extLst>
          </p:cNvPr>
          <p:cNvSpPr txBox="1">
            <a:spLocks noChangeArrowheads="1"/>
          </p:cNvSpPr>
          <p:nvPr/>
        </p:nvSpPr>
        <p:spPr>
          <a:xfrm>
            <a:off x="1062701" y="1519348"/>
            <a:ext cx="5335034" cy="2364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10000"/>
              </a:lnSpc>
              <a:spcBef>
                <a:spcPts val="600"/>
              </a:spcBef>
              <a:buClr>
                <a:schemeClr val="accent4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实验准备（不要打开电源      ）</a:t>
            </a:r>
            <a:endParaRPr lang="en-US" alt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514350" algn="l">
              <a:lnSpc>
                <a:spcPct val="110000"/>
              </a:lnSpc>
              <a:spcBef>
                <a:spcPts val="600"/>
              </a:spcBef>
              <a:buClr>
                <a:schemeClr val="accent4"/>
              </a:buClr>
              <a:buSzPct val="80000"/>
              <a:buFont typeface="+mj-lt"/>
              <a:buAutoNum type="arabicPeriod"/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控制器转换开关：微程序；</a:t>
            </a:r>
            <a:endParaRPr lang="en-US" altLang="zh-CN" sz="2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514350" algn="l">
              <a:lnSpc>
                <a:spcPct val="110000"/>
              </a:lnSpc>
              <a:spcBef>
                <a:spcPts val="600"/>
              </a:spcBef>
              <a:buClr>
                <a:schemeClr val="accent4"/>
              </a:buClr>
              <a:buSzPct val="80000"/>
              <a:buFont typeface="+mj-lt"/>
              <a:buAutoNum type="arabicPeriod"/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编程开关：正常；</a:t>
            </a:r>
            <a:endParaRPr lang="en-US" altLang="zh-CN" sz="2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514350" algn="l">
              <a:lnSpc>
                <a:spcPct val="110000"/>
              </a:lnSpc>
              <a:spcBef>
                <a:spcPts val="600"/>
              </a:spcBef>
              <a:buClr>
                <a:schemeClr val="accent4"/>
              </a:buClr>
              <a:buSzPct val="80000"/>
              <a:buFont typeface="+mj-lt"/>
              <a:buAutoNum type="arabicPeriod"/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数据通路参考连线：</a:t>
            </a:r>
            <a:endParaRPr lang="en-US" altLang="zh-CN" sz="2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8906E42-C967-404F-9877-EFAB5A89889D}"/>
              </a:ext>
            </a:extLst>
          </p:cNvPr>
          <p:cNvGrpSpPr/>
          <p:nvPr/>
        </p:nvGrpSpPr>
        <p:grpSpPr>
          <a:xfrm>
            <a:off x="5462809" y="1499941"/>
            <a:ext cx="466614" cy="630942"/>
            <a:chOff x="4387702" y="378981"/>
            <a:chExt cx="648000" cy="974047"/>
          </a:xfrm>
        </p:grpSpPr>
        <p:sp>
          <p:nvSpPr>
            <p:cNvPr id="6" name="等腰三角形 5">
              <a:extLst>
                <a:ext uri="{FF2B5EF4-FFF2-40B4-BE49-F238E27FC236}">
                  <a16:creationId xmlns:a16="http://schemas.microsoft.com/office/drawing/2014/main" id="{48575A5F-3475-4B0D-9F38-8F428AF10D04}"/>
                </a:ext>
              </a:extLst>
            </p:cNvPr>
            <p:cNvSpPr/>
            <p:nvPr/>
          </p:nvSpPr>
          <p:spPr>
            <a:xfrm>
              <a:off x="4387702" y="489929"/>
              <a:ext cx="648000" cy="6480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 b="1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CAAD93E-8566-4DA5-979D-38478C387E3C}"/>
                </a:ext>
              </a:extLst>
            </p:cNvPr>
            <p:cNvSpPr txBox="1"/>
            <p:nvPr/>
          </p:nvSpPr>
          <p:spPr>
            <a:xfrm>
              <a:off x="4429490" y="378981"/>
              <a:ext cx="437292" cy="9740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500" b="1" dirty="0">
                  <a:solidFill>
                    <a:schemeClr val="bg1"/>
                  </a:solidFill>
                  <a:latin typeface="华文隶书" panose="02010800040101010101" pitchFamily="2" charset="-122"/>
                  <a:ea typeface="华文隶书" panose="02010800040101010101" pitchFamily="2" charset="-122"/>
                </a:rPr>
                <a:t>！</a:t>
              </a:r>
            </a:p>
          </p:txBody>
        </p:sp>
      </p:grp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2F1E608-08FD-4ABF-B24E-720DC818C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981720"/>
              </p:ext>
            </p:extLst>
          </p:nvPr>
        </p:nvGraphicFramePr>
        <p:xfrm>
          <a:off x="975616" y="4374845"/>
          <a:ext cx="9997184" cy="113096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72752">
                  <a:extLst>
                    <a:ext uri="{9D8B030D-6E8A-4147-A177-3AD203B41FA5}">
                      <a16:colId xmlns:a16="http://schemas.microsoft.com/office/drawing/2014/main" val="1351293245"/>
                    </a:ext>
                  </a:extLst>
                </a:gridCol>
                <a:gridCol w="1418763">
                  <a:extLst>
                    <a:ext uri="{9D8B030D-6E8A-4147-A177-3AD203B41FA5}">
                      <a16:colId xmlns:a16="http://schemas.microsoft.com/office/drawing/2014/main" val="1896316625"/>
                    </a:ext>
                  </a:extLst>
                </a:gridCol>
                <a:gridCol w="1377758">
                  <a:extLst>
                    <a:ext uri="{9D8B030D-6E8A-4147-A177-3AD203B41FA5}">
                      <a16:colId xmlns:a16="http://schemas.microsoft.com/office/drawing/2014/main" val="1362140092"/>
                    </a:ext>
                  </a:extLst>
                </a:gridCol>
                <a:gridCol w="1361356">
                  <a:extLst>
                    <a:ext uri="{9D8B030D-6E8A-4147-A177-3AD203B41FA5}">
                      <a16:colId xmlns:a16="http://schemas.microsoft.com/office/drawing/2014/main" val="2667377910"/>
                    </a:ext>
                  </a:extLst>
                </a:gridCol>
                <a:gridCol w="1287548">
                  <a:extLst>
                    <a:ext uri="{9D8B030D-6E8A-4147-A177-3AD203B41FA5}">
                      <a16:colId xmlns:a16="http://schemas.microsoft.com/office/drawing/2014/main" val="3287725138"/>
                    </a:ext>
                  </a:extLst>
                </a:gridCol>
                <a:gridCol w="975911">
                  <a:extLst>
                    <a:ext uri="{9D8B030D-6E8A-4147-A177-3AD203B41FA5}">
                      <a16:colId xmlns:a16="http://schemas.microsoft.com/office/drawing/2014/main" val="2699888434"/>
                    </a:ext>
                  </a:extLst>
                </a:gridCol>
                <a:gridCol w="951548">
                  <a:extLst>
                    <a:ext uri="{9D8B030D-6E8A-4147-A177-3AD203B41FA5}">
                      <a16:colId xmlns:a16="http://schemas.microsoft.com/office/drawing/2014/main" val="1888174639"/>
                    </a:ext>
                  </a:extLst>
                </a:gridCol>
                <a:gridCol w="951548">
                  <a:extLst>
                    <a:ext uri="{9D8B030D-6E8A-4147-A177-3AD203B41FA5}">
                      <a16:colId xmlns:a16="http://schemas.microsoft.com/office/drawing/2014/main" val="541921374"/>
                    </a:ext>
                  </a:extLst>
                </a:gridCol>
              </a:tblGrid>
              <a:tr h="5654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数据通路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IR4-I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IR5-I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IR6-I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IR7-I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C-I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Z-I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CS0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092013"/>
                  </a:ext>
                </a:extLst>
              </a:tr>
              <a:tr h="5654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IR4-O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IR5-O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IR6-O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IR7-O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C-O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Z-O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GND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187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297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E4B88F9-4BD3-45E8-B865-0BE62FA92732}"/>
              </a:ext>
            </a:extLst>
          </p:cNvPr>
          <p:cNvSpPr txBox="1"/>
          <p:nvPr/>
        </p:nvSpPr>
        <p:spPr>
          <a:xfrm>
            <a:off x="224589" y="138188"/>
            <a:ext cx="858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组成与机器指令的执行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实验步骤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AE8DAFC-4814-41EA-9FE4-A57767ACFA14}"/>
              </a:ext>
            </a:extLst>
          </p:cNvPr>
          <p:cNvSpPr txBox="1">
            <a:spLocks/>
          </p:cNvSpPr>
          <p:nvPr/>
        </p:nvSpPr>
        <p:spPr>
          <a:xfrm>
            <a:off x="726771" y="1204306"/>
            <a:ext cx="10929841" cy="5283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80000"/>
              <a:defRPr/>
            </a:pPr>
            <a:r>
              <a:rPr lang="zh-CN" altLang="en-US" sz="2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单拍方式</a:t>
            </a:r>
            <a:endParaRPr lang="en-US" altLang="zh-CN" sz="2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通过写存储器操作将手工汇编的程序写入存储器。</a:t>
            </a:r>
            <a:endParaRPr lang="en-US" altLang="zh-CN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通过读存储器操作，将指令逐条读出，检查写入是否正确。</a:t>
            </a:r>
            <a:endParaRPr lang="en-US" altLang="zh-CN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通过写寄存器操作，将数</a:t>
            </a:r>
            <a:r>
              <a: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12H</a:t>
            </a:r>
            <a:r>
              <a:rPr lang="zh-CN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写入寄存器</a:t>
            </a:r>
            <a:r>
              <a: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  <a:r>
              <a:rPr lang="zh-CN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0FH</a:t>
            </a:r>
            <a:r>
              <a:rPr lang="zh-CN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写入寄存器</a:t>
            </a:r>
            <a:r>
              <a: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R3</a:t>
            </a:r>
            <a:r>
              <a:rPr lang="zh-CN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通过读寄存器，检查写入寄存器的数据是否正确。</a:t>
            </a:r>
            <a:endParaRPr lang="en-US" altLang="zh-CN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将单拍开关</a:t>
            </a:r>
            <a:r>
              <a: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设置为</a:t>
            </a:r>
            <a:r>
              <a: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，按下复位按钮</a:t>
            </a:r>
            <a:r>
              <a: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</a:t>
            </a:r>
            <a:r>
              <a:rPr lang="zh-CN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，在单微指令下运行程序并记录过程数据。</a:t>
            </a:r>
            <a:endParaRPr lang="en-US" altLang="zh-CN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读取四个寄存器的值并记录；读取存储器</a:t>
            </a:r>
            <a:r>
              <a: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12H</a:t>
            </a:r>
            <a:r>
              <a:rPr lang="zh-CN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13H</a:t>
            </a:r>
            <a:r>
              <a:rPr lang="zh-CN" altLang="en-US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的值并记录。</a:t>
            </a:r>
            <a:endParaRPr lang="en-US" altLang="zh-CN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4940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E4B88F9-4BD3-45E8-B865-0BE62FA92732}"/>
              </a:ext>
            </a:extLst>
          </p:cNvPr>
          <p:cNvSpPr txBox="1"/>
          <p:nvPr/>
        </p:nvSpPr>
        <p:spPr>
          <a:xfrm>
            <a:off x="224589" y="138188"/>
            <a:ext cx="858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组成与机器指令的执行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实验步骤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AE8DAFC-4814-41EA-9FE4-A57767ACFA14}"/>
              </a:ext>
            </a:extLst>
          </p:cNvPr>
          <p:cNvSpPr txBox="1">
            <a:spLocks/>
          </p:cNvSpPr>
          <p:nvPr/>
        </p:nvSpPr>
        <p:spPr>
          <a:xfrm>
            <a:off x="726771" y="1204306"/>
            <a:ext cx="10441577" cy="5653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80000"/>
              <a:defRPr/>
            </a:pPr>
            <a:r>
              <a:rPr lang="zh-CN" altLang="en-US" sz="2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连续方式</a:t>
            </a:r>
            <a:endParaRPr lang="en-US" altLang="zh-CN" sz="2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将数</a:t>
            </a:r>
            <a:r>
              <a:rPr lang="en-US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12H</a:t>
            </a: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写入寄存器</a:t>
            </a:r>
            <a:r>
              <a:rPr lang="en-US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0FH</a:t>
            </a: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写入寄存器</a:t>
            </a:r>
            <a:r>
              <a:rPr lang="en-US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R3</a:t>
            </a: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6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将存储器</a:t>
            </a:r>
            <a:r>
              <a:rPr lang="en-US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12H</a:t>
            </a: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号存储单元的值改为</a:t>
            </a:r>
            <a:r>
              <a:rPr lang="en-US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00H</a:t>
            </a: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6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0" indent="-457200" algn="l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将单拍开关</a:t>
            </a:r>
            <a:r>
              <a:rPr lang="en-US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设置为</a:t>
            </a:r>
            <a:r>
              <a:rPr lang="en-US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按复位按钮</a:t>
            </a:r>
            <a:r>
              <a:rPr lang="en-US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CLR</a:t>
            </a: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，</a:t>
            </a: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在连续方式下运行程序。</a:t>
            </a:r>
            <a:endParaRPr lang="en-US" altLang="zh-CN" sz="26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fontAlgn="auto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tabLst/>
              <a:defRPr/>
            </a:pP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（按一次</a:t>
            </a:r>
            <a:r>
              <a:rPr lang="en-US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QD</a:t>
            </a: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，程序自动运行到</a:t>
            </a:r>
            <a:r>
              <a:rPr lang="en-US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STP</a:t>
            </a: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指令）</a:t>
            </a:r>
            <a:endParaRPr lang="en-US" altLang="zh-CN" sz="26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fontAlgn="auto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读取四个寄存器的值并记录；读取存储器</a:t>
            </a:r>
            <a:r>
              <a:rPr lang="en-US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12H</a:t>
            </a: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13H</a:t>
            </a: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的值并记录</a:t>
            </a:r>
            <a:r>
              <a:rPr kumimoji="0" lang="zh-CN" altLang="en-US" sz="2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26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indent="-342900" algn="l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p"/>
              <a:defRPr/>
            </a:pPr>
            <a:endParaRPr lang="en-US" altLang="zh-CN" sz="2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3342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3B82E1D-64AE-419B-852D-6DAB73588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marR="0" indent="-457200" fontAlgn="auto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做好预习：务必在实验课前，</a:t>
            </a:r>
            <a:r>
              <a:rPr lang="zh-CN" altLang="en-US" sz="2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完成对程序的手工汇编</a:t>
            </a: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en-US" altLang="zh-CN" sz="26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indent="-457200" fontAlgn="auto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填写实验记录表：只记录单拍方式下程序执行过程，每按下</a:t>
            </a:r>
            <a:r>
              <a:rPr lang="en-US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QD</a:t>
            </a: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，记录一条数据。只需填写与该条操作相关的数据，无关的可以不填</a:t>
            </a:r>
            <a:endParaRPr lang="en-US" altLang="zh-CN" sz="26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CF81C4-CDE6-4D2D-9750-DC5E6D5EB841}"/>
              </a:ext>
            </a:extLst>
          </p:cNvPr>
          <p:cNvSpPr txBox="1"/>
          <p:nvPr/>
        </p:nvSpPr>
        <p:spPr>
          <a:xfrm>
            <a:off x="224589" y="138188"/>
            <a:ext cx="858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组成与机器指令的执行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实验要求</a:t>
            </a:r>
          </a:p>
        </p:txBody>
      </p:sp>
    </p:spTree>
    <p:extLst>
      <p:ext uri="{BB962C8B-B14F-4D97-AF65-F5344CB8AC3E}">
        <p14:creationId xmlns:p14="http://schemas.microsoft.com/office/powerpoint/2010/main" val="1066550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F6B22D5-5963-45B5-A581-2D79E6E484A0}"/>
              </a:ext>
            </a:extLst>
          </p:cNvPr>
          <p:cNvGrpSpPr/>
          <p:nvPr/>
        </p:nvGrpSpPr>
        <p:grpSpPr>
          <a:xfrm>
            <a:off x="1903222" y="2751891"/>
            <a:ext cx="8385556" cy="1354217"/>
            <a:chOff x="6031012" y="5439523"/>
            <a:chExt cx="2379595" cy="1354217"/>
          </a:xfrm>
        </p:grpSpPr>
        <p:sp>
          <p:nvSpPr>
            <p:cNvPr id="5" name="矩形: 圆角 10">
              <a:extLst>
                <a:ext uri="{FF2B5EF4-FFF2-40B4-BE49-F238E27FC236}">
                  <a16:creationId xmlns:a16="http://schemas.microsoft.com/office/drawing/2014/main" id="{9B9BB20E-87D8-41F1-BE2B-0911042B5714}"/>
                </a:ext>
              </a:extLst>
            </p:cNvPr>
            <p:cNvSpPr/>
            <p:nvPr/>
          </p:nvSpPr>
          <p:spPr>
            <a:xfrm>
              <a:off x="6799919" y="5551489"/>
              <a:ext cx="117084" cy="426997"/>
            </a:xfrm>
            <a:prstGeom prst="roundRect">
              <a:avLst>
                <a:gd name="adj" fmla="val 40501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>
              <a:outerShdw blurRad="152400" dist="63500" dir="5400000" sx="104000" sy="104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265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165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7430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0330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2595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4860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7760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0025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267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文本框 3">
              <a:extLst>
                <a:ext uri="{FF2B5EF4-FFF2-40B4-BE49-F238E27FC236}">
                  <a16:creationId xmlns:a16="http://schemas.microsoft.com/office/drawing/2014/main" id="{69BB6226-F4D6-423A-9EBA-34F5B90BEEB0}"/>
                </a:ext>
              </a:extLst>
            </p:cNvPr>
            <p:cNvSpPr txBox="1"/>
            <p:nvPr/>
          </p:nvSpPr>
          <p:spPr>
            <a:xfrm>
              <a:off x="6031012" y="5439523"/>
              <a:ext cx="2379595" cy="13542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实验六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lvl="0" algn="ctr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中断原理实验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2988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787F683-396C-4D3A-B618-5AEEC6E5B20F}"/>
              </a:ext>
            </a:extLst>
          </p:cNvPr>
          <p:cNvSpPr txBox="1"/>
          <p:nvPr/>
        </p:nvSpPr>
        <p:spPr>
          <a:xfrm>
            <a:off x="224589" y="138188"/>
            <a:ext cx="858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中断原理实验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基本概念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AF66B52-AD77-40D8-B37A-53F483ECC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881783"/>
              </p:ext>
            </p:extLst>
          </p:nvPr>
        </p:nvGraphicFramePr>
        <p:xfrm>
          <a:off x="1388745" y="1832903"/>
          <a:ext cx="1799465" cy="3177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9465">
                  <a:extLst>
                    <a:ext uri="{9D8B030D-6E8A-4147-A177-3AD203B41FA5}">
                      <a16:colId xmlns:a16="http://schemas.microsoft.com/office/drawing/2014/main" val="860208802"/>
                    </a:ext>
                  </a:extLst>
                </a:gridCol>
              </a:tblGrid>
              <a:tr h="39720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指令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996397"/>
                  </a:ext>
                </a:extLst>
              </a:tr>
              <a:tr h="397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/>
                          <a:ea typeface="等线" panose="02010600030101010101" pitchFamily="2" charset="-122"/>
                          <a:cs typeface="+mn-cs"/>
                        </a:rPr>
                        <a:t>指令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411431"/>
                  </a:ext>
                </a:extLst>
              </a:tr>
              <a:tr h="397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/>
                          <a:ea typeface="等线" panose="02010600030101010101" pitchFamily="2" charset="-122"/>
                          <a:cs typeface="+mn-cs"/>
                        </a:rPr>
                        <a:t>指令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102659"/>
                  </a:ext>
                </a:extLst>
              </a:tr>
              <a:tr h="397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/>
                          <a:ea typeface="等线" panose="02010600030101010101" pitchFamily="2" charset="-122"/>
                          <a:cs typeface="+mn-cs"/>
                        </a:rPr>
                        <a:t>指令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760707"/>
                  </a:ext>
                </a:extLst>
              </a:tr>
              <a:tr h="397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/>
                          <a:ea typeface="等线" panose="02010600030101010101" pitchFamily="2" charset="-122"/>
                          <a:cs typeface="+mn-cs"/>
                        </a:rPr>
                        <a:t>指令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346665"/>
                  </a:ext>
                </a:extLst>
              </a:tr>
              <a:tr h="397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/>
                          <a:ea typeface="等线" panose="02010600030101010101" pitchFamily="2" charset="-122"/>
                          <a:cs typeface="+mn-cs"/>
                        </a:rPr>
                        <a:t>指令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82738"/>
                  </a:ext>
                </a:extLst>
              </a:tr>
              <a:tr h="397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/>
                          <a:ea typeface="等线" panose="02010600030101010101" pitchFamily="2" charset="-122"/>
                          <a:cs typeface="+mn-cs"/>
                        </a:rPr>
                        <a:t>指令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681828"/>
                  </a:ext>
                </a:extLst>
              </a:tr>
              <a:tr h="397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/>
                          <a:ea typeface="等线" panose="02010600030101010101" pitchFamily="2" charset="-122"/>
                          <a:cs typeface="+mn-cs"/>
                        </a:rPr>
                        <a:t>指令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801379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2B9C20-30D4-4540-8D42-48F3E4B22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190838"/>
              </p:ext>
            </p:extLst>
          </p:nvPr>
        </p:nvGraphicFramePr>
        <p:xfrm>
          <a:off x="757683" y="1832903"/>
          <a:ext cx="631062" cy="3177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1062">
                  <a:extLst>
                    <a:ext uri="{9D8B030D-6E8A-4147-A177-3AD203B41FA5}">
                      <a16:colId xmlns:a16="http://schemas.microsoft.com/office/drawing/2014/main" val="983873966"/>
                    </a:ext>
                  </a:extLst>
                </a:gridCol>
              </a:tblGrid>
              <a:tr h="397209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00H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731637"/>
                  </a:ext>
                </a:extLst>
              </a:tr>
              <a:tr h="397209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01H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3893614"/>
                  </a:ext>
                </a:extLst>
              </a:tr>
              <a:tr h="397209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02H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7702446"/>
                  </a:ext>
                </a:extLst>
              </a:tr>
              <a:tr h="397209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03H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7378370"/>
                  </a:ext>
                </a:extLst>
              </a:tr>
              <a:tr h="397209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04H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4781431"/>
                  </a:ext>
                </a:extLst>
              </a:tr>
              <a:tr h="397209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05H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852371"/>
                  </a:ext>
                </a:extLst>
              </a:tr>
              <a:tr h="397209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06H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8719496"/>
                  </a:ext>
                </a:extLst>
              </a:tr>
              <a:tr h="397209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07H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612653"/>
                  </a:ext>
                </a:extLst>
              </a:tr>
            </a:tbl>
          </a:graphicData>
        </a:graphic>
      </p:graphicFrame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7782AE6-0F8B-42E5-B6B3-B159D641A851}"/>
              </a:ext>
            </a:extLst>
          </p:cNvPr>
          <p:cNvCxnSpPr>
            <a:cxnSpLocks/>
          </p:cNvCxnSpPr>
          <p:nvPr/>
        </p:nvCxnSpPr>
        <p:spPr>
          <a:xfrm flipV="1">
            <a:off x="3188210" y="2121004"/>
            <a:ext cx="756992" cy="80171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5AA2BC88-61EE-4521-8C58-06562ED7B43A}"/>
              </a:ext>
            </a:extLst>
          </p:cNvPr>
          <p:cNvSpPr/>
          <p:nvPr/>
        </p:nvSpPr>
        <p:spPr>
          <a:xfrm>
            <a:off x="3945202" y="2121004"/>
            <a:ext cx="1229932" cy="1387703"/>
          </a:xfrm>
          <a:prstGeom prst="rect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服务程序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AE6BDAB-6B82-4340-8ED2-183BDD016346}"/>
              </a:ext>
            </a:extLst>
          </p:cNvPr>
          <p:cNvCxnSpPr>
            <a:cxnSpLocks/>
          </p:cNvCxnSpPr>
          <p:nvPr/>
        </p:nvCxnSpPr>
        <p:spPr>
          <a:xfrm flipH="1" flipV="1">
            <a:off x="3188210" y="3173857"/>
            <a:ext cx="756992" cy="33485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22EA51B-1C00-4CCE-B908-8D4138EA098C}"/>
              </a:ext>
            </a:extLst>
          </p:cNvPr>
          <p:cNvSpPr txBox="1"/>
          <p:nvPr/>
        </p:nvSpPr>
        <p:spPr>
          <a:xfrm>
            <a:off x="5744667" y="1460806"/>
            <a:ext cx="6118678" cy="4355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3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2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  <a:r>
              <a:rPr lang="zh-CN" altLang="en-US" sz="2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在计算机执行程序的过程中，出现某些急需处理的异常情况或特殊请求，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暂时停止现行程序，而转去对这些异常情况或特殊请求进行处理，处理完毕后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又自动返回到现行程序的断点处，继续执行源程序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43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中断向量：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中断服务程序的入口地址。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43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中断屏蔽：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关闭中断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029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A21CFD3-B0A8-42FF-A9E2-70D35CFE781A}"/>
              </a:ext>
            </a:extLst>
          </p:cNvPr>
          <p:cNvSpPr txBox="1"/>
          <p:nvPr/>
        </p:nvSpPr>
        <p:spPr>
          <a:xfrm>
            <a:off x="-97142" y="138188"/>
            <a:ext cx="9918478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Tec-8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/Tec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-PLUS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模型计算机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中断系统相关指令</a:t>
            </a:r>
            <a:endParaRPr kumimoji="0" lang="zh-CN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BA54F54-D209-48E5-9017-34971BD17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561014"/>
              </p:ext>
            </p:extLst>
          </p:nvPr>
        </p:nvGraphicFramePr>
        <p:xfrm>
          <a:off x="724528" y="1226714"/>
          <a:ext cx="10881359" cy="336003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04472">
                  <a:extLst>
                    <a:ext uri="{9D8B030D-6E8A-4147-A177-3AD203B41FA5}">
                      <a16:colId xmlns:a16="http://schemas.microsoft.com/office/drawing/2014/main" val="1018326190"/>
                    </a:ext>
                  </a:extLst>
                </a:gridCol>
                <a:gridCol w="1620078">
                  <a:extLst>
                    <a:ext uri="{9D8B030D-6E8A-4147-A177-3AD203B41FA5}">
                      <a16:colId xmlns:a16="http://schemas.microsoft.com/office/drawing/2014/main" val="3815695987"/>
                    </a:ext>
                  </a:extLst>
                </a:gridCol>
                <a:gridCol w="2350570">
                  <a:extLst>
                    <a:ext uri="{9D8B030D-6E8A-4147-A177-3AD203B41FA5}">
                      <a16:colId xmlns:a16="http://schemas.microsoft.com/office/drawing/2014/main" val="2653766138"/>
                    </a:ext>
                  </a:extLst>
                </a:gridCol>
                <a:gridCol w="1423852">
                  <a:extLst>
                    <a:ext uri="{9D8B030D-6E8A-4147-A177-3AD203B41FA5}">
                      <a16:colId xmlns:a16="http://schemas.microsoft.com/office/drawing/2014/main" val="409082311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713507787"/>
                    </a:ext>
                  </a:extLst>
                </a:gridCol>
                <a:gridCol w="1280159">
                  <a:extLst>
                    <a:ext uri="{9D8B030D-6E8A-4147-A177-3AD203B41FA5}">
                      <a16:colId xmlns:a16="http://schemas.microsoft.com/office/drawing/2014/main" val="2693333543"/>
                    </a:ext>
                  </a:extLst>
                </a:gridCol>
              </a:tblGrid>
              <a:tr h="672007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bg1"/>
                          </a:solidFill>
                        </a:rPr>
                        <a:t>名称</a:t>
                      </a:r>
                      <a:endParaRPr lang="zh-CN" altLang="en-US" sz="2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bg1"/>
                          </a:solidFill>
                        </a:rPr>
                        <a:t>助记符</a:t>
                      </a:r>
                      <a:endParaRPr lang="zh-CN" altLang="en-US" sz="2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bg1"/>
                          </a:solidFill>
                        </a:rPr>
                        <a:t>功能</a:t>
                      </a:r>
                      <a:endParaRPr lang="zh-CN" altLang="en-US" sz="2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bg1"/>
                          </a:solidFill>
                        </a:rPr>
                        <a:t>指令格式</a:t>
                      </a:r>
                      <a:endParaRPr lang="zh-CN" altLang="en-US" sz="2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173648"/>
                  </a:ext>
                </a:extLst>
              </a:tr>
              <a:tr h="672007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IR7—IR4</a:t>
                      </a:r>
                      <a:endParaRPr lang="zh-CN" altLang="en-US" sz="2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IR3  IR2</a:t>
                      </a:r>
                      <a:endParaRPr lang="zh-CN" altLang="en-US" sz="2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IR1  IR0</a:t>
                      </a:r>
                      <a:endParaRPr lang="zh-CN" altLang="en-US" sz="2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6889728"/>
                  </a:ext>
                </a:extLst>
              </a:tr>
              <a:tr h="67200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关中断指令</a:t>
                      </a:r>
                      <a:endParaRPr lang="zh-CN" altLang="en-US" sz="2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DI</a:t>
                      </a:r>
                      <a:endParaRPr lang="zh-CN" altLang="en-US" sz="2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禁止中断</a:t>
                      </a:r>
                      <a:endParaRPr lang="zh-CN" altLang="en-US" sz="2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1100</a:t>
                      </a:r>
                      <a:endParaRPr lang="zh-CN" altLang="en-US" sz="2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XX</a:t>
                      </a:r>
                      <a:endParaRPr kumimoji="0" lang="zh-CN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XX</a:t>
                      </a:r>
                      <a:endParaRPr kumimoji="0" lang="zh-CN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963700"/>
                  </a:ext>
                </a:extLst>
              </a:tr>
              <a:tr h="67200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开中断指令</a:t>
                      </a:r>
                      <a:endParaRPr lang="zh-CN" altLang="en-US" sz="2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EI</a:t>
                      </a:r>
                      <a:endParaRPr lang="zh-CN" altLang="en-US" sz="2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允许中断</a:t>
                      </a:r>
                      <a:endParaRPr lang="zh-CN" altLang="en-US" sz="2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1101</a:t>
                      </a:r>
                      <a:endParaRPr lang="zh-CN" altLang="en-US" sz="2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XX</a:t>
                      </a:r>
                      <a:endParaRPr kumimoji="0" lang="zh-CN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XX</a:t>
                      </a:r>
                      <a:endParaRPr kumimoji="0" lang="zh-CN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945856"/>
                  </a:ext>
                </a:extLst>
              </a:tr>
              <a:tr h="67200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中断返回</a:t>
                      </a:r>
                      <a:endParaRPr lang="zh-CN" altLang="en-US" sz="2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IRET</a:t>
                      </a:r>
                      <a:endParaRPr lang="zh-CN" altLang="en-US" sz="2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返回断点</a:t>
                      </a:r>
                      <a:endParaRPr lang="zh-CN" altLang="en-US" sz="2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1011</a:t>
                      </a:r>
                      <a:endParaRPr lang="zh-CN" altLang="en-US" sz="2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XX</a:t>
                      </a:r>
                      <a:endParaRPr kumimoji="0" lang="zh-CN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XX</a:t>
                      </a:r>
                      <a:endParaRPr kumimoji="0" lang="zh-CN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577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3027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F643D84-01D9-4D69-8A10-2B9758519EEC}"/>
              </a:ext>
            </a:extLst>
          </p:cNvPr>
          <p:cNvSpPr txBox="1"/>
          <p:nvPr/>
        </p:nvSpPr>
        <p:spPr>
          <a:xfrm>
            <a:off x="224589" y="138188"/>
            <a:ext cx="858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中断原理实验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实验电路</a:t>
            </a: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99965799-EF55-4BFC-A7CF-BF0861693B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5035601"/>
              </p:ext>
            </p:extLst>
          </p:nvPr>
        </p:nvGraphicFramePr>
        <p:xfrm>
          <a:off x="1413416" y="784519"/>
          <a:ext cx="8069797" cy="607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Visio" r:id="rId3" imgW="6757921" imgH="5457840" progId="Visio.Drawing.11">
                  <p:embed/>
                </p:oleObj>
              </mc:Choice>
              <mc:Fallback>
                <p:oleObj name="Visio" r:id="rId3" imgW="6757921" imgH="5457840" progId="Visio.Drawing.11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33B89EA0-213F-4A86-AFCD-0E47494FD813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416" y="784519"/>
                        <a:ext cx="8069797" cy="607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D73355E5-7A1C-4F81-B894-E2F30420D8C5}"/>
              </a:ext>
            </a:extLst>
          </p:cNvPr>
          <p:cNvSpPr/>
          <p:nvPr/>
        </p:nvSpPr>
        <p:spPr>
          <a:xfrm>
            <a:off x="9764515" y="3025730"/>
            <a:ext cx="1356852" cy="770062"/>
          </a:xfrm>
          <a:prstGeom prst="wedgeRoundRectCallout">
            <a:avLst>
              <a:gd name="adj1" fmla="val -204184"/>
              <a:gd name="adj2" fmla="val 36470"/>
              <a:gd name="adj3" fmla="val 16667"/>
            </a:avLst>
          </a:prstGeom>
          <a:ln w="19050">
            <a:solidFill>
              <a:srgbClr val="EF8D4B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中断地址寄存器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29022580-1E2F-4BFE-872F-8B713BB98D50}"/>
              </a:ext>
            </a:extLst>
          </p:cNvPr>
          <p:cNvSpPr/>
          <p:nvPr/>
        </p:nvSpPr>
        <p:spPr>
          <a:xfrm>
            <a:off x="9483213" y="4925006"/>
            <a:ext cx="2426390" cy="1905749"/>
          </a:xfrm>
          <a:prstGeom prst="wedgeRoundRectCallout">
            <a:avLst>
              <a:gd name="adj1" fmla="val -158967"/>
              <a:gd name="adj2" fmla="val -89244"/>
              <a:gd name="adj3" fmla="val 1666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LIAR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=1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时，在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T3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的上升沿，将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PC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保存在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IAR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IABUS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=1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IABUS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中保存的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PC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送数据总线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DBUS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789A482D-E656-4AD4-AE11-173B6C329D56}"/>
              </a:ext>
            </a:extLst>
          </p:cNvPr>
          <p:cNvSpPr/>
          <p:nvPr/>
        </p:nvSpPr>
        <p:spPr>
          <a:xfrm>
            <a:off x="124303" y="5788532"/>
            <a:ext cx="1382300" cy="949564"/>
          </a:xfrm>
          <a:prstGeom prst="wedgeRoundRectCallout">
            <a:avLst>
              <a:gd name="adj1" fmla="val 58191"/>
              <a:gd name="adj2" fmla="val -92945"/>
              <a:gd name="adj3" fmla="val 16667"/>
            </a:avLst>
          </a:prstGeom>
          <a:ln w="19050">
            <a:solidFill>
              <a:srgbClr val="EF8D4B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中断向量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通过数据开关提供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767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35A011C-439C-4D78-A198-3106DE466F68}"/>
              </a:ext>
            </a:extLst>
          </p:cNvPr>
          <p:cNvSpPr txBox="1"/>
          <p:nvPr/>
        </p:nvSpPr>
        <p:spPr>
          <a:xfrm>
            <a:off x="224589" y="138188"/>
            <a:ext cx="858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中断原理实验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495C75-C376-4BBD-B10A-CF173B77D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93" y="931332"/>
            <a:ext cx="10254520" cy="5925175"/>
          </a:xfrm>
          <a:prstGeom prst="rect">
            <a:avLst/>
          </a:prstGeom>
        </p:spPr>
      </p:pic>
      <p:sp>
        <p:nvSpPr>
          <p:cNvPr id="5" name="Diamond 14">
            <a:extLst>
              <a:ext uri="{FF2B5EF4-FFF2-40B4-BE49-F238E27FC236}">
                <a16:creationId xmlns:a16="http://schemas.microsoft.com/office/drawing/2014/main" id="{C4E7499D-0397-4A92-B598-60B8FDA016F5}"/>
              </a:ext>
            </a:extLst>
          </p:cNvPr>
          <p:cNvSpPr/>
          <p:nvPr/>
        </p:nvSpPr>
        <p:spPr>
          <a:xfrm>
            <a:off x="9595575" y="2296410"/>
            <a:ext cx="582795" cy="267278"/>
          </a:xfrm>
          <a:prstGeom prst="diamond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6" name="Straight Arrow Connector 19">
            <a:extLst>
              <a:ext uri="{FF2B5EF4-FFF2-40B4-BE49-F238E27FC236}">
                <a16:creationId xmlns:a16="http://schemas.microsoft.com/office/drawing/2014/main" id="{E5A5F5FF-4599-4DDA-9F8F-D96581E8F514}"/>
              </a:ext>
            </a:extLst>
          </p:cNvPr>
          <p:cNvCxnSpPr>
            <a:cxnSpLocks/>
          </p:cNvCxnSpPr>
          <p:nvPr/>
        </p:nvCxnSpPr>
        <p:spPr>
          <a:xfrm flipH="1">
            <a:off x="9882099" y="2553389"/>
            <a:ext cx="1950" cy="18369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5">
            <a:extLst>
              <a:ext uri="{FF2B5EF4-FFF2-40B4-BE49-F238E27FC236}">
                <a16:creationId xmlns:a16="http://schemas.microsoft.com/office/drawing/2014/main" id="{6E340045-DBA4-423D-BEBC-D75C2A1372AB}"/>
              </a:ext>
            </a:extLst>
          </p:cNvPr>
          <p:cNvSpPr/>
          <p:nvPr/>
        </p:nvSpPr>
        <p:spPr>
          <a:xfrm>
            <a:off x="9528670" y="2723167"/>
            <a:ext cx="774621" cy="71179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8" name="Straight Arrow Connector 19">
            <a:extLst>
              <a:ext uri="{FF2B5EF4-FFF2-40B4-BE49-F238E27FC236}">
                <a16:creationId xmlns:a16="http://schemas.microsoft.com/office/drawing/2014/main" id="{24E4D382-FB22-47D8-AD98-4810E9E7F3AC}"/>
              </a:ext>
            </a:extLst>
          </p:cNvPr>
          <p:cNvCxnSpPr>
            <a:cxnSpLocks/>
          </p:cNvCxnSpPr>
          <p:nvPr/>
        </p:nvCxnSpPr>
        <p:spPr>
          <a:xfrm flipH="1">
            <a:off x="9872090" y="3436772"/>
            <a:ext cx="1950" cy="18369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5">
            <a:extLst>
              <a:ext uri="{FF2B5EF4-FFF2-40B4-BE49-F238E27FC236}">
                <a16:creationId xmlns:a16="http://schemas.microsoft.com/office/drawing/2014/main" id="{BF979179-5584-46EF-AFB1-0B60D3CAA8EF}"/>
              </a:ext>
            </a:extLst>
          </p:cNvPr>
          <p:cNvSpPr/>
          <p:nvPr/>
        </p:nvSpPr>
        <p:spPr>
          <a:xfrm>
            <a:off x="9550971" y="3635720"/>
            <a:ext cx="752319" cy="27100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78003D0-EA7D-470C-8336-107139C95306}"/>
              </a:ext>
            </a:extLst>
          </p:cNvPr>
          <p:cNvCxnSpPr>
            <a:cxnSpLocks/>
          </p:cNvCxnSpPr>
          <p:nvPr/>
        </p:nvCxnSpPr>
        <p:spPr>
          <a:xfrm>
            <a:off x="9878238" y="3913684"/>
            <a:ext cx="0" cy="193475"/>
          </a:xfrm>
          <a:prstGeom prst="line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C8EFC81-8776-493C-A545-A32740EEAD67}"/>
              </a:ext>
            </a:extLst>
          </p:cNvPr>
          <p:cNvCxnSpPr>
            <a:cxnSpLocks/>
          </p:cNvCxnSpPr>
          <p:nvPr/>
        </p:nvCxnSpPr>
        <p:spPr>
          <a:xfrm flipH="1">
            <a:off x="9300303" y="4088634"/>
            <a:ext cx="580699" cy="0"/>
          </a:xfrm>
          <a:prstGeom prst="line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06B50F0-54B4-4D35-A073-4FEC1DA107B4}"/>
              </a:ext>
            </a:extLst>
          </p:cNvPr>
          <p:cNvSpPr/>
          <p:nvPr/>
        </p:nvSpPr>
        <p:spPr>
          <a:xfrm>
            <a:off x="8285356" y="1642123"/>
            <a:ext cx="2129883" cy="267997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4907BB4-AF0A-4B47-A71F-A2849410362B}"/>
              </a:ext>
            </a:extLst>
          </p:cNvPr>
          <p:cNvSpPr/>
          <p:nvPr/>
        </p:nvSpPr>
        <p:spPr>
          <a:xfrm>
            <a:off x="8497229" y="4468775"/>
            <a:ext cx="2129883" cy="1503658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AB1FED9-2209-4E63-814F-98CBC6E9484C}"/>
              </a:ext>
            </a:extLst>
          </p:cNvPr>
          <p:cNvCxnSpPr>
            <a:cxnSpLocks/>
          </p:cNvCxnSpPr>
          <p:nvPr/>
        </p:nvCxnSpPr>
        <p:spPr>
          <a:xfrm flipV="1">
            <a:off x="9300303" y="2429457"/>
            <a:ext cx="0" cy="168156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51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2" presetClass="emph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2" presetClass="emph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3" grpId="0" animBg="1"/>
      <p:bldP spid="13" grpId="1" animBg="1"/>
      <p:bldP spid="14" grpId="0" animBg="1"/>
      <p:bldP spid="14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35A011C-439C-4D78-A198-3106DE466F68}"/>
              </a:ext>
            </a:extLst>
          </p:cNvPr>
          <p:cNvSpPr txBox="1"/>
          <p:nvPr/>
        </p:nvSpPr>
        <p:spPr>
          <a:xfrm>
            <a:off x="224589" y="138188"/>
            <a:ext cx="858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中断原理实验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流程图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A90B4B8-321B-423A-8E41-8D82804A9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93" y="888520"/>
            <a:ext cx="10254520" cy="594115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1203918-B554-4F4C-AE45-BEF0CB1C4171}"/>
              </a:ext>
            </a:extLst>
          </p:cNvPr>
          <p:cNvSpPr/>
          <p:nvPr/>
        </p:nvSpPr>
        <p:spPr>
          <a:xfrm>
            <a:off x="9433932" y="2452317"/>
            <a:ext cx="368038" cy="25165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8C9F5B7-3142-487F-A773-0083E76D3934}"/>
              </a:ext>
            </a:extLst>
          </p:cNvPr>
          <p:cNvSpPr/>
          <p:nvPr/>
        </p:nvSpPr>
        <p:spPr>
          <a:xfrm>
            <a:off x="8285356" y="1608061"/>
            <a:ext cx="2129883" cy="2687196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950E3AE9-6BA5-4429-8F52-53633EA0A2F2}"/>
              </a:ext>
            </a:extLst>
          </p:cNvPr>
          <p:cNvSpPr/>
          <p:nvPr/>
        </p:nvSpPr>
        <p:spPr>
          <a:xfrm>
            <a:off x="9038014" y="2138681"/>
            <a:ext cx="368038" cy="25165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72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2" presetClass="emph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7" grpId="1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B09C15C-3E1B-4CA8-AFC7-0AD01743949F}"/>
              </a:ext>
            </a:extLst>
          </p:cNvPr>
          <p:cNvSpPr txBox="1"/>
          <p:nvPr/>
        </p:nvSpPr>
        <p:spPr>
          <a:xfrm>
            <a:off x="224589" y="138188"/>
            <a:ext cx="858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中断原理实验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C7BE54-4CA0-4618-9F78-34E8C2B1F41E}"/>
              </a:ext>
            </a:extLst>
          </p:cNvPr>
          <p:cNvSpPr/>
          <p:nvPr/>
        </p:nvSpPr>
        <p:spPr>
          <a:xfrm>
            <a:off x="1160891" y="1712722"/>
            <a:ext cx="10511625" cy="4050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fontAlgn="auto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tabLst/>
              <a:defRPr/>
            </a:pPr>
            <a:r>
              <a:rPr lang="zh-CN" altLang="zh-CN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在时序发生器中，设置了一个允许中断触发器</a:t>
            </a:r>
            <a:r>
              <a:rPr lang="en-US" altLang="zh-CN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EN_INT</a:t>
            </a:r>
          </a:p>
          <a:p>
            <a:pPr marL="896938" indent="-452438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  <a:defRPr/>
            </a:pPr>
            <a:r>
              <a:rPr lang="zh-CN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当它为</a:t>
            </a:r>
            <a:r>
              <a:rPr lang="en-US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时，允许中断</a:t>
            </a:r>
            <a:endParaRPr lang="en-US" altLang="zh-CN" sz="26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6938" indent="-452438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  <a:defRPr/>
            </a:pPr>
            <a:r>
              <a:rPr lang="zh-CN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当它为</a:t>
            </a:r>
            <a:r>
              <a:rPr lang="en-US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时，禁止中断</a:t>
            </a:r>
            <a:endParaRPr lang="en-US" altLang="zh-CN" sz="26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6938" indent="-452438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  <a:defRPr/>
            </a:pPr>
            <a:r>
              <a:rPr lang="zh-CN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复位脉冲</a:t>
            </a:r>
            <a:r>
              <a:rPr lang="en-US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CLR#</a:t>
            </a:r>
            <a:r>
              <a:rPr lang="zh-CN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lang="en-US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EN_INT</a:t>
            </a:r>
            <a:r>
              <a:rPr lang="zh-CN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复位为</a:t>
            </a:r>
            <a:r>
              <a:rPr lang="en-US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marL="457200" indent="-457200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en-US" altLang="zh-CN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EN_INT</a:t>
            </a:r>
            <a:r>
              <a:rPr lang="zh-CN" altLang="en-US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，允许中断时，按下</a:t>
            </a:r>
            <a:r>
              <a:rPr lang="en-US" altLang="zh-CN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PULSE</a:t>
            </a:r>
            <a:r>
              <a:rPr lang="zh-CN" altLang="zh-CN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按钮产生的中断请</a:t>
            </a:r>
            <a:r>
              <a:rPr lang="zh-CN" altLang="en-US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求，</a:t>
            </a:r>
            <a:r>
              <a:rPr lang="en-US" altLang="zh-CN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INT=1</a:t>
            </a:r>
            <a:endParaRPr lang="zh-CN" altLang="en-US" sz="28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9372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B09C15C-3E1B-4CA8-AFC7-0AD01743949F}"/>
              </a:ext>
            </a:extLst>
          </p:cNvPr>
          <p:cNvSpPr txBox="1"/>
          <p:nvPr/>
        </p:nvSpPr>
        <p:spPr>
          <a:xfrm>
            <a:off x="224589" y="138188"/>
            <a:ext cx="858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中断原理实验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59EAC9-B0BE-4796-94A0-3174BDB63D0D}"/>
              </a:ext>
            </a:extLst>
          </p:cNvPr>
          <p:cNvSpPr/>
          <p:nvPr/>
        </p:nvSpPr>
        <p:spPr>
          <a:xfrm>
            <a:off x="1528480" y="2001491"/>
            <a:ext cx="10425457" cy="39805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SzPct val="80000"/>
              <a:tabLst/>
              <a:defRPr/>
            </a:pPr>
            <a:r>
              <a:rPr kumimoji="0" lang="zh-CN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VHDL </a:t>
            </a:r>
            <a:r>
              <a:rPr kumimoji="0" lang="zh-CN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语言描述的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TEC-8</a:t>
            </a:r>
            <a:r>
              <a:rPr kumimoji="0" lang="zh-CN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中的中断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触发器</a:t>
            </a:r>
            <a:r>
              <a:rPr kumimoji="0" lang="zh-CN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如下：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INT_EN_P: process(CLR#,MF,INTEN,INTDI,PULSE,EN_INT)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                begin  </a:t>
            </a:r>
          </a:p>
          <a:p>
            <a:pPr marL="0" marR="0" lvl="0" indent="19764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if CLR# = '0'  then  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</a:endParaRPr>
          </a:p>
          <a:p>
            <a:pPr marL="0" marR="0" lvl="0" indent="19764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           EN_INT&lt;= '0'; 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</a:endParaRPr>
          </a:p>
          <a:p>
            <a:pPr marL="0" marR="0" lvl="0" indent="19764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elsif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MF'event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 and MF = '1'  then 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</a:endParaRPr>
          </a:p>
          <a:p>
            <a:pPr marL="0" marR="0" lvl="0" indent="19764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           EN_INT &lt;= INTEN or (EN_INT and (not INTDI));    </a:t>
            </a:r>
          </a:p>
          <a:p>
            <a:pPr marL="0" marR="0" lvl="0" indent="19764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end if; 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</a:endParaRPr>
          </a:p>
          <a:p>
            <a:pPr marL="0" marR="0" lvl="0" indent="19764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INT &lt;= EN_INT and PULSE;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end  process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；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微软雅黑" panose="020B0503020204020204" pitchFamily="34" charset="-122"/>
                <a:cs typeface="+mn-cs"/>
              </a:rPr>
              <a:t>  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标注: 线形 5">
            <a:extLst>
              <a:ext uri="{FF2B5EF4-FFF2-40B4-BE49-F238E27FC236}">
                <a16:creationId xmlns:a16="http://schemas.microsoft.com/office/drawing/2014/main" id="{2D5AA78E-FF69-4A77-A4BE-7B118F98DB15}"/>
              </a:ext>
            </a:extLst>
          </p:cNvPr>
          <p:cNvSpPr/>
          <p:nvPr/>
        </p:nvSpPr>
        <p:spPr>
          <a:xfrm>
            <a:off x="4489651" y="947408"/>
            <a:ext cx="648108" cy="974511"/>
          </a:xfrm>
          <a:prstGeom prst="borderCallout1">
            <a:avLst>
              <a:gd name="adj1" fmla="val 100799"/>
              <a:gd name="adj2" fmla="val 97483"/>
              <a:gd name="adj3" fmla="val 165407"/>
              <a:gd name="adj4" fmla="val 190461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主时钟信号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标注: 线形 6">
            <a:extLst>
              <a:ext uri="{FF2B5EF4-FFF2-40B4-BE49-F238E27FC236}">
                <a16:creationId xmlns:a16="http://schemas.microsoft.com/office/drawing/2014/main" id="{771812B1-A404-4565-A4EF-81B85668C139}"/>
              </a:ext>
            </a:extLst>
          </p:cNvPr>
          <p:cNvSpPr/>
          <p:nvPr/>
        </p:nvSpPr>
        <p:spPr>
          <a:xfrm>
            <a:off x="5637567" y="947408"/>
            <a:ext cx="648108" cy="974512"/>
          </a:xfrm>
          <a:prstGeom prst="borderCallout1">
            <a:avLst>
              <a:gd name="adj1" fmla="val 98528"/>
              <a:gd name="adj2" fmla="val 97483"/>
              <a:gd name="adj3" fmla="val 162550"/>
              <a:gd name="adj4" fmla="val 114229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允许中断信号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注: 线形 7">
            <a:extLst>
              <a:ext uri="{FF2B5EF4-FFF2-40B4-BE49-F238E27FC236}">
                <a16:creationId xmlns:a16="http://schemas.microsoft.com/office/drawing/2014/main" id="{E07BC270-11FA-4A23-8C2B-811D805F69FF}"/>
              </a:ext>
            </a:extLst>
          </p:cNvPr>
          <p:cNvSpPr/>
          <p:nvPr/>
        </p:nvSpPr>
        <p:spPr>
          <a:xfrm>
            <a:off x="6726490" y="944950"/>
            <a:ext cx="648108" cy="974512"/>
          </a:xfrm>
          <a:prstGeom prst="borderCallout1">
            <a:avLst>
              <a:gd name="adj1" fmla="val 97771"/>
              <a:gd name="adj2" fmla="val 98621"/>
              <a:gd name="adj3" fmla="val 161036"/>
              <a:gd name="adj4" fmla="val 125606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禁止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中断信号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注: 线形 8">
            <a:extLst>
              <a:ext uri="{FF2B5EF4-FFF2-40B4-BE49-F238E27FC236}">
                <a16:creationId xmlns:a16="http://schemas.microsoft.com/office/drawing/2014/main" id="{21E1B437-D2D1-4B8E-8C97-E70AF1FBF803}"/>
              </a:ext>
            </a:extLst>
          </p:cNvPr>
          <p:cNvSpPr/>
          <p:nvPr/>
        </p:nvSpPr>
        <p:spPr>
          <a:xfrm>
            <a:off x="7725700" y="944950"/>
            <a:ext cx="1458855" cy="974512"/>
          </a:xfrm>
          <a:prstGeom prst="borderCallout1">
            <a:avLst>
              <a:gd name="adj1" fmla="val 101556"/>
              <a:gd name="adj2" fmla="val 77950"/>
              <a:gd name="adj3" fmla="val 163572"/>
              <a:gd name="adj4" fmla="val 72888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按下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PULSE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按钮产生的中断请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求</a:t>
            </a:r>
          </a:p>
        </p:txBody>
      </p:sp>
      <p:sp>
        <p:nvSpPr>
          <p:cNvPr id="10" name="标注: 线形 9">
            <a:extLst>
              <a:ext uri="{FF2B5EF4-FFF2-40B4-BE49-F238E27FC236}">
                <a16:creationId xmlns:a16="http://schemas.microsoft.com/office/drawing/2014/main" id="{652BF8E9-3523-4292-AB4C-AF2DAC3A2AA8}"/>
              </a:ext>
            </a:extLst>
          </p:cNvPr>
          <p:cNvSpPr/>
          <p:nvPr/>
        </p:nvSpPr>
        <p:spPr>
          <a:xfrm>
            <a:off x="4570639" y="5687000"/>
            <a:ext cx="3104124" cy="758848"/>
          </a:xfrm>
          <a:prstGeom prst="borderCallout1">
            <a:avLst>
              <a:gd name="adj1" fmla="val 1026"/>
              <a:gd name="adj2" fmla="val 450"/>
              <a:gd name="adj3" fmla="val -15184"/>
              <a:gd name="adj4" fmla="val -11621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时序发生电路向微程序控制器输出的中断程序执行信号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E3FBAB1-D438-4EEB-956D-B55F37B6B2D9}"/>
              </a:ext>
            </a:extLst>
          </p:cNvPr>
          <p:cNvSpPr/>
          <p:nvPr/>
        </p:nvSpPr>
        <p:spPr>
          <a:xfrm>
            <a:off x="5466697" y="2530401"/>
            <a:ext cx="516194" cy="491303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4768259-F62E-43B3-A323-33672961EC00}"/>
              </a:ext>
            </a:extLst>
          </p:cNvPr>
          <p:cNvSpPr/>
          <p:nvPr/>
        </p:nvSpPr>
        <p:spPr>
          <a:xfrm>
            <a:off x="6027136" y="2533169"/>
            <a:ext cx="1056969" cy="491303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4E9CA80-C415-4501-9A98-BCCA4F56959F}"/>
              </a:ext>
            </a:extLst>
          </p:cNvPr>
          <p:cNvSpPr/>
          <p:nvPr/>
        </p:nvSpPr>
        <p:spPr>
          <a:xfrm>
            <a:off x="7135723" y="2530401"/>
            <a:ext cx="1056969" cy="491303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C85FFA1-31D1-4689-B656-12E90AD919BA}"/>
              </a:ext>
            </a:extLst>
          </p:cNvPr>
          <p:cNvSpPr/>
          <p:nvPr/>
        </p:nvSpPr>
        <p:spPr>
          <a:xfrm>
            <a:off x="8234060" y="2530400"/>
            <a:ext cx="953729" cy="491303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11517EC-67CD-4DC1-BCC6-7E1750186A26}"/>
              </a:ext>
            </a:extLst>
          </p:cNvPr>
          <p:cNvSpPr/>
          <p:nvPr/>
        </p:nvSpPr>
        <p:spPr>
          <a:xfrm>
            <a:off x="3535381" y="5104054"/>
            <a:ext cx="711204" cy="491303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标注: 线形 15">
            <a:extLst>
              <a:ext uri="{FF2B5EF4-FFF2-40B4-BE49-F238E27FC236}">
                <a16:creationId xmlns:a16="http://schemas.microsoft.com/office/drawing/2014/main" id="{B4BF6B58-62DB-43BB-86F6-2DCDEB4EE12B}"/>
              </a:ext>
            </a:extLst>
          </p:cNvPr>
          <p:cNvSpPr/>
          <p:nvPr/>
        </p:nvSpPr>
        <p:spPr>
          <a:xfrm>
            <a:off x="2908725" y="944950"/>
            <a:ext cx="1195694" cy="974511"/>
          </a:xfrm>
          <a:prstGeom prst="borderCallout1">
            <a:avLst>
              <a:gd name="adj1" fmla="val 100799"/>
              <a:gd name="adj2" fmla="val 97483"/>
              <a:gd name="adj3" fmla="val 164387"/>
              <a:gd name="adj4" fmla="val 160394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低电平有效的复位脉冲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ED47C53-0003-4381-A8DB-2669C45B64CC}"/>
              </a:ext>
            </a:extLst>
          </p:cNvPr>
          <p:cNvSpPr/>
          <p:nvPr/>
        </p:nvSpPr>
        <p:spPr>
          <a:xfrm>
            <a:off x="4500680" y="2530399"/>
            <a:ext cx="864025" cy="491303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ABA32B7-9650-439F-AC35-70ED7B8A7D08}"/>
              </a:ext>
            </a:extLst>
          </p:cNvPr>
          <p:cNvSpPr/>
          <p:nvPr/>
        </p:nvSpPr>
        <p:spPr>
          <a:xfrm>
            <a:off x="4489651" y="4424426"/>
            <a:ext cx="7352059" cy="378846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718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AE35F40-FFC7-4F8B-9456-28BE04456C25}"/>
              </a:ext>
            </a:extLst>
          </p:cNvPr>
          <p:cNvSpPr txBox="1"/>
          <p:nvPr/>
        </p:nvSpPr>
        <p:spPr>
          <a:xfrm>
            <a:off x="224589" y="138188"/>
            <a:ext cx="858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中断原理实验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实验任务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8639632-E758-44E1-9682-0A281045B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620612"/>
              </p:ext>
            </p:extLst>
          </p:nvPr>
        </p:nvGraphicFramePr>
        <p:xfrm>
          <a:off x="496958" y="1409934"/>
          <a:ext cx="5198448" cy="4860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208">
                  <a:extLst>
                    <a:ext uri="{9D8B030D-6E8A-4147-A177-3AD203B41FA5}">
                      <a16:colId xmlns:a16="http://schemas.microsoft.com/office/drawing/2014/main" val="1389066113"/>
                    </a:ext>
                  </a:extLst>
                </a:gridCol>
                <a:gridCol w="1865418">
                  <a:extLst>
                    <a:ext uri="{9D8B030D-6E8A-4147-A177-3AD203B41FA5}">
                      <a16:colId xmlns:a16="http://schemas.microsoft.com/office/drawing/2014/main" val="673928015"/>
                    </a:ext>
                  </a:extLst>
                </a:gridCol>
                <a:gridCol w="2340822">
                  <a:extLst>
                    <a:ext uri="{9D8B030D-6E8A-4147-A177-3AD203B41FA5}">
                      <a16:colId xmlns:a16="http://schemas.microsoft.com/office/drawing/2014/main" val="1778697810"/>
                    </a:ext>
                  </a:extLst>
                </a:gridCol>
              </a:tblGrid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地址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指令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二进制机器代码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330985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EI/DI</a:t>
                      </a:r>
                      <a:endParaRPr lang="en-US" altLang="zh-C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0940674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01H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INC R0</a:t>
                      </a:r>
                      <a:endParaRPr lang="en-US" altLang="zh-C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2884906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02H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INC R0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5645617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03H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INC R0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429584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04H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INC R0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7023040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05H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INC R0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036354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06H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INC R0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2498121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07H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INC R0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014223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08H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INC R0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4357619"/>
                  </a:ext>
                </a:extLst>
              </a:tr>
              <a:tr h="44185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09H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JMP [R1]</a:t>
                      </a:r>
                      <a:endParaRPr kumimoji="0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7062673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6C0C382-296C-44C1-ADF7-F5A670214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576519"/>
              </p:ext>
            </p:extLst>
          </p:nvPr>
        </p:nvGraphicFramePr>
        <p:xfrm>
          <a:off x="6096000" y="1409934"/>
          <a:ext cx="5198448" cy="1752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499">
                  <a:extLst>
                    <a:ext uri="{9D8B030D-6E8A-4147-A177-3AD203B41FA5}">
                      <a16:colId xmlns:a16="http://schemas.microsoft.com/office/drawing/2014/main" val="1389066113"/>
                    </a:ext>
                  </a:extLst>
                </a:gridCol>
                <a:gridCol w="1874127">
                  <a:extLst>
                    <a:ext uri="{9D8B030D-6E8A-4147-A177-3AD203B41FA5}">
                      <a16:colId xmlns:a16="http://schemas.microsoft.com/office/drawing/2014/main" val="673928015"/>
                    </a:ext>
                  </a:extLst>
                </a:gridCol>
                <a:gridCol w="2340822">
                  <a:extLst>
                    <a:ext uri="{9D8B030D-6E8A-4147-A177-3AD203B41FA5}">
                      <a16:colId xmlns:a16="http://schemas.microsoft.com/office/drawing/2014/main" val="1778697810"/>
                    </a:ext>
                  </a:extLst>
                </a:gridCol>
              </a:tblGrid>
              <a:tr h="43814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地址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指令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二进制机器代码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330985"/>
                  </a:ext>
                </a:extLst>
              </a:tr>
              <a:tr h="43814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45H</a:t>
                      </a:r>
                      <a:endParaRPr lang="en-US" altLang="zh-C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ADD R0,R0</a:t>
                      </a:r>
                      <a:endParaRPr lang="en-US" altLang="zh-C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7062673"/>
                  </a:ext>
                </a:extLst>
              </a:tr>
              <a:tr h="43814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46H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EI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7649193"/>
                  </a:ext>
                </a:extLst>
              </a:tr>
              <a:tr h="43814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47H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IRET</a:t>
                      </a:r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5453230"/>
                  </a:ext>
                </a:extLst>
              </a:tr>
            </a:tbl>
          </a:graphicData>
        </a:graphic>
      </p:graphicFrame>
      <p:sp>
        <p:nvSpPr>
          <p:cNvPr id="6" name="标题 2">
            <a:extLst>
              <a:ext uri="{FF2B5EF4-FFF2-40B4-BE49-F238E27FC236}">
                <a16:creationId xmlns:a16="http://schemas.microsoft.com/office/drawing/2014/main" id="{F25814F1-E2A5-4598-8260-A1511E0C69E7}"/>
              </a:ext>
            </a:extLst>
          </p:cNvPr>
          <p:cNvSpPr txBox="1">
            <a:spLocks/>
          </p:cNvSpPr>
          <p:nvPr/>
        </p:nvSpPr>
        <p:spPr>
          <a:xfrm>
            <a:off x="2040277" y="882203"/>
            <a:ext cx="2460889" cy="471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主程序机器代码</a:t>
            </a: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59DFC445-488B-4F31-9682-557A9099C4E7}"/>
              </a:ext>
            </a:extLst>
          </p:cNvPr>
          <p:cNvSpPr txBox="1">
            <a:spLocks/>
          </p:cNvSpPr>
          <p:nvPr/>
        </p:nvSpPr>
        <p:spPr>
          <a:xfrm>
            <a:off x="7113495" y="882203"/>
            <a:ext cx="3489512" cy="471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中断服务程序机器代码</a:t>
            </a:r>
          </a:p>
        </p:txBody>
      </p:sp>
    </p:spTree>
    <p:extLst>
      <p:ext uri="{BB962C8B-B14F-4D97-AF65-F5344CB8AC3E}">
        <p14:creationId xmlns:p14="http://schemas.microsoft.com/office/powerpoint/2010/main" val="3076510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AE35F40-FFC7-4F8B-9456-28BE04456C25}"/>
              </a:ext>
            </a:extLst>
          </p:cNvPr>
          <p:cNvSpPr txBox="1"/>
          <p:nvPr/>
        </p:nvSpPr>
        <p:spPr>
          <a:xfrm>
            <a:off x="224589" y="138188"/>
            <a:ext cx="858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中断原理实验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实验任务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10EAE5A3-6E6F-4F29-BFD6-AC902FC4B66B}"/>
              </a:ext>
            </a:extLst>
          </p:cNvPr>
          <p:cNvSpPr txBox="1">
            <a:spLocks noChangeArrowheads="1"/>
          </p:cNvSpPr>
          <p:nvPr/>
        </p:nvSpPr>
        <p:spPr>
          <a:xfrm>
            <a:off x="617347" y="1336892"/>
            <a:ext cx="11221375" cy="5140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fontAlgn="auto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理解中断相关指令，以及每个信号的意义和变化条件</a:t>
            </a:r>
            <a:endParaRPr lang="en-US" altLang="zh-CN" sz="24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fontAlgn="auto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将主程序和中断服务程序手工汇编成二进制机器代码</a:t>
            </a:r>
            <a:endParaRPr lang="en-US" altLang="zh-CN" sz="24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fontAlgn="auto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通过简单的连线构成能够运行程序的</a:t>
            </a:r>
            <a:r>
              <a:rPr lang="en-US" altLang="zh-CN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TEC-8</a:t>
            </a: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模型计算机。</a:t>
            </a:r>
            <a:endParaRPr lang="en-US" altLang="zh-CN" sz="24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fontAlgn="auto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将主程序和中断服务程序装入存储器，给寄存器</a:t>
            </a:r>
            <a:r>
              <a:rPr lang="en-US" altLang="zh-CN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赋初值</a:t>
            </a:r>
            <a:r>
              <a:rPr lang="en-US" altLang="zh-CN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01H</a:t>
            </a: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R0</a:t>
            </a: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赋初值</a:t>
            </a:r>
            <a:r>
              <a:rPr lang="en-US" altLang="zh-CN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fontAlgn="auto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执行三遍主程序和中断服务程序，详细记录中断有关信号变化情况，特别记录好断点和</a:t>
            </a:r>
            <a:r>
              <a:rPr lang="en-US" altLang="zh-CN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R0</a:t>
            </a: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的值。</a:t>
            </a:r>
            <a:endParaRPr lang="en-US" altLang="zh-CN" sz="24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fontAlgn="auto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将主程序中地址为</a:t>
            </a:r>
            <a:r>
              <a:rPr lang="en-US" altLang="zh-CN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00H</a:t>
            </a: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</a:t>
            </a: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指令改为</a:t>
            </a:r>
            <a:r>
              <a:rPr lang="en-US" altLang="zh-CN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</a:t>
            </a: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，重新运行程序，记录现象。</a:t>
            </a:r>
            <a:endParaRPr lang="en-US" altLang="zh-CN" sz="24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SzPct val="80000"/>
              <a:buFont typeface="Wingdings" panose="05000000000000000000" pitchFamily="2" charset="2"/>
              <a:buChar char="p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1126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4FF4F44-699C-48CF-A99E-9ED568A917EA}"/>
              </a:ext>
            </a:extLst>
          </p:cNvPr>
          <p:cNvSpPr txBox="1"/>
          <p:nvPr/>
        </p:nvSpPr>
        <p:spPr>
          <a:xfrm>
            <a:off x="224589" y="138188"/>
            <a:ext cx="858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中断原理实验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实验步骤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BF0BD3C-42E2-4512-B730-9FF872360F5F}"/>
              </a:ext>
            </a:extLst>
          </p:cNvPr>
          <p:cNvSpPr txBox="1">
            <a:spLocks noChangeArrowheads="1"/>
          </p:cNvSpPr>
          <p:nvPr/>
        </p:nvSpPr>
        <p:spPr>
          <a:xfrm>
            <a:off x="1062701" y="1519348"/>
            <a:ext cx="5335034" cy="2364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10000"/>
              </a:lnSpc>
              <a:spcBef>
                <a:spcPts val="600"/>
              </a:spcBef>
              <a:buClr>
                <a:schemeClr val="accent4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实验准备（不要打开电源      ）</a:t>
            </a:r>
            <a:endParaRPr lang="en-US" alt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514350" algn="l">
              <a:lnSpc>
                <a:spcPct val="110000"/>
              </a:lnSpc>
              <a:spcBef>
                <a:spcPts val="600"/>
              </a:spcBef>
              <a:buClr>
                <a:schemeClr val="accent4"/>
              </a:buClr>
              <a:buSzPct val="80000"/>
              <a:buFont typeface="+mj-lt"/>
              <a:buAutoNum type="arabicPeriod"/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控制器转换开关：微程序；</a:t>
            </a:r>
            <a:endParaRPr lang="en-US" altLang="zh-CN" sz="2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514350" algn="l">
              <a:lnSpc>
                <a:spcPct val="110000"/>
              </a:lnSpc>
              <a:spcBef>
                <a:spcPts val="600"/>
              </a:spcBef>
              <a:buClr>
                <a:schemeClr val="accent4"/>
              </a:buClr>
              <a:buSzPct val="80000"/>
              <a:buFont typeface="+mj-lt"/>
              <a:buAutoNum type="arabicPeriod"/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编程开关：正常；</a:t>
            </a:r>
            <a:endParaRPr lang="en-US" altLang="zh-CN" sz="2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514350" algn="l">
              <a:lnSpc>
                <a:spcPct val="110000"/>
              </a:lnSpc>
              <a:spcBef>
                <a:spcPts val="600"/>
              </a:spcBef>
              <a:buClr>
                <a:schemeClr val="accent4"/>
              </a:buClr>
              <a:buSzPct val="80000"/>
              <a:buFont typeface="+mj-lt"/>
              <a:buAutoNum type="arabicPeriod"/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数据通路参考连线：</a:t>
            </a:r>
            <a:endParaRPr lang="en-US" altLang="zh-CN" sz="2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8906E42-C967-404F-9877-EFAB5A89889D}"/>
              </a:ext>
            </a:extLst>
          </p:cNvPr>
          <p:cNvGrpSpPr/>
          <p:nvPr/>
        </p:nvGrpSpPr>
        <p:grpSpPr>
          <a:xfrm>
            <a:off x="5462809" y="1499941"/>
            <a:ext cx="466614" cy="630942"/>
            <a:chOff x="4387702" y="378981"/>
            <a:chExt cx="648000" cy="974047"/>
          </a:xfrm>
        </p:grpSpPr>
        <p:sp>
          <p:nvSpPr>
            <p:cNvPr id="6" name="等腰三角形 5">
              <a:extLst>
                <a:ext uri="{FF2B5EF4-FFF2-40B4-BE49-F238E27FC236}">
                  <a16:creationId xmlns:a16="http://schemas.microsoft.com/office/drawing/2014/main" id="{48575A5F-3475-4B0D-9F38-8F428AF10D04}"/>
                </a:ext>
              </a:extLst>
            </p:cNvPr>
            <p:cNvSpPr/>
            <p:nvPr/>
          </p:nvSpPr>
          <p:spPr>
            <a:xfrm>
              <a:off x="4387702" y="489929"/>
              <a:ext cx="648000" cy="6480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 b="1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CAAD93E-8566-4DA5-979D-38478C387E3C}"/>
                </a:ext>
              </a:extLst>
            </p:cNvPr>
            <p:cNvSpPr txBox="1"/>
            <p:nvPr/>
          </p:nvSpPr>
          <p:spPr>
            <a:xfrm>
              <a:off x="4429490" y="378981"/>
              <a:ext cx="437292" cy="9740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500" b="1" dirty="0">
                  <a:solidFill>
                    <a:schemeClr val="bg1"/>
                  </a:solidFill>
                  <a:latin typeface="华文隶书" panose="02010800040101010101" pitchFamily="2" charset="-122"/>
                  <a:ea typeface="华文隶书" panose="02010800040101010101" pitchFamily="2" charset="-122"/>
                </a:rPr>
                <a:t>！</a:t>
              </a:r>
            </a:p>
          </p:txBody>
        </p:sp>
      </p:grp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2F1E608-08FD-4ABF-B24E-720DC818C21E}"/>
              </a:ext>
            </a:extLst>
          </p:cNvPr>
          <p:cNvGraphicFramePr>
            <a:graphicFrameLocks noGrp="1"/>
          </p:cNvGraphicFramePr>
          <p:nvPr/>
        </p:nvGraphicFramePr>
        <p:xfrm>
          <a:off x="975616" y="4374845"/>
          <a:ext cx="9997184" cy="113096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72752">
                  <a:extLst>
                    <a:ext uri="{9D8B030D-6E8A-4147-A177-3AD203B41FA5}">
                      <a16:colId xmlns:a16="http://schemas.microsoft.com/office/drawing/2014/main" val="1351293245"/>
                    </a:ext>
                  </a:extLst>
                </a:gridCol>
                <a:gridCol w="1418763">
                  <a:extLst>
                    <a:ext uri="{9D8B030D-6E8A-4147-A177-3AD203B41FA5}">
                      <a16:colId xmlns:a16="http://schemas.microsoft.com/office/drawing/2014/main" val="1896316625"/>
                    </a:ext>
                  </a:extLst>
                </a:gridCol>
                <a:gridCol w="1377758">
                  <a:extLst>
                    <a:ext uri="{9D8B030D-6E8A-4147-A177-3AD203B41FA5}">
                      <a16:colId xmlns:a16="http://schemas.microsoft.com/office/drawing/2014/main" val="1362140092"/>
                    </a:ext>
                  </a:extLst>
                </a:gridCol>
                <a:gridCol w="1361356">
                  <a:extLst>
                    <a:ext uri="{9D8B030D-6E8A-4147-A177-3AD203B41FA5}">
                      <a16:colId xmlns:a16="http://schemas.microsoft.com/office/drawing/2014/main" val="2667377910"/>
                    </a:ext>
                  </a:extLst>
                </a:gridCol>
                <a:gridCol w="1287548">
                  <a:extLst>
                    <a:ext uri="{9D8B030D-6E8A-4147-A177-3AD203B41FA5}">
                      <a16:colId xmlns:a16="http://schemas.microsoft.com/office/drawing/2014/main" val="3287725138"/>
                    </a:ext>
                  </a:extLst>
                </a:gridCol>
                <a:gridCol w="975911">
                  <a:extLst>
                    <a:ext uri="{9D8B030D-6E8A-4147-A177-3AD203B41FA5}">
                      <a16:colId xmlns:a16="http://schemas.microsoft.com/office/drawing/2014/main" val="2699888434"/>
                    </a:ext>
                  </a:extLst>
                </a:gridCol>
                <a:gridCol w="951548">
                  <a:extLst>
                    <a:ext uri="{9D8B030D-6E8A-4147-A177-3AD203B41FA5}">
                      <a16:colId xmlns:a16="http://schemas.microsoft.com/office/drawing/2014/main" val="1888174639"/>
                    </a:ext>
                  </a:extLst>
                </a:gridCol>
                <a:gridCol w="951548">
                  <a:extLst>
                    <a:ext uri="{9D8B030D-6E8A-4147-A177-3AD203B41FA5}">
                      <a16:colId xmlns:a16="http://schemas.microsoft.com/office/drawing/2014/main" val="541921374"/>
                    </a:ext>
                  </a:extLst>
                </a:gridCol>
              </a:tblGrid>
              <a:tr h="5654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数据通路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IR4-I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IR5-I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IR6-I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IR7-I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C-I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Z-I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CS0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092013"/>
                  </a:ext>
                </a:extLst>
              </a:tr>
              <a:tr h="5654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IR4-O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IR5-O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IR6-O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IR7-O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C-O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Z-O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GND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4" marB="45734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187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28375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4FF4F44-699C-48CF-A99E-9ED568A917EA}"/>
              </a:ext>
            </a:extLst>
          </p:cNvPr>
          <p:cNvSpPr txBox="1"/>
          <p:nvPr/>
        </p:nvSpPr>
        <p:spPr>
          <a:xfrm>
            <a:off x="224589" y="138188"/>
            <a:ext cx="858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中断原理实验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实验步骤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554D4EC-CBE2-474A-B520-221EB5DF2929}"/>
              </a:ext>
            </a:extLst>
          </p:cNvPr>
          <p:cNvSpPr txBox="1">
            <a:spLocks/>
          </p:cNvSpPr>
          <p:nvPr/>
        </p:nvSpPr>
        <p:spPr>
          <a:xfrm>
            <a:off x="621437" y="921137"/>
            <a:ext cx="11440692" cy="5742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通过控制台写存储器操作，将主程序和中断服务程序写入存储器。 </a:t>
            </a:r>
          </a:p>
          <a:p>
            <a:pPr marL="457200" indent="-457200" algn="l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遍主程序和中断子程序 </a:t>
            </a:r>
          </a:p>
          <a:p>
            <a:pPr marL="457200" indent="-457200" algn="l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通过控制台写寄存器操作将</a:t>
            </a:r>
            <a:r>
              <a: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R0</a:t>
            </a:r>
            <a:r>
              <a:rPr lang="zh-CN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设置为</a:t>
            </a:r>
            <a:r>
              <a: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00H</a:t>
            </a:r>
            <a:r>
              <a:rPr lang="zh-CN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</a:t>
            </a:r>
            <a:r>
              <a: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zh-CN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设置为</a:t>
            </a:r>
            <a:r>
              <a: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01H</a:t>
            </a:r>
            <a:r>
              <a:rPr lang="zh-CN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 marL="457200" indent="-457200" algn="l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AutoNum type="circleNumDbPlain"/>
              <a:defRPr/>
            </a:pPr>
            <a:r>
              <a:rPr lang="zh-CN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单拍开关</a:t>
            </a:r>
            <a:r>
              <a:rPr lang="en-US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DP=0</a:t>
            </a:r>
            <a:r>
              <a:rPr lang="zh-CN" altLang="en-US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按复位按钮</a:t>
            </a:r>
            <a:r>
              <a:rPr lang="en-US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CLR</a:t>
            </a:r>
            <a:r>
              <a:rPr lang="zh-CN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。按</a:t>
            </a:r>
            <a:r>
              <a:rPr lang="en-US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QD</a:t>
            </a:r>
            <a:r>
              <a:rPr lang="zh-CN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按钮，启动程序从</a:t>
            </a:r>
            <a:r>
              <a:rPr lang="en-US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00H</a:t>
            </a:r>
            <a:r>
              <a:rPr lang="zh-CN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开始执行。 </a:t>
            </a:r>
          </a:p>
          <a:p>
            <a:pPr marL="457200" indent="-457200" algn="l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AutoNum type="circleNumDbPlain"/>
              <a:defRPr/>
            </a:pPr>
            <a:r>
              <a:rPr lang="zh-CN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en-US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PULSE</a:t>
            </a:r>
            <a:r>
              <a:rPr lang="zh-CN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按钮，产生一个中断请求信号</a:t>
            </a:r>
            <a:r>
              <a:rPr lang="en-US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PULSE</a:t>
            </a:r>
            <a:r>
              <a:rPr lang="zh-CN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，中断主程序的运行。记录下这时的断点</a:t>
            </a:r>
            <a:r>
              <a:rPr lang="en-US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R0(</a:t>
            </a:r>
            <a:r>
              <a:rPr lang="zh-CN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指示灯</a:t>
            </a:r>
            <a:r>
              <a:rPr lang="en-US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A7~A0</a:t>
            </a:r>
            <a:r>
              <a:rPr lang="zh-CN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上显示</a:t>
            </a:r>
            <a:r>
              <a:rPr lang="en-US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的值。 </a:t>
            </a:r>
          </a:p>
          <a:p>
            <a:pPr marL="457200" indent="-457200" algn="l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AutoNum type="circleNumDbPlain"/>
              <a:defRPr/>
            </a:pPr>
            <a:r>
              <a:rPr lang="zh-CN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单拍开关</a:t>
            </a:r>
            <a:r>
              <a:rPr lang="en-US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DP=1</a:t>
            </a:r>
            <a:r>
              <a:rPr lang="zh-CN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，在数据开关上设置中断服务程序的入口地址</a:t>
            </a:r>
            <a:r>
              <a:rPr lang="en-US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45H</a:t>
            </a:r>
            <a:r>
              <a:rPr lang="zh-CN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。按</a:t>
            </a:r>
            <a:r>
              <a:rPr lang="en-US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QD</a:t>
            </a:r>
            <a:r>
              <a:rPr lang="zh-CN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按钮，一步步执行中断服务程序，直到返回到断点为止。 </a:t>
            </a:r>
          </a:p>
          <a:p>
            <a:pPr marL="457200" indent="-457200" algn="l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AutoNum type="circleNumDbPlain"/>
              <a:defRPr/>
            </a:pPr>
            <a:r>
              <a:rPr lang="zh-CN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按照步骤</a:t>
            </a:r>
            <a:r>
              <a:rPr lang="en-US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⑴~⑷</a:t>
            </a:r>
            <a:r>
              <a:rPr lang="zh-CN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，再重复做</a:t>
            </a:r>
            <a:r>
              <a:rPr lang="en-US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遍。</a:t>
            </a:r>
            <a:endParaRPr lang="en-US" altLang="zh-CN" sz="22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将存储器</a:t>
            </a:r>
            <a:r>
              <a: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00H</a:t>
            </a:r>
            <a:r>
              <a:rPr lang="zh-CN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的指令改为</a:t>
            </a:r>
            <a:r>
              <a: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</a:t>
            </a:r>
            <a:r>
              <a:rPr lang="zh-CN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，按照步骤</a:t>
            </a:r>
            <a:r>
              <a: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，重做一遍，记录发生的现象。</a:t>
            </a:r>
          </a:p>
        </p:txBody>
      </p:sp>
    </p:spTree>
    <p:extLst>
      <p:ext uri="{BB962C8B-B14F-4D97-AF65-F5344CB8AC3E}">
        <p14:creationId xmlns:p14="http://schemas.microsoft.com/office/powerpoint/2010/main" val="3012083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40011B3-5869-4B27-8641-7A6BB5F3F6AD}"/>
              </a:ext>
            </a:extLst>
          </p:cNvPr>
          <p:cNvSpPr txBox="1"/>
          <p:nvPr/>
        </p:nvSpPr>
        <p:spPr>
          <a:xfrm>
            <a:off x="224589" y="138188"/>
            <a:ext cx="858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中断原理实验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实验要求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F4FF4F44-699C-48CF-A99E-9ED568A917E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08803" y="1437437"/>
            <a:ext cx="10515600" cy="328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fontAlgn="auto">
              <a:lnSpc>
                <a:spcPts val="36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做好预习：</a:t>
            </a:r>
            <a:endParaRPr lang="en-US" altLang="zh-CN" sz="28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fontAlgn="auto">
              <a:lnSpc>
                <a:spcPts val="36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AutoNum type="circleNumDbPlain"/>
              <a:tabLst/>
              <a:defRPr/>
            </a:pP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务必在实验课前，完成对程序的手工汇编！</a:t>
            </a:r>
            <a:endParaRPr lang="en-US" altLang="zh-CN" sz="26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fontAlgn="auto">
              <a:lnSpc>
                <a:spcPts val="36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AutoNum type="circleNumDbPlain"/>
              <a:tabLst/>
              <a:defRPr/>
            </a:pP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读懂</a:t>
            </a:r>
            <a:r>
              <a:rPr lang="en-US" altLang="zh-CN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VHDL</a:t>
            </a: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语言描述的中断控制器</a:t>
            </a:r>
            <a:endParaRPr lang="en-US" altLang="zh-CN" sz="26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fontAlgn="auto">
              <a:lnSpc>
                <a:spcPts val="36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填写实验记录表</a:t>
            </a:r>
            <a:endParaRPr lang="en-US" altLang="zh-CN" sz="28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理实验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实验步骤</a:t>
            </a:r>
          </a:p>
        </p:txBody>
      </p:sp>
    </p:spTree>
    <p:extLst>
      <p:ext uri="{BB962C8B-B14F-4D97-AF65-F5344CB8AC3E}">
        <p14:creationId xmlns:p14="http://schemas.microsoft.com/office/powerpoint/2010/main" val="28178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F6B22D5-5963-45B5-A581-2D79E6E484A0}"/>
              </a:ext>
            </a:extLst>
          </p:cNvPr>
          <p:cNvGrpSpPr/>
          <p:nvPr/>
        </p:nvGrpSpPr>
        <p:grpSpPr>
          <a:xfrm>
            <a:off x="1903222" y="2751891"/>
            <a:ext cx="8385556" cy="1354217"/>
            <a:chOff x="6031012" y="5439523"/>
            <a:chExt cx="2379595" cy="1354217"/>
          </a:xfrm>
        </p:grpSpPr>
        <p:sp>
          <p:nvSpPr>
            <p:cNvPr id="5" name="矩形: 圆角 10">
              <a:extLst>
                <a:ext uri="{FF2B5EF4-FFF2-40B4-BE49-F238E27FC236}">
                  <a16:creationId xmlns:a16="http://schemas.microsoft.com/office/drawing/2014/main" id="{9B9BB20E-87D8-41F1-BE2B-0911042B5714}"/>
                </a:ext>
              </a:extLst>
            </p:cNvPr>
            <p:cNvSpPr/>
            <p:nvPr/>
          </p:nvSpPr>
          <p:spPr>
            <a:xfrm>
              <a:off x="6799919" y="5551489"/>
              <a:ext cx="117084" cy="426997"/>
            </a:xfrm>
            <a:prstGeom prst="roundRect">
              <a:avLst>
                <a:gd name="adj" fmla="val 40501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>
              <a:outerShdw blurRad="152400" dist="63500" dir="5400000" sx="104000" sy="104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265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165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7430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0330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2595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4860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7760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0025" algn="l" defTabSz="684530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267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文本框 3">
              <a:extLst>
                <a:ext uri="{FF2B5EF4-FFF2-40B4-BE49-F238E27FC236}">
                  <a16:creationId xmlns:a16="http://schemas.microsoft.com/office/drawing/2014/main" id="{69BB6226-F4D6-423A-9EBA-34F5B90BEEB0}"/>
                </a:ext>
              </a:extLst>
            </p:cNvPr>
            <p:cNvSpPr txBox="1"/>
            <p:nvPr/>
          </p:nvSpPr>
          <p:spPr>
            <a:xfrm>
              <a:off x="6031012" y="5439523"/>
              <a:ext cx="2379595" cy="13542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拓展实验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选做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749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40011B3-5869-4B27-8641-7A6BB5F3F6AD}"/>
              </a:ext>
            </a:extLst>
          </p:cNvPr>
          <p:cNvSpPr txBox="1"/>
          <p:nvPr/>
        </p:nvSpPr>
        <p:spPr>
          <a:xfrm>
            <a:off x="224589" y="138188"/>
            <a:ext cx="858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拓展实验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实验要求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F4FF4F44-699C-48CF-A99E-9ED568A917E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69046" y="1127336"/>
            <a:ext cx="10515600" cy="4910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fontAlgn="auto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对实验五的程序进行改造，在不改变其逻辑、功能、指令执行顺序的前提下，使之成为主程序完成中断功能，结合实验六的中断服务程序，将两个实验综合起来一并完成。</a:t>
            </a:r>
            <a:endParaRPr lang="en-US" altLang="zh-CN" sz="26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8525" marR="0" indent="-357188" fontAlgn="auto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  <a:tabLst/>
              <a:defRPr/>
            </a:pP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可以根据需要改变寄存器的操作数，但不能改变原程序的执行顺序。</a:t>
            </a:r>
            <a:endParaRPr lang="en-US" altLang="zh-CN" sz="24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8525" indent="-357188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可以根据需要在主程序中加入一些指令，但不能改变原程序的逻辑。</a:t>
            </a:r>
            <a:endParaRPr lang="en-US" altLang="zh-CN" sz="24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8525" indent="-357188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可以根据需要改变原程序最后几个地址单元的数据。</a:t>
            </a:r>
            <a:endParaRPr lang="en-US" altLang="zh-CN" sz="24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8525" indent="-357188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JMP</a:t>
            </a: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指令，使主程序处于循环状态。</a:t>
            </a:r>
            <a:endParaRPr lang="en-US" altLang="zh-CN" sz="24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8525" indent="-357188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  <a:defRPr/>
            </a:pPr>
            <a:r>
              <a:rPr lang="en-US" altLang="zh-CN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…………</a:t>
            </a:r>
          </a:p>
        </p:txBody>
      </p:sp>
    </p:spTree>
    <p:extLst>
      <p:ext uri="{BB962C8B-B14F-4D97-AF65-F5344CB8AC3E}">
        <p14:creationId xmlns:p14="http://schemas.microsoft.com/office/powerpoint/2010/main" val="26741497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40011B3-5869-4B27-8641-7A6BB5F3F6AD}"/>
              </a:ext>
            </a:extLst>
          </p:cNvPr>
          <p:cNvSpPr txBox="1"/>
          <p:nvPr/>
        </p:nvSpPr>
        <p:spPr>
          <a:xfrm>
            <a:off x="224589" y="138188"/>
            <a:ext cx="858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拓展实验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实验要求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F4FF4F44-699C-48CF-A99E-9ED568A917E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80365" y="1334070"/>
            <a:ext cx="10515600" cy="1730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fontAlgn="auto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将改造后的主程序、寄存器中存储的数据，运行结果等内容写在实验班报告中，并描述改造思路，简单分析实验结果。</a:t>
            </a:r>
            <a:endParaRPr lang="en-US" altLang="zh-CN" sz="26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fontAlgn="auto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拓展实验无需填写过程记录表。</a:t>
            </a:r>
            <a:endParaRPr lang="en-US" altLang="zh-CN" sz="24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4261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16651</TotalTime>
  <Words>1906</Words>
  <Application>Microsoft Office PowerPoint</Application>
  <PresentationFormat>宽屏</PresentationFormat>
  <Paragraphs>399</Paragraphs>
  <Slides>27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等线</vt:lpstr>
      <vt:lpstr>等线 Light</vt:lpstr>
      <vt:lpstr>华文隶书</vt:lpstr>
      <vt:lpstr>微软雅黑</vt:lpstr>
      <vt:lpstr>微软雅黑 Light</vt:lpstr>
      <vt:lpstr>Arial</vt:lpstr>
      <vt:lpstr>Calibri</vt:lpstr>
      <vt:lpstr>Comic Sans MS</vt:lpstr>
      <vt:lpstr>Wingdings</vt:lpstr>
      <vt:lpstr>Office 主题​​</vt:lpstr>
      <vt:lpstr>1_Office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administator</dc:creator>
  <cp:lastModifiedBy>Tina</cp:lastModifiedBy>
  <cp:revision>482</cp:revision>
  <dcterms:created xsi:type="dcterms:W3CDTF">2018-06-22T03:35:00Z</dcterms:created>
  <dcterms:modified xsi:type="dcterms:W3CDTF">2025-05-04T04:55:36Z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